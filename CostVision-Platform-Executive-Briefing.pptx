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Manual (engineer)</c:v>
                </c:pt>
              </c:strCache>
            </c:strRef>
          </c:tx>
          <c:spPr>
            <a:solidFill>
              <a:srgbClr val="8A97A8"/>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Sheet1!$B$2:$B$4</c:f>
              <c:numCache>
                <c:formatCode>General</c:formatCode>
                <c:ptCount val="3"/>
                <c:pt idx="0">
                  <c:v>62</c:v>
                </c:pt>
                <c:pt idx="1">
                  <c:v>10</c:v>
                </c:pt>
                <c:pt idx="2">
                  <c:v>73</c:v>
                </c:pt>
              </c:numCache>
            </c:numRef>
          </c:val>
        </c:ser>
        <c:ser>
          <c:idx val="1"/>
          <c:order val="1"/>
          <c:tx>
            <c:strRef>
              <c:f>Sheet1!$C$1</c:f>
              <c:strCache>
                <c:ptCount val="1"/>
                <c:pt idx="0">
                  <c:v>AI (from photo)</c:v>
                </c:pt>
              </c:strCache>
            </c:strRef>
          </c:tx>
          <c:spPr>
            <a:solidFill>
              <a:srgbClr val="2563EB"/>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Sheet1!$C$2:$C$4</c:f>
              <c:numCache>
                <c:formatCode>General</c:formatCode>
                <c:ptCount val="3"/>
                <c:pt idx="0">
                  <c:v>62.29</c:v>
                </c:pt>
                <c:pt idx="1">
                  <c:v>6.82</c:v>
                </c:pt>
                <c:pt idx="2">
                  <c:v>69.11</c:v>
                </c:pt>
              </c:numCache>
            </c:numRef>
          </c:val>
        </c:ser>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5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E0900C"/>
            </a:solidFill>
            <a:effectLst/>
          </c:spPr>
          <c:invertIfNegative val="0"/>
          <c:dLbls>
            <c:numFmt formatCode="#,##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CN</c:v>
                  </c:pt>
                  <c:pt idx="1">
                    <c:v>IN</c:v>
                  </c:pt>
                  <c:pt idx="2">
                    <c:v>VN</c:v>
                  </c:pt>
                  <c:pt idx="3">
                    <c:v>MX</c:v>
                  </c:pt>
                  <c:pt idx="4">
                    <c:v>PL</c:v>
                  </c:pt>
                  <c:pt idx="5">
                    <c:v>CZ</c:v>
                  </c:pt>
                  <c:pt idx="6">
                    <c:v>DE</c:v>
                  </c:pt>
                  <c:pt idx="7">
                    <c:v>US</c:v>
                  </c:pt>
                </c:lvl>
              </c:multiLvlStrCache>
            </c:multiLvlStrRef>
          </c:cat>
          <c:val>
            <c:numRef>
              <c:f>Sheet1!$B$2:$B$9</c:f>
              <c:numCache>
                <c:formatCode>General</c:formatCode>
                <c:ptCount val="8"/>
                <c:pt idx="0">
                  <c:v>37</c:v>
                </c:pt>
                <c:pt idx="1">
                  <c:v>39</c:v>
                </c:pt>
                <c:pt idx="2">
                  <c:v>40</c:v>
                </c:pt>
                <c:pt idx="3">
                  <c:v>43</c:v>
                </c:pt>
                <c:pt idx="4">
                  <c:v>45</c:v>
                </c:pt>
                <c:pt idx="5">
                  <c:v>46</c:v>
                </c:pt>
                <c:pt idx="6">
                  <c:v>55</c:v>
                </c:pt>
                <c:pt idx="7">
                  <c:v>56</c:v>
                </c:pt>
              </c:numCache>
            </c:numRef>
          </c:val>
        </c:ser>
        <c:dLbls>
          <c:numFmt formatCode="#,##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0DA5A0"/>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Material</c:v>
                  </c:pt>
                  <c:pt idx="1">
                    <c:v>Process</c:v>
                  </c:pt>
                  <c:pt idx="2">
                    <c:v>Labour</c:v>
                  </c:pt>
                  <c:pt idx="3">
                    <c:v>Tooling</c:v>
                  </c:pt>
                  <c:pt idx="4">
                    <c:v>Pack</c:v>
                  </c:pt>
                  <c:pt idx="5">
                    <c:v>Logs</c:v>
                  </c:pt>
                  <c:pt idx="6">
                    <c:v>O/H</c:v>
                  </c:pt>
                  <c:pt idx="7">
                    <c:v>Margin</c:v>
                  </c:pt>
                </c:lvl>
              </c:multiLvlStrCache>
            </c:multiLvlStrRef>
          </c:cat>
          <c:val>
            <c:numRef>
              <c:f>Sheet1!$B$2:$B$9</c:f>
              <c:numCache>
                <c:formatCode>General</c:formatCode>
                <c:ptCount val="8"/>
                <c:pt idx="0">
                  <c:v>4.36</c:v>
                </c:pt>
                <c:pt idx="1">
                  <c:v>0.64</c:v>
                </c:pt>
                <c:pt idx="2">
                  <c:v>0.18</c:v>
                </c:pt>
                <c:pt idx="3">
                  <c:v>0.6</c:v>
                </c:pt>
                <c:pt idx="4">
                  <c:v>0.05</c:v>
                </c:pt>
                <c:pt idx="5">
                  <c:v>0.1</c:v>
                </c:pt>
                <c:pt idx="6">
                  <c:v>0.58</c:v>
                </c:pt>
                <c:pt idx="7">
                  <c:v>0.46</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8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 (ex-works)</c:v>
                </c:pt>
              </c:strCache>
            </c:strRef>
          </c:tx>
          <c:spPr>
            <a:solidFill>
              <a:srgbClr val="E0900C"/>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CN</c:v>
                  </c:pt>
                  <c:pt idx="1">
                    <c:v>IN</c:v>
                  </c:pt>
                  <c:pt idx="2">
                    <c:v>VN</c:v>
                  </c:pt>
                  <c:pt idx="3">
                    <c:v>MX</c:v>
                  </c:pt>
                  <c:pt idx="4">
                    <c:v>PL</c:v>
                  </c:pt>
                  <c:pt idx="5">
                    <c:v>US</c:v>
                  </c:pt>
                  <c:pt idx="6">
                    <c:v>UK</c:v>
                  </c:pt>
                  <c:pt idx="7">
                    <c:v>DE</c:v>
                  </c:pt>
                </c:lvl>
              </c:multiLvlStrCache>
            </c:multiLvlStrRef>
          </c:cat>
          <c:val>
            <c:numRef>
              <c:f>Sheet1!$B$2:$B$9</c:f>
              <c:numCache>
                <c:formatCode>General</c:formatCode>
                <c:ptCount val="8"/>
                <c:pt idx="0">
                  <c:v>5.27</c:v>
                </c:pt>
                <c:pt idx="1">
                  <c:v>5.3</c:v>
                </c:pt>
                <c:pt idx="2">
                  <c:v>5.46</c:v>
                </c:pt>
                <c:pt idx="3">
                  <c:v>5.63</c:v>
                </c:pt>
                <c:pt idx="4">
                  <c:v>5.86</c:v>
                </c:pt>
                <c:pt idx="5">
                  <c:v>6.29</c:v>
                </c:pt>
                <c:pt idx="6">
                  <c:v>6.36</c:v>
                </c:pt>
                <c:pt idx="7">
                  <c:v>6.69</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you for the time. What you're about to see is CostVision — our own AI cost-intelligence platform. In one sentence: it turns an engineering input — a CAD model, a photo of a circuit board, even a plain-English description — into a defensible, auditable should-cost, in minutes rather than weeks. And unlike a spreadsheet, it learns from every real quote we feed it. Today I'll walk the whole platform, go deep on CAD-to-Cost, show the AI under the hood, and finish with how we'd roll it out and keep the data secure. Everything I show is from live runs — no mock-ups.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dive in, here's the entire story on one page — if you only take away this slide, you'll have the gist. Five numbers up top: it costs a part in minutes not weeks; it ships nineteen commodity engines and twenty real-rate regions; in a live test it landed within about five percent of a manual estimate; and the autonomous agent found half a million pounds a year with nobody at the keyboard. Underneath: what it actually is — one platform that costs any input, prices it globally, hands you the negotiation, and learns as it goes. The four boxes are the four jobs it does. And the bottom line for this room: faster quotes, better margins, one consistent number, and an intelligence asset that's ours and compounds. Everything after this is detail and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shape of the next thirty minutes, and a one-paragraph 'why' before we dive in. The problem we all live with: costing is slow, it depends on who does it, and it's inconsistent — and the expertise walks out the door when a senior engineer retires. CostVision is our answer to that. I'll start with the problem in a bit more depth, then give you the whole platform on one slide. Then we go deep where it matters most — CAD-to-Cost — before touring the other capabilities, and I'll close on trust, security, and exactly how we'd roll this out. Feel free to hold questions to the end, or jump in — whichever you prefer.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name the pain, because everyone in this room has felt it. Today, getting a defensible cost means a two-to-six week RFQ cycle, and what comes back is a single number with no breakdown — so when you want to challenge it, you can't. Worse, the answer depends on who did the estimate; two engineers give you two numbers. And the deepest problem of all: that expertise lives in people's heads and leaves when they do. CostVision flips all four. Minutes not weeks. A full breakdown you can interrogate. One consistent answer from a deterministic engine. And knowledge that compounds instead of evaporating. That's the shift — and everything that follows is how we deliver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on one slide, and I'd ask you to remember the shape: four columns, left to right. On the left, inputs — and notice how forgiving they are: a CAD model, a photo, a sentence, an RFQ, whatever you have. Next, the AI layer: it reads and understands that input — the vision models, the reasoning, the memory. Then the crucial column — deterministic engines. This is where the money maths happens, and there is no AI in it. Twenty commodity engines, real country rates, feature-based costing. And on the right, outputs: a full breakdown, a confidence range, a negotiation pack, exports, even a carbon figure. The golden rule at the bottom is the one to internalise: the AI understands the input, but it never sets the price. Every pound is auditable arithmetic. That's what makes this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'what does CostVision actually do,' this is the answer — four jobs. It ESTIMATES: from a CAD model, a board photo, or any of twenty commodity engines. It UNDERSTANDS: the 3D viewer with B-rep intelligence, the feature table, the assistant that answers from our own data. It helps you DECIDE and NEGOTIATE: should-cost across twenty regions, what-if scenarios, and a coach that hands you the argument. And it LEARNS and stays GOVERNED: it remembers, self-corrects, hunts for savings on its own — and every number is auditable and stays inside our walls. I'll spend most of today in the first two columns, because that's where the demo lives, but keep this map in mind — it's the whole surface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heart of the demo — CAD-to-Cost. The promise is simple: drop in a 3D model, get a should-cost. But how it does that is what earns trust. Four moves, left to right. First, it reads the REAL geometry — we run a genuine geometry kernel that measures volume, bounding box and surface area. That's measured ground truth, not the AI guessing. Second, it recognises the manufacturing features — the holes, pockets, slots, bends — and turns them into actual machining operations. Third, the AI proposes a material and a process route, each with a confidence score, and you can override. Fourth, a deterministic engine prices it and explains the number with a confidence band and design-for-manufacture guidance. And note the bottom line — it takes standard CAD formats, no BOM or drawings required. The model IS the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pipeline end to end — follow it left to right. You upload the model. The geometry engine measures it — real volume, bounding box, surface area, faces. Feature recognition finds the holes, pockets, slots and bends. The AI suggests a material and process, with a confidence score. The deterministic engine prices material, machining and non-recurring cost. Then — and this is the step I want you to remember — a sanity check compares every AI-suggested number against the measured geometry. Finally you get a full should-cost with a confidence band and provenance on every line. The colour split matters: purple is where AI understands the model; green is where deterministic maths sets the price. And the safety net at the bottom is the whole game — because we have measured ground truth, a hallucinated dimension gets flagged, not silently priced. That's what makes a CAD estimate you can actually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AI intelligence layered on top of the geometry — the part that makes engineers lean in. Start top-left: a real interactive 3D viewer in the browser — rotate, section, measure, and the highlights link a face on the model to a line in the cost. Underneath that: B-rep face intelligence. This matters — it understands the boundary representation, the actual faces and edges and how they relate, not just a mesh of triangles. That's what lets it recognise a pocket as a pocket. The feature table lists every detected feature and feeds it straight into the costing as a real operation — no manual keying. Feature-based machining then costs each secondary operation per feature and per commodity. The AI suggests material and process with a confidence score you can override. And the manufacturability score tells the designer what's driving cost — so this isn't just an estimate, it's design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the question senior teams always ask about AI, so let me be precise about how we earn it — it's engineered in layers. One: measured ground truth — the geometry kernel measures the part, so the AI is checked against physics, not trusted. Two: bounded sanity checks — if the AI's volume drifts more than twenty-five percent from the measured value it's flagged, over fifty percent it's rejected, and weight is cross-checked against density. Three, and this is the one I love telling engineers: the money maths is deterministic, and it reproduces a hand-calculated benchmark part — twenty-three pounds twenty-seven — to within one-hundredth of a percent. That's not a claim, it's a unit test. Four: provenance — every figure traces to its source with a confidence grade. Five: a confidence band, never a false single number. Six: it's been demonstrated on real automotive parts through the live system. I'll be straight with you — we don't quote a single headline 'X percent accurate on CAD' number, because honestly that depends on your parts and your rates, and we'd rather prove it on your data in the pilot. The box on the right is the takeaway: the AI can suggest, but it can never quietly decide the number. A wrong guess gets flagged, not baked into a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philosophy, different input — electronics. Photograph a circuit board, and in about sixty seconds you get a costed, flagged bill of materials. The chart is a real result: the same automotive ECU, costed by an engineer bottom-up in half a day versus the AI from one photo — sixty-nine pounds against seventy-three, within about five percent, in a minute. On the right is what it delivers: a full BOM from the photo, an honest split between what's confirmed and what needs verifying, guardrails so a mis-read chip can't blow up the total, should-cost across fourteen countries, and it even infers the ISO 26262 safety class. There's a full deep-dive deck on just this feature if you want it — today it's one slide to show the platform isn't only about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Breadth matters, because a tool that only does one commodity doesn't change how a business works. CostVision ships nineteen commodity engines — and these are purpose-built, bottom-up models, not one generic formula stretched over everything. Machining, casting including high-pressure die-casting, sheet metal and stamping, forging, injection and blow moulding, thermoforming, rubber, composites, extrusion, harnesses, PCB and PCBA, painting, body-in-white assembly. And every one of those can be costed across twenty manufacturing regions, using real labour, energy and overhead rates — so you see the China-to-Germany spread from a single input, volume-corrected and landed-cost aware. That chart is illustrative, but every analysis computes exactly that spread for your part. This is what turns a costing tool into a sourcing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engine behind 'the same part, priced anywhere.' It's four deterministic steps, no AI in the money. Step one: we take the base part cost — the eight-bucket breakdown, whether it came from CAD or a commodity form. Step two: we multiply through each region's real rate library — labour by trade, energy, material factors, machine rate, overhead, and the exchange rate. Step three: we add the landed pieces — packaging, logistics, duty, shipping. Step four: out comes a should-cost for every country, ranked, both ex-works and landed. And notice what you actually have to give it, bottom-left: the part once, the regions you care about, and a volume. Everything on the bottom-right is what the model factors in for you, per region — and on the next slide I'll show you those exact numbers, because transparency is the whole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builds confidence, so let me slow right down. Everything the model uses is on the table — these are the real, current rates, not a mystery multiplier. Read across: a skilled operator is twenty-six pounds an hour in the UK, forty in Germany, but under eight in China and under four in Vietnam. Foundry labour, industrial electricity, and then the multipliers that capture machine cost, overhead structure and logistics distance. Germany's overhead runs ten percent above the UK; China's is twenty-five percent below; but China's logistics multiplier is one-point-four-five because the part has to travel. This is ten of the twenty regions — behind them sit material factors, exchange rates, gas, packaging and duty. The key message: it's one versioned library, used by every costing, fully auditable. When someone challenges a China number, you can show them exactly which rate drove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make it concrete with a real part, priced by the real engine — a simple one-point-two kilo aluminium die-casting, ADC12, two cavities on an eight-hundred-tonne machine. Left chart, the UK cost stack: the total is six pounds ninety-six, and look — material is sixty-three percent of it. That tells a sourcing team instantly that this part is a material game, not a labour game. Right chart, the same part ex-works across regions: China at five-twenty-seven is seventeen percent under the UK. But here's the sophistication your buyers will love — landed, once you add logistics and duty, China is only about five percent cheaper. The tool shows you both, so you don't chase a saving that shipping eats. And now the bit that fixes a real pain: you do not manually update these should-costs when metal moves or rates change. Metal prices refresh automatically from a live feed; the rate library is versioned in one place. Update once, and every part re-prices in a click. No more stale spreadsheets, no re-keying — the numbers are always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cost intelligence becomes money. A should-cost on its own is interesting; a should-cost that wins a negotiation is the product. Follow the flow: our should-cost on the left, drop in the supplier's quote, and the engine tears down the gap by driver — material, cycle time, rate, margin — then hands you a negotiation pack. The stats are illustrative but real in shape: quotes typically run about fifteen percent over should-cost, and on one part family that was ninety-one thousand pounds a year, with the single biggest lever — raw material — worth thirty-seven thousand. The pack gives you the gap table, the driver decomposition, the levers ranked by pounds, the exact questions to ask, and a one-click export. You stop arguing about the headline number and start negotiating the drivers. That's a winnable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CostVision more than a calculator — it's agentic. Four verbs, and they form a loop. It REMEMBERS every analysis as a case, shared across the team, so a junior inherits senior judgement on day one. It RECOGNISES a new part against that memory and shows why. It SELF-CORRECTS — log a real quote and it measures its own error, then corrects future estimates. And it ACTS — a background agent re-checks every part and flags overpayment by itself. The numbers are verified: error fell thirty-six-fold after learning from just three quotes; the agent surfaced half a million pounds a year, unattended; recognition hit ninety-nine percent. There's a dedicated deck on the agentic layer — today, this is the headline: the tool gets smarter every time you use it, and that intelligence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newer capabilities that lift this above a normal estimator. Conformal confidence bands — instead of asserting a precision, it states an observed fact with a statistical guarantee: ninety percent of your real quotes landed within plus-or-minus six-and-a-half percent. That's evidence a buyer can defend. The causal coach knows WHY a part costs what it does and writes the negotiating sentence for you — every one percent move in aluminium shifts the price by eleven pence. The what-if engine lets you move a commodity and watch the price recompute, for one part or the whole portfolio, so sourcing gets ahead of the market. And carbon co-costing puts a CO2 figure next to every pound, which customers increasingly demand. Each of these turns a number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Whenever AI touches money, the honest question is 'can I trust it?' — so let me answer it head-on. First, it's glass-box: every learned or derived number stays auditable, a value an engineer can read and defend. The AI narrates and explains; it never sets the price in secret. Second, accuracy is measured — against real geometry and real quotes — and reported openly, before and after. Third, it's honest about uncertainty: confidence bands and clear flags, never a false single number. And fourth, it's production-grade: nine hundred and seventeen automated tests, exercised on the live system. The through-line of the entire platform is on that green bar: AI does the understanding, deterministic maths does the money, every number is traceable and tested. That's what lets you put a CostVision number in front of a supplier — or in front of this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translate all of that into business language — four points. Speed: weeks of RFQ cycle collapse into minutes, so the first defensible number is on the table while the meeting is still happening. Margin: line-level should-cost lets you challenge every quote by driver — and remember, the agent alone surfaced around half a million pounds a year in a demo, unattended. Consistency and speed-to-competence: one answer for everyone, and juniors costing like seniors from day one. And the strategic one — a compounding asset: this becomes proprietary costing intelligence on our own servers. It grows with use, and a competitor can buy the same software but never our accumulated data. Net: faster quotes, better margins, consistent numbers, an asset that appreciates — at no extra licence cost, on our own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get from a demo to business-as-usual? A staged, low-risk blueprint. Phase one, the pilot — six weeks: stand it up on-premise, seed the memory with our historic quotes, cost twenty or thirty live parts, and baseline the accuracy against real actuals so we prove it on our own data. Phase two, scale — roll it out to costing and sourcing, make 'Log Actual £' a routine habit, wire it into the RFQ workflow, and review the agent's findings monthly. Phase three, embed — negotiation packs become standard, portfolio what-if and risk go live, we connect real market feeds, and we track the KPI that matters: pounds saved and cycle-time cut. And I'll be honest about the one dependency: the intelligence starts empty and grows with use — which is exactly why Phase one seeds it, so it starts smart, not from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room like this, security isn't a footnote — so here it is head-on. CostVision runs on-premise: the knowledge base and every analysis stay on our own servers and never leave the building. The AI provider key lives server-side only — the browser never sees it, and all AI calls proxy through our own server. It supports private routing and can run air-gapped for the most sensitive programmes. Every number carries provenance and every analysis is logged, so it's fully auditable. Critically, the accumulated intelligence is OUR IP — it doesn't walk out the door with a subscription. And access is role-based, on our own identity and infrastructure, under our governance. In short: your data, your infrastructure, your IP — which is exactly the posture a costing platform touching commercial pricing has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my runbook for the live demo — and if I'm short on time I'll do steps one, three and six. I'll start with CAD-to-Cost: upload a STEP model, show the 3D viewer and the feature table so you see it's reading real geometry, then hit Calculate — the should-cost and confidence band come back in under a minute. Then I'll attach a 2D drawing and re-run, so you watch the tolerances tighten the estimate live. Step three, I'll switch regions and show the twenty-country spread in one click — China against Germany. Then something different — I'll drop a photo of a circuit board and watch a full BOM build itself. Step five, I'll paste in a supplier quote and generate the negotiation pack. And I'll finish on the agent's findings panel — half a million pounds it found on its own. That's the note to end on. The checklist on the right is what I've got staged so nothing stalls — including cached runs as a fallback if the network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bring it home. Any input in — a CAD model, a photo, a description — and a defensible, self-improving should-cost out. Fast, explainable, self-improving, secure, and entirely ours. If you're persuaded, the ask is three small, low-risk decisions: approve a six-week on-premise pilot and let us seed it with our historic quotes; pick a first part family — a CAD part, a board, or a live RFQ — for us to cost; and put the agent's monthly findings on the sourcing agenda, because it's already finding money. Do those three things and we start compounding value from day one. Thank you — I'm happy to take questions, or better yet, let's open the live system and cost something of yours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731520"/>
            <a:ext cx="566928" cy="566928"/>
          </a:xfrm>
          <a:prstGeom prst="roundRect">
            <a:avLst>
              <a:gd name="adj" fmla="val 22581"/>
            </a:avLst>
          </a:prstGeom>
          <a:solidFill>
            <a:srgbClr val="4F46E5"/>
          </a:solidFill>
          <a:ln/>
        </p:spPr>
      </p:sp>
      <p:sp>
        <p:nvSpPr>
          <p:cNvPr id="7" name="Text 5"/>
          <p:cNvSpPr/>
          <p:nvPr/>
        </p:nvSpPr>
        <p:spPr>
          <a:xfrm>
            <a:off x="822960" y="73152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8" name="Text 6"/>
          <p:cNvSpPr/>
          <p:nvPr/>
        </p:nvSpPr>
        <p:spPr>
          <a:xfrm>
            <a:off x="1508760" y="777240"/>
            <a:ext cx="548640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CostVision</a:t>
            </a:r>
            <a:endParaRPr lang="en-US" sz="2000" dirty="0"/>
          </a:p>
        </p:txBody>
      </p:sp>
      <p:sp>
        <p:nvSpPr>
          <p:cNvPr id="9" name="Text 7"/>
          <p:cNvSpPr/>
          <p:nvPr/>
        </p:nvSpPr>
        <p:spPr>
          <a:xfrm>
            <a:off x="1527048" y="1197864"/>
            <a:ext cx="5486400" cy="274320"/>
          </a:xfrm>
          <a:prstGeom prst="rect">
            <a:avLst/>
          </a:prstGeom>
          <a:noFill/>
          <a:ln/>
        </p:spPr>
        <p:txBody>
          <a:bodyPr wrap="square" lIns="0" tIns="0" rIns="0" bIns="0" rtlCol="0" anchor="t"/>
          <a:lstStyle/>
          <a:p>
            <a:pPr indent="0" marL="0">
              <a:buNone/>
            </a:pPr>
            <a:r>
              <a:rPr lang="en-US" sz="950" spc="250" kern="0" dirty="0">
                <a:solidFill>
                  <a:srgbClr val="A9BEDC"/>
                </a:solidFill>
                <a:latin typeface="Calibri" pitchFamily="34" charset="0"/>
                <a:ea typeface="Calibri" pitchFamily="34" charset="-122"/>
                <a:cs typeface="Calibri" pitchFamily="34" charset="-120"/>
              </a:rPr>
              <a:t>AI  COST  INTELLIGENCE</a:t>
            </a:r>
            <a:endParaRPr lang="en-US" sz="950" dirty="0"/>
          </a:p>
        </p:txBody>
      </p:sp>
      <p:sp>
        <p:nvSpPr>
          <p:cNvPr id="10" name="Text 8"/>
          <p:cNvSpPr/>
          <p:nvPr/>
        </p:nvSpPr>
        <p:spPr>
          <a:xfrm>
            <a:off x="822960" y="2286000"/>
            <a:ext cx="10972800" cy="914400"/>
          </a:xfrm>
          <a:prstGeom prst="rect">
            <a:avLst/>
          </a:prstGeom>
          <a:noFill/>
          <a:ln/>
        </p:spPr>
        <p:txBody>
          <a:bodyPr wrap="square" lIns="0" tIns="0" rIns="0" bIns="0" rtlCol="0" anchor="t"/>
          <a:lstStyle/>
          <a:p>
            <a:pPr indent="0" marL="0">
              <a:buNone/>
            </a:pPr>
            <a:r>
              <a:rPr lang="en-US" sz="5200" b="1" dirty="0">
                <a:solidFill>
                  <a:srgbClr val="FFFFFF"/>
                </a:solidFill>
                <a:latin typeface="Calibri" pitchFamily="34" charset="0"/>
                <a:ea typeface="Calibri" pitchFamily="34" charset="-122"/>
                <a:cs typeface="Calibri" pitchFamily="34" charset="-120"/>
              </a:rPr>
              <a:t>CostVision</a:t>
            </a:r>
            <a:endParaRPr lang="en-US" sz="5200" dirty="0"/>
          </a:p>
        </p:txBody>
      </p:sp>
      <p:sp>
        <p:nvSpPr>
          <p:cNvPr id="11" name="Text 9"/>
          <p:cNvSpPr/>
          <p:nvPr/>
        </p:nvSpPr>
        <p:spPr>
          <a:xfrm>
            <a:off x="859536" y="3310128"/>
            <a:ext cx="10972800" cy="548640"/>
          </a:xfrm>
          <a:prstGeom prst="rect">
            <a:avLst/>
          </a:prstGeom>
          <a:noFill/>
          <a:ln/>
        </p:spPr>
        <p:txBody>
          <a:bodyPr wrap="square" lIns="0" tIns="0" rIns="0" bIns="0" rtlCol="0" anchor="t"/>
          <a:lstStyle/>
          <a:p>
            <a:pPr indent="0" marL="0">
              <a:buNone/>
            </a:pPr>
            <a:r>
              <a:rPr lang="en-US" sz="2300" dirty="0">
                <a:solidFill>
                  <a:srgbClr val="CFE0F5"/>
                </a:solidFill>
                <a:latin typeface="Calibri" pitchFamily="34" charset="0"/>
                <a:ea typeface="Calibri" pitchFamily="34" charset="-122"/>
                <a:cs typeface="Calibri" pitchFamily="34" charset="-120"/>
              </a:rPr>
              <a:t>The AI cost-intelligence platform</a:t>
            </a:r>
            <a:endParaRPr lang="en-US" sz="2300" dirty="0"/>
          </a:p>
        </p:txBody>
      </p:sp>
      <p:sp>
        <p:nvSpPr>
          <p:cNvPr id="12" name="Text 10"/>
          <p:cNvSpPr/>
          <p:nvPr/>
        </p:nvSpPr>
        <p:spPr>
          <a:xfrm>
            <a:off x="859536" y="3977640"/>
            <a:ext cx="10607040" cy="822960"/>
          </a:xfrm>
          <a:prstGeom prst="rect">
            <a:avLst/>
          </a:prstGeom>
          <a:noFill/>
          <a:ln/>
        </p:spPr>
        <p:txBody>
          <a:bodyPr wrap="square" lIns="0" tIns="0" rIns="0" bIns="0" rtlCol="0" anchor="t"/>
          <a:lstStyle/>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From a CAD model, a board photo or a plain description — to a defensible, auditable,</a:t>
            </a:r>
            <a:endParaRPr lang="en-US" sz="1500" dirty="0"/>
          </a:p>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negotiation-ready should-cost, in minutes. And it gets smarter with every real quote.</a:t>
            </a:r>
            <a:endParaRPr lang="en-US" sz="1500" dirty="0"/>
          </a:p>
        </p:txBody>
      </p:sp>
      <p:sp>
        <p:nvSpPr>
          <p:cNvPr id="13" name="Shape 11"/>
          <p:cNvSpPr/>
          <p:nvPr/>
        </p:nvSpPr>
        <p:spPr>
          <a:xfrm>
            <a:off x="822960" y="5029200"/>
            <a:ext cx="2542032" cy="457200"/>
          </a:xfrm>
          <a:prstGeom prst="roundRect">
            <a:avLst>
              <a:gd name="adj" fmla="val 50000"/>
            </a:avLst>
          </a:prstGeom>
          <a:solidFill>
            <a:srgbClr val="FFFFFF">
              <a:alpha val="92000"/>
            </a:srgbClr>
          </a:solidFill>
          <a:ln/>
        </p:spPr>
      </p:sp>
      <p:sp>
        <p:nvSpPr>
          <p:cNvPr id="14" name="Shape 12"/>
          <p:cNvSpPr/>
          <p:nvPr/>
        </p:nvSpPr>
        <p:spPr>
          <a:xfrm>
            <a:off x="1024128" y="5166360"/>
            <a:ext cx="182880" cy="182880"/>
          </a:xfrm>
          <a:prstGeom prst="ellipse">
            <a:avLst/>
          </a:prstGeom>
          <a:solidFill>
            <a:srgbClr val="2E90FA"/>
          </a:solidFill>
          <a:ln/>
        </p:spPr>
      </p:sp>
      <p:sp>
        <p:nvSpPr>
          <p:cNvPr id="15" name="Text 13"/>
          <p:cNvSpPr/>
          <p:nvPr/>
        </p:nvSpPr>
        <p:spPr>
          <a:xfrm>
            <a:off x="12801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CAD → Cost</a:t>
            </a:r>
            <a:endParaRPr lang="en-US" sz="1200" dirty="0"/>
          </a:p>
        </p:txBody>
      </p:sp>
      <p:sp>
        <p:nvSpPr>
          <p:cNvPr id="16" name="Shape 14"/>
          <p:cNvSpPr/>
          <p:nvPr/>
        </p:nvSpPr>
        <p:spPr>
          <a:xfrm>
            <a:off x="3566160" y="5029200"/>
            <a:ext cx="2542032" cy="457200"/>
          </a:xfrm>
          <a:prstGeom prst="roundRect">
            <a:avLst>
              <a:gd name="adj" fmla="val 50000"/>
            </a:avLst>
          </a:prstGeom>
          <a:solidFill>
            <a:srgbClr val="FFFFFF">
              <a:alpha val="92000"/>
            </a:srgbClr>
          </a:solidFill>
          <a:ln/>
        </p:spPr>
      </p:sp>
      <p:sp>
        <p:nvSpPr>
          <p:cNvPr id="17" name="Shape 15"/>
          <p:cNvSpPr/>
          <p:nvPr/>
        </p:nvSpPr>
        <p:spPr>
          <a:xfrm>
            <a:off x="3767328" y="5166360"/>
            <a:ext cx="182880" cy="182880"/>
          </a:xfrm>
          <a:prstGeom prst="ellipse">
            <a:avLst/>
          </a:prstGeom>
          <a:solidFill>
            <a:srgbClr val="0E93B0"/>
          </a:solidFill>
          <a:ln/>
        </p:spPr>
      </p:sp>
      <p:sp>
        <p:nvSpPr>
          <p:cNvPr id="18" name="Text 16"/>
          <p:cNvSpPr/>
          <p:nvPr/>
        </p:nvSpPr>
        <p:spPr>
          <a:xfrm>
            <a:off x="40233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PCB Image → BOM</a:t>
            </a:r>
            <a:endParaRPr lang="en-US" sz="1200" dirty="0"/>
          </a:p>
        </p:txBody>
      </p:sp>
      <p:sp>
        <p:nvSpPr>
          <p:cNvPr id="19" name="Shape 17"/>
          <p:cNvSpPr/>
          <p:nvPr/>
        </p:nvSpPr>
        <p:spPr>
          <a:xfrm>
            <a:off x="6309360" y="5029200"/>
            <a:ext cx="2542032" cy="457200"/>
          </a:xfrm>
          <a:prstGeom prst="roundRect">
            <a:avLst>
              <a:gd name="adj" fmla="val 50000"/>
            </a:avLst>
          </a:prstGeom>
          <a:solidFill>
            <a:srgbClr val="FFFFFF">
              <a:alpha val="92000"/>
            </a:srgbClr>
          </a:solidFill>
          <a:ln/>
        </p:spPr>
      </p:sp>
      <p:sp>
        <p:nvSpPr>
          <p:cNvPr id="20" name="Shape 18"/>
          <p:cNvSpPr/>
          <p:nvPr/>
        </p:nvSpPr>
        <p:spPr>
          <a:xfrm>
            <a:off x="6510528" y="5166360"/>
            <a:ext cx="182880" cy="182880"/>
          </a:xfrm>
          <a:prstGeom prst="ellipse">
            <a:avLst/>
          </a:prstGeom>
          <a:solidFill>
            <a:srgbClr val="E0900C"/>
          </a:solidFill>
          <a:ln/>
        </p:spPr>
      </p:sp>
      <p:sp>
        <p:nvSpPr>
          <p:cNvPr id="21" name="Text 19"/>
          <p:cNvSpPr/>
          <p:nvPr/>
        </p:nvSpPr>
        <p:spPr>
          <a:xfrm>
            <a:off x="67665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19 Commodity Engines</a:t>
            </a:r>
            <a:endParaRPr lang="en-US" sz="1200" dirty="0"/>
          </a:p>
        </p:txBody>
      </p:sp>
      <p:sp>
        <p:nvSpPr>
          <p:cNvPr id="22" name="Shape 20"/>
          <p:cNvSpPr/>
          <p:nvPr/>
        </p:nvSpPr>
        <p:spPr>
          <a:xfrm>
            <a:off x="9052560" y="5029200"/>
            <a:ext cx="2542032" cy="457200"/>
          </a:xfrm>
          <a:prstGeom prst="roundRect">
            <a:avLst>
              <a:gd name="adj" fmla="val 50000"/>
            </a:avLst>
          </a:prstGeom>
          <a:solidFill>
            <a:srgbClr val="FFFFFF">
              <a:alpha val="92000"/>
            </a:srgbClr>
          </a:solidFill>
          <a:ln/>
        </p:spPr>
      </p:sp>
      <p:sp>
        <p:nvSpPr>
          <p:cNvPr id="23" name="Shape 21"/>
          <p:cNvSpPr/>
          <p:nvPr/>
        </p:nvSpPr>
        <p:spPr>
          <a:xfrm>
            <a:off x="9253728" y="5166360"/>
            <a:ext cx="182880" cy="182880"/>
          </a:xfrm>
          <a:prstGeom prst="ellipse">
            <a:avLst/>
          </a:prstGeom>
          <a:solidFill>
            <a:srgbClr val="0EA472"/>
          </a:solidFill>
          <a:ln/>
        </p:spPr>
      </p:sp>
      <p:sp>
        <p:nvSpPr>
          <p:cNvPr id="24" name="Text 22"/>
          <p:cNvSpPr/>
          <p:nvPr/>
        </p:nvSpPr>
        <p:spPr>
          <a:xfrm>
            <a:off x="95097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Agentic AI</a:t>
            </a:r>
            <a:endParaRPr lang="en-US" sz="1200" dirty="0"/>
          </a:p>
        </p:txBody>
      </p:sp>
      <p:sp>
        <p:nvSpPr>
          <p:cNvPr id="25" name="Text 23"/>
          <p:cNvSpPr/>
          <p:nvPr/>
        </p:nvSpPr>
        <p:spPr>
          <a:xfrm>
            <a:off x="859536" y="5989320"/>
            <a:ext cx="10515600" cy="365760"/>
          </a:xfrm>
          <a:prstGeom prst="rect">
            <a:avLst/>
          </a:prstGeom>
          <a:noFill/>
          <a:ln/>
        </p:spPr>
        <p:txBody>
          <a:bodyPr wrap="square" lIns="0" tIns="0" rIns="0" bIns="0" rtlCol="0" anchor="t"/>
          <a:lstStyle/>
          <a:p>
            <a:pPr indent="0" marL="0">
              <a:buNone/>
            </a:pPr>
            <a:r>
              <a:rPr lang="en-US" sz="1150" dirty="0">
                <a:solidFill>
                  <a:srgbClr val="8FA6C6"/>
                </a:solidFill>
                <a:latin typeface="Calibri" pitchFamily="34" charset="0"/>
                <a:ea typeface="Calibri" pitchFamily="34" charset="-122"/>
                <a:cs typeface="Calibri" pitchFamily="34" charset="-120"/>
              </a:rPr>
              <a:t>Executive briefing &amp; live demo   ·   July 2026   ·   All figures verified from live system runs</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AT A GLANCE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Executive summary — the whole platform on one page</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88900" dist="25400" dir="5400000">
              <a:srgbClr val="9DB0CC">
                <a:alpha val="22000"/>
              </a:srgbClr>
            </a:outerShdw>
          </a:effectLst>
        </p:spPr>
      </p:sp>
      <p:sp>
        <p:nvSpPr>
          <p:cNvPr id="11" name="Shape 9"/>
          <p:cNvSpPr/>
          <p:nvPr/>
        </p:nvSpPr>
        <p:spPr>
          <a:xfrm>
            <a:off x="548640" y="1600200"/>
            <a:ext cx="82296" cy="1371600"/>
          </a:xfrm>
          <a:prstGeom prst="rect">
            <a:avLst/>
          </a:prstGeom>
          <a:solidFill>
            <a:srgbClr val="2563EB"/>
          </a:solidFill>
          <a:ln/>
        </p:spPr>
      </p:sp>
      <p:sp>
        <p:nvSpPr>
          <p:cNvPr id="12" name="Text 10"/>
          <p:cNvSpPr/>
          <p:nvPr/>
        </p:nvSpPr>
        <p:spPr>
          <a:xfrm>
            <a:off x="731520" y="1755648"/>
            <a:ext cx="1783080" cy="502920"/>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Minutes</a:t>
            </a:r>
            <a:endParaRPr lang="en-US" sz="1800" dirty="0"/>
          </a:p>
        </p:txBody>
      </p:sp>
      <p:sp>
        <p:nvSpPr>
          <p:cNvPr id="13" name="Text 11"/>
          <p:cNvSpPr/>
          <p:nvPr/>
        </p:nvSpPr>
        <p:spPr>
          <a:xfrm>
            <a:off x="731520"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not weeks — to a defensible cost</a:t>
            </a:r>
            <a:endParaRPr lang="en-US" sz="950" dirty="0"/>
          </a:p>
        </p:txBody>
      </p:sp>
      <p:sp>
        <p:nvSpPr>
          <p:cNvPr id="14" name="Shape 12"/>
          <p:cNvSpPr/>
          <p:nvPr/>
        </p:nvSpPr>
        <p:spPr>
          <a:xfrm>
            <a:off x="2724912"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129030000" dist="322580000" dir="324000000000">
              <a:srgbClr val="9DB0CC">
                <a:alpha val="2200000000"/>
              </a:srgbClr>
            </a:outerShdw>
          </a:effectLst>
        </p:spPr>
      </p:sp>
      <p:sp>
        <p:nvSpPr>
          <p:cNvPr id="15" name="Shape 13"/>
          <p:cNvSpPr/>
          <p:nvPr/>
        </p:nvSpPr>
        <p:spPr>
          <a:xfrm>
            <a:off x="2724912" y="1600200"/>
            <a:ext cx="82296" cy="1371600"/>
          </a:xfrm>
          <a:prstGeom prst="rect">
            <a:avLst/>
          </a:prstGeom>
          <a:solidFill>
            <a:srgbClr val="E0900C"/>
          </a:solidFill>
          <a:ln/>
        </p:spPr>
      </p:sp>
      <p:sp>
        <p:nvSpPr>
          <p:cNvPr id="16" name="Text 14"/>
          <p:cNvSpPr/>
          <p:nvPr/>
        </p:nvSpPr>
        <p:spPr>
          <a:xfrm>
            <a:off x="2907792" y="1755648"/>
            <a:ext cx="1783080" cy="502920"/>
          </a:xfrm>
          <a:prstGeom prst="rect">
            <a:avLst/>
          </a:prstGeom>
          <a:noFill/>
          <a:ln/>
        </p:spPr>
        <p:txBody>
          <a:bodyPr wrap="square" lIns="0" tIns="0" rIns="0" bIns="0" rtlCol="0" anchor="t"/>
          <a:lstStyle/>
          <a:p>
            <a:pPr indent="0" marL="0">
              <a:buNone/>
            </a:pPr>
            <a:r>
              <a:rPr lang="en-US" sz="2600" b="1" dirty="0">
                <a:solidFill>
                  <a:srgbClr val="E0900C"/>
                </a:solidFill>
                <a:latin typeface="Calibri" pitchFamily="34" charset="0"/>
                <a:ea typeface="Calibri" pitchFamily="34" charset="-122"/>
                <a:cs typeface="Calibri" pitchFamily="34" charset="-120"/>
              </a:rPr>
              <a:t>19</a:t>
            </a:r>
            <a:endParaRPr lang="en-US" sz="2600" dirty="0"/>
          </a:p>
        </p:txBody>
      </p:sp>
      <p:sp>
        <p:nvSpPr>
          <p:cNvPr id="17" name="Text 15"/>
          <p:cNvSpPr/>
          <p:nvPr/>
        </p:nvSpPr>
        <p:spPr>
          <a:xfrm>
            <a:off x="2907792"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commodity cost engines</a:t>
            </a:r>
            <a:endParaRPr lang="en-US" sz="950" dirty="0"/>
          </a:p>
        </p:txBody>
      </p:sp>
      <p:sp>
        <p:nvSpPr>
          <p:cNvPr id="18" name="Shape 16"/>
          <p:cNvSpPr/>
          <p:nvPr/>
        </p:nvSpPr>
        <p:spPr>
          <a:xfrm>
            <a:off x="4901184"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4338681000000" dist="4096766000000" dir="19440000000000000">
              <a:srgbClr val="9DB0CC">
                <a:alpha val="220000000000000"/>
              </a:srgbClr>
            </a:outerShdw>
          </a:effectLst>
        </p:spPr>
      </p:sp>
      <p:sp>
        <p:nvSpPr>
          <p:cNvPr id="19" name="Shape 17"/>
          <p:cNvSpPr/>
          <p:nvPr/>
        </p:nvSpPr>
        <p:spPr>
          <a:xfrm>
            <a:off x="4901184" y="1600200"/>
            <a:ext cx="82296" cy="1371600"/>
          </a:xfrm>
          <a:prstGeom prst="rect">
            <a:avLst/>
          </a:prstGeom>
          <a:solidFill>
            <a:srgbClr val="0DA5A0"/>
          </a:solidFill>
          <a:ln/>
        </p:spPr>
      </p:sp>
      <p:sp>
        <p:nvSpPr>
          <p:cNvPr id="20" name="Text 18"/>
          <p:cNvSpPr/>
          <p:nvPr/>
        </p:nvSpPr>
        <p:spPr>
          <a:xfrm>
            <a:off x="5084064" y="1755648"/>
            <a:ext cx="1783080" cy="502920"/>
          </a:xfrm>
          <a:prstGeom prst="rect">
            <a:avLst/>
          </a:prstGeom>
          <a:noFill/>
          <a:ln/>
        </p:spPr>
        <p:txBody>
          <a:bodyPr wrap="square" lIns="0" tIns="0" rIns="0" bIns="0" rtlCol="0" anchor="t"/>
          <a:lstStyle/>
          <a:p>
            <a:pPr indent="0" marL="0">
              <a:buNone/>
            </a:pPr>
            <a:r>
              <a:rPr lang="en-US" sz="2600" b="1" dirty="0">
                <a:solidFill>
                  <a:srgbClr val="0DA5A0"/>
                </a:solidFill>
                <a:latin typeface="Calibri" pitchFamily="34" charset="0"/>
                <a:ea typeface="Calibri" pitchFamily="34" charset="-122"/>
                <a:cs typeface="Calibri" pitchFamily="34" charset="-120"/>
              </a:rPr>
              <a:t>20</a:t>
            </a:r>
            <a:endParaRPr lang="en-US" sz="2600" dirty="0"/>
          </a:p>
        </p:txBody>
      </p:sp>
      <p:sp>
        <p:nvSpPr>
          <p:cNvPr id="21" name="Text 19"/>
          <p:cNvSpPr/>
          <p:nvPr/>
        </p:nvSpPr>
        <p:spPr>
          <a:xfrm>
            <a:off x="5084064"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manufacturing regions, real rates</a:t>
            </a:r>
            <a:endParaRPr lang="en-US" sz="950" dirty="0"/>
          </a:p>
        </p:txBody>
      </p:sp>
      <p:sp>
        <p:nvSpPr>
          <p:cNvPr id="22" name="Shape 20"/>
          <p:cNvSpPr/>
          <p:nvPr/>
        </p:nvSpPr>
        <p:spPr>
          <a:xfrm>
            <a:off x="7077456"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82101248700000000" dist="52028928200000000" dir="1.1664e+21">
              <a:srgbClr val="9DB0CC">
                <a:alpha val="22000000000000000000"/>
              </a:srgbClr>
            </a:outerShdw>
          </a:effectLst>
        </p:spPr>
      </p:sp>
      <p:sp>
        <p:nvSpPr>
          <p:cNvPr id="23" name="Shape 21"/>
          <p:cNvSpPr/>
          <p:nvPr/>
        </p:nvSpPr>
        <p:spPr>
          <a:xfrm>
            <a:off x="7077456" y="1600200"/>
            <a:ext cx="82296" cy="1371600"/>
          </a:xfrm>
          <a:prstGeom prst="rect">
            <a:avLst/>
          </a:prstGeom>
          <a:solidFill>
            <a:srgbClr val="0EA472"/>
          </a:solidFill>
          <a:ln/>
        </p:spPr>
      </p:sp>
      <p:sp>
        <p:nvSpPr>
          <p:cNvPr id="24" name="Text 22"/>
          <p:cNvSpPr/>
          <p:nvPr/>
        </p:nvSpPr>
        <p:spPr>
          <a:xfrm>
            <a:off x="7260336" y="1755648"/>
            <a:ext cx="1783080" cy="502920"/>
          </a:xfrm>
          <a:prstGeom prst="rect">
            <a:avLst/>
          </a:prstGeom>
          <a:noFill/>
          <a:ln/>
        </p:spPr>
        <p:txBody>
          <a:bodyPr wrap="square" lIns="0" tIns="0" rIns="0" bIns="0" rtlCol="0" anchor="t"/>
          <a:lstStyle/>
          <a:p>
            <a:pPr indent="0" marL="0">
              <a:buNone/>
            </a:pPr>
            <a:r>
              <a:rPr lang="en-US" sz="2600" b="1" dirty="0">
                <a:solidFill>
                  <a:srgbClr val="0EA472"/>
                </a:solidFill>
                <a:latin typeface="Calibri" pitchFamily="34" charset="0"/>
                <a:ea typeface="Calibri" pitchFamily="34" charset="-122"/>
                <a:cs typeface="Calibri" pitchFamily="34" charset="-120"/>
              </a:rPr>
              <a:t>~5%</a:t>
            </a:r>
            <a:endParaRPr lang="en-US" sz="2600" dirty="0"/>
          </a:p>
        </p:txBody>
      </p:sp>
      <p:sp>
        <p:nvSpPr>
          <p:cNvPr id="25" name="Text 23"/>
          <p:cNvSpPr/>
          <p:nvPr/>
        </p:nvSpPr>
        <p:spPr>
          <a:xfrm>
            <a:off x="7260336"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of a manual estimate, proven live</a:t>
            </a:r>
            <a:endParaRPr lang="en-US" sz="950" dirty="0"/>
          </a:p>
        </p:txBody>
      </p:sp>
      <p:sp>
        <p:nvSpPr>
          <p:cNvPr id="26" name="Shape 24"/>
          <p:cNvSpPr/>
          <p:nvPr/>
        </p:nvSpPr>
        <p:spPr>
          <a:xfrm>
            <a:off x="9253728"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31268585849e+21" dist="660767388140000000000" dir="6.9984e+25">
              <a:srgbClr val="9DB0CC">
                <a:alpha val="2.2e+24"/>
              </a:srgbClr>
            </a:outerShdw>
          </a:effectLst>
        </p:spPr>
      </p:sp>
      <p:sp>
        <p:nvSpPr>
          <p:cNvPr id="27" name="Shape 25"/>
          <p:cNvSpPr/>
          <p:nvPr/>
        </p:nvSpPr>
        <p:spPr>
          <a:xfrm>
            <a:off x="9253728" y="1600200"/>
            <a:ext cx="82296" cy="1371600"/>
          </a:xfrm>
          <a:prstGeom prst="rect">
            <a:avLst/>
          </a:prstGeom>
          <a:solidFill>
            <a:srgbClr val="E5484D"/>
          </a:solidFill>
          <a:ln/>
        </p:spPr>
      </p:sp>
      <p:sp>
        <p:nvSpPr>
          <p:cNvPr id="28" name="Text 26"/>
          <p:cNvSpPr/>
          <p:nvPr/>
        </p:nvSpPr>
        <p:spPr>
          <a:xfrm>
            <a:off x="9436608" y="1755648"/>
            <a:ext cx="1783080" cy="502920"/>
          </a:xfrm>
          <a:prstGeom prst="rect">
            <a:avLst/>
          </a:prstGeom>
          <a:noFill/>
          <a:ln/>
        </p:spPr>
        <p:txBody>
          <a:bodyPr wrap="square" lIns="0" tIns="0" rIns="0" bIns="0" rtlCol="0" anchor="t"/>
          <a:lstStyle/>
          <a:p>
            <a:pPr indent="0" marL="0">
              <a:buNone/>
            </a:pPr>
            <a:r>
              <a:rPr lang="en-US" sz="1800" b="1" dirty="0">
                <a:solidFill>
                  <a:srgbClr val="E5484D"/>
                </a:solidFill>
                <a:latin typeface="Calibri" pitchFamily="34" charset="0"/>
                <a:ea typeface="Calibri" pitchFamily="34" charset="-122"/>
                <a:cs typeface="Calibri" pitchFamily="34" charset="-120"/>
              </a:rPr>
              <a:t>£512k/yr</a:t>
            </a:r>
            <a:endParaRPr lang="en-US" sz="1800" dirty="0"/>
          </a:p>
        </p:txBody>
      </p:sp>
      <p:sp>
        <p:nvSpPr>
          <p:cNvPr id="29" name="Text 27"/>
          <p:cNvSpPr/>
          <p:nvPr/>
        </p:nvSpPr>
        <p:spPr>
          <a:xfrm>
            <a:off x="9436608"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found by the agent, unattended</a:t>
            </a:r>
            <a:endParaRPr lang="en-US" sz="950" dirty="0"/>
          </a:p>
        </p:txBody>
      </p:sp>
      <p:sp>
        <p:nvSpPr>
          <p:cNvPr id="30" name="Shape 28"/>
          <p:cNvSpPr/>
          <p:nvPr/>
        </p:nvSpPr>
        <p:spPr>
          <a:xfrm>
            <a:off x="548640" y="3200400"/>
            <a:ext cx="11091672" cy="868680"/>
          </a:xfrm>
          <a:prstGeom prst="roundRect">
            <a:avLst>
              <a:gd name="adj" fmla="val 7368"/>
            </a:avLst>
          </a:prstGeom>
          <a:solidFill>
            <a:srgbClr val="EAF1FE"/>
          </a:solidFill>
          <a:ln w="12700">
            <a:solidFill>
              <a:srgbClr val="E4EAF2"/>
            </a:solidFill>
            <a:prstDash val="solid"/>
          </a:ln>
        </p:spPr>
      </p:sp>
      <p:sp>
        <p:nvSpPr>
          <p:cNvPr id="31" name="Shape 29"/>
          <p:cNvSpPr/>
          <p:nvPr/>
        </p:nvSpPr>
        <p:spPr>
          <a:xfrm>
            <a:off x="548640" y="3200400"/>
            <a:ext cx="82296" cy="868680"/>
          </a:xfrm>
          <a:prstGeom prst="rect">
            <a:avLst/>
          </a:prstGeom>
          <a:solidFill>
            <a:srgbClr val="4F46E5"/>
          </a:solidFill>
          <a:ln/>
        </p:spPr>
      </p:sp>
      <p:sp>
        <p:nvSpPr>
          <p:cNvPr id="32" name="Text 30"/>
          <p:cNvSpPr/>
          <p:nvPr/>
        </p:nvSpPr>
        <p:spPr>
          <a:xfrm>
            <a:off x="914400" y="3337560"/>
            <a:ext cx="10378440" cy="640080"/>
          </a:xfrm>
          <a:prstGeom prst="rect">
            <a:avLst/>
          </a:prstGeom>
          <a:noFill/>
          <a:ln/>
        </p:spPr>
        <p:txBody>
          <a:bodyPr wrap="square" lIns="0" tIns="0" rIns="0" bIns="0" rtlCol="0" anchor="t"/>
          <a:lstStyle/>
          <a:p>
            <a:pPr indent="0" marL="0">
              <a:lnSpc>
                <a:spcPct val="120000"/>
              </a:lnSpc>
              <a:buNone/>
            </a:pPr>
            <a:r>
              <a:rPr lang="en-US" sz="1250" b="1" dirty="0">
                <a:solidFill>
                  <a:srgbClr val="0F1E3D"/>
                </a:solidFill>
                <a:latin typeface="Calibri" pitchFamily="34" charset="0"/>
                <a:ea typeface="Calibri" pitchFamily="34" charset="-122"/>
                <a:cs typeface="Calibri" pitchFamily="34" charset="-120"/>
              </a:rPr>
              <a:t>What it is:  </a:t>
            </a:r>
            <a:pPr indent="0" marL="0">
              <a:lnSpc>
                <a:spcPct val="120000"/>
              </a:lnSpc>
              <a:buNone/>
            </a:pPr>
            <a:r>
              <a:rPr lang="en-US" sz="1250" dirty="0">
                <a:solidFill>
                  <a:srgbClr val="3E4C63"/>
                </a:solidFill>
                <a:latin typeface="Calibri" pitchFamily="34" charset="0"/>
                <a:ea typeface="Calibri" pitchFamily="34" charset="-122"/>
                <a:cs typeface="Calibri" pitchFamily="34" charset="-120"/>
              </a:rPr>
              <a:t>one AI platform that turns any engineering input — a CAD model, a board photo, a description — into a defensible, auditable should-cost in minutes, prices it across 20 regions, hands you the negotiation, and learns from every real quote. AI understands the input; deterministic maths sets every price.</a:t>
            </a:r>
            <a:endParaRPr lang="en-US" sz="1250" dirty="0"/>
          </a:p>
        </p:txBody>
      </p:sp>
      <p:sp>
        <p:nvSpPr>
          <p:cNvPr id="33" name="Shape 31"/>
          <p:cNvSpPr/>
          <p:nvPr/>
        </p:nvSpPr>
        <p:spPr>
          <a:xfrm>
            <a:off x="548640"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2.9371110402823e+25" dist="8.391745829378e+24" dir="4.19904e+30">
              <a:srgbClr val="9DB0CC">
                <a:alpha val="2.2e+29"/>
              </a:srgbClr>
            </a:outerShdw>
          </a:effectLst>
        </p:spPr>
      </p:sp>
      <p:sp>
        <p:nvSpPr>
          <p:cNvPr id="34" name="Shape 32"/>
          <p:cNvSpPr/>
          <p:nvPr/>
        </p:nvSpPr>
        <p:spPr>
          <a:xfrm>
            <a:off x="548640" y="4297680"/>
            <a:ext cx="82296" cy="1280160"/>
          </a:xfrm>
          <a:prstGeom prst="rect">
            <a:avLst/>
          </a:prstGeom>
          <a:solidFill>
            <a:srgbClr val="2563EB"/>
          </a:solidFill>
          <a:ln/>
        </p:spPr>
      </p:sp>
      <p:sp>
        <p:nvSpPr>
          <p:cNvPr id="35" name="Text 33"/>
          <p:cNvSpPr/>
          <p:nvPr/>
        </p:nvSpPr>
        <p:spPr>
          <a:xfrm>
            <a:off x="768096" y="4462272"/>
            <a:ext cx="2377440" cy="320040"/>
          </a:xfrm>
          <a:prstGeom prst="rect">
            <a:avLst/>
          </a:prstGeom>
          <a:noFill/>
          <a:ln/>
        </p:spPr>
        <p:txBody>
          <a:bodyPr wrap="square" lIns="0" tIns="0" rIns="0" bIns="0" rtlCol="0" anchor="t"/>
          <a:lstStyle/>
          <a:p>
            <a:pPr indent="0" marL="0">
              <a:buNone/>
            </a:pPr>
            <a:r>
              <a:rPr lang="en-US" sz="1300" b="1" spc="50" kern="0" dirty="0">
                <a:solidFill>
                  <a:srgbClr val="2563EB"/>
                </a:solidFill>
                <a:latin typeface="Calibri" pitchFamily="34" charset="0"/>
                <a:ea typeface="Calibri" pitchFamily="34" charset="-122"/>
                <a:cs typeface="Calibri" pitchFamily="34" charset="-120"/>
              </a:rPr>
              <a:t>ESTIMATE</a:t>
            </a:r>
            <a:endParaRPr lang="en-US" sz="1300" dirty="0"/>
          </a:p>
        </p:txBody>
      </p:sp>
      <p:sp>
        <p:nvSpPr>
          <p:cNvPr id="36" name="Text 34"/>
          <p:cNvSpPr/>
          <p:nvPr/>
        </p:nvSpPr>
        <p:spPr>
          <a:xfrm>
            <a:off x="768096"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CAD · PCB · 19 engines</a:t>
            </a:r>
            <a:endParaRPr lang="en-US" sz="1050" dirty="0"/>
          </a:p>
        </p:txBody>
      </p:sp>
      <p:sp>
        <p:nvSpPr>
          <p:cNvPr id="37" name="Shape 35"/>
          <p:cNvSpPr/>
          <p:nvPr/>
        </p:nvSpPr>
        <p:spPr>
          <a:xfrm>
            <a:off x="3319272"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3.730131021158521e+29" dist="1.0657517203310059e+29" dir="2.519424e+35">
              <a:srgbClr val="9DB0CC">
                <a:alpha val="2.2e+34"/>
              </a:srgbClr>
            </a:outerShdw>
          </a:effectLst>
        </p:spPr>
      </p:sp>
      <p:sp>
        <p:nvSpPr>
          <p:cNvPr id="38" name="Shape 36"/>
          <p:cNvSpPr/>
          <p:nvPr/>
        </p:nvSpPr>
        <p:spPr>
          <a:xfrm>
            <a:off x="3319272" y="4297680"/>
            <a:ext cx="82296" cy="1280160"/>
          </a:xfrm>
          <a:prstGeom prst="rect">
            <a:avLst/>
          </a:prstGeom>
          <a:solidFill>
            <a:srgbClr val="7C3AED"/>
          </a:solidFill>
          <a:ln/>
        </p:spPr>
      </p:sp>
      <p:sp>
        <p:nvSpPr>
          <p:cNvPr id="39" name="Text 37"/>
          <p:cNvSpPr/>
          <p:nvPr/>
        </p:nvSpPr>
        <p:spPr>
          <a:xfrm>
            <a:off x="3538728" y="4462272"/>
            <a:ext cx="2377440" cy="320040"/>
          </a:xfrm>
          <a:prstGeom prst="rect">
            <a:avLst/>
          </a:prstGeom>
          <a:noFill/>
          <a:ln/>
        </p:spPr>
        <p:txBody>
          <a:bodyPr wrap="square" lIns="0" tIns="0" rIns="0" bIns="0" rtlCol="0" anchor="t"/>
          <a:lstStyle/>
          <a:p>
            <a:pPr indent="0" marL="0">
              <a:buNone/>
            </a:pPr>
            <a:r>
              <a:rPr lang="en-US" sz="1300" b="1" spc="50" kern="0" dirty="0">
                <a:solidFill>
                  <a:srgbClr val="7C3AED"/>
                </a:solidFill>
                <a:latin typeface="Calibri" pitchFamily="34" charset="0"/>
                <a:ea typeface="Calibri" pitchFamily="34" charset="-122"/>
                <a:cs typeface="Calibri" pitchFamily="34" charset="-120"/>
              </a:rPr>
              <a:t>UNDERSTAND</a:t>
            </a:r>
            <a:endParaRPr lang="en-US" sz="1300" dirty="0"/>
          </a:p>
        </p:txBody>
      </p:sp>
      <p:sp>
        <p:nvSpPr>
          <p:cNvPr id="40" name="Text 38"/>
          <p:cNvSpPr/>
          <p:nvPr/>
        </p:nvSpPr>
        <p:spPr>
          <a:xfrm>
            <a:off x="3538728"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3D · B-rep · assistant</a:t>
            </a:r>
            <a:endParaRPr lang="en-US" sz="1050" dirty="0"/>
          </a:p>
        </p:txBody>
      </p:sp>
      <p:sp>
        <p:nvSpPr>
          <p:cNvPr id="41" name="Shape 39"/>
          <p:cNvSpPr/>
          <p:nvPr/>
        </p:nvSpPr>
        <p:spPr>
          <a:xfrm>
            <a:off x="6089904"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4.737266396871321e+33" dist="1.3535046848203775e+33" dir="1.5116544e+40">
              <a:srgbClr val="9DB0CC">
                <a:alpha val="2.2e+39"/>
              </a:srgbClr>
            </a:outerShdw>
          </a:effectLst>
        </p:spPr>
      </p:sp>
      <p:sp>
        <p:nvSpPr>
          <p:cNvPr id="42" name="Shape 40"/>
          <p:cNvSpPr/>
          <p:nvPr/>
        </p:nvSpPr>
        <p:spPr>
          <a:xfrm>
            <a:off x="6089904" y="4297680"/>
            <a:ext cx="82296" cy="1280160"/>
          </a:xfrm>
          <a:prstGeom prst="rect">
            <a:avLst/>
          </a:prstGeom>
          <a:solidFill>
            <a:srgbClr val="0DA5A0"/>
          </a:solidFill>
          <a:ln/>
        </p:spPr>
      </p:sp>
      <p:sp>
        <p:nvSpPr>
          <p:cNvPr id="43" name="Text 41"/>
          <p:cNvSpPr/>
          <p:nvPr/>
        </p:nvSpPr>
        <p:spPr>
          <a:xfrm>
            <a:off x="6309360" y="4462272"/>
            <a:ext cx="2377440" cy="320040"/>
          </a:xfrm>
          <a:prstGeom prst="rect">
            <a:avLst/>
          </a:prstGeom>
          <a:noFill/>
          <a:ln/>
        </p:spPr>
        <p:txBody>
          <a:bodyPr wrap="square" lIns="0" tIns="0" rIns="0" bIns="0" rtlCol="0" anchor="t"/>
          <a:lstStyle/>
          <a:p>
            <a:pPr indent="0" marL="0">
              <a:buNone/>
            </a:pPr>
            <a:r>
              <a:rPr lang="en-US" sz="1300" b="1" spc="50" kern="0" dirty="0">
                <a:solidFill>
                  <a:srgbClr val="0DA5A0"/>
                </a:solidFill>
                <a:latin typeface="Calibri" pitchFamily="34" charset="0"/>
                <a:ea typeface="Calibri" pitchFamily="34" charset="-122"/>
                <a:cs typeface="Calibri" pitchFamily="34" charset="-120"/>
              </a:rPr>
              <a:t>NEGOTIATE</a:t>
            </a:r>
            <a:endParaRPr lang="en-US" sz="1300" dirty="0"/>
          </a:p>
        </p:txBody>
      </p:sp>
      <p:sp>
        <p:nvSpPr>
          <p:cNvPr id="44" name="Text 42"/>
          <p:cNvSpPr/>
          <p:nvPr/>
        </p:nvSpPr>
        <p:spPr>
          <a:xfrm>
            <a:off x="6309360"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teardown · 20-region · what-if</a:t>
            </a:r>
            <a:endParaRPr lang="en-US" sz="1050" dirty="0"/>
          </a:p>
        </p:txBody>
      </p:sp>
      <p:sp>
        <p:nvSpPr>
          <p:cNvPr id="45" name="Shape 43"/>
          <p:cNvSpPr/>
          <p:nvPr/>
        </p:nvSpPr>
        <p:spPr>
          <a:xfrm>
            <a:off x="8860536"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6.016328324026578e+37" dist="1.7189509497218795e+37" dir="9.069926400000001e+44">
              <a:srgbClr val="9DB0CC">
                <a:alpha val="2.2e+44"/>
              </a:srgbClr>
            </a:outerShdw>
          </a:effectLst>
        </p:spPr>
      </p:sp>
      <p:sp>
        <p:nvSpPr>
          <p:cNvPr id="46" name="Shape 44"/>
          <p:cNvSpPr/>
          <p:nvPr/>
        </p:nvSpPr>
        <p:spPr>
          <a:xfrm>
            <a:off x="8860536" y="4297680"/>
            <a:ext cx="82296" cy="1280160"/>
          </a:xfrm>
          <a:prstGeom prst="rect">
            <a:avLst/>
          </a:prstGeom>
          <a:solidFill>
            <a:srgbClr val="0EA472"/>
          </a:solidFill>
          <a:ln/>
        </p:spPr>
      </p:sp>
      <p:sp>
        <p:nvSpPr>
          <p:cNvPr id="47" name="Text 45"/>
          <p:cNvSpPr/>
          <p:nvPr/>
        </p:nvSpPr>
        <p:spPr>
          <a:xfrm>
            <a:off x="9079992" y="4462272"/>
            <a:ext cx="2377440" cy="320040"/>
          </a:xfrm>
          <a:prstGeom prst="rect">
            <a:avLst/>
          </a:prstGeom>
          <a:noFill/>
          <a:ln/>
        </p:spPr>
        <p:txBody>
          <a:bodyPr wrap="square" lIns="0" tIns="0" rIns="0" bIns="0" rtlCol="0" anchor="t"/>
          <a:lstStyle/>
          <a:p>
            <a:pPr indent="0" marL="0">
              <a:buNone/>
            </a:pPr>
            <a:r>
              <a:rPr lang="en-US" sz="1300" b="1" spc="50" kern="0" dirty="0">
                <a:solidFill>
                  <a:srgbClr val="0EA472"/>
                </a:solidFill>
                <a:latin typeface="Calibri" pitchFamily="34" charset="0"/>
                <a:ea typeface="Calibri" pitchFamily="34" charset="-122"/>
                <a:cs typeface="Calibri" pitchFamily="34" charset="-120"/>
              </a:rPr>
              <a:t>LEARN &amp; GOVERN</a:t>
            </a:r>
            <a:endParaRPr lang="en-US" sz="1300" dirty="0"/>
          </a:p>
        </p:txBody>
      </p:sp>
      <p:sp>
        <p:nvSpPr>
          <p:cNvPr id="48" name="Text 46"/>
          <p:cNvSpPr/>
          <p:nvPr/>
        </p:nvSpPr>
        <p:spPr>
          <a:xfrm>
            <a:off x="9079992"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agentic · glass-box · on-prem</a:t>
            </a:r>
            <a:endParaRPr lang="en-US" sz="1050" dirty="0"/>
          </a:p>
        </p:txBody>
      </p:sp>
      <p:sp>
        <p:nvSpPr>
          <p:cNvPr id="49" name="Shape 47"/>
          <p:cNvSpPr/>
          <p:nvPr/>
        </p:nvSpPr>
        <p:spPr>
          <a:xfrm>
            <a:off x="548640" y="5715000"/>
            <a:ext cx="11091672" cy="457200"/>
          </a:xfrm>
          <a:prstGeom prst="roundRect">
            <a:avLst>
              <a:gd name="adj" fmla="val 14000"/>
            </a:avLst>
          </a:prstGeom>
          <a:solidFill>
            <a:srgbClr val="E7F7F0"/>
          </a:solidFill>
          <a:ln w="12700">
            <a:solidFill>
              <a:srgbClr val="E4EAF2"/>
            </a:solidFill>
            <a:prstDash val="solid"/>
          </a:ln>
        </p:spPr>
      </p:sp>
      <p:sp>
        <p:nvSpPr>
          <p:cNvPr id="50" name="Text 48"/>
          <p:cNvSpPr/>
          <p:nvPr/>
        </p:nvSpPr>
        <p:spPr>
          <a:xfrm>
            <a:off x="914400" y="5715000"/>
            <a:ext cx="10332720" cy="45720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Bottom line:  </a:t>
            </a:r>
            <a:pPr indent="0" marL="0">
              <a:buNone/>
            </a:pPr>
            <a:r>
              <a:rPr lang="en-US" sz="1150" dirty="0">
                <a:solidFill>
                  <a:srgbClr val="3E4C63"/>
                </a:solidFill>
                <a:latin typeface="Calibri" pitchFamily="34" charset="0"/>
                <a:ea typeface="Calibri" pitchFamily="34" charset="-122"/>
                <a:cs typeface="Calibri" pitchFamily="34" charset="-120"/>
              </a:rPr>
              <a:t>faster quotes, better margins, one consistent number — and a proprietary cost-intelligence asset that compounds, on our own infrastructure.</a:t>
            </a:r>
            <a:endParaRPr lang="en-US" sz="1150" dirty="0"/>
          </a:p>
        </p:txBody>
      </p:sp>
      <p:sp>
        <p:nvSpPr>
          <p:cNvPr id="51" name="Shape 49"/>
          <p:cNvSpPr/>
          <p:nvPr/>
        </p:nvSpPr>
        <p:spPr>
          <a:xfrm>
            <a:off x="548640" y="6400800"/>
            <a:ext cx="11094415" cy="12802"/>
          </a:xfrm>
          <a:prstGeom prst="rect">
            <a:avLst/>
          </a:prstGeom>
          <a:solidFill>
            <a:srgbClr val="E4EAF2"/>
          </a:solidFill>
          <a:ln/>
        </p:spPr>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ORIENTATION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Background &amp; agenda</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11091672" cy="1234440"/>
          </a:xfrm>
          <a:prstGeom prst="roundRect">
            <a:avLst>
              <a:gd name="adj" fmla="val 5185"/>
            </a:avLst>
          </a:prstGeom>
          <a:solidFill>
            <a:srgbClr val="EAF1FE"/>
          </a:solidFill>
          <a:ln w="12700">
            <a:solidFill>
              <a:srgbClr val="E4EAF2"/>
            </a:solidFill>
            <a:prstDash val="solid"/>
          </a:ln>
        </p:spPr>
      </p:sp>
      <p:sp>
        <p:nvSpPr>
          <p:cNvPr id="11" name="Shape 9"/>
          <p:cNvSpPr/>
          <p:nvPr/>
        </p:nvSpPr>
        <p:spPr>
          <a:xfrm>
            <a:off x="548640" y="1600200"/>
            <a:ext cx="82296" cy="1234440"/>
          </a:xfrm>
          <a:prstGeom prst="rect">
            <a:avLst/>
          </a:prstGeom>
          <a:solidFill>
            <a:srgbClr val="4F46E5"/>
          </a:solidFill>
          <a:ln/>
        </p:spPr>
      </p:sp>
      <p:sp>
        <p:nvSpPr>
          <p:cNvPr id="12" name="Text 10"/>
          <p:cNvSpPr/>
          <p:nvPr/>
        </p:nvSpPr>
        <p:spPr>
          <a:xfrm>
            <a:off x="914400" y="1755648"/>
            <a:ext cx="10378440" cy="960120"/>
          </a:xfrm>
          <a:prstGeom prst="rect">
            <a:avLst/>
          </a:prstGeom>
          <a:noFill/>
          <a:ln/>
        </p:spPr>
        <p:txBody>
          <a:bodyPr wrap="square" lIns="0" tIns="0" rIns="0" bIns="0" rtlCol="0" anchor="t"/>
          <a:lstStyle/>
          <a:p>
            <a:pPr indent="0" marL="0">
              <a:lnSpc>
                <a:spcPct val="122000"/>
              </a:lnSpc>
              <a:buNone/>
            </a:pPr>
            <a:r>
              <a:rPr lang="en-US" sz="1250" b="1" dirty="0">
                <a:solidFill>
                  <a:srgbClr val="0F1E3D"/>
                </a:solidFill>
                <a:latin typeface="Calibri" pitchFamily="34" charset="0"/>
                <a:ea typeface="Calibri" pitchFamily="34" charset="-122"/>
                <a:cs typeface="Calibri" pitchFamily="34" charset="-120"/>
              </a:rPr>
              <a:t>The picture:  </a:t>
            </a:r>
            <a:pPr indent="0" marL="0">
              <a:lnSpc>
                <a:spcPct val="122000"/>
              </a:lnSpc>
              <a:buNone/>
            </a:pPr>
            <a:r>
              <a:rPr lang="en-US" sz="1250" dirty="0">
                <a:solidFill>
                  <a:srgbClr val="3E4C63"/>
                </a:solidFill>
                <a:latin typeface="Calibri" pitchFamily="34" charset="0"/>
                <a:ea typeface="Calibri" pitchFamily="34" charset="-122"/>
                <a:cs typeface="Calibri" pitchFamily="34" charset="-120"/>
              </a:rPr>
              <a:t>cost estimating today is slow, expert-dependent and inconsistent — quotes take weeks, there is no line-of-sight into what a part should cost, and hard-won judgement leaves when people do. CostVision is our answer: one AI platform that costs any part from any input, explains every number, and turns should-cost into negotiating power — while the knowledge compounds as a company asset.</a:t>
            </a:r>
            <a:endParaRPr lang="en-US" sz="1250" dirty="0"/>
          </a:p>
        </p:txBody>
      </p:sp>
      <p:sp>
        <p:nvSpPr>
          <p:cNvPr id="13" name="Shape 11"/>
          <p:cNvSpPr/>
          <p:nvPr/>
        </p:nvSpPr>
        <p:spPr>
          <a:xfrm>
            <a:off x="548640" y="3063240"/>
            <a:ext cx="5394960" cy="566928"/>
          </a:xfrm>
          <a:prstGeom prst="roundRect">
            <a:avLst>
              <a:gd name="adj" fmla="val 9677"/>
            </a:avLst>
          </a:prstGeom>
          <a:solidFill>
            <a:srgbClr val="F4F7FB"/>
          </a:solidFill>
          <a:ln w="12700">
            <a:solidFill>
              <a:srgbClr val="E4EAF2"/>
            </a:solidFill>
            <a:prstDash val="solid"/>
          </a:ln>
        </p:spPr>
      </p:sp>
      <p:sp>
        <p:nvSpPr>
          <p:cNvPr id="14" name="Shape 12"/>
          <p:cNvSpPr/>
          <p:nvPr/>
        </p:nvSpPr>
        <p:spPr>
          <a:xfrm>
            <a:off x="713232" y="3191256"/>
            <a:ext cx="310896" cy="310896"/>
          </a:xfrm>
          <a:prstGeom prst="ellipse">
            <a:avLst/>
          </a:prstGeom>
          <a:solidFill>
            <a:srgbClr val="E5484D"/>
          </a:solidFill>
          <a:ln/>
          <a:effectLst>
            <a:outerShdw sx="100000" sy="100000" kx="0" ky="0" algn="bl" rotWithShape="0" blurRad="63500" dist="19050" dir="5400000">
              <a:srgbClr val="A7B6CE">
                <a:alpha val="18000"/>
              </a:srgbClr>
            </a:outerShdw>
          </a:effectLst>
        </p:spPr>
      </p:sp>
      <p:sp>
        <p:nvSpPr>
          <p:cNvPr id="15" name="Text 13"/>
          <p:cNvSpPr/>
          <p:nvPr/>
        </p:nvSpPr>
        <p:spPr>
          <a:xfrm>
            <a:off x="713232"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1</a:t>
            </a:r>
            <a:endParaRPr lang="en-US" sz="1156" dirty="0"/>
          </a:p>
        </p:txBody>
      </p:sp>
      <p:sp>
        <p:nvSpPr>
          <p:cNvPr id="16" name="Text 14"/>
          <p:cNvSpPr/>
          <p:nvPr/>
        </p:nvSpPr>
        <p:spPr>
          <a:xfrm>
            <a:off x="1152144"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Why CostVision — the problem today</a:t>
            </a:r>
            <a:endParaRPr lang="en-US" sz="1250" dirty="0"/>
          </a:p>
        </p:txBody>
      </p:sp>
      <p:sp>
        <p:nvSpPr>
          <p:cNvPr id="17" name="Shape 15"/>
          <p:cNvSpPr/>
          <p:nvPr/>
        </p:nvSpPr>
        <p:spPr>
          <a:xfrm>
            <a:off x="6245352" y="3063240"/>
            <a:ext cx="5394960" cy="566928"/>
          </a:xfrm>
          <a:prstGeom prst="roundRect">
            <a:avLst>
              <a:gd name="adj" fmla="val 9677"/>
            </a:avLst>
          </a:prstGeom>
          <a:solidFill>
            <a:srgbClr val="FFFFFF"/>
          </a:solidFill>
          <a:ln w="12700">
            <a:solidFill>
              <a:srgbClr val="E4EAF2"/>
            </a:solidFill>
            <a:prstDash val="solid"/>
          </a:ln>
        </p:spPr>
      </p:sp>
      <p:sp>
        <p:nvSpPr>
          <p:cNvPr id="18" name="Shape 16"/>
          <p:cNvSpPr/>
          <p:nvPr/>
        </p:nvSpPr>
        <p:spPr>
          <a:xfrm>
            <a:off x="6409944" y="3191256"/>
            <a:ext cx="310896" cy="310896"/>
          </a:xfrm>
          <a:prstGeom prst="ellipse">
            <a:avLst/>
          </a:prstGeom>
          <a:solidFill>
            <a:srgbClr val="2563EB"/>
          </a:solidFill>
          <a:ln/>
          <a:effectLst>
            <a:outerShdw sx="100000" sy="100000" kx="0" ky="0" algn="bl" rotWithShape="0" blurRad="806450000" dist="241935000" dir="324000000000">
              <a:srgbClr val="A7B6CE">
                <a:alpha val="1800000000"/>
              </a:srgbClr>
            </a:outerShdw>
          </a:effectLst>
        </p:spPr>
      </p:sp>
      <p:sp>
        <p:nvSpPr>
          <p:cNvPr id="19" name="Text 17"/>
          <p:cNvSpPr/>
          <p:nvPr/>
        </p:nvSpPr>
        <p:spPr>
          <a:xfrm>
            <a:off x="6409944"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2</a:t>
            </a:r>
            <a:endParaRPr lang="en-US" sz="1156" dirty="0"/>
          </a:p>
        </p:txBody>
      </p:sp>
      <p:sp>
        <p:nvSpPr>
          <p:cNvPr id="20" name="Text 18"/>
          <p:cNvSpPr/>
          <p:nvPr/>
        </p:nvSpPr>
        <p:spPr>
          <a:xfrm>
            <a:off x="6848856"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The platform at a glance</a:t>
            </a:r>
            <a:endParaRPr lang="en-US" sz="1250" dirty="0"/>
          </a:p>
        </p:txBody>
      </p:sp>
      <p:sp>
        <p:nvSpPr>
          <p:cNvPr id="21" name="Shape 19"/>
          <p:cNvSpPr/>
          <p:nvPr/>
        </p:nvSpPr>
        <p:spPr>
          <a:xfrm>
            <a:off x="548640" y="3666744"/>
            <a:ext cx="5394960" cy="566928"/>
          </a:xfrm>
          <a:prstGeom prst="roundRect">
            <a:avLst>
              <a:gd name="adj" fmla="val 9677"/>
            </a:avLst>
          </a:prstGeom>
          <a:solidFill>
            <a:srgbClr val="F4F7FB"/>
          </a:solidFill>
          <a:ln w="12700">
            <a:solidFill>
              <a:srgbClr val="E4EAF2"/>
            </a:solidFill>
            <a:prstDash val="solid"/>
          </a:ln>
        </p:spPr>
      </p:sp>
      <p:sp>
        <p:nvSpPr>
          <p:cNvPr id="22" name="Shape 20"/>
          <p:cNvSpPr/>
          <p:nvPr/>
        </p:nvSpPr>
        <p:spPr>
          <a:xfrm>
            <a:off x="713232" y="3794760"/>
            <a:ext cx="310896" cy="310896"/>
          </a:xfrm>
          <a:prstGeom prst="ellipse">
            <a:avLst/>
          </a:prstGeom>
          <a:solidFill>
            <a:srgbClr val="0DA5A0"/>
          </a:solidFill>
          <a:ln/>
          <a:effectLst>
            <a:outerShdw sx="100000" sy="100000" kx="0" ky="0" algn="bl" rotWithShape="0" blurRad="10241915000000" dist="3072574500000" dir="19440000000000000">
              <a:srgbClr val="A7B6CE">
                <a:alpha val="180000000000000"/>
              </a:srgbClr>
            </a:outerShdw>
          </a:effectLst>
        </p:spPr>
      </p:sp>
      <p:sp>
        <p:nvSpPr>
          <p:cNvPr id="23" name="Text 21"/>
          <p:cNvSpPr/>
          <p:nvPr/>
        </p:nvSpPr>
        <p:spPr>
          <a:xfrm>
            <a:off x="713232"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3</a:t>
            </a:r>
            <a:endParaRPr lang="en-US" sz="1156" dirty="0"/>
          </a:p>
        </p:txBody>
      </p:sp>
      <p:sp>
        <p:nvSpPr>
          <p:cNvPr id="24" name="Text 22"/>
          <p:cNvSpPr/>
          <p:nvPr/>
        </p:nvSpPr>
        <p:spPr>
          <a:xfrm>
            <a:off x="1152144"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CAD → Cost — workflow, AI &amp; accuracy</a:t>
            </a:r>
            <a:endParaRPr lang="en-US" sz="1250" dirty="0"/>
          </a:p>
        </p:txBody>
      </p:sp>
      <p:sp>
        <p:nvSpPr>
          <p:cNvPr id="25" name="Shape 23"/>
          <p:cNvSpPr/>
          <p:nvPr/>
        </p:nvSpPr>
        <p:spPr>
          <a:xfrm>
            <a:off x="6245352" y="3666744"/>
            <a:ext cx="5394960" cy="566928"/>
          </a:xfrm>
          <a:prstGeom prst="roundRect">
            <a:avLst>
              <a:gd name="adj" fmla="val 9677"/>
            </a:avLst>
          </a:prstGeom>
          <a:solidFill>
            <a:srgbClr val="FFFFFF"/>
          </a:solidFill>
          <a:ln w="12700">
            <a:solidFill>
              <a:srgbClr val="E4EAF2"/>
            </a:solidFill>
            <a:prstDash val="solid"/>
          </a:ln>
        </p:spPr>
      </p:sp>
      <p:sp>
        <p:nvSpPr>
          <p:cNvPr id="26" name="Shape 24"/>
          <p:cNvSpPr/>
          <p:nvPr/>
        </p:nvSpPr>
        <p:spPr>
          <a:xfrm>
            <a:off x="6409944" y="3794760"/>
            <a:ext cx="310896" cy="310896"/>
          </a:xfrm>
          <a:prstGeom prst="ellipse">
            <a:avLst/>
          </a:prstGeom>
          <a:solidFill>
            <a:srgbClr val="0E93B0"/>
          </a:solidFill>
          <a:ln/>
          <a:effectLst>
            <a:outerShdw sx="100000" sy="100000" kx="0" ky="0" algn="bl" rotWithShape="0" blurRad="130072320500000000" dist="39021696150000000" dir="1.1664e+21">
              <a:srgbClr val="A7B6CE">
                <a:alpha val="18000000000000000000"/>
              </a:srgbClr>
            </a:outerShdw>
          </a:effectLst>
        </p:spPr>
      </p:sp>
      <p:sp>
        <p:nvSpPr>
          <p:cNvPr id="27" name="Text 25"/>
          <p:cNvSpPr/>
          <p:nvPr/>
        </p:nvSpPr>
        <p:spPr>
          <a:xfrm>
            <a:off x="6409944"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4</a:t>
            </a:r>
            <a:endParaRPr lang="en-US" sz="1156" dirty="0"/>
          </a:p>
        </p:txBody>
      </p:sp>
      <p:sp>
        <p:nvSpPr>
          <p:cNvPr id="28" name="Text 26"/>
          <p:cNvSpPr/>
          <p:nvPr/>
        </p:nvSpPr>
        <p:spPr>
          <a:xfrm>
            <a:off x="6848856"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PCB Image → BOM → should-cost</a:t>
            </a:r>
            <a:endParaRPr lang="en-US" sz="1250" dirty="0"/>
          </a:p>
        </p:txBody>
      </p:sp>
      <p:sp>
        <p:nvSpPr>
          <p:cNvPr id="29" name="Shape 27"/>
          <p:cNvSpPr/>
          <p:nvPr/>
        </p:nvSpPr>
        <p:spPr>
          <a:xfrm>
            <a:off x="548640" y="4270248"/>
            <a:ext cx="5394960" cy="566928"/>
          </a:xfrm>
          <a:prstGeom prst="roundRect">
            <a:avLst>
              <a:gd name="adj" fmla="val 9677"/>
            </a:avLst>
          </a:prstGeom>
          <a:solidFill>
            <a:srgbClr val="F4F7FB"/>
          </a:solidFill>
          <a:ln w="12700">
            <a:solidFill>
              <a:srgbClr val="E4EAF2"/>
            </a:solidFill>
            <a:prstDash val="solid"/>
          </a:ln>
        </p:spPr>
      </p:sp>
      <p:sp>
        <p:nvSpPr>
          <p:cNvPr id="30" name="Shape 28"/>
          <p:cNvSpPr/>
          <p:nvPr/>
        </p:nvSpPr>
        <p:spPr>
          <a:xfrm>
            <a:off x="713232" y="4398264"/>
            <a:ext cx="310896" cy="310896"/>
          </a:xfrm>
          <a:prstGeom prst="ellipse">
            <a:avLst/>
          </a:prstGeom>
          <a:solidFill>
            <a:srgbClr val="E0900C"/>
          </a:solidFill>
          <a:ln/>
          <a:effectLst>
            <a:outerShdw sx="100000" sy="100000" kx="0" ky="0" algn="bl" rotWithShape="0" blurRad="1.65191847035e+21" dist="495575541105000000000" dir="6.9984e+25">
              <a:srgbClr val="A7B6CE">
                <a:alpha val="1.8e+24"/>
              </a:srgbClr>
            </a:outerShdw>
          </a:effectLst>
        </p:spPr>
      </p:sp>
      <p:sp>
        <p:nvSpPr>
          <p:cNvPr id="31" name="Text 29"/>
          <p:cNvSpPr/>
          <p:nvPr/>
        </p:nvSpPr>
        <p:spPr>
          <a:xfrm>
            <a:off x="713232"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5</a:t>
            </a:r>
            <a:endParaRPr lang="en-US" sz="1156" dirty="0"/>
          </a:p>
        </p:txBody>
      </p:sp>
      <p:sp>
        <p:nvSpPr>
          <p:cNvPr id="32" name="Text 30"/>
          <p:cNvSpPr/>
          <p:nvPr/>
        </p:nvSpPr>
        <p:spPr>
          <a:xfrm>
            <a:off x="1152144"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Global should-cost — engines, rates &amp; transparency</a:t>
            </a:r>
            <a:endParaRPr lang="en-US" sz="1250" dirty="0"/>
          </a:p>
        </p:txBody>
      </p:sp>
      <p:sp>
        <p:nvSpPr>
          <p:cNvPr id="33" name="Shape 31"/>
          <p:cNvSpPr/>
          <p:nvPr/>
        </p:nvSpPr>
        <p:spPr>
          <a:xfrm>
            <a:off x="6245352" y="4270248"/>
            <a:ext cx="5394960" cy="566928"/>
          </a:xfrm>
          <a:prstGeom prst="roundRect">
            <a:avLst>
              <a:gd name="adj" fmla="val 9677"/>
            </a:avLst>
          </a:prstGeom>
          <a:solidFill>
            <a:srgbClr val="FFFFFF"/>
          </a:solidFill>
          <a:ln w="12700">
            <a:solidFill>
              <a:srgbClr val="E4EAF2"/>
            </a:solidFill>
            <a:prstDash val="solid"/>
          </a:ln>
        </p:spPr>
      </p:sp>
      <p:sp>
        <p:nvSpPr>
          <p:cNvPr id="34" name="Shape 32"/>
          <p:cNvSpPr/>
          <p:nvPr/>
        </p:nvSpPr>
        <p:spPr>
          <a:xfrm>
            <a:off x="6409944" y="4398264"/>
            <a:ext cx="310896" cy="310896"/>
          </a:xfrm>
          <a:prstGeom prst="ellipse">
            <a:avLst/>
          </a:prstGeom>
          <a:solidFill>
            <a:srgbClr val="7C3AED"/>
          </a:solidFill>
          <a:ln/>
          <a:effectLst>
            <a:outerShdw sx="100000" sy="100000" kx="0" ky="0" algn="bl" rotWithShape="0" blurRad="2.0979364573445003e+25" dist="6.2938093720335e+24" dir="4.19904e+30">
              <a:srgbClr val="A7B6CE">
                <a:alpha val="1.8e+29"/>
              </a:srgbClr>
            </a:outerShdw>
          </a:effectLst>
        </p:spPr>
      </p:sp>
      <p:sp>
        <p:nvSpPr>
          <p:cNvPr id="35" name="Text 33"/>
          <p:cNvSpPr/>
          <p:nvPr/>
        </p:nvSpPr>
        <p:spPr>
          <a:xfrm>
            <a:off x="6409944"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6</a:t>
            </a:r>
            <a:endParaRPr lang="en-US" sz="1156" dirty="0"/>
          </a:p>
        </p:txBody>
      </p:sp>
      <p:sp>
        <p:nvSpPr>
          <p:cNvPr id="36" name="Text 34"/>
          <p:cNvSpPr/>
          <p:nvPr/>
        </p:nvSpPr>
        <p:spPr>
          <a:xfrm>
            <a:off x="6848856"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Negotiation Intelligence</a:t>
            </a:r>
            <a:endParaRPr lang="en-US" sz="1250" dirty="0"/>
          </a:p>
        </p:txBody>
      </p:sp>
      <p:sp>
        <p:nvSpPr>
          <p:cNvPr id="37" name="Shape 35"/>
          <p:cNvSpPr/>
          <p:nvPr/>
        </p:nvSpPr>
        <p:spPr>
          <a:xfrm>
            <a:off x="548640" y="4873752"/>
            <a:ext cx="5394960" cy="566928"/>
          </a:xfrm>
          <a:prstGeom prst="roundRect">
            <a:avLst>
              <a:gd name="adj" fmla="val 9677"/>
            </a:avLst>
          </a:prstGeom>
          <a:solidFill>
            <a:srgbClr val="F4F7FB"/>
          </a:solidFill>
          <a:ln w="12700">
            <a:solidFill>
              <a:srgbClr val="E4EAF2"/>
            </a:solidFill>
            <a:prstDash val="solid"/>
          </a:ln>
        </p:spPr>
      </p:sp>
      <p:sp>
        <p:nvSpPr>
          <p:cNvPr id="38" name="Shape 36"/>
          <p:cNvSpPr/>
          <p:nvPr/>
        </p:nvSpPr>
        <p:spPr>
          <a:xfrm>
            <a:off x="713232" y="5001768"/>
            <a:ext cx="310896" cy="310896"/>
          </a:xfrm>
          <a:prstGeom prst="ellipse">
            <a:avLst/>
          </a:prstGeom>
          <a:solidFill>
            <a:srgbClr val="4F46E5"/>
          </a:solidFill>
          <a:ln/>
          <a:effectLst>
            <a:outerShdw sx="100000" sy="100000" kx="0" ky="0" algn="bl" rotWithShape="0" blurRad="2.6643793008275154e+29" dist="7.993137902482545e+28" dir="2.519424e+35">
              <a:srgbClr val="A7B6CE">
                <a:alpha val="1.7999999999999998e+34"/>
              </a:srgbClr>
            </a:outerShdw>
          </a:effectLst>
        </p:spPr>
      </p:sp>
      <p:sp>
        <p:nvSpPr>
          <p:cNvPr id="39" name="Text 37"/>
          <p:cNvSpPr/>
          <p:nvPr/>
        </p:nvSpPr>
        <p:spPr>
          <a:xfrm>
            <a:off x="713232"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7</a:t>
            </a:r>
            <a:endParaRPr lang="en-US" sz="1156" dirty="0"/>
          </a:p>
        </p:txBody>
      </p:sp>
      <p:sp>
        <p:nvSpPr>
          <p:cNvPr id="40" name="Text 38"/>
          <p:cNvSpPr/>
          <p:nvPr/>
        </p:nvSpPr>
        <p:spPr>
          <a:xfrm>
            <a:off x="1152144"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Agentic &amp; advanced AI</a:t>
            </a:r>
            <a:endParaRPr lang="en-US" sz="1250" dirty="0"/>
          </a:p>
        </p:txBody>
      </p:sp>
      <p:sp>
        <p:nvSpPr>
          <p:cNvPr id="41" name="Shape 39"/>
          <p:cNvSpPr/>
          <p:nvPr/>
        </p:nvSpPr>
        <p:spPr>
          <a:xfrm>
            <a:off x="6245352" y="4873752"/>
            <a:ext cx="5394960" cy="566928"/>
          </a:xfrm>
          <a:prstGeom prst="roundRect">
            <a:avLst>
              <a:gd name="adj" fmla="val 9677"/>
            </a:avLst>
          </a:prstGeom>
          <a:solidFill>
            <a:srgbClr val="FFFFFF"/>
          </a:solidFill>
          <a:ln w="12700">
            <a:solidFill>
              <a:srgbClr val="E4EAF2"/>
            </a:solidFill>
            <a:prstDash val="solid"/>
          </a:ln>
        </p:spPr>
      </p:sp>
      <p:sp>
        <p:nvSpPr>
          <p:cNvPr id="42" name="Shape 40"/>
          <p:cNvSpPr/>
          <p:nvPr/>
        </p:nvSpPr>
        <p:spPr>
          <a:xfrm>
            <a:off x="6409944" y="5001768"/>
            <a:ext cx="310896" cy="310896"/>
          </a:xfrm>
          <a:prstGeom prst="ellipse">
            <a:avLst/>
          </a:prstGeom>
          <a:solidFill>
            <a:srgbClr val="0EA472"/>
          </a:solidFill>
          <a:ln/>
          <a:effectLst>
            <a:outerShdw sx="100000" sy="100000" kx="0" ky="0" algn="bl" rotWithShape="0" blurRad="3.3837617120509443e+33" dist="1.0151285136152831e+33" dir="1.5116544e+40">
              <a:srgbClr val="A7B6CE">
                <a:alpha val="1.8e+39"/>
              </a:srgbClr>
            </a:outerShdw>
          </a:effectLst>
        </p:spPr>
      </p:sp>
      <p:sp>
        <p:nvSpPr>
          <p:cNvPr id="43" name="Text 41"/>
          <p:cNvSpPr/>
          <p:nvPr/>
        </p:nvSpPr>
        <p:spPr>
          <a:xfrm>
            <a:off x="6409944"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8</a:t>
            </a:r>
            <a:endParaRPr lang="en-US" sz="1156" dirty="0"/>
          </a:p>
        </p:txBody>
      </p:sp>
      <p:sp>
        <p:nvSpPr>
          <p:cNvPr id="44" name="Text 42"/>
          <p:cNvSpPr/>
          <p:nvPr/>
        </p:nvSpPr>
        <p:spPr>
          <a:xfrm>
            <a:off x="6848856"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Trust, accuracy &amp; data security</a:t>
            </a:r>
            <a:endParaRPr lang="en-US" sz="1250" dirty="0"/>
          </a:p>
        </p:txBody>
      </p:sp>
      <p:sp>
        <p:nvSpPr>
          <p:cNvPr id="45" name="Shape 43"/>
          <p:cNvSpPr/>
          <p:nvPr/>
        </p:nvSpPr>
        <p:spPr>
          <a:xfrm>
            <a:off x="548640" y="5477256"/>
            <a:ext cx="5394960" cy="566928"/>
          </a:xfrm>
          <a:prstGeom prst="roundRect">
            <a:avLst>
              <a:gd name="adj" fmla="val 9677"/>
            </a:avLst>
          </a:prstGeom>
          <a:solidFill>
            <a:srgbClr val="F4F7FB"/>
          </a:solidFill>
          <a:ln w="12700">
            <a:solidFill>
              <a:srgbClr val="E4EAF2"/>
            </a:solidFill>
            <a:prstDash val="solid"/>
          </a:ln>
        </p:spPr>
      </p:sp>
      <p:sp>
        <p:nvSpPr>
          <p:cNvPr id="46" name="Shape 44"/>
          <p:cNvSpPr/>
          <p:nvPr/>
        </p:nvSpPr>
        <p:spPr>
          <a:xfrm>
            <a:off x="713232" y="5605272"/>
            <a:ext cx="310896" cy="310896"/>
          </a:xfrm>
          <a:prstGeom prst="ellipse">
            <a:avLst/>
          </a:prstGeom>
          <a:solidFill>
            <a:srgbClr val="2563EB"/>
          </a:solidFill>
          <a:ln/>
          <a:effectLst>
            <a:outerShdw sx="100000" sy="100000" kx="0" ky="0" algn="bl" rotWithShape="0" blurRad="4.297377374304699e+37" dist="1.2892132122914095e+37" dir="9.069926400000001e+44">
              <a:srgbClr val="A7B6CE">
                <a:alpha val="1.8e+44"/>
              </a:srgbClr>
            </a:outerShdw>
          </a:effectLst>
        </p:spPr>
      </p:sp>
      <p:sp>
        <p:nvSpPr>
          <p:cNvPr id="47" name="Text 45"/>
          <p:cNvSpPr/>
          <p:nvPr/>
        </p:nvSpPr>
        <p:spPr>
          <a:xfrm>
            <a:off x="713232" y="5605272"/>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9</a:t>
            </a:r>
            <a:endParaRPr lang="en-US" sz="1156" dirty="0"/>
          </a:p>
        </p:txBody>
      </p:sp>
      <p:sp>
        <p:nvSpPr>
          <p:cNvPr id="48" name="Text 46"/>
          <p:cNvSpPr/>
          <p:nvPr/>
        </p:nvSpPr>
        <p:spPr>
          <a:xfrm>
            <a:off x="1152144" y="5477256"/>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Way forward, blueprint &amp; live demo</a:t>
            </a:r>
            <a:endParaRPr lang="en-US" sz="12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5484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5484D"/>
                </a:solidFill>
                <a:latin typeface="Calibri" pitchFamily="34" charset="0"/>
                <a:ea typeface="Calibri" pitchFamily="34" charset="-122"/>
                <a:cs typeface="Calibri" pitchFamily="34" charset="-120"/>
              </a:rPr>
              <a:t>THE OPPORTUNITY</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Why CostVision — the problem today</a:t>
            </a:r>
            <a:endParaRPr lang="en-US" sz="2400" dirty="0"/>
          </a:p>
        </p:txBody>
      </p:sp>
      <p:sp>
        <p:nvSpPr>
          <p:cNvPr id="9" name="Shape 7"/>
          <p:cNvSpPr/>
          <p:nvPr/>
        </p:nvSpPr>
        <p:spPr>
          <a:xfrm>
            <a:off x="548640" y="1371600"/>
            <a:ext cx="1051560" cy="45720"/>
          </a:xfrm>
          <a:prstGeom prst="rect">
            <a:avLst/>
          </a:prstGeom>
          <a:solidFill>
            <a:srgbClr val="E5484D"/>
          </a:solidFill>
          <a:ln/>
        </p:spPr>
      </p:sp>
      <p:sp>
        <p:nvSpPr>
          <p:cNvPr id="10" name="Shape 8"/>
          <p:cNvSpPr/>
          <p:nvPr/>
        </p:nvSpPr>
        <p:spPr>
          <a:xfrm>
            <a:off x="548640" y="1600200"/>
            <a:ext cx="5349240" cy="3657600"/>
          </a:xfrm>
          <a:prstGeom prst="roundRect">
            <a:avLst>
              <a:gd name="adj" fmla="val 1750"/>
            </a:avLst>
          </a:prstGeom>
          <a:solidFill>
            <a:srgbClr val="FFFFFF"/>
          </a:solidFill>
          <a:ln w="12700">
            <a:solidFill>
              <a:srgbClr val="E4EAF2"/>
            </a:solidFill>
            <a:prstDash val="solid"/>
          </a:ln>
        </p:spPr>
      </p:sp>
      <p:sp>
        <p:nvSpPr>
          <p:cNvPr id="11" name="Shape 9"/>
          <p:cNvSpPr/>
          <p:nvPr/>
        </p:nvSpPr>
        <p:spPr>
          <a:xfrm>
            <a:off x="548640" y="1600200"/>
            <a:ext cx="5349240" cy="457200"/>
          </a:xfrm>
          <a:prstGeom prst="rect">
            <a:avLst/>
          </a:prstGeom>
          <a:solidFill>
            <a:srgbClr val="FDECEC"/>
          </a:solidFill>
          <a:ln/>
        </p:spPr>
      </p:sp>
      <p:sp>
        <p:nvSpPr>
          <p:cNvPr id="12" name="Text 10"/>
          <p:cNvSpPr/>
          <p:nvPr/>
        </p:nvSpPr>
        <p:spPr>
          <a:xfrm>
            <a:off x="822960" y="1600200"/>
            <a:ext cx="4892040" cy="457200"/>
          </a:xfrm>
          <a:prstGeom prst="rect">
            <a:avLst/>
          </a:prstGeom>
          <a:noFill/>
          <a:ln/>
        </p:spPr>
        <p:txBody>
          <a:bodyPr wrap="square" lIns="0" tIns="0" rIns="0" bIns="0" rtlCol="0" anchor="ctr"/>
          <a:lstStyle/>
          <a:p>
            <a:pPr indent="0" marL="0">
              <a:buNone/>
            </a:pPr>
            <a:r>
              <a:rPr lang="en-US" sz="1300" b="1" dirty="0">
                <a:solidFill>
                  <a:srgbClr val="E5484D"/>
                </a:solidFill>
                <a:latin typeface="Calibri" pitchFamily="34" charset="0"/>
                <a:ea typeface="Calibri" pitchFamily="34" charset="-122"/>
                <a:cs typeface="Calibri" pitchFamily="34" charset="-120"/>
              </a:rPr>
              <a:t>TODAY</a:t>
            </a:r>
            <a:endParaRPr lang="en-US" sz="1300" dirty="0"/>
          </a:p>
        </p:txBody>
      </p:sp>
      <p:sp>
        <p:nvSpPr>
          <p:cNvPr id="13" name="Shape 11"/>
          <p:cNvSpPr/>
          <p:nvPr/>
        </p:nvSpPr>
        <p:spPr>
          <a:xfrm>
            <a:off x="804672" y="2240280"/>
            <a:ext cx="329184" cy="329184"/>
          </a:xfrm>
          <a:prstGeom prst="ellipse">
            <a:avLst/>
          </a:prstGeom>
          <a:solidFill>
            <a:srgbClr val="FDECEC"/>
          </a:solidFill>
          <a:ln/>
        </p:spPr>
      </p:sp>
      <p:sp>
        <p:nvSpPr>
          <p:cNvPr id="14" name="Text 12"/>
          <p:cNvSpPr/>
          <p:nvPr/>
        </p:nvSpPr>
        <p:spPr>
          <a:xfrm>
            <a:off x="804672" y="2231136"/>
            <a:ext cx="329184" cy="329184"/>
          </a:xfrm>
          <a:prstGeom prst="rect">
            <a:avLst/>
          </a:prstGeom>
          <a:noFill/>
          <a:ln/>
        </p:spPr>
        <p:txBody>
          <a:bodyPr wrap="square" lIns="0" tIns="0" rIns="0" bIns="0" rtlCol="0" anchor="ctr"/>
          <a:lstStyle/>
          <a:p>
            <a:pPr algn="ctr" indent="0" marL="0">
              <a:buNone/>
            </a:pPr>
            <a:r>
              <a:rPr lang="en-US" sz="1300" b="1" dirty="0">
                <a:solidFill>
                  <a:srgbClr val="E5484D"/>
                </a:solidFill>
                <a:latin typeface="Calibri" pitchFamily="34" charset="0"/>
                <a:ea typeface="Calibri" pitchFamily="34" charset="-122"/>
                <a:cs typeface="Calibri" pitchFamily="34" charset="-120"/>
              </a:rPr>
              <a:t>✕</a:t>
            </a:r>
            <a:endParaRPr lang="en-US" sz="1300" dirty="0"/>
          </a:p>
        </p:txBody>
      </p:sp>
      <p:sp>
        <p:nvSpPr>
          <p:cNvPr id="15" name="Text 13"/>
          <p:cNvSpPr/>
          <p:nvPr/>
        </p:nvSpPr>
        <p:spPr>
          <a:xfrm>
            <a:off x="1243584" y="218541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Weeks to a number</a:t>
            </a:r>
            <a:endParaRPr lang="en-US" sz="1250" dirty="0"/>
          </a:p>
        </p:txBody>
      </p:sp>
      <p:sp>
        <p:nvSpPr>
          <p:cNvPr id="16" name="Text 14"/>
          <p:cNvSpPr/>
          <p:nvPr/>
        </p:nvSpPr>
        <p:spPr>
          <a:xfrm>
            <a:off x="1243584" y="249631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2–6 week RFQ cycles just to learn a price</a:t>
            </a:r>
            <a:endParaRPr lang="en-US" sz="1000" dirty="0"/>
          </a:p>
        </p:txBody>
      </p:sp>
      <p:sp>
        <p:nvSpPr>
          <p:cNvPr id="17" name="Shape 15"/>
          <p:cNvSpPr/>
          <p:nvPr/>
        </p:nvSpPr>
        <p:spPr>
          <a:xfrm>
            <a:off x="804672" y="2971800"/>
            <a:ext cx="329184" cy="329184"/>
          </a:xfrm>
          <a:prstGeom prst="ellipse">
            <a:avLst/>
          </a:prstGeom>
          <a:solidFill>
            <a:srgbClr val="FDECEC"/>
          </a:solidFill>
          <a:ln/>
        </p:spPr>
      </p:sp>
      <p:sp>
        <p:nvSpPr>
          <p:cNvPr id="18" name="Text 16"/>
          <p:cNvSpPr/>
          <p:nvPr/>
        </p:nvSpPr>
        <p:spPr>
          <a:xfrm>
            <a:off x="804672" y="2962656"/>
            <a:ext cx="329184" cy="329184"/>
          </a:xfrm>
          <a:prstGeom prst="rect">
            <a:avLst/>
          </a:prstGeom>
          <a:noFill/>
          <a:ln/>
        </p:spPr>
        <p:txBody>
          <a:bodyPr wrap="square" lIns="0" tIns="0" rIns="0" bIns="0" rtlCol="0" anchor="ctr"/>
          <a:lstStyle/>
          <a:p>
            <a:pPr algn="ctr" indent="0" marL="0">
              <a:buNone/>
            </a:pPr>
            <a:r>
              <a:rPr lang="en-US" sz="1300" b="1" dirty="0">
                <a:solidFill>
                  <a:srgbClr val="E5484D"/>
                </a:solidFill>
                <a:latin typeface="Calibri" pitchFamily="34" charset="0"/>
                <a:ea typeface="Calibri" pitchFamily="34" charset="-122"/>
                <a:cs typeface="Calibri" pitchFamily="34" charset="-120"/>
              </a:rPr>
              <a:t>✕</a:t>
            </a:r>
            <a:endParaRPr lang="en-US" sz="1300" dirty="0"/>
          </a:p>
        </p:txBody>
      </p:sp>
      <p:sp>
        <p:nvSpPr>
          <p:cNvPr id="19" name="Text 17"/>
          <p:cNvSpPr/>
          <p:nvPr/>
        </p:nvSpPr>
        <p:spPr>
          <a:xfrm>
            <a:off x="1243584" y="291693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 price, no breakdown</a:t>
            </a:r>
            <a:endParaRPr lang="en-US" sz="1250" dirty="0"/>
          </a:p>
        </p:txBody>
      </p:sp>
      <p:sp>
        <p:nvSpPr>
          <p:cNvPr id="20" name="Text 18"/>
          <p:cNvSpPr/>
          <p:nvPr/>
        </p:nvSpPr>
        <p:spPr>
          <a:xfrm>
            <a:off x="1243584" y="322783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no line-of-sight into material vs process vs margin</a:t>
            </a:r>
            <a:endParaRPr lang="en-US" sz="1000" dirty="0"/>
          </a:p>
        </p:txBody>
      </p:sp>
      <p:sp>
        <p:nvSpPr>
          <p:cNvPr id="21" name="Shape 19"/>
          <p:cNvSpPr/>
          <p:nvPr/>
        </p:nvSpPr>
        <p:spPr>
          <a:xfrm>
            <a:off x="804672" y="3703320"/>
            <a:ext cx="329184" cy="329184"/>
          </a:xfrm>
          <a:prstGeom prst="ellipse">
            <a:avLst/>
          </a:prstGeom>
          <a:solidFill>
            <a:srgbClr val="FDECEC"/>
          </a:solidFill>
          <a:ln/>
        </p:spPr>
      </p:sp>
      <p:sp>
        <p:nvSpPr>
          <p:cNvPr id="22" name="Text 20"/>
          <p:cNvSpPr/>
          <p:nvPr/>
        </p:nvSpPr>
        <p:spPr>
          <a:xfrm>
            <a:off x="804672" y="3694176"/>
            <a:ext cx="329184" cy="329184"/>
          </a:xfrm>
          <a:prstGeom prst="rect">
            <a:avLst/>
          </a:prstGeom>
          <a:noFill/>
          <a:ln/>
        </p:spPr>
        <p:txBody>
          <a:bodyPr wrap="square" lIns="0" tIns="0" rIns="0" bIns="0" rtlCol="0" anchor="ctr"/>
          <a:lstStyle/>
          <a:p>
            <a:pPr algn="ctr" indent="0" marL="0">
              <a:buNone/>
            </a:pPr>
            <a:r>
              <a:rPr lang="en-US" sz="1300" b="1" dirty="0">
                <a:solidFill>
                  <a:srgbClr val="E5484D"/>
                </a:solidFill>
                <a:latin typeface="Calibri" pitchFamily="34" charset="0"/>
                <a:ea typeface="Calibri" pitchFamily="34" charset="-122"/>
                <a:cs typeface="Calibri" pitchFamily="34" charset="-120"/>
              </a:rPr>
              <a:t>✕</a:t>
            </a:r>
            <a:endParaRPr lang="en-US" sz="1300" dirty="0"/>
          </a:p>
        </p:txBody>
      </p:sp>
      <p:sp>
        <p:nvSpPr>
          <p:cNvPr id="23" name="Text 21"/>
          <p:cNvSpPr/>
          <p:nvPr/>
        </p:nvSpPr>
        <p:spPr>
          <a:xfrm>
            <a:off x="1243584" y="364845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Depends on who did it</a:t>
            </a:r>
            <a:endParaRPr lang="en-US" sz="1250" dirty="0"/>
          </a:p>
        </p:txBody>
      </p:sp>
      <p:sp>
        <p:nvSpPr>
          <p:cNvPr id="24" name="Text 22"/>
          <p:cNvSpPr/>
          <p:nvPr/>
        </p:nvSpPr>
        <p:spPr>
          <a:xfrm>
            <a:off x="1243584" y="395935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two estimators, two answers — no single source of truth</a:t>
            </a:r>
            <a:endParaRPr lang="en-US" sz="1000" dirty="0"/>
          </a:p>
        </p:txBody>
      </p:sp>
      <p:sp>
        <p:nvSpPr>
          <p:cNvPr id="25" name="Shape 23"/>
          <p:cNvSpPr/>
          <p:nvPr/>
        </p:nvSpPr>
        <p:spPr>
          <a:xfrm>
            <a:off x="804672" y="4434840"/>
            <a:ext cx="329184" cy="329184"/>
          </a:xfrm>
          <a:prstGeom prst="ellipse">
            <a:avLst/>
          </a:prstGeom>
          <a:solidFill>
            <a:srgbClr val="FDECEC"/>
          </a:solidFill>
          <a:ln/>
        </p:spPr>
      </p:sp>
      <p:sp>
        <p:nvSpPr>
          <p:cNvPr id="26" name="Text 24"/>
          <p:cNvSpPr/>
          <p:nvPr/>
        </p:nvSpPr>
        <p:spPr>
          <a:xfrm>
            <a:off x="804672" y="4425696"/>
            <a:ext cx="329184" cy="329184"/>
          </a:xfrm>
          <a:prstGeom prst="rect">
            <a:avLst/>
          </a:prstGeom>
          <a:noFill/>
          <a:ln/>
        </p:spPr>
        <p:txBody>
          <a:bodyPr wrap="square" lIns="0" tIns="0" rIns="0" bIns="0" rtlCol="0" anchor="ctr"/>
          <a:lstStyle/>
          <a:p>
            <a:pPr algn="ctr" indent="0" marL="0">
              <a:buNone/>
            </a:pPr>
            <a:r>
              <a:rPr lang="en-US" sz="1300" b="1" dirty="0">
                <a:solidFill>
                  <a:srgbClr val="E5484D"/>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43584" y="437997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Knowledge walks out</a:t>
            </a:r>
            <a:endParaRPr lang="en-US" sz="1250" dirty="0"/>
          </a:p>
        </p:txBody>
      </p:sp>
      <p:sp>
        <p:nvSpPr>
          <p:cNvPr id="28" name="Text 26"/>
          <p:cNvSpPr/>
          <p:nvPr/>
        </p:nvSpPr>
        <p:spPr>
          <a:xfrm>
            <a:off x="1243584" y="469087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senior judgement leaves when people do</a:t>
            </a:r>
            <a:endParaRPr lang="en-US" sz="1000" dirty="0"/>
          </a:p>
        </p:txBody>
      </p:sp>
      <p:sp>
        <p:nvSpPr>
          <p:cNvPr id="29" name="Shape 27"/>
          <p:cNvSpPr/>
          <p:nvPr/>
        </p:nvSpPr>
        <p:spPr>
          <a:xfrm>
            <a:off x="6291072" y="1600200"/>
            <a:ext cx="5349240" cy="3657600"/>
          </a:xfrm>
          <a:prstGeom prst="roundRect">
            <a:avLst>
              <a:gd name="adj" fmla="val 1750"/>
            </a:avLst>
          </a:prstGeom>
          <a:solidFill>
            <a:srgbClr val="FFFFFF"/>
          </a:solidFill>
          <a:ln w="12700">
            <a:solidFill>
              <a:srgbClr val="E4EAF2"/>
            </a:solidFill>
            <a:prstDash val="solid"/>
          </a:ln>
        </p:spPr>
      </p:sp>
      <p:sp>
        <p:nvSpPr>
          <p:cNvPr id="30" name="Shape 28"/>
          <p:cNvSpPr/>
          <p:nvPr/>
        </p:nvSpPr>
        <p:spPr>
          <a:xfrm>
            <a:off x="6291072" y="1600200"/>
            <a:ext cx="5349240" cy="457200"/>
          </a:xfrm>
          <a:prstGeom prst="rect">
            <a:avLst/>
          </a:prstGeom>
          <a:solidFill>
            <a:srgbClr val="E7F7F0"/>
          </a:solidFill>
          <a:ln/>
        </p:spPr>
      </p:sp>
      <p:sp>
        <p:nvSpPr>
          <p:cNvPr id="31" name="Text 29"/>
          <p:cNvSpPr/>
          <p:nvPr/>
        </p:nvSpPr>
        <p:spPr>
          <a:xfrm>
            <a:off x="6565392" y="1600200"/>
            <a:ext cx="48920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WITH COSTVISION</a:t>
            </a:r>
            <a:endParaRPr lang="en-US" sz="1300" dirty="0"/>
          </a:p>
        </p:txBody>
      </p:sp>
      <p:sp>
        <p:nvSpPr>
          <p:cNvPr id="32" name="Shape 30"/>
          <p:cNvSpPr/>
          <p:nvPr/>
        </p:nvSpPr>
        <p:spPr>
          <a:xfrm>
            <a:off x="6547104" y="2240280"/>
            <a:ext cx="329184" cy="329184"/>
          </a:xfrm>
          <a:prstGeom prst="ellipse">
            <a:avLst/>
          </a:prstGeom>
          <a:solidFill>
            <a:srgbClr val="E7F7F0"/>
          </a:solidFill>
          <a:ln/>
        </p:spPr>
      </p:sp>
      <p:sp>
        <p:nvSpPr>
          <p:cNvPr id="33" name="Text 31"/>
          <p:cNvSpPr/>
          <p:nvPr/>
        </p:nvSpPr>
        <p:spPr>
          <a:xfrm>
            <a:off x="6547104" y="223113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4" name="Text 32"/>
          <p:cNvSpPr/>
          <p:nvPr/>
        </p:nvSpPr>
        <p:spPr>
          <a:xfrm>
            <a:off x="6986016" y="218541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Minutes to a number</a:t>
            </a:r>
            <a:endParaRPr lang="en-US" sz="1250" dirty="0"/>
          </a:p>
        </p:txBody>
      </p:sp>
      <p:sp>
        <p:nvSpPr>
          <p:cNvPr id="35" name="Text 33"/>
          <p:cNvSpPr/>
          <p:nvPr/>
        </p:nvSpPr>
        <p:spPr>
          <a:xfrm>
            <a:off x="6986016" y="249631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CAD, photo or description → costed in minutes</a:t>
            </a:r>
            <a:endParaRPr lang="en-US" sz="1000" dirty="0"/>
          </a:p>
        </p:txBody>
      </p:sp>
      <p:sp>
        <p:nvSpPr>
          <p:cNvPr id="36" name="Shape 34"/>
          <p:cNvSpPr/>
          <p:nvPr/>
        </p:nvSpPr>
        <p:spPr>
          <a:xfrm>
            <a:off x="6547104" y="2971800"/>
            <a:ext cx="329184" cy="329184"/>
          </a:xfrm>
          <a:prstGeom prst="ellipse">
            <a:avLst/>
          </a:prstGeom>
          <a:solidFill>
            <a:srgbClr val="E7F7F0"/>
          </a:solidFill>
          <a:ln/>
        </p:spPr>
      </p:sp>
      <p:sp>
        <p:nvSpPr>
          <p:cNvPr id="37" name="Text 35"/>
          <p:cNvSpPr/>
          <p:nvPr/>
        </p:nvSpPr>
        <p:spPr>
          <a:xfrm>
            <a:off x="6547104" y="296265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8" name="Text 36"/>
          <p:cNvSpPr/>
          <p:nvPr/>
        </p:nvSpPr>
        <p:spPr>
          <a:xfrm>
            <a:off x="6986016" y="291693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Full breakdown</a:t>
            </a:r>
            <a:endParaRPr lang="en-US" sz="1250" dirty="0"/>
          </a:p>
        </p:txBody>
      </p:sp>
      <p:sp>
        <p:nvSpPr>
          <p:cNvPr id="39" name="Text 37"/>
          <p:cNvSpPr/>
          <p:nvPr/>
        </p:nvSpPr>
        <p:spPr>
          <a:xfrm>
            <a:off x="6986016" y="322783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every £ traced to material, process, region, margin</a:t>
            </a:r>
            <a:endParaRPr lang="en-US" sz="1000" dirty="0"/>
          </a:p>
        </p:txBody>
      </p:sp>
      <p:sp>
        <p:nvSpPr>
          <p:cNvPr id="40" name="Shape 38"/>
          <p:cNvSpPr/>
          <p:nvPr/>
        </p:nvSpPr>
        <p:spPr>
          <a:xfrm>
            <a:off x="6547104" y="3703320"/>
            <a:ext cx="329184" cy="329184"/>
          </a:xfrm>
          <a:prstGeom prst="ellipse">
            <a:avLst/>
          </a:prstGeom>
          <a:solidFill>
            <a:srgbClr val="E7F7F0"/>
          </a:solidFill>
          <a:ln/>
        </p:spPr>
      </p:sp>
      <p:sp>
        <p:nvSpPr>
          <p:cNvPr id="41" name="Text 39"/>
          <p:cNvSpPr/>
          <p:nvPr/>
        </p:nvSpPr>
        <p:spPr>
          <a:xfrm>
            <a:off x="6547104" y="369417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2" name="Text 40"/>
          <p:cNvSpPr/>
          <p:nvPr/>
        </p:nvSpPr>
        <p:spPr>
          <a:xfrm>
            <a:off x="6986016" y="364845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One consistent answer</a:t>
            </a:r>
            <a:endParaRPr lang="en-US" sz="1250" dirty="0"/>
          </a:p>
        </p:txBody>
      </p:sp>
      <p:sp>
        <p:nvSpPr>
          <p:cNvPr id="43" name="Text 41"/>
          <p:cNvSpPr/>
          <p:nvPr/>
        </p:nvSpPr>
        <p:spPr>
          <a:xfrm>
            <a:off x="6986016" y="395935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deterministic engine — same part, same cost, every time</a:t>
            </a:r>
            <a:endParaRPr lang="en-US" sz="1000" dirty="0"/>
          </a:p>
        </p:txBody>
      </p:sp>
      <p:sp>
        <p:nvSpPr>
          <p:cNvPr id="44" name="Shape 42"/>
          <p:cNvSpPr/>
          <p:nvPr/>
        </p:nvSpPr>
        <p:spPr>
          <a:xfrm>
            <a:off x="6547104" y="4434840"/>
            <a:ext cx="329184" cy="329184"/>
          </a:xfrm>
          <a:prstGeom prst="ellipse">
            <a:avLst/>
          </a:prstGeom>
          <a:solidFill>
            <a:srgbClr val="E7F7F0"/>
          </a:solidFill>
          <a:ln/>
        </p:spPr>
      </p:sp>
      <p:sp>
        <p:nvSpPr>
          <p:cNvPr id="45" name="Text 43"/>
          <p:cNvSpPr/>
          <p:nvPr/>
        </p:nvSpPr>
        <p:spPr>
          <a:xfrm>
            <a:off x="6547104" y="442569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6" name="Text 44"/>
          <p:cNvSpPr/>
          <p:nvPr/>
        </p:nvSpPr>
        <p:spPr>
          <a:xfrm>
            <a:off x="6986016" y="437997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Knowledge compounds</a:t>
            </a:r>
            <a:endParaRPr lang="en-US" sz="1250" dirty="0"/>
          </a:p>
        </p:txBody>
      </p:sp>
      <p:sp>
        <p:nvSpPr>
          <p:cNvPr id="47" name="Text 45"/>
          <p:cNvSpPr/>
          <p:nvPr/>
        </p:nvSpPr>
        <p:spPr>
          <a:xfrm>
            <a:off x="6986016" y="469087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every analysis &amp; quote becomes a company asset</a:t>
            </a:r>
            <a:endParaRPr lang="en-US" sz="1000" dirty="0"/>
          </a:p>
        </p:txBody>
      </p:sp>
      <p:sp>
        <p:nvSpPr>
          <p:cNvPr id="48" name="Text 46"/>
          <p:cNvSpPr/>
          <p:nvPr/>
        </p:nvSpPr>
        <p:spPr>
          <a:xfrm>
            <a:off x="5952744" y="3154680"/>
            <a:ext cx="283464" cy="548640"/>
          </a:xfrm>
          <a:prstGeom prst="rect">
            <a:avLst/>
          </a:prstGeom>
          <a:noFill/>
          <a:ln/>
        </p:spPr>
        <p:txBody>
          <a:bodyPr wrap="square" lIns="0" tIns="0" rIns="0" bIns="0" rtlCol="0" anchor="ctr"/>
          <a:lstStyle/>
          <a:p>
            <a:pPr algn="ctr" indent="0" marL="0">
              <a:buNone/>
            </a:pPr>
            <a:r>
              <a:rPr lang="en-US" sz="2600" b="1" dirty="0">
                <a:solidFill>
                  <a:srgbClr val="0EA472"/>
                </a:solidFill>
                <a:latin typeface="Calibri" pitchFamily="34" charset="0"/>
                <a:ea typeface="Calibri" pitchFamily="34" charset="-122"/>
                <a:cs typeface="Calibri" pitchFamily="34" charset="-120"/>
              </a:rPr>
              <a:t>→</a:t>
            </a:r>
            <a:endParaRPr lang="en-US" sz="2600" dirty="0"/>
          </a:p>
        </p:txBody>
      </p:sp>
      <p:sp>
        <p:nvSpPr>
          <p:cNvPr id="49" name="Shape 47"/>
          <p:cNvSpPr/>
          <p:nvPr/>
        </p:nvSpPr>
        <p:spPr>
          <a:xfrm>
            <a:off x="548640" y="5486400"/>
            <a:ext cx="11091672" cy="566928"/>
          </a:xfrm>
          <a:prstGeom prst="roundRect">
            <a:avLst>
              <a:gd name="adj" fmla="val 11290"/>
            </a:avLst>
          </a:prstGeom>
          <a:solidFill>
            <a:srgbClr val="EAF1FE"/>
          </a:solidFill>
          <a:ln w="12700">
            <a:solidFill>
              <a:srgbClr val="E4EAF2"/>
            </a:solidFill>
            <a:prstDash val="solid"/>
          </a:ln>
        </p:spPr>
      </p:sp>
      <p:sp>
        <p:nvSpPr>
          <p:cNvPr id="50" name="Text 48"/>
          <p:cNvSpPr/>
          <p:nvPr/>
        </p:nvSpPr>
        <p:spPr>
          <a:xfrm>
            <a:off x="914400" y="5486400"/>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shift:  </a:t>
            </a:r>
            <a:pPr indent="0" marL="0">
              <a:buNone/>
            </a:pPr>
            <a:r>
              <a:rPr lang="en-US" sz="1200" dirty="0">
                <a:solidFill>
                  <a:srgbClr val="3E4C63"/>
                </a:solidFill>
                <a:latin typeface="Calibri" pitchFamily="34" charset="0"/>
                <a:ea typeface="Calibri" pitchFamily="34" charset="-122"/>
                <a:cs typeface="Calibri" pitchFamily="34" charset="-120"/>
              </a:rPr>
              <a:t>from a slow, opaque, person-dependent process to a fast, transparent, self-improving one — the same board or part, costed the same way, every time, by anyone on the team.</a:t>
            </a:r>
            <a:endParaRPr lang="en-US" sz="1200" dirty="0"/>
          </a:p>
        </p:txBody>
      </p:sp>
      <p:sp>
        <p:nvSpPr>
          <p:cNvPr id="51" name="Shape 49"/>
          <p:cNvSpPr/>
          <p:nvPr/>
        </p:nvSpPr>
        <p:spPr>
          <a:xfrm>
            <a:off x="548640" y="6400800"/>
            <a:ext cx="11094415" cy="12802"/>
          </a:xfrm>
          <a:prstGeom prst="rect">
            <a:avLst/>
          </a:prstGeom>
          <a:solidFill>
            <a:srgbClr val="E4EAF2"/>
          </a:solidFill>
          <a:ln/>
        </p:spPr>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THE BIG PICTURE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CostVision at a glance — the platform</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Any engineering input → AI understands it → deterministic engines price it → you get a defensible, negotiation-ready result.</a:t>
            </a:r>
            <a:endParaRPr lang="en-US" sz="1250" dirty="0"/>
          </a:p>
        </p:txBody>
      </p:sp>
      <p:sp>
        <p:nvSpPr>
          <p:cNvPr id="11" name="Shape 9"/>
          <p:cNvSpPr/>
          <p:nvPr/>
        </p:nvSpPr>
        <p:spPr>
          <a:xfrm>
            <a:off x="548640"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7.640736971513755e+41" dist="2.183067706146787e+41" dir="5.44195584e+49">
              <a:srgbClr val="9DB0CC">
                <a:alpha val="2.2e+49"/>
              </a:srgbClr>
            </a:outerShdw>
          </a:effectLst>
        </p:spPr>
      </p:sp>
      <p:sp>
        <p:nvSpPr>
          <p:cNvPr id="12" name="Shape 10"/>
          <p:cNvSpPr/>
          <p:nvPr/>
        </p:nvSpPr>
        <p:spPr>
          <a:xfrm>
            <a:off x="548640" y="2103120"/>
            <a:ext cx="82296" cy="3291840"/>
          </a:xfrm>
          <a:prstGeom prst="rect">
            <a:avLst/>
          </a:prstGeom>
          <a:solidFill>
            <a:srgbClr val="2E90FA"/>
          </a:solidFill>
          <a:ln/>
        </p:spPr>
      </p:sp>
      <p:sp>
        <p:nvSpPr>
          <p:cNvPr id="13" name="Shape 11"/>
          <p:cNvSpPr/>
          <p:nvPr/>
        </p:nvSpPr>
        <p:spPr>
          <a:xfrm>
            <a:off x="804672" y="2359152"/>
            <a:ext cx="457200" cy="457200"/>
          </a:xfrm>
          <a:prstGeom prst="ellipse">
            <a:avLst/>
          </a:prstGeom>
          <a:solidFill>
            <a:srgbClr val="F4F7FB"/>
          </a:solidFill>
          <a:ln/>
        </p:spPr>
      </p:sp>
      <p:sp>
        <p:nvSpPr>
          <p:cNvPr id="14" name="Text 12"/>
          <p:cNvSpPr/>
          <p:nvPr/>
        </p:nvSpPr>
        <p:spPr>
          <a:xfrm>
            <a:off x="804672"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15" name="Text 13"/>
          <p:cNvSpPr/>
          <p:nvPr/>
        </p:nvSpPr>
        <p:spPr>
          <a:xfrm>
            <a:off x="1371600" y="2395728"/>
            <a:ext cx="1627632" cy="411480"/>
          </a:xfrm>
          <a:prstGeom prst="rect">
            <a:avLst/>
          </a:prstGeom>
          <a:noFill/>
          <a:ln/>
        </p:spPr>
        <p:txBody>
          <a:bodyPr wrap="square" lIns="0" tIns="0" rIns="0" bIns="0" rtlCol="0" anchor="ctr"/>
          <a:lstStyle/>
          <a:p>
            <a:pPr indent="0" marL="0">
              <a:buNone/>
            </a:pPr>
            <a:r>
              <a:rPr lang="en-US" sz="1250" b="1" dirty="0">
                <a:solidFill>
                  <a:srgbClr val="2E90FA"/>
                </a:solidFill>
                <a:latin typeface="Calibri" pitchFamily="34" charset="0"/>
                <a:ea typeface="Calibri" pitchFamily="34" charset="-122"/>
                <a:cs typeface="Calibri" pitchFamily="34" charset="-120"/>
              </a:rPr>
              <a:t>INPUTS</a:t>
            </a:r>
            <a:endParaRPr lang="en-US" sz="1250" dirty="0"/>
          </a:p>
        </p:txBody>
      </p:sp>
      <p:sp>
        <p:nvSpPr>
          <p:cNvPr id="16" name="Shape 14"/>
          <p:cNvSpPr/>
          <p:nvPr/>
        </p:nvSpPr>
        <p:spPr>
          <a:xfrm>
            <a:off x="822960" y="3108960"/>
            <a:ext cx="82296" cy="82296"/>
          </a:xfrm>
          <a:prstGeom prst="ellipse">
            <a:avLst/>
          </a:prstGeom>
          <a:solidFill>
            <a:srgbClr val="2E90FA"/>
          </a:solidFill>
          <a:ln/>
        </p:spPr>
      </p:sp>
      <p:sp>
        <p:nvSpPr>
          <p:cNvPr id="17" name="Text 15"/>
          <p:cNvSpPr/>
          <p:nvPr/>
        </p:nvSpPr>
        <p:spPr>
          <a:xfrm>
            <a:off x="1005840"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3D CAD model</a:t>
            </a:r>
            <a:endParaRPr lang="en-US" sz="980" dirty="0"/>
          </a:p>
        </p:txBody>
      </p:sp>
      <p:sp>
        <p:nvSpPr>
          <p:cNvPr id="18" name="Shape 16"/>
          <p:cNvSpPr/>
          <p:nvPr/>
        </p:nvSpPr>
        <p:spPr>
          <a:xfrm>
            <a:off x="822960" y="3547872"/>
            <a:ext cx="82296" cy="82296"/>
          </a:xfrm>
          <a:prstGeom prst="ellipse">
            <a:avLst/>
          </a:prstGeom>
          <a:solidFill>
            <a:srgbClr val="2E90FA"/>
          </a:solidFill>
          <a:ln/>
        </p:spPr>
      </p:sp>
      <p:sp>
        <p:nvSpPr>
          <p:cNvPr id="19" name="Text 17"/>
          <p:cNvSpPr/>
          <p:nvPr/>
        </p:nvSpPr>
        <p:spPr>
          <a:xfrm>
            <a:off x="1005840"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PCB board photo</a:t>
            </a:r>
            <a:endParaRPr lang="en-US" sz="980" dirty="0"/>
          </a:p>
        </p:txBody>
      </p:sp>
      <p:sp>
        <p:nvSpPr>
          <p:cNvPr id="20" name="Shape 18"/>
          <p:cNvSpPr/>
          <p:nvPr/>
        </p:nvSpPr>
        <p:spPr>
          <a:xfrm>
            <a:off x="822960" y="3986784"/>
            <a:ext cx="82296" cy="82296"/>
          </a:xfrm>
          <a:prstGeom prst="ellipse">
            <a:avLst/>
          </a:prstGeom>
          <a:solidFill>
            <a:srgbClr val="2E90FA"/>
          </a:solidFill>
          <a:ln/>
        </p:spPr>
      </p:sp>
      <p:sp>
        <p:nvSpPr>
          <p:cNvPr id="21" name="Text 19"/>
          <p:cNvSpPr/>
          <p:nvPr/>
        </p:nvSpPr>
        <p:spPr>
          <a:xfrm>
            <a:off x="1005840"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Plain-text description</a:t>
            </a:r>
            <a:endParaRPr lang="en-US" sz="980" dirty="0"/>
          </a:p>
        </p:txBody>
      </p:sp>
      <p:sp>
        <p:nvSpPr>
          <p:cNvPr id="22" name="Shape 20"/>
          <p:cNvSpPr/>
          <p:nvPr/>
        </p:nvSpPr>
        <p:spPr>
          <a:xfrm>
            <a:off x="822960" y="4425696"/>
            <a:ext cx="82296" cy="82296"/>
          </a:xfrm>
          <a:prstGeom prst="ellipse">
            <a:avLst/>
          </a:prstGeom>
          <a:solidFill>
            <a:srgbClr val="2E90FA"/>
          </a:solidFill>
          <a:ln/>
        </p:spPr>
      </p:sp>
      <p:sp>
        <p:nvSpPr>
          <p:cNvPr id="23" name="Text 21"/>
          <p:cNvSpPr/>
          <p:nvPr/>
        </p:nvSpPr>
        <p:spPr>
          <a:xfrm>
            <a:off x="1005840"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RFQ package / BOM</a:t>
            </a:r>
            <a:endParaRPr lang="en-US" sz="980" dirty="0"/>
          </a:p>
        </p:txBody>
      </p:sp>
      <p:sp>
        <p:nvSpPr>
          <p:cNvPr id="24" name="Shape 22"/>
          <p:cNvSpPr/>
          <p:nvPr/>
        </p:nvSpPr>
        <p:spPr>
          <a:xfrm>
            <a:off x="822960" y="4864608"/>
            <a:ext cx="82296" cy="82296"/>
          </a:xfrm>
          <a:prstGeom prst="ellipse">
            <a:avLst/>
          </a:prstGeom>
          <a:solidFill>
            <a:srgbClr val="2E90FA"/>
          </a:solidFill>
          <a:ln/>
        </p:spPr>
      </p:sp>
      <p:sp>
        <p:nvSpPr>
          <p:cNvPr id="25" name="Text 23"/>
          <p:cNvSpPr/>
          <p:nvPr/>
        </p:nvSpPr>
        <p:spPr>
          <a:xfrm>
            <a:off x="1005840"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Manufacturing country + volume</a:t>
            </a:r>
            <a:endParaRPr lang="en-US" sz="980" dirty="0"/>
          </a:p>
        </p:txBody>
      </p:sp>
      <p:sp>
        <p:nvSpPr>
          <p:cNvPr id="26" name="Text 24"/>
          <p:cNvSpPr/>
          <p:nvPr/>
        </p:nvSpPr>
        <p:spPr>
          <a:xfrm>
            <a:off x="3108960"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7" name="Shape 25"/>
          <p:cNvSpPr/>
          <p:nvPr/>
        </p:nvSpPr>
        <p:spPr>
          <a:xfrm>
            <a:off x="3419856"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9.703735953822469e+45" dist="2.7724959868064195e+45" dir="3.2651735040000005e+54">
              <a:srgbClr val="9DB0CC">
                <a:alpha val="2.2e+54"/>
              </a:srgbClr>
            </a:outerShdw>
          </a:effectLst>
        </p:spPr>
      </p:sp>
      <p:sp>
        <p:nvSpPr>
          <p:cNvPr id="28" name="Shape 26"/>
          <p:cNvSpPr/>
          <p:nvPr/>
        </p:nvSpPr>
        <p:spPr>
          <a:xfrm>
            <a:off x="3419856" y="2103120"/>
            <a:ext cx="82296" cy="3291840"/>
          </a:xfrm>
          <a:prstGeom prst="rect">
            <a:avLst/>
          </a:prstGeom>
          <a:solidFill>
            <a:srgbClr val="7C3AED"/>
          </a:solidFill>
          <a:ln/>
        </p:spPr>
      </p:sp>
      <p:sp>
        <p:nvSpPr>
          <p:cNvPr id="29" name="Shape 27"/>
          <p:cNvSpPr/>
          <p:nvPr/>
        </p:nvSpPr>
        <p:spPr>
          <a:xfrm>
            <a:off x="3675888" y="2359152"/>
            <a:ext cx="457200" cy="457200"/>
          </a:xfrm>
          <a:prstGeom prst="ellipse">
            <a:avLst/>
          </a:prstGeom>
          <a:solidFill>
            <a:srgbClr val="F3EEFE"/>
          </a:solidFill>
          <a:ln/>
        </p:spPr>
      </p:sp>
      <p:sp>
        <p:nvSpPr>
          <p:cNvPr id="30" name="Text 28"/>
          <p:cNvSpPr/>
          <p:nvPr/>
        </p:nvSpPr>
        <p:spPr>
          <a:xfrm>
            <a:off x="3675888"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31" name="Text 29"/>
          <p:cNvSpPr/>
          <p:nvPr/>
        </p:nvSpPr>
        <p:spPr>
          <a:xfrm>
            <a:off x="4242816" y="2395728"/>
            <a:ext cx="1627632" cy="411480"/>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AI LAYER</a:t>
            </a:r>
            <a:endParaRPr lang="en-US" sz="1250" dirty="0"/>
          </a:p>
        </p:txBody>
      </p:sp>
      <p:sp>
        <p:nvSpPr>
          <p:cNvPr id="32" name="Shape 30"/>
          <p:cNvSpPr/>
          <p:nvPr/>
        </p:nvSpPr>
        <p:spPr>
          <a:xfrm>
            <a:off x="3694176" y="3108960"/>
            <a:ext cx="82296" cy="82296"/>
          </a:xfrm>
          <a:prstGeom prst="ellipse">
            <a:avLst/>
          </a:prstGeom>
          <a:solidFill>
            <a:srgbClr val="7C3AED"/>
          </a:solidFill>
          <a:ln/>
        </p:spPr>
      </p:sp>
      <p:sp>
        <p:nvSpPr>
          <p:cNvPr id="33" name="Text 31"/>
          <p:cNvSpPr/>
          <p:nvPr/>
        </p:nvSpPr>
        <p:spPr>
          <a:xfrm>
            <a:off x="3877056"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Vision extraction (board &amp; CAD)</a:t>
            </a:r>
            <a:endParaRPr lang="en-US" sz="980" dirty="0"/>
          </a:p>
        </p:txBody>
      </p:sp>
      <p:sp>
        <p:nvSpPr>
          <p:cNvPr id="34" name="Shape 32"/>
          <p:cNvSpPr/>
          <p:nvPr/>
        </p:nvSpPr>
        <p:spPr>
          <a:xfrm>
            <a:off x="3694176" y="3547872"/>
            <a:ext cx="82296" cy="82296"/>
          </a:xfrm>
          <a:prstGeom prst="ellipse">
            <a:avLst/>
          </a:prstGeom>
          <a:solidFill>
            <a:srgbClr val="7C3AED"/>
          </a:solidFill>
          <a:ln/>
        </p:spPr>
      </p:sp>
      <p:sp>
        <p:nvSpPr>
          <p:cNvPr id="35" name="Text 33"/>
          <p:cNvSpPr/>
          <p:nvPr/>
        </p:nvSpPr>
        <p:spPr>
          <a:xfrm>
            <a:off x="3877056"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Reasoning &amp; classification</a:t>
            </a:r>
            <a:endParaRPr lang="en-US" sz="980" dirty="0"/>
          </a:p>
        </p:txBody>
      </p:sp>
      <p:sp>
        <p:nvSpPr>
          <p:cNvPr id="36" name="Shape 34"/>
          <p:cNvSpPr/>
          <p:nvPr/>
        </p:nvSpPr>
        <p:spPr>
          <a:xfrm>
            <a:off x="3694176" y="3986784"/>
            <a:ext cx="82296" cy="82296"/>
          </a:xfrm>
          <a:prstGeom prst="ellipse">
            <a:avLst/>
          </a:prstGeom>
          <a:solidFill>
            <a:srgbClr val="7C3AED"/>
          </a:solidFill>
          <a:ln/>
        </p:spPr>
      </p:sp>
      <p:sp>
        <p:nvSpPr>
          <p:cNvPr id="37" name="Text 35"/>
          <p:cNvSpPr/>
          <p:nvPr/>
        </p:nvSpPr>
        <p:spPr>
          <a:xfrm>
            <a:off x="3877056"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 recognition</a:t>
            </a:r>
            <a:endParaRPr lang="en-US" sz="980" dirty="0"/>
          </a:p>
        </p:txBody>
      </p:sp>
      <p:sp>
        <p:nvSpPr>
          <p:cNvPr id="38" name="Shape 36"/>
          <p:cNvSpPr/>
          <p:nvPr/>
        </p:nvSpPr>
        <p:spPr>
          <a:xfrm>
            <a:off x="3694176" y="4425696"/>
            <a:ext cx="82296" cy="82296"/>
          </a:xfrm>
          <a:prstGeom prst="ellipse">
            <a:avLst/>
          </a:prstGeom>
          <a:solidFill>
            <a:srgbClr val="7C3AED"/>
          </a:solidFill>
          <a:ln/>
        </p:spPr>
      </p:sp>
      <p:sp>
        <p:nvSpPr>
          <p:cNvPr id="39" name="Text 37"/>
          <p:cNvSpPr/>
          <p:nvPr/>
        </p:nvSpPr>
        <p:spPr>
          <a:xfrm>
            <a:off x="3877056"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Agentic memory &amp; recall</a:t>
            </a:r>
            <a:endParaRPr lang="en-US" sz="980" dirty="0"/>
          </a:p>
        </p:txBody>
      </p:sp>
      <p:sp>
        <p:nvSpPr>
          <p:cNvPr id="40" name="Shape 38"/>
          <p:cNvSpPr/>
          <p:nvPr/>
        </p:nvSpPr>
        <p:spPr>
          <a:xfrm>
            <a:off x="3694176" y="4864608"/>
            <a:ext cx="82296" cy="82296"/>
          </a:xfrm>
          <a:prstGeom prst="ellipse">
            <a:avLst/>
          </a:prstGeom>
          <a:solidFill>
            <a:srgbClr val="7C3AED"/>
          </a:solidFill>
          <a:ln/>
        </p:spPr>
      </p:sp>
      <p:sp>
        <p:nvSpPr>
          <p:cNvPr id="41" name="Text 39"/>
          <p:cNvSpPr/>
          <p:nvPr/>
        </p:nvSpPr>
        <p:spPr>
          <a:xfrm>
            <a:off x="3877056"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Grounded assistant</a:t>
            </a:r>
            <a:endParaRPr lang="en-US" sz="980" dirty="0"/>
          </a:p>
        </p:txBody>
      </p:sp>
      <p:sp>
        <p:nvSpPr>
          <p:cNvPr id="42" name="Text 40"/>
          <p:cNvSpPr/>
          <p:nvPr/>
        </p:nvSpPr>
        <p:spPr>
          <a:xfrm>
            <a:off x="5980176"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3" name="Shape 41"/>
          <p:cNvSpPr/>
          <p:nvPr/>
        </p:nvSpPr>
        <p:spPr>
          <a:xfrm>
            <a:off x="6291072"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2323744661354536e+50" dist="3.5210699032441527e+49" dir="1.9591041024000004e+59">
              <a:srgbClr val="9DB0CC">
                <a:alpha val="2.2e+59"/>
              </a:srgbClr>
            </a:outerShdw>
          </a:effectLst>
        </p:spPr>
      </p:sp>
      <p:sp>
        <p:nvSpPr>
          <p:cNvPr id="44" name="Shape 42"/>
          <p:cNvSpPr/>
          <p:nvPr/>
        </p:nvSpPr>
        <p:spPr>
          <a:xfrm>
            <a:off x="6291072" y="2103120"/>
            <a:ext cx="82296" cy="3291840"/>
          </a:xfrm>
          <a:prstGeom prst="rect">
            <a:avLst/>
          </a:prstGeom>
          <a:solidFill>
            <a:srgbClr val="0DA5A0"/>
          </a:solidFill>
          <a:ln/>
        </p:spPr>
      </p:sp>
      <p:sp>
        <p:nvSpPr>
          <p:cNvPr id="45" name="Shape 43"/>
          <p:cNvSpPr/>
          <p:nvPr/>
        </p:nvSpPr>
        <p:spPr>
          <a:xfrm>
            <a:off x="6547104" y="2359152"/>
            <a:ext cx="457200" cy="457200"/>
          </a:xfrm>
          <a:prstGeom prst="ellipse">
            <a:avLst/>
          </a:prstGeom>
          <a:solidFill>
            <a:srgbClr val="E7F7F0"/>
          </a:solidFill>
          <a:ln/>
        </p:spPr>
      </p:sp>
      <p:sp>
        <p:nvSpPr>
          <p:cNvPr id="46" name="Text 44"/>
          <p:cNvSpPr/>
          <p:nvPr/>
        </p:nvSpPr>
        <p:spPr>
          <a:xfrm>
            <a:off x="6547104"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47" name="Text 45"/>
          <p:cNvSpPr/>
          <p:nvPr/>
        </p:nvSpPr>
        <p:spPr>
          <a:xfrm>
            <a:off x="7114032" y="2395728"/>
            <a:ext cx="1627632" cy="411480"/>
          </a:xfrm>
          <a:prstGeom prst="rect">
            <a:avLst/>
          </a:prstGeom>
          <a:noFill/>
          <a:ln/>
        </p:spPr>
        <p:txBody>
          <a:bodyPr wrap="square" lIns="0" tIns="0" rIns="0" bIns="0" rtlCol="0" anchor="ctr"/>
          <a:lstStyle/>
          <a:p>
            <a:pPr indent="0" marL="0">
              <a:buNone/>
            </a:pPr>
            <a:r>
              <a:rPr lang="en-US" sz="1250" b="1" dirty="0">
                <a:solidFill>
                  <a:srgbClr val="0DA5A0"/>
                </a:solidFill>
                <a:latin typeface="Calibri" pitchFamily="34" charset="0"/>
                <a:ea typeface="Calibri" pitchFamily="34" charset="-122"/>
                <a:cs typeface="Calibri" pitchFamily="34" charset="-120"/>
              </a:rPr>
              <a:t>DETERMINISTIC ENGINES</a:t>
            </a:r>
            <a:endParaRPr lang="en-US" sz="1250" dirty="0"/>
          </a:p>
        </p:txBody>
      </p:sp>
      <p:sp>
        <p:nvSpPr>
          <p:cNvPr id="48" name="Shape 46"/>
          <p:cNvSpPr/>
          <p:nvPr/>
        </p:nvSpPr>
        <p:spPr>
          <a:xfrm>
            <a:off x="6565392" y="3108960"/>
            <a:ext cx="82296" cy="82296"/>
          </a:xfrm>
          <a:prstGeom prst="ellipse">
            <a:avLst/>
          </a:prstGeom>
          <a:solidFill>
            <a:srgbClr val="0DA5A0"/>
          </a:solidFill>
          <a:ln/>
        </p:spPr>
      </p:sp>
      <p:sp>
        <p:nvSpPr>
          <p:cNvPr id="49" name="Text 47"/>
          <p:cNvSpPr/>
          <p:nvPr/>
        </p:nvSpPr>
        <p:spPr>
          <a:xfrm>
            <a:off x="6748272"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19 commodity cost engines</a:t>
            </a:r>
            <a:endParaRPr lang="en-US" sz="980" dirty="0"/>
          </a:p>
        </p:txBody>
      </p:sp>
      <p:sp>
        <p:nvSpPr>
          <p:cNvPr id="50" name="Shape 48"/>
          <p:cNvSpPr/>
          <p:nvPr/>
        </p:nvSpPr>
        <p:spPr>
          <a:xfrm>
            <a:off x="6565392" y="3547872"/>
            <a:ext cx="82296" cy="82296"/>
          </a:xfrm>
          <a:prstGeom prst="ellipse">
            <a:avLst/>
          </a:prstGeom>
          <a:solidFill>
            <a:srgbClr val="0DA5A0"/>
          </a:solidFill>
          <a:ln/>
        </p:spPr>
      </p:sp>
      <p:sp>
        <p:nvSpPr>
          <p:cNvPr id="51" name="Text 49"/>
          <p:cNvSpPr/>
          <p:nvPr/>
        </p:nvSpPr>
        <p:spPr>
          <a:xfrm>
            <a:off x="6748272"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Feature-based machining</a:t>
            </a:r>
            <a:endParaRPr lang="en-US" sz="980" dirty="0"/>
          </a:p>
        </p:txBody>
      </p:sp>
      <p:sp>
        <p:nvSpPr>
          <p:cNvPr id="52" name="Shape 50"/>
          <p:cNvSpPr/>
          <p:nvPr/>
        </p:nvSpPr>
        <p:spPr>
          <a:xfrm>
            <a:off x="6565392" y="3986784"/>
            <a:ext cx="82296" cy="82296"/>
          </a:xfrm>
          <a:prstGeom prst="ellipse">
            <a:avLst/>
          </a:prstGeom>
          <a:solidFill>
            <a:srgbClr val="0DA5A0"/>
          </a:solidFill>
          <a:ln/>
        </p:spPr>
      </p:sp>
      <p:sp>
        <p:nvSpPr>
          <p:cNvPr id="53" name="Text 51"/>
          <p:cNvSpPr/>
          <p:nvPr/>
        </p:nvSpPr>
        <p:spPr>
          <a:xfrm>
            <a:off x="6748272"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20-region rate tables</a:t>
            </a:r>
            <a:endParaRPr lang="en-US" sz="980" dirty="0"/>
          </a:p>
        </p:txBody>
      </p:sp>
      <p:sp>
        <p:nvSpPr>
          <p:cNvPr id="54" name="Shape 52"/>
          <p:cNvSpPr/>
          <p:nvPr/>
        </p:nvSpPr>
        <p:spPr>
          <a:xfrm>
            <a:off x="6565392" y="4425696"/>
            <a:ext cx="82296" cy="82296"/>
          </a:xfrm>
          <a:prstGeom prst="ellipse">
            <a:avLst/>
          </a:prstGeom>
          <a:solidFill>
            <a:srgbClr val="0DA5A0"/>
          </a:solidFill>
          <a:ln/>
        </p:spPr>
      </p:sp>
      <p:sp>
        <p:nvSpPr>
          <p:cNvPr id="55" name="Text 53"/>
          <p:cNvSpPr/>
          <p:nvPr/>
        </p:nvSpPr>
        <p:spPr>
          <a:xfrm>
            <a:off x="6748272"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Volume &amp; NRE models</a:t>
            </a:r>
            <a:endParaRPr lang="en-US" sz="980" dirty="0"/>
          </a:p>
        </p:txBody>
      </p:sp>
      <p:sp>
        <p:nvSpPr>
          <p:cNvPr id="56" name="Shape 54"/>
          <p:cNvSpPr/>
          <p:nvPr/>
        </p:nvSpPr>
        <p:spPr>
          <a:xfrm>
            <a:off x="6565392" y="4864608"/>
            <a:ext cx="82296" cy="82296"/>
          </a:xfrm>
          <a:prstGeom prst="ellipse">
            <a:avLst/>
          </a:prstGeom>
          <a:solidFill>
            <a:srgbClr val="0DA5A0"/>
          </a:solidFill>
          <a:ln/>
        </p:spPr>
      </p:sp>
      <p:sp>
        <p:nvSpPr>
          <p:cNvPr id="57" name="Text 55"/>
          <p:cNvSpPr/>
          <p:nvPr/>
        </p:nvSpPr>
        <p:spPr>
          <a:xfrm>
            <a:off x="6748272"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Sanity &amp; confidence</a:t>
            </a:r>
            <a:endParaRPr lang="en-US" sz="980" dirty="0"/>
          </a:p>
        </p:txBody>
      </p:sp>
      <p:sp>
        <p:nvSpPr>
          <p:cNvPr id="58" name="Text 56"/>
          <p:cNvSpPr/>
          <p:nvPr/>
        </p:nvSpPr>
        <p:spPr>
          <a:xfrm>
            <a:off x="8851392"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59" name="Shape 57"/>
          <p:cNvSpPr/>
          <p:nvPr/>
        </p:nvSpPr>
        <p:spPr>
          <a:xfrm>
            <a:off x="9162288"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5651155719920262e+54" dist="4.471758777120074e+53" dir="1.1754624614400003e+64">
              <a:srgbClr val="9DB0CC">
                <a:alpha val="2.2e+64"/>
              </a:srgbClr>
            </a:outerShdw>
          </a:effectLst>
        </p:spPr>
      </p:sp>
      <p:sp>
        <p:nvSpPr>
          <p:cNvPr id="60" name="Shape 58"/>
          <p:cNvSpPr/>
          <p:nvPr/>
        </p:nvSpPr>
        <p:spPr>
          <a:xfrm>
            <a:off x="9162288" y="2103120"/>
            <a:ext cx="82296" cy="3291840"/>
          </a:xfrm>
          <a:prstGeom prst="rect">
            <a:avLst/>
          </a:prstGeom>
          <a:solidFill>
            <a:srgbClr val="0EA472"/>
          </a:solidFill>
          <a:ln/>
        </p:spPr>
      </p:sp>
      <p:sp>
        <p:nvSpPr>
          <p:cNvPr id="61" name="Shape 59"/>
          <p:cNvSpPr/>
          <p:nvPr/>
        </p:nvSpPr>
        <p:spPr>
          <a:xfrm>
            <a:off x="9418320" y="2359152"/>
            <a:ext cx="457200" cy="457200"/>
          </a:xfrm>
          <a:prstGeom prst="ellipse">
            <a:avLst/>
          </a:prstGeom>
          <a:solidFill>
            <a:srgbClr val="E7F7F0"/>
          </a:solidFill>
          <a:ln/>
        </p:spPr>
      </p:sp>
      <p:sp>
        <p:nvSpPr>
          <p:cNvPr id="62" name="Text 60"/>
          <p:cNvSpPr/>
          <p:nvPr/>
        </p:nvSpPr>
        <p:spPr>
          <a:xfrm>
            <a:off x="9418320"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63" name="Text 61"/>
          <p:cNvSpPr/>
          <p:nvPr/>
        </p:nvSpPr>
        <p:spPr>
          <a:xfrm>
            <a:off x="9985248" y="2395728"/>
            <a:ext cx="1627632" cy="411480"/>
          </a:xfrm>
          <a:prstGeom prst="rect">
            <a:avLst/>
          </a:prstGeom>
          <a:noFill/>
          <a:ln/>
        </p:spPr>
        <p:txBody>
          <a:bodyPr wrap="square" lIns="0" tIns="0" rIns="0" bIns="0" rtlCol="0" anchor="ctr"/>
          <a:lstStyle/>
          <a:p>
            <a:pPr indent="0" marL="0">
              <a:buNone/>
            </a:pPr>
            <a:r>
              <a:rPr lang="en-US" sz="1250" b="1" dirty="0">
                <a:solidFill>
                  <a:srgbClr val="0EA472"/>
                </a:solidFill>
                <a:latin typeface="Calibri" pitchFamily="34" charset="0"/>
                <a:ea typeface="Calibri" pitchFamily="34" charset="-122"/>
                <a:cs typeface="Calibri" pitchFamily="34" charset="-120"/>
              </a:rPr>
              <a:t>OUTPUTS</a:t>
            </a:r>
            <a:endParaRPr lang="en-US" sz="1250" dirty="0"/>
          </a:p>
        </p:txBody>
      </p:sp>
      <p:sp>
        <p:nvSpPr>
          <p:cNvPr id="64" name="Shape 62"/>
          <p:cNvSpPr/>
          <p:nvPr/>
        </p:nvSpPr>
        <p:spPr>
          <a:xfrm>
            <a:off x="9436608" y="3108960"/>
            <a:ext cx="82296" cy="82296"/>
          </a:xfrm>
          <a:prstGeom prst="ellipse">
            <a:avLst/>
          </a:prstGeom>
          <a:solidFill>
            <a:srgbClr val="0EA472"/>
          </a:solidFill>
          <a:ln/>
        </p:spPr>
      </p:sp>
      <p:sp>
        <p:nvSpPr>
          <p:cNvPr id="65" name="Text 63"/>
          <p:cNvSpPr/>
          <p:nvPr/>
        </p:nvSpPr>
        <p:spPr>
          <a:xfrm>
            <a:off x="9619488"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Costed breakdown + should-cost</a:t>
            </a:r>
            <a:endParaRPr lang="en-US" sz="980" dirty="0"/>
          </a:p>
        </p:txBody>
      </p:sp>
      <p:sp>
        <p:nvSpPr>
          <p:cNvPr id="66" name="Shape 64"/>
          <p:cNvSpPr/>
          <p:nvPr/>
        </p:nvSpPr>
        <p:spPr>
          <a:xfrm>
            <a:off x="9436608" y="3547872"/>
            <a:ext cx="82296" cy="82296"/>
          </a:xfrm>
          <a:prstGeom prst="ellipse">
            <a:avLst/>
          </a:prstGeom>
          <a:solidFill>
            <a:srgbClr val="0EA472"/>
          </a:solidFill>
          <a:ln/>
        </p:spPr>
      </p:sp>
      <p:sp>
        <p:nvSpPr>
          <p:cNvPr id="67" name="Text 65"/>
          <p:cNvSpPr/>
          <p:nvPr/>
        </p:nvSpPr>
        <p:spPr>
          <a:xfrm>
            <a:off x="9619488"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Confidence band (P10–P90)</a:t>
            </a:r>
            <a:endParaRPr lang="en-US" sz="980" dirty="0"/>
          </a:p>
        </p:txBody>
      </p:sp>
      <p:sp>
        <p:nvSpPr>
          <p:cNvPr id="68" name="Shape 66"/>
          <p:cNvSpPr/>
          <p:nvPr/>
        </p:nvSpPr>
        <p:spPr>
          <a:xfrm>
            <a:off x="9436608" y="3986784"/>
            <a:ext cx="82296" cy="82296"/>
          </a:xfrm>
          <a:prstGeom prst="ellipse">
            <a:avLst/>
          </a:prstGeom>
          <a:solidFill>
            <a:srgbClr val="0EA472"/>
          </a:solidFill>
          <a:ln/>
        </p:spPr>
      </p:sp>
      <p:sp>
        <p:nvSpPr>
          <p:cNvPr id="69" name="Text 67"/>
          <p:cNvSpPr/>
          <p:nvPr/>
        </p:nvSpPr>
        <p:spPr>
          <a:xfrm>
            <a:off x="9619488"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Negotiation pack</a:t>
            </a:r>
            <a:endParaRPr lang="en-US" sz="980" dirty="0"/>
          </a:p>
        </p:txBody>
      </p:sp>
      <p:sp>
        <p:nvSpPr>
          <p:cNvPr id="70" name="Shape 68"/>
          <p:cNvSpPr/>
          <p:nvPr/>
        </p:nvSpPr>
        <p:spPr>
          <a:xfrm>
            <a:off x="9436608" y="4425696"/>
            <a:ext cx="82296" cy="82296"/>
          </a:xfrm>
          <a:prstGeom prst="ellipse">
            <a:avLst/>
          </a:prstGeom>
          <a:solidFill>
            <a:srgbClr val="0EA472"/>
          </a:solidFill>
          <a:ln/>
        </p:spPr>
      </p:sp>
      <p:sp>
        <p:nvSpPr>
          <p:cNvPr id="71" name="Text 69"/>
          <p:cNvSpPr/>
          <p:nvPr/>
        </p:nvSpPr>
        <p:spPr>
          <a:xfrm>
            <a:off x="9619488"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Excel · PDF · PowerPoint</a:t>
            </a:r>
            <a:endParaRPr lang="en-US" sz="980" dirty="0"/>
          </a:p>
        </p:txBody>
      </p:sp>
      <p:sp>
        <p:nvSpPr>
          <p:cNvPr id="72" name="Shape 70"/>
          <p:cNvSpPr/>
          <p:nvPr/>
        </p:nvSpPr>
        <p:spPr>
          <a:xfrm>
            <a:off x="9436608" y="4864608"/>
            <a:ext cx="82296" cy="82296"/>
          </a:xfrm>
          <a:prstGeom prst="ellipse">
            <a:avLst/>
          </a:prstGeom>
          <a:solidFill>
            <a:srgbClr val="0EA472"/>
          </a:solidFill>
          <a:ln/>
        </p:spPr>
      </p:sp>
      <p:sp>
        <p:nvSpPr>
          <p:cNvPr id="73" name="Text 71"/>
          <p:cNvSpPr/>
          <p:nvPr/>
        </p:nvSpPr>
        <p:spPr>
          <a:xfrm>
            <a:off x="9619488"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Carbon (CO₂e) alongside £</a:t>
            </a:r>
            <a:endParaRPr lang="en-US" sz="980" dirty="0"/>
          </a:p>
        </p:txBody>
      </p:sp>
      <p:sp>
        <p:nvSpPr>
          <p:cNvPr id="74" name="Shape 72"/>
          <p:cNvSpPr/>
          <p:nvPr/>
        </p:nvSpPr>
        <p:spPr>
          <a:xfrm>
            <a:off x="548640" y="5623560"/>
            <a:ext cx="11091672" cy="566928"/>
          </a:xfrm>
          <a:prstGeom prst="roundRect">
            <a:avLst>
              <a:gd name="adj" fmla="val 11290"/>
            </a:avLst>
          </a:prstGeom>
          <a:solidFill>
            <a:srgbClr val="F4F7FB"/>
          </a:solidFill>
          <a:ln w="12700">
            <a:solidFill>
              <a:srgbClr val="E4EAF2"/>
            </a:solidFill>
            <a:prstDash val="solid"/>
          </a:ln>
        </p:spPr>
      </p:sp>
      <p:sp>
        <p:nvSpPr>
          <p:cNvPr id="75" name="Text 73"/>
          <p:cNvSpPr/>
          <p:nvPr/>
        </p:nvSpPr>
        <p:spPr>
          <a:xfrm>
            <a:off x="914400" y="5623560"/>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golden rule:  </a:t>
            </a:r>
            <a:pPr indent="0" marL="0">
              <a:buNone/>
            </a:pPr>
            <a:r>
              <a:rPr lang="en-US" sz="1200" dirty="0">
                <a:solidFill>
                  <a:srgbClr val="3E4C63"/>
                </a:solidFill>
                <a:latin typeface="Calibri" pitchFamily="34" charset="0"/>
                <a:ea typeface="Calibri" pitchFamily="34" charset="-122"/>
                <a:cs typeface="Calibri" pitchFamily="34" charset="-120"/>
              </a:rPr>
              <a:t>AI only ever understands the input. It never sets the price — every pound is deterministic, auditable arithmetic you can trace and defend.</a:t>
            </a:r>
            <a:endParaRPr lang="en-US" sz="1200" dirty="0"/>
          </a:p>
        </p:txBody>
      </p:sp>
      <p:sp>
        <p:nvSpPr>
          <p:cNvPr id="76" name="Shape 74"/>
          <p:cNvSpPr/>
          <p:nvPr/>
        </p:nvSpPr>
        <p:spPr>
          <a:xfrm>
            <a:off x="548640" y="6400800"/>
            <a:ext cx="11094415" cy="12802"/>
          </a:xfrm>
          <a:prstGeom prst="rect">
            <a:avLst/>
          </a:prstGeom>
          <a:solidFill>
            <a:srgbClr val="E4EAF2"/>
          </a:solidFill>
          <a:ln/>
        </p:spPr>
      </p:sp>
      <p:sp>
        <p:nvSpPr>
          <p:cNvPr id="77" name="Text 7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8" name="Text 7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WHAT IT DOES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One platform, four jobs — the capability map</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1.9876967764298733e+58" dist="5.679133646942494e+57" dir="7.052774768640002e+68">
              <a:srgbClr val="9DB0CC">
                <a:alpha val="2.2e+69"/>
              </a:srgbClr>
            </a:outerShdw>
          </a:effectLst>
        </p:spPr>
      </p:sp>
      <p:sp>
        <p:nvSpPr>
          <p:cNvPr id="11" name="Shape 9"/>
          <p:cNvSpPr/>
          <p:nvPr/>
        </p:nvSpPr>
        <p:spPr>
          <a:xfrm>
            <a:off x="548640" y="1691640"/>
            <a:ext cx="82296" cy="2148840"/>
          </a:xfrm>
          <a:prstGeom prst="rect">
            <a:avLst/>
          </a:prstGeom>
          <a:solidFill>
            <a:srgbClr val="2563EB"/>
          </a:solidFill>
          <a:ln/>
        </p:spPr>
      </p:sp>
      <p:sp>
        <p:nvSpPr>
          <p:cNvPr id="12" name="Text 10"/>
          <p:cNvSpPr/>
          <p:nvPr/>
        </p:nvSpPr>
        <p:spPr>
          <a:xfrm>
            <a:off x="822960" y="1856232"/>
            <a:ext cx="4937760" cy="320040"/>
          </a:xfrm>
          <a:prstGeom prst="rect">
            <a:avLst/>
          </a:prstGeom>
          <a:noFill/>
          <a:ln/>
        </p:spPr>
        <p:txBody>
          <a:bodyPr wrap="square" lIns="0" tIns="0" rIns="0" bIns="0" rtlCol="0" anchor="t"/>
          <a:lstStyle/>
          <a:p>
            <a:pPr indent="0" marL="0">
              <a:buNone/>
            </a:pPr>
            <a:r>
              <a:rPr lang="en-US" sz="1350" b="1" spc="50" kern="0" dirty="0">
                <a:solidFill>
                  <a:srgbClr val="2563EB"/>
                </a:solidFill>
                <a:latin typeface="Calibri" pitchFamily="34" charset="0"/>
                <a:ea typeface="Calibri" pitchFamily="34" charset="-122"/>
                <a:cs typeface="Calibri" pitchFamily="34" charset="-120"/>
              </a:rPr>
              <a:t>ESTIMATE</a:t>
            </a:r>
            <a:endParaRPr lang="en-US" sz="1350" dirty="0"/>
          </a:p>
        </p:txBody>
      </p:sp>
      <p:sp>
        <p:nvSpPr>
          <p:cNvPr id="13" name="Shape 11"/>
          <p:cNvSpPr/>
          <p:nvPr/>
        </p:nvSpPr>
        <p:spPr>
          <a:xfrm>
            <a:off x="841248" y="2368296"/>
            <a:ext cx="91440" cy="91440"/>
          </a:xfrm>
          <a:prstGeom prst="ellipse">
            <a:avLst/>
          </a:prstGeom>
          <a:solidFill>
            <a:srgbClr val="2563EB"/>
          </a:solidFill>
          <a:ln/>
        </p:spPr>
      </p:sp>
      <p:sp>
        <p:nvSpPr>
          <p:cNvPr id="14" name="Text 12"/>
          <p:cNvSpPr/>
          <p:nvPr/>
        </p:nvSpPr>
        <p:spPr>
          <a:xfrm>
            <a:off x="102412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CAD → Cost (3D model)</a:t>
            </a:r>
            <a:endParaRPr lang="en-US" sz="1000" dirty="0"/>
          </a:p>
        </p:txBody>
      </p:sp>
      <p:sp>
        <p:nvSpPr>
          <p:cNvPr id="15" name="Shape 13"/>
          <p:cNvSpPr/>
          <p:nvPr/>
        </p:nvSpPr>
        <p:spPr>
          <a:xfrm>
            <a:off x="3447288" y="2368296"/>
            <a:ext cx="91440" cy="91440"/>
          </a:xfrm>
          <a:prstGeom prst="ellipse">
            <a:avLst/>
          </a:prstGeom>
          <a:solidFill>
            <a:srgbClr val="2563EB"/>
          </a:solidFill>
          <a:ln/>
        </p:spPr>
      </p:sp>
      <p:sp>
        <p:nvSpPr>
          <p:cNvPr id="16" name="Text 14"/>
          <p:cNvSpPr/>
          <p:nvPr/>
        </p:nvSpPr>
        <p:spPr>
          <a:xfrm>
            <a:off x="363016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PCB Image → BOM</a:t>
            </a:r>
            <a:endParaRPr lang="en-US" sz="1000" dirty="0"/>
          </a:p>
        </p:txBody>
      </p:sp>
      <p:sp>
        <p:nvSpPr>
          <p:cNvPr id="17" name="Shape 15"/>
          <p:cNvSpPr/>
          <p:nvPr/>
        </p:nvSpPr>
        <p:spPr>
          <a:xfrm>
            <a:off x="841248" y="2825496"/>
            <a:ext cx="91440" cy="91440"/>
          </a:xfrm>
          <a:prstGeom prst="ellipse">
            <a:avLst/>
          </a:prstGeom>
          <a:solidFill>
            <a:srgbClr val="2563EB"/>
          </a:solidFill>
          <a:ln/>
        </p:spPr>
      </p:sp>
      <p:sp>
        <p:nvSpPr>
          <p:cNvPr id="18" name="Text 16"/>
          <p:cNvSpPr/>
          <p:nvPr/>
        </p:nvSpPr>
        <p:spPr>
          <a:xfrm>
            <a:off x="102412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19 commodity cost engines</a:t>
            </a:r>
            <a:endParaRPr lang="en-US" sz="1000" dirty="0"/>
          </a:p>
        </p:txBody>
      </p:sp>
      <p:sp>
        <p:nvSpPr>
          <p:cNvPr id="19" name="Shape 17"/>
          <p:cNvSpPr/>
          <p:nvPr/>
        </p:nvSpPr>
        <p:spPr>
          <a:xfrm>
            <a:off x="3447288" y="2825496"/>
            <a:ext cx="91440" cy="91440"/>
          </a:xfrm>
          <a:prstGeom prst="ellipse">
            <a:avLst/>
          </a:prstGeom>
          <a:solidFill>
            <a:srgbClr val="2563EB"/>
          </a:solidFill>
          <a:ln/>
        </p:spPr>
      </p:sp>
      <p:sp>
        <p:nvSpPr>
          <p:cNvPr id="20" name="Text 18"/>
          <p:cNvSpPr/>
          <p:nvPr/>
        </p:nvSpPr>
        <p:spPr>
          <a:xfrm>
            <a:off x="363016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Feature-based machining</a:t>
            </a:r>
            <a:endParaRPr lang="en-US" sz="1000" dirty="0"/>
          </a:p>
        </p:txBody>
      </p:sp>
      <p:sp>
        <p:nvSpPr>
          <p:cNvPr id="21" name="Shape 19"/>
          <p:cNvSpPr/>
          <p:nvPr/>
        </p:nvSpPr>
        <p:spPr>
          <a:xfrm>
            <a:off x="841248" y="3227832"/>
            <a:ext cx="91440" cy="91440"/>
          </a:xfrm>
          <a:prstGeom prst="ellipse">
            <a:avLst/>
          </a:prstGeom>
          <a:solidFill>
            <a:srgbClr val="2563EB"/>
          </a:solidFill>
          <a:ln/>
        </p:spPr>
      </p:sp>
      <p:sp>
        <p:nvSpPr>
          <p:cNvPr id="22" name="Text 20"/>
          <p:cNvSpPr/>
          <p:nvPr/>
        </p:nvSpPr>
        <p:spPr>
          <a:xfrm>
            <a:off x="1024128"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Detailed teardown</a:t>
            </a:r>
            <a:endParaRPr lang="en-US" sz="1000" dirty="0"/>
          </a:p>
        </p:txBody>
      </p:sp>
      <p:sp>
        <p:nvSpPr>
          <p:cNvPr id="23" name="Shape 21"/>
          <p:cNvSpPr/>
          <p:nvPr/>
        </p:nvSpPr>
        <p:spPr>
          <a:xfrm>
            <a:off x="6245352"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2.524374906065939e+62" dist="7.212499731616968e+61" dir="4.2316648611840007e+73">
              <a:srgbClr val="9DB0CC">
                <a:alpha val="2.2e+74"/>
              </a:srgbClr>
            </a:outerShdw>
          </a:effectLst>
        </p:spPr>
      </p:sp>
      <p:sp>
        <p:nvSpPr>
          <p:cNvPr id="24" name="Shape 22"/>
          <p:cNvSpPr/>
          <p:nvPr/>
        </p:nvSpPr>
        <p:spPr>
          <a:xfrm>
            <a:off x="6245352" y="1691640"/>
            <a:ext cx="82296" cy="2148840"/>
          </a:xfrm>
          <a:prstGeom prst="rect">
            <a:avLst/>
          </a:prstGeom>
          <a:solidFill>
            <a:srgbClr val="7C3AED"/>
          </a:solidFill>
          <a:ln/>
        </p:spPr>
      </p:sp>
      <p:sp>
        <p:nvSpPr>
          <p:cNvPr id="25" name="Text 23"/>
          <p:cNvSpPr/>
          <p:nvPr/>
        </p:nvSpPr>
        <p:spPr>
          <a:xfrm>
            <a:off x="6519672" y="1856232"/>
            <a:ext cx="4937760" cy="320040"/>
          </a:xfrm>
          <a:prstGeom prst="rect">
            <a:avLst/>
          </a:prstGeom>
          <a:noFill/>
          <a:ln/>
        </p:spPr>
        <p:txBody>
          <a:bodyPr wrap="square" lIns="0" tIns="0" rIns="0" bIns="0" rtlCol="0" anchor="t"/>
          <a:lstStyle/>
          <a:p>
            <a:pPr indent="0" marL="0">
              <a:buNone/>
            </a:pPr>
            <a:r>
              <a:rPr lang="en-US" sz="1350" b="1" spc="50" kern="0" dirty="0">
                <a:solidFill>
                  <a:srgbClr val="7C3AED"/>
                </a:solidFill>
                <a:latin typeface="Calibri" pitchFamily="34" charset="0"/>
                <a:ea typeface="Calibri" pitchFamily="34" charset="-122"/>
                <a:cs typeface="Calibri" pitchFamily="34" charset="-120"/>
              </a:rPr>
              <a:t>UNDERSTAND</a:t>
            </a:r>
            <a:endParaRPr lang="en-US" sz="1350" dirty="0"/>
          </a:p>
        </p:txBody>
      </p:sp>
      <p:sp>
        <p:nvSpPr>
          <p:cNvPr id="26" name="Shape 24"/>
          <p:cNvSpPr/>
          <p:nvPr/>
        </p:nvSpPr>
        <p:spPr>
          <a:xfrm>
            <a:off x="6537960" y="2368296"/>
            <a:ext cx="91440" cy="91440"/>
          </a:xfrm>
          <a:prstGeom prst="ellipse">
            <a:avLst/>
          </a:prstGeom>
          <a:solidFill>
            <a:srgbClr val="7C3AED"/>
          </a:solidFill>
          <a:ln/>
        </p:spPr>
      </p:sp>
      <p:sp>
        <p:nvSpPr>
          <p:cNvPr id="27" name="Text 25"/>
          <p:cNvSpPr/>
          <p:nvPr/>
        </p:nvSpPr>
        <p:spPr>
          <a:xfrm>
            <a:off x="672084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3D CAD viewer + B-rep AI</a:t>
            </a:r>
            <a:endParaRPr lang="en-US" sz="1000" dirty="0"/>
          </a:p>
        </p:txBody>
      </p:sp>
      <p:sp>
        <p:nvSpPr>
          <p:cNvPr id="28" name="Shape 26"/>
          <p:cNvSpPr/>
          <p:nvPr/>
        </p:nvSpPr>
        <p:spPr>
          <a:xfrm>
            <a:off x="9144000" y="2368296"/>
            <a:ext cx="91440" cy="91440"/>
          </a:xfrm>
          <a:prstGeom prst="ellipse">
            <a:avLst/>
          </a:prstGeom>
          <a:solidFill>
            <a:srgbClr val="7C3AED"/>
          </a:solidFill>
          <a:ln/>
        </p:spPr>
      </p:sp>
      <p:sp>
        <p:nvSpPr>
          <p:cNvPr id="29" name="Text 27"/>
          <p:cNvSpPr/>
          <p:nvPr/>
        </p:nvSpPr>
        <p:spPr>
          <a:xfrm>
            <a:off x="932688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Geometry feature table</a:t>
            </a:r>
            <a:endParaRPr lang="en-US" sz="1000" dirty="0"/>
          </a:p>
        </p:txBody>
      </p:sp>
      <p:sp>
        <p:nvSpPr>
          <p:cNvPr id="30" name="Shape 28"/>
          <p:cNvSpPr/>
          <p:nvPr/>
        </p:nvSpPr>
        <p:spPr>
          <a:xfrm>
            <a:off x="6537960" y="2825496"/>
            <a:ext cx="91440" cy="91440"/>
          </a:xfrm>
          <a:prstGeom prst="ellipse">
            <a:avLst/>
          </a:prstGeom>
          <a:solidFill>
            <a:srgbClr val="7C3AED"/>
          </a:solidFill>
          <a:ln/>
        </p:spPr>
      </p:sp>
      <p:sp>
        <p:nvSpPr>
          <p:cNvPr id="31" name="Text 29"/>
          <p:cNvSpPr/>
          <p:nvPr/>
        </p:nvSpPr>
        <p:spPr>
          <a:xfrm>
            <a:off x="672084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Grounded AI assistant</a:t>
            </a:r>
            <a:endParaRPr lang="en-US" sz="1000" dirty="0"/>
          </a:p>
        </p:txBody>
      </p:sp>
      <p:sp>
        <p:nvSpPr>
          <p:cNvPr id="32" name="Shape 30"/>
          <p:cNvSpPr/>
          <p:nvPr/>
        </p:nvSpPr>
        <p:spPr>
          <a:xfrm>
            <a:off x="9144000" y="2825496"/>
            <a:ext cx="91440" cy="91440"/>
          </a:xfrm>
          <a:prstGeom prst="ellipse">
            <a:avLst/>
          </a:prstGeom>
          <a:solidFill>
            <a:srgbClr val="7C3AED"/>
          </a:solidFill>
          <a:ln/>
        </p:spPr>
      </p:sp>
      <p:sp>
        <p:nvSpPr>
          <p:cNvPr id="33" name="Text 31"/>
          <p:cNvSpPr/>
          <p:nvPr/>
        </p:nvSpPr>
        <p:spPr>
          <a:xfrm>
            <a:off x="932688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RFQ analyst</a:t>
            </a:r>
            <a:endParaRPr lang="en-US" sz="1000" dirty="0"/>
          </a:p>
        </p:txBody>
      </p:sp>
      <p:sp>
        <p:nvSpPr>
          <p:cNvPr id="34" name="Shape 32"/>
          <p:cNvSpPr/>
          <p:nvPr/>
        </p:nvSpPr>
        <p:spPr>
          <a:xfrm>
            <a:off x="6537960" y="3227832"/>
            <a:ext cx="91440" cy="91440"/>
          </a:xfrm>
          <a:prstGeom prst="ellipse">
            <a:avLst/>
          </a:prstGeom>
          <a:solidFill>
            <a:srgbClr val="7C3AED"/>
          </a:solidFill>
          <a:ln/>
        </p:spPr>
      </p:sp>
      <p:sp>
        <p:nvSpPr>
          <p:cNvPr id="35" name="Text 33"/>
          <p:cNvSpPr/>
          <p:nvPr/>
        </p:nvSpPr>
        <p:spPr>
          <a:xfrm>
            <a:off x="6720840"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Carbon co-costing</a:t>
            </a:r>
            <a:endParaRPr lang="en-US" sz="1000" dirty="0"/>
          </a:p>
        </p:txBody>
      </p:sp>
      <p:sp>
        <p:nvSpPr>
          <p:cNvPr id="36" name="Shape 34"/>
          <p:cNvSpPr/>
          <p:nvPr/>
        </p:nvSpPr>
        <p:spPr>
          <a:xfrm>
            <a:off x="548640"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3.2059561307037426e+66" dist="9.15987465915355e+65" dir="2.5389989167104004e+78">
              <a:srgbClr val="9DB0CC">
                <a:alpha val="2.2000000000000002e+79"/>
              </a:srgbClr>
            </a:outerShdw>
          </a:effectLst>
        </p:spPr>
      </p:sp>
      <p:sp>
        <p:nvSpPr>
          <p:cNvPr id="37" name="Shape 35"/>
          <p:cNvSpPr/>
          <p:nvPr/>
        </p:nvSpPr>
        <p:spPr>
          <a:xfrm>
            <a:off x="548640" y="4096512"/>
            <a:ext cx="82296" cy="2148840"/>
          </a:xfrm>
          <a:prstGeom prst="rect">
            <a:avLst/>
          </a:prstGeom>
          <a:solidFill>
            <a:srgbClr val="0DA5A0"/>
          </a:solidFill>
          <a:ln/>
        </p:spPr>
      </p:sp>
      <p:sp>
        <p:nvSpPr>
          <p:cNvPr id="38" name="Text 36"/>
          <p:cNvSpPr/>
          <p:nvPr/>
        </p:nvSpPr>
        <p:spPr>
          <a:xfrm>
            <a:off x="822960" y="4261104"/>
            <a:ext cx="4937760" cy="320040"/>
          </a:xfrm>
          <a:prstGeom prst="rect">
            <a:avLst/>
          </a:prstGeom>
          <a:noFill/>
          <a:ln/>
        </p:spPr>
        <p:txBody>
          <a:bodyPr wrap="square" lIns="0" tIns="0" rIns="0" bIns="0" rtlCol="0" anchor="t"/>
          <a:lstStyle/>
          <a:p>
            <a:pPr indent="0" marL="0">
              <a:buNone/>
            </a:pPr>
            <a:r>
              <a:rPr lang="en-US" sz="1350" b="1" spc="50" kern="0" dirty="0">
                <a:solidFill>
                  <a:srgbClr val="0DA5A0"/>
                </a:solidFill>
                <a:latin typeface="Calibri" pitchFamily="34" charset="0"/>
                <a:ea typeface="Calibri" pitchFamily="34" charset="-122"/>
                <a:cs typeface="Calibri" pitchFamily="34" charset="-120"/>
              </a:rPr>
              <a:t>DECIDE &amp; NEGOTIATE</a:t>
            </a:r>
            <a:endParaRPr lang="en-US" sz="1350" dirty="0"/>
          </a:p>
        </p:txBody>
      </p:sp>
      <p:sp>
        <p:nvSpPr>
          <p:cNvPr id="39" name="Shape 37"/>
          <p:cNvSpPr/>
          <p:nvPr/>
        </p:nvSpPr>
        <p:spPr>
          <a:xfrm>
            <a:off x="841248" y="4773168"/>
            <a:ext cx="91440" cy="91440"/>
          </a:xfrm>
          <a:prstGeom prst="ellipse">
            <a:avLst/>
          </a:prstGeom>
          <a:solidFill>
            <a:srgbClr val="0DA5A0"/>
          </a:solidFill>
          <a:ln/>
        </p:spPr>
      </p:sp>
      <p:sp>
        <p:nvSpPr>
          <p:cNvPr id="40" name="Text 38"/>
          <p:cNvSpPr/>
          <p:nvPr/>
        </p:nvSpPr>
        <p:spPr>
          <a:xfrm>
            <a:off x="102412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Negotiation Intelligence</a:t>
            </a:r>
            <a:endParaRPr lang="en-US" sz="1000" dirty="0"/>
          </a:p>
        </p:txBody>
      </p:sp>
      <p:sp>
        <p:nvSpPr>
          <p:cNvPr id="41" name="Shape 39"/>
          <p:cNvSpPr/>
          <p:nvPr/>
        </p:nvSpPr>
        <p:spPr>
          <a:xfrm>
            <a:off x="3447288" y="4773168"/>
            <a:ext cx="91440" cy="91440"/>
          </a:xfrm>
          <a:prstGeom prst="ellipse">
            <a:avLst/>
          </a:prstGeom>
          <a:solidFill>
            <a:srgbClr val="0DA5A0"/>
          </a:solidFill>
          <a:ln/>
        </p:spPr>
      </p:sp>
      <p:sp>
        <p:nvSpPr>
          <p:cNvPr id="42" name="Text 40"/>
          <p:cNvSpPr/>
          <p:nvPr/>
        </p:nvSpPr>
        <p:spPr>
          <a:xfrm>
            <a:off x="363016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20-region should-cost</a:t>
            </a:r>
            <a:endParaRPr lang="en-US" sz="1000" dirty="0"/>
          </a:p>
        </p:txBody>
      </p:sp>
      <p:sp>
        <p:nvSpPr>
          <p:cNvPr id="43" name="Shape 41"/>
          <p:cNvSpPr/>
          <p:nvPr/>
        </p:nvSpPr>
        <p:spPr>
          <a:xfrm>
            <a:off x="841248" y="5230368"/>
            <a:ext cx="91440" cy="91440"/>
          </a:xfrm>
          <a:prstGeom prst="ellipse">
            <a:avLst/>
          </a:prstGeom>
          <a:solidFill>
            <a:srgbClr val="0DA5A0"/>
          </a:solidFill>
          <a:ln/>
        </p:spPr>
      </p:sp>
      <p:sp>
        <p:nvSpPr>
          <p:cNvPr id="44" name="Text 42"/>
          <p:cNvSpPr/>
          <p:nvPr/>
        </p:nvSpPr>
        <p:spPr>
          <a:xfrm>
            <a:off x="102412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Volume &amp; what-if scenarios</a:t>
            </a:r>
            <a:endParaRPr lang="en-US" sz="1000" dirty="0"/>
          </a:p>
        </p:txBody>
      </p:sp>
      <p:sp>
        <p:nvSpPr>
          <p:cNvPr id="45" name="Shape 43"/>
          <p:cNvSpPr/>
          <p:nvPr/>
        </p:nvSpPr>
        <p:spPr>
          <a:xfrm>
            <a:off x="3447288" y="5230368"/>
            <a:ext cx="91440" cy="91440"/>
          </a:xfrm>
          <a:prstGeom prst="ellipse">
            <a:avLst/>
          </a:prstGeom>
          <a:solidFill>
            <a:srgbClr val="0DA5A0"/>
          </a:solidFill>
          <a:ln/>
        </p:spPr>
      </p:sp>
      <p:sp>
        <p:nvSpPr>
          <p:cNvPr id="46" name="Text 44"/>
          <p:cNvSpPr/>
          <p:nvPr/>
        </p:nvSpPr>
        <p:spPr>
          <a:xfrm>
            <a:off x="363016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Conformal confidence bands</a:t>
            </a:r>
            <a:endParaRPr lang="en-US" sz="1000" dirty="0"/>
          </a:p>
        </p:txBody>
      </p:sp>
      <p:sp>
        <p:nvSpPr>
          <p:cNvPr id="47" name="Shape 45"/>
          <p:cNvSpPr/>
          <p:nvPr/>
        </p:nvSpPr>
        <p:spPr>
          <a:xfrm>
            <a:off x="841248" y="5632704"/>
            <a:ext cx="91440" cy="91440"/>
          </a:xfrm>
          <a:prstGeom prst="ellipse">
            <a:avLst/>
          </a:prstGeom>
          <a:solidFill>
            <a:srgbClr val="0DA5A0"/>
          </a:solidFill>
          <a:ln/>
        </p:spPr>
      </p:sp>
      <p:sp>
        <p:nvSpPr>
          <p:cNvPr id="48" name="Text 46"/>
          <p:cNvSpPr/>
          <p:nvPr/>
        </p:nvSpPr>
        <p:spPr>
          <a:xfrm>
            <a:off x="1024128"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Causal negotiation coach</a:t>
            </a:r>
            <a:endParaRPr lang="en-US" sz="1000" dirty="0"/>
          </a:p>
        </p:txBody>
      </p:sp>
      <p:sp>
        <p:nvSpPr>
          <p:cNvPr id="49" name="Shape 47"/>
          <p:cNvSpPr/>
          <p:nvPr/>
        </p:nvSpPr>
        <p:spPr>
          <a:xfrm>
            <a:off x="6245352"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4.071564285993753e+70" dist="1.1633040817125008e+70" dir="1.5233993500262402e+83">
              <a:srgbClr val="9DB0CC">
                <a:alpha val="2.2000000000000003e+84"/>
              </a:srgbClr>
            </a:outerShdw>
          </a:effectLst>
        </p:spPr>
      </p:sp>
      <p:sp>
        <p:nvSpPr>
          <p:cNvPr id="50" name="Shape 48"/>
          <p:cNvSpPr/>
          <p:nvPr/>
        </p:nvSpPr>
        <p:spPr>
          <a:xfrm>
            <a:off x="6245352" y="4096512"/>
            <a:ext cx="82296" cy="2148840"/>
          </a:xfrm>
          <a:prstGeom prst="rect">
            <a:avLst/>
          </a:prstGeom>
          <a:solidFill>
            <a:srgbClr val="0EA472"/>
          </a:solidFill>
          <a:ln/>
        </p:spPr>
      </p:sp>
      <p:sp>
        <p:nvSpPr>
          <p:cNvPr id="51" name="Text 49"/>
          <p:cNvSpPr/>
          <p:nvPr/>
        </p:nvSpPr>
        <p:spPr>
          <a:xfrm>
            <a:off x="6519672" y="4261104"/>
            <a:ext cx="4937760" cy="320040"/>
          </a:xfrm>
          <a:prstGeom prst="rect">
            <a:avLst/>
          </a:prstGeom>
          <a:noFill/>
          <a:ln/>
        </p:spPr>
        <p:txBody>
          <a:bodyPr wrap="square" lIns="0" tIns="0" rIns="0" bIns="0" rtlCol="0" anchor="t"/>
          <a:lstStyle/>
          <a:p>
            <a:pPr indent="0" marL="0">
              <a:buNone/>
            </a:pPr>
            <a:r>
              <a:rPr lang="en-US" sz="1350" b="1" spc="50" kern="0" dirty="0">
                <a:solidFill>
                  <a:srgbClr val="0EA472"/>
                </a:solidFill>
                <a:latin typeface="Calibri" pitchFamily="34" charset="0"/>
                <a:ea typeface="Calibri" pitchFamily="34" charset="-122"/>
                <a:cs typeface="Calibri" pitchFamily="34" charset="-120"/>
              </a:rPr>
              <a:t>LEARN &amp; GOVERN</a:t>
            </a:r>
            <a:endParaRPr lang="en-US" sz="1350" dirty="0"/>
          </a:p>
        </p:txBody>
      </p:sp>
      <p:sp>
        <p:nvSpPr>
          <p:cNvPr id="52" name="Shape 50"/>
          <p:cNvSpPr/>
          <p:nvPr/>
        </p:nvSpPr>
        <p:spPr>
          <a:xfrm>
            <a:off x="6537960" y="4773168"/>
            <a:ext cx="91440" cy="91440"/>
          </a:xfrm>
          <a:prstGeom prst="ellipse">
            <a:avLst/>
          </a:prstGeom>
          <a:solidFill>
            <a:srgbClr val="0EA472"/>
          </a:solidFill>
          <a:ln/>
        </p:spPr>
      </p:sp>
      <p:sp>
        <p:nvSpPr>
          <p:cNvPr id="53" name="Text 51"/>
          <p:cNvSpPr/>
          <p:nvPr/>
        </p:nvSpPr>
        <p:spPr>
          <a:xfrm>
            <a:off x="672084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Agentic memory &amp; recall</a:t>
            </a:r>
            <a:endParaRPr lang="en-US" sz="1000" dirty="0"/>
          </a:p>
        </p:txBody>
      </p:sp>
      <p:sp>
        <p:nvSpPr>
          <p:cNvPr id="54" name="Shape 52"/>
          <p:cNvSpPr/>
          <p:nvPr/>
        </p:nvSpPr>
        <p:spPr>
          <a:xfrm>
            <a:off x="9144000" y="4773168"/>
            <a:ext cx="91440" cy="91440"/>
          </a:xfrm>
          <a:prstGeom prst="ellipse">
            <a:avLst/>
          </a:prstGeom>
          <a:solidFill>
            <a:srgbClr val="0EA472"/>
          </a:solidFill>
          <a:ln/>
        </p:spPr>
      </p:sp>
      <p:sp>
        <p:nvSpPr>
          <p:cNvPr id="55" name="Text 53"/>
          <p:cNvSpPr/>
          <p:nvPr/>
        </p:nvSpPr>
        <p:spPr>
          <a:xfrm>
            <a:off x="932688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Self-correction from quotes</a:t>
            </a:r>
            <a:endParaRPr lang="en-US" sz="1000" dirty="0"/>
          </a:p>
        </p:txBody>
      </p:sp>
      <p:sp>
        <p:nvSpPr>
          <p:cNvPr id="56" name="Shape 54"/>
          <p:cNvSpPr/>
          <p:nvPr/>
        </p:nvSpPr>
        <p:spPr>
          <a:xfrm>
            <a:off x="6537960" y="5230368"/>
            <a:ext cx="91440" cy="91440"/>
          </a:xfrm>
          <a:prstGeom prst="ellipse">
            <a:avLst/>
          </a:prstGeom>
          <a:solidFill>
            <a:srgbClr val="0EA472"/>
          </a:solidFill>
          <a:ln/>
        </p:spPr>
      </p:sp>
      <p:sp>
        <p:nvSpPr>
          <p:cNvPr id="57" name="Text 55"/>
          <p:cNvSpPr/>
          <p:nvPr/>
        </p:nvSpPr>
        <p:spPr>
          <a:xfrm>
            <a:off x="672084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Autonomous savings agent</a:t>
            </a:r>
            <a:endParaRPr lang="en-US" sz="1000" dirty="0"/>
          </a:p>
        </p:txBody>
      </p:sp>
      <p:sp>
        <p:nvSpPr>
          <p:cNvPr id="58" name="Shape 56"/>
          <p:cNvSpPr/>
          <p:nvPr/>
        </p:nvSpPr>
        <p:spPr>
          <a:xfrm>
            <a:off x="9144000" y="5230368"/>
            <a:ext cx="91440" cy="91440"/>
          </a:xfrm>
          <a:prstGeom prst="ellipse">
            <a:avLst/>
          </a:prstGeom>
          <a:solidFill>
            <a:srgbClr val="0EA472"/>
          </a:solidFill>
          <a:ln/>
        </p:spPr>
      </p:sp>
      <p:sp>
        <p:nvSpPr>
          <p:cNvPr id="59" name="Text 57"/>
          <p:cNvSpPr/>
          <p:nvPr/>
        </p:nvSpPr>
        <p:spPr>
          <a:xfrm>
            <a:off x="932688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Full audit trail / provenance</a:t>
            </a:r>
            <a:endParaRPr lang="en-US" sz="1000" dirty="0"/>
          </a:p>
        </p:txBody>
      </p:sp>
      <p:sp>
        <p:nvSpPr>
          <p:cNvPr id="60" name="Shape 58"/>
          <p:cNvSpPr/>
          <p:nvPr/>
        </p:nvSpPr>
        <p:spPr>
          <a:xfrm>
            <a:off x="6537960" y="5632704"/>
            <a:ext cx="91440" cy="91440"/>
          </a:xfrm>
          <a:prstGeom prst="ellipse">
            <a:avLst/>
          </a:prstGeom>
          <a:solidFill>
            <a:srgbClr val="0EA472"/>
          </a:solidFill>
          <a:ln/>
        </p:spPr>
      </p:sp>
      <p:sp>
        <p:nvSpPr>
          <p:cNvPr id="61" name="Text 59"/>
          <p:cNvSpPr/>
          <p:nvPr/>
        </p:nvSpPr>
        <p:spPr>
          <a:xfrm>
            <a:off x="6720840"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On-premise &amp; secure</a:t>
            </a:r>
            <a:endParaRPr lang="en-US" sz="1000" dirty="0"/>
          </a:p>
        </p:txBody>
      </p:sp>
      <p:sp>
        <p:nvSpPr>
          <p:cNvPr id="62" name="Shape 60"/>
          <p:cNvSpPr/>
          <p:nvPr/>
        </p:nvSpPr>
        <p:spPr>
          <a:xfrm>
            <a:off x="548640" y="6400800"/>
            <a:ext cx="11094415" cy="12802"/>
          </a:xfrm>
          <a:prstGeom prst="rect">
            <a:avLst/>
          </a:prstGeom>
          <a:solidFill>
            <a:srgbClr val="E4EAF2"/>
          </a:solidFill>
          <a:ln/>
        </p:spPr>
      </p:sp>
      <p:sp>
        <p:nvSpPr>
          <p:cNvPr id="63" name="Text 6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4" name="Text 6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from a 3D model to a should-cost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Drop in a 3D model and CostVision reads the geometry, recognises the manufacturing features, and prices the part — with every number traced back to the model.</a:t>
            </a:r>
            <a:endParaRPr lang="en-US" sz="1250" dirty="0"/>
          </a:p>
        </p:txBody>
      </p:sp>
      <p:sp>
        <p:nvSpPr>
          <p:cNvPr id="11" name="Shape 9"/>
          <p:cNvSpPr/>
          <p:nvPr/>
        </p:nvSpPr>
        <p:spPr>
          <a:xfrm>
            <a:off x="548640"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5.170886643212067e+74" dist="1.477396183774876e+74" dir="9.14039610015744e+87">
              <a:srgbClr val="9DB0CC">
                <a:alpha val="2.2000000000000003e+89"/>
              </a:srgbClr>
            </a:outerShdw>
          </a:effectLst>
        </p:spPr>
      </p:sp>
      <p:sp>
        <p:nvSpPr>
          <p:cNvPr id="12" name="Shape 10"/>
          <p:cNvSpPr/>
          <p:nvPr/>
        </p:nvSpPr>
        <p:spPr>
          <a:xfrm>
            <a:off x="548640" y="2286000"/>
            <a:ext cx="82296" cy="2834640"/>
          </a:xfrm>
          <a:prstGeom prst="rect">
            <a:avLst/>
          </a:prstGeom>
          <a:solidFill>
            <a:srgbClr val="0DA5A0"/>
          </a:solidFill>
          <a:ln/>
        </p:spPr>
      </p:sp>
      <p:sp>
        <p:nvSpPr>
          <p:cNvPr id="13" name="Shape 11"/>
          <p:cNvSpPr/>
          <p:nvPr/>
        </p:nvSpPr>
        <p:spPr>
          <a:xfrm>
            <a:off x="1453896" y="2578608"/>
            <a:ext cx="731520" cy="731520"/>
          </a:xfrm>
          <a:prstGeom prst="ellipse">
            <a:avLst/>
          </a:prstGeom>
          <a:solidFill>
            <a:srgbClr val="E7F7F0"/>
          </a:solidFill>
          <a:ln/>
        </p:spPr>
      </p:sp>
      <p:sp>
        <p:nvSpPr>
          <p:cNvPr id="14" name="Text 12"/>
          <p:cNvSpPr/>
          <p:nvPr/>
        </p:nvSpPr>
        <p:spPr>
          <a:xfrm>
            <a:off x="1453896" y="2569464"/>
            <a:ext cx="731520" cy="731520"/>
          </a:xfrm>
          <a:prstGeom prst="rect">
            <a:avLst/>
          </a:prstGeom>
          <a:noFill/>
          <a:ln/>
        </p:spPr>
        <p:txBody>
          <a:bodyPr wrap="square" lIns="0" tIns="0" rIns="0" bIns="0" rtlCol="0" anchor="ctr"/>
          <a:lstStyle/>
          <a:p>
            <a:pPr algn="ctr" indent="0" marL="0">
              <a:buNone/>
            </a:pPr>
            <a:r>
              <a:rPr lang="en-US" sz="2500" b="1" dirty="0">
                <a:solidFill>
                  <a:srgbClr val="0DA5A0"/>
                </a:solidFill>
                <a:latin typeface="Calibri" pitchFamily="34" charset="0"/>
                <a:ea typeface="Calibri" pitchFamily="34" charset="-122"/>
                <a:cs typeface="Calibri" pitchFamily="34" charset="-120"/>
              </a:rPr>
              <a:t>◧</a:t>
            </a:r>
            <a:endParaRPr lang="en-US" sz="2500" dirty="0"/>
          </a:p>
        </p:txBody>
      </p:sp>
      <p:sp>
        <p:nvSpPr>
          <p:cNvPr id="15" name="Text 13"/>
          <p:cNvSpPr/>
          <p:nvPr/>
        </p:nvSpPr>
        <p:spPr>
          <a:xfrm>
            <a:off x="768096"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DA5A0"/>
                </a:solidFill>
                <a:latin typeface="Calibri" pitchFamily="34" charset="0"/>
                <a:ea typeface="Calibri" pitchFamily="34" charset="-122"/>
                <a:cs typeface="Calibri" pitchFamily="34" charset="-120"/>
              </a:rPr>
              <a:t>Reads the real geometry</a:t>
            </a:r>
            <a:endParaRPr lang="en-US" sz="1300" dirty="0"/>
          </a:p>
        </p:txBody>
      </p:sp>
      <p:sp>
        <p:nvSpPr>
          <p:cNvPr id="16" name="Text 14"/>
          <p:cNvSpPr/>
          <p:nvPr/>
        </p:nvSpPr>
        <p:spPr>
          <a:xfrm>
            <a:off x="786384"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true geometry engine (OCCT / STL) measures volume, bounding box and surface area — measured ground truth, not a guess.</a:t>
            </a:r>
            <a:endParaRPr lang="en-US" sz="1000" dirty="0"/>
          </a:p>
        </p:txBody>
      </p:sp>
      <p:sp>
        <p:nvSpPr>
          <p:cNvPr id="17" name="Shape 15"/>
          <p:cNvSpPr/>
          <p:nvPr/>
        </p:nvSpPr>
        <p:spPr>
          <a:xfrm>
            <a:off x="3419856"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6.567026036879325e+78" dist="1.8762931533940924e+78" dir="5.484237660094465e+92">
              <a:srgbClr val="9DB0CC">
                <a:alpha val="2.2e+94"/>
              </a:srgbClr>
            </a:outerShdw>
          </a:effectLst>
        </p:spPr>
      </p:sp>
      <p:sp>
        <p:nvSpPr>
          <p:cNvPr id="18" name="Shape 16"/>
          <p:cNvSpPr/>
          <p:nvPr/>
        </p:nvSpPr>
        <p:spPr>
          <a:xfrm>
            <a:off x="3419856" y="2286000"/>
            <a:ext cx="82296" cy="2834640"/>
          </a:xfrm>
          <a:prstGeom prst="rect">
            <a:avLst/>
          </a:prstGeom>
          <a:solidFill>
            <a:srgbClr val="2563EB"/>
          </a:solidFill>
          <a:ln/>
        </p:spPr>
      </p:sp>
      <p:sp>
        <p:nvSpPr>
          <p:cNvPr id="19" name="Shape 17"/>
          <p:cNvSpPr/>
          <p:nvPr/>
        </p:nvSpPr>
        <p:spPr>
          <a:xfrm>
            <a:off x="4325112" y="2578608"/>
            <a:ext cx="731520" cy="731520"/>
          </a:xfrm>
          <a:prstGeom prst="ellipse">
            <a:avLst/>
          </a:prstGeom>
          <a:solidFill>
            <a:srgbClr val="EAF1FE"/>
          </a:solidFill>
          <a:ln/>
        </p:spPr>
      </p:sp>
      <p:sp>
        <p:nvSpPr>
          <p:cNvPr id="20" name="Text 18"/>
          <p:cNvSpPr/>
          <p:nvPr/>
        </p:nvSpPr>
        <p:spPr>
          <a:xfrm>
            <a:off x="4325112" y="2569464"/>
            <a:ext cx="731520" cy="731520"/>
          </a:xfrm>
          <a:prstGeom prst="rect">
            <a:avLst/>
          </a:prstGeom>
          <a:noFill/>
          <a:ln/>
        </p:spPr>
        <p:txBody>
          <a:bodyPr wrap="square" lIns="0" tIns="0" rIns="0" bIns="0" rtlCol="0" anchor="ctr"/>
          <a:lstStyle/>
          <a:p>
            <a:pPr algn="ctr" indent="0" marL="0">
              <a:buNone/>
            </a:pPr>
            <a:r>
              <a:rPr lang="en-US" sz="2500" b="1" dirty="0">
                <a:solidFill>
                  <a:srgbClr val="2563EB"/>
                </a:solidFill>
                <a:latin typeface="Calibri" pitchFamily="34" charset="0"/>
                <a:ea typeface="Calibri" pitchFamily="34" charset="-122"/>
                <a:cs typeface="Calibri" pitchFamily="34" charset="-120"/>
              </a:rPr>
              <a:t>◈</a:t>
            </a:r>
            <a:endParaRPr lang="en-US" sz="2500" dirty="0"/>
          </a:p>
        </p:txBody>
      </p:sp>
      <p:sp>
        <p:nvSpPr>
          <p:cNvPr id="21" name="Text 19"/>
          <p:cNvSpPr/>
          <p:nvPr/>
        </p:nvSpPr>
        <p:spPr>
          <a:xfrm>
            <a:off x="3639312"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2563EB"/>
                </a:solidFill>
                <a:latin typeface="Calibri" pitchFamily="34" charset="0"/>
                <a:ea typeface="Calibri" pitchFamily="34" charset="-122"/>
                <a:cs typeface="Calibri" pitchFamily="34" charset="-120"/>
              </a:rPr>
              <a:t>Recognises features</a:t>
            </a:r>
            <a:endParaRPr lang="en-US" sz="1300" dirty="0"/>
          </a:p>
        </p:txBody>
      </p:sp>
      <p:sp>
        <p:nvSpPr>
          <p:cNvPr id="22" name="Text 20"/>
          <p:cNvSpPr/>
          <p:nvPr/>
        </p:nvSpPr>
        <p:spPr>
          <a:xfrm>
            <a:off x="3657600"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Holes, pockets, slots, bends and faces are detected and turned into machining operations automatically.</a:t>
            </a:r>
            <a:endParaRPr lang="en-US" sz="1000" dirty="0"/>
          </a:p>
        </p:txBody>
      </p:sp>
      <p:sp>
        <p:nvSpPr>
          <p:cNvPr id="23" name="Shape 21"/>
          <p:cNvSpPr/>
          <p:nvPr/>
        </p:nvSpPr>
        <p:spPr>
          <a:xfrm>
            <a:off x="6291072"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8.340123066836742e+82" dist="2.3828923048104974e+82" dir="3.2905425960566786e+97">
              <a:srgbClr val="9DB0CC">
                <a:alpha val="2.2000000000000003e+99"/>
              </a:srgbClr>
            </a:outerShdw>
          </a:effectLst>
        </p:spPr>
      </p:sp>
      <p:sp>
        <p:nvSpPr>
          <p:cNvPr id="24" name="Shape 22"/>
          <p:cNvSpPr/>
          <p:nvPr/>
        </p:nvSpPr>
        <p:spPr>
          <a:xfrm>
            <a:off x="6291072" y="2286000"/>
            <a:ext cx="82296" cy="2834640"/>
          </a:xfrm>
          <a:prstGeom prst="rect">
            <a:avLst/>
          </a:prstGeom>
          <a:solidFill>
            <a:srgbClr val="7C3AED"/>
          </a:solidFill>
          <a:ln/>
        </p:spPr>
      </p:sp>
      <p:sp>
        <p:nvSpPr>
          <p:cNvPr id="25" name="Shape 23"/>
          <p:cNvSpPr/>
          <p:nvPr/>
        </p:nvSpPr>
        <p:spPr>
          <a:xfrm>
            <a:off x="7196328" y="2578608"/>
            <a:ext cx="731520" cy="731520"/>
          </a:xfrm>
          <a:prstGeom prst="ellipse">
            <a:avLst/>
          </a:prstGeom>
          <a:solidFill>
            <a:srgbClr val="F3EEFE"/>
          </a:solidFill>
          <a:ln/>
        </p:spPr>
      </p:sp>
      <p:sp>
        <p:nvSpPr>
          <p:cNvPr id="26" name="Text 24"/>
          <p:cNvSpPr/>
          <p:nvPr/>
        </p:nvSpPr>
        <p:spPr>
          <a:xfrm>
            <a:off x="7196328" y="2569464"/>
            <a:ext cx="731520" cy="731520"/>
          </a:xfrm>
          <a:prstGeom prst="rect">
            <a:avLst/>
          </a:prstGeom>
          <a:noFill/>
          <a:ln/>
        </p:spPr>
        <p:txBody>
          <a:bodyPr wrap="square" lIns="0" tIns="0" rIns="0" bIns="0" rtlCol="0" anchor="ctr"/>
          <a:lstStyle/>
          <a:p>
            <a:pPr algn="ctr" indent="0" marL="0">
              <a:buNone/>
            </a:pPr>
            <a:r>
              <a:rPr lang="en-US" sz="2500" b="1" dirty="0">
                <a:solidFill>
                  <a:srgbClr val="7C3AED"/>
                </a:solidFill>
                <a:latin typeface="Calibri" pitchFamily="34" charset="0"/>
                <a:ea typeface="Calibri" pitchFamily="34" charset="-122"/>
                <a:cs typeface="Calibri" pitchFamily="34" charset="-120"/>
              </a:rPr>
              <a:t>✦</a:t>
            </a:r>
            <a:endParaRPr lang="en-US" sz="2500" dirty="0"/>
          </a:p>
        </p:txBody>
      </p:sp>
      <p:sp>
        <p:nvSpPr>
          <p:cNvPr id="27" name="Text 25"/>
          <p:cNvSpPr/>
          <p:nvPr/>
        </p:nvSpPr>
        <p:spPr>
          <a:xfrm>
            <a:off x="6510528"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7C3AED"/>
                </a:solidFill>
                <a:latin typeface="Calibri" pitchFamily="34" charset="0"/>
                <a:ea typeface="Calibri" pitchFamily="34" charset="-122"/>
                <a:cs typeface="Calibri" pitchFamily="34" charset="-120"/>
              </a:rPr>
              <a:t>Suggests material &amp; process</a:t>
            </a:r>
            <a:endParaRPr lang="en-US" sz="1300" dirty="0"/>
          </a:p>
        </p:txBody>
      </p:sp>
      <p:sp>
        <p:nvSpPr>
          <p:cNvPr id="28" name="Text 26"/>
          <p:cNvSpPr/>
          <p:nvPr/>
        </p:nvSpPr>
        <p:spPr>
          <a:xfrm>
            <a:off x="6528816"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AI proposes the material family and process route with a confidence score — you stay in control.</a:t>
            </a:r>
            <a:endParaRPr lang="en-US" sz="1000" dirty="0"/>
          </a:p>
        </p:txBody>
      </p:sp>
      <p:sp>
        <p:nvSpPr>
          <p:cNvPr id="29" name="Shape 27"/>
          <p:cNvSpPr/>
          <p:nvPr/>
        </p:nvSpPr>
        <p:spPr>
          <a:xfrm>
            <a:off x="9162288"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1.0591956294882662e+87" dist="3.0262732271093317e+86" dir="1.9743255576340073e+102">
              <a:srgbClr val="9DB0CC">
                <a:alpha val="2.2000000000000003e+104"/>
              </a:srgbClr>
            </a:outerShdw>
          </a:effectLst>
        </p:spPr>
      </p:sp>
      <p:sp>
        <p:nvSpPr>
          <p:cNvPr id="30" name="Shape 28"/>
          <p:cNvSpPr/>
          <p:nvPr/>
        </p:nvSpPr>
        <p:spPr>
          <a:xfrm>
            <a:off x="9162288" y="2286000"/>
            <a:ext cx="82296" cy="2834640"/>
          </a:xfrm>
          <a:prstGeom prst="rect">
            <a:avLst/>
          </a:prstGeom>
          <a:solidFill>
            <a:srgbClr val="0EA472"/>
          </a:solidFill>
          <a:ln/>
        </p:spPr>
      </p:sp>
      <p:sp>
        <p:nvSpPr>
          <p:cNvPr id="31" name="Shape 29"/>
          <p:cNvSpPr/>
          <p:nvPr/>
        </p:nvSpPr>
        <p:spPr>
          <a:xfrm>
            <a:off x="10067544" y="2578608"/>
            <a:ext cx="731520" cy="731520"/>
          </a:xfrm>
          <a:prstGeom prst="ellipse">
            <a:avLst/>
          </a:prstGeom>
          <a:solidFill>
            <a:srgbClr val="E7F7F0"/>
          </a:solidFill>
          <a:ln/>
        </p:spPr>
      </p:sp>
      <p:sp>
        <p:nvSpPr>
          <p:cNvPr id="32" name="Text 30"/>
          <p:cNvSpPr/>
          <p:nvPr/>
        </p:nvSpPr>
        <p:spPr>
          <a:xfrm>
            <a:off x="10067544" y="2569464"/>
            <a:ext cx="731520" cy="731520"/>
          </a:xfrm>
          <a:prstGeom prst="rect">
            <a:avLst/>
          </a:prstGeom>
          <a:noFill/>
          <a:ln/>
        </p:spPr>
        <p:txBody>
          <a:bodyPr wrap="square" lIns="0" tIns="0" rIns="0" bIns="0" rtlCol="0" anchor="ctr"/>
          <a:lstStyle/>
          <a:p>
            <a:pPr algn="ctr" indent="0" marL="0">
              <a:buNone/>
            </a:pPr>
            <a:r>
              <a:rPr lang="en-US" sz="2500" b="1" dirty="0">
                <a:solidFill>
                  <a:srgbClr val="0EA472"/>
                </a:solidFill>
                <a:latin typeface="Calibri" pitchFamily="34" charset="0"/>
                <a:ea typeface="Calibri" pitchFamily="34" charset="-122"/>
                <a:cs typeface="Calibri" pitchFamily="34" charset="-120"/>
              </a:rPr>
              <a:t>◆</a:t>
            </a:r>
            <a:endParaRPr lang="en-US" sz="2500" dirty="0"/>
          </a:p>
        </p:txBody>
      </p:sp>
      <p:sp>
        <p:nvSpPr>
          <p:cNvPr id="33" name="Text 31"/>
          <p:cNvSpPr/>
          <p:nvPr/>
        </p:nvSpPr>
        <p:spPr>
          <a:xfrm>
            <a:off x="9381744"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EA472"/>
                </a:solidFill>
                <a:latin typeface="Calibri" pitchFamily="34" charset="0"/>
                <a:ea typeface="Calibri" pitchFamily="34" charset="-122"/>
                <a:cs typeface="Calibri" pitchFamily="34" charset="-120"/>
              </a:rPr>
              <a:t>Prices it — and explains</a:t>
            </a:r>
            <a:endParaRPr lang="en-US" sz="1300" dirty="0"/>
          </a:p>
        </p:txBody>
      </p:sp>
      <p:sp>
        <p:nvSpPr>
          <p:cNvPr id="34" name="Text 32"/>
          <p:cNvSpPr/>
          <p:nvPr/>
        </p:nvSpPr>
        <p:spPr>
          <a:xfrm>
            <a:off x="9400032"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deterministic 8-bucket engine (material → margin) returns a full should-cost with a confidence band and DFM guidance.</a:t>
            </a:r>
            <a:endParaRPr lang="en-US" sz="1000" dirty="0"/>
          </a:p>
        </p:txBody>
      </p:sp>
      <p:sp>
        <p:nvSpPr>
          <p:cNvPr id="35" name="Shape 33"/>
          <p:cNvSpPr/>
          <p:nvPr/>
        </p:nvSpPr>
        <p:spPr>
          <a:xfrm>
            <a:off x="548640" y="5303520"/>
            <a:ext cx="11091672" cy="640080"/>
          </a:xfrm>
          <a:prstGeom prst="roundRect">
            <a:avLst>
              <a:gd name="adj" fmla="val 10000"/>
            </a:avLst>
          </a:prstGeom>
          <a:solidFill>
            <a:srgbClr val="FEF6E7"/>
          </a:solidFill>
          <a:ln w="12700">
            <a:solidFill>
              <a:srgbClr val="E4EAF2"/>
            </a:solidFill>
            <a:prstDash val="solid"/>
          </a:ln>
        </p:spPr>
      </p:sp>
      <p:sp>
        <p:nvSpPr>
          <p:cNvPr id="36" name="Shape 34"/>
          <p:cNvSpPr/>
          <p:nvPr/>
        </p:nvSpPr>
        <p:spPr>
          <a:xfrm>
            <a:off x="548640" y="5303520"/>
            <a:ext cx="82296" cy="640080"/>
          </a:xfrm>
          <a:prstGeom prst="rect">
            <a:avLst/>
          </a:prstGeom>
          <a:solidFill>
            <a:srgbClr val="E0900C"/>
          </a:solidFill>
          <a:ln/>
        </p:spPr>
      </p:sp>
      <p:sp>
        <p:nvSpPr>
          <p:cNvPr id="37" name="Text 35"/>
          <p:cNvSpPr/>
          <p:nvPr/>
        </p:nvSpPr>
        <p:spPr>
          <a:xfrm>
            <a:off x="914400" y="5303520"/>
            <a:ext cx="10332720" cy="640080"/>
          </a:xfrm>
          <a:prstGeom prst="rect">
            <a:avLst/>
          </a:prstGeom>
          <a:noFill/>
          <a:ln/>
        </p:spPr>
        <p:txBody>
          <a:bodyPr wrap="square" lIns="0" tIns="0" rIns="0" bIns="0" rtlCol="0" anchor="ctr"/>
          <a:lstStyle/>
          <a:p>
            <a:pPr indent="0" marL="0">
              <a:lnSpc>
                <a:spcPct val="110000"/>
              </a:lnSpc>
              <a:buNone/>
            </a:pPr>
            <a:r>
              <a:rPr lang="en-US" sz="1100" b="1" dirty="0">
                <a:solidFill>
                  <a:srgbClr val="E0900C"/>
                </a:solidFill>
                <a:latin typeface="Calibri" pitchFamily="34" charset="0"/>
                <a:ea typeface="Calibri" pitchFamily="34" charset="-122"/>
                <a:cs typeface="Calibri" pitchFamily="34" charset="-120"/>
              </a:rPr>
              <a:t>Add a 2D drawing to sharpen it:  </a:t>
            </a:r>
            <a:pPr indent="0" marL="0">
              <a:lnSpc>
                <a:spcPct val="110000"/>
              </a:lnSpc>
              <a:buNone/>
            </a:pPr>
            <a:r>
              <a:rPr lang="en-US" sz="1100" dirty="0">
                <a:solidFill>
                  <a:srgbClr val="3E4C63"/>
                </a:solidFill>
                <a:latin typeface="Calibri" pitchFamily="34" charset="0"/>
                <a:ea typeface="Calibri" pitchFamily="34" charset="-122"/>
                <a:cs typeface="Calibri" pitchFamily="34" charset="-120"/>
              </a:rPr>
              <a:t>attach the engineering-drawing PDF and the AI reads the tolerances &amp; GD&amp;T — tight tolerances pull in grinding/reaming and better surface finish, so the process route and the cost get more accurate. Formats: STEP · IGES · STL, plus an optional 2D drawing.</a:t>
            </a:r>
            <a:endParaRPr lang="en-US" sz="1100" dirty="0"/>
          </a:p>
        </p:txBody>
      </p:sp>
      <p:sp>
        <p:nvSpPr>
          <p:cNvPr id="38" name="Shape 36"/>
          <p:cNvSpPr/>
          <p:nvPr/>
        </p:nvSpPr>
        <p:spPr>
          <a:xfrm>
            <a:off x="548640" y="6400800"/>
            <a:ext cx="11094415" cy="12802"/>
          </a:xfrm>
          <a:prstGeom prst="rect">
            <a:avLst/>
          </a:prstGeom>
          <a:solidFill>
            <a:srgbClr val="E4EAF2"/>
          </a:solidFill>
          <a:ln/>
        </p:spPr>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workflow, end to end</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Shape 8"/>
          <p:cNvSpPr/>
          <p:nvPr/>
        </p:nvSpPr>
        <p:spPr>
          <a:xfrm>
            <a:off x="54864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3451784494500981e+91" dist="3.8433669984288512e+90" dir="1.1845953345804043e+107">
              <a:srgbClr val="9DB0CC">
                <a:alpha val="2.2000000000000003e+109"/>
              </a:srgbClr>
            </a:outerShdw>
          </a:effectLst>
        </p:spPr>
      </p:sp>
      <p:sp>
        <p:nvSpPr>
          <p:cNvPr id="11" name="Shape 9"/>
          <p:cNvSpPr/>
          <p:nvPr/>
        </p:nvSpPr>
        <p:spPr>
          <a:xfrm>
            <a:off x="548640" y="1783080"/>
            <a:ext cx="1463040" cy="82296"/>
          </a:xfrm>
          <a:prstGeom prst="rect">
            <a:avLst/>
          </a:prstGeom>
          <a:solidFill>
            <a:srgbClr val="2E90FA"/>
          </a:solidFill>
          <a:ln/>
        </p:spPr>
      </p:sp>
      <p:sp>
        <p:nvSpPr>
          <p:cNvPr id="12" name="Shape 10"/>
          <p:cNvSpPr/>
          <p:nvPr/>
        </p:nvSpPr>
        <p:spPr>
          <a:xfrm>
            <a:off x="1024128" y="1984248"/>
            <a:ext cx="512064" cy="512064"/>
          </a:xfrm>
          <a:prstGeom prst="ellipse">
            <a:avLst/>
          </a:prstGeom>
          <a:solidFill>
            <a:srgbClr val="F4F7FB"/>
          </a:solidFill>
          <a:ln/>
        </p:spPr>
      </p:sp>
      <p:sp>
        <p:nvSpPr>
          <p:cNvPr id="13" name="Text 11"/>
          <p:cNvSpPr/>
          <p:nvPr/>
        </p:nvSpPr>
        <p:spPr>
          <a:xfrm>
            <a:off x="1024128" y="1975104"/>
            <a:ext cx="512064" cy="512064"/>
          </a:xfrm>
          <a:prstGeom prst="rect">
            <a:avLst/>
          </a:prstGeom>
          <a:noFill/>
          <a:ln/>
        </p:spPr>
        <p:txBody>
          <a:bodyPr wrap="square" lIns="0" tIns="0" rIns="0" bIns="0" rtlCol="0" anchor="ctr"/>
          <a:lstStyle/>
          <a:p>
            <a:pPr algn="ctr" indent="0" marL="0">
              <a:buNone/>
            </a:pPr>
            <a:r>
              <a:rPr lang="en-US" sz="1800" b="1" dirty="0">
                <a:solidFill>
                  <a:srgbClr val="2E90FA"/>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64008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Upload</a:t>
            </a:r>
            <a:endParaRPr lang="en-US" sz="1200" dirty="0"/>
          </a:p>
        </p:txBody>
      </p:sp>
      <p:sp>
        <p:nvSpPr>
          <p:cNvPr id="15" name="Text 13"/>
          <p:cNvSpPr/>
          <p:nvPr/>
        </p:nvSpPr>
        <p:spPr>
          <a:xfrm>
            <a:off x="65836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3D model + optional 2D drawing</a:t>
            </a:r>
            <a:endParaRPr lang="en-US" sz="860" dirty="0"/>
          </a:p>
        </p:txBody>
      </p:sp>
      <p:sp>
        <p:nvSpPr>
          <p:cNvPr id="16" name="Shape 14"/>
          <p:cNvSpPr/>
          <p:nvPr/>
        </p:nvSpPr>
        <p:spPr>
          <a:xfrm>
            <a:off x="2016252" y="2583180"/>
            <a:ext cx="100584" cy="0"/>
          </a:xfrm>
          <a:prstGeom prst="line">
            <a:avLst/>
          </a:prstGeom>
          <a:noFill/>
          <a:ln w="22225">
            <a:solidFill>
              <a:srgbClr val="D4DEEC"/>
            </a:solidFill>
            <a:prstDash val="solid"/>
            <a:headEnd type="none"/>
            <a:tailEnd type="triangle"/>
          </a:ln>
        </p:spPr>
      </p:sp>
      <p:sp>
        <p:nvSpPr>
          <p:cNvPr id="17" name="Shape 15"/>
          <p:cNvSpPr/>
          <p:nvPr/>
        </p:nvSpPr>
        <p:spPr>
          <a:xfrm>
            <a:off x="213055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7083766308016246e+95" dist="4.8810760880046414e+94" dir="7.107572007482426e+111">
              <a:srgbClr val="9DB0CC">
                <a:alpha val="2.2000000000000003e+114"/>
              </a:srgbClr>
            </a:outerShdw>
          </a:effectLst>
        </p:spPr>
      </p:sp>
      <p:sp>
        <p:nvSpPr>
          <p:cNvPr id="18" name="Shape 16"/>
          <p:cNvSpPr/>
          <p:nvPr/>
        </p:nvSpPr>
        <p:spPr>
          <a:xfrm>
            <a:off x="2130552" y="1783080"/>
            <a:ext cx="1463040" cy="82296"/>
          </a:xfrm>
          <a:prstGeom prst="rect">
            <a:avLst/>
          </a:prstGeom>
          <a:solidFill>
            <a:srgbClr val="0DA5A0"/>
          </a:solidFill>
          <a:ln/>
        </p:spPr>
      </p:sp>
      <p:sp>
        <p:nvSpPr>
          <p:cNvPr id="19" name="Shape 17"/>
          <p:cNvSpPr/>
          <p:nvPr/>
        </p:nvSpPr>
        <p:spPr>
          <a:xfrm>
            <a:off x="2606040" y="1984248"/>
            <a:ext cx="512064" cy="512064"/>
          </a:xfrm>
          <a:prstGeom prst="ellipse">
            <a:avLst/>
          </a:prstGeom>
          <a:solidFill>
            <a:srgbClr val="E7F7F0"/>
          </a:solidFill>
          <a:ln/>
        </p:spPr>
      </p:sp>
      <p:sp>
        <p:nvSpPr>
          <p:cNvPr id="20" name="Text 18"/>
          <p:cNvSpPr/>
          <p:nvPr/>
        </p:nvSpPr>
        <p:spPr>
          <a:xfrm>
            <a:off x="2606040" y="197510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1" name="Text 19"/>
          <p:cNvSpPr/>
          <p:nvPr/>
        </p:nvSpPr>
        <p:spPr>
          <a:xfrm>
            <a:off x="222199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Geometry engine</a:t>
            </a:r>
            <a:endParaRPr lang="en-US" sz="1200" dirty="0"/>
          </a:p>
        </p:txBody>
      </p:sp>
      <p:sp>
        <p:nvSpPr>
          <p:cNvPr id="22" name="Text 20"/>
          <p:cNvSpPr/>
          <p:nvPr/>
        </p:nvSpPr>
        <p:spPr>
          <a:xfrm>
            <a:off x="224028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volume · bbox · surface · faces</a:t>
            </a:r>
            <a:endParaRPr lang="en-US" sz="860" dirty="0"/>
          </a:p>
        </p:txBody>
      </p:sp>
      <p:sp>
        <p:nvSpPr>
          <p:cNvPr id="23" name="Shape 21"/>
          <p:cNvSpPr/>
          <p:nvPr/>
        </p:nvSpPr>
        <p:spPr>
          <a:xfrm>
            <a:off x="3598164" y="2583180"/>
            <a:ext cx="100584" cy="0"/>
          </a:xfrm>
          <a:prstGeom prst="line">
            <a:avLst/>
          </a:prstGeom>
          <a:noFill/>
          <a:ln w="22225">
            <a:solidFill>
              <a:srgbClr val="D4DEEC"/>
            </a:solidFill>
            <a:prstDash val="solid"/>
            <a:headEnd type="none"/>
            <a:tailEnd type="triangle"/>
          </a:ln>
        </p:spPr>
      </p:sp>
      <p:sp>
        <p:nvSpPr>
          <p:cNvPr id="24" name="Shape 22"/>
          <p:cNvSpPr/>
          <p:nvPr/>
        </p:nvSpPr>
        <p:spPr>
          <a:xfrm>
            <a:off x="3712464"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1696383211180632e+99" dist="6.198966631765894e+98" dir="4.2645432044894554e+116">
              <a:srgbClr val="9DB0CC">
                <a:alpha val="2.2000000000000005e+119"/>
              </a:srgbClr>
            </a:outerShdw>
          </a:effectLst>
        </p:spPr>
      </p:sp>
      <p:sp>
        <p:nvSpPr>
          <p:cNvPr id="25" name="Shape 23"/>
          <p:cNvSpPr/>
          <p:nvPr/>
        </p:nvSpPr>
        <p:spPr>
          <a:xfrm>
            <a:off x="3712464" y="1783080"/>
            <a:ext cx="1463040" cy="82296"/>
          </a:xfrm>
          <a:prstGeom prst="rect">
            <a:avLst/>
          </a:prstGeom>
          <a:solidFill>
            <a:srgbClr val="2563EB"/>
          </a:solidFill>
          <a:ln/>
        </p:spPr>
      </p:sp>
      <p:sp>
        <p:nvSpPr>
          <p:cNvPr id="26" name="Shape 24"/>
          <p:cNvSpPr/>
          <p:nvPr/>
        </p:nvSpPr>
        <p:spPr>
          <a:xfrm>
            <a:off x="4187952" y="1984248"/>
            <a:ext cx="512064" cy="512064"/>
          </a:xfrm>
          <a:prstGeom prst="ellipse">
            <a:avLst/>
          </a:prstGeom>
          <a:solidFill>
            <a:srgbClr val="EAF1FE"/>
          </a:solidFill>
          <a:ln/>
        </p:spPr>
      </p:sp>
      <p:sp>
        <p:nvSpPr>
          <p:cNvPr id="27" name="Text 25"/>
          <p:cNvSpPr/>
          <p:nvPr/>
        </p:nvSpPr>
        <p:spPr>
          <a:xfrm>
            <a:off x="4187952" y="197510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28" name="Text 26"/>
          <p:cNvSpPr/>
          <p:nvPr/>
        </p:nvSpPr>
        <p:spPr>
          <a:xfrm>
            <a:off x="3803904"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Feature recognition</a:t>
            </a:r>
            <a:endParaRPr lang="en-US" sz="1200" dirty="0"/>
          </a:p>
        </p:txBody>
      </p:sp>
      <p:sp>
        <p:nvSpPr>
          <p:cNvPr id="29" name="Text 27"/>
          <p:cNvSpPr/>
          <p:nvPr/>
        </p:nvSpPr>
        <p:spPr>
          <a:xfrm>
            <a:off x="3822192"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holes · pockets · slots · bends</a:t>
            </a:r>
            <a:endParaRPr lang="en-US" sz="860" dirty="0"/>
          </a:p>
        </p:txBody>
      </p:sp>
      <p:sp>
        <p:nvSpPr>
          <p:cNvPr id="30" name="Shape 28"/>
          <p:cNvSpPr/>
          <p:nvPr/>
        </p:nvSpPr>
        <p:spPr>
          <a:xfrm>
            <a:off x="5180076" y="2583180"/>
            <a:ext cx="100584" cy="0"/>
          </a:xfrm>
          <a:prstGeom prst="line">
            <a:avLst/>
          </a:prstGeom>
          <a:noFill/>
          <a:ln w="22225">
            <a:solidFill>
              <a:srgbClr val="D4DEEC"/>
            </a:solidFill>
            <a:prstDash val="solid"/>
            <a:headEnd type="none"/>
            <a:tailEnd type="triangle"/>
          </a:ln>
        </p:spPr>
      </p:sp>
      <p:sp>
        <p:nvSpPr>
          <p:cNvPr id="31" name="Shape 29"/>
          <p:cNvSpPr/>
          <p:nvPr/>
        </p:nvSpPr>
        <p:spPr>
          <a:xfrm>
            <a:off x="5294376"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7554406678199403e+103" dist="7.872687622342685e+102" dir="2.5587259226936733e+121">
              <a:srgbClr val="9DB0CC">
                <a:alpha val="2.2000000000000006e+124"/>
              </a:srgbClr>
            </a:outerShdw>
          </a:effectLst>
        </p:spPr>
      </p:sp>
      <p:sp>
        <p:nvSpPr>
          <p:cNvPr id="32" name="Shape 30"/>
          <p:cNvSpPr/>
          <p:nvPr/>
        </p:nvSpPr>
        <p:spPr>
          <a:xfrm>
            <a:off x="5294376" y="1783080"/>
            <a:ext cx="1463040" cy="82296"/>
          </a:xfrm>
          <a:prstGeom prst="rect">
            <a:avLst/>
          </a:prstGeom>
          <a:solidFill>
            <a:srgbClr val="7C3AED"/>
          </a:solidFill>
          <a:ln/>
        </p:spPr>
      </p:sp>
      <p:sp>
        <p:nvSpPr>
          <p:cNvPr id="33" name="Shape 31"/>
          <p:cNvSpPr/>
          <p:nvPr/>
        </p:nvSpPr>
        <p:spPr>
          <a:xfrm>
            <a:off x="5769864" y="1984248"/>
            <a:ext cx="512064" cy="512064"/>
          </a:xfrm>
          <a:prstGeom prst="ellipse">
            <a:avLst/>
          </a:prstGeom>
          <a:solidFill>
            <a:srgbClr val="F3EEFE"/>
          </a:solidFill>
          <a:ln/>
        </p:spPr>
      </p:sp>
      <p:sp>
        <p:nvSpPr>
          <p:cNvPr id="34" name="Text 32"/>
          <p:cNvSpPr/>
          <p:nvPr/>
        </p:nvSpPr>
        <p:spPr>
          <a:xfrm>
            <a:off x="5769864" y="1975104"/>
            <a:ext cx="512064" cy="512064"/>
          </a:xfrm>
          <a:prstGeom prst="rect">
            <a:avLst/>
          </a:prstGeom>
          <a:noFill/>
          <a:ln/>
        </p:spPr>
        <p:txBody>
          <a:bodyPr wrap="square" lIns="0" tIns="0" rIns="0" bIns="0" rtlCol="0" anchor="ctr"/>
          <a:lstStyle/>
          <a:p>
            <a:pPr algn="ctr" indent="0" marL="0">
              <a:buNone/>
            </a:pPr>
            <a:r>
              <a:rPr lang="en-US" sz="1800" b="1" dirty="0">
                <a:solidFill>
                  <a:srgbClr val="7C3AED"/>
                </a:solidFill>
                <a:latin typeface="Calibri" pitchFamily="34" charset="0"/>
                <a:ea typeface="Calibri" pitchFamily="34" charset="-122"/>
                <a:cs typeface="Calibri" pitchFamily="34" charset="-120"/>
              </a:rPr>
              <a:t>✦</a:t>
            </a:r>
            <a:endParaRPr lang="en-US" sz="1800" dirty="0"/>
          </a:p>
        </p:txBody>
      </p:sp>
      <p:sp>
        <p:nvSpPr>
          <p:cNvPr id="35" name="Text 33"/>
          <p:cNvSpPr/>
          <p:nvPr/>
        </p:nvSpPr>
        <p:spPr>
          <a:xfrm>
            <a:off x="5385816"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AI analysis</a:t>
            </a:r>
            <a:endParaRPr lang="en-US" sz="1200" dirty="0"/>
          </a:p>
        </p:txBody>
      </p:sp>
      <p:sp>
        <p:nvSpPr>
          <p:cNvPr id="36" name="Text 34"/>
          <p:cNvSpPr/>
          <p:nvPr/>
        </p:nvSpPr>
        <p:spPr>
          <a:xfrm>
            <a:off x="5404104"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Haiku classifies · Sonnet analyses</a:t>
            </a:r>
            <a:endParaRPr lang="en-US" sz="860" dirty="0"/>
          </a:p>
        </p:txBody>
      </p:sp>
      <p:sp>
        <p:nvSpPr>
          <p:cNvPr id="37" name="Shape 35"/>
          <p:cNvSpPr/>
          <p:nvPr/>
        </p:nvSpPr>
        <p:spPr>
          <a:xfrm>
            <a:off x="6761988" y="2583180"/>
            <a:ext cx="100584" cy="0"/>
          </a:xfrm>
          <a:prstGeom prst="line">
            <a:avLst/>
          </a:prstGeom>
          <a:noFill/>
          <a:ln w="22225">
            <a:solidFill>
              <a:srgbClr val="D4DEEC"/>
            </a:solidFill>
            <a:prstDash val="solid"/>
            <a:headEnd type="none"/>
            <a:tailEnd type="triangle"/>
          </a:ln>
        </p:spPr>
      </p:sp>
      <p:sp>
        <p:nvSpPr>
          <p:cNvPr id="38" name="Shape 36"/>
          <p:cNvSpPr/>
          <p:nvPr/>
        </p:nvSpPr>
        <p:spPr>
          <a:xfrm>
            <a:off x="6876288"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3.499409648131324e+107" dist="9.998313280375211e+106" dir="1.535235553616204e+126">
              <a:srgbClr val="9DB0CC">
                <a:alpha val="2.2000000000000006e+129"/>
              </a:srgbClr>
            </a:outerShdw>
          </a:effectLst>
        </p:spPr>
      </p:sp>
      <p:sp>
        <p:nvSpPr>
          <p:cNvPr id="39" name="Shape 37"/>
          <p:cNvSpPr/>
          <p:nvPr/>
        </p:nvSpPr>
        <p:spPr>
          <a:xfrm>
            <a:off x="6876288" y="1783080"/>
            <a:ext cx="1463040" cy="82296"/>
          </a:xfrm>
          <a:prstGeom prst="rect">
            <a:avLst/>
          </a:prstGeom>
          <a:solidFill>
            <a:srgbClr val="0E93B0"/>
          </a:solidFill>
          <a:ln/>
        </p:spPr>
      </p:sp>
      <p:sp>
        <p:nvSpPr>
          <p:cNvPr id="40" name="Shape 38"/>
          <p:cNvSpPr/>
          <p:nvPr/>
        </p:nvSpPr>
        <p:spPr>
          <a:xfrm>
            <a:off x="7351776" y="1984248"/>
            <a:ext cx="512064" cy="512064"/>
          </a:xfrm>
          <a:prstGeom prst="ellipse">
            <a:avLst/>
          </a:prstGeom>
          <a:solidFill>
            <a:srgbClr val="E8F6FA"/>
          </a:solidFill>
          <a:ln/>
        </p:spPr>
      </p:sp>
      <p:sp>
        <p:nvSpPr>
          <p:cNvPr id="41" name="Text 39"/>
          <p:cNvSpPr/>
          <p:nvPr/>
        </p:nvSpPr>
        <p:spPr>
          <a:xfrm>
            <a:off x="7351776" y="197510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6967728"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Costing engine</a:t>
            </a:r>
            <a:endParaRPr lang="en-US" sz="1200" dirty="0"/>
          </a:p>
        </p:txBody>
      </p:sp>
      <p:sp>
        <p:nvSpPr>
          <p:cNvPr id="43" name="Text 41"/>
          <p:cNvSpPr/>
          <p:nvPr/>
        </p:nvSpPr>
        <p:spPr>
          <a:xfrm>
            <a:off x="6986016"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stack + machining</a:t>
            </a:r>
            <a:endParaRPr lang="en-US" sz="860" dirty="0"/>
          </a:p>
        </p:txBody>
      </p:sp>
      <p:sp>
        <p:nvSpPr>
          <p:cNvPr id="44" name="Shape 42"/>
          <p:cNvSpPr/>
          <p:nvPr/>
        </p:nvSpPr>
        <p:spPr>
          <a:xfrm>
            <a:off x="8343900" y="2583180"/>
            <a:ext cx="100584" cy="0"/>
          </a:xfrm>
          <a:prstGeom prst="line">
            <a:avLst/>
          </a:prstGeom>
          <a:noFill/>
          <a:ln w="22225">
            <a:solidFill>
              <a:srgbClr val="D4DEEC"/>
            </a:solidFill>
            <a:prstDash val="solid"/>
            <a:headEnd type="none"/>
            <a:tailEnd type="triangle"/>
          </a:ln>
        </p:spPr>
      </p:sp>
      <p:sp>
        <p:nvSpPr>
          <p:cNvPr id="45" name="Shape 43"/>
          <p:cNvSpPr/>
          <p:nvPr/>
        </p:nvSpPr>
        <p:spPr>
          <a:xfrm>
            <a:off x="845820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4.4442502531267815e+111" dist="1.2697857866076517e+111" dir="9.211413321697224e+130">
              <a:srgbClr val="9DB0CC">
                <a:alpha val="2.2000000000000004e+134"/>
              </a:srgbClr>
            </a:outerShdw>
          </a:effectLst>
        </p:spPr>
      </p:sp>
      <p:sp>
        <p:nvSpPr>
          <p:cNvPr id="46" name="Shape 44"/>
          <p:cNvSpPr/>
          <p:nvPr/>
        </p:nvSpPr>
        <p:spPr>
          <a:xfrm>
            <a:off x="8458200" y="1783080"/>
            <a:ext cx="1463040" cy="82296"/>
          </a:xfrm>
          <a:prstGeom prst="rect">
            <a:avLst/>
          </a:prstGeom>
          <a:solidFill>
            <a:srgbClr val="E0900C"/>
          </a:solidFill>
          <a:ln/>
        </p:spPr>
      </p:sp>
      <p:sp>
        <p:nvSpPr>
          <p:cNvPr id="47" name="Shape 45"/>
          <p:cNvSpPr/>
          <p:nvPr/>
        </p:nvSpPr>
        <p:spPr>
          <a:xfrm>
            <a:off x="8933688" y="1984248"/>
            <a:ext cx="512064" cy="512064"/>
          </a:xfrm>
          <a:prstGeom prst="ellipse">
            <a:avLst/>
          </a:prstGeom>
          <a:solidFill>
            <a:srgbClr val="FEF6E7"/>
          </a:solidFill>
          <a:ln/>
        </p:spPr>
      </p:sp>
      <p:sp>
        <p:nvSpPr>
          <p:cNvPr id="48" name="Text 46"/>
          <p:cNvSpPr/>
          <p:nvPr/>
        </p:nvSpPr>
        <p:spPr>
          <a:xfrm>
            <a:off x="8933688" y="197510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49" name="Text 47"/>
          <p:cNvSpPr/>
          <p:nvPr/>
        </p:nvSpPr>
        <p:spPr>
          <a:xfrm>
            <a:off x="854964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Sanity check</a:t>
            </a:r>
            <a:endParaRPr lang="en-US" sz="1200" dirty="0"/>
          </a:p>
        </p:txBody>
      </p:sp>
      <p:sp>
        <p:nvSpPr>
          <p:cNvPr id="50" name="Text 48"/>
          <p:cNvSpPr/>
          <p:nvPr/>
        </p:nvSpPr>
        <p:spPr>
          <a:xfrm>
            <a:off x="856792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AI claims vs measured truth</a:t>
            </a:r>
            <a:endParaRPr lang="en-US" sz="860" dirty="0"/>
          </a:p>
        </p:txBody>
      </p:sp>
      <p:sp>
        <p:nvSpPr>
          <p:cNvPr id="51" name="Shape 49"/>
          <p:cNvSpPr/>
          <p:nvPr/>
        </p:nvSpPr>
        <p:spPr>
          <a:xfrm>
            <a:off x="9925812" y="2583180"/>
            <a:ext cx="100584" cy="0"/>
          </a:xfrm>
          <a:prstGeom prst="line">
            <a:avLst/>
          </a:prstGeom>
          <a:noFill/>
          <a:ln w="22225">
            <a:solidFill>
              <a:srgbClr val="D4DEEC"/>
            </a:solidFill>
            <a:prstDash val="solid"/>
            <a:headEnd type="none"/>
            <a:tailEnd type="triangle"/>
          </a:ln>
        </p:spPr>
      </p:sp>
      <p:sp>
        <p:nvSpPr>
          <p:cNvPr id="52" name="Shape 50"/>
          <p:cNvSpPr/>
          <p:nvPr/>
        </p:nvSpPr>
        <p:spPr>
          <a:xfrm>
            <a:off x="1004011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5.644197821471012e+115" dist="1.6126279489917177e+115" dir="5.526847993018334e+135">
              <a:srgbClr val="9DB0CC">
                <a:alpha val="2.2000000000000005e+139"/>
              </a:srgbClr>
            </a:outerShdw>
          </a:effectLst>
        </p:spPr>
      </p:sp>
      <p:sp>
        <p:nvSpPr>
          <p:cNvPr id="53" name="Shape 51"/>
          <p:cNvSpPr/>
          <p:nvPr/>
        </p:nvSpPr>
        <p:spPr>
          <a:xfrm>
            <a:off x="10040112" y="1783080"/>
            <a:ext cx="1463040" cy="82296"/>
          </a:xfrm>
          <a:prstGeom prst="rect">
            <a:avLst/>
          </a:prstGeom>
          <a:solidFill>
            <a:srgbClr val="0EA472"/>
          </a:solidFill>
          <a:ln/>
        </p:spPr>
      </p:sp>
      <p:sp>
        <p:nvSpPr>
          <p:cNvPr id="54" name="Shape 52"/>
          <p:cNvSpPr/>
          <p:nvPr/>
        </p:nvSpPr>
        <p:spPr>
          <a:xfrm>
            <a:off x="10515600" y="1984248"/>
            <a:ext cx="512064" cy="512064"/>
          </a:xfrm>
          <a:prstGeom prst="ellipse">
            <a:avLst/>
          </a:prstGeom>
          <a:solidFill>
            <a:srgbClr val="E7F7F0"/>
          </a:solidFill>
          <a:ln/>
        </p:spPr>
      </p:sp>
      <p:sp>
        <p:nvSpPr>
          <p:cNvPr id="55" name="Text 53"/>
          <p:cNvSpPr/>
          <p:nvPr/>
        </p:nvSpPr>
        <p:spPr>
          <a:xfrm>
            <a:off x="10515600" y="197510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56" name="Text 54"/>
          <p:cNvSpPr/>
          <p:nvPr/>
        </p:nvSpPr>
        <p:spPr>
          <a:xfrm>
            <a:off x="1013155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57" name="Text 55"/>
          <p:cNvSpPr/>
          <p:nvPr/>
        </p:nvSpPr>
        <p:spPr>
          <a:xfrm>
            <a:off x="1014984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breakdown · band · provenance</a:t>
            </a:r>
            <a:endParaRPr lang="en-US" sz="860" dirty="0"/>
          </a:p>
        </p:txBody>
      </p:sp>
      <p:sp>
        <p:nvSpPr>
          <p:cNvPr id="58" name="Shape 56"/>
          <p:cNvSpPr/>
          <p:nvPr/>
        </p:nvSpPr>
        <p:spPr>
          <a:xfrm>
            <a:off x="548640" y="3657600"/>
            <a:ext cx="5074920" cy="457200"/>
          </a:xfrm>
          <a:prstGeom prst="roundRect">
            <a:avLst>
              <a:gd name="adj" fmla="val 20000"/>
            </a:avLst>
          </a:prstGeom>
          <a:solidFill>
            <a:srgbClr val="F3EEFE"/>
          </a:solidFill>
          <a:ln/>
        </p:spPr>
      </p:sp>
      <p:sp>
        <p:nvSpPr>
          <p:cNvPr id="59" name="Text 57"/>
          <p:cNvSpPr/>
          <p:nvPr/>
        </p:nvSpPr>
        <p:spPr>
          <a:xfrm>
            <a:off x="548640" y="3657600"/>
            <a:ext cx="5074920" cy="457200"/>
          </a:xfrm>
          <a:prstGeom prst="rect">
            <a:avLst/>
          </a:prstGeom>
          <a:noFill/>
          <a:ln/>
        </p:spPr>
        <p:txBody>
          <a:bodyPr wrap="square" lIns="0" tIns="0" rIns="0" bIns="0" rtlCol="0" anchor="ctr"/>
          <a:lstStyle/>
          <a:p>
            <a:pPr algn="ctr" indent="0" marL="0">
              <a:buNone/>
            </a:pPr>
            <a:r>
              <a:rPr lang="en-US" sz="1100" b="1" dirty="0">
                <a:solidFill>
                  <a:srgbClr val="7C3AED"/>
                </a:solidFill>
                <a:latin typeface="Calibri" pitchFamily="34" charset="0"/>
                <a:ea typeface="Calibri" pitchFamily="34" charset="-122"/>
                <a:cs typeface="Calibri" pitchFamily="34" charset="-120"/>
              </a:rPr>
              <a:t>✦  AI understands the model</a:t>
            </a:r>
            <a:endParaRPr lang="en-US" sz="1100" dirty="0"/>
          </a:p>
        </p:txBody>
      </p:sp>
      <p:sp>
        <p:nvSpPr>
          <p:cNvPr id="60" name="Shape 58"/>
          <p:cNvSpPr/>
          <p:nvPr/>
        </p:nvSpPr>
        <p:spPr>
          <a:xfrm>
            <a:off x="5943600" y="3657600"/>
            <a:ext cx="5696712" cy="457200"/>
          </a:xfrm>
          <a:prstGeom prst="roundRect">
            <a:avLst>
              <a:gd name="adj" fmla="val 20000"/>
            </a:avLst>
          </a:prstGeom>
          <a:solidFill>
            <a:srgbClr val="E7F7F0"/>
          </a:solidFill>
          <a:ln/>
        </p:spPr>
      </p:sp>
      <p:sp>
        <p:nvSpPr>
          <p:cNvPr id="61" name="Text 59"/>
          <p:cNvSpPr/>
          <p:nvPr/>
        </p:nvSpPr>
        <p:spPr>
          <a:xfrm>
            <a:off x="5943600" y="3657600"/>
            <a:ext cx="5696712" cy="457200"/>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  Deterministic maths sets the price</a:t>
            </a:r>
            <a:endParaRPr lang="en-US" sz="1100" dirty="0"/>
          </a:p>
        </p:txBody>
      </p:sp>
      <p:sp>
        <p:nvSpPr>
          <p:cNvPr id="62" name="Shape 60"/>
          <p:cNvSpPr/>
          <p:nvPr/>
        </p:nvSpPr>
        <p:spPr>
          <a:xfrm>
            <a:off x="548640" y="4297680"/>
            <a:ext cx="11091672" cy="1051560"/>
          </a:xfrm>
          <a:prstGeom prst="roundRect">
            <a:avLst>
              <a:gd name="adj" fmla="val 6087"/>
            </a:avLst>
          </a:prstGeom>
          <a:solidFill>
            <a:srgbClr val="F4F7FB"/>
          </a:solidFill>
          <a:ln w="12700">
            <a:solidFill>
              <a:srgbClr val="E4EAF2"/>
            </a:solidFill>
            <a:prstDash val="solid"/>
          </a:ln>
        </p:spPr>
      </p:sp>
      <p:sp>
        <p:nvSpPr>
          <p:cNvPr id="63" name="Shape 61"/>
          <p:cNvSpPr/>
          <p:nvPr/>
        </p:nvSpPr>
        <p:spPr>
          <a:xfrm>
            <a:off x="548640" y="4297680"/>
            <a:ext cx="82296" cy="1051560"/>
          </a:xfrm>
          <a:prstGeom prst="rect">
            <a:avLst/>
          </a:prstGeom>
          <a:solidFill>
            <a:srgbClr val="0DA5A0"/>
          </a:solidFill>
          <a:ln/>
        </p:spPr>
      </p:sp>
      <p:sp>
        <p:nvSpPr>
          <p:cNvPr id="64" name="Text 62"/>
          <p:cNvSpPr/>
          <p:nvPr/>
        </p:nvSpPr>
        <p:spPr>
          <a:xfrm>
            <a:off x="914400" y="4434840"/>
            <a:ext cx="10378440" cy="86868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safety net is the sanity check.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Because the geometry engine gives us measured volume, weight and area, every AI-suggested number is cross-checked against physical reality before it reaches the cost. A hallucinated dimension or an impossible weight is flagged — not silently priced. That single step is why the output is defensible.</a:t>
            </a:r>
            <a:endParaRPr lang="en-US" sz="1200" dirty="0"/>
          </a:p>
        </p:txBody>
      </p:sp>
      <p:sp>
        <p:nvSpPr>
          <p:cNvPr id="65" name="Shape 63"/>
          <p:cNvSpPr/>
          <p:nvPr/>
        </p:nvSpPr>
        <p:spPr>
          <a:xfrm>
            <a:off x="548640" y="6400800"/>
            <a:ext cx="11094415" cy="12802"/>
          </a:xfrm>
          <a:prstGeom prst="rect">
            <a:avLst/>
          </a:prstGeom>
          <a:solidFill>
            <a:srgbClr val="E4EAF2"/>
          </a:solidFill>
          <a:ln/>
        </p:spPr>
      </p:sp>
      <p:sp>
        <p:nvSpPr>
          <p:cNvPr id="66" name="Text 6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7" name="Text 6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AI capabilities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Shape 8"/>
          <p:cNvSpPr/>
          <p:nvPr/>
        </p:nvSpPr>
        <p:spPr>
          <a:xfrm>
            <a:off x="548640"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7.168131233268186e+119" dist="2.0480374952194813e+119" dir="3.3161087958110005e+140">
              <a:srgbClr val="9DB0CC">
                <a:alpha val="2.2000000000000006e+144"/>
              </a:srgbClr>
            </a:outerShdw>
          </a:effectLst>
        </p:spPr>
      </p:sp>
      <p:sp>
        <p:nvSpPr>
          <p:cNvPr id="11" name="Shape 9"/>
          <p:cNvSpPr/>
          <p:nvPr/>
        </p:nvSpPr>
        <p:spPr>
          <a:xfrm>
            <a:off x="548640" y="1645920"/>
            <a:ext cx="82296" cy="1737360"/>
          </a:xfrm>
          <a:prstGeom prst="rect">
            <a:avLst/>
          </a:prstGeom>
          <a:solidFill>
            <a:srgbClr val="0DA5A0"/>
          </a:solidFill>
          <a:ln/>
        </p:spPr>
      </p:sp>
      <p:sp>
        <p:nvSpPr>
          <p:cNvPr id="12" name="Shape 10"/>
          <p:cNvSpPr/>
          <p:nvPr/>
        </p:nvSpPr>
        <p:spPr>
          <a:xfrm>
            <a:off x="786384" y="1865376"/>
            <a:ext cx="457200" cy="457200"/>
          </a:xfrm>
          <a:prstGeom prst="ellipse">
            <a:avLst/>
          </a:prstGeom>
          <a:solidFill>
            <a:srgbClr val="E7F7F0"/>
          </a:solidFill>
          <a:ln/>
        </p:spPr>
      </p:sp>
      <p:sp>
        <p:nvSpPr>
          <p:cNvPr id="13" name="Text 11"/>
          <p:cNvSpPr/>
          <p:nvPr/>
        </p:nvSpPr>
        <p:spPr>
          <a:xfrm>
            <a:off x="786384" y="185623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Interactive 3D CAD viewer</a:t>
            </a:r>
            <a:endParaRPr lang="en-US" sz="1250" dirty="0"/>
          </a:p>
        </p:txBody>
      </p:sp>
      <p:sp>
        <p:nvSpPr>
          <p:cNvPr id="15" name="Text 13"/>
          <p:cNvSpPr/>
          <p:nvPr/>
        </p:nvSpPr>
        <p:spPr>
          <a:xfrm>
            <a:off x="804672"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Rotate, section and measure the part in the browser — with on-model highlights that link geometry to cost.</a:t>
            </a:r>
            <a:endParaRPr lang="en-US" sz="1000" dirty="0"/>
          </a:p>
        </p:txBody>
      </p:sp>
      <p:sp>
        <p:nvSpPr>
          <p:cNvPr id="16" name="Shape 14"/>
          <p:cNvSpPr/>
          <p:nvPr/>
        </p:nvSpPr>
        <p:spPr>
          <a:xfrm>
            <a:off x="4325112"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9.103526666250596e+123" dist="2.6010076189287412e+123" dir="1.9896652774866004e+145">
              <a:srgbClr val="9DB0CC">
                <a:alpha val="2.2000000000000004e+149"/>
              </a:srgbClr>
            </a:outerShdw>
          </a:effectLst>
        </p:spPr>
      </p:sp>
      <p:sp>
        <p:nvSpPr>
          <p:cNvPr id="17" name="Shape 15"/>
          <p:cNvSpPr/>
          <p:nvPr/>
        </p:nvSpPr>
        <p:spPr>
          <a:xfrm>
            <a:off x="4325112" y="1645920"/>
            <a:ext cx="82296" cy="1737360"/>
          </a:xfrm>
          <a:prstGeom prst="rect">
            <a:avLst/>
          </a:prstGeom>
          <a:solidFill>
            <a:srgbClr val="2563EB"/>
          </a:solidFill>
          <a:ln/>
        </p:spPr>
      </p:sp>
      <p:sp>
        <p:nvSpPr>
          <p:cNvPr id="18" name="Shape 16"/>
          <p:cNvSpPr/>
          <p:nvPr/>
        </p:nvSpPr>
        <p:spPr>
          <a:xfrm>
            <a:off x="4562856" y="1865376"/>
            <a:ext cx="457200" cy="457200"/>
          </a:xfrm>
          <a:prstGeom prst="ellipse">
            <a:avLst/>
          </a:prstGeom>
          <a:solidFill>
            <a:srgbClr val="EAF1FE"/>
          </a:solidFill>
          <a:ln/>
        </p:spPr>
      </p:sp>
      <p:sp>
        <p:nvSpPr>
          <p:cNvPr id="19" name="Text 17"/>
          <p:cNvSpPr/>
          <p:nvPr/>
        </p:nvSpPr>
        <p:spPr>
          <a:xfrm>
            <a:off x="4562856" y="185623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5111496"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B-rep face intelligence</a:t>
            </a:r>
            <a:endParaRPr lang="en-US" sz="1250" dirty="0"/>
          </a:p>
        </p:txBody>
      </p:sp>
      <p:sp>
        <p:nvSpPr>
          <p:cNvPr id="21" name="Text 19"/>
          <p:cNvSpPr/>
          <p:nvPr/>
        </p:nvSpPr>
        <p:spPr>
          <a:xfrm>
            <a:off x="4581144"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Understands the boundary representation — faces, edges and their relationships — not just a triangle soup.</a:t>
            </a:r>
            <a:endParaRPr lang="en-US" sz="1000" dirty="0"/>
          </a:p>
        </p:txBody>
      </p:sp>
      <p:sp>
        <p:nvSpPr>
          <p:cNvPr id="22" name="Shape 20"/>
          <p:cNvSpPr/>
          <p:nvPr/>
        </p:nvSpPr>
        <p:spPr>
          <a:xfrm>
            <a:off x="8101584"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1561478866138256e+128" dist="3.303279676039501e+127" dir="1.1937991664919603e+150">
              <a:srgbClr val="9DB0CC">
                <a:alpha val="2.2000000000000004e+154"/>
              </a:srgbClr>
            </a:outerShdw>
          </a:effectLst>
        </p:spPr>
      </p:sp>
      <p:sp>
        <p:nvSpPr>
          <p:cNvPr id="23" name="Shape 21"/>
          <p:cNvSpPr/>
          <p:nvPr/>
        </p:nvSpPr>
        <p:spPr>
          <a:xfrm>
            <a:off x="8101584" y="1645920"/>
            <a:ext cx="82296" cy="1737360"/>
          </a:xfrm>
          <a:prstGeom prst="rect">
            <a:avLst/>
          </a:prstGeom>
          <a:solidFill>
            <a:srgbClr val="7C3AED"/>
          </a:solidFill>
          <a:ln/>
        </p:spPr>
      </p:sp>
      <p:sp>
        <p:nvSpPr>
          <p:cNvPr id="24" name="Shape 22"/>
          <p:cNvSpPr/>
          <p:nvPr/>
        </p:nvSpPr>
        <p:spPr>
          <a:xfrm>
            <a:off x="8339328" y="1865376"/>
            <a:ext cx="457200" cy="457200"/>
          </a:xfrm>
          <a:prstGeom prst="ellipse">
            <a:avLst/>
          </a:prstGeom>
          <a:solidFill>
            <a:srgbClr val="F3EEFE"/>
          </a:solidFill>
          <a:ln/>
        </p:spPr>
      </p:sp>
      <p:sp>
        <p:nvSpPr>
          <p:cNvPr id="25" name="Text 23"/>
          <p:cNvSpPr/>
          <p:nvPr/>
        </p:nvSpPr>
        <p:spPr>
          <a:xfrm>
            <a:off x="8339328" y="185623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8887968"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Geometry feature table</a:t>
            </a:r>
            <a:endParaRPr lang="en-US" sz="1250" dirty="0"/>
          </a:p>
        </p:txBody>
      </p:sp>
      <p:sp>
        <p:nvSpPr>
          <p:cNvPr id="27" name="Text 25"/>
          <p:cNvSpPr/>
          <p:nvPr/>
        </p:nvSpPr>
        <p:spPr>
          <a:xfrm>
            <a:off x="8357616"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detected feature (hole depths, pockets, slots) listed and auto-fed into the costing as real operations.</a:t>
            </a:r>
            <a:endParaRPr lang="en-US" sz="1000" dirty="0"/>
          </a:p>
        </p:txBody>
      </p:sp>
      <p:sp>
        <p:nvSpPr>
          <p:cNvPr id="28" name="Shape 26"/>
          <p:cNvSpPr/>
          <p:nvPr/>
        </p:nvSpPr>
        <p:spPr>
          <a:xfrm>
            <a:off x="548640"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4683078159995586e+132" dist="4.195165188570166e+131" dir="7.162794998951762e+154">
              <a:srgbClr val="9DB0CC">
                <a:alpha val="2.2000000000000003e+159"/>
              </a:srgbClr>
            </a:outerShdw>
          </a:effectLst>
        </p:spPr>
      </p:sp>
      <p:sp>
        <p:nvSpPr>
          <p:cNvPr id="29" name="Shape 27"/>
          <p:cNvSpPr/>
          <p:nvPr/>
        </p:nvSpPr>
        <p:spPr>
          <a:xfrm>
            <a:off x="548640" y="3602736"/>
            <a:ext cx="82296" cy="1737360"/>
          </a:xfrm>
          <a:prstGeom prst="rect">
            <a:avLst/>
          </a:prstGeom>
          <a:solidFill>
            <a:srgbClr val="0E93B0"/>
          </a:solidFill>
          <a:ln/>
        </p:spPr>
      </p:sp>
      <p:sp>
        <p:nvSpPr>
          <p:cNvPr id="30" name="Shape 28"/>
          <p:cNvSpPr/>
          <p:nvPr/>
        </p:nvSpPr>
        <p:spPr>
          <a:xfrm>
            <a:off x="786384" y="3822192"/>
            <a:ext cx="457200" cy="457200"/>
          </a:xfrm>
          <a:prstGeom prst="ellipse">
            <a:avLst/>
          </a:prstGeom>
          <a:solidFill>
            <a:srgbClr val="E8F6FA"/>
          </a:solidFill>
          <a:ln/>
        </p:spPr>
      </p:sp>
      <p:sp>
        <p:nvSpPr>
          <p:cNvPr id="31" name="Text 29"/>
          <p:cNvSpPr/>
          <p:nvPr/>
        </p:nvSpPr>
        <p:spPr>
          <a:xfrm>
            <a:off x="786384" y="3813048"/>
            <a:ext cx="457200" cy="457200"/>
          </a:xfrm>
          <a:prstGeom prst="rect">
            <a:avLst/>
          </a:prstGeom>
          <a:noFill/>
          <a:ln/>
        </p:spPr>
        <p:txBody>
          <a:bodyPr wrap="square" lIns="0" tIns="0" rIns="0" bIns="0" rtlCol="0" anchor="ctr"/>
          <a:lstStyle/>
          <a:p>
            <a:pPr algn="ctr" indent="0" marL="0">
              <a:buNone/>
            </a:pPr>
            <a:r>
              <a:rPr lang="en-US" sz="1700" b="1" dirty="0">
                <a:solidFill>
                  <a:srgbClr val="0E93B0"/>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1335024"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Feature-based machining</a:t>
            </a:r>
            <a:endParaRPr lang="en-US" sz="1250" dirty="0"/>
          </a:p>
        </p:txBody>
      </p:sp>
      <p:sp>
        <p:nvSpPr>
          <p:cNvPr id="33" name="Text 31"/>
          <p:cNvSpPr/>
          <p:nvPr/>
        </p:nvSpPr>
        <p:spPr>
          <a:xfrm>
            <a:off x="804672"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Secondary operations are costed per feature and per commodity — facing, drilling, pockets, bends.</a:t>
            </a:r>
            <a:endParaRPr lang="en-US" sz="1000" dirty="0"/>
          </a:p>
        </p:txBody>
      </p:sp>
      <p:sp>
        <p:nvSpPr>
          <p:cNvPr id="34" name="Shape 32"/>
          <p:cNvSpPr/>
          <p:nvPr/>
        </p:nvSpPr>
        <p:spPr>
          <a:xfrm>
            <a:off x="4325112"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8647509263194394e+136" dist="5.327859789484111e+135" dir="4.297676999371057e+159">
              <a:srgbClr val="9DB0CC">
                <a:alpha val="2.2000000000000003e+164"/>
              </a:srgbClr>
            </a:outerShdw>
          </a:effectLst>
        </p:spPr>
      </p:sp>
      <p:sp>
        <p:nvSpPr>
          <p:cNvPr id="35" name="Shape 33"/>
          <p:cNvSpPr/>
          <p:nvPr/>
        </p:nvSpPr>
        <p:spPr>
          <a:xfrm>
            <a:off x="4325112" y="3602736"/>
            <a:ext cx="82296" cy="1737360"/>
          </a:xfrm>
          <a:prstGeom prst="rect">
            <a:avLst/>
          </a:prstGeom>
          <a:solidFill>
            <a:srgbClr val="E0900C"/>
          </a:solidFill>
          <a:ln/>
        </p:spPr>
      </p:sp>
      <p:sp>
        <p:nvSpPr>
          <p:cNvPr id="36" name="Shape 34"/>
          <p:cNvSpPr/>
          <p:nvPr/>
        </p:nvSpPr>
        <p:spPr>
          <a:xfrm>
            <a:off x="4562856" y="3822192"/>
            <a:ext cx="457200" cy="457200"/>
          </a:xfrm>
          <a:prstGeom prst="ellipse">
            <a:avLst/>
          </a:prstGeom>
          <a:solidFill>
            <a:srgbClr val="FEF6E7"/>
          </a:solidFill>
          <a:ln/>
        </p:spPr>
      </p:sp>
      <p:sp>
        <p:nvSpPr>
          <p:cNvPr id="37" name="Text 35"/>
          <p:cNvSpPr/>
          <p:nvPr/>
        </p:nvSpPr>
        <p:spPr>
          <a:xfrm>
            <a:off x="4562856" y="3813048"/>
            <a:ext cx="457200" cy="457200"/>
          </a:xfrm>
          <a:prstGeom prst="rect">
            <a:avLst/>
          </a:prstGeom>
          <a:noFill/>
          <a:ln/>
        </p:spPr>
        <p:txBody>
          <a:bodyPr wrap="square" lIns="0" tIns="0" rIns="0" bIns="0" rtlCol="0" anchor="ctr"/>
          <a:lstStyle/>
          <a:p>
            <a:pPr algn="ctr" indent="0" marL="0">
              <a:buNone/>
            </a:pPr>
            <a:r>
              <a:rPr lang="en-US" sz="1700" b="1" dirty="0">
                <a:solidFill>
                  <a:srgbClr val="E0900C"/>
                </a:solidFill>
                <a:latin typeface="Calibri" pitchFamily="34" charset="0"/>
                <a:ea typeface="Calibri" pitchFamily="34" charset="-122"/>
                <a:cs typeface="Calibri" pitchFamily="34" charset="-120"/>
              </a:rPr>
              <a:t>✦</a:t>
            </a:r>
            <a:endParaRPr lang="en-US" sz="1700" dirty="0"/>
          </a:p>
        </p:txBody>
      </p:sp>
      <p:sp>
        <p:nvSpPr>
          <p:cNvPr id="38" name="Text 36"/>
          <p:cNvSpPr/>
          <p:nvPr/>
        </p:nvSpPr>
        <p:spPr>
          <a:xfrm>
            <a:off x="5111496"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AI material &amp; process advice</a:t>
            </a:r>
            <a:endParaRPr lang="en-US" sz="1250" dirty="0"/>
          </a:p>
        </p:txBody>
      </p:sp>
      <p:sp>
        <p:nvSpPr>
          <p:cNvPr id="39" name="Text 37"/>
          <p:cNvSpPr/>
          <p:nvPr/>
        </p:nvSpPr>
        <p:spPr>
          <a:xfrm>
            <a:off x="4581144"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Suggested material family and process route, each with an explicit confidence score you can accept or override.</a:t>
            </a:r>
            <a:endParaRPr lang="en-US" sz="1000" dirty="0"/>
          </a:p>
        </p:txBody>
      </p:sp>
      <p:sp>
        <p:nvSpPr>
          <p:cNvPr id="40" name="Shape 38"/>
          <p:cNvSpPr/>
          <p:nvPr/>
        </p:nvSpPr>
        <p:spPr>
          <a:xfrm>
            <a:off x="8101584"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2.368233676425688e+140" dist="6.766381932644821e+139" dir="2.5786061996226343e+164">
              <a:srgbClr val="9DB0CC">
                <a:alpha val="2.2000000000000004e+169"/>
              </a:srgbClr>
            </a:outerShdw>
          </a:effectLst>
        </p:spPr>
      </p:sp>
      <p:sp>
        <p:nvSpPr>
          <p:cNvPr id="41" name="Shape 39"/>
          <p:cNvSpPr/>
          <p:nvPr/>
        </p:nvSpPr>
        <p:spPr>
          <a:xfrm>
            <a:off x="8101584" y="3602736"/>
            <a:ext cx="82296" cy="1737360"/>
          </a:xfrm>
          <a:prstGeom prst="rect">
            <a:avLst/>
          </a:prstGeom>
          <a:solidFill>
            <a:srgbClr val="0EA472"/>
          </a:solidFill>
          <a:ln/>
        </p:spPr>
      </p:sp>
      <p:sp>
        <p:nvSpPr>
          <p:cNvPr id="42" name="Shape 40"/>
          <p:cNvSpPr/>
          <p:nvPr/>
        </p:nvSpPr>
        <p:spPr>
          <a:xfrm>
            <a:off x="8339328" y="3822192"/>
            <a:ext cx="457200" cy="457200"/>
          </a:xfrm>
          <a:prstGeom prst="ellipse">
            <a:avLst/>
          </a:prstGeom>
          <a:solidFill>
            <a:srgbClr val="E7F7F0"/>
          </a:solidFill>
          <a:ln/>
        </p:spPr>
      </p:sp>
      <p:sp>
        <p:nvSpPr>
          <p:cNvPr id="43" name="Text 41"/>
          <p:cNvSpPr/>
          <p:nvPr/>
        </p:nvSpPr>
        <p:spPr>
          <a:xfrm>
            <a:off x="8339328" y="3813048"/>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44" name="Text 42"/>
          <p:cNvSpPr/>
          <p:nvPr/>
        </p:nvSpPr>
        <p:spPr>
          <a:xfrm>
            <a:off x="8887968"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DFM &amp; manufacturability</a:t>
            </a:r>
            <a:endParaRPr lang="en-US" sz="1250" dirty="0"/>
          </a:p>
        </p:txBody>
      </p:sp>
      <p:sp>
        <p:nvSpPr>
          <p:cNvPr id="45" name="Text 43"/>
          <p:cNvSpPr/>
          <p:nvPr/>
        </p:nvSpPr>
        <p:spPr>
          <a:xfrm>
            <a:off x="8357616"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A manufacturability score plus design-for-manufacture flags that point at what is driving the cost.</a:t>
            </a:r>
            <a:endParaRPr lang="en-US" sz="1000" dirty="0"/>
          </a:p>
        </p:txBody>
      </p:sp>
      <p:sp>
        <p:nvSpPr>
          <p:cNvPr id="46" name="Shape 44"/>
          <p:cNvSpPr/>
          <p:nvPr/>
        </p:nvSpPr>
        <p:spPr>
          <a:xfrm>
            <a:off x="548640" y="5623560"/>
            <a:ext cx="11091672" cy="457200"/>
          </a:xfrm>
          <a:prstGeom prst="roundRect">
            <a:avLst>
              <a:gd name="adj" fmla="val 14000"/>
            </a:avLst>
          </a:prstGeom>
          <a:solidFill>
            <a:srgbClr val="F4F7FB"/>
          </a:solidFill>
          <a:ln w="12700">
            <a:solidFill>
              <a:srgbClr val="E4EAF2"/>
            </a:solidFill>
            <a:prstDash val="solid"/>
          </a:ln>
        </p:spPr>
      </p:sp>
      <p:sp>
        <p:nvSpPr>
          <p:cNvPr id="47" name="Text 45"/>
          <p:cNvSpPr/>
          <p:nvPr/>
        </p:nvSpPr>
        <p:spPr>
          <a:xfrm>
            <a:off x="868680" y="5623560"/>
            <a:ext cx="10424160" cy="457200"/>
          </a:xfrm>
          <a:prstGeom prst="rect">
            <a:avLst/>
          </a:prstGeom>
          <a:noFill/>
          <a:ln/>
        </p:spPr>
        <p:txBody>
          <a:bodyPr wrap="square" lIns="0" tIns="0" rIns="0" bIns="0" rtlCol="0" anchor="ctr"/>
          <a:lstStyle/>
          <a:p>
            <a:pPr indent="0" marL="0">
              <a:buNone/>
            </a:pPr>
            <a:r>
              <a:rPr lang="en-US" sz="1100" b="1" i="1" dirty="0">
                <a:solidFill>
                  <a:srgbClr val="0F1E3D"/>
                </a:solidFill>
                <a:latin typeface="Calibri" pitchFamily="34" charset="0"/>
                <a:ea typeface="Calibri" pitchFamily="34" charset="-122"/>
                <a:cs typeface="Calibri" pitchFamily="34" charset="-120"/>
              </a:rPr>
              <a:t>Model tiers:  </a:t>
            </a:r>
            <a:pPr indent="0" marL="0">
              <a:buNone/>
            </a:pPr>
            <a:r>
              <a:rPr lang="en-US" sz="1100" i="1" dirty="0">
                <a:solidFill>
                  <a:srgbClr val="3E4C63"/>
                </a:solidFill>
                <a:latin typeface="Calibri" pitchFamily="34" charset="0"/>
                <a:ea typeface="Calibri" pitchFamily="34" charset="-122"/>
                <a:cs typeface="Calibri" pitchFamily="34" charset="-120"/>
              </a:rPr>
              <a:t>Haiku classifies the commodity · Sonnet 5 runs the specialist analysis · Opus 4.8 on the "deep analysis" toggle for the hardest parts.</a:t>
            </a:r>
            <a:endParaRPr lang="en-US" sz="1100" dirty="0"/>
          </a:p>
        </p:txBody>
      </p:sp>
      <p:sp>
        <p:nvSpPr>
          <p:cNvPr id="48" name="Shape 46"/>
          <p:cNvSpPr/>
          <p:nvPr/>
        </p:nvSpPr>
        <p:spPr>
          <a:xfrm>
            <a:off x="548640" y="6400800"/>
            <a:ext cx="11094415" cy="12802"/>
          </a:xfrm>
          <a:prstGeom prst="rect">
            <a:avLst/>
          </a:prstGeom>
          <a:solidFill>
            <a:srgbClr val="E4EAF2"/>
          </a:solidFill>
          <a:ln/>
        </p:spPr>
      </p:sp>
      <p:sp>
        <p:nvSpPr>
          <p:cNvPr id="49" name="Text 4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0" name="Text 4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CAD TO COST · ACCURACY</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how we make it accurate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Accuracy is engineered in layers — measured truth, deterministic maths, and a check on every AI claim before it can touch the price.</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Measured ground truth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A true geometry engine (OCCT) measures volume, weight and area — the AI is checked against physics, not trusted blindly.</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Bounded sanity checks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Volume drift over 25% is flagged and over 50% rejected; weight is cross-checked against measured density — hallucinations never reach the cost.</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Deterministic 8-bucket engine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No AI in the money maths — it reproduces a hand-calculated £23.27 benchmark part to within 0.01%, and returns the same cost every run.</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Provenance on every number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Each figure traces to its source — geometry, rate table or AI suggestion — with a High/Medium/Low confidence, defensible line by line.</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Confidence, not false precision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Every estimate carries a low–mid–high band and a manufacturability score, never a fake single number.</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 on real parts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Demonstrated end-to-end on real automotive parts — from a Tata Altroz bumper to premium-SUV components — through the live system.</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sp>
      <p:sp>
        <p:nvSpPr>
          <p:cNvPr id="36" name="Shape 34"/>
          <p:cNvSpPr/>
          <p:nvPr/>
        </p:nvSpPr>
        <p:spPr>
          <a:xfrm>
            <a:off x="7909560" y="2148840"/>
            <a:ext cx="82296" cy="3749040"/>
          </a:xfrm>
          <a:prstGeom prst="rect">
            <a:avLst/>
          </a:prstGeom>
          <a:solidFill>
            <a:srgbClr val="0EA472"/>
          </a:solidFill>
          <a:ln/>
        </p:spPr>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Why it earns trust</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The AI can suggest — it can never quietly decide the number.</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Because the geometry is measured and the maths is deterministic, a wrong guess gets caught and flagged, not baked into a quote. That is the difference between a demo and a number you can put in front of a supplier.</a:t>
            </a:r>
            <a:endParaRPr lang="en-US" sz="1150" dirty="0"/>
          </a:p>
        </p:txBody>
      </p:sp>
      <p:sp>
        <p:nvSpPr>
          <p:cNvPr id="40" name="Shape 38"/>
          <p:cNvSpPr/>
          <p:nvPr/>
        </p:nvSpPr>
        <p:spPr>
          <a:xfrm>
            <a:off x="548640" y="6400800"/>
            <a:ext cx="11094415" cy="12802"/>
          </a:xfrm>
          <a:prstGeom prst="rect">
            <a:avLst/>
          </a:prstGeom>
          <a:solidFill>
            <a:srgbClr val="E4EAF2"/>
          </a:solidFill>
          <a:ln/>
        </p:spPr>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ONE MORE INPUT · ELECTRONICS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PCB photo → BOM → should-cost</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The same idea for electronics: photograph a circuit board and get a costed, flagged bill of materials in ~60 seconds.</a:t>
            </a:r>
            <a:endParaRPr lang="en-US" sz="1250" dirty="0"/>
          </a:p>
        </p:txBody>
      </p:sp>
      <p:sp>
        <p:nvSpPr>
          <p:cNvPr id="11" name="Shape 9"/>
          <p:cNvSpPr/>
          <p:nvPr/>
        </p:nvSpPr>
        <p:spPr>
          <a:xfrm>
            <a:off x="548640" y="2011680"/>
            <a:ext cx="5623560" cy="3200400"/>
          </a:xfrm>
          <a:prstGeom prst="roundRect">
            <a:avLst>
              <a:gd name="adj" fmla="val 2000"/>
            </a:avLst>
          </a:prstGeom>
          <a:solidFill>
            <a:srgbClr val="FFFFFF"/>
          </a:solidFill>
          <a:ln w="12700">
            <a:solidFill>
              <a:srgbClr val="E4EAF2"/>
            </a:solidFill>
            <a:prstDash val="solid"/>
          </a:ln>
          <a:effectLst>
            <a:outerShdw sx="100000" sy="100000" kx="0" ky="0" algn="bl" rotWithShape="0" blurRad="3.0076567690606238e+144" dist="8.593305054458923e+143" dir="1.5471637197735807e+169">
              <a:srgbClr val="9DB0CC">
                <a:alpha val="2.2e+174"/>
              </a:srgbClr>
            </a:outerShdw>
          </a:effectLst>
        </p:spPr>
      </p:sp>
      <p:graphicFrame>
        <p:nvGraphicFramePr>
          <p:cNvPr id="12" name="Chart 0" descr=""/>
          <p:cNvGraphicFramePr/>
          <p:nvPr/>
        </p:nvGraphicFramePr>
        <p:xfrm>
          <a:off x="731520" y="2194560"/>
          <a:ext cx="5257800" cy="2788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p:nvPr/>
        </p:nvSpPr>
        <p:spPr>
          <a:xfrm>
            <a:off x="731520" y="5230368"/>
            <a:ext cx="5577840" cy="320040"/>
          </a:xfrm>
          <a:prstGeom prst="rect">
            <a:avLst/>
          </a:prstGeom>
          <a:noFill/>
          <a:ln/>
        </p:spPr>
        <p:txBody>
          <a:bodyPr wrap="square" lIns="0" tIns="0" rIns="0" bIns="0" rtlCol="0" anchor="t"/>
          <a:lstStyle/>
          <a:p>
            <a:pPr indent="0" marL="0">
              <a:buNone/>
            </a:pPr>
            <a:r>
              <a:rPr lang="en-US" sz="900" i="1" dirty="0">
                <a:solidFill>
                  <a:srgbClr val="8A97A8"/>
                </a:solidFill>
                <a:latin typeface="Calibri" pitchFamily="34" charset="0"/>
                <a:ea typeface="Calibri" pitchFamily="34" charset="-122"/>
                <a:cs typeface="Calibri" pitchFamily="34" charset="-120"/>
              </a:rPr>
              <a:t>Real automotive ECU, China @ 10k/yr — AI within ~5% of a half-day manual estimate, in ~60 s.</a:t>
            </a:r>
            <a:endParaRPr lang="en-US" sz="900" dirty="0"/>
          </a:p>
        </p:txBody>
      </p:sp>
      <p:sp>
        <p:nvSpPr>
          <p:cNvPr id="14" name="Shape 11"/>
          <p:cNvSpPr/>
          <p:nvPr/>
        </p:nvSpPr>
        <p:spPr>
          <a:xfrm>
            <a:off x="6355080" y="2011680"/>
            <a:ext cx="5287975" cy="3200400"/>
          </a:xfrm>
          <a:prstGeom prst="roundRect">
            <a:avLst>
              <a:gd name="adj" fmla="val 2000"/>
            </a:avLst>
          </a:prstGeom>
          <a:solidFill>
            <a:srgbClr val="EAF1FE"/>
          </a:solidFill>
          <a:ln w="12700">
            <a:solidFill>
              <a:srgbClr val="E4EAF2"/>
            </a:solidFill>
            <a:prstDash val="solid"/>
          </a:ln>
        </p:spPr>
      </p:sp>
      <p:sp>
        <p:nvSpPr>
          <p:cNvPr id="15" name="Text 12"/>
          <p:cNvSpPr/>
          <p:nvPr/>
        </p:nvSpPr>
        <p:spPr>
          <a:xfrm>
            <a:off x="6629400" y="2176272"/>
            <a:ext cx="4830775"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What it delivers</a:t>
            </a:r>
            <a:endParaRPr lang="en-US" sz="1350" dirty="0"/>
          </a:p>
        </p:txBody>
      </p:sp>
      <p:sp>
        <p:nvSpPr>
          <p:cNvPr id="16" name="Shape 13"/>
          <p:cNvSpPr/>
          <p:nvPr/>
        </p:nvSpPr>
        <p:spPr>
          <a:xfrm>
            <a:off x="6611112" y="2578608"/>
            <a:ext cx="274320" cy="274320"/>
          </a:xfrm>
          <a:prstGeom prst="ellipse">
            <a:avLst/>
          </a:prstGeom>
          <a:solidFill>
            <a:srgbClr val="E8F6FA"/>
          </a:solidFill>
          <a:ln/>
        </p:spPr>
      </p:sp>
      <p:sp>
        <p:nvSpPr>
          <p:cNvPr id="17" name="Text 14"/>
          <p:cNvSpPr/>
          <p:nvPr/>
        </p:nvSpPr>
        <p:spPr>
          <a:xfrm>
            <a:off x="6611112" y="2569464"/>
            <a:ext cx="274320" cy="274320"/>
          </a:xfrm>
          <a:prstGeom prst="rect">
            <a:avLst/>
          </a:prstGeom>
          <a:noFill/>
          <a:ln/>
        </p:spPr>
        <p:txBody>
          <a:bodyPr wrap="square" lIns="0" tIns="0" rIns="0" bIns="0" rtlCol="0" anchor="ctr"/>
          <a:lstStyle/>
          <a:p>
            <a:pPr algn="ctr" indent="0" marL="0">
              <a:buNone/>
            </a:pPr>
            <a:r>
              <a:rPr lang="en-US" sz="1000" b="1" dirty="0">
                <a:solidFill>
                  <a:srgbClr val="0E93B0"/>
                </a:solidFill>
                <a:latin typeface="Calibri" pitchFamily="34" charset="0"/>
                <a:ea typeface="Calibri" pitchFamily="34" charset="-122"/>
                <a:cs typeface="Calibri" pitchFamily="34" charset="-120"/>
              </a:rPr>
              <a:t>✓</a:t>
            </a:r>
            <a:endParaRPr lang="en-US" sz="1000" dirty="0"/>
          </a:p>
        </p:txBody>
      </p:sp>
      <p:sp>
        <p:nvSpPr>
          <p:cNvPr id="18" name="Text 15"/>
          <p:cNvSpPr/>
          <p:nvPr/>
        </p:nvSpPr>
        <p:spPr>
          <a:xfrm>
            <a:off x="6976872" y="2560320"/>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Full BOM from a photo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every component identified, OCR of IC markings</a:t>
            </a:r>
            <a:endParaRPr lang="en-US" sz="1030" dirty="0"/>
          </a:p>
        </p:txBody>
      </p:sp>
      <p:sp>
        <p:nvSpPr>
          <p:cNvPr id="19" name="Shape 16"/>
          <p:cNvSpPr/>
          <p:nvPr/>
        </p:nvSpPr>
        <p:spPr>
          <a:xfrm>
            <a:off x="6611112" y="3090672"/>
            <a:ext cx="274320" cy="274320"/>
          </a:xfrm>
          <a:prstGeom prst="ellipse">
            <a:avLst/>
          </a:prstGeom>
          <a:solidFill>
            <a:srgbClr val="E7F7F0"/>
          </a:solidFill>
          <a:ln/>
        </p:spPr>
      </p:sp>
      <p:sp>
        <p:nvSpPr>
          <p:cNvPr id="20" name="Text 17"/>
          <p:cNvSpPr/>
          <p:nvPr/>
        </p:nvSpPr>
        <p:spPr>
          <a:xfrm>
            <a:off x="6611112" y="3081528"/>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21" name="Text 18"/>
          <p:cNvSpPr/>
          <p:nvPr/>
        </p:nvSpPr>
        <p:spPr>
          <a:xfrm>
            <a:off x="6976872" y="3072384"/>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Confirmed vs to-verify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headline splits the £ you can trust from the £ to firm up</a:t>
            </a:r>
            <a:endParaRPr lang="en-US" sz="1030" dirty="0"/>
          </a:p>
        </p:txBody>
      </p:sp>
      <p:sp>
        <p:nvSpPr>
          <p:cNvPr id="22" name="Shape 19"/>
          <p:cNvSpPr/>
          <p:nvPr/>
        </p:nvSpPr>
        <p:spPr>
          <a:xfrm>
            <a:off x="6611112" y="3602736"/>
            <a:ext cx="274320" cy="274320"/>
          </a:xfrm>
          <a:prstGeom prst="ellipse">
            <a:avLst/>
          </a:prstGeom>
          <a:solidFill>
            <a:srgbClr val="F3EEFE"/>
          </a:solidFill>
          <a:ln/>
        </p:spPr>
      </p:sp>
      <p:sp>
        <p:nvSpPr>
          <p:cNvPr id="23" name="Text 20"/>
          <p:cNvSpPr/>
          <p:nvPr/>
        </p:nvSpPr>
        <p:spPr>
          <a:xfrm>
            <a:off x="6611112" y="3593592"/>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24" name="Text 21"/>
          <p:cNvSpPr/>
          <p:nvPr/>
        </p:nvSpPr>
        <p:spPr>
          <a:xfrm>
            <a:off x="6976872" y="3584448"/>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Guardrails on misreads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a mis-read part is capped &amp; flagged, never left to dominate</a:t>
            </a:r>
            <a:endParaRPr lang="en-US" sz="1030" dirty="0"/>
          </a:p>
        </p:txBody>
      </p:sp>
      <p:sp>
        <p:nvSpPr>
          <p:cNvPr id="25" name="Shape 22"/>
          <p:cNvSpPr/>
          <p:nvPr/>
        </p:nvSpPr>
        <p:spPr>
          <a:xfrm>
            <a:off x="6611112" y="4114800"/>
            <a:ext cx="274320" cy="274320"/>
          </a:xfrm>
          <a:prstGeom prst="ellipse">
            <a:avLst/>
          </a:prstGeom>
          <a:solidFill>
            <a:srgbClr val="EAF1FE"/>
          </a:solidFill>
          <a:ln/>
        </p:spPr>
      </p:sp>
      <p:sp>
        <p:nvSpPr>
          <p:cNvPr id="26" name="Text 23"/>
          <p:cNvSpPr/>
          <p:nvPr/>
        </p:nvSpPr>
        <p:spPr>
          <a:xfrm>
            <a:off x="6611112" y="4105656"/>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27" name="Text 24"/>
          <p:cNvSpPr/>
          <p:nvPr/>
        </p:nvSpPr>
        <p:spPr>
          <a:xfrm>
            <a:off x="6976872" y="4096512"/>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Regional should-cost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fab + assembly + BOM priced across regions</a:t>
            </a:r>
            <a:endParaRPr lang="en-US" sz="1030" dirty="0"/>
          </a:p>
        </p:txBody>
      </p:sp>
      <p:sp>
        <p:nvSpPr>
          <p:cNvPr id="28" name="Shape 25"/>
          <p:cNvSpPr/>
          <p:nvPr/>
        </p:nvSpPr>
        <p:spPr>
          <a:xfrm>
            <a:off x="6611112" y="4626864"/>
            <a:ext cx="274320" cy="274320"/>
          </a:xfrm>
          <a:prstGeom prst="ellipse">
            <a:avLst/>
          </a:prstGeom>
          <a:solidFill>
            <a:srgbClr val="FEF6E7"/>
          </a:solidFill>
          <a:ln/>
        </p:spPr>
      </p:sp>
      <p:sp>
        <p:nvSpPr>
          <p:cNvPr id="29" name="Text 26"/>
          <p:cNvSpPr/>
          <p:nvPr/>
        </p:nvSpPr>
        <p:spPr>
          <a:xfrm>
            <a:off x="6611112" y="4617720"/>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0" name="Text 27"/>
          <p:cNvSpPr/>
          <p:nvPr/>
        </p:nvSpPr>
        <p:spPr>
          <a:xfrm>
            <a:off x="6976872" y="4608576"/>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ASIL &amp; compliance aware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ISO 26262 safety class inferred automatically</a:t>
            </a:r>
            <a:endParaRPr lang="en-US" sz="1030" dirty="0"/>
          </a:p>
        </p:txBody>
      </p:sp>
      <p:sp>
        <p:nvSpPr>
          <p:cNvPr id="31" name="Shape 28"/>
          <p:cNvSpPr/>
          <p:nvPr/>
        </p:nvSpPr>
        <p:spPr>
          <a:xfrm>
            <a:off x="548640" y="5394960"/>
            <a:ext cx="11091672" cy="640080"/>
          </a:xfrm>
          <a:prstGeom prst="roundRect">
            <a:avLst>
              <a:gd name="adj" fmla="val 10000"/>
            </a:avLst>
          </a:prstGeom>
          <a:solidFill>
            <a:srgbClr val="E7F7F0"/>
          </a:solidFill>
          <a:ln w="12700">
            <a:solidFill>
              <a:srgbClr val="E4EAF2"/>
            </a:solidFill>
            <a:prstDash val="solid"/>
          </a:ln>
        </p:spPr>
      </p:sp>
      <p:sp>
        <p:nvSpPr>
          <p:cNvPr id="32" name="Text 29"/>
          <p:cNvSpPr/>
          <p:nvPr/>
        </p:nvSpPr>
        <p:spPr>
          <a:xfrm>
            <a:off x="914400" y="5394960"/>
            <a:ext cx="10332720" cy="640080"/>
          </a:xfrm>
          <a:prstGeom prst="rect">
            <a:avLst/>
          </a:prstGeom>
          <a:noFill/>
          <a:ln/>
        </p:spPr>
        <p:txBody>
          <a:bodyPr wrap="square" lIns="0" tIns="0" rIns="0" bIns="0" rtlCol="0" anchor="ctr"/>
          <a:lstStyle/>
          <a:p>
            <a:pPr indent="0" marL="0">
              <a:lnSpc>
                <a:spcPct val="108000"/>
              </a:lnSpc>
              <a:buNone/>
            </a:pPr>
            <a:r>
              <a:rPr lang="en-US" sz="1150" b="1" dirty="0">
                <a:solidFill>
                  <a:srgbClr val="0EA472"/>
                </a:solidFill>
                <a:latin typeface="Calibri" pitchFamily="34" charset="0"/>
                <a:ea typeface="Calibri" pitchFamily="34" charset="-122"/>
                <a:cs typeface="Calibri" pitchFamily="34" charset="-120"/>
              </a:rPr>
              <a:t>Verified live: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that ECU came back ASIL-B, 23 BOM lines, £69.11/board — within ~5% of a manual estimate, in ~60 seconds. A full deep-dive deck exists for this feature.</a:t>
            </a:r>
            <a:endParaRPr lang="en-US" sz="1150" dirty="0"/>
          </a:p>
        </p:txBody>
      </p:sp>
      <p:sp>
        <p:nvSpPr>
          <p:cNvPr id="33" name="Shape 30"/>
          <p:cNvSpPr/>
          <p:nvPr/>
        </p:nvSpPr>
        <p:spPr>
          <a:xfrm>
            <a:off x="548640" y="6400800"/>
            <a:ext cx="11094415" cy="12802"/>
          </a:xfrm>
          <a:prstGeom prst="rect">
            <a:avLst/>
          </a:prstGeom>
          <a:solidFill>
            <a:srgbClr val="E4EAF2"/>
          </a:solidFill>
          <a:ln/>
        </p:spPr>
      </p:sp>
      <p:sp>
        <p:nvSpPr>
          <p:cNvPr id="34" name="Text 3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5" name="Text 3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BREADTH · ENGINES &amp; REGIONS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Estimate anything, anywhere</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Shape 8"/>
          <p:cNvSpPr/>
          <p:nvPr/>
        </p:nvSpPr>
        <p:spPr>
          <a:xfrm>
            <a:off x="548640" y="1645920"/>
            <a:ext cx="5486400" cy="4160520"/>
          </a:xfrm>
          <a:prstGeom prst="roundRect">
            <a:avLst>
              <a:gd name="adj" fmla="val 1538"/>
            </a:avLst>
          </a:prstGeom>
          <a:solidFill>
            <a:srgbClr val="FFFFFF"/>
          </a:solidFill>
          <a:ln w="12700">
            <a:solidFill>
              <a:srgbClr val="E4EAF2"/>
            </a:solidFill>
            <a:prstDash val="solid"/>
          </a:ln>
          <a:effectLst>
            <a:outerShdw sx="100000" sy="100000" kx="0" ky="0" algn="bl" rotWithShape="0" blurRad="3.819724096706992e+148" dist="1.0913497419162833e+148" dir="9.282982318641485e+173">
              <a:srgbClr val="9DB0CC">
                <a:alpha val="2.2000000000000003e+179"/>
              </a:srgbClr>
            </a:outerShdw>
          </a:effectLst>
        </p:spPr>
      </p:sp>
      <p:sp>
        <p:nvSpPr>
          <p:cNvPr id="11" name="Shape 9"/>
          <p:cNvSpPr/>
          <p:nvPr/>
        </p:nvSpPr>
        <p:spPr>
          <a:xfrm>
            <a:off x="548640" y="1645920"/>
            <a:ext cx="82296" cy="4160520"/>
          </a:xfrm>
          <a:prstGeom prst="rect">
            <a:avLst/>
          </a:prstGeom>
          <a:solidFill>
            <a:srgbClr val="E0900C"/>
          </a:solidFill>
          <a:ln/>
        </p:spPr>
      </p:sp>
      <p:sp>
        <p:nvSpPr>
          <p:cNvPr id="12" name="Text 10"/>
          <p:cNvSpPr/>
          <p:nvPr/>
        </p:nvSpPr>
        <p:spPr>
          <a:xfrm>
            <a:off x="841248" y="1828800"/>
            <a:ext cx="5029200" cy="320040"/>
          </a:xfrm>
          <a:prstGeom prst="rect">
            <a:avLst/>
          </a:prstGeom>
          <a:noFill/>
          <a:ln/>
        </p:spPr>
        <p:txBody>
          <a:bodyPr wrap="square" lIns="0" tIns="0" rIns="0" bIns="0" rtlCol="0" anchor="t"/>
          <a:lstStyle/>
          <a:p>
            <a:pPr indent="0" marL="0">
              <a:buNone/>
            </a:pPr>
            <a:r>
              <a:rPr lang="en-US" sz="1450" b="1" dirty="0">
                <a:solidFill>
                  <a:srgbClr val="0F1E3D"/>
                </a:solidFill>
                <a:latin typeface="Calibri" pitchFamily="34" charset="0"/>
                <a:ea typeface="Calibri" pitchFamily="34" charset="-122"/>
                <a:cs typeface="Calibri" pitchFamily="34" charset="-120"/>
              </a:rPr>
              <a:t>19 commodity cost engines</a:t>
            </a:r>
            <a:endParaRPr lang="en-US" sz="1450" dirty="0"/>
          </a:p>
        </p:txBody>
      </p:sp>
      <p:sp>
        <p:nvSpPr>
          <p:cNvPr id="13" name="Text 11"/>
          <p:cNvSpPr/>
          <p:nvPr/>
        </p:nvSpPr>
        <p:spPr>
          <a:xfrm>
            <a:off x="841248" y="2212848"/>
            <a:ext cx="5029200" cy="457200"/>
          </a:xfrm>
          <a:prstGeom prst="rect">
            <a:avLst/>
          </a:prstGeom>
          <a:noFill/>
          <a:ln/>
        </p:spPr>
        <p:txBody>
          <a:bodyPr wrap="square" lIns="0" tIns="0" rIns="0" bIns="0" rtlCol="0" anchor="t"/>
          <a:lstStyle/>
          <a:p>
            <a:pPr indent="0" marL="0">
              <a:lnSpc>
                <a:spcPct val="110000"/>
              </a:lnSpc>
              <a:buNone/>
            </a:pPr>
            <a:r>
              <a:rPr lang="en-US" sz="1050" dirty="0">
                <a:solidFill>
                  <a:srgbClr val="8A97A8"/>
                </a:solidFill>
                <a:latin typeface="Calibri" pitchFamily="34" charset="0"/>
                <a:ea typeface="Calibri" pitchFamily="34" charset="-122"/>
                <a:cs typeface="Calibri" pitchFamily="34" charset="-120"/>
              </a:rPr>
              <a:t>Purpose-built, bottom-up models — not one generic formula stretched over everything.</a:t>
            </a:r>
            <a:endParaRPr lang="en-US" sz="1050" dirty="0"/>
          </a:p>
        </p:txBody>
      </p:sp>
      <p:sp>
        <p:nvSpPr>
          <p:cNvPr id="14" name="Shape 12"/>
          <p:cNvSpPr/>
          <p:nvPr/>
        </p:nvSpPr>
        <p:spPr>
          <a:xfrm>
            <a:off x="841248" y="2697480"/>
            <a:ext cx="2468880" cy="457200"/>
          </a:xfrm>
          <a:prstGeom prst="roundRect">
            <a:avLst>
              <a:gd name="adj" fmla="val 16000"/>
            </a:avLst>
          </a:prstGeom>
          <a:solidFill>
            <a:srgbClr val="EAF1FE"/>
          </a:solidFill>
          <a:ln/>
        </p:spPr>
      </p:sp>
      <p:sp>
        <p:nvSpPr>
          <p:cNvPr id="15" name="Shape 13"/>
          <p:cNvSpPr/>
          <p:nvPr/>
        </p:nvSpPr>
        <p:spPr>
          <a:xfrm>
            <a:off x="987552" y="2871216"/>
            <a:ext cx="118872" cy="118872"/>
          </a:xfrm>
          <a:prstGeom prst="ellipse">
            <a:avLst/>
          </a:prstGeom>
          <a:solidFill>
            <a:srgbClr val="2563EB"/>
          </a:solidFill>
          <a:ln/>
        </p:spPr>
      </p:sp>
      <p:sp>
        <p:nvSpPr>
          <p:cNvPr id="16" name="Text 14"/>
          <p:cNvSpPr/>
          <p:nvPr/>
        </p:nvSpPr>
        <p:spPr>
          <a:xfrm>
            <a:off x="1207008" y="2697480"/>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Machining &amp; casting</a:t>
            </a:r>
            <a:endParaRPr lang="en-US" sz="950" dirty="0"/>
          </a:p>
        </p:txBody>
      </p:sp>
      <p:sp>
        <p:nvSpPr>
          <p:cNvPr id="17" name="Shape 15"/>
          <p:cNvSpPr/>
          <p:nvPr/>
        </p:nvSpPr>
        <p:spPr>
          <a:xfrm>
            <a:off x="3447288" y="2697480"/>
            <a:ext cx="2468880" cy="457200"/>
          </a:xfrm>
          <a:prstGeom prst="roundRect">
            <a:avLst>
              <a:gd name="adj" fmla="val 16000"/>
            </a:avLst>
          </a:prstGeom>
          <a:solidFill>
            <a:srgbClr val="E8F6FA"/>
          </a:solidFill>
          <a:ln/>
        </p:spPr>
      </p:sp>
      <p:sp>
        <p:nvSpPr>
          <p:cNvPr id="18" name="Shape 16"/>
          <p:cNvSpPr/>
          <p:nvPr/>
        </p:nvSpPr>
        <p:spPr>
          <a:xfrm>
            <a:off x="3593592" y="2871216"/>
            <a:ext cx="118872" cy="118872"/>
          </a:xfrm>
          <a:prstGeom prst="ellipse">
            <a:avLst/>
          </a:prstGeom>
          <a:solidFill>
            <a:srgbClr val="0E93B0"/>
          </a:solidFill>
          <a:ln/>
        </p:spPr>
      </p:sp>
      <p:sp>
        <p:nvSpPr>
          <p:cNvPr id="19" name="Text 17"/>
          <p:cNvSpPr/>
          <p:nvPr/>
        </p:nvSpPr>
        <p:spPr>
          <a:xfrm>
            <a:off x="3813048" y="2697480"/>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Sheet metal &amp; stamping</a:t>
            </a:r>
            <a:endParaRPr lang="en-US" sz="950" dirty="0"/>
          </a:p>
        </p:txBody>
      </p:sp>
      <p:sp>
        <p:nvSpPr>
          <p:cNvPr id="20" name="Shape 18"/>
          <p:cNvSpPr/>
          <p:nvPr/>
        </p:nvSpPr>
        <p:spPr>
          <a:xfrm>
            <a:off x="841248" y="3300984"/>
            <a:ext cx="2468880" cy="457200"/>
          </a:xfrm>
          <a:prstGeom prst="roundRect">
            <a:avLst>
              <a:gd name="adj" fmla="val 16000"/>
            </a:avLst>
          </a:prstGeom>
          <a:solidFill>
            <a:srgbClr val="E7F7F0"/>
          </a:solidFill>
          <a:ln/>
        </p:spPr>
      </p:sp>
      <p:sp>
        <p:nvSpPr>
          <p:cNvPr id="21" name="Shape 19"/>
          <p:cNvSpPr/>
          <p:nvPr/>
        </p:nvSpPr>
        <p:spPr>
          <a:xfrm>
            <a:off x="987552" y="3474720"/>
            <a:ext cx="118872" cy="118872"/>
          </a:xfrm>
          <a:prstGeom prst="ellipse">
            <a:avLst/>
          </a:prstGeom>
          <a:solidFill>
            <a:srgbClr val="0DA5A0"/>
          </a:solidFill>
          <a:ln/>
        </p:spPr>
      </p:sp>
      <p:sp>
        <p:nvSpPr>
          <p:cNvPr id="22" name="Text 20"/>
          <p:cNvSpPr/>
          <p:nvPr/>
        </p:nvSpPr>
        <p:spPr>
          <a:xfrm>
            <a:off x="1207008" y="3300984"/>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Forging</a:t>
            </a:r>
            <a:endParaRPr lang="en-US" sz="950" dirty="0"/>
          </a:p>
        </p:txBody>
      </p:sp>
      <p:sp>
        <p:nvSpPr>
          <p:cNvPr id="23" name="Shape 21"/>
          <p:cNvSpPr/>
          <p:nvPr/>
        </p:nvSpPr>
        <p:spPr>
          <a:xfrm>
            <a:off x="3447288" y="3300984"/>
            <a:ext cx="2468880" cy="457200"/>
          </a:xfrm>
          <a:prstGeom prst="roundRect">
            <a:avLst>
              <a:gd name="adj" fmla="val 16000"/>
            </a:avLst>
          </a:prstGeom>
          <a:solidFill>
            <a:srgbClr val="F3EEFE"/>
          </a:solidFill>
          <a:ln/>
        </p:spPr>
      </p:sp>
      <p:sp>
        <p:nvSpPr>
          <p:cNvPr id="24" name="Shape 22"/>
          <p:cNvSpPr/>
          <p:nvPr/>
        </p:nvSpPr>
        <p:spPr>
          <a:xfrm>
            <a:off x="3593592" y="3474720"/>
            <a:ext cx="118872" cy="118872"/>
          </a:xfrm>
          <a:prstGeom prst="ellipse">
            <a:avLst/>
          </a:prstGeom>
          <a:solidFill>
            <a:srgbClr val="7C3AED"/>
          </a:solidFill>
          <a:ln/>
        </p:spPr>
      </p:sp>
      <p:sp>
        <p:nvSpPr>
          <p:cNvPr id="25" name="Text 23"/>
          <p:cNvSpPr/>
          <p:nvPr/>
        </p:nvSpPr>
        <p:spPr>
          <a:xfrm>
            <a:off x="3813048" y="3300984"/>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Injection &amp; blow moulding</a:t>
            </a:r>
            <a:endParaRPr lang="en-US" sz="950" dirty="0"/>
          </a:p>
        </p:txBody>
      </p:sp>
      <p:sp>
        <p:nvSpPr>
          <p:cNvPr id="26" name="Shape 24"/>
          <p:cNvSpPr/>
          <p:nvPr/>
        </p:nvSpPr>
        <p:spPr>
          <a:xfrm>
            <a:off x="841248" y="3904488"/>
            <a:ext cx="2468880" cy="457200"/>
          </a:xfrm>
          <a:prstGeom prst="roundRect">
            <a:avLst>
              <a:gd name="adj" fmla="val 16000"/>
            </a:avLst>
          </a:prstGeom>
          <a:solidFill>
            <a:srgbClr val="EAF1FE"/>
          </a:solidFill>
          <a:ln/>
        </p:spPr>
      </p:sp>
      <p:sp>
        <p:nvSpPr>
          <p:cNvPr id="27" name="Shape 25"/>
          <p:cNvSpPr/>
          <p:nvPr/>
        </p:nvSpPr>
        <p:spPr>
          <a:xfrm>
            <a:off x="987552" y="4078224"/>
            <a:ext cx="118872" cy="118872"/>
          </a:xfrm>
          <a:prstGeom prst="ellipse">
            <a:avLst/>
          </a:prstGeom>
          <a:solidFill>
            <a:srgbClr val="4F46E5"/>
          </a:solidFill>
          <a:ln/>
        </p:spPr>
      </p:sp>
      <p:sp>
        <p:nvSpPr>
          <p:cNvPr id="28" name="Text 26"/>
          <p:cNvSpPr/>
          <p:nvPr/>
        </p:nvSpPr>
        <p:spPr>
          <a:xfrm>
            <a:off x="1207008" y="3904488"/>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Extrusion &amp; thermoforming</a:t>
            </a:r>
            <a:endParaRPr lang="en-US" sz="950" dirty="0"/>
          </a:p>
        </p:txBody>
      </p:sp>
      <p:sp>
        <p:nvSpPr>
          <p:cNvPr id="29" name="Shape 27"/>
          <p:cNvSpPr/>
          <p:nvPr/>
        </p:nvSpPr>
        <p:spPr>
          <a:xfrm>
            <a:off x="3447288" y="3904488"/>
            <a:ext cx="2468880" cy="457200"/>
          </a:xfrm>
          <a:prstGeom prst="roundRect">
            <a:avLst>
              <a:gd name="adj" fmla="val 16000"/>
            </a:avLst>
          </a:prstGeom>
          <a:solidFill>
            <a:srgbClr val="E7F7F0"/>
          </a:solidFill>
          <a:ln/>
        </p:spPr>
      </p:sp>
      <p:sp>
        <p:nvSpPr>
          <p:cNvPr id="30" name="Shape 28"/>
          <p:cNvSpPr/>
          <p:nvPr/>
        </p:nvSpPr>
        <p:spPr>
          <a:xfrm>
            <a:off x="3593592" y="4078224"/>
            <a:ext cx="118872" cy="118872"/>
          </a:xfrm>
          <a:prstGeom prst="ellipse">
            <a:avLst/>
          </a:prstGeom>
          <a:solidFill>
            <a:srgbClr val="0EA472"/>
          </a:solidFill>
          <a:ln/>
        </p:spPr>
      </p:sp>
      <p:sp>
        <p:nvSpPr>
          <p:cNvPr id="31" name="Text 29"/>
          <p:cNvSpPr/>
          <p:nvPr/>
        </p:nvSpPr>
        <p:spPr>
          <a:xfrm>
            <a:off x="3813048" y="3904488"/>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Rubber &amp; composites</a:t>
            </a:r>
            <a:endParaRPr lang="en-US" sz="950" dirty="0"/>
          </a:p>
        </p:txBody>
      </p:sp>
      <p:sp>
        <p:nvSpPr>
          <p:cNvPr id="32" name="Shape 30"/>
          <p:cNvSpPr/>
          <p:nvPr/>
        </p:nvSpPr>
        <p:spPr>
          <a:xfrm>
            <a:off x="841248" y="4507992"/>
            <a:ext cx="2468880" cy="457200"/>
          </a:xfrm>
          <a:prstGeom prst="roundRect">
            <a:avLst>
              <a:gd name="adj" fmla="val 16000"/>
            </a:avLst>
          </a:prstGeom>
          <a:solidFill>
            <a:srgbClr val="FEF6E7"/>
          </a:solidFill>
          <a:ln/>
        </p:spPr>
      </p:sp>
      <p:sp>
        <p:nvSpPr>
          <p:cNvPr id="33" name="Shape 31"/>
          <p:cNvSpPr/>
          <p:nvPr/>
        </p:nvSpPr>
        <p:spPr>
          <a:xfrm>
            <a:off x="987552" y="4681728"/>
            <a:ext cx="118872" cy="118872"/>
          </a:xfrm>
          <a:prstGeom prst="ellipse">
            <a:avLst/>
          </a:prstGeom>
          <a:solidFill>
            <a:srgbClr val="E0900C"/>
          </a:solidFill>
          <a:ln/>
        </p:spPr>
      </p:sp>
      <p:sp>
        <p:nvSpPr>
          <p:cNvPr id="34" name="Text 32"/>
          <p:cNvSpPr/>
          <p:nvPr/>
        </p:nvSpPr>
        <p:spPr>
          <a:xfrm>
            <a:off x="1207008" y="4507992"/>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PCB &amp; PCBA electronics</a:t>
            </a:r>
            <a:endParaRPr lang="en-US" sz="950" dirty="0"/>
          </a:p>
        </p:txBody>
      </p:sp>
      <p:sp>
        <p:nvSpPr>
          <p:cNvPr id="35" name="Shape 33"/>
          <p:cNvSpPr/>
          <p:nvPr/>
        </p:nvSpPr>
        <p:spPr>
          <a:xfrm>
            <a:off x="3447288" y="4507992"/>
            <a:ext cx="2468880" cy="457200"/>
          </a:xfrm>
          <a:prstGeom prst="roundRect">
            <a:avLst>
              <a:gd name="adj" fmla="val 16000"/>
            </a:avLst>
          </a:prstGeom>
          <a:solidFill>
            <a:srgbClr val="FDECEC"/>
          </a:solidFill>
          <a:ln/>
        </p:spPr>
      </p:sp>
      <p:sp>
        <p:nvSpPr>
          <p:cNvPr id="36" name="Shape 34"/>
          <p:cNvSpPr/>
          <p:nvPr/>
        </p:nvSpPr>
        <p:spPr>
          <a:xfrm>
            <a:off x="3593592" y="4681728"/>
            <a:ext cx="118872" cy="118872"/>
          </a:xfrm>
          <a:prstGeom prst="ellipse">
            <a:avLst/>
          </a:prstGeom>
          <a:solidFill>
            <a:srgbClr val="E5484D"/>
          </a:solidFill>
          <a:ln/>
        </p:spPr>
      </p:sp>
      <p:sp>
        <p:nvSpPr>
          <p:cNvPr id="37" name="Text 35"/>
          <p:cNvSpPr/>
          <p:nvPr/>
        </p:nvSpPr>
        <p:spPr>
          <a:xfrm>
            <a:off x="3813048" y="4507992"/>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Wiring harness &amp; assembly</a:t>
            </a:r>
            <a:endParaRPr lang="en-US" sz="950" dirty="0"/>
          </a:p>
        </p:txBody>
      </p:sp>
      <p:sp>
        <p:nvSpPr>
          <p:cNvPr id="38" name="Shape 36"/>
          <p:cNvSpPr/>
          <p:nvPr/>
        </p:nvSpPr>
        <p:spPr>
          <a:xfrm>
            <a:off x="841248" y="5111496"/>
            <a:ext cx="2468880" cy="457200"/>
          </a:xfrm>
          <a:prstGeom prst="roundRect">
            <a:avLst>
              <a:gd name="adj" fmla="val 16000"/>
            </a:avLst>
          </a:prstGeom>
          <a:solidFill>
            <a:srgbClr val="F4F7FB"/>
          </a:solidFill>
          <a:ln/>
        </p:spPr>
      </p:sp>
      <p:sp>
        <p:nvSpPr>
          <p:cNvPr id="39" name="Shape 37"/>
          <p:cNvSpPr/>
          <p:nvPr/>
        </p:nvSpPr>
        <p:spPr>
          <a:xfrm>
            <a:off x="987552" y="5285232"/>
            <a:ext cx="118872" cy="118872"/>
          </a:xfrm>
          <a:prstGeom prst="ellipse">
            <a:avLst/>
          </a:prstGeom>
          <a:solidFill>
            <a:srgbClr val="2E90FA"/>
          </a:solidFill>
          <a:ln/>
        </p:spPr>
      </p:sp>
      <p:sp>
        <p:nvSpPr>
          <p:cNvPr id="40" name="Text 38"/>
          <p:cNvSpPr/>
          <p:nvPr/>
        </p:nvSpPr>
        <p:spPr>
          <a:xfrm>
            <a:off x="1207008" y="5111496"/>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Painting &amp; surface finish</a:t>
            </a:r>
            <a:endParaRPr lang="en-US" sz="950" dirty="0"/>
          </a:p>
        </p:txBody>
      </p:sp>
      <p:sp>
        <p:nvSpPr>
          <p:cNvPr id="41" name="Shape 39"/>
          <p:cNvSpPr/>
          <p:nvPr/>
        </p:nvSpPr>
        <p:spPr>
          <a:xfrm>
            <a:off x="3447288" y="5111496"/>
            <a:ext cx="2468880" cy="457200"/>
          </a:xfrm>
          <a:prstGeom prst="roundRect">
            <a:avLst>
              <a:gd name="adj" fmla="val 16000"/>
            </a:avLst>
          </a:prstGeom>
          <a:solidFill>
            <a:srgbClr val="F4F7FB"/>
          </a:solidFill>
          <a:ln/>
        </p:spPr>
      </p:sp>
      <p:sp>
        <p:nvSpPr>
          <p:cNvPr id="42" name="Shape 40"/>
          <p:cNvSpPr/>
          <p:nvPr/>
        </p:nvSpPr>
        <p:spPr>
          <a:xfrm>
            <a:off x="3593592" y="5285232"/>
            <a:ext cx="118872" cy="118872"/>
          </a:xfrm>
          <a:prstGeom prst="ellipse">
            <a:avLst/>
          </a:prstGeom>
          <a:solidFill>
            <a:srgbClr val="8A97A8"/>
          </a:solidFill>
          <a:ln/>
        </p:spPr>
      </p:sp>
      <p:sp>
        <p:nvSpPr>
          <p:cNvPr id="43" name="Text 41"/>
          <p:cNvSpPr/>
          <p:nvPr/>
        </p:nvSpPr>
        <p:spPr>
          <a:xfrm>
            <a:off x="3813048" y="5111496"/>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Automotive software</a:t>
            </a:r>
            <a:endParaRPr lang="en-US" sz="950" dirty="0"/>
          </a:p>
        </p:txBody>
      </p:sp>
      <p:sp>
        <p:nvSpPr>
          <p:cNvPr id="44" name="Shape 42"/>
          <p:cNvSpPr/>
          <p:nvPr/>
        </p:nvSpPr>
        <p:spPr>
          <a:xfrm>
            <a:off x="6355080" y="1645920"/>
            <a:ext cx="5287975" cy="4160520"/>
          </a:xfrm>
          <a:prstGeom prst="roundRect">
            <a:avLst>
              <a:gd name="adj" fmla="val 1538"/>
            </a:avLst>
          </a:prstGeom>
          <a:solidFill>
            <a:srgbClr val="EAF1FE"/>
          </a:solidFill>
          <a:ln w="12700">
            <a:solidFill>
              <a:srgbClr val="E4EAF2"/>
            </a:solidFill>
            <a:prstDash val="solid"/>
          </a:ln>
        </p:spPr>
      </p:sp>
      <p:sp>
        <p:nvSpPr>
          <p:cNvPr id="45" name="Text 43"/>
          <p:cNvSpPr/>
          <p:nvPr/>
        </p:nvSpPr>
        <p:spPr>
          <a:xfrm>
            <a:off x="6647688" y="1828800"/>
            <a:ext cx="4830775" cy="320040"/>
          </a:xfrm>
          <a:prstGeom prst="rect">
            <a:avLst/>
          </a:prstGeom>
          <a:noFill/>
          <a:ln/>
        </p:spPr>
        <p:txBody>
          <a:bodyPr wrap="square" lIns="0" tIns="0" rIns="0" bIns="0" rtlCol="0" anchor="t"/>
          <a:lstStyle/>
          <a:p>
            <a:pPr indent="0" marL="0">
              <a:buNone/>
            </a:pPr>
            <a:r>
              <a:rPr lang="en-US" sz="1450" b="1" dirty="0">
                <a:solidFill>
                  <a:srgbClr val="0F1E3D"/>
                </a:solidFill>
                <a:latin typeface="Calibri" pitchFamily="34" charset="0"/>
                <a:ea typeface="Calibri" pitchFamily="34" charset="-122"/>
                <a:cs typeface="Calibri" pitchFamily="34" charset="-120"/>
              </a:rPr>
              <a:t>Global should-cost — 20 regions</a:t>
            </a:r>
            <a:endParaRPr lang="en-US" sz="1450" dirty="0"/>
          </a:p>
        </p:txBody>
      </p:sp>
      <p:sp>
        <p:nvSpPr>
          <p:cNvPr id="46" name="Text 44"/>
          <p:cNvSpPr/>
          <p:nvPr/>
        </p:nvSpPr>
        <p:spPr>
          <a:xfrm>
            <a:off x="6647688" y="2212848"/>
            <a:ext cx="4739335" cy="548640"/>
          </a:xfrm>
          <a:prstGeom prst="rect">
            <a:avLst/>
          </a:prstGeom>
          <a:noFill/>
          <a:ln/>
        </p:spPr>
        <p:txBody>
          <a:bodyPr wrap="square" lIns="0" tIns="0" rIns="0" bIns="0" rtlCol="0" anchor="t"/>
          <a:lstStyle/>
          <a:p>
            <a:pPr indent="0" marL="0">
              <a:lnSpc>
                <a:spcPct val="112000"/>
              </a:lnSpc>
              <a:buNone/>
            </a:pPr>
            <a:r>
              <a:rPr lang="en-US" sz="1050" dirty="0">
                <a:solidFill>
                  <a:srgbClr val="8A97A8"/>
                </a:solidFill>
                <a:latin typeface="Calibri" pitchFamily="34" charset="0"/>
                <a:ea typeface="Calibri" pitchFamily="34" charset="-122"/>
                <a:cs typeface="Calibri" pitchFamily="34" charset="-120"/>
              </a:rPr>
              <a:t>The same part, priced with real labour, energy and overhead rates per region — landed-cost aware, volume-corrected.</a:t>
            </a:r>
            <a:endParaRPr lang="en-US" sz="1050" dirty="0"/>
          </a:p>
        </p:txBody>
      </p:sp>
      <p:graphicFrame>
        <p:nvGraphicFramePr>
          <p:cNvPr id="47" name="Chart 0" descr=""/>
          <p:cNvGraphicFramePr/>
          <p:nvPr/>
        </p:nvGraphicFramePr>
        <p:xfrm>
          <a:off x="6537960" y="2880360"/>
          <a:ext cx="4876495" cy="18288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p:nvPr/>
        </p:nvSpPr>
        <p:spPr>
          <a:xfrm>
            <a:off x="6647688" y="4892040"/>
            <a:ext cx="4739335" cy="640080"/>
          </a:xfrm>
          <a:prstGeom prst="rect">
            <a:avLst/>
          </a:prstGeom>
          <a:noFill/>
          <a:ln/>
        </p:spPr>
        <p:txBody>
          <a:bodyPr wrap="square" lIns="0" tIns="0" rIns="0" bIns="0" rtlCol="0" anchor="t"/>
          <a:lstStyle/>
          <a:p>
            <a:pPr indent="0" marL="0">
              <a:lnSpc>
                <a:spcPct val="110000"/>
              </a:lnSpc>
              <a:buNone/>
            </a:pPr>
            <a:r>
              <a:rPr lang="en-US" sz="950" i="1" dirty="0">
                <a:solidFill>
                  <a:srgbClr val="8A97A8"/>
                </a:solidFill>
                <a:latin typeface="Calibri" pitchFamily="34" charset="0"/>
                <a:ea typeface="Calibri" pitchFamily="34" charset="-122"/>
                <a:cs typeface="Calibri" pitchFamily="34" charset="-120"/>
              </a:rPr>
              <a:t>Illustrative — every analysis computes this spread for your part, with volume curves and lead-time &amp; quality indices.</a:t>
            </a:r>
            <a:endParaRPr lang="en-US" sz="950" dirty="0"/>
          </a:p>
        </p:txBody>
      </p:sp>
      <p:sp>
        <p:nvSpPr>
          <p:cNvPr id="49" name="Shape 46"/>
          <p:cNvSpPr/>
          <p:nvPr/>
        </p:nvSpPr>
        <p:spPr>
          <a:xfrm>
            <a:off x="548640" y="6400800"/>
            <a:ext cx="11094415" cy="12802"/>
          </a:xfrm>
          <a:prstGeom prst="rect">
            <a:avLst/>
          </a:prstGeom>
          <a:solidFill>
            <a:srgbClr val="E4EAF2"/>
          </a:solidFill>
          <a:ln/>
        </p:spPr>
      </p:sp>
      <p:sp>
        <p:nvSpPr>
          <p:cNvPr id="50" name="Text 4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Global should-cost — how the country model works</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One base cost, re-priced with each region's real economics — deterministic, transparent and landed-cost aware. No AI in the money.</a:t>
            </a:r>
            <a:endParaRPr lang="en-US" sz="1250" dirty="0"/>
          </a:p>
        </p:txBody>
      </p:sp>
      <p:sp>
        <p:nvSpPr>
          <p:cNvPr id="11" name="Shape 9"/>
          <p:cNvSpPr/>
          <p:nvPr/>
        </p:nvSpPr>
        <p:spPr>
          <a:xfrm>
            <a:off x="548640"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85104960281788e+152" dist="1.38601417223368e+152" dir="5.569789391184891e+178">
              <a:srgbClr val="9DB0CC">
                <a:alpha val="2.2000000000000004e+184"/>
              </a:srgbClr>
            </a:outerShdw>
          </a:effectLst>
        </p:spPr>
      </p:sp>
      <p:sp>
        <p:nvSpPr>
          <p:cNvPr id="12" name="Shape 10"/>
          <p:cNvSpPr/>
          <p:nvPr/>
        </p:nvSpPr>
        <p:spPr>
          <a:xfrm>
            <a:off x="548640" y="2057400"/>
            <a:ext cx="2487168" cy="82296"/>
          </a:xfrm>
          <a:prstGeom prst="rect">
            <a:avLst/>
          </a:prstGeom>
          <a:solidFill>
            <a:srgbClr val="2563EB"/>
          </a:solidFill>
          <a:ln/>
        </p:spPr>
      </p:sp>
      <p:sp>
        <p:nvSpPr>
          <p:cNvPr id="13" name="Shape 11"/>
          <p:cNvSpPr/>
          <p:nvPr/>
        </p:nvSpPr>
        <p:spPr>
          <a:xfrm>
            <a:off x="1536192" y="2258568"/>
            <a:ext cx="512064" cy="512064"/>
          </a:xfrm>
          <a:prstGeom prst="ellipse">
            <a:avLst/>
          </a:prstGeom>
          <a:solidFill>
            <a:srgbClr val="EAF1FE"/>
          </a:solidFill>
          <a:ln/>
        </p:spPr>
      </p:sp>
      <p:sp>
        <p:nvSpPr>
          <p:cNvPr id="14" name="Text 12"/>
          <p:cNvSpPr/>
          <p:nvPr/>
        </p:nvSpPr>
        <p:spPr>
          <a:xfrm>
            <a:off x="1536192" y="224942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Base part cost</a:t>
            </a:r>
            <a:endParaRPr lang="en-US" sz="1200" dirty="0"/>
          </a:p>
        </p:txBody>
      </p:sp>
      <p:sp>
        <p:nvSpPr>
          <p:cNvPr id="16" name="Text 14"/>
          <p:cNvSpPr/>
          <p:nvPr/>
        </p:nvSpPr>
        <p:spPr>
          <a:xfrm>
            <a:off x="658368"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from CAD or a commodity engine</a:t>
            </a:r>
            <a:endParaRPr lang="en-US" sz="860" dirty="0"/>
          </a:p>
        </p:txBody>
      </p:sp>
      <p:sp>
        <p:nvSpPr>
          <p:cNvPr id="17" name="Shape 15"/>
          <p:cNvSpPr/>
          <p:nvPr/>
        </p:nvSpPr>
        <p:spPr>
          <a:xfrm>
            <a:off x="3063240" y="274320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6.160832995578707e+156" dist="1.7602379987367734e+156" dir="3.3418736347109347e+183">
              <a:srgbClr val="9DB0CC">
                <a:alpha val="2.2000000000000003e+189"/>
              </a:srgbClr>
            </a:outerShdw>
          </a:effectLst>
        </p:spPr>
      </p:sp>
      <p:sp>
        <p:nvSpPr>
          <p:cNvPr id="19" name="Shape 17"/>
          <p:cNvSpPr/>
          <p:nvPr/>
        </p:nvSpPr>
        <p:spPr>
          <a:xfrm>
            <a:off x="3355848" y="2057400"/>
            <a:ext cx="2487168" cy="82296"/>
          </a:xfrm>
          <a:prstGeom prst="rect">
            <a:avLst/>
          </a:prstGeom>
          <a:solidFill>
            <a:srgbClr val="0DA5A0"/>
          </a:solidFill>
          <a:ln/>
        </p:spPr>
      </p:sp>
      <p:sp>
        <p:nvSpPr>
          <p:cNvPr id="20" name="Shape 18"/>
          <p:cNvSpPr/>
          <p:nvPr/>
        </p:nvSpPr>
        <p:spPr>
          <a:xfrm>
            <a:off x="4343400" y="2258568"/>
            <a:ext cx="512064" cy="512064"/>
          </a:xfrm>
          <a:prstGeom prst="ellipse">
            <a:avLst/>
          </a:prstGeom>
          <a:solidFill>
            <a:srgbClr val="E7F7F0"/>
          </a:solidFill>
          <a:ln/>
        </p:spPr>
      </p:sp>
      <p:sp>
        <p:nvSpPr>
          <p:cNvPr id="21" name="Text 19"/>
          <p:cNvSpPr/>
          <p:nvPr/>
        </p:nvSpPr>
        <p:spPr>
          <a:xfrm>
            <a:off x="4343400" y="224942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Regional rates</a:t>
            </a:r>
            <a:endParaRPr lang="en-US" sz="1200" dirty="0"/>
          </a:p>
        </p:txBody>
      </p:sp>
      <p:sp>
        <p:nvSpPr>
          <p:cNvPr id="23" name="Text 21"/>
          <p:cNvSpPr/>
          <p:nvPr/>
        </p:nvSpPr>
        <p:spPr>
          <a:xfrm>
            <a:off x="3465576"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labour · energy · material · machine · overhead · FX</a:t>
            </a:r>
            <a:endParaRPr lang="en-US" sz="860" dirty="0"/>
          </a:p>
        </p:txBody>
      </p:sp>
      <p:sp>
        <p:nvSpPr>
          <p:cNvPr id="24" name="Shape 22"/>
          <p:cNvSpPr/>
          <p:nvPr/>
        </p:nvSpPr>
        <p:spPr>
          <a:xfrm>
            <a:off x="5870448" y="274320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7.824257904384958e+160" dist="2.235502258395702e+160" dir="2.0051241808265608e+188">
              <a:srgbClr val="9DB0CC">
                <a:alpha val="2.2000000000000004e+194"/>
              </a:srgbClr>
            </a:outerShdw>
          </a:effectLst>
        </p:spPr>
      </p:sp>
      <p:sp>
        <p:nvSpPr>
          <p:cNvPr id="26" name="Shape 24"/>
          <p:cNvSpPr/>
          <p:nvPr/>
        </p:nvSpPr>
        <p:spPr>
          <a:xfrm>
            <a:off x="6163056" y="2057400"/>
            <a:ext cx="2487168" cy="82296"/>
          </a:xfrm>
          <a:prstGeom prst="rect">
            <a:avLst/>
          </a:prstGeom>
          <a:solidFill>
            <a:srgbClr val="E0900C"/>
          </a:solidFill>
          <a:ln/>
        </p:spPr>
      </p:sp>
      <p:sp>
        <p:nvSpPr>
          <p:cNvPr id="27" name="Shape 25"/>
          <p:cNvSpPr/>
          <p:nvPr/>
        </p:nvSpPr>
        <p:spPr>
          <a:xfrm>
            <a:off x="7150608" y="2258568"/>
            <a:ext cx="512064" cy="512064"/>
          </a:xfrm>
          <a:prstGeom prst="ellipse">
            <a:avLst/>
          </a:prstGeom>
          <a:solidFill>
            <a:srgbClr val="FEF6E7"/>
          </a:solidFill>
          <a:ln/>
        </p:spPr>
      </p:sp>
      <p:sp>
        <p:nvSpPr>
          <p:cNvPr id="28" name="Text 26"/>
          <p:cNvSpPr/>
          <p:nvPr/>
        </p:nvSpPr>
        <p:spPr>
          <a:xfrm>
            <a:off x="7150608" y="224942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Landed adders</a:t>
            </a:r>
            <a:endParaRPr lang="en-US" sz="1200" dirty="0"/>
          </a:p>
        </p:txBody>
      </p:sp>
      <p:sp>
        <p:nvSpPr>
          <p:cNvPr id="30" name="Text 28"/>
          <p:cNvSpPr/>
          <p:nvPr/>
        </p:nvSpPr>
        <p:spPr>
          <a:xfrm>
            <a:off x="6272784"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packaging · logistics · duty · shipping</a:t>
            </a:r>
            <a:endParaRPr lang="en-US" sz="860" dirty="0"/>
          </a:p>
        </p:txBody>
      </p:sp>
      <p:sp>
        <p:nvSpPr>
          <p:cNvPr id="31" name="Shape 29"/>
          <p:cNvSpPr/>
          <p:nvPr/>
        </p:nvSpPr>
        <p:spPr>
          <a:xfrm>
            <a:off x="8677656" y="274320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9.936807538568897e+164" dist="2.8390878681625417e+164" dir="1.2030745084959364e+193">
              <a:srgbClr val="9DB0CC">
                <a:alpha val="2.2000000000000006e+199"/>
              </a:srgbClr>
            </a:outerShdw>
          </a:effectLst>
        </p:spPr>
      </p:sp>
      <p:sp>
        <p:nvSpPr>
          <p:cNvPr id="33" name="Shape 31"/>
          <p:cNvSpPr/>
          <p:nvPr/>
        </p:nvSpPr>
        <p:spPr>
          <a:xfrm>
            <a:off x="8970264" y="2057400"/>
            <a:ext cx="2487168" cy="82296"/>
          </a:xfrm>
          <a:prstGeom prst="rect">
            <a:avLst/>
          </a:prstGeom>
          <a:solidFill>
            <a:srgbClr val="0EA472"/>
          </a:solidFill>
          <a:ln/>
        </p:spPr>
      </p:sp>
      <p:sp>
        <p:nvSpPr>
          <p:cNvPr id="34" name="Shape 32"/>
          <p:cNvSpPr/>
          <p:nvPr/>
        </p:nvSpPr>
        <p:spPr>
          <a:xfrm>
            <a:off x="9957816" y="2258568"/>
            <a:ext cx="512064" cy="512064"/>
          </a:xfrm>
          <a:prstGeom prst="ellipse">
            <a:avLst/>
          </a:prstGeom>
          <a:solidFill>
            <a:srgbClr val="E7F7F0"/>
          </a:solidFill>
          <a:ln/>
        </p:spPr>
      </p:sp>
      <p:sp>
        <p:nvSpPr>
          <p:cNvPr id="35" name="Text 33"/>
          <p:cNvSpPr/>
          <p:nvPr/>
        </p:nvSpPr>
        <p:spPr>
          <a:xfrm>
            <a:off x="9957816" y="224942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Region should-cost</a:t>
            </a:r>
            <a:endParaRPr lang="en-US" sz="1200" dirty="0"/>
          </a:p>
        </p:txBody>
      </p:sp>
      <p:sp>
        <p:nvSpPr>
          <p:cNvPr id="37" name="Text 35"/>
          <p:cNvSpPr/>
          <p:nvPr/>
        </p:nvSpPr>
        <p:spPr>
          <a:xfrm>
            <a:off x="9079992"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ranked, ex-works &amp; landed, per country</a:t>
            </a:r>
            <a:endParaRPr lang="en-US" sz="860" dirty="0"/>
          </a:p>
        </p:txBody>
      </p:sp>
      <p:sp>
        <p:nvSpPr>
          <p:cNvPr id="38" name="Shape 36"/>
          <p:cNvSpPr/>
          <p:nvPr/>
        </p:nvSpPr>
        <p:spPr>
          <a:xfrm>
            <a:off x="548640" y="3749040"/>
            <a:ext cx="5394960" cy="2103120"/>
          </a:xfrm>
          <a:prstGeom prst="roundRect">
            <a:avLst>
              <a:gd name="adj" fmla="val 3043"/>
            </a:avLst>
          </a:prstGeom>
          <a:solidFill>
            <a:srgbClr val="FFFFFF"/>
          </a:solidFill>
          <a:ln w="12700">
            <a:solidFill>
              <a:srgbClr val="E4EAF2"/>
            </a:solidFill>
            <a:prstDash val="solid"/>
          </a:ln>
          <a:effectLst>
            <a:outerShdw sx="100000" sy="100000" kx="0" ky="0" algn="bl" rotWithShape="0" blurRad="1.26197455739825e+169" dist="3.605641592566428e+168" dir="7.218447050975619e+197">
              <a:srgbClr val="9DB0CC">
                <a:alpha val="2.2000000000000007e+204"/>
              </a:srgbClr>
            </a:outerShdw>
          </a:effectLst>
        </p:spPr>
      </p:sp>
      <p:sp>
        <p:nvSpPr>
          <p:cNvPr id="39" name="Shape 37"/>
          <p:cNvSpPr/>
          <p:nvPr/>
        </p:nvSpPr>
        <p:spPr>
          <a:xfrm>
            <a:off x="548640" y="3749040"/>
            <a:ext cx="82296" cy="2103120"/>
          </a:xfrm>
          <a:prstGeom prst="rect">
            <a:avLst/>
          </a:prstGeom>
          <a:solidFill>
            <a:srgbClr val="2563EB"/>
          </a:solidFill>
          <a:ln/>
        </p:spPr>
      </p:sp>
      <p:sp>
        <p:nvSpPr>
          <p:cNvPr id="40" name="Text 38"/>
          <p:cNvSpPr/>
          <p:nvPr/>
        </p:nvSpPr>
        <p:spPr>
          <a:xfrm>
            <a:off x="822960" y="3913632"/>
            <a:ext cx="4937760" cy="320040"/>
          </a:xfrm>
          <a:prstGeom prst="rect">
            <a:avLst/>
          </a:prstGeom>
          <a:noFill/>
          <a:ln/>
        </p:spPr>
        <p:txBody>
          <a:bodyPr wrap="square" lIns="0" tIns="0" rIns="0" bIns="0" rtlCol="0" anchor="t"/>
          <a:lstStyle/>
          <a:p>
            <a:pPr indent="0" marL="0">
              <a:buNone/>
            </a:pPr>
            <a:r>
              <a:rPr lang="en-US" sz="1350" b="1" dirty="0">
                <a:solidFill>
                  <a:srgbClr val="2563EB"/>
                </a:solidFill>
                <a:latin typeface="Calibri" pitchFamily="34" charset="0"/>
                <a:ea typeface="Calibri" pitchFamily="34" charset="-122"/>
                <a:cs typeface="Calibri" pitchFamily="34" charset="-120"/>
              </a:rPr>
              <a:t>What you give it</a:t>
            </a:r>
            <a:endParaRPr lang="en-US" sz="1350" dirty="0"/>
          </a:p>
        </p:txBody>
      </p:sp>
      <p:sp>
        <p:nvSpPr>
          <p:cNvPr id="41" name="Shape 39"/>
          <p:cNvSpPr/>
          <p:nvPr/>
        </p:nvSpPr>
        <p:spPr>
          <a:xfrm>
            <a:off x="822960" y="4315968"/>
            <a:ext cx="292608" cy="292608"/>
          </a:xfrm>
          <a:prstGeom prst="ellipse">
            <a:avLst/>
          </a:prstGeom>
          <a:solidFill>
            <a:srgbClr val="EAF1FE"/>
          </a:solidFill>
          <a:ln/>
        </p:spPr>
      </p:sp>
      <p:sp>
        <p:nvSpPr>
          <p:cNvPr id="42" name="Text 40"/>
          <p:cNvSpPr/>
          <p:nvPr/>
        </p:nvSpPr>
        <p:spPr>
          <a:xfrm>
            <a:off x="822960" y="430682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3" name="Text 41"/>
          <p:cNvSpPr/>
          <p:nvPr/>
        </p:nvSpPr>
        <p:spPr>
          <a:xfrm>
            <a:off x="1207008" y="431596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part — </a:t>
            </a:r>
            <a:pPr indent="0" marL="0">
              <a:buNone/>
            </a:pPr>
            <a:r>
              <a:rPr lang="en-US" sz="1080" dirty="0">
                <a:solidFill>
                  <a:srgbClr val="3E4C63"/>
                </a:solidFill>
                <a:latin typeface="Calibri" pitchFamily="34" charset="0"/>
                <a:ea typeface="Calibri" pitchFamily="34" charset="-122"/>
                <a:cs typeface="Calibri" pitchFamily="34" charset="-120"/>
              </a:rPr>
              <a:t>once — from a CAD model, a photo, or a commodity form</a:t>
            </a:r>
            <a:endParaRPr lang="en-US" sz="1080" dirty="0"/>
          </a:p>
        </p:txBody>
      </p:sp>
      <p:sp>
        <p:nvSpPr>
          <p:cNvPr id="44" name="Shape 42"/>
          <p:cNvSpPr/>
          <p:nvPr/>
        </p:nvSpPr>
        <p:spPr>
          <a:xfrm>
            <a:off x="822960" y="4818888"/>
            <a:ext cx="292608" cy="292608"/>
          </a:xfrm>
          <a:prstGeom prst="ellipse">
            <a:avLst/>
          </a:prstGeom>
          <a:solidFill>
            <a:srgbClr val="EAF1FE"/>
          </a:solidFill>
          <a:ln/>
        </p:spPr>
      </p:sp>
      <p:sp>
        <p:nvSpPr>
          <p:cNvPr id="45" name="Text 43"/>
          <p:cNvSpPr/>
          <p:nvPr/>
        </p:nvSpPr>
        <p:spPr>
          <a:xfrm>
            <a:off x="822960" y="480974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1207008" y="481888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regions — </a:t>
            </a:r>
            <a:pPr indent="0" marL="0">
              <a:buNone/>
            </a:pPr>
            <a:r>
              <a:rPr lang="en-US" sz="1080" dirty="0">
                <a:solidFill>
                  <a:srgbClr val="3E4C63"/>
                </a:solidFill>
                <a:latin typeface="Calibri" pitchFamily="34" charset="0"/>
                <a:ea typeface="Calibri" pitchFamily="34" charset="-122"/>
                <a:cs typeface="Calibri" pitchFamily="34" charset="-120"/>
              </a:rPr>
              <a:t>pick any of the 20, or compare them all</a:t>
            </a:r>
            <a:endParaRPr lang="en-US" sz="1080" dirty="0"/>
          </a:p>
        </p:txBody>
      </p:sp>
      <p:sp>
        <p:nvSpPr>
          <p:cNvPr id="47" name="Shape 45"/>
          <p:cNvSpPr/>
          <p:nvPr/>
        </p:nvSpPr>
        <p:spPr>
          <a:xfrm>
            <a:off x="822960" y="5321808"/>
            <a:ext cx="292608" cy="292608"/>
          </a:xfrm>
          <a:prstGeom prst="ellipse">
            <a:avLst/>
          </a:prstGeom>
          <a:solidFill>
            <a:srgbClr val="EAF1FE"/>
          </a:solidFill>
          <a:ln/>
        </p:spPr>
      </p:sp>
      <p:sp>
        <p:nvSpPr>
          <p:cNvPr id="48" name="Text 46"/>
          <p:cNvSpPr/>
          <p:nvPr/>
        </p:nvSpPr>
        <p:spPr>
          <a:xfrm>
            <a:off x="822960" y="531266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9" name="Text 47"/>
          <p:cNvSpPr/>
          <p:nvPr/>
        </p:nvSpPr>
        <p:spPr>
          <a:xfrm>
            <a:off x="1207008" y="532180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Volume &amp; Incoterm — </a:t>
            </a:r>
            <a:pPr indent="0" marL="0">
              <a:buNone/>
            </a:pPr>
            <a:r>
              <a:rPr lang="en-US" sz="1080" dirty="0">
                <a:solidFill>
                  <a:srgbClr val="3E4C63"/>
                </a:solidFill>
                <a:latin typeface="Calibri" pitchFamily="34" charset="0"/>
                <a:ea typeface="Calibri" pitchFamily="34" charset="-122"/>
                <a:cs typeface="Calibri" pitchFamily="34" charset="-120"/>
              </a:rPr>
              <a:t>drives volume curve and landed vs ex-works</a:t>
            </a:r>
            <a:endParaRPr lang="en-US" sz="1080" dirty="0"/>
          </a:p>
        </p:txBody>
      </p:sp>
      <p:sp>
        <p:nvSpPr>
          <p:cNvPr id="50" name="Shape 48"/>
          <p:cNvSpPr/>
          <p:nvPr/>
        </p:nvSpPr>
        <p:spPr>
          <a:xfrm>
            <a:off x="6245352" y="3749040"/>
            <a:ext cx="5394960" cy="2103120"/>
          </a:xfrm>
          <a:prstGeom prst="roundRect">
            <a:avLst>
              <a:gd name="adj" fmla="val 3043"/>
            </a:avLst>
          </a:prstGeom>
          <a:solidFill>
            <a:srgbClr val="E7F7F0"/>
          </a:solidFill>
          <a:ln w="12700">
            <a:solidFill>
              <a:srgbClr val="E4EAF2"/>
            </a:solidFill>
            <a:prstDash val="solid"/>
          </a:ln>
        </p:spPr>
      </p:sp>
      <p:sp>
        <p:nvSpPr>
          <p:cNvPr id="51" name="Shape 49"/>
          <p:cNvSpPr/>
          <p:nvPr/>
        </p:nvSpPr>
        <p:spPr>
          <a:xfrm>
            <a:off x="6245352" y="3749040"/>
            <a:ext cx="82296" cy="2103120"/>
          </a:xfrm>
          <a:prstGeom prst="rect">
            <a:avLst/>
          </a:prstGeom>
          <a:solidFill>
            <a:srgbClr val="0DA5A0"/>
          </a:solidFill>
          <a:ln/>
        </p:spPr>
      </p:sp>
      <p:sp>
        <p:nvSpPr>
          <p:cNvPr id="52" name="Text 50"/>
          <p:cNvSpPr/>
          <p:nvPr/>
        </p:nvSpPr>
        <p:spPr>
          <a:xfrm>
            <a:off x="6519672" y="3913632"/>
            <a:ext cx="4937760" cy="320040"/>
          </a:xfrm>
          <a:prstGeom prst="rect">
            <a:avLst/>
          </a:prstGeom>
          <a:noFill/>
          <a:ln/>
        </p:spPr>
        <p:txBody>
          <a:bodyPr wrap="square" lIns="0" tIns="0" rIns="0" bIns="0" rtlCol="0" anchor="t"/>
          <a:lstStyle/>
          <a:p>
            <a:pPr indent="0" marL="0">
              <a:buNone/>
            </a:pPr>
            <a:r>
              <a:rPr lang="en-US" sz="1350" b="1" dirty="0">
                <a:solidFill>
                  <a:srgbClr val="0DA5A0"/>
                </a:solidFill>
                <a:latin typeface="Calibri" pitchFamily="34" charset="0"/>
                <a:ea typeface="Calibri" pitchFamily="34" charset="-122"/>
                <a:cs typeface="Calibri" pitchFamily="34" charset="-120"/>
              </a:rPr>
              <a:t>What is factored in, per region</a:t>
            </a:r>
            <a:endParaRPr lang="en-US" sz="1350" dirty="0"/>
          </a:p>
        </p:txBody>
      </p:sp>
      <p:sp>
        <p:nvSpPr>
          <p:cNvPr id="53" name="Shape 51"/>
          <p:cNvSpPr/>
          <p:nvPr/>
        </p:nvSpPr>
        <p:spPr>
          <a:xfrm>
            <a:off x="6519672" y="4370832"/>
            <a:ext cx="91440" cy="91440"/>
          </a:xfrm>
          <a:prstGeom prst="ellipse">
            <a:avLst/>
          </a:prstGeom>
          <a:solidFill>
            <a:srgbClr val="0DA5A0"/>
          </a:solidFill>
          <a:ln/>
        </p:spPr>
      </p:sp>
      <p:sp>
        <p:nvSpPr>
          <p:cNvPr id="54" name="Text 52"/>
          <p:cNvSpPr/>
          <p:nvPr/>
        </p:nvSpPr>
        <p:spPr>
          <a:xfrm>
            <a:off x="670255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Labour by trade (£/hr)</a:t>
            </a:r>
            <a:endParaRPr lang="en-US" sz="1000" dirty="0"/>
          </a:p>
        </p:txBody>
      </p:sp>
      <p:sp>
        <p:nvSpPr>
          <p:cNvPr id="55" name="Shape 53"/>
          <p:cNvSpPr/>
          <p:nvPr/>
        </p:nvSpPr>
        <p:spPr>
          <a:xfrm>
            <a:off x="9125712" y="4370832"/>
            <a:ext cx="91440" cy="91440"/>
          </a:xfrm>
          <a:prstGeom prst="ellipse">
            <a:avLst/>
          </a:prstGeom>
          <a:solidFill>
            <a:srgbClr val="0DA5A0"/>
          </a:solidFill>
          <a:ln/>
        </p:spPr>
      </p:sp>
      <p:sp>
        <p:nvSpPr>
          <p:cNvPr id="56" name="Text 54"/>
          <p:cNvSpPr/>
          <p:nvPr/>
        </p:nvSpPr>
        <p:spPr>
          <a:xfrm>
            <a:off x="930859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Energy — elec &amp; gas (£/kWh)</a:t>
            </a:r>
            <a:endParaRPr lang="en-US" sz="1000" dirty="0"/>
          </a:p>
        </p:txBody>
      </p:sp>
      <p:sp>
        <p:nvSpPr>
          <p:cNvPr id="57" name="Shape 55"/>
          <p:cNvSpPr/>
          <p:nvPr/>
        </p:nvSpPr>
        <p:spPr>
          <a:xfrm>
            <a:off x="6519672" y="4754880"/>
            <a:ext cx="91440" cy="91440"/>
          </a:xfrm>
          <a:prstGeom prst="ellipse">
            <a:avLst/>
          </a:prstGeom>
          <a:solidFill>
            <a:srgbClr val="0DA5A0"/>
          </a:solidFill>
          <a:ln/>
        </p:spPr>
      </p:sp>
      <p:sp>
        <p:nvSpPr>
          <p:cNvPr id="58" name="Text 56"/>
          <p:cNvSpPr/>
          <p:nvPr/>
        </p:nvSpPr>
        <p:spPr>
          <a:xfrm>
            <a:off x="670255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Material factors (resin &amp; metal)</a:t>
            </a:r>
            <a:endParaRPr lang="en-US" sz="1000" dirty="0"/>
          </a:p>
        </p:txBody>
      </p:sp>
      <p:sp>
        <p:nvSpPr>
          <p:cNvPr id="59" name="Shape 57"/>
          <p:cNvSpPr/>
          <p:nvPr/>
        </p:nvSpPr>
        <p:spPr>
          <a:xfrm>
            <a:off x="9125712" y="4754880"/>
            <a:ext cx="91440" cy="91440"/>
          </a:xfrm>
          <a:prstGeom prst="ellipse">
            <a:avLst/>
          </a:prstGeom>
          <a:solidFill>
            <a:srgbClr val="0DA5A0"/>
          </a:solidFill>
          <a:ln/>
        </p:spPr>
      </p:sp>
      <p:sp>
        <p:nvSpPr>
          <p:cNvPr id="60" name="Text 58"/>
          <p:cNvSpPr/>
          <p:nvPr/>
        </p:nvSpPr>
        <p:spPr>
          <a:xfrm>
            <a:off x="930859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Machine-rate multiplier</a:t>
            </a:r>
            <a:endParaRPr lang="en-US" sz="1000" dirty="0"/>
          </a:p>
        </p:txBody>
      </p:sp>
      <p:sp>
        <p:nvSpPr>
          <p:cNvPr id="61" name="Shape 59"/>
          <p:cNvSpPr/>
          <p:nvPr/>
        </p:nvSpPr>
        <p:spPr>
          <a:xfrm>
            <a:off x="6519672" y="5138928"/>
            <a:ext cx="91440" cy="91440"/>
          </a:xfrm>
          <a:prstGeom prst="ellipse">
            <a:avLst/>
          </a:prstGeom>
          <a:solidFill>
            <a:srgbClr val="0DA5A0"/>
          </a:solidFill>
          <a:ln/>
        </p:spPr>
      </p:sp>
      <p:sp>
        <p:nvSpPr>
          <p:cNvPr id="62" name="Text 60"/>
          <p:cNvSpPr/>
          <p:nvPr/>
        </p:nvSpPr>
        <p:spPr>
          <a:xfrm>
            <a:off x="670255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Overhead multiplier</a:t>
            </a:r>
            <a:endParaRPr lang="en-US" sz="1000" dirty="0"/>
          </a:p>
        </p:txBody>
      </p:sp>
      <p:sp>
        <p:nvSpPr>
          <p:cNvPr id="63" name="Shape 61"/>
          <p:cNvSpPr/>
          <p:nvPr/>
        </p:nvSpPr>
        <p:spPr>
          <a:xfrm>
            <a:off x="9125712" y="5138928"/>
            <a:ext cx="91440" cy="91440"/>
          </a:xfrm>
          <a:prstGeom prst="ellipse">
            <a:avLst/>
          </a:prstGeom>
          <a:solidFill>
            <a:srgbClr val="0DA5A0"/>
          </a:solidFill>
          <a:ln/>
        </p:spPr>
      </p:sp>
      <p:sp>
        <p:nvSpPr>
          <p:cNvPr id="64" name="Text 62"/>
          <p:cNvSpPr/>
          <p:nvPr/>
        </p:nvSpPr>
        <p:spPr>
          <a:xfrm>
            <a:off x="930859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Packaging &amp; logistics</a:t>
            </a:r>
            <a:endParaRPr lang="en-US" sz="1000" dirty="0"/>
          </a:p>
        </p:txBody>
      </p:sp>
      <p:sp>
        <p:nvSpPr>
          <p:cNvPr id="65" name="Shape 63"/>
          <p:cNvSpPr/>
          <p:nvPr/>
        </p:nvSpPr>
        <p:spPr>
          <a:xfrm>
            <a:off x="6519672" y="5522976"/>
            <a:ext cx="91440" cy="91440"/>
          </a:xfrm>
          <a:prstGeom prst="ellipse">
            <a:avLst/>
          </a:prstGeom>
          <a:solidFill>
            <a:srgbClr val="0DA5A0"/>
          </a:solidFill>
          <a:ln/>
        </p:spPr>
      </p:sp>
      <p:sp>
        <p:nvSpPr>
          <p:cNvPr id="66" name="Text 64"/>
          <p:cNvSpPr/>
          <p:nvPr/>
        </p:nvSpPr>
        <p:spPr>
          <a:xfrm>
            <a:off x="670255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FX to GBP</a:t>
            </a:r>
            <a:endParaRPr lang="en-US" sz="1000" dirty="0"/>
          </a:p>
        </p:txBody>
      </p:sp>
      <p:sp>
        <p:nvSpPr>
          <p:cNvPr id="67" name="Shape 65"/>
          <p:cNvSpPr/>
          <p:nvPr/>
        </p:nvSpPr>
        <p:spPr>
          <a:xfrm>
            <a:off x="9125712" y="5522976"/>
            <a:ext cx="91440" cy="91440"/>
          </a:xfrm>
          <a:prstGeom prst="ellipse">
            <a:avLst/>
          </a:prstGeom>
          <a:solidFill>
            <a:srgbClr val="0DA5A0"/>
          </a:solidFill>
          <a:ln/>
        </p:spPr>
      </p:sp>
      <p:sp>
        <p:nvSpPr>
          <p:cNvPr id="68" name="Text 66"/>
          <p:cNvSpPr/>
          <p:nvPr/>
        </p:nvSpPr>
        <p:spPr>
          <a:xfrm>
            <a:off x="930859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Duty &amp; shipping adders</a:t>
            </a:r>
            <a:endParaRPr lang="en-US" sz="1000" dirty="0"/>
          </a:p>
        </p:txBody>
      </p:sp>
      <p:sp>
        <p:nvSpPr>
          <p:cNvPr id="69" name="Shape 67"/>
          <p:cNvSpPr/>
          <p:nvPr/>
        </p:nvSpPr>
        <p:spPr>
          <a:xfrm>
            <a:off x="548640" y="6400800"/>
            <a:ext cx="11094415" cy="12802"/>
          </a:xfrm>
          <a:prstGeom prst="rect">
            <a:avLst/>
          </a:prstGeom>
          <a:solidFill>
            <a:srgbClr val="E4EAF2"/>
          </a:solidFill>
          <a:ln/>
        </p:spPr>
      </p:sp>
      <p:sp>
        <p:nvSpPr>
          <p:cNvPr id="70" name="Text 6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1" name="Text 6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actual rates — full transparency, no black box</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These are the real 2026-Q2 rates every costing uses — labour, energy and the regional multipliers. Nothing is hidden or hand-waved.</a:t>
            </a:r>
            <a:endParaRPr lang="en-US" sz="1200" dirty="0"/>
          </a:p>
        </p:txBody>
      </p:sp>
      <p:sp>
        <p:nvSpPr>
          <p:cNvPr id="11" name="Shape 9"/>
          <p:cNvSpPr/>
          <p:nvPr/>
        </p:nvSpPr>
        <p:spPr>
          <a:xfrm>
            <a:off x="548640" y="1965960"/>
            <a:ext cx="11091672" cy="329184"/>
          </a:xfrm>
          <a:prstGeom prst="roundRect">
            <a:avLst>
              <a:gd name="adj" fmla="val 11111"/>
            </a:avLst>
          </a:prstGeom>
          <a:solidFill>
            <a:srgbClr val="0F1E3D"/>
          </a:solidFill>
          <a:ln/>
        </p:spPr>
      </p:sp>
      <p:sp>
        <p:nvSpPr>
          <p:cNvPr id="12" name="Text 10"/>
          <p:cNvSpPr/>
          <p:nvPr/>
        </p:nvSpPr>
        <p:spPr>
          <a:xfrm>
            <a:off x="658368" y="1965960"/>
            <a:ext cx="2011680" cy="329184"/>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Region</a:t>
            </a:r>
            <a:endParaRPr lang="en-US" sz="950" dirty="0"/>
          </a:p>
        </p:txBody>
      </p:sp>
      <p:sp>
        <p:nvSpPr>
          <p:cNvPr id="13" name="Text 11"/>
          <p:cNvSpPr/>
          <p:nvPr/>
        </p:nvSpPr>
        <p:spPr>
          <a:xfrm>
            <a:off x="2807208" y="1965960"/>
            <a:ext cx="14630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Skilled £/hr</a:t>
            </a:r>
            <a:endParaRPr lang="en-US" sz="950" dirty="0"/>
          </a:p>
        </p:txBody>
      </p:sp>
      <p:sp>
        <p:nvSpPr>
          <p:cNvPr id="14" name="Text 12"/>
          <p:cNvSpPr/>
          <p:nvPr/>
        </p:nvSpPr>
        <p:spPr>
          <a:xfrm>
            <a:off x="4407408" y="1965960"/>
            <a:ext cx="141732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Foundry £/hr</a:t>
            </a:r>
            <a:endParaRPr lang="en-US" sz="950" dirty="0"/>
          </a:p>
        </p:txBody>
      </p:sp>
      <p:sp>
        <p:nvSpPr>
          <p:cNvPr id="15" name="Text 13"/>
          <p:cNvSpPr/>
          <p:nvPr/>
        </p:nvSpPr>
        <p:spPr>
          <a:xfrm>
            <a:off x="5961888" y="1965960"/>
            <a:ext cx="128016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Elec £/kWh</a:t>
            </a:r>
            <a:endParaRPr lang="en-US" sz="950" dirty="0"/>
          </a:p>
        </p:txBody>
      </p:sp>
      <p:sp>
        <p:nvSpPr>
          <p:cNvPr id="16" name="Text 14"/>
          <p:cNvSpPr/>
          <p:nvPr/>
        </p:nvSpPr>
        <p:spPr>
          <a:xfrm>
            <a:off x="7379208" y="1965960"/>
            <a:ext cx="12344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Machine ×</a:t>
            </a:r>
            <a:endParaRPr lang="en-US" sz="950" dirty="0"/>
          </a:p>
        </p:txBody>
      </p:sp>
      <p:sp>
        <p:nvSpPr>
          <p:cNvPr id="17" name="Text 15"/>
          <p:cNvSpPr/>
          <p:nvPr/>
        </p:nvSpPr>
        <p:spPr>
          <a:xfrm>
            <a:off x="8750808" y="1965960"/>
            <a:ext cx="13258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Overhead ×</a:t>
            </a:r>
            <a:endParaRPr lang="en-US" sz="950" dirty="0"/>
          </a:p>
        </p:txBody>
      </p:sp>
      <p:sp>
        <p:nvSpPr>
          <p:cNvPr id="18" name="Text 16"/>
          <p:cNvSpPr/>
          <p:nvPr/>
        </p:nvSpPr>
        <p:spPr>
          <a:xfrm>
            <a:off x="10213848" y="1965960"/>
            <a:ext cx="134416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Logistics ×</a:t>
            </a:r>
            <a:endParaRPr lang="en-US" sz="950" dirty="0"/>
          </a:p>
        </p:txBody>
      </p:sp>
      <p:sp>
        <p:nvSpPr>
          <p:cNvPr id="19" name="Shape 17"/>
          <p:cNvSpPr/>
          <p:nvPr/>
        </p:nvSpPr>
        <p:spPr>
          <a:xfrm>
            <a:off x="548640" y="2295144"/>
            <a:ext cx="11091672" cy="329184"/>
          </a:xfrm>
          <a:prstGeom prst="rect">
            <a:avLst/>
          </a:prstGeom>
          <a:solidFill>
            <a:srgbClr val="F4F7FB"/>
          </a:solidFill>
          <a:ln/>
        </p:spPr>
      </p:sp>
      <p:sp>
        <p:nvSpPr>
          <p:cNvPr id="20" name="Text 18"/>
          <p:cNvSpPr/>
          <p:nvPr/>
        </p:nvSpPr>
        <p:spPr>
          <a:xfrm>
            <a:off x="658368" y="229514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Kingdom</a:t>
            </a:r>
            <a:endParaRPr lang="en-US" sz="930" dirty="0"/>
          </a:p>
        </p:txBody>
      </p:sp>
      <p:sp>
        <p:nvSpPr>
          <p:cNvPr id="21" name="Text 19"/>
          <p:cNvSpPr/>
          <p:nvPr/>
        </p:nvSpPr>
        <p:spPr>
          <a:xfrm>
            <a:off x="2807208" y="229514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26.00</a:t>
            </a:r>
            <a:endParaRPr lang="en-US" sz="930" dirty="0"/>
          </a:p>
        </p:txBody>
      </p:sp>
      <p:sp>
        <p:nvSpPr>
          <p:cNvPr id="22" name="Text 20"/>
          <p:cNvSpPr/>
          <p:nvPr/>
        </p:nvSpPr>
        <p:spPr>
          <a:xfrm>
            <a:off x="4407408" y="229514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18.50</a:t>
            </a:r>
            <a:endParaRPr lang="en-US" sz="930" dirty="0"/>
          </a:p>
        </p:txBody>
      </p:sp>
      <p:sp>
        <p:nvSpPr>
          <p:cNvPr id="23" name="Text 21"/>
          <p:cNvSpPr/>
          <p:nvPr/>
        </p:nvSpPr>
        <p:spPr>
          <a:xfrm>
            <a:off x="5961888" y="229514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0.23</a:t>
            </a:r>
            <a:endParaRPr lang="en-US" sz="930" dirty="0"/>
          </a:p>
        </p:txBody>
      </p:sp>
      <p:sp>
        <p:nvSpPr>
          <p:cNvPr id="24" name="Text 22"/>
          <p:cNvSpPr/>
          <p:nvPr/>
        </p:nvSpPr>
        <p:spPr>
          <a:xfrm>
            <a:off x="7379208" y="229514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5" name="Text 23"/>
          <p:cNvSpPr/>
          <p:nvPr/>
        </p:nvSpPr>
        <p:spPr>
          <a:xfrm>
            <a:off x="8750808" y="229514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6" name="Text 24"/>
          <p:cNvSpPr/>
          <p:nvPr/>
        </p:nvSpPr>
        <p:spPr>
          <a:xfrm>
            <a:off x="10213848" y="229514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7" name="Shape 25"/>
          <p:cNvSpPr/>
          <p:nvPr/>
        </p:nvSpPr>
        <p:spPr>
          <a:xfrm>
            <a:off x="548640" y="2624328"/>
            <a:ext cx="11091672" cy="329184"/>
          </a:xfrm>
          <a:prstGeom prst="rect">
            <a:avLst/>
          </a:prstGeom>
          <a:solidFill>
            <a:srgbClr val="FFFFFF"/>
          </a:solidFill>
          <a:ln/>
        </p:spPr>
      </p:sp>
      <p:sp>
        <p:nvSpPr>
          <p:cNvPr id="28" name="Text 26"/>
          <p:cNvSpPr/>
          <p:nvPr/>
        </p:nvSpPr>
        <p:spPr>
          <a:xfrm>
            <a:off x="658368" y="262432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Germany</a:t>
            </a:r>
            <a:endParaRPr lang="en-US" sz="930" dirty="0"/>
          </a:p>
        </p:txBody>
      </p:sp>
      <p:sp>
        <p:nvSpPr>
          <p:cNvPr id="29" name="Text 27"/>
          <p:cNvSpPr/>
          <p:nvPr/>
        </p:nvSpPr>
        <p:spPr>
          <a:xfrm>
            <a:off x="2807208" y="262432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40.50</a:t>
            </a:r>
            <a:endParaRPr lang="en-US" sz="930" dirty="0"/>
          </a:p>
        </p:txBody>
      </p:sp>
      <p:sp>
        <p:nvSpPr>
          <p:cNvPr id="30" name="Text 28"/>
          <p:cNvSpPr/>
          <p:nvPr/>
        </p:nvSpPr>
        <p:spPr>
          <a:xfrm>
            <a:off x="4407408" y="262432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28.00</a:t>
            </a:r>
            <a:endParaRPr lang="en-US" sz="930" dirty="0"/>
          </a:p>
        </p:txBody>
      </p:sp>
      <p:sp>
        <p:nvSpPr>
          <p:cNvPr id="31" name="Text 29"/>
          <p:cNvSpPr/>
          <p:nvPr/>
        </p:nvSpPr>
        <p:spPr>
          <a:xfrm>
            <a:off x="5961888" y="262432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0.20</a:t>
            </a:r>
            <a:endParaRPr lang="en-US" sz="930" dirty="0"/>
          </a:p>
        </p:txBody>
      </p:sp>
      <p:sp>
        <p:nvSpPr>
          <p:cNvPr id="32" name="Text 30"/>
          <p:cNvSpPr/>
          <p:nvPr/>
        </p:nvSpPr>
        <p:spPr>
          <a:xfrm>
            <a:off x="7379208" y="262432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1.05</a:t>
            </a:r>
            <a:endParaRPr lang="en-US" sz="930" dirty="0"/>
          </a:p>
        </p:txBody>
      </p:sp>
      <p:sp>
        <p:nvSpPr>
          <p:cNvPr id="33" name="Text 31"/>
          <p:cNvSpPr/>
          <p:nvPr/>
        </p:nvSpPr>
        <p:spPr>
          <a:xfrm>
            <a:off x="8750808" y="262432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1.10</a:t>
            </a:r>
            <a:endParaRPr lang="en-US" sz="930" dirty="0"/>
          </a:p>
        </p:txBody>
      </p:sp>
      <p:sp>
        <p:nvSpPr>
          <p:cNvPr id="34" name="Text 32"/>
          <p:cNvSpPr/>
          <p:nvPr/>
        </p:nvSpPr>
        <p:spPr>
          <a:xfrm>
            <a:off x="10213848" y="262432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1.15</a:t>
            </a:r>
            <a:endParaRPr lang="en-US" sz="930" dirty="0"/>
          </a:p>
        </p:txBody>
      </p:sp>
      <p:sp>
        <p:nvSpPr>
          <p:cNvPr id="35" name="Shape 33"/>
          <p:cNvSpPr/>
          <p:nvPr/>
        </p:nvSpPr>
        <p:spPr>
          <a:xfrm>
            <a:off x="548640" y="2953512"/>
            <a:ext cx="11091672" cy="329184"/>
          </a:xfrm>
          <a:prstGeom prst="rect">
            <a:avLst/>
          </a:prstGeom>
          <a:solidFill>
            <a:srgbClr val="F4F7FB"/>
          </a:solidFill>
          <a:ln/>
        </p:spPr>
      </p:sp>
      <p:sp>
        <p:nvSpPr>
          <p:cNvPr id="36" name="Text 34"/>
          <p:cNvSpPr/>
          <p:nvPr/>
        </p:nvSpPr>
        <p:spPr>
          <a:xfrm>
            <a:off x="658368" y="295351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States</a:t>
            </a:r>
            <a:endParaRPr lang="en-US" sz="930" dirty="0"/>
          </a:p>
        </p:txBody>
      </p:sp>
      <p:sp>
        <p:nvSpPr>
          <p:cNvPr id="37" name="Text 35"/>
          <p:cNvSpPr/>
          <p:nvPr/>
        </p:nvSpPr>
        <p:spPr>
          <a:xfrm>
            <a:off x="2807208" y="295351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34.00</a:t>
            </a:r>
            <a:endParaRPr lang="en-US" sz="930" dirty="0"/>
          </a:p>
        </p:txBody>
      </p:sp>
      <p:sp>
        <p:nvSpPr>
          <p:cNvPr id="38" name="Text 36"/>
          <p:cNvSpPr/>
          <p:nvPr/>
        </p:nvSpPr>
        <p:spPr>
          <a:xfrm>
            <a:off x="4407408" y="295351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24.00</a:t>
            </a:r>
            <a:endParaRPr lang="en-US" sz="930" dirty="0"/>
          </a:p>
        </p:txBody>
      </p:sp>
      <p:sp>
        <p:nvSpPr>
          <p:cNvPr id="39" name="Text 37"/>
          <p:cNvSpPr/>
          <p:nvPr/>
        </p:nvSpPr>
        <p:spPr>
          <a:xfrm>
            <a:off x="5961888" y="295351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0.10</a:t>
            </a:r>
            <a:endParaRPr lang="en-US" sz="930" dirty="0"/>
          </a:p>
        </p:txBody>
      </p:sp>
      <p:sp>
        <p:nvSpPr>
          <p:cNvPr id="40" name="Text 38"/>
          <p:cNvSpPr/>
          <p:nvPr/>
        </p:nvSpPr>
        <p:spPr>
          <a:xfrm>
            <a:off x="7379208" y="295351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41" name="Text 39"/>
          <p:cNvSpPr/>
          <p:nvPr/>
        </p:nvSpPr>
        <p:spPr>
          <a:xfrm>
            <a:off x="8750808" y="295351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0.95</a:t>
            </a:r>
            <a:endParaRPr lang="en-US" sz="930" dirty="0"/>
          </a:p>
        </p:txBody>
      </p:sp>
      <p:sp>
        <p:nvSpPr>
          <p:cNvPr id="42" name="Text 40"/>
          <p:cNvSpPr/>
          <p:nvPr/>
        </p:nvSpPr>
        <p:spPr>
          <a:xfrm>
            <a:off x="10213848" y="295351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1.25</a:t>
            </a:r>
            <a:endParaRPr lang="en-US" sz="930" dirty="0"/>
          </a:p>
        </p:txBody>
      </p:sp>
      <p:sp>
        <p:nvSpPr>
          <p:cNvPr id="43" name="Shape 41"/>
          <p:cNvSpPr/>
          <p:nvPr/>
        </p:nvSpPr>
        <p:spPr>
          <a:xfrm>
            <a:off x="548640" y="3282696"/>
            <a:ext cx="11091672" cy="329184"/>
          </a:xfrm>
          <a:prstGeom prst="rect">
            <a:avLst/>
          </a:prstGeom>
          <a:solidFill>
            <a:srgbClr val="FFFFFF"/>
          </a:solidFill>
          <a:ln/>
        </p:spPr>
      </p:sp>
      <p:sp>
        <p:nvSpPr>
          <p:cNvPr id="44" name="Text 42"/>
          <p:cNvSpPr/>
          <p:nvPr/>
        </p:nvSpPr>
        <p:spPr>
          <a:xfrm>
            <a:off x="658368" y="328269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Poland</a:t>
            </a:r>
            <a:endParaRPr lang="en-US" sz="930" dirty="0"/>
          </a:p>
        </p:txBody>
      </p:sp>
      <p:sp>
        <p:nvSpPr>
          <p:cNvPr id="45" name="Text 43"/>
          <p:cNvSpPr/>
          <p:nvPr/>
        </p:nvSpPr>
        <p:spPr>
          <a:xfrm>
            <a:off x="2807208" y="328269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12.00</a:t>
            </a:r>
            <a:endParaRPr lang="en-US" sz="930" dirty="0"/>
          </a:p>
        </p:txBody>
      </p:sp>
      <p:sp>
        <p:nvSpPr>
          <p:cNvPr id="46" name="Text 44"/>
          <p:cNvSpPr/>
          <p:nvPr/>
        </p:nvSpPr>
        <p:spPr>
          <a:xfrm>
            <a:off x="4407408" y="328269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8.00</a:t>
            </a:r>
            <a:endParaRPr lang="en-US" sz="930" dirty="0"/>
          </a:p>
        </p:txBody>
      </p:sp>
      <p:sp>
        <p:nvSpPr>
          <p:cNvPr id="47" name="Text 45"/>
          <p:cNvSpPr/>
          <p:nvPr/>
        </p:nvSpPr>
        <p:spPr>
          <a:xfrm>
            <a:off x="5961888" y="328269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0.14</a:t>
            </a:r>
            <a:endParaRPr lang="en-US" sz="930" dirty="0"/>
          </a:p>
        </p:txBody>
      </p:sp>
      <p:sp>
        <p:nvSpPr>
          <p:cNvPr id="48" name="Text 46"/>
          <p:cNvSpPr/>
          <p:nvPr/>
        </p:nvSpPr>
        <p:spPr>
          <a:xfrm>
            <a:off x="7379208" y="328269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49" name="Text 47"/>
          <p:cNvSpPr/>
          <p:nvPr/>
        </p:nvSpPr>
        <p:spPr>
          <a:xfrm>
            <a:off x="8750808" y="328269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50" name="Text 48"/>
          <p:cNvSpPr/>
          <p:nvPr/>
        </p:nvSpPr>
        <p:spPr>
          <a:xfrm>
            <a:off x="10213848" y="328269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1" name="Shape 49"/>
          <p:cNvSpPr/>
          <p:nvPr/>
        </p:nvSpPr>
        <p:spPr>
          <a:xfrm>
            <a:off x="548640" y="3611880"/>
            <a:ext cx="11091672" cy="329184"/>
          </a:xfrm>
          <a:prstGeom prst="rect">
            <a:avLst/>
          </a:prstGeom>
          <a:solidFill>
            <a:srgbClr val="F4F7FB"/>
          </a:solidFill>
          <a:ln/>
        </p:spPr>
      </p:sp>
      <p:sp>
        <p:nvSpPr>
          <p:cNvPr id="52" name="Text 50"/>
          <p:cNvSpPr/>
          <p:nvPr/>
        </p:nvSpPr>
        <p:spPr>
          <a:xfrm>
            <a:off x="658368" y="361188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Czech Rep.</a:t>
            </a:r>
            <a:endParaRPr lang="en-US" sz="930" dirty="0"/>
          </a:p>
        </p:txBody>
      </p:sp>
      <p:sp>
        <p:nvSpPr>
          <p:cNvPr id="53" name="Text 51"/>
          <p:cNvSpPr/>
          <p:nvPr/>
        </p:nvSpPr>
        <p:spPr>
          <a:xfrm>
            <a:off x="2807208" y="361188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13.00</a:t>
            </a:r>
            <a:endParaRPr lang="en-US" sz="930" dirty="0"/>
          </a:p>
        </p:txBody>
      </p:sp>
      <p:sp>
        <p:nvSpPr>
          <p:cNvPr id="54" name="Text 52"/>
          <p:cNvSpPr/>
          <p:nvPr/>
        </p:nvSpPr>
        <p:spPr>
          <a:xfrm>
            <a:off x="4407408" y="361188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9.50</a:t>
            </a:r>
            <a:endParaRPr lang="en-US" sz="930" dirty="0"/>
          </a:p>
        </p:txBody>
      </p:sp>
      <p:sp>
        <p:nvSpPr>
          <p:cNvPr id="55" name="Text 53"/>
          <p:cNvSpPr/>
          <p:nvPr/>
        </p:nvSpPr>
        <p:spPr>
          <a:xfrm>
            <a:off x="5961888" y="361188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0.13</a:t>
            </a:r>
            <a:endParaRPr lang="en-US" sz="930" dirty="0"/>
          </a:p>
        </p:txBody>
      </p:sp>
      <p:sp>
        <p:nvSpPr>
          <p:cNvPr id="56" name="Text 54"/>
          <p:cNvSpPr/>
          <p:nvPr/>
        </p:nvSpPr>
        <p:spPr>
          <a:xfrm>
            <a:off x="7379208" y="361188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0.74</a:t>
            </a:r>
            <a:endParaRPr lang="en-US" sz="930" dirty="0"/>
          </a:p>
        </p:txBody>
      </p:sp>
      <p:sp>
        <p:nvSpPr>
          <p:cNvPr id="57" name="Text 55"/>
          <p:cNvSpPr/>
          <p:nvPr/>
        </p:nvSpPr>
        <p:spPr>
          <a:xfrm>
            <a:off x="8750808" y="361188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0.87</a:t>
            </a:r>
            <a:endParaRPr lang="en-US" sz="930" dirty="0"/>
          </a:p>
        </p:txBody>
      </p:sp>
      <p:sp>
        <p:nvSpPr>
          <p:cNvPr id="58" name="Text 56"/>
          <p:cNvSpPr/>
          <p:nvPr/>
        </p:nvSpPr>
        <p:spPr>
          <a:xfrm>
            <a:off x="10213848" y="361188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9" name="Shape 57"/>
          <p:cNvSpPr/>
          <p:nvPr/>
        </p:nvSpPr>
        <p:spPr>
          <a:xfrm>
            <a:off x="548640" y="3941064"/>
            <a:ext cx="11091672" cy="329184"/>
          </a:xfrm>
          <a:prstGeom prst="rect">
            <a:avLst/>
          </a:prstGeom>
          <a:solidFill>
            <a:srgbClr val="FFFFFF"/>
          </a:solidFill>
          <a:ln/>
        </p:spPr>
      </p:sp>
      <p:sp>
        <p:nvSpPr>
          <p:cNvPr id="60" name="Text 58"/>
          <p:cNvSpPr/>
          <p:nvPr/>
        </p:nvSpPr>
        <p:spPr>
          <a:xfrm>
            <a:off x="658368" y="394106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Mexico</a:t>
            </a:r>
            <a:endParaRPr lang="en-US" sz="930" dirty="0"/>
          </a:p>
        </p:txBody>
      </p:sp>
      <p:sp>
        <p:nvSpPr>
          <p:cNvPr id="61" name="Text 59"/>
          <p:cNvSpPr/>
          <p:nvPr/>
        </p:nvSpPr>
        <p:spPr>
          <a:xfrm>
            <a:off x="2807208" y="394106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7.50</a:t>
            </a:r>
            <a:endParaRPr lang="en-US" sz="930" dirty="0"/>
          </a:p>
        </p:txBody>
      </p:sp>
      <p:sp>
        <p:nvSpPr>
          <p:cNvPr id="62" name="Text 60"/>
          <p:cNvSpPr/>
          <p:nvPr/>
        </p:nvSpPr>
        <p:spPr>
          <a:xfrm>
            <a:off x="4407408" y="394106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63" name="Text 61"/>
          <p:cNvSpPr/>
          <p:nvPr/>
        </p:nvSpPr>
        <p:spPr>
          <a:xfrm>
            <a:off x="5961888" y="394106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0.08</a:t>
            </a:r>
            <a:endParaRPr lang="en-US" sz="930" dirty="0"/>
          </a:p>
        </p:txBody>
      </p:sp>
      <p:sp>
        <p:nvSpPr>
          <p:cNvPr id="64" name="Text 62"/>
          <p:cNvSpPr/>
          <p:nvPr/>
        </p:nvSpPr>
        <p:spPr>
          <a:xfrm>
            <a:off x="7379208" y="394106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65" name="Text 63"/>
          <p:cNvSpPr/>
          <p:nvPr/>
        </p:nvSpPr>
        <p:spPr>
          <a:xfrm>
            <a:off x="8750808" y="394106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66" name="Text 64"/>
          <p:cNvSpPr/>
          <p:nvPr/>
        </p:nvSpPr>
        <p:spPr>
          <a:xfrm>
            <a:off x="10213848" y="394106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1.35</a:t>
            </a:r>
            <a:endParaRPr lang="en-US" sz="930" dirty="0"/>
          </a:p>
        </p:txBody>
      </p:sp>
      <p:sp>
        <p:nvSpPr>
          <p:cNvPr id="67" name="Shape 65"/>
          <p:cNvSpPr/>
          <p:nvPr/>
        </p:nvSpPr>
        <p:spPr>
          <a:xfrm>
            <a:off x="548640" y="4270248"/>
            <a:ext cx="11091672" cy="329184"/>
          </a:xfrm>
          <a:prstGeom prst="rect">
            <a:avLst/>
          </a:prstGeom>
          <a:solidFill>
            <a:srgbClr val="F4F7FB"/>
          </a:solidFill>
          <a:ln/>
        </p:spPr>
      </p:sp>
      <p:sp>
        <p:nvSpPr>
          <p:cNvPr id="68" name="Text 66"/>
          <p:cNvSpPr/>
          <p:nvPr/>
        </p:nvSpPr>
        <p:spPr>
          <a:xfrm>
            <a:off x="658368" y="427024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Turkey</a:t>
            </a:r>
            <a:endParaRPr lang="en-US" sz="930" dirty="0"/>
          </a:p>
        </p:txBody>
      </p:sp>
      <p:sp>
        <p:nvSpPr>
          <p:cNvPr id="69" name="Text 67"/>
          <p:cNvSpPr/>
          <p:nvPr/>
        </p:nvSpPr>
        <p:spPr>
          <a:xfrm>
            <a:off x="2807208" y="427024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6.50</a:t>
            </a:r>
            <a:endParaRPr lang="en-US" sz="930" dirty="0"/>
          </a:p>
        </p:txBody>
      </p:sp>
      <p:sp>
        <p:nvSpPr>
          <p:cNvPr id="70" name="Text 68"/>
          <p:cNvSpPr/>
          <p:nvPr/>
        </p:nvSpPr>
        <p:spPr>
          <a:xfrm>
            <a:off x="4407408" y="427024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71" name="Text 69"/>
          <p:cNvSpPr/>
          <p:nvPr/>
        </p:nvSpPr>
        <p:spPr>
          <a:xfrm>
            <a:off x="5961888" y="427024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0.09</a:t>
            </a:r>
            <a:endParaRPr lang="en-US" sz="930" dirty="0"/>
          </a:p>
        </p:txBody>
      </p:sp>
      <p:sp>
        <p:nvSpPr>
          <p:cNvPr id="72" name="Text 70"/>
          <p:cNvSpPr/>
          <p:nvPr/>
        </p:nvSpPr>
        <p:spPr>
          <a:xfrm>
            <a:off x="7379208" y="427024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73" name="Text 71"/>
          <p:cNvSpPr/>
          <p:nvPr/>
        </p:nvSpPr>
        <p:spPr>
          <a:xfrm>
            <a:off x="8750808" y="427024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74" name="Text 72"/>
          <p:cNvSpPr/>
          <p:nvPr/>
        </p:nvSpPr>
        <p:spPr>
          <a:xfrm>
            <a:off x="10213848" y="427024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a:t>
            </a:r>
            <a:endParaRPr lang="en-US" sz="930" dirty="0"/>
          </a:p>
        </p:txBody>
      </p:sp>
      <p:sp>
        <p:nvSpPr>
          <p:cNvPr id="75" name="Shape 73"/>
          <p:cNvSpPr/>
          <p:nvPr/>
        </p:nvSpPr>
        <p:spPr>
          <a:xfrm>
            <a:off x="548640" y="4599432"/>
            <a:ext cx="11091672" cy="329184"/>
          </a:xfrm>
          <a:prstGeom prst="rect">
            <a:avLst/>
          </a:prstGeom>
          <a:solidFill>
            <a:srgbClr val="FFFFFF"/>
          </a:solidFill>
          <a:ln/>
        </p:spPr>
      </p:sp>
      <p:sp>
        <p:nvSpPr>
          <p:cNvPr id="76" name="Text 74"/>
          <p:cNvSpPr/>
          <p:nvPr/>
        </p:nvSpPr>
        <p:spPr>
          <a:xfrm>
            <a:off x="658368" y="459943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China</a:t>
            </a:r>
            <a:endParaRPr lang="en-US" sz="930" dirty="0"/>
          </a:p>
        </p:txBody>
      </p:sp>
      <p:sp>
        <p:nvSpPr>
          <p:cNvPr id="77" name="Text 75"/>
          <p:cNvSpPr/>
          <p:nvPr/>
        </p:nvSpPr>
        <p:spPr>
          <a:xfrm>
            <a:off x="2807208" y="459943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7.90</a:t>
            </a:r>
            <a:endParaRPr lang="en-US" sz="930" dirty="0"/>
          </a:p>
        </p:txBody>
      </p:sp>
      <p:sp>
        <p:nvSpPr>
          <p:cNvPr id="78" name="Text 76"/>
          <p:cNvSpPr/>
          <p:nvPr/>
        </p:nvSpPr>
        <p:spPr>
          <a:xfrm>
            <a:off x="4407408" y="459943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5.00</a:t>
            </a:r>
            <a:endParaRPr lang="en-US" sz="930" dirty="0"/>
          </a:p>
        </p:txBody>
      </p:sp>
      <p:sp>
        <p:nvSpPr>
          <p:cNvPr id="79" name="Text 77"/>
          <p:cNvSpPr/>
          <p:nvPr/>
        </p:nvSpPr>
        <p:spPr>
          <a:xfrm>
            <a:off x="5961888" y="459943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0" name="Text 78"/>
          <p:cNvSpPr/>
          <p:nvPr/>
        </p:nvSpPr>
        <p:spPr>
          <a:xfrm>
            <a:off x="7379208" y="459943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0.55</a:t>
            </a:r>
            <a:endParaRPr lang="en-US" sz="930" dirty="0"/>
          </a:p>
        </p:txBody>
      </p:sp>
      <p:sp>
        <p:nvSpPr>
          <p:cNvPr id="81" name="Text 79"/>
          <p:cNvSpPr/>
          <p:nvPr/>
        </p:nvSpPr>
        <p:spPr>
          <a:xfrm>
            <a:off x="8750808" y="459943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0.75</a:t>
            </a:r>
            <a:endParaRPr lang="en-US" sz="930" dirty="0"/>
          </a:p>
        </p:txBody>
      </p:sp>
      <p:sp>
        <p:nvSpPr>
          <p:cNvPr id="82" name="Text 80"/>
          <p:cNvSpPr/>
          <p:nvPr/>
        </p:nvSpPr>
        <p:spPr>
          <a:xfrm>
            <a:off x="10213848" y="459943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1.45</a:t>
            </a:r>
            <a:endParaRPr lang="en-US" sz="930" dirty="0"/>
          </a:p>
        </p:txBody>
      </p:sp>
      <p:sp>
        <p:nvSpPr>
          <p:cNvPr id="83" name="Shape 81"/>
          <p:cNvSpPr/>
          <p:nvPr/>
        </p:nvSpPr>
        <p:spPr>
          <a:xfrm>
            <a:off x="548640" y="4928616"/>
            <a:ext cx="11091672" cy="329184"/>
          </a:xfrm>
          <a:prstGeom prst="rect">
            <a:avLst/>
          </a:prstGeom>
          <a:solidFill>
            <a:srgbClr val="F4F7FB"/>
          </a:solidFill>
          <a:ln/>
        </p:spPr>
      </p:sp>
      <p:sp>
        <p:nvSpPr>
          <p:cNvPr id="84" name="Text 82"/>
          <p:cNvSpPr/>
          <p:nvPr/>
        </p:nvSpPr>
        <p:spPr>
          <a:xfrm>
            <a:off x="658368" y="492861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India</a:t>
            </a:r>
            <a:endParaRPr lang="en-US" sz="930" dirty="0"/>
          </a:p>
        </p:txBody>
      </p:sp>
      <p:sp>
        <p:nvSpPr>
          <p:cNvPr id="85" name="Text 83"/>
          <p:cNvSpPr/>
          <p:nvPr/>
        </p:nvSpPr>
        <p:spPr>
          <a:xfrm>
            <a:off x="2807208" y="492861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5.10</a:t>
            </a:r>
            <a:endParaRPr lang="en-US" sz="930" dirty="0"/>
          </a:p>
        </p:txBody>
      </p:sp>
      <p:sp>
        <p:nvSpPr>
          <p:cNvPr id="86" name="Text 84"/>
          <p:cNvSpPr/>
          <p:nvPr/>
        </p:nvSpPr>
        <p:spPr>
          <a:xfrm>
            <a:off x="4407408" y="492861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3.00</a:t>
            </a:r>
            <a:endParaRPr lang="en-US" sz="930" dirty="0"/>
          </a:p>
        </p:txBody>
      </p:sp>
      <p:sp>
        <p:nvSpPr>
          <p:cNvPr id="87" name="Text 85"/>
          <p:cNvSpPr/>
          <p:nvPr/>
        </p:nvSpPr>
        <p:spPr>
          <a:xfrm>
            <a:off x="5961888" y="492861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8" name="Text 86"/>
          <p:cNvSpPr/>
          <p:nvPr/>
        </p:nvSpPr>
        <p:spPr>
          <a:xfrm>
            <a:off x="7379208" y="492861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89" name="Text 87"/>
          <p:cNvSpPr/>
          <p:nvPr/>
        </p:nvSpPr>
        <p:spPr>
          <a:xfrm>
            <a:off x="8750808" y="492861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90" name="Text 88"/>
          <p:cNvSpPr/>
          <p:nvPr/>
        </p:nvSpPr>
        <p:spPr>
          <a:xfrm>
            <a:off x="10213848" y="492861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1" name="Shape 89"/>
          <p:cNvSpPr/>
          <p:nvPr/>
        </p:nvSpPr>
        <p:spPr>
          <a:xfrm>
            <a:off x="548640" y="5257800"/>
            <a:ext cx="11091672" cy="329184"/>
          </a:xfrm>
          <a:prstGeom prst="rect">
            <a:avLst/>
          </a:prstGeom>
          <a:solidFill>
            <a:srgbClr val="FFFFFF"/>
          </a:solidFill>
          <a:ln/>
        </p:spPr>
      </p:sp>
      <p:sp>
        <p:nvSpPr>
          <p:cNvPr id="92" name="Text 90"/>
          <p:cNvSpPr/>
          <p:nvPr/>
        </p:nvSpPr>
        <p:spPr>
          <a:xfrm>
            <a:off x="658368" y="525780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Vietnam</a:t>
            </a:r>
            <a:endParaRPr lang="en-US" sz="930" dirty="0"/>
          </a:p>
        </p:txBody>
      </p:sp>
      <p:sp>
        <p:nvSpPr>
          <p:cNvPr id="93" name="Text 91"/>
          <p:cNvSpPr/>
          <p:nvPr/>
        </p:nvSpPr>
        <p:spPr>
          <a:xfrm>
            <a:off x="2807208" y="525780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3.80</a:t>
            </a:r>
            <a:endParaRPr lang="en-US" sz="930" dirty="0"/>
          </a:p>
        </p:txBody>
      </p:sp>
      <p:sp>
        <p:nvSpPr>
          <p:cNvPr id="94" name="Text 92"/>
          <p:cNvSpPr/>
          <p:nvPr/>
        </p:nvSpPr>
        <p:spPr>
          <a:xfrm>
            <a:off x="4407408" y="525780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2.50</a:t>
            </a:r>
            <a:endParaRPr lang="en-US" sz="930" dirty="0"/>
          </a:p>
        </p:txBody>
      </p:sp>
      <p:sp>
        <p:nvSpPr>
          <p:cNvPr id="95" name="Text 93"/>
          <p:cNvSpPr/>
          <p:nvPr/>
        </p:nvSpPr>
        <p:spPr>
          <a:xfrm>
            <a:off x="5961888" y="525780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0.06</a:t>
            </a:r>
            <a:endParaRPr lang="en-US" sz="930" dirty="0"/>
          </a:p>
        </p:txBody>
      </p:sp>
      <p:sp>
        <p:nvSpPr>
          <p:cNvPr id="96" name="Text 94"/>
          <p:cNvSpPr/>
          <p:nvPr/>
        </p:nvSpPr>
        <p:spPr>
          <a:xfrm>
            <a:off x="7379208" y="525780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97" name="Text 95"/>
          <p:cNvSpPr/>
          <p:nvPr/>
        </p:nvSpPr>
        <p:spPr>
          <a:xfrm>
            <a:off x="8750808" y="525780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0.70</a:t>
            </a:r>
            <a:endParaRPr lang="en-US" sz="930" dirty="0"/>
          </a:p>
        </p:txBody>
      </p:sp>
      <p:sp>
        <p:nvSpPr>
          <p:cNvPr id="98" name="Text 96"/>
          <p:cNvSpPr/>
          <p:nvPr/>
        </p:nvSpPr>
        <p:spPr>
          <a:xfrm>
            <a:off x="10213848" y="525780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9" name="Shape 97"/>
          <p:cNvSpPr/>
          <p:nvPr/>
        </p:nvSpPr>
        <p:spPr>
          <a:xfrm>
            <a:off x="548640" y="5696712"/>
            <a:ext cx="11091672" cy="566928"/>
          </a:xfrm>
          <a:prstGeom prst="roundRect">
            <a:avLst>
              <a:gd name="adj" fmla="val 11290"/>
            </a:avLst>
          </a:prstGeom>
          <a:solidFill>
            <a:srgbClr val="FEF6E7"/>
          </a:solidFill>
          <a:ln w="12700">
            <a:solidFill>
              <a:srgbClr val="E4EAF2"/>
            </a:solidFill>
            <a:prstDash val="solid"/>
          </a:ln>
        </p:spPr>
      </p:sp>
      <p:sp>
        <p:nvSpPr>
          <p:cNvPr id="100" name="Shape 98"/>
          <p:cNvSpPr/>
          <p:nvPr/>
        </p:nvSpPr>
        <p:spPr>
          <a:xfrm>
            <a:off x="548640" y="5696712"/>
            <a:ext cx="82296" cy="566928"/>
          </a:xfrm>
          <a:prstGeom prst="rect">
            <a:avLst/>
          </a:prstGeom>
          <a:solidFill>
            <a:srgbClr val="E0900C"/>
          </a:solidFill>
          <a:ln/>
        </p:spPr>
      </p:sp>
      <p:sp>
        <p:nvSpPr>
          <p:cNvPr id="101" name="Text 99"/>
          <p:cNvSpPr/>
          <p:nvPr/>
        </p:nvSpPr>
        <p:spPr>
          <a:xfrm>
            <a:off x="914400" y="5696712"/>
            <a:ext cx="10332720" cy="566928"/>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Showing 10 of 20 regions.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Sourced from IPC / industry rate data. Material factors, FX, energy-gas, packaging and duty adders sit behind these too — one versioned library, used by every single costing.</a:t>
            </a:r>
            <a:endParaRPr lang="en-US" sz="1050" dirty="0"/>
          </a:p>
        </p:txBody>
      </p:sp>
      <p:sp>
        <p:nvSpPr>
          <p:cNvPr id="102" name="Shape 100"/>
          <p:cNvSpPr/>
          <p:nvPr/>
        </p:nvSpPr>
        <p:spPr>
          <a:xfrm>
            <a:off x="548640" y="6400800"/>
            <a:ext cx="11094415" cy="12802"/>
          </a:xfrm>
          <a:prstGeom prst="rect">
            <a:avLst/>
          </a:prstGeom>
          <a:solidFill>
            <a:srgbClr val="E4EAF2"/>
          </a:solidFill>
          <a:ln/>
        </p:spPr>
      </p:sp>
      <p:sp>
        <p:nvSpPr>
          <p:cNvPr id="103" name="Text 10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104" name="Text 10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LIVE EXAMPLE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example — Aluminium HPDC casting, priced everywhere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A simple 1.2 kg ADC12 aluminium die-casting (2-cavity, 800T), run through the real engine — UK breakdown and the regional spread.</a:t>
            </a:r>
            <a:endParaRPr lang="en-US" sz="1200" dirty="0"/>
          </a:p>
        </p:txBody>
      </p:sp>
      <p:sp>
        <p:nvSpPr>
          <p:cNvPr id="11" name="Shape 9"/>
          <p:cNvSpPr/>
          <p:nvPr/>
        </p:nvSpPr>
        <p:spPr>
          <a:xfrm>
            <a:off x="548640" y="2011680"/>
            <a:ext cx="5394960" cy="2880360"/>
          </a:xfrm>
          <a:prstGeom prst="roundRect">
            <a:avLst>
              <a:gd name="adj" fmla="val 2222"/>
            </a:avLst>
          </a:prstGeom>
          <a:solidFill>
            <a:srgbClr val="FFFFFF"/>
          </a:solidFill>
          <a:ln w="12700">
            <a:solidFill>
              <a:srgbClr val="E4EAF2"/>
            </a:solidFill>
            <a:prstDash val="solid"/>
          </a:ln>
          <a:effectLst>
            <a:outerShdw sx="100000" sy="100000" kx="0" ky="0" algn="bl" rotWithShape="0" blurRad="1.6027076878957775e+173" dist="4.579164822559364e+172" dir="4.3310682305853715e+202">
              <a:srgbClr val="9DB0CC">
                <a:alpha val="2.2000000000000006e+209"/>
              </a:srgbClr>
            </a:outerShdw>
          </a:effectLst>
        </p:spPr>
      </p:sp>
      <p:sp>
        <p:nvSpPr>
          <p:cNvPr id="12" name="Text 10"/>
          <p:cNvSpPr/>
          <p:nvPr/>
        </p:nvSpPr>
        <p:spPr>
          <a:xfrm>
            <a:off x="822960" y="2148840"/>
            <a:ext cx="502920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UK cost stack — £/part</a:t>
            </a:r>
            <a:endParaRPr lang="en-US" sz="1250" dirty="0"/>
          </a:p>
        </p:txBody>
      </p:sp>
      <p:graphicFrame>
        <p:nvGraphicFramePr>
          <p:cNvPr id="13" name="Chart 0" descr=""/>
          <p:cNvGraphicFramePr/>
          <p:nvPr/>
        </p:nvGraphicFramePr>
        <p:xfrm>
          <a:off x="731520" y="2468880"/>
          <a:ext cx="5029200" cy="214884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822960" y="4617720"/>
            <a:ext cx="5029200"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Total £6.96/part · material is 63% — the true driver.</a:t>
            </a:r>
            <a:endParaRPr lang="en-US" sz="950" dirty="0"/>
          </a:p>
        </p:txBody>
      </p:sp>
      <p:sp>
        <p:nvSpPr>
          <p:cNvPr id="15" name="Shape 12"/>
          <p:cNvSpPr/>
          <p:nvPr/>
        </p:nvSpPr>
        <p:spPr>
          <a:xfrm>
            <a:off x="6245352" y="2011680"/>
            <a:ext cx="5397703" cy="2880360"/>
          </a:xfrm>
          <a:prstGeom prst="roundRect">
            <a:avLst>
              <a:gd name="adj" fmla="val 2222"/>
            </a:avLst>
          </a:prstGeom>
          <a:solidFill>
            <a:srgbClr val="EAF1FE"/>
          </a:solidFill>
          <a:ln w="12700">
            <a:solidFill>
              <a:srgbClr val="E4EAF2"/>
            </a:solidFill>
            <a:prstDash val="solid"/>
          </a:ln>
        </p:spPr>
      </p:sp>
      <p:sp>
        <p:nvSpPr>
          <p:cNvPr id="16" name="Text 13"/>
          <p:cNvSpPr/>
          <p:nvPr/>
        </p:nvSpPr>
        <p:spPr>
          <a:xfrm>
            <a:off x="6519672" y="2148840"/>
            <a:ext cx="4940503"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Ex-works £/part by region</a:t>
            </a:r>
            <a:endParaRPr lang="en-US" sz="1250" dirty="0"/>
          </a:p>
        </p:txBody>
      </p:sp>
      <p:graphicFrame>
        <p:nvGraphicFramePr>
          <p:cNvPr id="17" name="Chart 1" descr=""/>
          <p:cNvGraphicFramePr/>
          <p:nvPr/>
        </p:nvGraphicFramePr>
        <p:xfrm>
          <a:off x="6428232" y="2468880"/>
          <a:ext cx="4986223" cy="214884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p:nvPr/>
        </p:nvSpPr>
        <p:spPr>
          <a:xfrm>
            <a:off x="6519672" y="4617720"/>
            <a:ext cx="4940503"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China −17% ex-works, but only −5% landed once logistics &amp; duty are added — the model shows both.</a:t>
            </a:r>
            <a:endParaRPr lang="en-US" sz="950" dirty="0"/>
          </a:p>
        </p:txBody>
      </p:sp>
      <p:sp>
        <p:nvSpPr>
          <p:cNvPr id="19" name="Shape 15"/>
          <p:cNvSpPr/>
          <p:nvPr/>
        </p:nvSpPr>
        <p:spPr>
          <a:xfrm>
            <a:off x="548640" y="5074920"/>
            <a:ext cx="11091672" cy="960120"/>
          </a:xfrm>
          <a:prstGeom prst="roundRect">
            <a:avLst>
              <a:gd name="adj" fmla="val 6667"/>
            </a:avLst>
          </a:prstGeom>
          <a:solidFill>
            <a:srgbClr val="E7F7F0"/>
          </a:solidFill>
          <a:ln w="12700">
            <a:solidFill>
              <a:srgbClr val="E4EAF2"/>
            </a:solidFill>
            <a:prstDash val="solid"/>
          </a:ln>
        </p:spPr>
      </p:sp>
      <p:sp>
        <p:nvSpPr>
          <p:cNvPr id="20" name="Shape 16"/>
          <p:cNvSpPr/>
          <p:nvPr/>
        </p:nvSpPr>
        <p:spPr>
          <a:xfrm>
            <a:off x="548640" y="5074920"/>
            <a:ext cx="82296" cy="960120"/>
          </a:xfrm>
          <a:prstGeom prst="rect">
            <a:avLst/>
          </a:prstGeom>
          <a:solidFill>
            <a:srgbClr val="0EA472"/>
          </a:solidFill>
          <a:ln/>
        </p:spPr>
      </p:sp>
      <p:sp>
        <p:nvSpPr>
          <p:cNvPr id="21" name="Text 17"/>
          <p:cNvSpPr/>
          <p:nvPr/>
        </p:nvSpPr>
        <p:spPr>
          <a:xfrm>
            <a:off x="914400" y="5193792"/>
            <a:ext cx="5486400" cy="274320"/>
          </a:xfrm>
          <a:prstGeom prst="rect">
            <a:avLst/>
          </a:prstGeom>
          <a:noFill/>
          <a:ln/>
        </p:spPr>
        <p:txBody>
          <a:bodyPr wrap="square" lIns="0" tIns="0" rIns="0" bIns="0" rtlCol="0" anchor="t"/>
          <a:lstStyle/>
          <a:p>
            <a:pPr indent="0" marL="0">
              <a:buNone/>
            </a:pPr>
            <a:r>
              <a:rPr lang="en-US" sz="1250" b="1" dirty="0">
                <a:solidFill>
                  <a:srgbClr val="0EA472"/>
                </a:solidFill>
                <a:latin typeface="Calibri" pitchFamily="34" charset="0"/>
                <a:ea typeface="Calibri" pitchFamily="34" charset="-122"/>
                <a:cs typeface="Calibri" pitchFamily="34" charset="-120"/>
              </a:rPr>
              <a:t>⟳  Always current — zero manual re-costing</a:t>
            </a:r>
            <a:endParaRPr lang="en-US" sz="1250" dirty="0"/>
          </a:p>
        </p:txBody>
      </p:sp>
      <p:sp>
        <p:nvSpPr>
          <p:cNvPr id="22" name="Text 18"/>
          <p:cNvSpPr/>
          <p:nvPr/>
        </p:nvSpPr>
        <p:spPr>
          <a:xfrm>
            <a:off x="914400" y="5468112"/>
            <a:ext cx="10378440" cy="548640"/>
          </a:xfrm>
          <a:prstGeom prst="rect">
            <a:avLst/>
          </a:prstGeom>
          <a:noFill/>
          <a:ln/>
        </p:spPr>
        <p:txBody>
          <a:bodyPr wrap="square" lIns="0" tIns="0" rIns="0" bIns="0" rtlCol="0" anchor="t"/>
          <a:lstStyle/>
          <a:p>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Metal prices refresh automatically from a live commodity feed; labour, energy and overhead live in one versioned rate library. </a:t>
            </a:r>
            <a:pPr indent="0" marL="0">
              <a:lnSpc>
                <a:spcPct val="110000"/>
              </a:lnSpc>
              <a:buNone/>
            </a:pPr>
            <a:r>
              <a:rPr lang="en-US" sz="1080" b="1" dirty="0">
                <a:solidFill>
                  <a:srgbClr val="0F1E3D"/>
                </a:solidFill>
                <a:latin typeface="Calibri" pitchFamily="34" charset="0"/>
                <a:ea typeface="Calibri" pitchFamily="34" charset="-122"/>
                <a:cs typeface="Calibri" pitchFamily="34" charset="-120"/>
              </a:rPr>
              <a:t>Update the rates once and every part re-prices — one click, no re-keying, no stale spreadsheets. </a:t>
            </a:r>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The pain of manually updating each should-cost for the latest economics is gone.</a:t>
            </a:r>
            <a:endParaRPr lang="en-US" sz="1080" dirty="0"/>
          </a:p>
        </p:txBody>
      </p:sp>
      <p:sp>
        <p:nvSpPr>
          <p:cNvPr id="23" name="Shape 19"/>
          <p:cNvSpPr/>
          <p:nvPr/>
        </p:nvSpPr>
        <p:spPr>
          <a:xfrm>
            <a:off x="548640" y="6400800"/>
            <a:ext cx="11094415" cy="12802"/>
          </a:xfrm>
          <a:prstGeom prst="rect">
            <a:avLst/>
          </a:prstGeom>
          <a:solidFill>
            <a:srgbClr val="E4EAF2"/>
          </a:solidFill>
          <a:ln/>
        </p:spPr>
      </p:sp>
      <p:sp>
        <p:nvSpPr>
          <p:cNvPr id="24" name="Text 2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25" name="Text 2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DECIDE &amp; NEGOTIATE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Negotiation Intelligence — turn should-cost into savings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should-cost is useful. A should-cost that walks into a negotiation and wins money back is the product.</a:t>
            </a:r>
            <a:endParaRPr lang="en-US" sz="1250" dirty="0"/>
          </a:p>
        </p:txBody>
      </p:sp>
      <p:sp>
        <p:nvSpPr>
          <p:cNvPr id="11" name="Shape 9"/>
          <p:cNvSpPr/>
          <p:nvPr/>
        </p:nvSpPr>
        <p:spPr>
          <a:xfrm>
            <a:off x="548640"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0354387636276376e+177" dist="5.815539324650392e+176" dir="2.598640938351223e+207">
              <a:srgbClr val="9DB0CC">
                <a:alpha val="2.2000000000000007e+214"/>
              </a:srgbClr>
            </a:outerShdw>
          </a:effectLst>
        </p:spPr>
      </p:sp>
      <p:sp>
        <p:nvSpPr>
          <p:cNvPr id="12" name="Shape 10"/>
          <p:cNvSpPr/>
          <p:nvPr/>
        </p:nvSpPr>
        <p:spPr>
          <a:xfrm>
            <a:off x="548640" y="2103120"/>
            <a:ext cx="2487168" cy="82296"/>
          </a:xfrm>
          <a:prstGeom prst="rect">
            <a:avLst/>
          </a:prstGeom>
          <a:solidFill>
            <a:srgbClr val="2563EB"/>
          </a:solidFill>
          <a:ln/>
        </p:spPr>
      </p:sp>
      <p:sp>
        <p:nvSpPr>
          <p:cNvPr id="13" name="Shape 11"/>
          <p:cNvSpPr/>
          <p:nvPr/>
        </p:nvSpPr>
        <p:spPr>
          <a:xfrm>
            <a:off x="1536192" y="2304288"/>
            <a:ext cx="512064" cy="512064"/>
          </a:xfrm>
          <a:prstGeom prst="ellipse">
            <a:avLst/>
          </a:prstGeom>
          <a:solidFill>
            <a:srgbClr val="EAF1FE"/>
          </a:solidFill>
          <a:ln/>
        </p:spPr>
      </p:sp>
      <p:sp>
        <p:nvSpPr>
          <p:cNvPr id="14" name="Text 12"/>
          <p:cNvSpPr/>
          <p:nvPr/>
        </p:nvSpPr>
        <p:spPr>
          <a:xfrm>
            <a:off x="1536192" y="229514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16" name="Text 14"/>
          <p:cNvSpPr/>
          <p:nvPr/>
        </p:nvSpPr>
        <p:spPr>
          <a:xfrm>
            <a:off x="658368"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our costed breakdown</a:t>
            </a:r>
            <a:endParaRPr lang="en-US" sz="860" dirty="0"/>
          </a:p>
        </p:txBody>
      </p:sp>
      <p:sp>
        <p:nvSpPr>
          <p:cNvPr id="17" name="Shape 15"/>
          <p:cNvSpPr/>
          <p:nvPr/>
        </p:nvSpPr>
        <p:spPr>
          <a:xfrm>
            <a:off x="3063240" y="278892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5850072298071e+181" dist="7.385734942305998e+180" dir="1.5591845630107338e+212">
              <a:srgbClr val="9DB0CC">
                <a:alpha val="2.2000000000000008e+219"/>
              </a:srgbClr>
            </a:outerShdw>
          </a:effectLst>
        </p:spPr>
      </p:sp>
      <p:sp>
        <p:nvSpPr>
          <p:cNvPr id="19" name="Shape 17"/>
          <p:cNvSpPr/>
          <p:nvPr/>
        </p:nvSpPr>
        <p:spPr>
          <a:xfrm>
            <a:off x="3355848" y="2103120"/>
            <a:ext cx="2487168" cy="82296"/>
          </a:xfrm>
          <a:prstGeom prst="rect">
            <a:avLst/>
          </a:prstGeom>
          <a:solidFill>
            <a:srgbClr val="0E93B0"/>
          </a:solidFill>
          <a:ln/>
        </p:spPr>
      </p:sp>
      <p:sp>
        <p:nvSpPr>
          <p:cNvPr id="20" name="Shape 18"/>
          <p:cNvSpPr/>
          <p:nvPr/>
        </p:nvSpPr>
        <p:spPr>
          <a:xfrm>
            <a:off x="4343400" y="2304288"/>
            <a:ext cx="512064" cy="512064"/>
          </a:xfrm>
          <a:prstGeom prst="ellipse">
            <a:avLst/>
          </a:prstGeom>
          <a:solidFill>
            <a:srgbClr val="E8F6FA"/>
          </a:solidFill>
          <a:ln/>
        </p:spPr>
      </p:sp>
      <p:sp>
        <p:nvSpPr>
          <p:cNvPr id="21" name="Text 19"/>
          <p:cNvSpPr/>
          <p:nvPr/>
        </p:nvSpPr>
        <p:spPr>
          <a:xfrm>
            <a:off x="4343400" y="229514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Supplier quote in</a:t>
            </a:r>
            <a:endParaRPr lang="en-US" sz="1200" dirty="0"/>
          </a:p>
        </p:txBody>
      </p:sp>
      <p:sp>
        <p:nvSpPr>
          <p:cNvPr id="23" name="Text 21"/>
          <p:cNvSpPr/>
          <p:nvPr/>
        </p:nvSpPr>
        <p:spPr>
          <a:xfrm>
            <a:off x="3465576"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Excel or line-by-line</a:t>
            </a:r>
            <a:endParaRPr lang="en-US" sz="860" dirty="0"/>
          </a:p>
        </p:txBody>
      </p:sp>
      <p:sp>
        <p:nvSpPr>
          <p:cNvPr id="24" name="Shape 22"/>
          <p:cNvSpPr/>
          <p:nvPr/>
        </p:nvSpPr>
        <p:spPr>
          <a:xfrm>
            <a:off x="5870448" y="278892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282959181855017e+185" dist="9.379883376728618e+184" dir="9.355107378064403e+216">
              <a:srgbClr val="9DB0CC">
                <a:alpha val="2.200000000000001e+224"/>
              </a:srgbClr>
            </a:outerShdw>
          </a:effectLst>
        </p:spPr>
      </p:sp>
      <p:sp>
        <p:nvSpPr>
          <p:cNvPr id="26" name="Shape 24"/>
          <p:cNvSpPr/>
          <p:nvPr/>
        </p:nvSpPr>
        <p:spPr>
          <a:xfrm>
            <a:off x="6163056" y="2103120"/>
            <a:ext cx="2487168" cy="82296"/>
          </a:xfrm>
          <a:prstGeom prst="rect">
            <a:avLst/>
          </a:prstGeom>
          <a:solidFill>
            <a:srgbClr val="E0900C"/>
          </a:solidFill>
          <a:ln/>
        </p:spPr>
      </p:sp>
      <p:sp>
        <p:nvSpPr>
          <p:cNvPr id="27" name="Shape 25"/>
          <p:cNvSpPr/>
          <p:nvPr/>
        </p:nvSpPr>
        <p:spPr>
          <a:xfrm>
            <a:off x="7150608" y="2304288"/>
            <a:ext cx="512064" cy="512064"/>
          </a:xfrm>
          <a:prstGeom prst="ellipse">
            <a:avLst/>
          </a:prstGeom>
          <a:solidFill>
            <a:srgbClr val="FEF6E7"/>
          </a:solidFill>
          <a:ln/>
        </p:spPr>
      </p:sp>
      <p:sp>
        <p:nvSpPr>
          <p:cNvPr id="28" name="Text 26"/>
          <p:cNvSpPr/>
          <p:nvPr/>
        </p:nvSpPr>
        <p:spPr>
          <a:xfrm>
            <a:off x="7150608" y="229514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Gap teardown</a:t>
            </a:r>
            <a:endParaRPr lang="en-US" sz="1200" dirty="0"/>
          </a:p>
        </p:txBody>
      </p:sp>
      <p:sp>
        <p:nvSpPr>
          <p:cNvPr id="30" name="Text 28"/>
          <p:cNvSpPr/>
          <p:nvPr/>
        </p:nvSpPr>
        <p:spPr>
          <a:xfrm>
            <a:off x="6272784"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by driver: material, cycle, rate, margin</a:t>
            </a:r>
            <a:endParaRPr lang="en-US" sz="860" dirty="0"/>
          </a:p>
        </p:txBody>
      </p:sp>
      <p:sp>
        <p:nvSpPr>
          <p:cNvPr id="31" name="Shape 29"/>
          <p:cNvSpPr/>
          <p:nvPr/>
        </p:nvSpPr>
        <p:spPr>
          <a:xfrm>
            <a:off x="8677656" y="278892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1693581609558713e+189" dist="1.1912451888445345e+189" dir="5.613064426838642e+221">
              <a:srgbClr val="9DB0CC">
                <a:alpha val="2.2000000000000008e+229"/>
              </a:srgbClr>
            </a:outerShdw>
          </a:effectLst>
        </p:spPr>
      </p:sp>
      <p:sp>
        <p:nvSpPr>
          <p:cNvPr id="33" name="Shape 31"/>
          <p:cNvSpPr/>
          <p:nvPr/>
        </p:nvSpPr>
        <p:spPr>
          <a:xfrm>
            <a:off x="8970264" y="2103120"/>
            <a:ext cx="2487168" cy="82296"/>
          </a:xfrm>
          <a:prstGeom prst="rect">
            <a:avLst/>
          </a:prstGeom>
          <a:solidFill>
            <a:srgbClr val="0EA472"/>
          </a:solidFill>
          <a:ln/>
        </p:spPr>
      </p:sp>
      <p:sp>
        <p:nvSpPr>
          <p:cNvPr id="34" name="Shape 32"/>
          <p:cNvSpPr/>
          <p:nvPr/>
        </p:nvSpPr>
        <p:spPr>
          <a:xfrm>
            <a:off x="9957816" y="2304288"/>
            <a:ext cx="512064" cy="512064"/>
          </a:xfrm>
          <a:prstGeom prst="ellipse">
            <a:avLst/>
          </a:prstGeom>
          <a:solidFill>
            <a:srgbClr val="E7F7F0"/>
          </a:solidFill>
          <a:ln/>
        </p:spPr>
      </p:sp>
      <p:sp>
        <p:nvSpPr>
          <p:cNvPr id="35" name="Text 33"/>
          <p:cNvSpPr/>
          <p:nvPr/>
        </p:nvSpPr>
        <p:spPr>
          <a:xfrm>
            <a:off x="9957816" y="229514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Negotiation pack</a:t>
            </a:r>
            <a:endParaRPr lang="en-US" sz="1200" dirty="0"/>
          </a:p>
        </p:txBody>
      </p:sp>
      <p:sp>
        <p:nvSpPr>
          <p:cNvPr id="37" name="Text 35"/>
          <p:cNvSpPr/>
          <p:nvPr/>
        </p:nvSpPr>
        <p:spPr>
          <a:xfrm>
            <a:off x="9079992"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levers ranked by £, questions, closing plays</a:t>
            </a:r>
            <a:endParaRPr lang="en-US" sz="860" dirty="0"/>
          </a:p>
        </p:txBody>
      </p:sp>
      <p:sp>
        <p:nvSpPr>
          <p:cNvPr id="38" name="Shape 36"/>
          <p:cNvSpPr/>
          <p:nvPr/>
        </p:nvSpPr>
        <p:spPr>
          <a:xfrm>
            <a:off x="548640" y="3794760"/>
            <a:ext cx="2724912" cy="960120"/>
          </a:xfrm>
          <a:prstGeom prst="roundRect">
            <a:avLst>
              <a:gd name="adj" fmla="val 5714"/>
            </a:avLst>
          </a:prstGeom>
          <a:solidFill>
            <a:srgbClr val="F4F7FB"/>
          </a:solidFill>
          <a:ln w="12700">
            <a:solidFill>
              <a:srgbClr val="E4EAF2"/>
            </a:solidFill>
            <a:prstDash val="solid"/>
          </a:ln>
        </p:spPr>
      </p:sp>
      <p:sp>
        <p:nvSpPr>
          <p:cNvPr id="39" name="Shape 37"/>
          <p:cNvSpPr/>
          <p:nvPr/>
        </p:nvSpPr>
        <p:spPr>
          <a:xfrm>
            <a:off x="548640" y="3794760"/>
            <a:ext cx="73152" cy="960120"/>
          </a:xfrm>
          <a:prstGeom prst="rect">
            <a:avLst/>
          </a:prstGeom>
          <a:solidFill>
            <a:srgbClr val="E5484D"/>
          </a:solidFill>
          <a:ln/>
        </p:spPr>
      </p:sp>
      <p:sp>
        <p:nvSpPr>
          <p:cNvPr id="40" name="Text 38"/>
          <p:cNvSpPr/>
          <p:nvPr/>
        </p:nvSpPr>
        <p:spPr>
          <a:xfrm>
            <a:off x="768096" y="3922776"/>
            <a:ext cx="2377440" cy="457200"/>
          </a:xfrm>
          <a:prstGeom prst="rect">
            <a:avLst/>
          </a:prstGeom>
          <a:noFill/>
          <a:ln/>
        </p:spPr>
        <p:txBody>
          <a:bodyPr wrap="square" lIns="0" tIns="0" rIns="0" bIns="0" rtlCol="0" anchor="t"/>
          <a:lstStyle/>
          <a:p>
            <a:pPr indent="0" marL="0">
              <a:buNone/>
            </a:pPr>
            <a:r>
              <a:rPr lang="en-US" sz="2000" b="1" dirty="0">
                <a:solidFill>
                  <a:srgbClr val="E5484D"/>
                </a:solidFill>
                <a:latin typeface="Calibri" pitchFamily="34" charset="0"/>
                <a:ea typeface="Calibri" pitchFamily="34" charset="-122"/>
                <a:cs typeface="Calibri" pitchFamily="34" charset="-120"/>
              </a:rPr>
              <a:t>+15.1%</a:t>
            </a:r>
            <a:endParaRPr lang="en-US" sz="2000" dirty="0"/>
          </a:p>
        </p:txBody>
      </p:sp>
      <p:sp>
        <p:nvSpPr>
          <p:cNvPr id="41" name="Text 39"/>
          <p:cNvSpPr/>
          <p:nvPr/>
        </p:nvSpPr>
        <p:spPr>
          <a:xfrm>
            <a:off x="768096"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typical quote variance vs should-cost</a:t>
            </a:r>
            <a:endParaRPr lang="en-US" sz="900" dirty="0"/>
          </a:p>
        </p:txBody>
      </p:sp>
      <p:sp>
        <p:nvSpPr>
          <p:cNvPr id="42" name="Shape 40"/>
          <p:cNvSpPr/>
          <p:nvPr/>
        </p:nvSpPr>
        <p:spPr>
          <a:xfrm>
            <a:off x="3319272" y="3794760"/>
            <a:ext cx="2724912" cy="960120"/>
          </a:xfrm>
          <a:prstGeom prst="roundRect">
            <a:avLst>
              <a:gd name="adj" fmla="val 5714"/>
            </a:avLst>
          </a:prstGeom>
          <a:solidFill>
            <a:srgbClr val="F4F7FB"/>
          </a:solidFill>
          <a:ln w="12700">
            <a:solidFill>
              <a:srgbClr val="E4EAF2"/>
            </a:solidFill>
            <a:prstDash val="solid"/>
          </a:ln>
        </p:spPr>
      </p:sp>
      <p:sp>
        <p:nvSpPr>
          <p:cNvPr id="43" name="Shape 41"/>
          <p:cNvSpPr/>
          <p:nvPr/>
        </p:nvSpPr>
        <p:spPr>
          <a:xfrm>
            <a:off x="3319272" y="3794760"/>
            <a:ext cx="73152" cy="960120"/>
          </a:xfrm>
          <a:prstGeom prst="rect">
            <a:avLst/>
          </a:prstGeom>
          <a:solidFill>
            <a:srgbClr val="E0900C"/>
          </a:solidFill>
          <a:ln/>
        </p:spPr>
      </p:sp>
      <p:sp>
        <p:nvSpPr>
          <p:cNvPr id="44" name="Text 42"/>
          <p:cNvSpPr/>
          <p:nvPr/>
        </p:nvSpPr>
        <p:spPr>
          <a:xfrm>
            <a:off x="3538728" y="3922776"/>
            <a:ext cx="2377440" cy="457200"/>
          </a:xfrm>
          <a:prstGeom prst="rect">
            <a:avLst/>
          </a:prstGeom>
          <a:noFill/>
          <a:ln/>
        </p:spPr>
        <p:txBody>
          <a:bodyPr wrap="square" lIns="0" tIns="0" rIns="0" bIns="0" rtlCol="0" anchor="t"/>
          <a:lstStyle/>
          <a:p>
            <a:pPr indent="0" marL="0">
              <a:buNone/>
            </a:pPr>
            <a:r>
              <a:rPr lang="en-US" sz="2000" b="1" dirty="0">
                <a:solidFill>
                  <a:srgbClr val="E0900C"/>
                </a:solidFill>
                <a:latin typeface="Calibri" pitchFamily="34" charset="0"/>
                <a:ea typeface="Calibri" pitchFamily="34" charset="-122"/>
                <a:cs typeface="Calibri" pitchFamily="34" charset="-120"/>
              </a:rPr>
              <a:t>£3.82</a:t>
            </a:r>
            <a:endParaRPr lang="en-US" sz="2000" dirty="0"/>
          </a:p>
        </p:txBody>
      </p:sp>
      <p:sp>
        <p:nvSpPr>
          <p:cNvPr id="45" name="Text 43"/>
          <p:cNvSpPr/>
          <p:nvPr/>
        </p:nvSpPr>
        <p:spPr>
          <a:xfrm>
            <a:off x="3538728"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avg recoverable gap per part</a:t>
            </a:r>
            <a:endParaRPr lang="en-US" sz="900" dirty="0"/>
          </a:p>
        </p:txBody>
      </p:sp>
      <p:sp>
        <p:nvSpPr>
          <p:cNvPr id="46" name="Shape 44"/>
          <p:cNvSpPr/>
          <p:nvPr/>
        </p:nvSpPr>
        <p:spPr>
          <a:xfrm>
            <a:off x="6089904" y="3794760"/>
            <a:ext cx="2724912" cy="960120"/>
          </a:xfrm>
          <a:prstGeom prst="roundRect">
            <a:avLst>
              <a:gd name="adj" fmla="val 5714"/>
            </a:avLst>
          </a:prstGeom>
          <a:solidFill>
            <a:srgbClr val="F4F7FB"/>
          </a:solidFill>
          <a:ln w="12700">
            <a:solidFill>
              <a:srgbClr val="E4EAF2"/>
            </a:solidFill>
            <a:prstDash val="solid"/>
          </a:ln>
        </p:spPr>
      </p:sp>
      <p:sp>
        <p:nvSpPr>
          <p:cNvPr id="47" name="Shape 45"/>
          <p:cNvSpPr/>
          <p:nvPr/>
        </p:nvSpPr>
        <p:spPr>
          <a:xfrm>
            <a:off x="6089904" y="3794760"/>
            <a:ext cx="73152" cy="960120"/>
          </a:xfrm>
          <a:prstGeom prst="rect">
            <a:avLst/>
          </a:prstGeom>
          <a:solidFill>
            <a:srgbClr val="0EA472"/>
          </a:solidFill>
          <a:ln/>
        </p:spPr>
      </p:sp>
      <p:sp>
        <p:nvSpPr>
          <p:cNvPr id="48" name="Text 46"/>
          <p:cNvSpPr/>
          <p:nvPr/>
        </p:nvSpPr>
        <p:spPr>
          <a:xfrm>
            <a:off x="6309360" y="3922776"/>
            <a:ext cx="2377440" cy="457200"/>
          </a:xfrm>
          <a:prstGeom prst="rect">
            <a:avLst/>
          </a:prstGeom>
          <a:noFill/>
          <a:ln/>
        </p:spPr>
        <p:txBody>
          <a:bodyPr wrap="square" lIns="0" tIns="0" rIns="0" bIns="0" rtlCol="0" anchor="t"/>
          <a:lstStyle/>
          <a:p>
            <a:pPr indent="0" marL="0">
              <a:buNone/>
            </a:pPr>
            <a:r>
              <a:rPr lang="en-US" sz="2000" b="1" dirty="0">
                <a:solidFill>
                  <a:srgbClr val="0EA472"/>
                </a:solidFill>
                <a:latin typeface="Calibri" pitchFamily="34" charset="0"/>
                <a:ea typeface="Calibri" pitchFamily="34" charset="-122"/>
                <a:cs typeface="Calibri" pitchFamily="34" charset="-120"/>
              </a:rPr>
              <a:t>£91,680</a:t>
            </a:r>
            <a:endParaRPr lang="en-US" sz="2000" dirty="0"/>
          </a:p>
        </p:txBody>
      </p:sp>
      <p:sp>
        <p:nvSpPr>
          <p:cNvPr id="49" name="Text 47"/>
          <p:cNvSpPr/>
          <p:nvPr/>
        </p:nvSpPr>
        <p:spPr>
          <a:xfrm>
            <a:off x="6309360"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annual impact on one part family</a:t>
            </a:r>
            <a:endParaRPr lang="en-US" sz="900" dirty="0"/>
          </a:p>
        </p:txBody>
      </p:sp>
      <p:sp>
        <p:nvSpPr>
          <p:cNvPr id="50" name="Shape 48"/>
          <p:cNvSpPr/>
          <p:nvPr/>
        </p:nvSpPr>
        <p:spPr>
          <a:xfrm>
            <a:off x="8860536" y="3794760"/>
            <a:ext cx="2724912" cy="960120"/>
          </a:xfrm>
          <a:prstGeom prst="roundRect">
            <a:avLst>
              <a:gd name="adj" fmla="val 5714"/>
            </a:avLst>
          </a:prstGeom>
          <a:solidFill>
            <a:srgbClr val="F4F7FB"/>
          </a:solidFill>
          <a:ln w="12700">
            <a:solidFill>
              <a:srgbClr val="E4EAF2"/>
            </a:solidFill>
            <a:prstDash val="solid"/>
          </a:ln>
        </p:spPr>
      </p:sp>
      <p:sp>
        <p:nvSpPr>
          <p:cNvPr id="51" name="Shape 49"/>
          <p:cNvSpPr/>
          <p:nvPr/>
        </p:nvSpPr>
        <p:spPr>
          <a:xfrm>
            <a:off x="8860536" y="3794760"/>
            <a:ext cx="73152" cy="960120"/>
          </a:xfrm>
          <a:prstGeom prst="rect">
            <a:avLst/>
          </a:prstGeom>
          <a:solidFill>
            <a:srgbClr val="7C3AED"/>
          </a:solidFill>
          <a:ln/>
        </p:spPr>
      </p:sp>
      <p:sp>
        <p:nvSpPr>
          <p:cNvPr id="52" name="Text 50"/>
          <p:cNvSpPr/>
          <p:nvPr/>
        </p:nvSpPr>
        <p:spPr>
          <a:xfrm>
            <a:off x="9079992" y="3922776"/>
            <a:ext cx="2377440" cy="457200"/>
          </a:xfrm>
          <a:prstGeom prst="rect">
            <a:avLst/>
          </a:prstGeom>
          <a:noFill/>
          <a:ln/>
        </p:spPr>
        <p:txBody>
          <a:bodyPr wrap="square" lIns="0" tIns="0" rIns="0" bIns="0" rtlCol="0" anchor="t"/>
          <a:lstStyle/>
          <a:p>
            <a:pPr indent="0" marL="0">
              <a:buNone/>
            </a:pPr>
            <a:r>
              <a:rPr lang="en-US" sz="2000" b="1" dirty="0">
                <a:solidFill>
                  <a:srgbClr val="7C3AED"/>
                </a:solidFill>
                <a:latin typeface="Calibri" pitchFamily="34" charset="0"/>
                <a:ea typeface="Calibri" pitchFamily="34" charset="-122"/>
                <a:cs typeface="Calibri" pitchFamily="34" charset="-120"/>
              </a:rPr>
              <a:t>£37,920</a:t>
            </a:r>
            <a:endParaRPr lang="en-US" sz="2000" dirty="0"/>
          </a:p>
        </p:txBody>
      </p:sp>
      <p:sp>
        <p:nvSpPr>
          <p:cNvPr id="53" name="Text 51"/>
          <p:cNvSpPr/>
          <p:nvPr/>
        </p:nvSpPr>
        <p:spPr>
          <a:xfrm>
            <a:off x="9079992"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top single lever — raw material</a:t>
            </a:r>
            <a:endParaRPr lang="en-US" sz="900" dirty="0"/>
          </a:p>
        </p:txBody>
      </p:sp>
      <p:sp>
        <p:nvSpPr>
          <p:cNvPr id="54" name="Shape 52"/>
          <p:cNvSpPr/>
          <p:nvPr/>
        </p:nvSpPr>
        <p:spPr>
          <a:xfrm>
            <a:off x="548640" y="4983480"/>
            <a:ext cx="11091672" cy="914400"/>
          </a:xfrm>
          <a:prstGeom prst="roundRect">
            <a:avLst>
              <a:gd name="adj" fmla="val 7000"/>
            </a:avLst>
          </a:prstGeom>
          <a:solidFill>
            <a:srgbClr val="F3EEFE"/>
          </a:solidFill>
          <a:ln w="12700">
            <a:solidFill>
              <a:srgbClr val="E4EAF2"/>
            </a:solidFill>
            <a:prstDash val="solid"/>
          </a:ln>
        </p:spPr>
      </p:sp>
      <p:sp>
        <p:nvSpPr>
          <p:cNvPr id="55" name="Shape 53"/>
          <p:cNvSpPr/>
          <p:nvPr/>
        </p:nvSpPr>
        <p:spPr>
          <a:xfrm>
            <a:off x="548640" y="4983480"/>
            <a:ext cx="82296" cy="914400"/>
          </a:xfrm>
          <a:prstGeom prst="rect">
            <a:avLst/>
          </a:prstGeom>
          <a:solidFill>
            <a:srgbClr val="7C3AED"/>
          </a:solidFill>
          <a:ln/>
        </p:spPr>
      </p:sp>
      <p:sp>
        <p:nvSpPr>
          <p:cNvPr id="56" name="Text 54"/>
          <p:cNvSpPr/>
          <p:nvPr/>
        </p:nvSpPr>
        <p:spPr>
          <a:xfrm>
            <a:off x="914400" y="5120640"/>
            <a:ext cx="10378440" cy="731520"/>
          </a:xfrm>
          <a:prstGeom prst="rect">
            <a:avLst/>
          </a:prstGeom>
          <a:noFill/>
          <a:ln/>
        </p:spPr>
        <p:txBody>
          <a:bodyPr wrap="square" lIns="0" tIns="0" rIns="0" bIns="0" rtlCol="0" anchor="t"/>
          <a:lstStyle/>
          <a:p>
            <a:pPr indent="0" marL="0">
              <a:lnSpc>
                <a:spcPct val="115000"/>
              </a:lnSpc>
              <a:buNone/>
            </a:pPr>
            <a:r>
              <a:rPr lang="en-US" sz="1150" b="1" dirty="0">
                <a:solidFill>
                  <a:srgbClr val="0F1E3D"/>
                </a:solidFill>
                <a:latin typeface="Calibri" pitchFamily="34" charset="0"/>
                <a:ea typeface="Calibri" pitchFamily="34" charset="-122"/>
                <a:cs typeface="Calibri" pitchFamily="34" charset="-120"/>
              </a:rPr>
              <a:t>The pack contains:  </a:t>
            </a:r>
            <a:pPr indent="0" marL="0">
              <a:lnSpc>
                <a:spcPct val="115000"/>
              </a:lnSpc>
              <a:buNone/>
            </a:pPr>
            <a:r>
              <a:rPr lang="en-US" sz="1150" dirty="0">
                <a:solidFill>
                  <a:srgbClr val="3E4C63"/>
                </a:solidFill>
                <a:latin typeface="Calibri" pitchFamily="34" charset="0"/>
                <a:ea typeface="Calibri" pitchFamily="34" charset="-122"/>
                <a:cs typeface="Calibri" pitchFamily="34" charset="-120"/>
              </a:rPr>
              <a:t>a line-by-line gap table, cost-driver decomposition (which parameter drives each gap), recovery levers ranked by £/yr, ready-to-send supplier questions, and a one-click PDF &amp; PowerPoint. You stop arguing about the total and start negotiating the drivers.</a:t>
            </a:r>
            <a:endParaRPr lang="en-US" sz="1150" dirty="0"/>
          </a:p>
        </p:txBody>
      </p:sp>
      <p:sp>
        <p:nvSpPr>
          <p:cNvPr id="57" name="Shape 55"/>
          <p:cNvSpPr/>
          <p:nvPr/>
        </p:nvSpPr>
        <p:spPr>
          <a:xfrm>
            <a:off x="548640" y="6400800"/>
            <a:ext cx="11094415" cy="12802"/>
          </a:xfrm>
          <a:prstGeom prst="rect">
            <a:avLst/>
          </a:prstGeom>
          <a:solidFill>
            <a:srgbClr val="E4EAF2"/>
          </a:solidFill>
          <a:ln/>
        </p:spPr>
      </p:sp>
      <p:sp>
        <p:nvSpPr>
          <p:cNvPr id="58" name="Text 5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9" name="Text 5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LEARN &amp; GOVERN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Agentic AI — it learns, remembers and acts</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5.295084864413956e+193" dist="1.5128813898325588e+193" dir="3.367838656103185e+226">
              <a:srgbClr val="9DB0CC">
                <a:alpha val="2.2000000000000008e+234"/>
              </a:srgbClr>
            </a:outerShdw>
          </a:effectLst>
        </p:spPr>
      </p:sp>
      <p:sp>
        <p:nvSpPr>
          <p:cNvPr id="11" name="Shape 9"/>
          <p:cNvSpPr/>
          <p:nvPr/>
        </p:nvSpPr>
        <p:spPr>
          <a:xfrm>
            <a:off x="548640" y="1691640"/>
            <a:ext cx="82296" cy="2423160"/>
          </a:xfrm>
          <a:prstGeom prst="rect">
            <a:avLst/>
          </a:prstGeom>
          <a:solidFill>
            <a:srgbClr val="2563EB"/>
          </a:solidFill>
          <a:ln/>
        </p:spPr>
      </p:sp>
      <p:sp>
        <p:nvSpPr>
          <p:cNvPr id="12" name="Shape 10"/>
          <p:cNvSpPr/>
          <p:nvPr/>
        </p:nvSpPr>
        <p:spPr>
          <a:xfrm>
            <a:off x="1472184" y="1947672"/>
            <a:ext cx="694944" cy="694944"/>
          </a:xfrm>
          <a:prstGeom prst="ellipse">
            <a:avLst/>
          </a:prstGeom>
          <a:solidFill>
            <a:srgbClr val="EAF1FE"/>
          </a:solidFill>
          <a:ln/>
        </p:spPr>
      </p:sp>
      <p:sp>
        <p:nvSpPr>
          <p:cNvPr id="13" name="Text 11"/>
          <p:cNvSpPr/>
          <p:nvPr/>
        </p:nvSpPr>
        <p:spPr>
          <a:xfrm>
            <a:off x="1472184" y="1938528"/>
            <a:ext cx="694944" cy="694944"/>
          </a:xfrm>
          <a:prstGeom prst="rect">
            <a:avLst/>
          </a:prstGeom>
          <a:noFill/>
          <a:ln/>
        </p:spPr>
        <p:txBody>
          <a:bodyPr wrap="square" lIns="0" tIns="0" rIns="0" bIns="0" rtlCol="0" anchor="ctr"/>
          <a:lstStyle/>
          <a:p>
            <a:pPr algn="ctr" indent="0" marL="0">
              <a:buNone/>
            </a:pPr>
            <a:r>
              <a:rPr lang="en-US" sz="2400" b="1" dirty="0">
                <a:solidFill>
                  <a:srgbClr val="2563EB"/>
                </a:solidFill>
                <a:latin typeface="Calibri" pitchFamily="34" charset="0"/>
                <a:ea typeface="Calibri" pitchFamily="34" charset="-122"/>
                <a:cs typeface="Calibri" pitchFamily="34" charset="-120"/>
              </a:rPr>
              <a:t>▤</a:t>
            </a:r>
            <a:endParaRPr lang="en-US" sz="2400" dirty="0"/>
          </a:p>
        </p:txBody>
      </p:sp>
      <p:sp>
        <p:nvSpPr>
          <p:cNvPr id="14" name="Text 12"/>
          <p:cNvSpPr/>
          <p:nvPr/>
        </p:nvSpPr>
        <p:spPr>
          <a:xfrm>
            <a:off x="768096" y="2788920"/>
            <a:ext cx="2130552" cy="320040"/>
          </a:xfrm>
          <a:prstGeom prst="rect">
            <a:avLst/>
          </a:prstGeom>
          <a:noFill/>
          <a:ln/>
        </p:spPr>
        <p:txBody>
          <a:bodyPr wrap="square" lIns="0" tIns="0" rIns="0" bIns="0" rtlCol="0" anchor="t"/>
          <a:lstStyle/>
          <a:p>
            <a:pPr algn="ctr" indent="0" marL="0">
              <a:buNone/>
            </a:pPr>
            <a:r>
              <a:rPr lang="en-US" sz="1500" b="1" dirty="0">
                <a:solidFill>
                  <a:srgbClr val="2563EB"/>
                </a:solidFill>
                <a:latin typeface="Calibri" pitchFamily="34" charset="0"/>
                <a:ea typeface="Calibri" pitchFamily="34" charset="-122"/>
                <a:cs typeface="Calibri" pitchFamily="34" charset="-120"/>
              </a:rPr>
              <a:t>Remembers</a:t>
            </a:r>
            <a:endParaRPr lang="en-US" sz="1500" dirty="0"/>
          </a:p>
        </p:txBody>
      </p:sp>
      <p:sp>
        <p:nvSpPr>
          <p:cNvPr id="15" name="Text 13"/>
          <p:cNvSpPr/>
          <p:nvPr/>
        </p:nvSpPr>
        <p:spPr>
          <a:xfrm>
            <a:off x="786384"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analysis is saved as a case — shared across the team, so juniors inherit senior judgement.</a:t>
            </a:r>
            <a:endParaRPr lang="en-US" sz="1000" dirty="0"/>
          </a:p>
        </p:txBody>
      </p:sp>
      <p:sp>
        <p:nvSpPr>
          <p:cNvPr id="16" name="Text 14"/>
          <p:cNvSpPr/>
          <p:nvPr/>
        </p:nvSpPr>
        <p:spPr>
          <a:xfrm>
            <a:off x="3108960"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3419856"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6.724757777805725e+197" dist="1.9213593650873497e+197" dir="2.020703193661911e+231">
              <a:srgbClr val="9DB0CC">
                <a:alpha val="2.200000000000001e+239"/>
              </a:srgbClr>
            </a:outerShdw>
          </a:effectLst>
        </p:spPr>
      </p:sp>
      <p:sp>
        <p:nvSpPr>
          <p:cNvPr id="18" name="Shape 16"/>
          <p:cNvSpPr/>
          <p:nvPr/>
        </p:nvSpPr>
        <p:spPr>
          <a:xfrm>
            <a:off x="3419856" y="1691640"/>
            <a:ext cx="82296" cy="2423160"/>
          </a:xfrm>
          <a:prstGeom prst="rect">
            <a:avLst/>
          </a:prstGeom>
          <a:solidFill>
            <a:srgbClr val="0E93B0"/>
          </a:solidFill>
          <a:ln/>
        </p:spPr>
      </p:sp>
      <p:sp>
        <p:nvSpPr>
          <p:cNvPr id="19" name="Shape 17"/>
          <p:cNvSpPr/>
          <p:nvPr/>
        </p:nvSpPr>
        <p:spPr>
          <a:xfrm>
            <a:off x="4343400" y="1947672"/>
            <a:ext cx="694944" cy="694944"/>
          </a:xfrm>
          <a:prstGeom prst="ellipse">
            <a:avLst/>
          </a:prstGeom>
          <a:solidFill>
            <a:srgbClr val="E8F6FA"/>
          </a:solidFill>
          <a:ln/>
        </p:spPr>
      </p:sp>
      <p:sp>
        <p:nvSpPr>
          <p:cNvPr id="20" name="Text 18"/>
          <p:cNvSpPr/>
          <p:nvPr/>
        </p:nvSpPr>
        <p:spPr>
          <a:xfrm>
            <a:off x="4343400" y="1938528"/>
            <a:ext cx="694944" cy="694944"/>
          </a:xfrm>
          <a:prstGeom prst="rect">
            <a:avLst/>
          </a:prstGeom>
          <a:noFill/>
          <a:ln/>
        </p:spPr>
        <p:txBody>
          <a:bodyPr wrap="square" lIns="0" tIns="0" rIns="0" bIns="0" rtlCol="0" anchor="ctr"/>
          <a:lstStyle/>
          <a:p>
            <a:pPr algn="ctr" indent="0" marL="0">
              <a:buNone/>
            </a:pPr>
            <a:r>
              <a:rPr lang="en-US" sz="2400" b="1" dirty="0">
                <a:solidFill>
                  <a:srgbClr val="0E93B0"/>
                </a:solidFill>
                <a:latin typeface="Calibri" pitchFamily="34" charset="0"/>
                <a:ea typeface="Calibri" pitchFamily="34" charset="-122"/>
                <a:cs typeface="Calibri" pitchFamily="34" charset="-120"/>
              </a:rPr>
              <a:t>◎</a:t>
            </a:r>
            <a:endParaRPr lang="en-US" sz="2400" dirty="0"/>
          </a:p>
        </p:txBody>
      </p:sp>
      <p:sp>
        <p:nvSpPr>
          <p:cNvPr id="21" name="Text 19"/>
          <p:cNvSpPr/>
          <p:nvPr/>
        </p:nvSpPr>
        <p:spPr>
          <a:xfrm>
            <a:off x="3639312" y="2788920"/>
            <a:ext cx="2130552" cy="320040"/>
          </a:xfrm>
          <a:prstGeom prst="rect">
            <a:avLst/>
          </a:prstGeom>
          <a:noFill/>
          <a:ln/>
        </p:spPr>
        <p:txBody>
          <a:bodyPr wrap="square" lIns="0" tIns="0" rIns="0" bIns="0" rtlCol="0" anchor="t"/>
          <a:lstStyle/>
          <a:p>
            <a:pPr algn="ctr" indent="0" marL="0">
              <a:buNone/>
            </a:pPr>
            <a:r>
              <a:rPr lang="en-US" sz="1500" b="1" dirty="0">
                <a:solidFill>
                  <a:srgbClr val="0E93B0"/>
                </a:solidFill>
                <a:latin typeface="Calibri" pitchFamily="34" charset="0"/>
                <a:ea typeface="Calibri" pitchFamily="34" charset="-122"/>
                <a:cs typeface="Calibri" pitchFamily="34" charset="-120"/>
              </a:rPr>
              <a:t>Recognises</a:t>
            </a:r>
            <a:endParaRPr lang="en-US" sz="1500" dirty="0"/>
          </a:p>
        </p:txBody>
      </p:sp>
      <p:sp>
        <p:nvSpPr>
          <p:cNvPr id="22" name="Text 20"/>
          <p:cNvSpPr/>
          <p:nvPr/>
        </p:nvSpPr>
        <p:spPr>
          <a:xfrm>
            <a:off x="3657600"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new part is instantly matched to similar past parts, with the reasons shown.</a:t>
            </a:r>
            <a:endParaRPr lang="en-US" sz="1000" dirty="0"/>
          </a:p>
        </p:txBody>
      </p:sp>
      <p:sp>
        <p:nvSpPr>
          <p:cNvPr id="23" name="Text 21"/>
          <p:cNvSpPr/>
          <p:nvPr/>
        </p:nvSpPr>
        <p:spPr>
          <a:xfrm>
            <a:off x="5980176"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6291072"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8.54044237781327e+201" dist="2.440126393660934e+201" dir="1.2124219161971466e+236">
              <a:srgbClr val="9DB0CC">
                <a:alpha val="2.200000000000001e+244"/>
              </a:srgbClr>
            </a:outerShdw>
          </a:effectLst>
        </p:spPr>
      </p:sp>
      <p:sp>
        <p:nvSpPr>
          <p:cNvPr id="25" name="Shape 23"/>
          <p:cNvSpPr/>
          <p:nvPr/>
        </p:nvSpPr>
        <p:spPr>
          <a:xfrm>
            <a:off x="6291072" y="1691640"/>
            <a:ext cx="82296" cy="2423160"/>
          </a:xfrm>
          <a:prstGeom prst="rect">
            <a:avLst/>
          </a:prstGeom>
          <a:solidFill>
            <a:srgbClr val="7C3AED"/>
          </a:solidFill>
          <a:ln/>
        </p:spPr>
      </p:sp>
      <p:sp>
        <p:nvSpPr>
          <p:cNvPr id="26" name="Shape 24"/>
          <p:cNvSpPr/>
          <p:nvPr/>
        </p:nvSpPr>
        <p:spPr>
          <a:xfrm>
            <a:off x="7214616" y="1947672"/>
            <a:ext cx="694944" cy="694944"/>
          </a:xfrm>
          <a:prstGeom prst="ellipse">
            <a:avLst/>
          </a:prstGeom>
          <a:solidFill>
            <a:srgbClr val="F3EEFE"/>
          </a:solidFill>
          <a:ln/>
        </p:spPr>
      </p:sp>
      <p:sp>
        <p:nvSpPr>
          <p:cNvPr id="27" name="Text 25"/>
          <p:cNvSpPr/>
          <p:nvPr/>
        </p:nvSpPr>
        <p:spPr>
          <a:xfrm>
            <a:off x="7214616" y="1938528"/>
            <a:ext cx="694944" cy="694944"/>
          </a:xfrm>
          <a:prstGeom prst="rect">
            <a:avLst/>
          </a:prstGeom>
          <a:noFill/>
          <a:ln/>
        </p:spPr>
        <p:txBody>
          <a:bodyPr wrap="square" lIns="0" tIns="0" rIns="0" bIns="0" rtlCol="0" anchor="ctr"/>
          <a:lstStyle/>
          <a:p>
            <a:pPr algn="ctr" indent="0" marL="0">
              <a:buNone/>
            </a:pPr>
            <a:r>
              <a:rPr lang="en-US" sz="2400" b="1" dirty="0">
                <a:solidFill>
                  <a:srgbClr val="7C3AED"/>
                </a:solidFill>
                <a:latin typeface="Calibri" pitchFamily="34" charset="0"/>
                <a:ea typeface="Calibri" pitchFamily="34" charset="-122"/>
                <a:cs typeface="Calibri" pitchFamily="34" charset="-120"/>
              </a:rPr>
              <a:t>⟳</a:t>
            </a:r>
            <a:endParaRPr lang="en-US" sz="2400" dirty="0"/>
          </a:p>
        </p:txBody>
      </p:sp>
      <p:sp>
        <p:nvSpPr>
          <p:cNvPr id="28" name="Text 26"/>
          <p:cNvSpPr/>
          <p:nvPr/>
        </p:nvSpPr>
        <p:spPr>
          <a:xfrm>
            <a:off x="6510528" y="2788920"/>
            <a:ext cx="2130552" cy="320040"/>
          </a:xfrm>
          <a:prstGeom prst="rect">
            <a:avLst/>
          </a:prstGeom>
          <a:noFill/>
          <a:ln/>
        </p:spPr>
        <p:txBody>
          <a:bodyPr wrap="square" lIns="0" tIns="0" rIns="0" bIns="0" rtlCol="0" anchor="t"/>
          <a:lstStyle/>
          <a:p>
            <a:pPr algn="ctr" indent="0" marL="0">
              <a:buNone/>
            </a:pPr>
            <a:r>
              <a:rPr lang="en-US" sz="1500" b="1" dirty="0">
                <a:solidFill>
                  <a:srgbClr val="7C3AED"/>
                </a:solidFill>
                <a:latin typeface="Calibri" pitchFamily="34" charset="0"/>
                <a:ea typeface="Calibri" pitchFamily="34" charset="-122"/>
                <a:cs typeface="Calibri" pitchFamily="34" charset="-120"/>
              </a:rPr>
              <a:t>Self-corrects</a:t>
            </a:r>
            <a:endParaRPr lang="en-US" sz="1500" dirty="0"/>
          </a:p>
        </p:txBody>
      </p:sp>
      <p:sp>
        <p:nvSpPr>
          <p:cNvPr id="29" name="Text 27"/>
          <p:cNvSpPr/>
          <p:nvPr/>
        </p:nvSpPr>
        <p:spPr>
          <a:xfrm>
            <a:off x="6528816"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Log a real quote and it measures its own error, then corrects future estimates per category.</a:t>
            </a:r>
            <a:endParaRPr lang="en-US" sz="1000" dirty="0"/>
          </a:p>
        </p:txBody>
      </p:sp>
      <p:sp>
        <p:nvSpPr>
          <p:cNvPr id="30" name="Text 28"/>
          <p:cNvSpPr/>
          <p:nvPr/>
        </p:nvSpPr>
        <p:spPr>
          <a:xfrm>
            <a:off x="8851392"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31" name="Shape 29"/>
          <p:cNvSpPr/>
          <p:nvPr/>
        </p:nvSpPr>
        <p:spPr>
          <a:xfrm>
            <a:off x="9162288"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1.0846361819822852e+206" dist="3.0989605199493864e+205" dir="7.27453149718288e+240">
              <a:srgbClr val="9DB0CC">
                <a:alpha val="2.200000000000001e+249"/>
              </a:srgbClr>
            </a:outerShdw>
          </a:effectLst>
        </p:spPr>
      </p:sp>
      <p:sp>
        <p:nvSpPr>
          <p:cNvPr id="32" name="Shape 30"/>
          <p:cNvSpPr/>
          <p:nvPr/>
        </p:nvSpPr>
        <p:spPr>
          <a:xfrm>
            <a:off x="9162288" y="1691640"/>
            <a:ext cx="82296" cy="2423160"/>
          </a:xfrm>
          <a:prstGeom prst="rect">
            <a:avLst/>
          </a:prstGeom>
          <a:solidFill>
            <a:srgbClr val="0EA472"/>
          </a:solidFill>
          <a:ln/>
        </p:spPr>
      </p:sp>
      <p:sp>
        <p:nvSpPr>
          <p:cNvPr id="33" name="Shape 31"/>
          <p:cNvSpPr/>
          <p:nvPr/>
        </p:nvSpPr>
        <p:spPr>
          <a:xfrm>
            <a:off x="10085832" y="1947672"/>
            <a:ext cx="694944" cy="694944"/>
          </a:xfrm>
          <a:prstGeom prst="ellipse">
            <a:avLst/>
          </a:prstGeom>
          <a:solidFill>
            <a:srgbClr val="E7F7F0"/>
          </a:solidFill>
          <a:ln/>
        </p:spPr>
      </p:sp>
      <p:sp>
        <p:nvSpPr>
          <p:cNvPr id="34" name="Text 32"/>
          <p:cNvSpPr/>
          <p:nvPr/>
        </p:nvSpPr>
        <p:spPr>
          <a:xfrm>
            <a:off x="10085832" y="1938528"/>
            <a:ext cx="694944" cy="694944"/>
          </a:xfrm>
          <a:prstGeom prst="rect">
            <a:avLst/>
          </a:prstGeom>
          <a:noFill/>
          <a:ln/>
        </p:spPr>
        <p:txBody>
          <a:bodyPr wrap="square" lIns="0" tIns="0" rIns="0" bIns="0" rtlCol="0" anchor="ctr"/>
          <a:lstStyle/>
          <a:p>
            <a:pPr algn="ctr" indent="0" marL="0">
              <a:buNone/>
            </a:pPr>
            <a:r>
              <a:rPr lang="en-US" sz="2400" b="1" dirty="0">
                <a:solidFill>
                  <a:srgbClr val="0EA472"/>
                </a:solidFill>
                <a:latin typeface="Calibri" pitchFamily="34" charset="0"/>
                <a:ea typeface="Calibri" pitchFamily="34" charset="-122"/>
                <a:cs typeface="Calibri" pitchFamily="34" charset="-120"/>
              </a:rPr>
              <a:t>➤</a:t>
            </a:r>
            <a:endParaRPr lang="en-US" sz="2400" dirty="0"/>
          </a:p>
        </p:txBody>
      </p:sp>
      <p:sp>
        <p:nvSpPr>
          <p:cNvPr id="35" name="Text 33"/>
          <p:cNvSpPr/>
          <p:nvPr/>
        </p:nvSpPr>
        <p:spPr>
          <a:xfrm>
            <a:off x="9381744" y="2788920"/>
            <a:ext cx="2130552" cy="320040"/>
          </a:xfrm>
          <a:prstGeom prst="rect">
            <a:avLst/>
          </a:prstGeom>
          <a:noFill/>
          <a:ln/>
        </p:spPr>
        <p:txBody>
          <a:bodyPr wrap="square" lIns="0" tIns="0" rIns="0" bIns="0" rtlCol="0" anchor="t"/>
          <a:lstStyle/>
          <a:p>
            <a:pPr algn="ctr" indent="0" marL="0">
              <a:buNone/>
            </a:pPr>
            <a:r>
              <a:rPr lang="en-US" sz="1500" b="1" dirty="0">
                <a:solidFill>
                  <a:srgbClr val="0EA472"/>
                </a:solidFill>
                <a:latin typeface="Calibri" pitchFamily="34" charset="0"/>
                <a:ea typeface="Calibri" pitchFamily="34" charset="-122"/>
                <a:cs typeface="Calibri" pitchFamily="34" charset="-120"/>
              </a:rPr>
              <a:t>Acts</a:t>
            </a:r>
            <a:endParaRPr lang="en-US" sz="1500" dirty="0"/>
          </a:p>
        </p:txBody>
      </p:sp>
      <p:sp>
        <p:nvSpPr>
          <p:cNvPr id="36" name="Text 34"/>
          <p:cNvSpPr/>
          <p:nvPr/>
        </p:nvSpPr>
        <p:spPr>
          <a:xfrm>
            <a:off x="9400032"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background agent re-checks every part and flags overpayment &amp; risk on its own.</a:t>
            </a:r>
            <a:endParaRPr lang="en-US" sz="1000" dirty="0"/>
          </a:p>
        </p:txBody>
      </p:sp>
      <p:sp>
        <p:nvSpPr>
          <p:cNvPr id="37" name="Shape 35"/>
          <p:cNvSpPr/>
          <p:nvPr/>
        </p:nvSpPr>
        <p:spPr>
          <a:xfrm>
            <a:off x="548640" y="4343400"/>
            <a:ext cx="3657600" cy="1051560"/>
          </a:xfrm>
          <a:prstGeom prst="roundRect">
            <a:avLst>
              <a:gd name="adj" fmla="val 5217"/>
            </a:avLst>
          </a:prstGeom>
          <a:solidFill>
            <a:srgbClr val="F4F7FB"/>
          </a:solidFill>
          <a:ln w="12700">
            <a:solidFill>
              <a:srgbClr val="E4EAF2"/>
            </a:solidFill>
            <a:prstDash val="solid"/>
          </a:ln>
        </p:spPr>
      </p:sp>
      <p:sp>
        <p:nvSpPr>
          <p:cNvPr id="38" name="Shape 36"/>
          <p:cNvSpPr/>
          <p:nvPr/>
        </p:nvSpPr>
        <p:spPr>
          <a:xfrm>
            <a:off x="548640" y="4343400"/>
            <a:ext cx="73152" cy="1051560"/>
          </a:xfrm>
          <a:prstGeom prst="rect">
            <a:avLst/>
          </a:prstGeom>
          <a:solidFill>
            <a:srgbClr val="0EA472"/>
          </a:solidFill>
          <a:ln/>
        </p:spPr>
      </p:sp>
      <p:sp>
        <p:nvSpPr>
          <p:cNvPr id="39" name="Text 37"/>
          <p:cNvSpPr/>
          <p:nvPr/>
        </p:nvSpPr>
        <p:spPr>
          <a:xfrm>
            <a:off x="786384" y="4489704"/>
            <a:ext cx="3291840" cy="457200"/>
          </a:xfrm>
          <a:prstGeom prst="rect">
            <a:avLst/>
          </a:prstGeom>
          <a:noFill/>
          <a:ln/>
        </p:spPr>
        <p:txBody>
          <a:bodyPr wrap="square" lIns="0" tIns="0" rIns="0" bIns="0" rtlCol="0" anchor="t"/>
          <a:lstStyle/>
          <a:p>
            <a:pPr indent="0" marL="0">
              <a:buNone/>
            </a:pPr>
            <a:r>
              <a:rPr lang="en-US" sz="2200" b="1" dirty="0">
                <a:solidFill>
                  <a:srgbClr val="0EA472"/>
                </a:solidFill>
                <a:latin typeface="Calibri" pitchFamily="34" charset="0"/>
                <a:ea typeface="Calibri" pitchFamily="34" charset="-122"/>
                <a:cs typeface="Calibri" pitchFamily="34" charset="-120"/>
              </a:rPr>
              <a:t>36×</a:t>
            </a:r>
            <a:endParaRPr lang="en-US" sz="2200" dirty="0"/>
          </a:p>
        </p:txBody>
      </p:sp>
      <p:sp>
        <p:nvSpPr>
          <p:cNvPr id="40" name="Text 38"/>
          <p:cNvSpPr/>
          <p:nvPr/>
        </p:nvSpPr>
        <p:spPr>
          <a:xfrm>
            <a:off x="786384"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error reduction after learning from 3 real quotes</a:t>
            </a:r>
            <a:endParaRPr lang="en-US" sz="950" dirty="0"/>
          </a:p>
        </p:txBody>
      </p:sp>
      <p:sp>
        <p:nvSpPr>
          <p:cNvPr id="41" name="Shape 39"/>
          <p:cNvSpPr/>
          <p:nvPr/>
        </p:nvSpPr>
        <p:spPr>
          <a:xfrm>
            <a:off x="4261104" y="4343400"/>
            <a:ext cx="3657600" cy="1051560"/>
          </a:xfrm>
          <a:prstGeom prst="roundRect">
            <a:avLst>
              <a:gd name="adj" fmla="val 5217"/>
            </a:avLst>
          </a:prstGeom>
          <a:solidFill>
            <a:srgbClr val="F4F7FB"/>
          </a:solidFill>
          <a:ln w="12700">
            <a:solidFill>
              <a:srgbClr val="E4EAF2"/>
            </a:solidFill>
            <a:prstDash val="solid"/>
          </a:ln>
        </p:spPr>
      </p:sp>
      <p:sp>
        <p:nvSpPr>
          <p:cNvPr id="42" name="Shape 40"/>
          <p:cNvSpPr/>
          <p:nvPr/>
        </p:nvSpPr>
        <p:spPr>
          <a:xfrm>
            <a:off x="4261104" y="4343400"/>
            <a:ext cx="73152" cy="1051560"/>
          </a:xfrm>
          <a:prstGeom prst="rect">
            <a:avLst/>
          </a:prstGeom>
          <a:solidFill>
            <a:srgbClr val="E5484D"/>
          </a:solidFill>
          <a:ln/>
        </p:spPr>
      </p:sp>
      <p:sp>
        <p:nvSpPr>
          <p:cNvPr id="43" name="Text 41"/>
          <p:cNvSpPr/>
          <p:nvPr/>
        </p:nvSpPr>
        <p:spPr>
          <a:xfrm>
            <a:off x="4498848" y="4489704"/>
            <a:ext cx="3291840" cy="457200"/>
          </a:xfrm>
          <a:prstGeom prst="rect">
            <a:avLst/>
          </a:prstGeom>
          <a:noFill/>
          <a:ln/>
        </p:spPr>
        <p:txBody>
          <a:bodyPr wrap="square" lIns="0" tIns="0" rIns="0" bIns="0" rtlCol="0" anchor="t"/>
          <a:lstStyle/>
          <a:p>
            <a:pPr indent="0" marL="0">
              <a:buNone/>
            </a:pPr>
            <a:r>
              <a:rPr lang="en-US" sz="2200" b="1" dirty="0">
                <a:solidFill>
                  <a:srgbClr val="E5484D"/>
                </a:solidFill>
                <a:latin typeface="Calibri" pitchFamily="34" charset="0"/>
                <a:ea typeface="Calibri" pitchFamily="34" charset="-122"/>
                <a:cs typeface="Calibri" pitchFamily="34" charset="-120"/>
              </a:rPr>
              <a:t>£512k/yr</a:t>
            </a:r>
            <a:endParaRPr lang="en-US" sz="2200" dirty="0"/>
          </a:p>
        </p:txBody>
      </p:sp>
      <p:sp>
        <p:nvSpPr>
          <p:cNvPr id="44" name="Text 42"/>
          <p:cNvSpPr/>
          <p:nvPr/>
        </p:nvSpPr>
        <p:spPr>
          <a:xfrm>
            <a:off x="4498848"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flagged autonomously in a live demo — unattended</a:t>
            </a:r>
            <a:endParaRPr lang="en-US" sz="950" dirty="0"/>
          </a:p>
        </p:txBody>
      </p:sp>
      <p:sp>
        <p:nvSpPr>
          <p:cNvPr id="45" name="Shape 43"/>
          <p:cNvSpPr/>
          <p:nvPr/>
        </p:nvSpPr>
        <p:spPr>
          <a:xfrm>
            <a:off x="7973568" y="4343400"/>
            <a:ext cx="3657600" cy="1051560"/>
          </a:xfrm>
          <a:prstGeom prst="roundRect">
            <a:avLst>
              <a:gd name="adj" fmla="val 5217"/>
            </a:avLst>
          </a:prstGeom>
          <a:solidFill>
            <a:srgbClr val="F4F7FB"/>
          </a:solidFill>
          <a:ln w="12700">
            <a:solidFill>
              <a:srgbClr val="E4EAF2"/>
            </a:solidFill>
            <a:prstDash val="solid"/>
          </a:ln>
        </p:spPr>
      </p:sp>
      <p:sp>
        <p:nvSpPr>
          <p:cNvPr id="46" name="Shape 44"/>
          <p:cNvSpPr/>
          <p:nvPr/>
        </p:nvSpPr>
        <p:spPr>
          <a:xfrm>
            <a:off x="7973568" y="4343400"/>
            <a:ext cx="73152" cy="1051560"/>
          </a:xfrm>
          <a:prstGeom prst="rect">
            <a:avLst/>
          </a:prstGeom>
          <a:solidFill>
            <a:srgbClr val="0E93B0"/>
          </a:solidFill>
          <a:ln/>
        </p:spPr>
      </p:sp>
      <p:sp>
        <p:nvSpPr>
          <p:cNvPr id="47" name="Text 45"/>
          <p:cNvSpPr/>
          <p:nvPr/>
        </p:nvSpPr>
        <p:spPr>
          <a:xfrm>
            <a:off x="8211312" y="4489704"/>
            <a:ext cx="3291840" cy="457200"/>
          </a:xfrm>
          <a:prstGeom prst="rect">
            <a:avLst/>
          </a:prstGeom>
          <a:noFill/>
          <a:ln/>
        </p:spPr>
        <p:txBody>
          <a:bodyPr wrap="square" lIns="0" tIns="0" rIns="0" bIns="0" rtlCol="0" anchor="t"/>
          <a:lstStyle/>
          <a:p>
            <a:pPr indent="0" marL="0">
              <a:buNone/>
            </a:pPr>
            <a:r>
              <a:rPr lang="en-US" sz="2200" b="1" dirty="0">
                <a:solidFill>
                  <a:srgbClr val="0E93B0"/>
                </a:solidFill>
                <a:latin typeface="Calibri" pitchFamily="34" charset="0"/>
                <a:ea typeface="Calibri" pitchFamily="34" charset="-122"/>
                <a:cs typeface="Calibri" pitchFamily="34" charset="-120"/>
              </a:rPr>
              <a:t>99%</a:t>
            </a:r>
            <a:endParaRPr lang="en-US" sz="2200" dirty="0"/>
          </a:p>
        </p:txBody>
      </p:sp>
      <p:sp>
        <p:nvSpPr>
          <p:cNvPr id="48" name="Text 46"/>
          <p:cNvSpPr/>
          <p:nvPr/>
        </p:nvSpPr>
        <p:spPr>
          <a:xfrm>
            <a:off x="8211312"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similar-part recognition on a live example</a:t>
            </a:r>
            <a:endParaRPr lang="en-US" sz="9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NEW IN 2026</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Advanced intelligence — beyond the estimate</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Shape 8"/>
          <p:cNvSpPr/>
          <p:nvPr/>
        </p:nvSpPr>
        <p:spPr>
          <a:xfrm>
            <a:off x="54864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3774879511175023e+210" dist="3.9356798603357206e+209" dir="4.364718898309728e+245">
              <a:srgbClr val="9DB0CC">
                <a:alpha val="2.200000000000001e+254"/>
              </a:srgbClr>
            </a:outerShdw>
          </a:effectLst>
        </p:spPr>
      </p:sp>
      <p:sp>
        <p:nvSpPr>
          <p:cNvPr id="11" name="Shape 9"/>
          <p:cNvSpPr/>
          <p:nvPr/>
        </p:nvSpPr>
        <p:spPr>
          <a:xfrm>
            <a:off x="548640" y="1691640"/>
            <a:ext cx="82296" cy="187452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2563EB"/>
                </a:solidFill>
                <a:latin typeface="Calibri" pitchFamily="34" charset="0"/>
                <a:ea typeface="Calibri" pitchFamily="34" charset="-122"/>
                <a:cs typeface="Calibri" pitchFamily="34" charset="-120"/>
              </a:rPr>
              <a:t>Conformal confidence bands</a:t>
            </a:r>
            <a:endParaRPr lang="en-US" sz="1450" dirty="0"/>
          </a:p>
        </p:txBody>
      </p:sp>
      <p:sp>
        <p:nvSpPr>
          <p:cNvPr id="15" name="Text 13"/>
          <p:cNvSpPr/>
          <p:nvPr/>
        </p:nvSpPr>
        <p:spPr>
          <a:xfrm>
            <a:off x="84124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A statistically-guaranteed range proven against your own logged quotes — "90% land within ±6.5%", evidence not assertion.</a:t>
            </a:r>
            <a:endParaRPr lang="en-US" sz="1100" dirty="0"/>
          </a:p>
        </p:txBody>
      </p:sp>
      <p:sp>
        <p:nvSpPr>
          <p:cNvPr id="16" name="Shape 14"/>
          <p:cNvSpPr/>
          <p:nvPr/>
        </p:nvSpPr>
        <p:spPr>
          <a:xfrm>
            <a:off x="621792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7494096979192279e+214" dist="4.9983134226263654e+213" dir="2.6188313389858368e+250">
              <a:srgbClr val="9DB0CC">
                <a:alpha val="2.200000000000001e+259"/>
              </a:srgbClr>
            </a:outerShdw>
          </a:effectLst>
        </p:spPr>
      </p:sp>
      <p:sp>
        <p:nvSpPr>
          <p:cNvPr id="17" name="Shape 15"/>
          <p:cNvSpPr/>
          <p:nvPr/>
        </p:nvSpPr>
        <p:spPr>
          <a:xfrm>
            <a:off x="6217920" y="1691640"/>
            <a:ext cx="82296" cy="1874520"/>
          </a:xfrm>
          <a:prstGeom prst="rect">
            <a:avLst/>
          </a:prstGeom>
          <a:solidFill>
            <a:srgbClr val="7C3AED"/>
          </a:solidFill>
          <a:ln/>
        </p:spPr>
      </p:sp>
      <p:sp>
        <p:nvSpPr>
          <p:cNvPr id="18" name="Shape 16"/>
          <p:cNvSpPr/>
          <p:nvPr/>
        </p:nvSpPr>
        <p:spPr>
          <a:xfrm>
            <a:off x="6492240" y="1965960"/>
            <a:ext cx="548640" cy="548640"/>
          </a:xfrm>
          <a:prstGeom prst="ellipse">
            <a:avLst/>
          </a:prstGeom>
          <a:solidFill>
            <a:srgbClr val="F3EEFE"/>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7C3AED"/>
                </a:solidFill>
                <a:latin typeface="Calibri" pitchFamily="34" charset="0"/>
                <a:ea typeface="Calibri" pitchFamily="34" charset="-122"/>
                <a:cs typeface="Calibri" pitchFamily="34" charset="-120"/>
              </a:rPr>
              <a:t>Causal negotiation coach</a:t>
            </a:r>
            <a:endParaRPr lang="en-US" sz="1450" dirty="0"/>
          </a:p>
        </p:txBody>
      </p:sp>
      <p:sp>
        <p:nvSpPr>
          <p:cNvPr id="21" name="Text 19"/>
          <p:cNvSpPr/>
          <p:nvPr/>
        </p:nvSpPr>
        <p:spPr>
          <a:xfrm>
            <a:off x="651052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Knows why a part costs what it does and writes the argument: "every 1% move in aluminium shifts price by £0.11".</a:t>
            </a:r>
            <a:endParaRPr lang="en-US" sz="1100" dirty="0"/>
          </a:p>
        </p:txBody>
      </p:sp>
      <p:sp>
        <p:nvSpPr>
          <p:cNvPr id="22" name="Shape 20"/>
          <p:cNvSpPr/>
          <p:nvPr/>
        </p:nvSpPr>
        <p:spPr>
          <a:xfrm>
            <a:off x="54864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2.2217503163574194e+218" dist="6.347858046735484e+217" dir="1.571298803391502e+255">
              <a:srgbClr val="9DB0CC">
                <a:alpha val="2.200000000000001e+264"/>
              </a:srgbClr>
            </a:outerShdw>
          </a:effectLst>
        </p:spPr>
      </p:sp>
      <p:sp>
        <p:nvSpPr>
          <p:cNvPr id="23" name="Shape 21"/>
          <p:cNvSpPr/>
          <p:nvPr/>
        </p:nvSpPr>
        <p:spPr>
          <a:xfrm>
            <a:off x="548640" y="3749040"/>
            <a:ext cx="82296" cy="1874520"/>
          </a:xfrm>
          <a:prstGeom prst="rect">
            <a:avLst/>
          </a:prstGeom>
          <a:solidFill>
            <a:srgbClr val="E0900C"/>
          </a:solidFill>
          <a:ln/>
        </p:spPr>
      </p:sp>
      <p:sp>
        <p:nvSpPr>
          <p:cNvPr id="24" name="Shape 22"/>
          <p:cNvSpPr/>
          <p:nvPr/>
        </p:nvSpPr>
        <p:spPr>
          <a:xfrm>
            <a:off x="822960" y="4023360"/>
            <a:ext cx="548640" cy="548640"/>
          </a:xfrm>
          <a:prstGeom prst="ellipse">
            <a:avLst/>
          </a:prstGeom>
          <a:solidFill>
            <a:srgbClr val="FEF6E7"/>
          </a:solidFill>
          <a:ln/>
        </p:spPr>
      </p:sp>
      <p:sp>
        <p:nvSpPr>
          <p:cNvPr id="25" name="Text 23"/>
          <p:cNvSpPr/>
          <p:nvPr/>
        </p:nvSpPr>
        <p:spPr>
          <a:xfrm>
            <a:off x="822960" y="401421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E0900C"/>
                </a:solidFill>
                <a:latin typeface="Calibri" pitchFamily="34" charset="0"/>
                <a:ea typeface="Calibri" pitchFamily="34" charset="-122"/>
                <a:cs typeface="Calibri" pitchFamily="34" charset="-120"/>
              </a:rPr>
              <a:t>What-if scenario engine</a:t>
            </a:r>
            <a:endParaRPr lang="en-US" sz="1450" dirty="0"/>
          </a:p>
        </p:txBody>
      </p:sp>
      <p:sp>
        <p:nvSpPr>
          <p:cNvPr id="27" name="Text 25"/>
          <p:cNvSpPr/>
          <p:nvPr/>
        </p:nvSpPr>
        <p:spPr>
          <a:xfrm>
            <a:off x="84124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Move a commodity ±20% and see the price recompute — for one part or the whole portfolio, instantly.</a:t>
            </a:r>
            <a:endParaRPr lang="en-US" sz="1100" dirty="0"/>
          </a:p>
        </p:txBody>
      </p:sp>
      <p:sp>
        <p:nvSpPr>
          <p:cNvPr id="28" name="Shape 26"/>
          <p:cNvSpPr/>
          <p:nvPr/>
        </p:nvSpPr>
        <p:spPr>
          <a:xfrm>
            <a:off x="621792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2.8216229017739227e+222" dist="8.061779719354066e+221" dir="9.427792820349012e+259">
              <a:srgbClr val="9DB0CC">
                <a:alpha val="2.2000000000000007e+269"/>
              </a:srgbClr>
            </a:outerShdw>
          </a:effectLst>
        </p:spPr>
      </p:sp>
      <p:sp>
        <p:nvSpPr>
          <p:cNvPr id="29" name="Shape 27"/>
          <p:cNvSpPr/>
          <p:nvPr/>
        </p:nvSpPr>
        <p:spPr>
          <a:xfrm>
            <a:off x="6217920" y="3749040"/>
            <a:ext cx="82296" cy="1874520"/>
          </a:xfrm>
          <a:prstGeom prst="rect">
            <a:avLst/>
          </a:prstGeom>
          <a:solidFill>
            <a:srgbClr val="0EA472"/>
          </a:solidFill>
          <a:ln/>
        </p:spPr>
      </p:sp>
      <p:sp>
        <p:nvSpPr>
          <p:cNvPr id="30" name="Shape 28"/>
          <p:cNvSpPr/>
          <p:nvPr/>
        </p:nvSpPr>
        <p:spPr>
          <a:xfrm>
            <a:off x="6492240" y="4023360"/>
            <a:ext cx="548640" cy="548640"/>
          </a:xfrm>
          <a:prstGeom prst="ellipse">
            <a:avLst/>
          </a:prstGeom>
          <a:solidFill>
            <a:srgbClr val="E7F7F0"/>
          </a:solidFill>
          <a:ln/>
        </p:spPr>
      </p:sp>
      <p:sp>
        <p:nvSpPr>
          <p:cNvPr id="31" name="Text 29"/>
          <p:cNvSpPr/>
          <p:nvPr/>
        </p:nvSpPr>
        <p:spPr>
          <a:xfrm>
            <a:off x="6492240" y="40142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0EA472"/>
                </a:solidFill>
                <a:latin typeface="Calibri" pitchFamily="34" charset="0"/>
                <a:ea typeface="Calibri" pitchFamily="34" charset="-122"/>
                <a:cs typeface="Calibri" pitchFamily="34" charset="-120"/>
              </a:rPr>
              <a:t>Carbon co-costing</a:t>
            </a:r>
            <a:endParaRPr lang="en-US" sz="1450" dirty="0"/>
          </a:p>
        </p:txBody>
      </p:sp>
      <p:sp>
        <p:nvSpPr>
          <p:cNvPr id="33" name="Text 31"/>
          <p:cNvSpPr/>
          <p:nvPr/>
        </p:nvSpPr>
        <p:spPr>
          <a:xfrm>
            <a:off x="651052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Every part gets a CO₂e figure alongside the £ — increasingly required in automotive &amp; aerospace RFQs.</a:t>
            </a:r>
            <a:endParaRPr lang="en-US" sz="1100" dirty="0"/>
          </a:p>
        </p:txBody>
      </p:sp>
      <p:sp>
        <p:nvSpPr>
          <p:cNvPr id="34" name="Shape 32"/>
          <p:cNvSpPr/>
          <p:nvPr/>
        </p:nvSpPr>
        <p:spPr>
          <a:xfrm>
            <a:off x="548640" y="5669280"/>
            <a:ext cx="11091672" cy="457200"/>
          </a:xfrm>
          <a:prstGeom prst="roundRect">
            <a:avLst>
              <a:gd name="adj" fmla="val 14000"/>
            </a:avLst>
          </a:prstGeom>
          <a:solidFill>
            <a:srgbClr val="F4F7FB"/>
          </a:solidFill>
          <a:ln w="12700">
            <a:solidFill>
              <a:srgbClr val="E4EAF2"/>
            </a:solidFill>
            <a:prstDash val="solid"/>
          </a:ln>
        </p:spPr>
      </p:sp>
      <p:sp>
        <p:nvSpPr>
          <p:cNvPr id="35" name="Text 33"/>
          <p:cNvSpPr/>
          <p:nvPr/>
        </p:nvSpPr>
        <p:spPr>
          <a:xfrm>
            <a:off x="868680" y="5669280"/>
            <a:ext cx="10424160" cy="457200"/>
          </a:xfrm>
          <a:prstGeom prst="rect">
            <a:avLst/>
          </a:prstGeom>
          <a:noFill/>
          <a:ln/>
        </p:spPr>
        <p:txBody>
          <a:bodyPr wrap="square" lIns="0" tIns="0" rIns="0" bIns="0" rtlCol="0" anchor="ctr"/>
          <a:lstStyle/>
          <a:p>
            <a:pPr indent="0" marL="0">
              <a:buNone/>
            </a:pPr>
            <a:r>
              <a:rPr lang="en-US" sz="1150" i="1" dirty="0">
                <a:solidFill>
                  <a:srgbClr val="8A97A8"/>
                </a:solidFill>
                <a:latin typeface="Calibri" pitchFamily="34" charset="0"/>
                <a:ea typeface="Calibri" pitchFamily="34" charset="-122"/>
                <a:cs typeface="Calibri" pitchFamily="34" charset="-120"/>
              </a:rPr>
              <a:t>Each of these turns a number into a decision — a defensible range, a negotiating sentence, a risk pre-empted, a carbon figure.</a:t>
            </a:r>
            <a:endParaRPr lang="en-US" sz="115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Trust by design — glass-box, measured, tested</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Shape 8"/>
          <p:cNvSpPr/>
          <p:nvPr/>
        </p:nvSpPr>
        <p:spPr>
          <a:xfrm>
            <a:off x="54864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5834610852528816e+226" dist="1.0238460243579663e+226" dir="5.656675692209407e+264">
              <a:srgbClr val="9DB0CC">
                <a:alpha val="2.200000000000001e+274"/>
              </a:srgbClr>
            </a:outerShdw>
          </a:effectLst>
        </p:spPr>
      </p:sp>
      <p:sp>
        <p:nvSpPr>
          <p:cNvPr id="11" name="Shape 9"/>
          <p:cNvSpPr/>
          <p:nvPr/>
        </p:nvSpPr>
        <p:spPr>
          <a:xfrm>
            <a:off x="548640" y="1691640"/>
            <a:ext cx="82296" cy="1417320"/>
          </a:xfrm>
          <a:prstGeom prst="rect">
            <a:avLst/>
          </a:prstGeom>
          <a:solidFill>
            <a:srgbClr val="2563EB"/>
          </a:solidFill>
          <a:ln/>
        </p:spPr>
      </p:sp>
      <p:sp>
        <p:nvSpPr>
          <p:cNvPr id="12" name="Shape 10"/>
          <p:cNvSpPr/>
          <p:nvPr/>
        </p:nvSpPr>
        <p:spPr>
          <a:xfrm>
            <a:off x="804672" y="1911096"/>
            <a:ext cx="457200" cy="457200"/>
          </a:xfrm>
          <a:prstGeom prst="ellipse">
            <a:avLst/>
          </a:prstGeom>
          <a:solidFill>
            <a:srgbClr val="EAF1FE"/>
          </a:solidFill>
          <a:ln/>
        </p:spPr>
      </p:sp>
      <p:sp>
        <p:nvSpPr>
          <p:cNvPr id="13" name="Text 11"/>
          <p:cNvSpPr/>
          <p:nvPr/>
        </p:nvSpPr>
        <p:spPr>
          <a:xfrm>
            <a:off x="804672" y="190195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47672"/>
            <a:ext cx="4389120" cy="457200"/>
          </a:xfrm>
          <a:prstGeom prst="rect">
            <a:avLst/>
          </a:prstGeom>
          <a:noFill/>
          <a:ln/>
        </p:spPr>
        <p:txBody>
          <a:bodyPr wrap="square" lIns="0" tIns="0" rIns="0" bIns="0" rtlCol="0" anchor="ctr"/>
          <a:lstStyle/>
          <a:p>
            <a:pPr indent="0" marL="0">
              <a:buNone/>
            </a:pPr>
            <a:r>
              <a:rPr lang="en-US" sz="1350" b="1" dirty="0">
                <a:solidFill>
                  <a:srgbClr val="2563EB"/>
                </a:solidFill>
                <a:latin typeface="Calibri" pitchFamily="34" charset="0"/>
                <a:ea typeface="Calibri" pitchFamily="34" charset="-122"/>
                <a:cs typeface="Calibri" pitchFamily="34" charset="-120"/>
              </a:rPr>
              <a:t>Glass-box, never black-box</a:t>
            </a:r>
            <a:endParaRPr lang="en-US" sz="1350" dirty="0"/>
          </a:p>
        </p:txBody>
      </p:sp>
      <p:sp>
        <p:nvSpPr>
          <p:cNvPr id="15" name="Text 13"/>
          <p:cNvSpPr/>
          <p:nvPr/>
        </p:nvSpPr>
        <p:spPr>
          <a:xfrm>
            <a:off x="82296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Every learned or derived number stays auditable — a value an engineer can read and defend. AI narrates; it never sets the price in secret.</a:t>
            </a:r>
            <a:endParaRPr lang="en-US" sz="1050" dirty="0"/>
          </a:p>
        </p:txBody>
      </p:sp>
      <p:sp>
        <p:nvSpPr>
          <p:cNvPr id="16" name="Shape 14"/>
          <p:cNvSpPr/>
          <p:nvPr/>
        </p:nvSpPr>
        <p:spPr>
          <a:xfrm>
            <a:off x="621792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4.550995578271159e+230" dist="1.3002844509346172e+230" dir="3.3940054153256444e+269">
              <a:srgbClr val="9DB0CC">
                <a:alpha val="2.200000000000001e+279"/>
              </a:srgbClr>
            </a:outerShdw>
          </a:effectLst>
        </p:spPr>
      </p:sp>
      <p:sp>
        <p:nvSpPr>
          <p:cNvPr id="17" name="Shape 15"/>
          <p:cNvSpPr/>
          <p:nvPr/>
        </p:nvSpPr>
        <p:spPr>
          <a:xfrm>
            <a:off x="6217920" y="1691640"/>
            <a:ext cx="82296" cy="1417320"/>
          </a:xfrm>
          <a:prstGeom prst="rect">
            <a:avLst/>
          </a:prstGeom>
          <a:solidFill>
            <a:srgbClr val="0DA5A0"/>
          </a:solidFill>
          <a:ln/>
        </p:spPr>
      </p:sp>
      <p:sp>
        <p:nvSpPr>
          <p:cNvPr id="18" name="Shape 16"/>
          <p:cNvSpPr/>
          <p:nvPr/>
        </p:nvSpPr>
        <p:spPr>
          <a:xfrm>
            <a:off x="6473952" y="1911096"/>
            <a:ext cx="457200" cy="457200"/>
          </a:xfrm>
          <a:prstGeom prst="ellipse">
            <a:avLst/>
          </a:prstGeom>
          <a:solidFill>
            <a:srgbClr val="E7F7F0"/>
          </a:solidFill>
          <a:ln/>
        </p:spPr>
      </p:sp>
      <p:sp>
        <p:nvSpPr>
          <p:cNvPr id="19" name="Text 17"/>
          <p:cNvSpPr/>
          <p:nvPr/>
        </p:nvSpPr>
        <p:spPr>
          <a:xfrm>
            <a:off x="6473952" y="190195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7004304" y="1947672"/>
            <a:ext cx="4389120" cy="457200"/>
          </a:xfrm>
          <a:prstGeom prst="rect">
            <a:avLst/>
          </a:prstGeom>
          <a:noFill/>
          <a:ln/>
        </p:spPr>
        <p:txBody>
          <a:bodyPr wrap="square" lIns="0" tIns="0" rIns="0" bIns="0" rtlCol="0" anchor="ctr"/>
          <a:lstStyle/>
          <a:p>
            <a:pPr indent="0" marL="0">
              <a:buNone/>
            </a:pPr>
            <a:r>
              <a:rPr lang="en-US" sz="1350" b="1" dirty="0">
                <a:solidFill>
                  <a:srgbClr val="0DA5A0"/>
                </a:solidFill>
                <a:latin typeface="Calibri" pitchFamily="34" charset="0"/>
                <a:ea typeface="Calibri" pitchFamily="34" charset="-122"/>
                <a:cs typeface="Calibri" pitchFamily="34" charset="-120"/>
              </a:rPr>
              <a:t>Measured, not asserted</a:t>
            </a:r>
            <a:endParaRPr lang="en-US" sz="1350" dirty="0"/>
          </a:p>
        </p:txBody>
      </p:sp>
      <p:sp>
        <p:nvSpPr>
          <p:cNvPr id="21" name="Text 19"/>
          <p:cNvSpPr/>
          <p:nvPr/>
        </p:nvSpPr>
        <p:spPr>
          <a:xfrm>
            <a:off x="649224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Accuracy is checked against real geometry and real quotes, and reported openly — before and after.</a:t>
            </a:r>
            <a:endParaRPr lang="en-US" sz="1050" dirty="0"/>
          </a:p>
        </p:txBody>
      </p:sp>
      <p:sp>
        <p:nvSpPr>
          <p:cNvPr id="22" name="Shape 20"/>
          <p:cNvSpPr/>
          <p:nvPr/>
        </p:nvSpPr>
        <p:spPr>
          <a:xfrm>
            <a:off x="54864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5.7797643844043726e+234" dist="1.6513612526869638e+234" dir="2.0364032491953868e+274">
              <a:srgbClr val="9DB0CC">
                <a:alpha val="2.200000000000001e+284"/>
              </a:srgbClr>
            </a:outerShdw>
          </a:effectLst>
        </p:spPr>
      </p:sp>
      <p:sp>
        <p:nvSpPr>
          <p:cNvPr id="23" name="Shape 21"/>
          <p:cNvSpPr/>
          <p:nvPr/>
        </p:nvSpPr>
        <p:spPr>
          <a:xfrm>
            <a:off x="548640" y="3291840"/>
            <a:ext cx="82296" cy="1417320"/>
          </a:xfrm>
          <a:prstGeom prst="rect">
            <a:avLst/>
          </a:prstGeom>
          <a:solidFill>
            <a:srgbClr val="7C3AED"/>
          </a:solidFill>
          <a:ln/>
        </p:spPr>
      </p:sp>
      <p:sp>
        <p:nvSpPr>
          <p:cNvPr id="24" name="Shape 22"/>
          <p:cNvSpPr/>
          <p:nvPr/>
        </p:nvSpPr>
        <p:spPr>
          <a:xfrm>
            <a:off x="804672" y="3511296"/>
            <a:ext cx="457200" cy="457200"/>
          </a:xfrm>
          <a:prstGeom prst="ellipse">
            <a:avLst/>
          </a:prstGeom>
          <a:solidFill>
            <a:srgbClr val="F3EEFE"/>
          </a:solidFill>
          <a:ln/>
        </p:spPr>
      </p:sp>
      <p:sp>
        <p:nvSpPr>
          <p:cNvPr id="25" name="Text 23"/>
          <p:cNvSpPr/>
          <p:nvPr/>
        </p:nvSpPr>
        <p:spPr>
          <a:xfrm>
            <a:off x="804672" y="350215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1335024" y="3547872"/>
            <a:ext cx="4389120" cy="45720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Honest about uncertainty</a:t>
            </a:r>
            <a:endParaRPr lang="en-US" sz="1350" dirty="0"/>
          </a:p>
        </p:txBody>
      </p:sp>
      <p:sp>
        <p:nvSpPr>
          <p:cNvPr id="27" name="Text 25"/>
          <p:cNvSpPr/>
          <p:nvPr/>
        </p:nvSpPr>
        <p:spPr>
          <a:xfrm>
            <a:off x="82296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Confidence bands and clear flags on anything unverified — never a false single number.</a:t>
            </a:r>
            <a:endParaRPr lang="en-US" sz="1050" dirty="0"/>
          </a:p>
        </p:txBody>
      </p:sp>
      <p:sp>
        <p:nvSpPr>
          <p:cNvPr id="28" name="Shape 26"/>
          <p:cNvSpPr/>
          <p:nvPr/>
        </p:nvSpPr>
        <p:spPr>
          <a:xfrm>
            <a:off x="621792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7.340300768193554e+238" dist="2.097228790912444e+238" dir="1.221841949517232e+279">
              <a:srgbClr val="9DB0CC">
                <a:alpha val="2.200000000000001e+289"/>
              </a:srgbClr>
            </a:outerShdw>
          </a:effectLst>
        </p:spPr>
      </p:sp>
      <p:sp>
        <p:nvSpPr>
          <p:cNvPr id="29" name="Shape 27"/>
          <p:cNvSpPr/>
          <p:nvPr/>
        </p:nvSpPr>
        <p:spPr>
          <a:xfrm>
            <a:off x="6217920" y="3291840"/>
            <a:ext cx="82296" cy="1417320"/>
          </a:xfrm>
          <a:prstGeom prst="rect">
            <a:avLst/>
          </a:prstGeom>
          <a:solidFill>
            <a:srgbClr val="0EA472"/>
          </a:solidFill>
          <a:ln/>
        </p:spPr>
      </p:sp>
      <p:sp>
        <p:nvSpPr>
          <p:cNvPr id="30" name="Shape 28"/>
          <p:cNvSpPr/>
          <p:nvPr/>
        </p:nvSpPr>
        <p:spPr>
          <a:xfrm>
            <a:off x="6473952" y="3511296"/>
            <a:ext cx="457200" cy="457200"/>
          </a:xfrm>
          <a:prstGeom prst="ellipse">
            <a:avLst/>
          </a:prstGeom>
          <a:solidFill>
            <a:srgbClr val="E7F7F0"/>
          </a:solidFill>
          <a:ln/>
        </p:spPr>
      </p:sp>
      <p:sp>
        <p:nvSpPr>
          <p:cNvPr id="31" name="Text 29"/>
          <p:cNvSpPr/>
          <p:nvPr/>
        </p:nvSpPr>
        <p:spPr>
          <a:xfrm>
            <a:off x="6473952" y="3502152"/>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7004304" y="3547872"/>
            <a:ext cx="4389120" cy="457200"/>
          </a:xfrm>
          <a:prstGeom prst="rect">
            <a:avLst/>
          </a:prstGeom>
          <a:noFill/>
          <a:ln/>
        </p:spPr>
        <p:txBody>
          <a:bodyPr wrap="square" lIns="0" tIns="0" rIns="0" bIns="0" rtlCol="0" anchor="ctr"/>
          <a:lstStyle/>
          <a:p>
            <a:pPr indent="0" marL="0">
              <a:buNone/>
            </a:pPr>
            <a:r>
              <a:rPr lang="en-US" sz="1350" b="1" dirty="0">
                <a:solidFill>
                  <a:srgbClr val="0EA472"/>
                </a:solidFill>
                <a:latin typeface="Calibri" pitchFamily="34" charset="0"/>
                <a:ea typeface="Calibri" pitchFamily="34" charset="-122"/>
                <a:cs typeface="Calibri" pitchFamily="34" charset="-120"/>
              </a:rPr>
              <a:t>Production-grade</a:t>
            </a:r>
            <a:endParaRPr lang="en-US" sz="1350" dirty="0"/>
          </a:p>
        </p:txBody>
      </p:sp>
      <p:sp>
        <p:nvSpPr>
          <p:cNvPr id="33" name="Text 31"/>
          <p:cNvSpPr/>
          <p:nvPr/>
        </p:nvSpPr>
        <p:spPr>
          <a:xfrm>
            <a:off x="649224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917 automated tests across 77 suites, exercised end-to-end on the live system.</a:t>
            </a:r>
            <a:endParaRPr lang="en-US" sz="1050" dirty="0"/>
          </a:p>
        </p:txBody>
      </p:sp>
      <p:sp>
        <p:nvSpPr>
          <p:cNvPr id="34" name="Shape 32"/>
          <p:cNvSpPr/>
          <p:nvPr/>
        </p:nvSpPr>
        <p:spPr>
          <a:xfrm>
            <a:off x="548640" y="5029200"/>
            <a:ext cx="11091672" cy="914400"/>
          </a:xfrm>
          <a:prstGeom prst="roundRect">
            <a:avLst>
              <a:gd name="adj" fmla="val 7000"/>
            </a:avLst>
          </a:prstGeom>
          <a:solidFill>
            <a:srgbClr val="E7F7F0"/>
          </a:solidFill>
          <a:ln w="12700">
            <a:solidFill>
              <a:srgbClr val="E4EAF2"/>
            </a:solidFill>
            <a:prstDash val="solid"/>
          </a:ln>
        </p:spPr>
      </p:sp>
      <p:sp>
        <p:nvSpPr>
          <p:cNvPr id="35" name="Shape 33"/>
          <p:cNvSpPr/>
          <p:nvPr/>
        </p:nvSpPr>
        <p:spPr>
          <a:xfrm>
            <a:off x="548640" y="5029200"/>
            <a:ext cx="82296" cy="914400"/>
          </a:xfrm>
          <a:prstGeom prst="rect">
            <a:avLst/>
          </a:prstGeom>
          <a:solidFill>
            <a:srgbClr val="0EA472"/>
          </a:solidFill>
          <a:ln/>
        </p:spPr>
      </p:sp>
      <p:sp>
        <p:nvSpPr>
          <p:cNvPr id="36" name="Text 34"/>
          <p:cNvSpPr/>
          <p:nvPr/>
        </p:nvSpPr>
        <p:spPr>
          <a:xfrm>
            <a:off x="914400" y="5166360"/>
            <a:ext cx="10378440" cy="68580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through-line of the whole platform: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the AI does the understanding; deterministic maths does the money; and every number is traceable, bounded and testable. That is what lets you put a CostVision number in front of a supplier — or a board.</a:t>
            </a:r>
            <a:endParaRPr lang="en-US" sz="1200" dirty="0"/>
          </a:p>
        </p:txBody>
      </p:sp>
      <p:sp>
        <p:nvSpPr>
          <p:cNvPr id="37" name="Shape 35"/>
          <p:cNvSpPr/>
          <p:nvPr/>
        </p:nvSpPr>
        <p:spPr>
          <a:xfrm>
            <a:off x="548640" y="6400800"/>
            <a:ext cx="11094415" cy="12802"/>
          </a:xfrm>
          <a:prstGeom prst="rect">
            <a:avLst/>
          </a:prstGeom>
          <a:solidFill>
            <a:srgbClr val="E4EAF2"/>
          </a:solidFill>
          <a:ln/>
        </p:spPr>
      </p:sp>
      <p:sp>
        <p:nvSpPr>
          <p:cNvPr id="38" name="Text 3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9" name="Text 3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VALUE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this means for the business</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Shape 8"/>
          <p:cNvSpPr/>
          <p:nvPr/>
        </p:nvSpPr>
        <p:spPr>
          <a:xfrm>
            <a:off x="54864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9.322181975605814e+242" dist="2.663480564458804e+242" dir="7.331051697103393e+283">
              <a:srgbClr val="9DB0CC">
                <a:alpha val="2.200000000000001e+294"/>
              </a:srgbClr>
            </a:outerShdw>
          </a:effectLst>
        </p:spPr>
      </p:sp>
      <p:sp>
        <p:nvSpPr>
          <p:cNvPr id="11" name="Shape 9"/>
          <p:cNvSpPr/>
          <p:nvPr/>
        </p:nvSpPr>
        <p:spPr>
          <a:xfrm>
            <a:off x="548640" y="1691640"/>
            <a:ext cx="82296" cy="178308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365760"/>
          </a:xfrm>
          <a:prstGeom prst="rect">
            <a:avLst/>
          </a:prstGeom>
          <a:noFill/>
          <a:ln/>
        </p:spPr>
        <p:txBody>
          <a:bodyPr wrap="square" lIns="0" tIns="0" rIns="0" bIns="0" rtlCol="0" anchor="ctr"/>
          <a:lstStyle/>
          <a:p>
            <a:pPr indent="0" marL="0">
              <a:buNone/>
            </a:pPr>
            <a:r>
              <a:rPr lang="en-US" sz="1550" b="1" dirty="0">
                <a:solidFill>
                  <a:srgbClr val="2563EB"/>
                </a:solidFill>
                <a:latin typeface="Calibri" pitchFamily="34" charset="0"/>
                <a:ea typeface="Calibri" pitchFamily="34" charset="-122"/>
                <a:cs typeface="Calibri" pitchFamily="34" charset="-120"/>
              </a:rPr>
              <a:t>Speed</a:t>
            </a:r>
            <a:endParaRPr lang="en-US" sz="1550" dirty="0"/>
          </a:p>
        </p:txBody>
      </p:sp>
      <p:sp>
        <p:nvSpPr>
          <p:cNvPr id="15" name="Text 13"/>
          <p:cNvSpPr/>
          <p:nvPr/>
        </p:nvSpPr>
        <p:spPr>
          <a:xfrm>
            <a:off x="84124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Weeks of RFQ cycle collapse to minutes — the first defensible number arrives while the meeting is still happening.</a:t>
            </a:r>
            <a:endParaRPr lang="en-US" sz="1150" dirty="0"/>
          </a:p>
        </p:txBody>
      </p:sp>
      <p:sp>
        <p:nvSpPr>
          <p:cNvPr id="16" name="Shape 14"/>
          <p:cNvSpPr/>
          <p:nvPr/>
        </p:nvSpPr>
        <p:spPr>
          <a:xfrm>
            <a:off x="621792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1.1839171109019383e+247" dist="3.3826203168626813e+246" dir="4.3986310182620354e+288">
              <a:srgbClr val="9DB0CC">
                <a:alpha val="2.200000000000001e+299"/>
              </a:srgbClr>
            </a:outerShdw>
          </a:effectLst>
        </p:spPr>
      </p:sp>
      <p:sp>
        <p:nvSpPr>
          <p:cNvPr id="17" name="Shape 15"/>
          <p:cNvSpPr/>
          <p:nvPr/>
        </p:nvSpPr>
        <p:spPr>
          <a:xfrm>
            <a:off x="6217920" y="1691640"/>
            <a:ext cx="82296" cy="1783080"/>
          </a:xfrm>
          <a:prstGeom prst="rect">
            <a:avLst/>
          </a:prstGeom>
          <a:solidFill>
            <a:srgbClr val="0EA472"/>
          </a:solidFill>
          <a:ln/>
        </p:spPr>
      </p:sp>
      <p:sp>
        <p:nvSpPr>
          <p:cNvPr id="18" name="Shape 16"/>
          <p:cNvSpPr/>
          <p:nvPr/>
        </p:nvSpPr>
        <p:spPr>
          <a:xfrm>
            <a:off x="6492240" y="1965960"/>
            <a:ext cx="548640" cy="548640"/>
          </a:xfrm>
          <a:prstGeom prst="ellipse">
            <a:avLst/>
          </a:prstGeom>
          <a:solidFill>
            <a:srgbClr val="E7F7F0"/>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365760"/>
          </a:xfrm>
          <a:prstGeom prst="rect">
            <a:avLst/>
          </a:prstGeom>
          <a:noFill/>
          <a:ln/>
        </p:spPr>
        <p:txBody>
          <a:bodyPr wrap="square" lIns="0" tIns="0" rIns="0" bIns="0" rtlCol="0" anchor="ctr"/>
          <a:lstStyle/>
          <a:p>
            <a:pPr indent="0" marL="0">
              <a:buNone/>
            </a:pPr>
            <a:r>
              <a:rPr lang="en-US" sz="1550" b="1" dirty="0">
                <a:solidFill>
                  <a:srgbClr val="0EA472"/>
                </a:solidFill>
                <a:latin typeface="Calibri" pitchFamily="34" charset="0"/>
                <a:ea typeface="Calibri" pitchFamily="34" charset="-122"/>
                <a:cs typeface="Calibri" pitchFamily="34" charset="-120"/>
              </a:rPr>
              <a:t>Margin recovery</a:t>
            </a:r>
            <a:endParaRPr lang="en-US" sz="1550" dirty="0"/>
          </a:p>
        </p:txBody>
      </p:sp>
      <p:sp>
        <p:nvSpPr>
          <p:cNvPr id="21" name="Text 19"/>
          <p:cNvSpPr/>
          <p:nvPr/>
        </p:nvSpPr>
        <p:spPr>
          <a:xfrm>
            <a:off x="651052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Line-level should-cost lets you challenge every quote by driver — the agent alone surfaced ~£512k/yr in a demo.</a:t>
            </a:r>
            <a:endParaRPr lang="en-US" sz="1150" dirty="0"/>
          </a:p>
        </p:txBody>
      </p:sp>
      <p:sp>
        <p:nvSpPr>
          <p:cNvPr id="22" name="Shape 20"/>
          <p:cNvSpPr/>
          <p:nvPr/>
        </p:nvSpPr>
        <p:spPr>
          <a:xfrm>
            <a:off x="54864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1.5035747308454617e+251" dist="4.295927802415605e+250" dir="2.6391786109572213e+293">
              <a:srgbClr val="9DB0CC">
                <a:alpha val="2.200000000000001e+304"/>
              </a:srgbClr>
            </a:outerShdw>
          </a:effectLst>
        </p:spPr>
      </p:sp>
      <p:sp>
        <p:nvSpPr>
          <p:cNvPr id="23" name="Shape 21"/>
          <p:cNvSpPr/>
          <p:nvPr/>
        </p:nvSpPr>
        <p:spPr>
          <a:xfrm>
            <a:off x="548640" y="3657600"/>
            <a:ext cx="82296" cy="1783080"/>
          </a:xfrm>
          <a:prstGeom prst="rect">
            <a:avLst/>
          </a:prstGeom>
          <a:solidFill>
            <a:srgbClr val="7C3AED"/>
          </a:solidFill>
          <a:ln/>
        </p:spPr>
      </p:sp>
      <p:sp>
        <p:nvSpPr>
          <p:cNvPr id="24" name="Shape 22"/>
          <p:cNvSpPr/>
          <p:nvPr/>
        </p:nvSpPr>
        <p:spPr>
          <a:xfrm>
            <a:off x="822960" y="3931920"/>
            <a:ext cx="548640" cy="548640"/>
          </a:xfrm>
          <a:prstGeom prst="ellipse">
            <a:avLst/>
          </a:prstGeom>
          <a:solidFill>
            <a:srgbClr val="F3EEFE"/>
          </a:solidFill>
          <a:ln/>
        </p:spPr>
      </p:sp>
      <p:sp>
        <p:nvSpPr>
          <p:cNvPr id="25" name="Text 23"/>
          <p:cNvSpPr/>
          <p:nvPr/>
        </p:nvSpPr>
        <p:spPr>
          <a:xfrm>
            <a:off x="822960" y="392277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3968496"/>
            <a:ext cx="4297680" cy="365760"/>
          </a:xfrm>
          <a:prstGeom prst="rect">
            <a:avLst/>
          </a:prstGeom>
          <a:noFill/>
          <a:ln/>
        </p:spPr>
        <p:txBody>
          <a:bodyPr wrap="square" lIns="0" tIns="0" rIns="0" bIns="0" rtlCol="0" anchor="ctr"/>
          <a:lstStyle/>
          <a:p>
            <a:pPr indent="0" marL="0">
              <a:buNone/>
            </a:pPr>
            <a:r>
              <a:rPr lang="en-US" sz="1550" b="1" dirty="0">
                <a:solidFill>
                  <a:srgbClr val="7C3AED"/>
                </a:solidFill>
                <a:latin typeface="Calibri" pitchFamily="34" charset="0"/>
                <a:ea typeface="Calibri" pitchFamily="34" charset="-122"/>
                <a:cs typeface="Calibri" pitchFamily="34" charset="-120"/>
              </a:rPr>
              <a:t>Consistency &amp; speed-to-competence</a:t>
            </a:r>
            <a:endParaRPr lang="en-US" sz="1550" dirty="0"/>
          </a:p>
        </p:txBody>
      </p:sp>
      <p:sp>
        <p:nvSpPr>
          <p:cNvPr id="27" name="Text 25"/>
          <p:cNvSpPr/>
          <p:nvPr/>
        </p:nvSpPr>
        <p:spPr>
          <a:xfrm>
            <a:off x="84124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One consistent answer for everyone; juniors cost like seniors from day one.</a:t>
            </a:r>
            <a:endParaRPr lang="en-US" sz="1150" dirty="0"/>
          </a:p>
        </p:txBody>
      </p:sp>
      <p:sp>
        <p:nvSpPr>
          <p:cNvPr id="28" name="Shape 26"/>
          <p:cNvSpPr/>
          <p:nvPr/>
        </p:nvSpPr>
        <p:spPr>
          <a:xfrm>
            <a:off x="621792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1.9095399081737364e+255" dist="5.455828309067819e+254" dir="1.5835071665743328e+298">
              <a:srgbClr val="9DB0CC">
                <a:alpha val="Infinity"/>
              </a:srgbClr>
            </a:outerShdw>
          </a:effectLst>
        </p:spPr>
      </p:sp>
      <p:sp>
        <p:nvSpPr>
          <p:cNvPr id="29" name="Shape 27"/>
          <p:cNvSpPr/>
          <p:nvPr/>
        </p:nvSpPr>
        <p:spPr>
          <a:xfrm>
            <a:off x="6217920" y="3657600"/>
            <a:ext cx="82296" cy="1783080"/>
          </a:xfrm>
          <a:prstGeom prst="rect">
            <a:avLst/>
          </a:prstGeom>
          <a:solidFill>
            <a:srgbClr val="E0900C"/>
          </a:solidFill>
          <a:ln/>
        </p:spPr>
      </p:sp>
      <p:sp>
        <p:nvSpPr>
          <p:cNvPr id="30" name="Shape 28"/>
          <p:cNvSpPr/>
          <p:nvPr/>
        </p:nvSpPr>
        <p:spPr>
          <a:xfrm>
            <a:off x="6492240" y="3931920"/>
            <a:ext cx="548640" cy="548640"/>
          </a:xfrm>
          <a:prstGeom prst="ellipse">
            <a:avLst/>
          </a:prstGeom>
          <a:solidFill>
            <a:srgbClr val="FEF6E7"/>
          </a:solidFill>
          <a:ln/>
        </p:spPr>
      </p:sp>
      <p:sp>
        <p:nvSpPr>
          <p:cNvPr id="31" name="Text 29"/>
          <p:cNvSpPr/>
          <p:nvPr/>
        </p:nvSpPr>
        <p:spPr>
          <a:xfrm>
            <a:off x="6492240" y="392277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3968496"/>
            <a:ext cx="4297680" cy="365760"/>
          </a:xfrm>
          <a:prstGeom prst="rect">
            <a:avLst/>
          </a:prstGeom>
          <a:noFill/>
          <a:ln/>
        </p:spPr>
        <p:txBody>
          <a:bodyPr wrap="square" lIns="0" tIns="0" rIns="0" bIns="0" rtlCol="0" anchor="ctr"/>
          <a:lstStyle/>
          <a:p>
            <a:pPr indent="0" marL="0">
              <a:buNone/>
            </a:pPr>
            <a:r>
              <a:rPr lang="en-US" sz="1550" b="1" dirty="0">
                <a:solidFill>
                  <a:srgbClr val="E0900C"/>
                </a:solidFill>
                <a:latin typeface="Calibri" pitchFamily="34" charset="0"/>
                <a:ea typeface="Calibri" pitchFamily="34" charset="-122"/>
                <a:cs typeface="Calibri" pitchFamily="34" charset="-120"/>
              </a:rPr>
              <a:t>A compounding asset</a:t>
            </a:r>
            <a:endParaRPr lang="en-US" sz="1550" dirty="0"/>
          </a:p>
        </p:txBody>
      </p:sp>
      <p:sp>
        <p:nvSpPr>
          <p:cNvPr id="33" name="Text 31"/>
          <p:cNvSpPr/>
          <p:nvPr/>
        </p:nvSpPr>
        <p:spPr>
          <a:xfrm>
            <a:off x="651052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Costing knowledge becomes proprietary data on our own servers — it grows, and competitors cannot buy it.</a:t>
            </a:r>
            <a:endParaRPr lang="en-US" sz="1150" dirty="0"/>
          </a:p>
        </p:txBody>
      </p:sp>
      <p:sp>
        <p:nvSpPr>
          <p:cNvPr id="34" name="Shape 32"/>
          <p:cNvSpPr/>
          <p:nvPr/>
        </p:nvSpPr>
        <p:spPr>
          <a:xfrm>
            <a:off x="548640" y="5669280"/>
            <a:ext cx="11091672" cy="457200"/>
          </a:xfrm>
          <a:prstGeom prst="roundRect">
            <a:avLst>
              <a:gd name="adj" fmla="val 14000"/>
            </a:avLst>
          </a:prstGeom>
          <a:solidFill>
            <a:srgbClr val="EAF1FE"/>
          </a:solidFill>
          <a:ln w="12700">
            <a:solidFill>
              <a:srgbClr val="E4EAF2"/>
            </a:solidFill>
            <a:prstDash val="solid"/>
          </a:ln>
        </p:spPr>
      </p:sp>
      <p:sp>
        <p:nvSpPr>
          <p:cNvPr id="35" name="Text 33"/>
          <p:cNvSpPr/>
          <p:nvPr/>
        </p:nvSpPr>
        <p:spPr>
          <a:xfrm>
            <a:off x="914400" y="5669280"/>
            <a:ext cx="10332720" cy="457200"/>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Net:  </a:t>
            </a:r>
            <a:pPr indent="0" marL="0">
              <a:buNone/>
            </a:pPr>
            <a:r>
              <a:rPr lang="en-US" sz="1200" dirty="0">
                <a:solidFill>
                  <a:srgbClr val="3E4C63"/>
                </a:solidFill>
                <a:latin typeface="Calibri" pitchFamily="34" charset="0"/>
                <a:ea typeface="Calibri" pitchFamily="34" charset="-122"/>
                <a:cs typeface="Calibri" pitchFamily="34" charset="-120"/>
              </a:rPr>
              <a:t>faster quotes, better margins, consistent numbers, and an intelligence asset that appreciates with every use — at zero extra licence cost, on our own infrastructure.</a:t>
            </a:r>
            <a:endParaRPr lang="en-US" sz="120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ROADMAP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Way forward — the implementation blueprint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low-risk, staged rollout — prove it on a pilot, scale to the team, then embed it in how we quote and negotiate.</a:t>
            </a:r>
            <a:endParaRPr lang="en-US" sz="1250" dirty="0"/>
          </a:p>
        </p:txBody>
      </p:sp>
      <p:sp>
        <p:nvSpPr>
          <p:cNvPr id="11" name="Shape 9"/>
          <p:cNvSpPr/>
          <p:nvPr/>
        </p:nvSpPr>
        <p:spPr>
          <a:xfrm>
            <a:off x="548640"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2.425115683380645e+259" dist="6.928901952516129e+258" dir="9.501042999445996e+302">
              <a:srgbClr val="9DB0CC">
                <a:alpha val="Infinity"/>
              </a:srgbClr>
            </a:outerShdw>
          </a:effectLst>
        </p:spPr>
      </p:sp>
      <p:sp>
        <p:nvSpPr>
          <p:cNvPr id="12" name="Shape 10"/>
          <p:cNvSpPr/>
          <p:nvPr/>
        </p:nvSpPr>
        <p:spPr>
          <a:xfrm>
            <a:off x="548640" y="2103120"/>
            <a:ext cx="82296" cy="3063240"/>
          </a:xfrm>
          <a:prstGeom prst="rect">
            <a:avLst/>
          </a:prstGeom>
          <a:solidFill>
            <a:srgbClr val="2563EB"/>
          </a:solidFill>
          <a:ln/>
        </p:spPr>
      </p:sp>
      <p:sp>
        <p:nvSpPr>
          <p:cNvPr id="13" name="Text 11"/>
          <p:cNvSpPr/>
          <p:nvPr/>
        </p:nvSpPr>
        <p:spPr>
          <a:xfrm>
            <a:off x="804672" y="2322576"/>
            <a:ext cx="3063240" cy="365760"/>
          </a:xfrm>
          <a:prstGeom prst="rect">
            <a:avLst/>
          </a:prstGeom>
          <a:noFill/>
          <a:ln/>
        </p:spPr>
        <p:txBody>
          <a:bodyPr wrap="square" lIns="0" tIns="0" rIns="0" bIns="0" rtlCol="0" anchor="t"/>
          <a:lstStyle/>
          <a:p>
            <a:pPr indent="0" marL="0">
              <a:buNone/>
            </a:pPr>
            <a:r>
              <a:rPr lang="en-US" sz="1450" b="1" dirty="0">
                <a:solidFill>
                  <a:srgbClr val="2563EB"/>
                </a:solidFill>
                <a:latin typeface="Calibri" pitchFamily="34" charset="0"/>
                <a:ea typeface="Calibri" pitchFamily="34" charset="-122"/>
                <a:cs typeface="Calibri" pitchFamily="34" charset="-120"/>
              </a:rPr>
              <a:t>Phase 1 — Pilot</a:t>
            </a:r>
            <a:endParaRPr lang="en-US" sz="1450" dirty="0"/>
          </a:p>
        </p:txBody>
      </p:sp>
      <p:sp>
        <p:nvSpPr>
          <p:cNvPr id="14" name="Shape 12"/>
          <p:cNvSpPr/>
          <p:nvPr/>
        </p:nvSpPr>
        <p:spPr>
          <a:xfrm>
            <a:off x="804672" y="2761488"/>
            <a:ext cx="1463040" cy="310896"/>
          </a:xfrm>
          <a:prstGeom prst="roundRect">
            <a:avLst>
              <a:gd name="adj" fmla="val 47059"/>
            </a:avLst>
          </a:prstGeom>
          <a:solidFill>
            <a:srgbClr val="EAF1FE"/>
          </a:solidFill>
          <a:ln/>
        </p:spPr>
      </p:sp>
      <p:sp>
        <p:nvSpPr>
          <p:cNvPr id="15" name="Text 13"/>
          <p:cNvSpPr/>
          <p:nvPr/>
        </p:nvSpPr>
        <p:spPr>
          <a:xfrm>
            <a:off x="804672" y="2761488"/>
            <a:ext cx="1463040" cy="310896"/>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Weeks 0–6</a:t>
            </a:r>
            <a:endParaRPr lang="en-US" sz="950" dirty="0"/>
          </a:p>
        </p:txBody>
      </p:sp>
      <p:sp>
        <p:nvSpPr>
          <p:cNvPr id="16" name="Shape 14"/>
          <p:cNvSpPr/>
          <p:nvPr/>
        </p:nvSpPr>
        <p:spPr>
          <a:xfrm>
            <a:off x="822960" y="3291840"/>
            <a:ext cx="256032" cy="256032"/>
          </a:xfrm>
          <a:prstGeom prst="ellipse">
            <a:avLst/>
          </a:prstGeom>
          <a:solidFill>
            <a:srgbClr val="EAF1FE"/>
          </a:solidFill>
          <a:ln/>
        </p:spPr>
      </p:sp>
      <p:sp>
        <p:nvSpPr>
          <p:cNvPr id="17" name="Text 15"/>
          <p:cNvSpPr/>
          <p:nvPr/>
        </p:nvSpPr>
        <p:spPr>
          <a:xfrm>
            <a:off x="822960" y="32826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18" name="Text 16"/>
          <p:cNvSpPr/>
          <p:nvPr/>
        </p:nvSpPr>
        <p:spPr>
          <a:xfrm>
            <a:off x="1170432"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Stand up on-premise</a:t>
            </a:r>
            <a:endParaRPr lang="en-US" sz="1030" dirty="0"/>
          </a:p>
        </p:txBody>
      </p:sp>
      <p:sp>
        <p:nvSpPr>
          <p:cNvPr id="19" name="Shape 17"/>
          <p:cNvSpPr/>
          <p:nvPr/>
        </p:nvSpPr>
        <p:spPr>
          <a:xfrm>
            <a:off x="822960" y="3749040"/>
            <a:ext cx="256032" cy="256032"/>
          </a:xfrm>
          <a:prstGeom prst="ellipse">
            <a:avLst/>
          </a:prstGeom>
          <a:solidFill>
            <a:srgbClr val="EAF1FE"/>
          </a:solidFill>
          <a:ln/>
        </p:spPr>
      </p:sp>
      <p:sp>
        <p:nvSpPr>
          <p:cNvPr id="20" name="Text 18"/>
          <p:cNvSpPr/>
          <p:nvPr/>
        </p:nvSpPr>
        <p:spPr>
          <a:xfrm>
            <a:off x="822960" y="37398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1" name="Text 19"/>
          <p:cNvSpPr/>
          <p:nvPr/>
        </p:nvSpPr>
        <p:spPr>
          <a:xfrm>
            <a:off x="1170432"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Seed memory with historic quotes</a:t>
            </a:r>
            <a:endParaRPr lang="en-US" sz="1030" dirty="0"/>
          </a:p>
        </p:txBody>
      </p:sp>
      <p:sp>
        <p:nvSpPr>
          <p:cNvPr id="22" name="Shape 20"/>
          <p:cNvSpPr/>
          <p:nvPr/>
        </p:nvSpPr>
        <p:spPr>
          <a:xfrm>
            <a:off x="822960" y="4206240"/>
            <a:ext cx="256032" cy="256032"/>
          </a:xfrm>
          <a:prstGeom prst="ellipse">
            <a:avLst/>
          </a:prstGeom>
          <a:solidFill>
            <a:srgbClr val="EAF1FE"/>
          </a:solidFill>
          <a:ln/>
        </p:spPr>
      </p:sp>
      <p:sp>
        <p:nvSpPr>
          <p:cNvPr id="23" name="Text 21"/>
          <p:cNvSpPr/>
          <p:nvPr/>
        </p:nvSpPr>
        <p:spPr>
          <a:xfrm>
            <a:off x="822960" y="41970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170432"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Cost 20–30 live parts</a:t>
            </a:r>
            <a:endParaRPr lang="en-US" sz="1030" dirty="0"/>
          </a:p>
        </p:txBody>
      </p:sp>
      <p:sp>
        <p:nvSpPr>
          <p:cNvPr id="25" name="Shape 23"/>
          <p:cNvSpPr/>
          <p:nvPr/>
        </p:nvSpPr>
        <p:spPr>
          <a:xfrm>
            <a:off x="822960" y="4663440"/>
            <a:ext cx="256032" cy="256032"/>
          </a:xfrm>
          <a:prstGeom prst="ellipse">
            <a:avLst/>
          </a:prstGeom>
          <a:solidFill>
            <a:srgbClr val="EAF1FE"/>
          </a:solidFill>
          <a:ln/>
        </p:spPr>
      </p:sp>
      <p:sp>
        <p:nvSpPr>
          <p:cNvPr id="26" name="Text 24"/>
          <p:cNvSpPr/>
          <p:nvPr/>
        </p:nvSpPr>
        <p:spPr>
          <a:xfrm>
            <a:off x="822960" y="46542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7" name="Text 25"/>
          <p:cNvSpPr/>
          <p:nvPr/>
        </p:nvSpPr>
        <p:spPr>
          <a:xfrm>
            <a:off x="1170432"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Baseline accuracy vs actuals</a:t>
            </a:r>
            <a:endParaRPr lang="en-US" sz="1030" dirty="0"/>
          </a:p>
        </p:txBody>
      </p:sp>
      <p:sp>
        <p:nvSpPr>
          <p:cNvPr id="28" name="Text 26"/>
          <p:cNvSpPr/>
          <p:nvPr/>
        </p:nvSpPr>
        <p:spPr>
          <a:xfrm>
            <a:off x="4078224"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9" name="Shape 27"/>
          <p:cNvSpPr/>
          <p:nvPr/>
        </p:nvSpPr>
        <p:spPr>
          <a:xfrm>
            <a:off x="4325112"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3.079896917893419e+263" dist="8.799705479695485e+262" dir="5.700625799667598e+307">
              <a:srgbClr val="9DB0CC">
                <a:alpha val="Infinity"/>
              </a:srgbClr>
            </a:outerShdw>
          </a:effectLst>
        </p:spPr>
      </p:sp>
      <p:sp>
        <p:nvSpPr>
          <p:cNvPr id="30" name="Shape 28"/>
          <p:cNvSpPr/>
          <p:nvPr/>
        </p:nvSpPr>
        <p:spPr>
          <a:xfrm>
            <a:off x="4325112" y="2103120"/>
            <a:ext cx="82296" cy="3063240"/>
          </a:xfrm>
          <a:prstGeom prst="rect">
            <a:avLst/>
          </a:prstGeom>
          <a:solidFill>
            <a:srgbClr val="7C3AED"/>
          </a:solidFill>
          <a:ln/>
        </p:spPr>
      </p:sp>
      <p:sp>
        <p:nvSpPr>
          <p:cNvPr id="31" name="Text 29"/>
          <p:cNvSpPr/>
          <p:nvPr/>
        </p:nvSpPr>
        <p:spPr>
          <a:xfrm>
            <a:off x="4581144" y="2322576"/>
            <a:ext cx="3063240" cy="365760"/>
          </a:xfrm>
          <a:prstGeom prst="rect">
            <a:avLst/>
          </a:prstGeom>
          <a:noFill/>
          <a:ln/>
        </p:spPr>
        <p:txBody>
          <a:bodyPr wrap="square" lIns="0" tIns="0" rIns="0" bIns="0" rtlCol="0" anchor="t"/>
          <a:lstStyle/>
          <a:p>
            <a:pPr indent="0" marL="0">
              <a:buNone/>
            </a:pPr>
            <a:r>
              <a:rPr lang="en-US" sz="1450" b="1" dirty="0">
                <a:solidFill>
                  <a:srgbClr val="7C3AED"/>
                </a:solidFill>
                <a:latin typeface="Calibri" pitchFamily="34" charset="0"/>
                <a:ea typeface="Calibri" pitchFamily="34" charset="-122"/>
                <a:cs typeface="Calibri" pitchFamily="34" charset="-120"/>
              </a:rPr>
              <a:t>Phase 2 — Scale</a:t>
            </a:r>
            <a:endParaRPr lang="en-US" sz="1450" dirty="0"/>
          </a:p>
        </p:txBody>
      </p:sp>
      <p:sp>
        <p:nvSpPr>
          <p:cNvPr id="32" name="Shape 30"/>
          <p:cNvSpPr/>
          <p:nvPr/>
        </p:nvSpPr>
        <p:spPr>
          <a:xfrm>
            <a:off x="4581144" y="2761488"/>
            <a:ext cx="1463040" cy="310896"/>
          </a:xfrm>
          <a:prstGeom prst="roundRect">
            <a:avLst>
              <a:gd name="adj" fmla="val 47059"/>
            </a:avLst>
          </a:prstGeom>
          <a:solidFill>
            <a:srgbClr val="F3EEFE"/>
          </a:solidFill>
          <a:ln/>
        </p:spPr>
      </p:sp>
      <p:sp>
        <p:nvSpPr>
          <p:cNvPr id="33" name="Text 31"/>
          <p:cNvSpPr/>
          <p:nvPr/>
        </p:nvSpPr>
        <p:spPr>
          <a:xfrm>
            <a:off x="4581144" y="2761488"/>
            <a:ext cx="1463040" cy="310896"/>
          </a:xfrm>
          <a:prstGeom prst="rect">
            <a:avLst/>
          </a:prstGeom>
          <a:noFill/>
          <a:ln/>
        </p:spPr>
        <p:txBody>
          <a:bodyPr wrap="square" lIns="0" tIns="0" rIns="0" bIns="0" rtlCol="0" anchor="ctr"/>
          <a:lstStyle/>
          <a:p>
            <a:pPr algn="ctr" indent="0" marL="0">
              <a:buNone/>
            </a:pPr>
            <a:r>
              <a:rPr lang="en-US" sz="950" b="1" dirty="0">
                <a:solidFill>
                  <a:srgbClr val="7C3AED"/>
                </a:solidFill>
                <a:latin typeface="Calibri" pitchFamily="34" charset="0"/>
                <a:ea typeface="Calibri" pitchFamily="34" charset="-122"/>
                <a:cs typeface="Calibri" pitchFamily="34" charset="-120"/>
              </a:rPr>
              <a:t>Weeks 6–16</a:t>
            </a:r>
            <a:endParaRPr lang="en-US" sz="950" dirty="0"/>
          </a:p>
        </p:txBody>
      </p:sp>
      <p:sp>
        <p:nvSpPr>
          <p:cNvPr id="34" name="Shape 32"/>
          <p:cNvSpPr/>
          <p:nvPr/>
        </p:nvSpPr>
        <p:spPr>
          <a:xfrm>
            <a:off x="4599432" y="3291840"/>
            <a:ext cx="256032" cy="256032"/>
          </a:xfrm>
          <a:prstGeom prst="ellipse">
            <a:avLst/>
          </a:prstGeom>
          <a:solidFill>
            <a:srgbClr val="F3EEFE"/>
          </a:solidFill>
          <a:ln/>
        </p:spPr>
      </p:sp>
      <p:sp>
        <p:nvSpPr>
          <p:cNvPr id="35" name="Text 33"/>
          <p:cNvSpPr/>
          <p:nvPr/>
        </p:nvSpPr>
        <p:spPr>
          <a:xfrm>
            <a:off x="4599432" y="32826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6" name="Text 34"/>
          <p:cNvSpPr/>
          <p:nvPr/>
        </p:nvSpPr>
        <p:spPr>
          <a:xfrm>
            <a:off x="4946904"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Roll out to costing &amp; sourcing</a:t>
            </a:r>
            <a:endParaRPr lang="en-US" sz="1030" dirty="0"/>
          </a:p>
        </p:txBody>
      </p:sp>
      <p:sp>
        <p:nvSpPr>
          <p:cNvPr id="37" name="Shape 35"/>
          <p:cNvSpPr/>
          <p:nvPr/>
        </p:nvSpPr>
        <p:spPr>
          <a:xfrm>
            <a:off x="4599432" y="3749040"/>
            <a:ext cx="256032" cy="256032"/>
          </a:xfrm>
          <a:prstGeom prst="ellipse">
            <a:avLst/>
          </a:prstGeom>
          <a:solidFill>
            <a:srgbClr val="F3EEFE"/>
          </a:solidFill>
          <a:ln/>
        </p:spPr>
      </p:sp>
      <p:sp>
        <p:nvSpPr>
          <p:cNvPr id="38" name="Text 36"/>
          <p:cNvSpPr/>
          <p:nvPr/>
        </p:nvSpPr>
        <p:spPr>
          <a:xfrm>
            <a:off x="4599432" y="37398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9" name="Text 37"/>
          <p:cNvSpPr/>
          <p:nvPr/>
        </p:nvSpPr>
        <p:spPr>
          <a:xfrm>
            <a:off x="4946904"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"Log Actual £" as routine</a:t>
            </a:r>
            <a:endParaRPr lang="en-US" sz="1030" dirty="0"/>
          </a:p>
        </p:txBody>
      </p:sp>
      <p:sp>
        <p:nvSpPr>
          <p:cNvPr id="40" name="Shape 38"/>
          <p:cNvSpPr/>
          <p:nvPr/>
        </p:nvSpPr>
        <p:spPr>
          <a:xfrm>
            <a:off x="4599432" y="4206240"/>
            <a:ext cx="256032" cy="256032"/>
          </a:xfrm>
          <a:prstGeom prst="ellipse">
            <a:avLst/>
          </a:prstGeom>
          <a:solidFill>
            <a:srgbClr val="F3EEFE"/>
          </a:solidFill>
          <a:ln/>
        </p:spPr>
      </p:sp>
      <p:sp>
        <p:nvSpPr>
          <p:cNvPr id="41" name="Text 39"/>
          <p:cNvSpPr/>
          <p:nvPr/>
        </p:nvSpPr>
        <p:spPr>
          <a:xfrm>
            <a:off x="4599432" y="41970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2" name="Text 40"/>
          <p:cNvSpPr/>
          <p:nvPr/>
        </p:nvSpPr>
        <p:spPr>
          <a:xfrm>
            <a:off x="4946904"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Wire into RFQ workflow</a:t>
            </a:r>
            <a:endParaRPr lang="en-US" sz="1030" dirty="0"/>
          </a:p>
        </p:txBody>
      </p:sp>
      <p:sp>
        <p:nvSpPr>
          <p:cNvPr id="43" name="Shape 41"/>
          <p:cNvSpPr/>
          <p:nvPr/>
        </p:nvSpPr>
        <p:spPr>
          <a:xfrm>
            <a:off x="4599432" y="4663440"/>
            <a:ext cx="256032" cy="256032"/>
          </a:xfrm>
          <a:prstGeom prst="ellipse">
            <a:avLst/>
          </a:prstGeom>
          <a:solidFill>
            <a:srgbClr val="F3EEFE"/>
          </a:solidFill>
          <a:ln/>
        </p:spPr>
      </p:sp>
      <p:sp>
        <p:nvSpPr>
          <p:cNvPr id="44" name="Text 42"/>
          <p:cNvSpPr/>
          <p:nvPr/>
        </p:nvSpPr>
        <p:spPr>
          <a:xfrm>
            <a:off x="4599432" y="46542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5" name="Text 43"/>
          <p:cNvSpPr/>
          <p:nvPr/>
        </p:nvSpPr>
        <p:spPr>
          <a:xfrm>
            <a:off x="4946904"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Monthly agent findings review</a:t>
            </a:r>
            <a:endParaRPr lang="en-US" sz="1030" dirty="0"/>
          </a:p>
        </p:txBody>
      </p:sp>
      <p:sp>
        <p:nvSpPr>
          <p:cNvPr id="46" name="Text 44"/>
          <p:cNvSpPr/>
          <p:nvPr/>
        </p:nvSpPr>
        <p:spPr>
          <a:xfrm>
            <a:off x="7854696"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7" name="Shape 45"/>
          <p:cNvSpPr/>
          <p:nvPr/>
        </p:nvSpPr>
        <p:spPr>
          <a:xfrm>
            <a:off x="8101584"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3.9114690857246423e+267" dist="1.1175625959213265e+267" dir="Infinity">
              <a:srgbClr val="9DB0CC">
                <a:alpha val="Infinity"/>
              </a:srgbClr>
            </a:outerShdw>
          </a:effectLst>
        </p:spPr>
      </p:sp>
      <p:sp>
        <p:nvSpPr>
          <p:cNvPr id="48" name="Shape 46"/>
          <p:cNvSpPr/>
          <p:nvPr/>
        </p:nvSpPr>
        <p:spPr>
          <a:xfrm>
            <a:off x="8101584" y="2103120"/>
            <a:ext cx="82296" cy="3063240"/>
          </a:xfrm>
          <a:prstGeom prst="rect">
            <a:avLst/>
          </a:prstGeom>
          <a:solidFill>
            <a:srgbClr val="0EA472"/>
          </a:solidFill>
          <a:ln/>
        </p:spPr>
      </p:sp>
      <p:sp>
        <p:nvSpPr>
          <p:cNvPr id="49" name="Text 47"/>
          <p:cNvSpPr/>
          <p:nvPr/>
        </p:nvSpPr>
        <p:spPr>
          <a:xfrm>
            <a:off x="8357616" y="2322576"/>
            <a:ext cx="3063240" cy="365760"/>
          </a:xfrm>
          <a:prstGeom prst="rect">
            <a:avLst/>
          </a:prstGeom>
          <a:noFill/>
          <a:ln/>
        </p:spPr>
        <p:txBody>
          <a:bodyPr wrap="square" lIns="0" tIns="0" rIns="0" bIns="0" rtlCol="0" anchor="t"/>
          <a:lstStyle/>
          <a:p>
            <a:pPr indent="0" marL="0">
              <a:buNone/>
            </a:pPr>
            <a:r>
              <a:rPr lang="en-US" sz="1450" b="1" dirty="0">
                <a:solidFill>
                  <a:srgbClr val="0EA472"/>
                </a:solidFill>
                <a:latin typeface="Calibri" pitchFamily="34" charset="0"/>
                <a:ea typeface="Calibri" pitchFamily="34" charset="-122"/>
                <a:cs typeface="Calibri" pitchFamily="34" charset="-120"/>
              </a:rPr>
              <a:t>Phase 3 — Embed</a:t>
            </a:r>
            <a:endParaRPr lang="en-US" sz="1450" dirty="0"/>
          </a:p>
        </p:txBody>
      </p:sp>
      <p:sp>
        <p:nvSpPr>
          <p:cNvPr id="50" name="Shape 48"/>
          <p:cNvSpPr/>
          <p:nvPr/>
        </p:nvSpPr>
        <p:spPr>
          <a:xfrm>
            <a:off x="8357616" y="2761488"/>
            <a:ext cx="1463040" cy="310896"/>
          </a:xfrm>
          <a:prstGeom prst="roundRect">
            <a:avLst>
              <a:gd name="adj" fmla="val 47059"/>
            </a:avLst>
          </a:prstGeom>
          <a:solidFill>
            <a:srgbClr val="E7F7F0"/>
          </a:solidFill>
          <a:ln/>
        </p:spPr>
      </p:sp>
      <p:sp>
        <p:nvSpPr>
          <p:cNvPr id="51" name="Text 49"/>
          <p:cNvSpPr/>
          <p:nvPr/>
        </p:nvSpPr>
        <p:spPr>
          <a:xfrm>
            <a:off x="8357616" y="2761488"/>
            <a:ext cx="1463040" cy="310896"/>
          </a:xfrm>
          <a:prstGeom prst="rect">
            <a:avLst/>
          </a:prstGeom>
          <a:noFill/>
          <a:ln/>
        </p:spPr>
        <p:txBody>
          <a:bodyPr wrap="square" lIns="0" tIns="0" rIns="0" bIns="0" rtlCol="0" anchor="ctr"/>
          <a:lstStyle/>
          <a:p>
            <a:pPr algn="ctr" indent="0" marL="0">
              <a:buNone/>
            </a:pPr>
            <a:r>
              <a:rPr lang="en-US" sz="950" b="1" dirty="0">
                <a:solidFill>
                  <a:srgbClr val="0EA472"/>
                </a:solidFill>
                <a:latin typeface="Calibri" pitchFamily="34" charset="0"/>
                <a:ea typeface="Calibri" pitchFamily="34" charset="-122"/>
                <a:cs typeface="Calibri" pitchFamily="34" charset="-120"/>
              </a:rPr>
              <a:t>Quarter 2+</a:t>
            </a:r>
            <a:endParaRPr lang="en-US" sz="950" dirty="0"/>
          </a:p>
        </p:txBody>
      </p:sp>
      <p:sp>
        <p:nvSpPr>
          <p:cNvPr id="52" name="Shape 50"/>
          <p:cNvSpPr/>
          <p:nvPr/>
        </p:nvSpPr>
        <p:spPr>
          <a:xfrm>
            <a:off x="8375904" y="3291840"/>
            <a:ext cx="256032" cy="256032"/>
          </a:xfrm>
          <a:prstGeom prst="ellipse">
            <a:avLst/>
          </a:prstGeom>
          <a:solidFill>
            <a:srgbClr val="E7F7F0"/>
          </a:solidFill>
          <a:ln/>
        </p:spPr>
      </p:sp>
      <p:sp>
        <p:nvSpPr>
          <p:cNvPr id="53" name="Text 51"/>
          <p:cNvSpPr/>
          <p:nvPr/>
        </p:nvSpPr>
        <p:spPr>
          <a:xfrm>
            <a:off x="8375904" y="32826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4" name="Text 52"/>
          <p:cNvSpPr/>
          <p:nvPr/>
        </p:nvSpPr>
        <p:spPr>
          <a:xfrm>
            <a:off x="8723376"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Negotiation packs as standard</a:t>
            </a:r>
            <a:endParaRPr lang="en-US" sz="1030" dirty="0"/>
          </a:p>
        </p:txBody>
      </p:sp>
      <p:sp>
        <p:nvSpPr>
          <p:cNvPr id="55" name="Shape 53"/>
          <p:cNvSpPr/>
          <p:nvPr/>
        </p:nvSpPr>
        <p:spPr>
          <a:xfrm>
            <a:off x="8375904" y="3749040"/>
            <a:ext cx="256032" cy="256032"/>
          </a:xfrm>
          <a:prstGeom prst="ellipse">
            <a:avLst/>
          </a:prstGeom>
          <a:solidFill>
            <a:srgbClr val="E7F7F0"/>
          </a:solidFill>
          <a:ln/>
        </p:spPr>
      </p:sp>
      <p:sp>
        <p:nvSpPr>
          <p:cNvPr id="56" name="Text 54"/>
          <p:cNvSpPr/>
          <p:nvPr/>
        </p:nvSpPr>
        <p:spPr>
          <a:xfrm>
            <a:off x="8375904" y="37398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7" name="Text 55"/>
          <p:cNvSpPr/>
          <p:nvPr/>
        </p:nvSpPr>
        <p:spPr>
          <a:xfrm>
            <a:off x="8723376"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Portfolio what-if &amp; risk</a:t>
            </a:r>
            <a:endParaRPr lang="en-US" sz="1030" dirty="0"/>
          </a:p>
        </p:txBody>
      </p:sp>
      <p:sp>
        <p:nvSpPr>
          <p:cNvPr id="58" name="Shape 56"/>
          <p:cNvSpPr/>
          <p:nvPr/>
        </p:nvSpPr>
        <p:spPr>
          <a:xfrm>
            <a:off x="8375904" y="4206240"/>
            <a:ext cx="256032" cy="256032"/>
          </a:xfrm>
          <a:prstGeom prst="ellipse">
            <a:avLst/>
          </a:prstGeom>
          <a:solidFill>
            <a:srgbClr val="E7F7F0"/>
          </a:solidFill>
          <a:ln/>
        </p:spPr>
      </p:sp>
      <p:sp>
        <p:nvSpPr>
          <p:cNvPr id="59" name="Text 57"/>
          <p:cNvSpPr/>
          <p:nvPr/>
        </p:nvSpPr>
        <p:spPr>
          <a:xfrm>
            <a:off x="8375904" y="41970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0" name="Text 58"/>
          <p:cNvSpPr/>
          <p:nvPr/>
        </p:nvSpPr>
        <p:spPr>
          <a:xfrm>
            <a:off x="8723376"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Live distributor / market feeds</a:t>
            </a:r>
            <a:endParaRPr lang="en-US" sz="1030" dirty="0"/>
          </a:p>
        </p:txBody>
      </p:sp>
      <p:sp>
        <p:nvSpPr>
          <p:cNvPr id="61" name="Shape 59"/>
          <p:cNvSpPr/>
          <p:nvPr/>
        </p:nvSpPr>
        <p:spPr>
          <a:xfrm>
            <a:off x="8375904" y="4663440"/>
            <a:ext cx="256032" cy="256032"/>
          </a:xfrm>
          <a:prstGeom prst="ellipse">
            <a:avLst/>
          </a:prstGeom>
          <a:solidFill>
            <a:srgbClr val="E7F7F0"/>
          </a:solidFill>
          <a:ln/>
        </p:spPr>
      </p:sp>
      <p:sp>
        <p:nvSpPr>
          <p:cNvPr id="62" name="Text 60"/>
          <p:cNvSpPr/>
          <p:nvPr/>
        </p:nvSpPr>
        <p:spPr>
          <a:xfrm>
            <a:off x="8375904" y="46542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3" name="Text 61"/>
          <p:cNvSpPr/>
          <p:nvPr/>
        </p:nvSpPr>
        <p:spPr>
          <a:xfrm>
            <a:off x="8723376"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KPI: £ saved &amp; cycle-time</a:t>
            </a:r>
            <a:endParaRPr lang="en-US" sz="1030" dirty="0"/>
          </a:p>
        </p:txBody>
      </p:sp>
      <p:sp>
        <p:nvSpPr>
          <p:cNvPr id="64" name="Shape 62"/>
          <p:cNvSpPr/>
          <p:nvPr/>
        </p:nvSpPr>
        <p:spPr>
          <a:xfrm>
            <a:off x="548640" y="5349240"/>
            <a:ext cx="11091672" cy="548640"/>
          </a:xfrm>
          <a:prstGeom prst="roundRect">
            <a:avLst>
              <a:gd name="adj" fmla="val 11667"/>
            </a:avLst>
          </a:prstGeom>
          <a:solidFill>
            <a:srgbClr val="E7F7F0"/>
          </a:solidFill>
          <a:ln w="12700">
            <a:solidFill>
              <a:srgbClr val="E4EAF2"/>
            </a:solidFill>
            <a:prstDash val="solid"/>
          </a:ln>
        </p:spPr>
      </p:sp>
      <p:sp>
        <p:nvSpPr>
          <p:cNvPr id="65" name="Text 63"/>
          <p:cNvSpPr/>
          <p:nvPr/>
        </p:nvSpPr>
        <p:spPr>
          <a:xfrm>
            <a:off x="914400" y="5349240"/>
            <a:ext cx="10332720" cy="54864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The one dependency, stated honestly:  </a:t>
            </a:r>
            <a:pPr indent="0" marL="0">
              <a:buNone/>
            </a:pPr>
            <a:r>
              <a:rPr lang="en-US" sz="1150" dirty="0">
                <a:solidFill>
                  <a:srgbClr val="3E4C63"/>
                </a:solidFill>
                <a:latin typeface="Calibri" pitchFamily="34" charset="0"/>
                <a:ea typeface="Calibri" pitchFamily="34" charset="-122"/>
                <a:cs typeface="Calibri" pitchFamily="34" charset="-120"/>
              </a:rPr>
              <a:t>the intelligence starts empty and grows with use. Seeding it with our historic quotes in Phase 1 means it starts smart, not from zero.</a:t>
            </a:r>
            <a:endParaRPr lang="en-US" sz="1150" dirty="0"/>
          </a:p>
        </p:txBody>
      </p:sp>
      <p:sp>
        <p:nvSpPr>
          <p:cNvPr id="66" name="Shape 64"/>
          <p:cNvSpPr/>
          <p:nvPr/>
        </p:nvSpPr>
        <p:spPr>
          <a:xfrm>
            <a:off x="548640" y="6400800"/>
            <a:ext cx="11094415" cy="12802"/>
          </a:xfrm>
          <a:prstGeom prst="rect">
            <a:avLst/>
          </a:prstGeom>
          <a:solidFill>
            <a:srgbClr val="E4EAF2"/>
          </a:solidFill>
          <a:ln/>
        </p:spPr>
      </p:sp>
      <p:sp>
        <p:nvSpPr>
          <p:cNvPr id="67" name="Text 6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8" name="Text 6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GOVERNANCE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Data security &amp; deployment</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Built for enterprise from the ground up — your data, your infrastructure, your IP.</a:t>
            </a:r>
            <a:endParaRPr lang="en-US" sz="1250" dirty="0"/>
          </a:p>
        </p:txBody>
      </p:sp>
      <p:sp>
        <p:nvSpPr>
          <p:cNvPr id="11" name="Shape 9"/>
          <p:cNvSpPr/>
          <p:nvPr/>
        </p:nvSpPr>
        <p:spPr>
          <a:xfrm>
            <a:off x="548640" y="196596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4.9675657388702955e+271" dist="1.4193044968200846e+271" dir="Infinity">
              <a:srgbClr val="9DB0CC">
                <a:alpha val="Infinity"/>
              </a:srgbClr>
            </a:outerShdw>
          </a:effectLst>
        </p:spPr>
      </p:sp>
      <p:sp>
        <p:nvSpPr>
          <p:cNvPr id="12" name="Shape 10"/>
          <p:cNvSpPr/>
          <p:nvPr/>
        </p:nvSpPr>
        <p:spPr>
          <a:xfrm>
            <a:off x="548640" y="1965960"/>
            <a:ext cx="82296" cy="1737360"/>
          </a:xfrm>
          <a:prstGeom prst="rect">
            <a:avLst/>
          </a:prstGeom>
          <a:solidFill>
            <a:srgbClr val="0EA472"/>
          </a:solidFill>
          <a:ln/>
        </p:spPr>
      </p:sp>
      <p:sp>
        <p:nvSpPr>
          <p:cNvPr id="13" name="Shape 11"/>
          <p:cNvSpPr/>
          <p:nvPr/>
        </p:nvSpPr>
        <p:spPr>
          <a:xfrm>
            <a:off x="786384" y="2185416"/>
            <a:ext cx="457200" cy="457200"/>
          </a:xfrm>
          <a:prstGeom prst="ellipse">
            <a:avLst/>
          </a:prstGeom>
          <a:solidFill>
            <a:srgbClr val="E7F7F0"/>
          </a:solidFill>
          <a:ln/>
        </p:spPr>
      </p:sp>
      <p:sp>
        <p:nvSpPr>
          <p:cNvPr id="14" name="Text 12"/>
          <p:cNvSpPr/>
          <p:nvPr/>
        </p:nvSpPr>
        <p:spPr>
          <a:xfrm>
            <a:off x="786384" y="2176272"/>
            <a:ext cx="457200" cy="457200"/>
          </a:xfrm>
          <a:prstGeom prst="rect">
            <a:avLst/>
          </a:prstGeom>
          <a:noFill/>
          <a:ln/>
        </p:spPr>
        <p:txBody>
          <a:bodyPr wrap="square" lIns="0" tIns="0" rIns="0" bIns="0" rtlCol="0" anchor="ctr"/>
          <a:lstStyle/>
          <a:p>
            <a:pPr algn="ctr" indent="0" marL="0">
              <a:buNone/>
            </a:pPr>
            <a:r>
              <a:rPr lang="en-US" sz="1600" b="1" dirty="0">
                <a:solidFill>
                  <a:srgbClr val="0EA472"/>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335024" y="222199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On-premise deployment</a:t>
            </a:r>
            <a:endParaRPr lang="en-US" sz="1250" dirty="0"/>
          </a:p>
        </p:txBody>
      </p:sp>
      <p:sp>
        <p:nvSpPr>
          <p:cNvPr id="16" name="Text 14"/>
          <p:cNvSpPr/>
          <p:nvPr/>
        </p:nvSpPr>
        <p:spPr>
          <a:xfrm>
            <a:off x="804672" y="2788920"/>
            <a:ext cx="3063240" cy="822960"/>
          </a:xfrm>
          <a:prstGeom prst="rect">
            <a:avLst/>
          </a:prstGeom>
          <a:noFill/>
          <a:ln/>
        </p:spPr>
        <p:txBody>
          <a:bodyPr wrap="square" lIns="0" tIns="0" rIns="0" bIns="0" rtlCol="0" anchor="t"/>
          <a:lstStyle/>
          <a:p>
            <a:pPr indent="0" marL="0">
              <a:lnSpc>
                <a:spcPct val="114000"/>
              </a:lnSpc>
              <a:buNone/>
            </a:pPr>
            <a:r>
              <a:rPr lang="en-US" sz="980" dirty="0">
                <a:solidFill>
                  <a:srgbClr val="3E4C63"/>
                </a:solidFill>
                <a:latin typeface="Calibri" pitchFamily="34" charset="0"/>
                <a:ea typeface="Calibri" pitchFamily="34" charset="-122"/>
                <a:cs typeface="Calibri" pitchFamily="34" charset="-120"/>
              </a:rPr>
              <a:t>Runs inside our own walls — the knowledge base and every analysis stay on our servers and never leave.</a:t>
            </a:r>
            <a:endParaRPr lang="en-US" sz="980" dirty="0"/>
          </a:p>
        </p:txBody>
      </p:sp>
      <p:sp>
        <p:nvSpPr>
          <p:cNvPr id="17" name="Shape 15"/>
          <p:cNvSpPr/>
          <p:nvPr/>
        </p:nvSpPr>
        <p:spPr>
          <a:xfrm>
            <a:off x="4325112" y="196596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6.308808488365275e+275" dist="1.8025167109615074e+275" dir="Infinity">
              <a:srgbClr val="9DB0CC">
                <a:alpha val="Infinity"/>
              </a:srgbClr>
            </a:outerShdw>
          </a:effectLst>
        </p:spPr>
      </p:sp>
      <p:sp>
        <p:nvSpPr>
          <p:cNvPr id="18" name="Shape 16"/>
          <p:cNvSpPr/>
          <p:nvPr/>
        </p:nvSpPr>
        <p:spPr>
          <a:xfrm>
            <a:off x="4325112" y="1965960"/>
            <a:ext cx="82296" cy="1737360"/>
          </a:xfrm>
          <a:prstGeom prst="rect">
            <a:avLst/>
          </a:prstGeom>
          <a:solidFill>
            <a:srgbClr val="2563EB"/>
          </a:solidFill>
          <a:ln/>
        </p:spPr>
      </p:sp>
      <p:sp>
        <p:nvSpPr>
          <p:cNvPr id="19" name="Shape 17"/>
          <p:cNvSpPr/>
          <p:nvPr/>
        </p:nvSpPr>
        <p:spPr>
          <a:xfrm>
            <a:off x="4562856" y="2185416"/>
            <a:ext cx="457200" cy="457200"/>
          </a:xfrm>
          <a:prstGeom prst="ellipse">
            <a:avLst/>
          </a:prstGeom>
          <a:solidFill>
            <a:srgbClr val="EAF1FE"/>
          </a:solidFill>
          <a:ln/>
        </p:spPr>
      </p:sp>
      <p:sp>
        <p:nvSpPr>
          <p:cNvPr id="20" name="Text 18"/>
          <p:cNvSpPr/>
          <p:nvPr/>
        </p:nvSpPr>
        <p:spPr>
          <a:xfrm>
            <a:off x="4562856" y="2176272"/>
            <a:ext cx="457200" cy="457200"/>
          </a:xfrm>
          <a:prstGeom prst="rect">
            <a:avLst/>
          </a:prstGeom>
          <a:noFill/>
          <a:ln/>
        </p:spPr>
        <p:txBody>
          <a:bodyPr wrap="square" lIns="0" tIns="0" rIns="0" bIns="0" rtlCol="0" anchor="ctr"/>
          <a:lstStyle/>
          <a:p>
            <a:pPr algn="ctr" indent="0" marL="0">
              <a:buNone/>
            </a:pPr>
            <a:r>
              <a:rPr lang="en-US" sz="1600" b="1" dirty="0">
                <a:solidFill>
                  <a:srgbClr val="2563EB"/>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5111496" y="222199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Keys server-side only</a:t>
            </a:r>
            <a:endParaRPr lang="en-US" sz="1250" dirty="0"/>
          </a:p>
        </p:txBody>
      </p:sp>
      <p:sp>
        <p:nvSpPr>
          <p:cNvPr id="22" name="Text 20"/>
          <p:cNvSpPr/>
          <p:nvPr/>
        </p:nvSpPr>
        <p:spPr>
          <a:xfrm>
            <a:off x="4581144" y="2788920"/>
            <a:ext cx="3063240" cy="822960"/>
          </a:xfrm>
          <a:prstGeom prst="rect">
            <a:avLst/>
          </a:prstGeom>
          <a:noFill/>
          <a:ln/>
        </p:spPr>
        <p:txBody>
          <a:bodyPr wrap="square" lIns="0" tIns="0" rIns="0" bIns="0" rtlCol="0" anchor="t"/>
          <a:lstStyle/>
          <a:p>
            <a:pPr indent="0" marL="0">
              <a:lnSpc>
                <a:spcPct val="114000"/>
              </a:lnSpc>
              <a:buNone/>
            </a:pPr>
            <a:r>
              <a:rPr lang="en-US" sz="980" dirty="0">
                <a:solidFill>
                  <a:srgbClr val="3E4C63"/>
                </a:solidFill>
                <a:latin typeface="Calibri" pitchFamily="34" charset="0"/>
                <a:ea typeface="Calibri" pitchFamily="34" charset="-122"/>
                <a:cs typeface="Calibri" pitchFamily="34" charset="-120"/>
              </a:rPr>
              <a:t>The AI provider key lives server-side (.env) — the browser never sees it. All AI calls proxy through our server.</a:t>
            </a:r>
            <a:endParaRPr lang="en-US" sz="980" dirty="0"/>
          </a:p>
        </p:txBody>
      </p:sp>
      <p:sp>
        <p:nvSpPr>
          <p:cNvPr id="23" name="Shape 21"/>
          <p:cNvSpPr/>
          <p:nvPr/>
        </p:nvSpPr>
        <p:spPr>
          <a:xfrm>
            <a:off x="8101584" y="196596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8.012186780223899e+279" dist="2.2891962229211143e+279" dir="Infinity">
              <a:srgbClr val="9DB0CC">
                <a:alpha val="Infinity"/>
              </a:srgbClr>
            </a:outerShdw>
          </a:effectLst>
        </p:spPr>
      </p:sp>
      <p:sp>
        <p:nvSpPr>
          <p:cNvPr id="24" name="Shape 22"/>
          <p:cNvSpPr/>
          <p:nvPr/>
        </p:nvSpPr>
        <p:spPr>
          <a:xfrm>
            <a:off x="8101584" y="1965960"/>
            <a:ext cx="82296" cy="1737360"/>
          </a:xfrm>
          <a:prstGeom prst="rect">
            <a:avLst/>
          </a:prstGeom>
          <a:solidFill>
            <a:srgbClr val="7C3AED"/>
          </a:solidFill>
          <a:ln/>
        </p:spPr>
      </p:sp>
      <p:sp>
        <p:nvSpPr>
          <p:cNvPr id="25" name="Shape 23"/>
          <p:cNvSpPr/>
          <p:nvPr/>
        </p:nvSpPr>
        <p:spPr>
          <a:xfrm>
            <a:off x="8339328" y="2185416"/>
            <a:ext cx="457200" cy="457200"/>
          </a:xfrm>
          <a:prstGeom prst="ellipse">
            <a:avLst/>
          </a:prstGeom>
          <a:solidFill>
            <a:srgbClr val="F3EEFE"/>
          </a:solidFill>
          <a:ln/>
        </p:spPr>
      </p:sp>
      <p:sp>
        <p:nvSpPr>
          <p:cNvPr id="26" name="Text 24"/>
          <p:cNvSpPr/>
          <p:nvPr/>
        </p:nvSpPr>
        <p:spPr>
          <a:xfrm>
            <a:off x="8339328" y="2176272"/>
            <a:ext cx="457200" cy="457200"/>
          </a:xfrm>
          <a:prstGeom prst="rect">
            <a:avLst/>
          </a:prstGeom>
          <a:noFill/>
          <a:ln/>
        </p:spPr>
        <p:txBody>
          <a:bodyPr wrap="square" lIns="0" tIns="0" rIns="0" bIns="0" rtlCol="0" anchor="ctr"/>
          <a:lstStyle/>
          <a:p>
            <a:pPr algn="ctr" indent="0" marL="0">
              <a:buNone/>
            </a:pPr>
            <a:r>
              <a:rPr lang="en-US" sz="1600" b="1" dirty="0">
                <a:solidFill>
                  <a:srgbClr val="7C3AE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8887968" y="222199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Private &amp; air-gapped ready</a:t>
            </a:r>
            <a:endParaRPr lang="en-US" sz="1250" dirty="0"/>
          </a:p>
        </p:txBody>
      </p:sp>
      <p:sp>
        <p:nvSpPr>
          <p:cNvPr id="28" name="Text 26"/>
          <p:cNvSpPr/>
          <p:nvPr/>
        </p:nvSpPr>
        <p:spPr>
          <a:xfrm>
            <a:off x="8357616" y="2788920"/>
            <a:ext cx="3063240" cy="822960"/>
          </a:xfrm>
          <a:prstGeom prst="rect">
            <a:avLst/>
          </a:prstGeom>
          <a:noFill/>
          <a:ln/>
        </p:spPr>
        <p:txBody>
          <a:bodyPr wrap="square" lIns="0" tIns="0" rIns="0" bIns="0" rtlCol="0" anchor="t"/>
          <a:lstStyle/>
          <a:p>
            <a:pPr indent="0" marL="0">
              <a:lnSpc>
                <a:spcPct val="114000"/>
              </a:lnSpc>
              <a:buNone/>
            </a:pPr>
            <a:r>
              <a:rPr lang="en-US" sz="980" dirty="0">
                <a:solidFill>
                  <a:srgbClr val="3E4C63"/>
                </a:solidFill>
                <a:latin typeface="Calibri" pitchFamily="34" charset="0"/>
                <a:ea typeface="Calibri" pitchFamily="34" charset="-122"/>
                <a:cs typeface="Calibri" pitchFamily="34" charset="-120"/>
              </a:rPr>
              <a:t>Supports private routing (ANTHROPIC_BASE_URL) and air-gapped operation for the most sensitive programmes.</a:t>
            </a:r>
            <a:endParaRPr lang="en-US" sz="980" dirty="0"/>
          </a:p>
        </p:txBody>
      </p:sp>
      <p:sp>
        <p:nvSpPr>
          <p:cNvPr id="29" name="Shape 27"/>
          <p:cNvSpPr/>
          <p:nvPr/>
        </p:nvSpPr>
        <p:spPr>
          <a:xfrm>
            <a:off x="548640" y="3904488"/>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0175477210884352e+284" dist="2.9072792031098153e+283" dir="Infinity">
              <a:srgbClr val="9DB0CC">
                <a:alpha val="Infinity"/>
              </a:srgbClr>
            </a:outerShdw>
          </a:effectLst>
        </p:spPr>
      </p:sp>
      <p:sp>
        <p:nvSpPr>
          <p:cNvPr id="30" name="Shape 28"/>
          <p:cNvSpPr/>
          <p:nvPr/>
        </p:nvSpPr>
        <p:spPr>
          <a:xfrm>
            <a:off x="548640" y="3904488"/>
            <a:ext cx="82296" cy="1737360"/>
          </a:xfrm>
          <a:prstGeom prst="rect">
            <a:avLst/>
          </a:prstGeom>
          <a:solidFill>
            <a:srgbClr val="0E93B0"/>
          </a:solidFill>
          <a:ln/>
        </p:spPr>
      </p:sp>
      <p:sp>
        <p:nvSpPr>
          <p:cNvPr id="31" name="Shape 29"/>
          <p:cNvSpPr/>
          <p:nvPr/>
        </p:nvSpPr>
        <p:spPr>
          <a:xfrm>
            <a:off x="786384" y="4123944"/>
            <a:ext cx="457200" cy="457200"/>
          </a:xfrm>
          <a:prstGeom prst="ellipse">
            <a:avLst/>
          </a:prstGeom>
          <a:solidFill>
            <a:srgbClr val="E8F6FA"/>
          </a:solidFill>
          <a:ln/>
        </p:spPr>
      </p:sp>
      <p:sp>
        <p:nvSpPr>
          <p:cNvPr id="32" name="Text 30"/>
          <p:cNvSpPr/>
          <p:nvPr/>
        </p:nvSpPr>
        <p:spPr>
          <a:xfrm>
            <a:off x="786384" y="4114800"/>
            <a:ext cx="457200" cy="457200"/>
          </a:xfrm>
          <a:prstGeom prst="rect">
            <a:avLst/>
          </a:prstGeom>
          <a:noFill/>
          <a:ln/>
        </p:spPr>
        <p:txBody>
          <a:bodyPr wrap="square" lIns="0" tIns="0" rIns="0" bIns="0" rtlCol="0" anchor="ctr"/>
          <a:lstStyle/>
          <a:p>
            <a:pPr algn="ctr" indent="0" marL="0">
              <a:buNone/>
            </a:pPr>
            <a:r>
              <a:rPr lang="en-US" sz="1600" b="1" dirty="0">
                <a:solidFill>
                  <a:srgbClr val="0E93B0"/>
                </a:solidFill>
                <a:latin typeface="Calibri" pitchFamily="34" charset="0"/>
                <a:ea typeface="Calibri" pitchFamily="34" charset="-122"/>
                <a:cs typeface="Calibri" pitchFamily="34" charset="-120"/>
              </a:rPr>
              <a:t>▤</a:t>
            </a:r>
            <a:endParaRPr lang="en-US" sz="1600" dirty="0"/>
          </a:p>
        </p:txBody>
      </p:sp>
      <p:sp>
        <p:nvSpPr>
          <p:cNvPr id="33" name="Text 31"/>
          <p:cNvSpPr/>
          <p:nvPr/>
        </p:nvSpPr>
        <p:spPr>
          <a:xfrm>
            <a:off x="1335024" y="4160520"/>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Full audit trail</a:t>
            </a:r>
            <a:endParaRPr lang="en-US" sz="1250" dirty="0"/>
          </a:p>
        </p:txBody>
      </p:sp>
      <p:sp>
        <p:nvSpPr>
          <p:cNvPr id="34" name="Text 32"/>
          <p:cNvSpPr/>
          <p:nvPr/>
        </p:nvSpPr>
        <p:spPr>
          <a:xfrm>
            <a:off x="804672" y="4727448"/>
            <a:ext cx="3063240" cy="822960"/>
          </a:xfrm>
          <a:prstGeom prst="rect">
            <a:avLst/>
          </a:prstGeom>
          <a:noFill/>
          <a:ln/>
        </p:spPr>
        <p:txBody>
          <a:bodyPr wrap="square" lIns="0" tIns="0" rIns="0" bIns="0" rtlCol="0" anchor="t"/>
          <a:lstStyle/>
          <a:p>
            <a:pPr indent="0" marL="0">
              <a:lnSpc>
                <a:spcPct val="114000"/>
              </a:lnSpc>
              <a:buNone/>
            </a:pPr>
            <a:r>
              <a:rPr lang="en-US" sz="980" dirty="0">
                <a:solidFill>
                  <a:srgbClr val="3E4C63"/>
                </a:solidFill>
                <a:latin typeface="Calibri" pitchFamily="34" charset="0"/>
                <a:ea typeface="Calibri" pitchFamily="34" charset="-122"/>
                <a:cs typeface="Calibri" pitchFamily="34" charset="-120"/>
              </a:rPr>
              <a:t>Every number carries provenance; every analysis and correction is logged — defensible and traceable.</a:t>
            </a:r>
            <a:endParaRPr lang="en-US" sz="980" dirty="0"/>
          </a:p>
        </p:txBody>
      </p:sp>
      <p:sp>
        <p:nvSpPr>
          <p:cNvPr id="35" name="Shape 33"/>
          <p:cNvSpPr/>
          <p:nvPr/>
        </p:nvSpPr>
        <p:spPr>
          <a:xfrm>
            <a:off x="4325112" y="3904488"/>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2922856057823127e+288" dist="3.6922445879494656e+287" dir="Infinity">
              <a:srgbClr val="9DB0CC">
                <a:alpha val="Infinity"/>
              </a:srgbClr>
            </a:outerShdw>
          </a:effectLst>
        </p:spPr>
      </p:sp>
      <p:sp>
        <p:nvSpPr>
          <p:cNvPr id="36" name="Shape 34"/>
          <p:cNvSpPr/>
          <p:nvPr/>
        </p:nvSpPr>
        <p:spPr>
          <a:xfrm>
            <a:off x="4325112" y="3904488"/>
            <a:ext cx="82296" cy="1737360"/>
          </a:xfrm>
          <a:prstGeom prst="rect">
            <a:avLst/>
          </a:prstGeom>
          <a:solidFill>
            <a:srgbClr val="E0900C"/>
          </a:solidFill>
          <a:ln/>
        </p:spPr>
      </p:sp>
      <p:sp>
        <p:nvSpPr>
          <p:cNvPr id="37" name="Shape 35"/>
          <p:cNvSpPr/>
          <p:nvPr/>
        </p:nvSpPr>
        <p:spPr>
          <a:xfrm>
            <a:off x="4562856" y="4123944"/>
            <a:ext cx="457200" cy="457200"/>
          </a:xfrm>
          <a:prstGeom prst="ellipse">
            <a:avLst/>
          </a:prstGeom>
          <a:solidFill>
            <a:srgbClr val="FEF6E7"/>
          </a:solidFill>
          <a:ln/>
        </p:spPr>
      </p:sp>
      <p:sp>
        <p:nvSpPr>
          <p:cNvPr id="38" name="Text 36"/>
          <p:cNvSpPr/>
          <p:nvPr/>
        </p:nvSpPr>
        <p:spPr>
          <a:xfrm>
            <a:off x="4562856" y="4114800"/>
            <a:ext cx="457200" cy="457200"/>
          </a:xfrm>
          <a:prstGeom prst="rect">
            <a:avLst/>
          </a:prstGeom>
          <a:noFill/>
          <a:ln/>
        </p:spPr>
        <p:txBody>
          <a:bodyPr wrap="square" lIns="0" tIns="0" rIns="0" bIns="0" rtlCol="0" anchor="ctr"/>
          <a:lstStyle/>
          <a:p>
            <a:pPr algn="ctr" indent="0" marL="0">
              <a:buNone/>
            </a:pPr>
            <a:r>
              <a:rPr lang="en-US" sz="1600" b="1" dirty="0">
                <a:solidFill>
                  <a:srgbClr val="E0900C"/>
                </a:solidFill>
                <a:latin typeface="Calibri" pitchFamily="34" charset="0"/>
                <a:ea typeface="Calibri" pitchFamily="34" charset="-122"/>
                <a:cs typeface="Calibri" pitchFamily="34" charset="-120"/>
              </a:rPr>
              <a:t>◎</a:t>
            </a:r>
            <a:endParaRPr lang="en-US" sz="1600" dirty="0"/>
          </a:p>
        </p:txBody>
      </p:sp>
      <p:sp>
        <p:nvSpPr>
          <p:cNvPr id="39" name="Text 37"/>
          <p:cNvSpPr/>
          <p:nvPr/>
        </p:nvSpPr>
        <p:spPr>
          <a:xfrm>
            <a:off x="5111496" y="4160520"/>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Our IP, not a vendor's</a:t>
            </a:r>
            <a:endParaRPr lang="en-US" sz="1250" dirty="0"/>
          </a:p>
        </p:txBody>
      </p:sp>
      <p:sp>
        <p:nvSpPr>
          <p:cNvPr id="40" name="Text 38"/>
          <p:cNvSpPr/>
          <p:nvPr/>
        </p:nvSpPr>
        <p:spPr>
          <a:xfrm>
            <a:off x="4581144" y="4727448"/>
            <a:ext cx="3063240" cy="822960"/>
          </a:xfrm>
          <a:prstGeom prst="rect">
            <a:avLst/>
          </a:prstGeom>
          <a:noFill/>
          <a:ln/>
        </p:spPr>
        <p:txBody>
          <a:bodyPr wrap="square" lIns="0" tIns="0" rIns="0" bIns="0" rtlCol="0" anchor="t"/>
          <a:lstStyle/>
          <a:p>
            <a:pPr indent="0" marL="0">
              <a:lnSpc>
                <a:spcPct val="114000"/>
              </a:lnSpc>
              <a:buNone/>
            </a:pPr>
            <a:r>
              <a:rPr lang="en-US" sz="980" dirty="0">
                <a:solidFill>
                  <a:srgbClr val="3E4C63"/>
                </a:solidFill>
                <a:latin typeface="Calibri" pitchFamily="34" charset="0"/>
                <a:ea typeface="Calibri" pitchFamily="34" charset="-122"/>
                <a:cs typeface="Calibri" pitchFamily="34" charset="-120"/>
              </a:rPr>
              <a:t>The accumulated costing intelligence is a proprietary company asset — it does not walk out with a subscription.</a:t>
            </a:r>
            <a:endParaRPr lang="en-US" sz="980" dirty="0"/>
          </a:p>
        </p:txBody>
      </p:sp>
      <p:sp>
        <p:nvSpPr>
          <p:cNvPr id="41" name="Shape 39"/>
          <p:cNvSpPr/>
          <p:nvPr/>
        </p:nvSpPr>
        <p:spPr>
          <a:xfrm>
            <a:off x="8101584" y="3904488"/>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6412027193435371e+292" dist="4.6891506266958215e+291" dir="Infinity">
              <a:srgbClr val="9DB0CC">
                <a:alpha val="Infinity"/>
              </a:srgbClr>
            </a:outerShdw>
          </a:effectLst>
        </p:spPr>
      </p:sp>
      <p:sp>
        <p:nvSpPr>
          <p:cNvPr id="42" name="Shape 40"/>
          <p:cNvSpPr/>
          <p:nvPr/>
        </p:nvSpPr>
        <p:spPr>
          <a:xfrm>
            <a:off x="8101584" y="3904488"/>
            <a:ext cx="82296" cy="1737360"/>
          </a:xfrm>
          <a:prstGeom prst="rect">
            <a:avLst/>
          </a:prstGeom>
          <a:solidFill>
            <a:srgbClr val="0DA5A0"/>
          </a:solidFill>
          <a:ln/>
        </p:spPr>
      </p:sp>
      <p:sp>
        <p:nvSpPr>
          <p:cNvPr id="43" name="Shape 41"/>
          <p:cNvSpPr/>
          <p:nvPr/>
        </p:nvSpPr>
        <p:spPr>
          <a:xfrm>
            <a:off x="8339328" y="4123944"/>
            <a:ext cx="457200" cy="457200"/>
          </a:xfrm>
          <a:prstGeom prst="ellipse">
            <a:avLst/>
          </a:prstGeom>
          <a:solidFill>
            <a:srgbClr val="E7F7F0"/>
          </a:solidFill>
          <a:ln/>
        </p:spPr>
      </p:sp>
      <p:sp>
        <p:nvSpPr>
          <p:cNvPr id="44" name="Text 42"/>
          <p:cNvSpPr/>
          <p:nvPr/>
        </p:nvSpPr>
        <p:spPr>
          <a:xfrm>
            <a:off x="8339328" y="4114800"/>
            <a:ext cx="457200" cy="457200"/>
          </a:xfrm>
          <a:prstGeom prst="rect">
            <a:avLst/>
          </a:prstGeom>
          <a:noFill/>
          <a:ln/>
        </p:spPr>
        <p:txBody>
          <a:bodyPr wrap="square" lIns="0" tIns="0" rIns="0" bIns="0" rtlCol="0" anchor="ctr"/>
          <a:lstStyle/>
          <a:p>
            <a:pPr algn="ctr" indent="0" marL="0">
              <a:buNone/>
            </a:pPr>
            <a:r>
              <a:rPr lang="en-US" sz="1600" b="1" dirty="0">
                <a:solidFill>
                  <a:srgbClr val="0DA5A0"/>
                </a:solidFill>
                <a:latin typeface="Calibri" pitchFamily="34" charset="0"/>
                <a:ea typeface="Calibri" pitchFamily="34" charset="-122"/>
                <a:cs typeface="Calibri" pitchFamily="34" charset="-120"/>
              </a:rPr>
              <a:t>✓</a:t>
            </a:r>
            <a:endParaRPr lang="en-US" sz="1600" dirty="0"/>
          </a:p>
        </p:txBody>
      </p:sp>
      <p:sp>
        <p:nvSpPr>
          <p:cNvPr id="45" name="Text 43"/>
          <p:cNvSpPr/>
          <p:nvPr/>
        </p:nvSpPr>
        <p:spPr>
          <a:xfrm>
            <a:off x="8887968" y="4160520"/>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Access &amp; governance</a:t>
            </a:r>
            <a:endParaRPr lang="en-US" sz="1250" dirty="0"/>
          </a:p>
        </p:txBody>
      </p:sp>
      <p:sp>
        <p:nvSpPr>
          <p:cNvPr id="46" name="Text 44"/>
          <p:cNvSpPr/>
          <p:nvPr/>
        </p:nvSpPr>
        <p:spPr>
          <a:xfrm>
            <a:off x="8357616" y="4727448"/>
            <a:ext cx="3063240" cy="822960"/>
          </a:xfrm>
          <a:prstGeom prst="rect">
            <a:avLst/>
          </a:prstGeom>
          <a:noFill/>
          <a:ln/>
        </p:spPr>
        <p:txBody>
          <a:bodyPr wrap="square" lIns="0" tIns="0" rIns="0" bIns="0" rtlCol="0" anchor="t"/>
          <a:lstStyle/>
          <a:p>
            <a:pPr indent="0" marL="0">
              <a:lnSpc>
                <a:spcPct val="114000"/>
              </a:lnSpc>
              <a:buNone/>
            </a:pPr>
            <a:r>
              <a:rPr lang="en-US" sz="980" dirty="0">
                <a:solidFill>
                  <a:srgbClr val="3E4C63"/>
                </a:solidFill>
                <a:latin typeface="Calibri" pitchFamily="34" charset="0"/>
                <a:ea typeface="Calibri" pitchFamily="34" charset="-122"/>
                <a:cs typeface="Calibri" pitchFamily="34" charset="-120"/>
              </a:rPr>
              <a:t>Role-based access, on our identity and infrastructure, under our data-governance policy.</a:t>
            </a:r>
            <a:endParaRPr lang="en-US" sz="980" dirty="0"/>
          </a:p>
        </p:txBody>
      </p:sp>
      <p:sp>
        <p:nvSpPr>
          <p:cNvPr id="47" name="Shape 45"/>
          <p:cNvSpPr/>
          <p:nvPr/>
        </p:nvSpPr>
        <p:spPr>
          <a:xfrm>
            <a:off x="548640" y="6400800"/>
            <a:ext cx="11094415" cy="12802"/>
          </a:xfrm>
          <a:prstGeom prst="rect">
            <a:avLst/>
          </a:prstGeom>
          <a:solidFill>
            <a:srgbClr val="E4EAF2"/>
          </a:solidFill>
          <a:ln/>
        </p:spPr>
      </p:sp>
      <p:sp>
        <p:nvSpPr>
          <p:cNvPr id="48" name="Text 4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9" name="Text 4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DEMO · PRESENTER CUE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demo — the 5-minute flow</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tight, high-impact path through the live system — click order, what to show, and the moment that lands.</a:t>
            </a:r>
            <a:endParaRPr lang="en-US" sz="1250" dirty="0"/>
          </a:p>
        </p:txBody>
      </p:sp>
      <p:sp>
        <p:nvSpPr>
          <p:cNvPr id="11" name="Shape 9"/>
          <p:cNvSpPr/>
          <p:nvPr/>
        </p:nvSpPr>
        <p:spPr>
          <a:xfrm>
            <a:off x="548640" y="2057400"/>
            <a:ext cx="7315200" cy="512064"/>
          </a:xfrm>
          <a:prstGeom prst="roundRect">
            <a:avLst>
              <a:gd name="adj" fmla="val 8929"/>
            </a:avLst>
          </a:prstGeom>
          <a:solidFill>
            <a:srgbClr val="F4F7FB"/>
          </a:solidFill>
          <a:ln w="12700">
            <a:solidFill>
              <a:srgbClr val="E4EAF2"/>
            </a:solidFill>
            <a:prstDash val="solid"/>
          </a:ln>
        </p:spPr>
      </p:sp>
      <p:sp>
        <p:nvSpPr>
          <p:cNvPr id="12" name="Shape 10"/>
          <p:cNvSpPr/>
          <p:nvPr/>
        </p:nvSpPr>
        <p:spPr>
          <a:xfrm>
            <a:off x="548640" y="2057400"/>
            <a:ext cx="73152" cy="512064"/>
          </a:xfrm>
          <a:prstGeom prst="rect">
            <a:avLst/>
          </a:prstGeom>
          <a:solidFill>
            <a:srgbClr val="0DA5A0"/>
          </a:solidFill>
          <a:ln/>
        </p:spPr>
      </p:sp>
      <p:sp>
        <p:nvSpPr>
          <p:cNvPr id="13" name="Shape 11"/>
          <p:cNvSpPr/>
          <p:nvPr/>
        </p:nvSpPr>
        <p:spPr>
          <a:xfrm>
            <a:off x="694944" y="2148840"/>
            <a:ext cx="329184" cy="329184"/>
          </a:xfrm>
          <a:prstGeom prst="ellipse">
            <a:avLst/>
          </a:prstGeom>
          <a:solidFill>
            <a:srgbClr val="0DA5A0"/>
          </a:solidFill>
          <a:ln/>
          <a:effectLst>
            <a:outerShdw sx="100000" sy="100000" kx="0" ky="0" algn="bl" rotWithShape="0" blurRad="2.289968664788388e+66" dist="6.86990599436516e+65" dir="2.5389989167104004e+78">
              <a:srgbClr val="A7B6CE">
                <a:alpha val="1.8000000000000003e+79"/>
              </a:srgbClr>
            </a:outerShdw>
          </a:effectLst>
        </p:spPr>
      </p:sp>
      <p:sp>
        <p:nvSpPr>
          <p:cNvPr id="14" name="Text 12"/>
          <p:cNvSpPr/>
          <p:nvPr/>
        </p:nvSpPr>
        <p:spPr>
          <a:xfrm>
            <a:off x="694944" y="214884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1</a:t>
            </a:r>
            <a:endParaRPr lang="en-US" sz="1224" dirty="0"/>
          </a:p>
        </p:txBody>
      </p:sp>
      <p:sp>
        <p:nvSpPr>
          <p:cNvPr id="15" name="Text 13"/>
          <p:cNvSpPr/>
          <p:nvPr/>
        </p:nvSpPr>
        <p:spPr>
          <a:xfrm>
            <a:off x="1152144" y="2057400"/>
            <a:ext cx="1645920" cy="512064"/>
          </a:xfrm>
          <a:prstGeom prst="rect">
            <a:avLst/>
          </a:prstGeom>
          <a:noFill/>
          <a:ln/>
        </p:spPr>
        <p:txBody>
          <a:bodyPr wrap="square" lIns="0" tIns="0" rIns="0" bIns="0" rtlCol="0" anchor="ctr"/>
          <a:lstStyle/>
          <a:p>
            <a:pPr indent="0" marL="0">
              <a:buNone/>
            </a:pPr>
            <a:r>
              <a:rPr lang="en-US" sz="1150" b="1" dirty="0">
                <a:solidFill>
                  <a:srgbClr val="0DA5A0"/>
                </a:solidFill>
                <a:latin typeface="Calibri" pitchFamily="34" charset="0"/>
                <a:ea typeface="Calibri" pitchFamily="34" charset="-122"/>
                <a:cs typeface="Calibri" pitchFamily="34" charset="-120"/>
              </a:rPr>
              <a:t>CAD → Cost</a:t>
            </a:r>
            <a:endParaRPr lang="en-US" sz="1150" dirty="0"/>
          </a:p>
        </p:txBody>
      </p:sp>
      <p:sp>
        <p:nvSpPr>
          <p:cNvPr id="16" name="Text 14"/>
          <p:cNvSpPr/>
          <p:nvPr/>
        </p:nvSpPr>
        <p:spPr>
          <a:xfrm>
            <a:off x="2834640" y="208483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Upload a STEP model → show the 3D viewer, geometry &amp; feature table → Calculate</a:t>
            </a:r>
            <a:endParaRPr lang="en-US" sz="900" dirty="0"/>
          </a:p>
        </p:txBody>
      </p:sp>
      <p:sp>
        <p:nvSpPr>
          <p:cNvPr id="17" name="Text 15"/>
          <p:cNvSpPr/>
          <p:nvPr/>
        </p:nvSpPr>
        <p:spPr>
          <a:xfrm>
            <a:off x="6080760" y="208483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should-cost + confidence band appear in ~30–60 s</a:t>
            </a:r>
            <a:endParaRPr lang="en-US" sz="850" dirty="0"/>
          </a:p>
        </p:txBody>
      </p:sp>
      <p:sp>
        <p:nvSpPr>
          <p:cNvPr id="18" name="Shape 16"/>
          <p:cNvSpPr/>
          <p:nvPr/>
        </p:nvSpPr>
        <p:spPr>
          <a:xfrm>
            <a:off x="548640" y="2660904"/>
            <a:ext cx="7315200" cy="512064"/>
          </a:xfrm>
          <a:prstGeom prst="roundRect">
            <a:avLst>
              <a:gd name="adj" fmla="val 8929"/>
            </a:avLst>
          </a:prstGeom>
          <a:solidFill>
            <a:srgbClr val="FFFFFF"/>
          </a:solidFill>
          <a:ln w="12700">
            <a:solidFill>
              <a:srgbClr val="E4EAF2"/>
            </a:solidFill>
            <a:prstDash val="solid"/>
          </a:ln>
        </p:spPr>
      </p:sp>
      <p:sp>
        <p:nvSpPr>
          <p:cNvPr id="19" name="Shape 17"/>
          <p:cNvSpPr/>
          <p:nvPr/>
        </p:nvSpPr>
        <p:spPr>
          <a:xfrm>
            <a:off x="548640" y="2660904"/>
            <a:ext cx="73152" cy="512064"/>
          </a:xfrm>
          <a:prstGeom prst="rect">
            <a:avLst/>
          </a:prstGeom>
          <a:solidFill>
            <a:srgbClr val="2563EB"/>
          </a:solidFill>
          <a:ln/>
        </p:spPr>
      </p:sp>
      <p:sp>
        <p:nvSpPr>
          <p:cNvPr id="20" name="Shape 18"/>
          <p:cNvSpPr/>
          <p:nvPr/>
        </p:nvSpPr>
        <p:spPr>
          <a:xfrm>
            <a:off x="694944" y="2752344"/>
            <a:ext cx="329184" cy="329184"/>
          </a:xfrm>
          <a:prstGeom prst="ellipse">
            <a:avLst/>
          </a:prstGeom>
          <a:solidFill>
            <a:srgbClr val="2563EB"/>
          </a:solidFill>
          <a:ln/>
          <a:effectLst>
            <a:outerShdw sx="100000" sy="100000" kx="0" ky="0" algn="bl" rotWithShape="0" blurRad="2.908260204281253e+70" dist="8.724780612843754e+69" dir="1.5233993500262402e+83">
              <a:srgbClr val="A7B6CE">
                <a:alpha val="1.8000000000000004e+84"/>
              </a:srgbClr>
            </a:outerShdw>
          </a:effectLst>
        </p:spPr>
      </p:sp>
      <p:sp>
        <p:nvSpPr>
          <p:cNvPr id="21" name="Text 19"/>
          <p:cNvSpPr/>
          <p:nvPr/>
        </p:nvSpPr>
        <p:spPr>
          <a:xfrm>
            <a:off x="694944" y="2752344"/>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2</a:t>
            </a:r>
            <a:endParaRPr lang="en-US" sz="1224" dirty="0"/>
          </a:p>
        </p:txBody>
      </p:sp>
      <p:sp>
        <p:nvSpPr>
          <p:cNvPr id="22" name="Text 20"/>
          <p:cNvSpPr/>
          <p:nvPr/>
        </p:nvSpPr>
        <p:spPr>
          <a:xfrm>
            <a:off x="1152144" y="2660904"/>
            <a:ext cx="1645920" cy="512064"/>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Add a 2D drawing</a:t>
            </a:r>
            <a:endParaRPr lang="en-US" sz="1150" dirty="0"/>
          </a:p>
        </p:txBody>
      </p:sp>
      <p:sp>
        <p:nvSpPr>
          <p:cNvPr id="23" name="Text 21"/>
          <p:cNvSpPr/>
          <p:nvPr/>
        </p:nvSpPr>
        <p:spPr>
          <a:xfrm>
            <a:off x="2834640" y="2688336"/>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Attach the engineering-drawing PDF → re-analyse</a:t>
            </a:r>
            <a:endParaRPr lang="en-US" sz="900" dirty="0"/>
          </a:p>
        </p:txBody>
      </p:sp>
      <p:sp>
        <p:nvSpPr>
          <p:cNvPr id="24" name="Text 22"/>
          <p:cNvSpPr/>
          <p:nvPr/>
        </p:nvSpPr>
        <p:spPr>
          <a:xfrm>
            <a:off x="6080760" y="2688336"/>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tolerances tighten the process route — accuracy improves live</a:t>
            </a:r>
            <a:endParaRPr lang="en-US" sz="850" dirty="0"/>
          </a:p>
        </p:txBody>
      </p:sp>
      <p:sp>
        <p:nvSpPr>
          <p:cNvPr id="25" name="Shape 23"/>
          <p:cNvSpPr/>
          <p:nvPr/>
        </p:nvSpPr>
        <p:spPr>
          <a:xfrm>
            <a:off x="548640" y="3264408"/>
            <a:ext cx="7315200" cy="512064"/>
          </a:xfrm>
          <a:prstGeom prst="roundRect">
            <a:avLst>
              <a:gd name="adj" fmla="val 8929"/>
            </a:avLst>
          </a:prstGeom>
          <a:solidFill>
            <a:srgbClr val="F4F7FB"/>
          </a:solidFill>
          <a:ln w="12700">
            <a:solidFill>
              <a:srgbClr val="E4EAF2"/>
            </a:solidFill>
            <a:prstDash val="solid"/>
          </a:ln>
        </p:spPr>
      </p:sp>
      <p:sp>
        <p:nvSpPr>
          <p:cNvPr id="26" name="Shape 24"/>
          <p:cNvSpPr/>
          <p:nvPr/>
        </p:nvSpPr>
        <p:spPr>
          <a:xfrm>
            <a:off x="548640" y="3264408"/>
            <a:ext cx="73152" cy="512064"/>
          </a:xfrm>
          <a:prstGeom prst="rect">
            <a:avLst/>
          </a:prstGeom>
          <a:solidFill>
            <a:srgbClr val="E0900C"/>
          </a:solidFill>
          <a:ln/>
        </p:spPr>
      </p:sp>
      <p:sp>
        <p:nvSpPr>
          <p:cNvPr id="27" name="Shape 25"/>
          <p:cNvSpPr/>
          <p:nvPr/>
        </p:nvSpPr>
        <p:spPr>
          <a:xfrm>
            <a:off x="694944" y="3355848"/>
            <a:ext cx="329184" cy="329184"/>
          </a:xfrm>
          <a:prstGeom prst="ellipse">
            <a:avLst/>
          </a:prstGeom>
          <a:solidFill>
            <a:srgbClr val="E0900C"/>
          </a:solidFill>
          <a:ln/>
          <a:effectLst>
            <a:outerShdw sx="100000" sy="100000" kx="0" ky="0" algn="bl" rotWithShape="0" blurRad="3.693490459437191e+74" dist="1.1080471378311567e+74" dir="9.14039610015744e+87">
              <a:srgbClr val="A7B6CE">
                <a:alpha val="1.8000000000000005e+89"/>
              </a:srgbClr>
            </a:outerShdw>
          </a:effectLst>
        </p:spPr>
      </p:sp>
      <p:sp>
        <p:nvSpPr>
          <p:cNvPr id="28" name="Text 26"/>
          <p:cNvSpPr/>
          <p:nvPr/>
        </p:nvSpPr>
        <p:spPr>
          <a:xfrm>
            <a:off x="694944" y="3355848"/>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3</a:t>
            </a:r>
            <a:endParaRPr lang="en-US" sz="1224" dirty="0"/>
          </a:p>
        </p:txBody>
      </p:sp>
      <p:sp>
        <p:nvSpPr>
          <p:cNvPr id="29" name="Text 27"/>
          <p:cNvSpPr/>
          <p:nvPr/>
        </p:nvSpPr>
        <p:spPr>
          <a:xfrm>
            <a:off x="1152144" y="3264408"/>
            <a:ext cx="1645920" cy="512064"/>
          </a:xfrm>
          <a:prstGeom prst="rect">
            <a:avLst/>
          </a:prstGeom>
          <a:noFill/>
          <a:ln/>
        </p:spPr>
        <p:txBody>
          <a:bodyPr wrap="square" lIns="0" tIns="0" rIns="0" bIns="0" rtlCol="0" anchor="ctr"/>
          <a:lstStyle/>
          <a:p>
            <a:pPr indent="0" marL="0">
              <a:buNone/>
            </a:pPr>
            <a:r>
              <a:rPr lang="en-US" sz="1150" b="1" dirty="0">
                <a:solidFill>
                  <a:srgbClr val="E0900C"/>
                </a:solidFill>
                <a:latin typeface="Calibri" pitchFamily="34" charset="0"/>
                <a:ea typeface="Calibri" pitchFamily="34" charset="-122"/>
                <a:cs typeface="Calibri" pitchFamily="34" charset="-120"/>
              </a:rPr>
              <a:t>Compare countries</a:t>
            </a:r>
            <a:endParaRPr lang="en-US" sz="1150" dirty="0"/>
          </a:p>
        </p:txBody>
      </p:sp>
      <p:sp>
        <p:nvSpPr>
          <p:cNvPr id="30" name="Text 28"/>
          <p:cNvSpPr/>
          <p:nvPr/>
        </p:nvSpPr>
        <p:spPr>
          <a:xfrm>
            <a:off x="2834640" y="3291840"/>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Switch the region selector / open the comparison</a:t>
            </a:r>
            <a:endParaRPr lang="en-US" sz="900" dirty="0"/>
          </a:p>
        </p:txBody>
      </p:sp>
      <p:sp>
        <p:nvSpPr>
          <p:cNvPr id="31" name="Text 29"/>
          <p:cNvSpPr/>
          <p:nvPr/>
        </p:nvSpPr>
        <p:spPr>
          <a:xfrm>
            <a:off x="6080760" y="3291840"/>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20-region spread — China vs Germany — in one click</a:t>
            </a:r>
            <a:endParaRPr lang="en-US" sz="850" dirty="0"/>
          </a:p>
        </p:txBody>
      </p:sp>
      <p:sp>
        <p:nvSpPr>
          <p:cNvPr id="32" name="Shape 30"/>
          <p:cNvSpPr/>
          <p:nvPr/>
        </p:nvSpPr>
        <p:spPr>
          <a:xfrm>
            <a:off x="548640" y="3867912"/>
            <a:ext cx="7315200" cy="512064"/>
          </a:xfrm>
          <a:prstGeom prst="roundRect">
            <a:avLst>
              <a:gd name="adj" fmla="val 8929"/>
            </a:avLst>
          </a:prstGeom>
          <a:solidFill>
            <a:srgbClr val="FFFFFF"/>
          </a:solidFill>
          <a:ln w="12700">
            <a:solidFill>
              <a:srgbClr val="E4EAF2"/>
            </a:solidFill>
            <a:prstDash val="solid"/>
          </a:ln>
        </p:spPr>
      </p:sp>
      <p:sp>
        <p:nvSpPr>
          <p:cNvPr id="33" name="Shape 31"/>
          <p:cNvSpPr/>
          <p:nvPr/>
        </p:nvSpPr>
        <p:spPr>
          <a:xfrm>
            <a:off x="548640" y="3867912"/>
            <a:ext cx="73152" cy="512064"/>
          </a:xfrm>
          <a:prstGeom prst="rect">
            <a:avLst/>
          </a:prstGeom>
          <a:solidFill>
            <a:srgbClr val="0E93B0"/>
          </a:solidFill>
          <a:ln/>
        </p:spPr>
      </p:sp>
      <p:sp>
        <p:nvSpPr>
          <p:cNvPr id="34" name="Shape 32"/>
          <p:cNvSpPr/>
          <p:nvPr/>
        </p:nvSpPr>
        <p:spPr>
          <a:xfrm>
            <a:off x="694944" y="3959352"/>
            <a:ext cx="329184" cy="329184"/>
          </a:xfrm>
          <a:prstGeom prst="ellipse">
            <a:avLst/>
          </a:prstGeom>
          <a:solidFill>
            <a:srgbClr val="0E93B0"/>
          </a:solidFill>
          <a:ln/>
          <a:effectLst>
            <a:outerShdw sx="100000" sy="100000" kx="0" ky="0" algn="bl" rotWithShape="0" blurRad="4.690732883485232e+78" dist="1.407219865045569e+78" dir="5.484237660094465e+92">
              <a:srgbClr val="A7B6CE">
                <a:alpha val="1.8000000000000007e+94"/>
              </a:srgbClr>
            </a:outerShdw>
          </a:effectLst>
        </p:spPr>
      </p:sp>
      <p:sp>
        <p:nvSpPr>
          <p:cNvPr id="35" name="Text 33"/>
          <p:cNvSpPr/>
          <p:nvPr/>
        </p:nvSpPr>
        <p:spPr>
          <a:xfrm>
            <a:off x="694944" y="3959352"/>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4</a:t>
            </a:r>
            <a:endParaRPr lang="en-US" sz="1224" dirty="0"/>
          </a:p>
        </p:txBody>
      </p:sp>
      <p:sp>
        <p:nvSpPr>
          <p:cNvPr id="36" name="Text 34"/>
          <p:cNvSpPr/>
          <p:nvPr/>
        </p:nvSpPr>
        <p:spPr>
          <a:xfrm>
            <a:off x="1152144" y="3867912"/>
            <a:ext cx="1645920" cy="512064"/>
          </a:xfrm>
          <a:prstGeom prst="rect">
            <a:avLst/>
          </a:prstGeom>
          <a:noFill/>
          <a:ln/>
        </p:spPr>
        <p:txBody>
          <a:bodyPr wrap="square" lIns="0" tIns="0" rIns="0" bIns="0" rtlCol="0" anchor="ctr"/>
          <a:lstStyle/>
          <a:p>
            <a:pPr indent="0" marL="0">
              <a:buNone/>
            </a:pPr>
            <a:r>
              <a:rPr lang="en-US" sz="1150" b="1" dirty="0">
                <a:solidFill>
                  <a:srgbClr val="0E93B0"/>
                </a:solidFill>
                <a:latin typeface="Calibri" pitchFamily="34" charset="0"/>
                <a:ea typeface="Calibri" pitchFamily="34" charset="-122"/>
                <a:cs typeface="Calibri" pitchFamily="34" charset="-120"/>
              </a:rPr>
              <a:t>PCB photo → BOM</a:t>
            </a:r>
            <a:endParaRPr lang="en-US" sz="1150" dirty="0"/>
          </a:p>
        </p:txBody>
      </p:sp>
      <p:sp>
        <p:nvSpPr>
          <p:cNvPr id="37" name="Text 35"/>
          <p:cNvSpPr/>
          <p:nvPr/>
        </p:nvSpPr>
        <p:spPr>
          <a:xfrm>
            <a:off x="2834640" y="3895344"/>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Drop a board photo → run analysis</a:t>
            </a:r>
            <a:endParaRPr lang="en-US" sz="900" dirty="0"/>
          </a:p>
        </p:txBody>
      </p:sp>
      <p:sp>
        <p:nvSpPr>
          <p:cNvPr id="38" name="Text 36"/>
          <p:cNvSpPr/>
          <p:nvPr/>
        </p:nvSpPr>
        <p:spPr>
          <a:xfrm>
            <a:off x="6080760" y="3895344"/>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a full costed BOM builds from a single picture</a:t>
            </a:r>
            <a:endParaRPr lang="en-US" sz="850" dirty="0"/>
          </a:p>
        </p:txBody>
      </p:sp>
      <p:sp>
        <p:nvSpPr>
          <p:cNvPr id="39" name="Shape 37"/>
          <p:cNvSpPr/>
          <p:nvPr/>
        </p:nvSpPr>
        <p:spPr>
          <a:xfrm>
            <a:off x="548640" y="4471416"/>
            <a:ext cx="7315200" cy="512064"/>
          </a:xfrm>
          <a:prstGeom prst="roundRect">
            <a:avLst>
              <a:gd name="adj" fmla="val 8929"/>
            </a:avLst>
          </a:prstGeom>
          <a:solidFill>
            <a:srgbClr val="F4F7FB"/>
          </a:solidFill>
          <a:ln w="12700">
            <a:solidFill>
              <a:srgbClr val="E4EAF2"/>
            </a:solidFill>
            <a:prstDash val="solid"/>
          </a:ln>
        </p:spPr>
      </p:sp>
      <p:sp>
        <p:nvSpPr>
          <p:cNvPr id="40" name="Shape 38"/>
          <p:cNvSpPr/>
          <p:nvPr/>
        </p:nvSpPr>
        <p:spPr>
          <a:xfrm>
            <a:off x="548640" y="4471416"/>
            <a:ext cx="73152" cy="512064"/>
          </a:xfrm>
          <a:prstGeom prst="rect">
            <a:avLst/>
          </a:prstGeom>
          <a:solidFill>
            <a:srgbClr val="7C3AED"/>
          </a:solidFill>
          <a:ln/>
        </p:spPr>
      </p:sp>
      <p:sp>
        <p:nvSpPr>
          <p:cNvPr id="41" name="Shape 39"/>
          <p:cNvSpPr/>
          <p:nvPr/>
        </p:nvSpPr>
        <p:spPr>
          <a:xfrm>
            <a:off x="694944" y="4562856"/>
            <a:ext cx="329184" cy="329184"/>
          </a:xfrm>
          <a:prstGeom prst="ellipse">
            <a:avLst/>
          </a:prstGeom>
          <a:solidFill>
            <a:srgbClr val="7C3AED"/>
          </a:solidFill>
          <a:ln/>
          <a:effectLst>
            <a:outerShdw sx="100000" sy="100000" kx="0" ky="0" algn="bl" rotWithShape="0" blurRad="5.957230762026245e+82" dist="1.7871692286078725e+82" dir="3.2905425960566786e+97">
              <a:srgbClr val="A7B6CE">
                <a:alpha val="1.8000000000000008e+99"/>
              </a:srgbClr>
            </a:outerShdw>
          </a:effectLst>
        </p:spPr>
      </p:sp>
      <p:sp>
        <p:nvSpPr>
          <p:cNvPr id="42" name="Text 40"/>
          <p:cNvSpPr/>
          <p:nvPr/>
        </p:nvSpPr>
        <p:spPr>
          <a:xfrm>
            <a:off x="694944" y="4562856"/>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5</a:t>
            </a:r>
            <a:endParaRPr lang="en-US" sz="1224" dirty="0"/>
          </a:p>
        </p:txBody>
      </p:sp>
      <p:sp>
        <p:nvSpPr>
          <p:cNvPr id="43" name="Text 41"/>
          <p:cNvSpPr/>
          <p:nvPr/>
        </p:nvSpPr>
        <p:spPr>
          <a:xfrm>
            <a:off x="1152144" y="4471416"/>
            <a:ext cx="1645920" cy="512064"/>
          </a:xfrm>
          <a:prstGeom prst="rect">
            <a:avLst/>
          </a:prstGeom>
          <a:noFill/>
          <a:ln/>
        </p:spPr>
        <p:txBody>
          <a:bodyPr wrap="square" lIns="0" tIns="0" rIns="0" bIns="0" rtlCol="0" anchor="ctr"/>
          <a:lstStyle/>
          <a:p>
            <a:pPr indent="0" marL="0">
              <a:buNone/>
            </a:pPr>
            <a:r>
              <a:rPr lang="en-US" sz="1150" b="1" dirty="0">
                <a:solidFill>
                  <a:srgbClr val="7C3AED"/>
                </a:solidFill>
                <a:latin typeface="Calibri" pitchFamily="34" charset="0"/>
                <a:ea typeface="Calibri" pitchFamily="34" charset="-122"/>
                <a:cs typeface="Calibri" pitchFamily="34" charset="-120"/>
              </a:rPr>
              <a:t>Negotiation</a:t>
            </a:r>
            <a:endParaRPr lang="en-US" sz="1150" dirty="0"/>
          </a:p>
        </p:txBody>
      </p:sp>
      <p:sp>
        <p:nvSpPr>
          <p:cNvPr id="44" name="Text 42"/>
          <p:cNvSpPr/>
          <p:nvPr/>
        </p:nvSpPr>
        <p:spPr>
          <a:xfrm>
            <a:off x="2834640" y="4498848"/>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Paste a supplier quote → generate pack</a:t>
            </a:r>
            <a:endParaRPr lang="en-US" sz="900" dirty="0"/>
          </a:p>
        </p:txBody>
      </p:sp>
      <p:sp>
        <p:nvSpPr>
          <p:cNvPr id="45" name="Text 43"/>
          <p:cNvSpPr/>
          <p:nvPr/>
        </p:nvSpPr>
        <p:spPr>
          <a:xfrm>
            <a:off x="6080760" y="4498848"/>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gap teardown by driver + ready-to-send questions</a:t>
            </a:r>
            <a:endParaRPr lang="en-US" sz="850" dirty="0"/>
          </a:p>
        </p:txBody>
      </p:sp>
      <p:sp>
        <p:nvSpPr>
          <p:cNvPr id="46" name="Shape 44"/>
          <p:cNvSpPr/>
          <p:nvPr/>
        </p:nvSpPr>
        <p:spPr>
          <a:xfrm>
            <a:off x="548640" y="5074920"/>
            <a:ext cx="7315200" cy="512064"/>
          </a:xfrm>
          <a:prstGeom prst="roundRect">
            <a:avLst>
              <a:gd name="adj" fmla="val 8929"/>
            </a:avLst>
          </a:prstGeom>
          <a:solidFill>
            <a:srgbClr val="FFFFFF"/>
          </a:solidFill>
          <a:ln w="12700">
            <a:solidFill>
              <a:srgbClr val="E4EAF2"/>
            </a:solidFill>
            <a:prstDash val="solid"/>
          </a:ln>
        </p:spPr>
      </p:sp>
      <p:sp>
        <p:nvSpPr>
          <p:cNvPr id="47" name="Shape 45"/>
          <p:cNvSpPr/>
          <p:nvPr/>
        </p:nvSpPr>
        <p:spPr>
          <a:xfrm>
            <a:off x="548640" y="5074920"/>
            <a:ext cx="73152" cy="512064"/>
          </a:xfrm>
          <a:prstGeom prst="rect">
            <a:avLst/>
          </a:prstGeom>
          <a:solidFill>
            <a:srgbClr val="E5484D"/>
          </a:solidFill>
          <a:ln/>
        </p:spPr>
      </p:sp>
      <p:sp>
        <p:nvSpPr>
          <p:cNvPr id="48" name="Shape 46"/>
          <p:cNvSpPr/>
          <p:nvPr/>
        </p:nvSpPr>
        <p:spPr>
          <a:xfrm>
            <a:off x="694944" y="5166360"/>
            <a:ext cx="329184" cy="329184"/>
          </a:xfrm>
          <a:prstGeom prst="ellipse">
            <a:avLst/>
          </a:prstGeom>
          <a:solidFill>
            <a:srgbClr val="E5484D"/>
          </a:solidFill>
          <a:ln/>
          <a:effectLst>
            <a:outerShdw sx="100000" sy="100000" kx="0" ky="0" algn="bl" rotWithShape="0" blurRad="7.565683067773332e+86" dist="2.269704920331998e+86" dir="1.9743255576340073e+102">
              <a:srgbClr val="A7B6CE">
                <a:alpha val="1.800000000000001e+104"/>
              </a:srgbClr>
            </a:outerShdw>
          </a:effectLst>
        </p:spPr>
      </p:sp>
      <p:sp>
        <p:nvSpPr>
          <p:cNvPr id="49" name="Text 47"/>
          <p:cNvSpPr/>
          <p:nvPr/>
        </p:nvSpPr>
        <p:spPr>
          <a:xfrm>
            <a:off x="694944" y="516636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6</a:t>
            </a:r>
            <a:endParaRPr lang="en-US" sz="1224" dirty="0"/>
          </a:p>
        </p:txBody>
      </p:sp>
      <p:sp>
        <p:nvSpPr>
          <p:cNvPr id="50" name="Text 48"/>
          <p:cNvSpPr/>
          <p:nvPr/>
        </p:nvSpPr>
        <p:spPr>
          <a:xfrm>
            <a:off x="1152144" y="5074920"/>
            <a:ext cx="1645920" cy="512064"/>
          </a:xfrm>
          <a:prstGeom prst="rect">
            <a:avLst/>
          </a:prstGeom>
          <a:noFill/>
          <a:ln/>
        </p:spPr>
        <p:txBody>
          <a:bodyPr wrap="square" lIns="0" tIns="0" rIns="0" bIns="0" rtlCol="0" anchor="ctr"/>
          <a:lstStyle/>
          <a:p>
            <a:pPr indent="0" marL="0">
              <a:buNone/>
            </a:pPr>
            <a:r>
              <a:rPr lang="en-US" sz="1150" b="1" dirty="0">
                <a:solidFill>
                  <a:srgbClr val="E5484D"/>
                </a:solidFill>
                <a:latin typeface="Calibri" pitchFamily="34" charset="0"/>
                <a:ea typeface="Calibri" pitchFamily="34" charset="-122"/>
                <a:cs typeface="Calibri" pitchFamily="34" charset="-120"/>
              </a:rPr>
              <a:t>Autonomous agent</a:t>
            </a:r>
            <a:endParaRPr lang="en-US" sz="1150" dirty="0"/>
          </a:p>
        </p:txBody>
      </p:sp>
      <p:sp>
        <p:nvSpPr>
          <p:cNvPr id="51" name="Text 49"/>
          <p:cNvSpPr/>
          <p:nvPr/>
        </p:nvSpPr>
        <p:spPr>
          <a:xfrm>
            <a:off x="2834640" y="510235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Open the findings panel</a:t>
            </a:r>
            <a:endParaRPr lang="en-US" sz="900" dirty="0"/>
          </a:p>
        </p:txBody>
      </p:sp>
      <p:sp>
        <p:nvSpPr>
          <p:cNvPr id="52" name="Text 50"/>
          <p:cNvSpPr/>
          <p:nvPr/>
        </p:nvSpPr>
        <p:spPr>
          <a:xfrm>
            <a:off x="6080760" y="510235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~£512k/yr surfaced by itself — the "wow" close</a:t>
            </a:r>
            <a:endParaRPr lang="en-US" sz="850" dirty="0"/>
          </a:p>
        </p:txBody>
      </p:sp>
      <p:sp>
        <p:nvSpPr>
          <p:cNvPr id="53" name="Shape 51"/>
          <p:cNvSpPr/>
          <p:nvPr/>
        </p:nvSpPr>
        <p:spPr>
          <a:xfrm>
            <a:off x="8165592" y="2057400"/>
            <a:ext cx="3477463" cy="3529584"/>
          </a:xfrm>
          <a:prstGeom prst="roundRect">
            <a:avLst>
              <a:gd name="adj" fmla="val 1841"/>
            </a:avLst>
          </a:prstGeom>
          <a:solidFill>
            <a:srgbClr val="F3EEFE"/>
          </a:solidFill>
          <a:ln w="12700">
            <a:solidFill>
              <a:srgbClr val="E4EAF2"/>
            </a:solidFill>
            <a:prstDash val="solid"/>
          </a:ln>
        </p:spPr>
      </p:sp>
      <p:sp>
        <p:nvSpPr>
          <p:cNvPr id="54" name="Shape 52"/>
          <p:cNvSpPr/>
          <p:nvPr/>
        </p:nvSpPr>
        <p:spPr>
          <a:xfrm>
            <a:off x="8165592" y="2057400"/>
            <a:ext cx="82296" cy="3529584"/>
          </a:xfrm>
          <a:prstGeom prst="rect">
            <a:avLst/>
          </a:prstGeom>
          <a:solidFill>
            <a:srgbClr val="7C3AED"/>
          </a:solidFill>
          <a:ln/>
        </p:spPr>
      </p:sp>
      <p:sp>
        <p:nvSpPr>
          <p:cNvPr id="55" name="Text 53"/>
          <p:cNvSpPr/>
          <p:nvPr/>
        </p:nvSpPr>
        <p:spPr>
          <a:xfrm>
            <a:off x="8421624" y="2221992"/>
            <a:ext cx="3020263" cy="320040"/>
          </a:xfrm>
          <a:prstGeom prst="rect">
            <a:avLst/>
          </a:prstGeom>
          <a:noFill/>
          <a:ln/>
        </p:spPr>
        <p:txBody>
          <a:bodyPr wrap="square" lIns="0" tIns="0" rIns="0" bIns="0" rtlCol="0" anchor="t"/>
          <a:lstStyle/>
          <a:p>
            <a:pPr indent="0" marL="0">
              <a:buNone/>
            </a:pPr>
            <a:r>
              <a:rPr lang="en-US" sz="1300" b="1" dirty="0">
                <a:solidFill>
                  <a:srgbClr val="7C3AED"/>
                </a:solidFill>
                <a:latin typeface="Calibri" pitchFamily="34" charset="0"/>
                <a:ea typeface="Calibri" pitchFamily="34" charset="-122"/>
                <a:cs typeface="Calibri" pitchFamily="34" charset="-120"/>
              </a:rPr>
              <a:t>Before you start</a:t>
            </a:r>
            <a:endParaRPr lang="en-US" sz="1300" dirty="0"/>
          </a:p>
        </p:txBody>
      </p:sp>
      <p:sp>
        <p:nvSpPr>
          <p:cNvPr id="56" name="Shape 54"/>
          <p:cNvSpPr/>
          <p:nvPr/>
        </p:nvSpPr>
        <p:spPr>
          <a:xfrm>
            <a:off x="8403336" y="2624328"/>
            <a:ext cx="274320" cy="274320"/>
          </a:xfrm>
          <a:prstGeom prst="ellipse">
            <a:avLst/>
          </a:prstGeom>
          <a:solidFill>
            <a:srgbClr val="F3EEFE"/>
          </a:solidFill>
          <a:ln/>
        </p:spPr>
      </p:sp>
      <p:sp>
        <p:nvSpPr>
          <p:cNvPr id="57" name="Text 55"/>
          <p:cNvSpPr/>
          <p:nvPr/>
        </p:nvSpPr>
        <p:spPr>
          <a:xfrm>
            <a:off x="8403336" y="2615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8750808" y="2606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sample STEP part loaded</a:t>
            </a:r>
            <a:endParaRPr lang="en-US" sz="980" dirty="0"/>
          </a:p>
        </p:txBody>
      </p:sp>
      <p:sp>
        <p:nvSpPr>
          <p:cNvPr id="59" name="Shape 57"/>
          <p:cNvSpPr/>
          <p:nvPr/>
        </p:nvSpPr>
        <p:spPr>
          <a:xfrm>
            <a:off x="8403336" y="3081528"/>
            <a:ext cx="274320" cy="274320"/>
          </a:xfrm>
          <a:prstGeom prst="ellipse">
            <a:avLst/>
          </a:prstGeom>
          <a:solidFill>
            <a:srgbClr val="F3EEFE"/>
          </a:solidFill>
          <a:ln/>
        </p:spPr>
      </p:sp>
      <p:sp>
        <p:nvSpPr>
          <p:cNvPr id="60" name="Text 58"/>
          <p:cNvSpPr/>
          <p:nvPr/>
        </p:nvSpPr>
        <p:spPr>
          <a:xfrm>
            <a:off x="8403336" y="30723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1" name="Text 59"/>
          <p:cNvSpPr/>
          <p:nvPr/>
        </p:nvSpPr>
        <p:spPr>
          <a:xfrm>
            <a:off x="8750808" y="30632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2D drawing PDF to hand</a:t>
            </a:r>
            <a:endParaRPr lang="en-US" sz="980" dirty="0"/>
          </a:p>
        </p:txBody>
      </p:sp>
      <p:sp>
        <p:nvSpPr>
          <p:cNvPr id="62" name="Shape 60"/>
          <p:cNvSpPr/>
          <p:nvPr/>
        </p:nvSpPr>
        <p:spPr>
          <a:xfrm>
            <a:off x="8403336" y="3538728"/>
            <a:ext cx="274320" cy="274320"/>
          </a:xfrm>
          <a:prstGeom prst="ellipse">
            <a:avLst/>
          </a:prstGeom>
          <a:solidFill>
            <a:srgbClr val="F3EEFE"/>
          </a:solidFill>
          <a:ln/>
        </p:spPr>
      </p:sp>
      <p:sp>
        <p:nvSpPr>
          <p:cNvPr id="63" name="Text 61"/>
          <p:cNvSpPr/>
          <p:nvPr/>
        </p:nvSpPr>
        <p:spPr>
          <a:xfrm>
            <a:off x="8403336" y="35295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4" name="Text 62"/>
          <p:cNvSpPr/>
          <p:nvPr/>
        </p:nvSpPr>
        <p:spPr>
          <a:xfrm>
            <a:off x="8750808" y="35204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board photo ready</a:t>
            </a:r>
            <a:endParaRPr lang="en-US" sz="980" dirty="0"/>
          </a:p>
        </p:txBody>
      </p:sp>
      <p:sp>
        <p:nvSpPr>
          <p:cNvPr id="65" name="Shape 63"/>
          <p:cNvSpPr/>
          <p:nvPr/>
        </p:nvSpPr>
        <p:spPr>
          <a:xfrm>
            <a:off x="8403336" y="3995928"/>
            <a:ext cx="274320" cy="274320"/>
          </a:xfrm>
          <a:prstGeom prst="ellipse">
            <a:avLst/>
          </a:prstGeom>
          <a:solidFill>
            <a:srgbClr val="F3EEFE"/>
          </a:solidFill>
          <a:ln/>
        </p:spPr>
      </p:sp>
      <p:sp>
        <p:nvSpPr>
          <p:cNvPr id="66" name="Text 64"/>
          <p:cNvSpPr/>
          <p:nvPr/>
        </p:nvSpPr>
        <p:spPr>
          <a:xfrm>
            <a:off x="8403336" y="39867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7" name="Text 65"/>
          <p:cNvSpPr/>
          <p:nvPr/>
        </p:nvSpPr>
        <p:spPr>
          <a:xfrm>
            <a:off x="8750808" y="39776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supplier quote to paste</a:t>
            </a:r>
            <a:endParaRPr lang="en-US" sz="980" dirty="0"/>
          </a:p>
        </p:txBody>
      </p:sp>
      <p:sp>
        <p:nvSpPr>
          <p:cNvPr id="68" name="Shape 66"/>
          <p:cNvSpPr/>
          <p:nvPr/>
        </p:nvSpPr>
        <p:spPr>
          <a:xfrm>
            <a:off x="8403336" y="4453128"/>
            <a:ext cx="274320" cy="274320"/>
          </a:xfrm>
          <a:prstGeom prst="ellipse">
            <a:avLst/>
          </a:prstGeom>
          <a:solidFill>
            <a:srgbClr val="F3EEFE"/>
          </a:solidFill>
          <a:ln/>
        </p:spPr>
      </p:sp>
      <p:sp>
        <p:nvSpPr>
          <p:cNvPr id="69" name="Text 67"/>
          <p:cNvSpPr/>
          <p:nvPr/>
        </p:nvSpPr>
        <p:spPr>
          <a:xfrm>
            <a:off x="8403336" y="44439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0" name="Text 68"/>
          <p:cNvSpPr/>
          <p:nvPr/>
        </p:nvSpPr>
        <p:spPr>
          <a:xfrm>
            <a:off x="8750808" y="44348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Seeded memory for the agent</a:t>
            </a:r>
            <a:endParaRPr lang="en-US" sz="980" dirty="0"/>
          </a:p>
        </p:txBody>
      </p:sp>
      <p:sp>
        <p:nvSpPr>
          <p:cNvPr id="71" name="Shape 69"/>
          <p:cNvSpPr/>
          <p:nvPr/>
        </p:nvSpPr>
        <p:spPr>
          <a:xfrm>
            <a:off x="8403336" y="4910328"/>
            <a:ext cx="274320" cy="274320"/>
          </a:xfrm>
          <a:prstGeom prst="ellipse">
            <a:avLst/>
          </a:prstGeom>
          <a:solidFill>
            <a:srgbClr val="F3EEFE"/>
          </a:solidFill>
          <a:ln/>
        </p:spPr>
      </p:sp>
      <p:sp>
        <p:nvSpPr>
          <p:cNvPr id="72" name="Text 70"/>
          <p:cNvSpPr/>
          <p:nvPr/>
        </p:nvSpPr>
        <p:spPr>
          <a:xfrm>
            <a:off x="8403336" y="4901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3" name="Text 71"/>
          <p:cNvSpPr/>
          <p:nvPr/>
        </p:nvSpPr>
        <p:spPr>
          <a:xfrm>
            <a:off x="8750808" y="4892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Cached runs as a fallback</a:t>
            </a:r>
            <a:endParaRPr lang="en-US" sz="980" dirty="0"/>
          </a:p>
        </p:txBody>
      </p:sp>
      <p:sp>
        <p:nvSpPr>
          <p:cNvPr id="74" name="Text 72"/>
          <p:cNvSpPr/>
          <p:nvPr/>
        </p:nvSpPr>
        <p:spPr>
          <a:xfrm>
            <a:off x="8421624" y="5221224"/>
            <a:ext cx="3020263" cy="320040"/>
          </a:xfrm>
          <a:prstGeom prst="rect">
            <a:avLst/>
          </a:prstGeom>
          <a:noFill/>
          <a:ln/>
        </p:spPr>
        <p:txBody>
          <a:bodyPr wrap="square" lIns="0" tIns="0" rIns="0" bIns="0" rtlCol="0" anchor="t"/>
          <a:lstStyle/>
          <a:p>
            <a:pPr indent="0" marL="0">
              <a:buNone/>
            </a:pPr>
            <a:r>
              <a:rPr lang="en-US" sz="950" b="1" i="1" dirty="0">
                <a:solidFill>
                  <a:srgbClr val="0F1E3D"/>
                </a:solidFill>
                <a:latin typeface="Calibri" pitchFamily="34" charset="0"/>
                <a:ea typeface="Calibri" pitchFamily="34" charset="-122"/>
                <a:cs typeface="Calibri" pitchFamily="34" charset="-120"/>
              </a:rPr>
              <a:t>Short on time? Do steps 1, 3 and 6.</a:t>
            </a:r>
            <a:endParaRPr lang="en-US" sz="950" dirty="0"/>
          </a:p>
        </p:txBody>
      </p:sp>
      <p:sp>
        <p:nvSpPr>
          <p:cNvPr id="75" name="Shape 73"/>
          <p:cNvSpPr/>
          <p:nvPr/>
        </p:nvSpPr>
        <p:spPr>
          <a:xfrm>
            <a:off x="548640" y="6400800"/>
            <a:ext cx="11094415" cy="12802"/>
          </a:xfrm>
          <a:prstGeom prst="rect">
            <a:avLst/>
          </a:prstGeom>
          <a:solidFill>
            <a:srgbClr val="E4EAF2"/>
          </a:solidFill>
          <a:ln/>
        </p:spPr>
      </p:sp>
      <p:sp>
        <p:nvSpPr>
          <p:cNvPr id="76" name="Text 7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7" name="Text 7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640080"/>
            <a:ext cx="457200" cy="457200"/>
          </a:xfrm>
          <a:prstGeom prst="roundRect">
            <a:avLst>
              <a:gd name="adj" fmla="val 24000"/>
            </a:avLst>
          </a:prstGeom>
          <a:solidFill>
            <a:srgbClr val="4F46E5"/>
          </a:solidFill>
          <a:ln/>
        </p:spPr>
      </p:sp>
      <p:sp>
        <p:nvSpPr>
          <p:cNvPr id="7" name="Text 5"/>
          <p:cNvSpPr/>
          <p:nvPr/>
        </p:nvSpPr>
        <p:spPr>
          <a:xfrm>
            <a:off x="822960" y="64008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cv</a:t>
            </a:r>
            <a:endParaRPr lang="en-US" sz="1900" dirty="0"/>
          </a:p>
        </p:txBody>
      </p:sp>
      <p:sp>
        <p:nvSpPr>
          <p:cNvPr id="8" name="Text 6"/>
          <p:cNvSpPr/>
          <p:nvPr/>
        </p:nvSpPr>
        <p:spPr>
          <a:xfrm>
            <a:off x="1417320" y="658368"/>
            <a:ext cx="5486400" cy="4114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CostVision</a:t>
            </a:r>
            <a:endParaRPr lang="en-US" sz="1700" dirty="0"/>
          </a:p>
        </p:txBody>
      </p:sp>
      <p:sp>
        <p:nvSpPr>
          <p:cNvPr id="9" name="Text 7"/>
          <p:cNvSpPr/>
          <p:nvPr/>
        </p:nvSpPr>
        <p:spPr>
          <a:xfrm>
            <a:off x="822960" y="1828800"/>
            <a:ext cx="10789920" cy="1463040"/>
          </a:xfrm>
          <a:prstGeom prst="rect">
            <a:avLst/>
          </a:prstGeom>
          <a:noFill/>
          <a:ln/>
        </p:spPr>
        <p:txBody>
          <a:bodyPr wrap="square" lIns="0" tIns="0" rIns="0" bIns="0" rtlCol="0" anchor="t"/>
          <a:lstStyle/>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Any input in.</a:t>
            </a:r>
            <a:endParaRPr lang="en-US" sz="3400" dirty="0"/>
          </a:p>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defensible, self-improving should-cost out.</a:t>
            </a:r>
            <a:endParaRPr lang="en-US" sz="3400" dirty="0"/>
          </a:p>
        </p:txBody>
      </p:sp>
      <p:sp>
        <p:nvSpPr>
          <p:cNvPr id="10" name="Text 8"/>
          <p:cNvSpPr/>
          <p:nvPr/>
        </p:nvSpPr>
        <p:spPr>
          <a:xfrm>
            <a:off x="850392" y="3429000"/>
            <a:ext cx="10972800" cy="457200"/>
          </a:xfrm>
          <a:prstGeom prst="rect">
            <a:avLst/>
          </a:prstGeom>
          <a:noFill/>
          <a:ln/>
        </p:spPr>
        <p:txBody>
          <a:bodyPr wrap="square" lIns="0" tIns="0" rIns="0" bIns="0" rtlCol="0" anchor="t"/>
          <a:lstStyle/>
          <a:p>
            <a:pPr indent="0" marL="0">
              <a:buNone/>
            </a:pPr>
            <a:r>
              <a:rPr lang="en-US" sz="1600" dirty="0">
                <a:solidFill>
                  <a:srgbClr val="CFE0F5"/>
                </a:solidFill>
                <a:latin typeface="Calibri" pitchFamily="34" charset="0"/>
                <a:ea typeface="Calibri" pitchFamily="34" charset="-122"/>
                <a:cs typeface="Calibri" pitchFamily="34" charset="-120"/>
              </a:rPr>
              <a:t>Fast · explainable · self-improving · secure — and entirely ours.</a:t>
            </a:r>
            <a:endParaRPr lang="en-US" sz="1600" dirty="0"/>
          </a:p>
        </p:txBody>
      </p:sp>
      <p:sp>
        <p:nvSpPr>
          <p:cNvPr id="11" name="Text 9"/>
          <p:cNvSpPr/>
          <p:nvPr/>
        </p:nvSpPr>
        <p:spPr>
          <a:xfrm>
            <a:off x="850392" y="3840480"/>
            <a:ext cx="10058400" cy="274320"/>
          </a:xfrm>
          <a:prstGeom prst="rect">
            <a:avLst/>
          </a:prstGeom>
          <a:noFill/>
          <a:ln/>
        </p:spPr>
        <p:txBody>
          <a:bodyPr wrap="square" lIns="0" tIns="0" rIns="0" bIns="0" rtlCol="0" anchor="t"/>
          <a:lstStyle/>
          <a:p>
            <a:pPr indent="0" marL="0">
              <a:buNone/>
            </a:pPr>
            <a:r>
              <a:rPr lang="en-US" sz="1100" b="1" spc="150" kern="0" dirty="0">
                <a:solidFill>
                  <a:srgbClr val="8FB0D8"/>
                </a:solidFill>
                <a:latin typeface="Calibri" pitchFamily="34" charset="0"/>
                <a:ea typeface="Calibri" pitchFamily="34" charset="-122"/>
                <a:cs typeface="Calibri" pitchFamily="34" charset="-120"/>
              </a:rPr>
              <a:t>THE ASK — THREE SMALL DECISIONS</a:t>
            </a:r>
            <a:endParaRPr lang="en-US" sz="1100" dirty="0"/>
          </a:p>
        </p:txBody>
      </p:sp>
      <p:sp>
        <p:nvSpPr>
          <p:cNvPr id="12" name="Shape 10"/>
          <p:cNvSpPr/>
          <p:nvPr/>
        </p:nvSpPr>
        <p:spPr>
          <a:xfrm>
            <a:off x="822960" y="4206240"/>
            <a:ext cx="3383280" cy="1280160"/>
          </a:xfrm>
          <a:prstGeom prst="roundRect">
            <a:avLst>
              <a:gd name="adj" fmla="val 5714"/>
            </a:avLst>
          </a:prstGeom>
          <a:solidFill>
            <a:srgbClr val="FFFFFF">
              <a:alpha val="94000"/>
            </a:srgbClr>
          </a:solidFill>
          <a:ln/>
        </p:spPr>
      </p:sp>
      <p:sp>
        <p:nvSpPr>
          <p:cNvPr id="13" name="Shape 11"/>
          <p:cNvSpPr/>
          <p:nvPr/>
        </p:nvSpPr>
        <p:spPr>
          <a:xfrm>
            <a:off x="1097280" y="4434840"/>
            <a:ext cx="402336" cy="402336"/>
          </a:xfrm>
          <a:prstGeom prst="ellipse">
            <a:avLst/>
          </a:prstGeom>
          <a:solidFill>
            <a:srgbClr val="2E90FA"/>
          </a:solidFill>
          <a:ln/>
          <a:effectLst>
            <a:outerShdw sx="100000" sy="100000" kx="0" ky="0" algn="bl" rotWithShape="0" blurRad="9.608417496072131e+90" dist="2.8825252488216374e+90" dir="1.1845953345804043e+107">
              <a:srgbClr val="A7B6CE">
                <a:alpha val="1.800000000000001e+109"/>
              </a:srgbClr>
            </a:outerShdw>
          </a:effectLst>
        </p:spPr>
      </p:sp>
      <p:sp>
        <p:nvSpPr>
          <p:cNvPr id="14" name="Text 12"/>
          <p:cNvSpPr/>
          <p:nvPr/>
        </p:nvSpPr>
        <p:spPr>
          <a:xfrm>
            <a:off x="109728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1</a:t>
            </a:r>
            <a:endParaRPr lang="en-US" sz="1496" dirty="0"/>
          </a:p>
        </p:txBody>
      </p:sp>
      <p:sp>
        <p:nvSpPr>
          <p:cNvPr id="15" name="Text 13"/>
          <p:cNvSpPr/>
          <p:nvPr/>
        </p:nvSpPr>
        <p:spPr>
          <a:xfrm>
            <a:off x="160934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Approve a 6-week on-premise pilot</a:t>
            </a:r>
            <a:endParaRPr lang="en-US" sz="1200" dirty="0"/>
          </a:p>
        </p:txBody>
      </p:sp>
      <p:sp>
        <p:nvSpPr>
          <p:cNvPr id="16" name="Text 14"/>
          <p:cNvSpPr/>
          <p:nvPr/>
        </p:nvSpPr>
        <p:spPr>
          <a:xfrm>
            <a:off x="109728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seed it with our historic quotes</a:t>
            </a:r>
            <a:endParaRPr lang="en-US" sz="950" dirty="0"/>
          </a:p>
        </p:txBody>
      </p:sp>
      <p:sp>
        <p:nvSpPr>
          <p:cNvPr id="17" name="Shape 15"/>
          <p:cNvSpPr/>
          <p:nvPr/>
        </p:nvSpPr>
        <p:spPr>
          <a:xfrm>
            <a:off x="4434840" y="4206240"/>
            <a:ext cx="3383280" cy="1280160"/>
          </a:xfrm>
          <a:prstGeom prst="roundRect">
            <a:avLst>
              <a:gd name="adj" fmla="val 5714"/>
            </a:avLst>
          </a:prstGeom>
          <a:solidFill>
            <a:srgbClr val="FFFFFF">
              <a:alpha val="94000"/>
            </a:srgbClr>
          </a:solidFill>
          <a:ln/>
        </p:spPr>
      </p:sp>
      <p:sp>
        <p:nvSpPr>
          <p:cNvPr id="18" name="Shape 16"/>
          <p:cNvSpPr/>
          <p:nvPr/>
        </p:nvSpPr>
        <p:spPr>
          <a:xfrm>
            <a:off x="4709160" y="4434840"/>
            <a:ext cx="402336" cy="402336"/>
          </a:xfrm>
          <a:prstGeom prst="ellipse">
            <a:avLst/>
          </a:prstGeom>
          <a:solidFill>
            <a:srgbClr val="2E90FA"/>
          </a:solidFill>
          <a:ln/>
          <a:effectLst>
            <a:outerShdw sx="100000" sy="100000" kx="0" ky="0" algn="bl" rotWithShape="0" blurRad="1.2202690220011606e+95" dist="3.6608070660034796e+94" dir="7.107572007482426e+111">
              <a:srgbClr val="A7B6CE">
                <a:alpha val="1.800000000000001e+114"/>
              </a:srgbClr>
            </a:outerShdw>
          </a:effectLst>
        </p:spPr>
      </p:sp>
      <p:sp>
        <p:nvSpPr>
          <p:cNvPr id="19" name="Text 17"/>
          <p:cNvSpPr/>
          <p:nvPr/>
        </p:nvSpPr>
        <p:spPr>
          <a:xfrm>
            <a:off x="470916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2</a:t>
            </a:r>
            <a:endParaRPr lang="en-US" sz="1496" dirty="0"/>
          </a:p>
        </p:txBody>
      </p:sp>
      <p:sp>
        <p:nvSpPr>
          <p:cNvPr id="20" name="Text 18"/>
          <p:cNvSpPr/>
          <p:nvPr/>
        </p:nvSpPr>
        <p:spPr>
          <a:xfrm>
            <a:off x="522122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Pick a first part family</a:t>
            </a:r>
            <a:endParaRPr lang="en-US" sz="1200" dirty="0"/>
          </a:p>
        </p:txBody>
      </p:sp>
      <p:sp>
        <p:nvSpPr>
          <p:cNvPr id="21" name="Text 19"/>
          <p:cNvSpPr/>
          <p:nvPr/>
        </p:nvSpPr>
        <p:spPr>
          <a:xfrm>
            <a:off x="470916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a CAD part, a board, or a live RFQ</a:t>
            </a:r>
            <a:endParaRPr lang="en-US" sz="950" dirty="0"/>
          </a:p>
        </p:txBody>
      </p:sp>
      <p:sp>
        <p:nvSpPr>
          <p:cNvPr id="22" name="Shape 20"/>
          <p:cNvSpPr/>
          <p:nvPr/>
        </p:nvSpPr>
        <p:spPr>
          <a:xfrm>
            <a:off x="8046720" y="4206240"/>
            <a:ext cx="3383280" cy="1280160"/>
          </a:xfrm>
          <a:prstGeom prst="roundRect">
            <a:avLst>
              <a:gd name="adj" fmla="val 5714"/>
            </a:avLst>
          </a:prstGeom>
          <a:solidFill>
            <a:srgbClr val="FFFFFF">
              <a:alpha val="94000"/>
            </a:srgbClr>
          </a:solidFill>
          <a:ln/>
        </p:spPr>
      </p:sp>
      <p:sp>
        <p:nvSpPr>
          <p:cNvPr id="23" name="Shape 21"/>
          <p:cNvSpPr/>
          <p:nvPr/>
        </p:nvSpPr>
        <p:spPr>
          <a:xfrm>
            <a:off x="8321040" y="4434840"/>
            <a:ext cx="402336" cy="402336"/>
          </a:xfrm>
          <a:prstGeom prst="ellipse">
            <a:avLst/>
          </a:prstGeom>
          <a:solidFill>
            <a:srgbClr val="2E90FA"/>
          </a:solidFill>
          <a:ln/>
          <a:effectLst>
            <a:outerShdw sx="100000" sy="100000" kx="0" ky="0" algn="bl" rotWithShape="0" blurRad="1.549741657941474e+99" dist="4.649224973824419e+98" dir="4.2645432044894554e+116">
              <a:srgbClr val="A7B6CE">
                <a:alpha val="1.800000000000001e+119"/>
              </a:srgbClr>
            </a:outerShdw>
          </a:effectLst>
        </p:spPr>
      </p:sp>
      <p:sp>
        <p:nvSpPr>
          <p:cNvPr id="24" name="Text 22"/>
          <p:cNvSpPr/>
          <p:nvPr/>
        </p:nvSpPr>
        <p:spPr>
          <a:xfrm>
            <a:off x="832104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3</a:t>
            </a:r>
            <a:endParaRPr lang="en-US" sz="1496" dirty="0"/>
          </a:p>
        </p:txBody>
      </p:sp>
      <p:sp>
        <p:nvSpPr>
          <p:cNvPr id="25" name="Text 23"/>
          <p:cNvSpPr/>
          <p:nvPr/>
        </p:nvSpPr>
        <p:spPr>
          <a:xfrm>
            <a:off x="883310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Put agent findings on the agenda</a:t>
            </a:r>
            <a:endParaRPr lang="en-US" sz="1200" dirty="0"/>
          </a:p>
        </p:txBody>
      </p:sp>
      <p:sp>
        <p:nvSpPr>
          <p:cNvPr id="26" name="Text 24"/>
          <p:cNvSpPr/>
          <p:nvPr/>
        </p:nvSpPr>
        <p:spPr>
          <a:xfrm>
            <a:off x="832104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it is already finding money</a:t>
            </a:r>
            <a:endParaRPr lang="en-US" sz="950" dirty="0"/>
          </a:p>
        </p:txBody>
      </p:sp>
      <p:sp>
        <p:nvSpPr>
          <p:cNvPr id="27" name="Text 25"/>
          <p:cNvSpPr/>
          <p:nvPr/>
        </p:nvSpPr>
        <p:spPr>
          <a:xfrm>
            <a:off x="850392" y="5989320"/>
            <a:ext cx="10972800" cy="365760"/>
          </a:xfrm>
          <a:prstGeom prst="rect">
            <a:avLst/>
          </a:prstGeom>
          <a:noFill/>
          <a:ln/>
        </p:spPr>
        <p:txBody>
          <a:bodyPr wrap="square" lIns="0" tIns="0" rIns="0" bIns="0" rtlCol="0" anchor="t"/>
          <a:lstStyle/>
          <a:p>
            <a:pPr indent="0" marL="0">
              <a:buNone/>
            </a:pPr>
            <a:r>
              <a:rPr lang="en-US" sz="1200" dirty="0">
                <a:solidFill>
                  <a:srgbClr val="8FA6C6"/>
                </a:solidFill>
                <a:latin typeface="Calibri" pitchFamily="34" charset="0"/>
                <a:ea typeface="Calibri" pitchFamily="34" charset="-122"/>
                <a:cs typeface="Calibri" pitchFamily="34" charset="-120"/>
              </a:rPr>
              <a:t>Thank you  ·  happy to take questions, or run the live system now</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CostVision — AI Cost Intelligence Platform</dc:title>
  <dc:subject>PptxGenJS Presentation</dc:subject>
  <dc:creator>CostVision</dc:creator>
  <cp:lastModifiedBy>CostVision</cp:lastModifiedBy>
  <cp:revision>1</cp:revision>
  <dcterms:created xsi:type="dcterms:W3CDTF">2026-07-20T11:59:27Z</dcterms:created>
  <dcterms:modified xsi:type="dcterms:W3CDTF">2026-07-20T11:59:27Z</dcterms:modified>
</cp:coreProperties>
</file>