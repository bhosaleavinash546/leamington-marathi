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4.91</c:v>
                </c:pt>
                <c:pt idx="1">
                  <c:v>4.93</c:v>
                </c:pt>
                <c:pt idx="2">
                  <c:v>5.1</c:v>
                </c:pt>
                <c:pt idx="3">
                  <c:v>5.32</c:v>
                </c:pt>
                <c:pt idx="4">
                  <c:v>5.64</c:v>
                </c:pt>
                <c:pt idx="5">
                  <c:v>6.19</c:v>
                </c:pt>
                <c:pt idx="6">
                  <c:v>6.36</c:v>
                </c:pt>
                <c:pt idx="7">
                  <c:v>6.75</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Sheet1!$A$2:$A$7</c:f>
              <c:multiLvlStrCache>
                <c:ptCount val="6"/>
                <c:lvl>
                  <c:pt idx="0">
                    <c:v>Frontend / UI</c:v>
                  </c:pt>
                  <c:pt idx="1">
                    <c:v>Cost engines</c:v>
                  </c:pt>
                  <c:pt idx="2">
                    <c:v>Backend API</c:v>
                  </c:pt>
                  <c:pt idx="3">
                    <c:v>Tests</c:v>
                  </c:pt>
                  <c:pt idx="4">
                    <c:v>Styling</c:v>
                  </c:pt>
                  <c:pt idx="5">
                    <c:v>CAD engine (Py)</c:v>
                  </c:pt>
                </c:lvl>
              </c:multiLvlStrCache>
            </c:multiLvlStrRef>
          </c:cat>
          <c:val>
            <c:numRef>
              <c:f>Sheet1!$B$2:$B$7</c:f>
              <c:numCache>
                <c:formatCode>General</c:formatCode>
                <c:ptCount val="6"/>
                <c:pt idx="0">
                  <c:v>28.1</c:v>
                </c:pt>
                <c:pt idx="1">
                  <c:v>16</c:v>
                </c:pt>
                <c:pt idx="2">
                  <c:v>13</c:v>
                </c:pt>
                <c:pt idx="3">
                  <c:v>9.7</c:v>
                </c:pt>
                <c:pt idx="4">
                  <c:v>6.5</c:v>
                </c:pt>
                <c:pt idx="5">
                  <c:v>1.2</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we're about to see is CostVision — our own AI cost-intelligence platform. Here's the one-line framing for today: we already do rigorous should-costing across every commodity — CostVision takes that same trusted method and automates the manual work with AI. Instead of selecting every input and keying geometry off the CAD and drawings by hand, it reads the model, suggests material and process for us to confirm, and returns a defensible, auditable should-cost in minutes. And unlike a static tool, it learns from every real quote. Today I'll walk the whole platform, go deep on CAD-to-Cost — where the automation is most visible — show the AI under the hood, and finish with how we'd roll it out alongside what we have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here's the entire story on one page — if we only take away this slide, we'll have the gist. Keep the framing in mind: this is our proven should-cost method, automated and made intelligent. Five numbers up top: it costs a part in minutes, not the hours of manual setup we spend today; it carries nineteen commodity engines and twenty real-rate regions; in a live test it landed within about five percent of a hand-built estimate; and the autonomous agent found half a million pounds a year with nobody at the keyboard. Underneath: what it is — one platform that reads any input, prices it globally, hands us the negotiation, and learns as it goes. The four boxes are the four jobs it does. And the bottom line for this room: faster quotes, better margins, one consistent number, and an intelligence asset that's ours and compounds. Everything after this is detail and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lay out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we select the material, the process, the machine, and we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us, it suggests the material and process with a confidence score we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us all to remember the shape: four columns, left to right. On the left, inputs — and notice how forgiving they are: a CAD model, a photo, a sentence, an RFQ, whatever we have. Next, the AI layer: it reads and understands that input — the vision models, the reasoning, the memory. Then the crucial column — deterministic engines. This is where the money maths happens, and there is no AI in it. Nineteen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nineteen commodity engines. It UNDERSTANDS: the 3D viewer with B-rep intelligence, the feature table, the assistant that answers from our own data. It helps us DECIDE and NEGOTIATE: should-cost across twenty regions, what-if scenarios, and a coach that hands us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us.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we can override. Fourth, a deterministic engine prices it and explains the number with a confidence band and design-for-manufacture guidance. And note the bottom line — a 3D model alone is enough to get a defensible number, and if we attach the 2D drawing it reads the tolerances and GD&amp;T to sharpen the estimate further. The more we give it, the tighter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We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us to remember — a sanity check compares every AI-suggested number against the measured geometry. Finally we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we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we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and I'll be straight — we don't quote a single headline 'X percent accurate on CAD' number, because honestly that depends on our parts and our rates, and we'd rather prove it on 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we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regions, and it even infers the ISO 26262 safety class. There's a full deep-dive deck on just this feature if we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Casting in all its forms including high-pressure die-casting, machining, forging, sheet-metal stamping and fabrication, the full moulding family — injection, blow, thermoforming, rotational — rubber, composites, extrusion, wiring harness, PCB and PCBA, painting, and body-in-white assembly. The important point is the one on the bottom bar: there's a single, consistent method underneath all of them — the same eight-bucket cost stack, material through margin, with feature-based machining on top — so every commodity is costed the same auditable way. And then the same part prices across twenty regions, which is exactly where we're going next. This is what turns a costing tool into a portfolio and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we actually have to give it, bottom-left: the part once, the regions we care about, and a volume. Everything on the bottom-right is what the model factors in for us, per region — and on the next slide we'll see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we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anyone who says ‘our rates aren’t our rates.’ They don’t have to be. We can upload our own cost-rate database as one Excel workbook, and from that moment every costing runs on our numbers. Six categories, one tab each: materials with price per kilo and scrap recovery; the full machine-rate build-up that computes an hourly rate; fully-loaded labour by region and skill; energy; FX; and overhead and margin by commodity and tier. Who can do it? It’s admin-gated — an administrator uploads and can switch between our company rates and our built-in defaults, or reset; everyone else simply costs on whatever’s active, and a badge tells them which. The template is quick: download, fill, upload — and the server checks every row and rejects bad cells with a clear error, so we can’t silently corrupt the library. Every row is dated and carries a confidence flag. And updating is a single click: load a new dated rate set, activate it, and the whole portfolio re-prices — no re-keying. It’s versioned, so we can keep this-year versus last-year and see if an old scenario was costed on stale rates. Bottom line: our rates, validated, versioned and auditable, used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make it concrete with a real part, priced by the real engine — a simple one-point-two kilo aluminium die-casting, ADC12, two cavities on an eight-hundred-tonne machine. Left chart, the UK cost stack: the total is six pounds ninety-six, and look — material is sixty-three percent of it. That tells a sourcing team instantly that this part is a material game, not a labour game. Right chart, the same part ex-works across regions: China at four-ninety-one is about twenty-three percent under the UK. But here's the sophistication our buyers will love — landed, once we add logistics and duty, that narrows to about twelve percent. The tool shows us both, so we don't chase a saving that shipping eats. And now the bit that fixes a real pain: we don't rebuild these should-costs by hand when our rates change. Material factors, labour, energy and overhead all live in one versioned rate library. Upload an updated, dated rate set once, and every part re-prices in a click. No more stale spreadsheets, no re-keying — the numbers reflect the latest rates we've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us a negotiation pack. The stats are illustrative but real in shape: quotes typically run about fifteen percent over should-cost, and on one part family that was ninety-one thousand pounds a year, with the single biggest lever — raw material — worth thirty-seven thousand. The pack gives us the gap table, the driver decomposition, the levers ranked by pounds, the exact questions to ask, and a one-click export. We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we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our real quotes landed within plus-or-minus six-and-a-half percent. That's evidence a buyer can defend. The causal coach knows WHY a part costs what it does and writes the negotiating sentence for us — every one percent move in aluminium shifts the price by eleven pence. The what-if engine lets us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nine hundred and forty-four automated tests, exercised on the live system. The through-line of the entire platform is on that green bar: AI does the understanding, deterministic maths does the money, every number is traceable and tested. That's what lets us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answered ‘can I trust the number today.’ This one answers the harder question a board should ask: ‘will it still be trustworthy after six months of changes.’ The answer is yes, because trust is wired into the build itself. Four guardrails. One — our golden rule, that AI never sets a price, is no longer just a principle we promise; it’s a machine check. If anyone ever wires an AI dependency into the deterministic cost engine, the build fails automatically. It can’t be bypassed. Two — accuracy is measured on every build: the CAD feature detection is scored against hand-verified reference parts, and a minimum-accuracy gate stops a regression from shipping; it even surfaced a real edge case on day one. Three — every change is guarded by nine hundred and forty-four automated tests plus visual screenshots of the key screens, so a broken layout or a logic slip fails here, not in front of a customer. Four — every result carries a confidence band, P10 to P90, so we’re always honest about the range. The bottom line for this room: the number is defensible by construction, and it stays defensible as the tool grows — quality is enforced on every commit, not reviewed 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a moment on the effort behind this, because it speaks to how seriously we should take it as an asset. This is not a prototype, and it is emphatically not a thin wrapper around a chatbot. It's about seventy-five thousand lines of custom code — of which roughly fifty-eight thousand is core product logic — backed by nine hundred and forty-four automated tests across eighty-one suites. I'll be transparent about how it was built, because it's actually part of the story: it was engineered in-house and accelerated with AI-assisted development — which is fitting, given what the tool itself does. The design, the domain knowledge, the cost models and the validation are ours; AI helped us build it faster. The chart shows where the code lives: a large front-end and 3D viewer, a sixteen-thousand-line deterministic cost engine that is the real IP — the auditable money maths for nineteen commodities and twenty regions — a full backend API, and a genuine Python geometry kernel running OCCT that reads STEP, IGES and STL files. Five languages and runtimes working as one integrated system. Two takeaways. First, the quality is engineered in — nearly ten thousand lines of tests mean it doesn't silently regress. Second, the strategic point: this depth of engineering, and the cost knowledge baked into it, is precisely why the intelligence is a durable, proprietary asset we own — not a subscription someone else can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and notice they're all about doing what we already do, better and faster. Speed: the hours of manual setup per part collapse into minutes, so the first defensible number is on the table while the meeting is still happening — and our engineers are freed from data entry to spend time on judgement. Margin: line-level should-cost lets us challenge every quote by driver — and the agent alone surfaced around half a million pounds a year in a demo, unattended. Consistency and speed-to-competence: one answer for everyone, and a junior costs like a senior from day one because the method and the memory are shared. And the strategic one — a compounding asset: this becomes proprietary costing intelligence on our own servers. It grows with use, and a competitor can buy software but never our accumulated data. Net: faster quotes, better margins, consistent numbers, and our experts focused on decisions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and precisely. CostVision runs on-premise: the knowledge base and every analysis are stored on our own servers, and no vendor ever retains our data. Let me be exact about what does leave the building, because someone will ask: the only thing that goes out is the AI inference request itself — the prompt for a given analysis — and it goes through our own server to the model endpoint, where it is not retained. For the most sensitive programmes we can route that privately or run fully air-gapped, and then nothing leaves at all — the deterministic core still works. The key lives server-side; the browser never sees it. Every number carries provenance and is logged, so it's auditable. And critically, the accumulated intelligence is OUR IP — it doesn't walk out with a subscription. Our data, our infrastructure, our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we see it's reading real geometry, then hit Calculate — the should-cost and confidence band come back in under a minute. Then I'll attach a 2D drawing and re-run, so we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we're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pic>
        <p:nvPicPr>
          <p:cNvPr id="6" name="Image 0" descr="/tmp/claude-0/-home-user-leamington-marathi/8bf32d1a-7485-5bd6-9947-7843ee6c5644/scratchpad/art/hero.png">    </p:cNvPr>
          <p:cNvPicPr>
            <a:picLocks noChangeAspect="1"/>
          </p:cNvPicPr>
          <p:nvPr/>
        </p:nvPicPr>
        <p:blipFill>
          <a:blip r:embed="rId1"/>
          <a:stretch>
            <a:fillRect/>
          </a:stretch>
        </p:blipFill>
        <p:spPr>
          <a:xfrm>
            <a:off x="8458200" y="502920"/>
            <a:ext cx="3291840" cy="3584448"/>
          </a:xfrm>
          <a:prstGeom prst="rect">
            <a:avLst/>
          </a:prstGeom>
        </p:spPr>
      </p:pic>
      <p:sp>
        <p:nvSpPr>
          <p:cNvPr id="7" name="Shape 4"/>
          <p:cNvSpPr/>
          <p:nvPr/>
        </p:nvSpPr>
        <p:spPr>
          <a:xfrm>
            <a:off x="822960" y="731520"/>
            <a:ext cx="566928" cy="566928"/>
          </a:xfrm>
          <a:prstGeom prst="roundRect">
            <a:avLst>
              <a:gd name="adj" fmla="val 22581"/>
            </a:avLst>
          </a:prstGeom>
          <a:solidFill>
            <a:srgbClr val="4F46E5"/>
          </a:solidFill>
          <a:ln/>
        </p:spPr>
      </p:sp>
      <p:sp>
        <p:nvSpPr>
          <p:cNvPr id="8" name="Text 5"/>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9" name="Text 6"/>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10" name="Text 7"/>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1" name="Text 8"/>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2" name="Text 9"/>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3" name="Text 10"/>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4" name="Shape 11"/>
          <p:cNvSpPr/>
          <p:nvPr/>
        </p:nvSpPr>
        <p:spPr>
          <a:xfrm>
            <a:off x="822960" y="5029200"/>
            <a:ext cx="2542032" cy="457200"/>
          </a:xfrm>
          <a:prstGeom prst="roundRect">
            <a:avLst>
              <a:gd name="adj" fmla="val 50000"/>
            </a:avLst>
          </a:prstGeom>
          <a:solidFill>
            <a:srgbClr val="FFFFFF">
              <a:alpha val="92000"/>
            </a:srgbClr>
          </a:solidFill>
          <a:ln/>
        </p:spPr>
      </p:sp>
      <p:sp>
        <p:nvSpPr>
          <p:cNvPr id="15" name="Shape 12"/>
          <p:cNvSpPr/>
          <p:nvPr/>
        </p:nvSpPr>
        <p:spPr>
          <a:xfrm>
            <a:off x="1024128" y="5166360"/>
            <a:ext cx="182880" cy="182880"/>
          </a:xfrm>
          <a:prstGeom prst="ellipse">
            <a:avLst/>
          </a:prstGeom>
          <a:solidFill>
            <a:srgbClr val="2E90FA"/>
          </a:solidFill>
          <a:ln/>
        </p:spPr>
      </p:sp>
      <p:sp>
        <p:nvSpPr>
          <p:cNvPr id="16" name="Text 13"/>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7" name="Shape 14"/>
          <p:cNvSpPr/>
          <p:nvPr/>
        </p:nvSpPr>
        <p:spPr>
          <a:xfrm>
            <a:off x="3566160" y="5029200"/>
            <a:ext cx="2542032" cy="457200"/>
          </a:xfrm>
          <a:prstGeom prst="roundRect">
            <a:avLst>
              <a:gd name="adj" fmla="val 50000"/>
            </a:avLst>
          </a:prstGeom>
          <a:solidFill>
            <a:srgbClr val="FFFFFF">
              <a:alpha val="92000"/>
            </a:srgbClr>
          </a:solidFill>
          <a:ln/>
        </p:spPr>
      </p:sp>
      <p:sp>
        <p:nvSpPr>
          <p:cNvPr id="18" name="Shape 15"/>
          <p:cNvSpPr/>
          <p:nvPr/>
        </p:nvSpPr>
        <p:spPr>
          <a:xfrm>
            <a:off x="3767328" y="5166360"/>
            <a:ext cx="182880" cy="182880"/>
          </a:xfrm>
          <a:prstGeom prst="ellipse">
            <a:avLst/>
          </a:prstGeom>
          <a:solidFill>
            <a:srgbClr val="0E93B0"/>
          </a:solidFill>
          <a:ln/>
        </p:spPr>
      </p:sp>
      <p:sp>
        <p:nvSpPr>
          <p:cNvPr id="19" name="Text 16"/>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20" name="Shape 17"/>
          <p:cNvSpPr/>
          <p:nvPr/>
        </p:nvSpPr>
        <p:spPr>
          <a:xfrm>
            <a:off x="6309360" y="5029200"/>
            <a:ext cx="2542032" cy="457200"/>
          </a:xfrm>
          <a:prstGeom prst="roundRect">
            <a:avLst>
              <a:gd name="adj" fmla="val 50000"/>
            </a:avLst>
          </a:prstGeom>
          <a:solidFill>
            <a:srgbClr val="FFFFFF">
              <a:alpha val="92000"/>
            </a:srgbClr>
          </a:solidFill>
          <a:ln/>
        </p:spPr>
      </p:sp>
      <p:sp>
        <p:nvSpPr>
          <p:cNvPr id="21" name="Shape 18"/>
          <p:cNvSpPr/>
          <p:nvPr/>
        </p:nvSpPr>
        <p:spPr>
          <a:xfrm>
            <a:off x="6510528" y="5166360"/>
            <a:ext cx="182880" cy="182880"/>
          </a:xfrm>
          <a:prstGeom prst="ellipse">
            <a:avLst/>
          </a:prstGeom>
          <a:solidFill>
            <a:srgbClr val="E0900C"/>
          </a:solidFill>
          <a:ln/>
        </p:spPr>
      </p:sp>
      <p:sp>
        <p:nvSpPr>
          <p:cNvPr id="22" name="Text 19"/>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3" name="Shape 20"/>
          <p:cNvSpPr/>
          <p:nvPr/>
        </p:nvSpPr>
        <p:spPr>
          <a:xfrm>
            <a:off x="9052560" y="5029200"/>
            <a:ext cx="2542032" cy="457200"/>
          </a:xfrm>
          <a:prstGeom prst="roundRect">
            <a:avLst>
              <a:gd name="adj" fmla="val 50000"/>
            </a:avLst>
          </a:prstGeom>
          <a:solidFill>
            <a:srgbClr val="FFFFFF">
              <a:alpha val="92000"/>
            </a:srgbClr>
          </a:solidFill>
          <a:ln/>
        </p:spPr>
      </p:sp>
      <p:sp>
        <p:nvSpPr>
          <p:cNvPr id="24" name="Shape 21"/>
          <p:cNvSpPr/>
          <p:nvPr/>
        </p:nvSpPr>
        <p:spPr>
          <a:xfrm>
            <a:off x="9253728" y="5166360"/>
            <a:ext cx="182880" cy="182880"/>
          </a:xfrm>
          <a:prstGeom prst="ellipse">
            <a:avLst/>
          </a:prstGeom>
          <a:solidFill>
            <a:srgbClr val="0EA472"/>
          </a:solidFill>
          <a:ln/>
        </p:spPr>
      </p:sp>
      <p:sp>
        <p:nvSpPr>
          <p:cNvPr id="25" name="Text 22"/>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6" name="Text 23"/>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July 2026   ·   Key figures verified from live runs; illustrative values marked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371600"/>
          </a:xfrm>
          <a:prstGeom prst="rect">
            <a:avLst/>
          </a:prstGeom>
          <a:solidFill>
            <a:srgbClr val="2563EB"/>
          </a:solidFill>
          <a:ln/>
        </p:spPr>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Minutes</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not weeks — to a defensible cost</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5" name="Shape 13"/>
          <p:cNvSpPr/>
          <p:nvPr/>
        </p:nvSpPr>
        <p:spPr>
          <a:xfrm>
            <a:off x="2724912" y="1600200"/>
            <a:ext cx="82296" cy="1371600"/>
          </a:xfrm>
          <a:prstGeom prst="rect">
            <a:avLst/>
          </a:prstGeom>
          <a:solidFill>
            <a:srgbClr val="E0900C"/>
          </a:solidFill>
          <a:ln/>
        </p:spPr>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commodity cost engines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19" name="Shape 17"/>
          <p:cNvSpPr/>
          <p:nvPr/>
        </p:nvSpPr>
        <p:spPr>
          <a:xfrm>
            <a:off x="4901184" y="1600200"/>
            <a:ext cx="82296" cy="1371600"/>
          </a:xfrm>
          <a:prstGeom prst="rect">
            <a:avLst/>
          </a:prstGeom>
          <a:solidFill>
            <a:srgbClr val="0DA5A0"/>
          </a:solidFill>
          <a:ln/>
        </p:spPr>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23" name="Shape 21"/>
          <p:cNvSpPr/>
          <p:nvPr/>
        </p:nvSpPr>
        <p:spPr>
          <a:xfrm>
            <a:off x="7077456" y="1600200"/>
            <a:ext cx="82296" cy="1371600"/>
          </a:xfrm>
          <a:prstGeom prst="rect">
            <a:avLst/>
          </a:prstGeom>
          <a:solidFill>
            <a:srgbClr val="0EA472"/>
          </a:solidFill>
          <a:ln/>
        </p:spPr>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~5%</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vs manual on the live PCB example</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27" name="Shape 25"/>
          <p:cNvSpPr/>
          <p:nvPr/>
        </p:nvSpPr>
        <p:spPr>
          <a:xfrm>
            <a:off x="9253728" y="1600200"/>
            <a:ext cx="82296" cy="1371600"/>
          </a:xfrm>
          <a:prstGeom prst="rect">
            <a:avLst/>
          </a:prstGeom>
          <a:solidFill>
            <a:srgbClr val="E5484D"/>
          </a:solidFill>
          <a:ln/>
        </p:spPr>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£512k/yr</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found by the agent (demo, unattended)</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sp>
      <p:sp>
        <p:nvSpPr>
          <p:cNvPr id="31" name="Shape 29"/>
          <p:cNvSpPr/>
          <p:nvPr/>
        </p:nvSpPr>
        <p:spPr>
          <a:xfrm>
            <a:off x="548640" y="3200400"/>
            <a:ext cx="82296" cy="868680"/>
          </a:xfrm>
          <a:prstGeom prst="rect">
            <a:avLst/>
          </a:prstGeom>
          <a:solidFill>
            <a:srgbClr val="4F46E5"/>
          </a:solidFill>
          <a:ln/>
        </p:spPr>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AI platform that turns any engineering input — a CAD model, a board photo, a description — into a defensible, auditable should-cost in minutes, prices it across 20 regions, hands us the negotiation, and learns from every real quote. AI understands the input; deterministic maths sets every price.</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34" name="Shape 32"/>
          <p:cNvSpPr/>
          <p:nvPr/>
        </p:nvSpPr>
        <p:spPr>
          <a:xfrm>
            <a:off x="548640" y="4297680"/>
            <a:ext cx="82296" cy="1280160"/>
          </a:xfrm>
          <a:prstGeom prst="rect">
            <a:avLst/>
          </a:prstGeom>
          <a:solidFill>
            <a:srgbClr val="2563EB"/>
          </a:solidFill>
          <a:ln/>
        </p:spPr>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engines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8" name="Shape 36"/>
          <p:cNvSpPr/>
          <p:nvPr/>
        </p:nvSpPr>
        <p:spPr>
          <a:xfrm>
            <a:off x="3319272" y="4297680"/>
            <a:ext cx="82296" cy="1280160"/>
          </a:xfrm>
          <a:prstGeom prst="rect">
            <a:avLst/>
          </a:prstGeom>
          <a:solidFill>
            <a:srgbClr val="7C3AED"/>
          </a:solidFill>
          <a:ln/>
        </p:spPr>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 B-rep · assistant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42" name="Shape 40"/>
          <p:cNvSpPr/>
          <p:nvPr/>
        </p:nvSpPr>
        <p:spPr>
          <a:xfrm>
            <a:off x="6089904" y="4297680"/>
            <a:ext cx="82296" cy="1280160"/>
          </a:xfrm>
          <a:prstGeom prst="rect">
            <a:avLst/>
          </a:prstGeom>
          <a:solidFill>
            <a:srgbClr val="0DA5A0"/>
          </a:solidFill>
          <a:ln/>
        </p:spPr>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teardown · 20-region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46" name="Shape 44"/>
          <p:cNvSpPr/>
          <p:nvPr/>
        </p:nvSpPr>
        <p:spPr>
          <a:xfrm>
            <a:off x="8860536" y="4297680"/>
            <a:ext cx="82296" cy="1280160"/>
          </a:xfrm>
          <a:prstGeom prst="rect">
            <a:avLst/>
          </a:prstGeom>
          <a:solidFill>
            <a:srgbClr val="0EA472"/>
          </a:solidFill>
          <a:ln/>
        </p:spPr>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agentic · glass-box · on-prem</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faster quotes, better margins, one consistent number — and a proprietary cost-intelligence asset that compounds, on our own infrastructure.</a:t>
            </a:r>
            <a:endParaRPr lang="en-US" sz="115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we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we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versioned rate library</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upload updated rates once — every part re-prices in a click</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we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we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we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optional 2D drawing</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we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we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we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commodity engines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Purpose-built, bottom-up models for the whole part portfolio — not one generic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sp>
      <p:sp>
        <p:nvSpPr>
          <p:cNvPr id="12" name="Shape 10"/>
          <p:cNvSpPr/>
          <p:nvPr/>
        </p:nvSpPr>
        <p:spPr>
          <a:xfrm>
            <a:off x="768096" y="2066544"/>
            <a:ext cx="128016" cy="128016"/>
          </a:xfrm>
          <a:prstGeom prst="ellipse">
            <a:avLst/>
          </a:prstGeom>
          <a:solidFill>
            <a:srgbClr val="2563EB"/>
          </a:solidFill>
          <a:ln/>
        </p:spPr>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sand / gravity / investment</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sp>
      <p:sp>
        <p:nvSpPr>
          <p:cNvPr id="15" name="Shape 13"/>
          <p:cNvSpPr/>
          <p:nvPr/>
        </p:nvSpPr>
        <p:spPr>
          <a:xfrm>
            <a:off x="4544568" y="2066544"/>
            <a:ext cx="128016" cy="128016"/>
          </a:xfrm>
          <a:prstGeom prst="ellipse">
            <a:avLst/>
          </a:prstGeom>
          <a:solidFill>
            <a:srgbClr val="0E93B0"/>
          </a:solidFill>
          <a:ln/>
        </p:spPr>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HPDC die-casting</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sp>
      <p:sp>
        <p:nvSpPr>
          <p:cNvPr id="18" name="Shape 16"/>
          <p:cNvSpPr/>
          <p:nvPr/>
        </p:nvSpPr>
        <p:spPr>
          <a:xfrm>
            <a:off x="8321040" y="2066544"/>
            <a:ext cx="128016" cy="128016"/>
          </a:xfrm>
          <a:prstGeom prst="ellipse">
            <a:avLst/>
          </a:prstGeom>
          <a:solidFill>
            <a:srgbClr val="0DA5A0"/>
          </a:solidFill>
          <a:ln/>
        </p:spPr>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CNC machining</a:t>
            </a:r>
            <a:endParaRPr lang="en-US" sz="1050" dirty="0"/>
          </a:p>
        </p:txBody>
      </p:sp>
      <p:sp>
        <p:nvSpPr>
          <p:cNvPr id="20" name="Shape 18"/>
          <p:cNvSpPr/>
          <p:nvPr/>
        </p:nvSpPr>
        <p:spPr>
          <a:xfrm>
            <a:off x="548640" y="2514600"/>
            <a:ext cx="3520440" cy="502920"/>
          </a:xfrm>
          <a:prstGeom prst="roundRect">
            <a:avLst>
              <a:gd name="adj" fmla="val 14545"/>
            </a:avLst>
          </a:prstGeom>
          <a:solidFill>
            <a:srgbClr val="EAF1FE"/>
          </a:solidFill>
          <a:ln w="9525">
            <a:solidFill>
              <a:srgbClr val="E4EAF2"/>
            </a:solidFill>
            <a:prstDash val="solid"/>
          </a:ln>
        </p:spPr>
      </p:sp>
      <p:sp>
        <p:nvSpPr>
          <p:cNvPr id="21" name="Shape 19"/>
          <p:cNvSpPr/>
          <p:nvPr/>
        </p:nvSpPr>
        <p:spPr>
          <a:xfrm>
            <a:off x="768096" y="2706624"/>
            <a:ext cx="128016" cy="128016"/>
          </a:xfrm>
          <a:prstGeom prst="ellipse">
            <a:avLst/>
          </a:prstGeom>
          <a:solidFill>
            <a:srgbClr val="4F46E5"/>
          </a:solidFill>
          <a:ln/>
        </p:spPr>
      </p:sp>
      <p:sp>
        <p:nvSpPr>
          <p:cNvPr id="22" name="Text 20"/>
          <p:cNvSpPr/>
          <p:nvPr/>
        </p:nvSpPr>
        <p:spPr>
          <a:xfrm>
            <a:off x="1005840"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4325112" y="2514600"/>
            <a:ext cx="3520440" cy="502920"/>
          </a:xfrm>
          <a:prstGeom prst="roundRect">
            <a:avLst>
              <a:gd name="adj" fmla="val 14545"/>
            </a:avLst>
          </a:prstGeom>
          <a:solidFill>
            <a:srgbClr val="F4F7FB"/>
          </a:solidFill>
          <a:ln w="9525">
            <a:solidFill>
              <a:srgbClr val="E4EAF2"/>
            </a:solidFill>
            <a:prstDash val="solid"/>
          </a:ln>
        </p:spPr>
      </p:sp>
      <p:sp>
        <p:nvSpPr>
          <p:cNvPr id="24" name="Shape 22"/>
          <p:cNvSpPr/>
          <p:nvPr/>
        </p:nvSpPr>
        <p:spPr>
          <a:xfrm>
            <a:off x="4544568" y="2706624"/>
            <a:ext cx="128016" cy="128016"/>
          </a:xfrm>
          <a:prstGeom prst="ellipse">
            <a:avLst/>
          </a:prstGeom>
          <a:solidFill>
            <a:srgbClr val="2E90FA"/>
          </a:solidFill>
          <a:ln/>
        </p:spPr>
      </p:sp>
      <p:sp>
        <p:nvSpPr>
          <p:cNvPr id="25" name="Text 23"/>
          <p:cNvSpPr/>
          <p:nvPr/>
        </p:nvSpPr>
        <p:spPr>
          <a:xfrm>
            <a:off x="4782312"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stamping</a:t>
            </a:r>
            <a:endParaRPr lang="en-US" sz="1050" dirty="0"/>
          </a:p>
        </p:txBody>
      </p:sp>
      <p:sp>
        <p:nvSpPr>
          <p:cNvPr id="26" name="Shape 24"/>
          <p:cNvSpPr/>
          <p:nvPr/>
        </p:nvSpPr>
        <p:spPr>
          <a:xfrm>
            <a:off x="8101584" y="2514600"/>
            <a:ext cx="3520440" cy="502920"/>
          </a:xfrm>
          <a:prstGeom prst="roundRect">
            <a:avLst>
              <a:gd name="adj" fmla="val 14545"/>
            </a:avLst>
          </a:prstGeom>
          <a:solidFill>
            <a:srgbClr val="F3EEFE"/>
          </a:solidFill>
          <a:ln w="9525">
            <a:solidFill>
              <a:srgbClr val="E4EAF2"/>
            </a:solidFill>
            <a:prstDash val="solid"/>
          </a:ln>
        </p:spPr>
      </p:sp>
      <p:sp>
        <p:nvSpPr>
          <p:cNvPr id="27" name="Shape 25"/>
          <p:cNvSpPr/>
          <p:nvPr/>
        </p:nvSpPr>
        <p:spPr>
          <a:xfrm>
            <a:off x="8321040" y="2706624"/>
            <a:ext cx="128016" cy="128016"/>
          </a:xfrm>
          <a:prstGeom prst="ellipse">
            <a:avLst/>
          </a:prstGeom>
          <a:solidFill>
            <a:srgbClr val="7C3AED"/>
          </a:solidFill>
          <a:ln/>
        </p:spPr>
      </p:sp>
      <p:sp>
        <p:nvSpPr>
          <p:cNvPr id="28" name="Text 26"/>
          <p:cNvSpPr/>
          <p:nvPr/>
        </p:nvSpPr>
        <p:spPr>
          <a:xfrm>
            <a:off x="8558784"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548640" y="3154680"/>
            <a:ext cx="3520440" cy="502920"/>
          </a:xfrm>
          <a:prstGeom prst="roundRect">
            <a:avLst>
              <a:gd name="adj" fmla="val 14545"/>
            </a:avLst>
          </a:prstGeom>
          <a:solidFill>
            <a:srgbClr val="E7F7F0"/>
          </a:solidFill>
          <a:ln w="9525">
            <a:solidFill>
              <a:srgbClr val="E4EAF2"/>
            </a:solidFill>
            <a:prstDash val="solid"/>
          </a:ln>
        </p:spPr>
      </p:sp>
      <p:sp>
        <p:nvSpPr>
          <p:cNvPr id="30" name="Shape 28"/>
          <p:cNvSpPr/>
          <p:nvPr/>
        </p:nvSpPr>
        <p:spPr>
          <a:xfrm>
            <a:off x="768096" y="3346704"/>
            <a:ext cx="128016" cy="128016"/>
          </a:xfrm>
          <a:prstGeom prst="ellipse">
            <a:avLst/>
          </a:prstGeom>
          <a:solidFill>
            <a:srgbClr val="0EA472"/>
          </a:solidFill>
          <a:ln/>
        </p:spPr>
      </p:sp>
      <p:sp>
        <p:nvSpPr>
          <p:cNvPr id="31" name="Text 29"/>
          <p:cNvSpPr/>
          <p:nvPr/>
        </p:nvSpPr>
        <p:spPr>
          <a:xfrm>
            <a:off x="1005840"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4325112" y="3154680"/>
            <a:ext cx="3520440" cy="502920"/>
          </a:xfrm>
          <a:prstGeom prst="roundRect">
            <a:avLst>
              <a:gd name="adj" fmla="val 14545"/>
            </a:avLst>
          </a:prstGeom>
          <a:solidFill>
            <a:srgbClr val="FEF6E7"/>
          </a:solidFill>
          <a:ln w="9525">
            <a:solidFill>
              <a:srgbClr val="E4EAF2"/>
            </a:solidFill>
            <a:prstDash val="solid"/>
          </a:ln>
        </p:spPr>
      </p:sp>
      <p:sp>
        <p:nvSpPr>
          <p:cNvPr id="33" name="Shape 31"/>
          <p:cNvSpPr/>
          <p:nvPr/>
        </p:nvSpPr>
        <p:spPr>
          <a:xfrm>
            <a:off x="4544568" y="3346704"/>
            <a:ext cx="128016" cy="128016"/>
          </a:xfrm>
          <a:prstGeom prst="ellipse">
            <a:avLst/>
          </a:prstGeom>
          <a:solidFill>
            <a:srgbClr val="E0900C"/>
          </a:solidFill>
          <a:ln/>
        </p:spPr>
      </p:sp>
      <p:sp>
        <p:nvSpPr>
          <p:cNvPr id="34" name="Text 32"/>
          <p:cNvSpPr/>
          <p:nvPr/>
        </p:nvSpPr>
        <p:spPr>
          <a:xfrm>
            <a:off x="4782312"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8101584" y="3154680"/>
            <a:ext cx="3520440" cy="502920"/>
          </a:xfrm>
          <a:prstGeom prst="roundRect">
            <a:avLst>
              <a:gd name="adj" fmla="val 14545"/>
            </a:avLst>
          </a:prstGeom>
          <a:solidFill>
            <a:srgbClr val="FDECEC"/>
          </a:solidFill>
          <a:ln w="9525">
            <a:solidFill>
              <a:srgbClr val="E4EAF2"/>
            </a:solidFill>
            <a:prstDash val="solid"/>
          </a:ln>
        </p:spPr>
      </p:sp>
      <p:sp>
        <p:nvSpPr>
          <p:cNvPr id="36" name="Shape 34"/>
          <p:cNvSpPr/>
          <p:nvPr/>
        </p:nvSpPr>
        <p:spPr>
          <a:xfrm>
            <a:off x="8321040" y="3346704"/>
            <a:ext cx="128016" cy="128016"/>
          </a:xfrm>
          <a:prstGeom prst="ellipse">
            <a:avLst/>
          </a:prstGeom>
          <a:solidFill>
            <a:srgbClr val="E5484D"/>
          </a:solidFill>
          <a:ln/>
        </p:spPr>
      </p:sp>
      <p:sp>
        <p:nvSpPr>
          <p:cNvPr id="37" name="Text 35"/>
          <p:cNvSpPr/>
          <p:nvPr/>
        </p:nvSpPr>
        <p:spPr>
          <a:xfrm>
            <a:off x="8558784"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548640" y="3794760"/>
            <a:ext cx="3520440" cy="502920"/>
          </a:xfrm>
          <a:prstGeom prst="roundRect">
            <a:avLst>
              <a:gd name="adj" fmla="val 14545"/>
            </a:avLst>
          </a:prstGeom>
          <a:solidFill>
            <a:srgbClr val="EAF1FE"/>
          </a:solidFill>
          <a:ln w="9525">
            <a:solidFill>
              <a:srgbClr val="E4EAF2"/>
            </a:solidFill>
            <a:prstDash val="solid"/>
          </a:ln>
        </p:spPr>
      </p:sp>
      <p:sp>
        <p:nvSpPr>
          <p:cNvPr id="39" name="Shape 37"/>
          <p:cNvSpPr/>
          <p:nvPr/>
        </p:nvSpPr>
        <p:spPr>
          <a:xfrm>
            <a:off x="768096" y="3986784"/>
            <a:ext cx="128016" cy="128016"/>
          </a:xfrm>
          <a:prstGeom prst="ellipse">
            <a:avLst/>
          </a:prstGeom>
          <a:solidFill>
            <a:srgbClr val="2563EB"/>
          </a:solidFill>
          <a:ln/>
        </p:spPr>
      </p:sp>
      <p:sp>
        <p:nvSpPr>
          <p:cNvPr id="40" name="Text 38"/>
          <p:cNvSpPr/>
          <p:nvPr/>
        </p:nvSpPr>
        <p:spPr>
          <a:xfrm>
            <a:off x="1005840"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4325112" y="3794760"/>
            <a:ext cx="3520440" cy="502920"/>
          </a:xfrm>
          <a:prstGeom prst="roundRect">
            <a:avLst>
              <a:gd name="adj" fmla="val 14545"/>
            </a:avLst>
          </a:prstGeom>
          <a:solidFill>
            <a:srgbClr val="E8F6FA"/>
          </a:solidFill>
          <a:ln w="9525">
            <a:solidFill>
              <a:srgbClr val="E4EAF2"/>
            </a:solidFill>
            <a:prstDash val="solid"/>
          </a:ln>
        </p:spPr>
      </p:sp>
      <p:sp>
        <p:nvSpPr>
          <p:cNvPr id="42" name="Shape 40"/>
          <p:cNvSpPr/>
          <p:nvPr/>
        </p:nvSpPr>
        <p:spPr>
          <a:xfrm>
            <a:off x="4544568" y="3986784"/>
            <a:ext cx="128016" cy="128016"/>
          </a:xfrm>
          <a:prstGeom prst="ellipse">
            <a:avLst/>
          </a:prstGeom>
          <a:solidFill>
            <a:srgbClr val="0E93B0"/>
          </a:solidFill>
          <a:ln/>
        </p:spPr>
      </p:sp>
      <p:sp>
        <p:nvSpPr>
          <p:cNvPr id="43" name="Text 41"/>
          <p:cNvSpPr/>
          <p:nvPr/>
        </p:nvSpPr>
        <p:spPr>
          <a:xfrm>
            <a:off x="4782312"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8101584" y="3794760"/>
            <a:ext cx="3520440" cy="502920"/>
          </a:xfrm>
          <a:prstGeom prst="roundRect">
            <a:avLst>
              <a:gd name="adj" fmla="val 14545"/>
            </a:avLst>
          </a:prstGeom>
          <a:solidFill>
            <a:srgbClr val="E7F7F0"/>
          </a:solidFill>
          <a:ln w="9525">
            <a:solidFill>
              <a:srgbClr val="E4EAF2"/>
            </a:solidFill>
            <a:prstDash val="solid"/>
          </a:ln>
        </p:spPr>
      </p:sp>
      <p:sp>
        <p:nvSpPr>
          <p:cNvPr id="45" name="Shape 43"/>
          <p:cNvSpPr/>
          <p:nvPr/>
        </p:nvSpPr>
        <p:spPr>
          <a:xfrm>
            <a:off x="8321040" y="3986784"/>
            <a:ext cx="128016" cy="128016"/>
          </a:xfrm>
          <a:prstGeom prst="ellipse">
            <a:avLst/>
          </a:prstGeom>
          <a:solidFill>
            <a:srgbClr val="0DA5A0"/>
          </a:solidFill>
          <a:ln/>
        </p:spPr>
      </p:sp>
      <p:sp>
        <p:nvSpPr>
          <p:cNvPr id="46" name="Text 44"/>
          <p:cNvSpPr/>
          <p:nvPr/>
        </p:nvSpPr>
        <p:spPr>
          <a:xfrm>
            <a:off x="8558784"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548640" y="4434840"/>
            <a:ext cx="3520440" cy="502920"/>
          </a:xfrm>
          <a:prstGeom prst="roundRect">
            <a:avLst>
              <a:gd name="adj" fmla="val 14545"/>
            </a:avLst>
          </a:prstGeom>
          <a:solidFill>
            <a:srgbClr val="EAF1FE"/>
          </a:solidFill>
          <a:ln w="9525">
            <a:solidFill>
              <a:srgbClr val="E4EAF2"/>
            </a:solidFill>
            <a:prstDash val="solid"/>
          </a:ln>
        </p:spPr>
      </p:sp>
      <p:sp>
        <p:nvSpPr>
          <p:cNvPr id="48" name="Shape 46"/>
          <p:cNvSpPr/>
          <p:nvPr/>
        </p:nvSpPr>
        <p:spPr>
          <a:xfrm>
            <a:off x="768096" y="4626864"/>
            <a:ext cx="128016" cy="128016"/>
          </a:xfrm>
          <a:prstGeom prst="ellipse">
            <a:avLst/>
          </a:prstGeom>
          <a:solidFill>
            <a:srgbClr val="4F46E5"/>
          </a:solidFill>
          <a:ln/>
        </p:spPr>
      </p:sp>
      <p:sp>
        <p:nvSpPr>
          <p:cNvPr id="49" name="Text 47"/>
          <p:cNvSpPr/>
          <p:nvPr/>
        </p:nvSpPr>
        <p:spPr>
          <a:xfrm>
            <a:off x="1005840"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4325112" y="4434840"/>
            <a:ext cx="3520440" cy="502920"/>
          </a:xfrm>
          <a:prstGeom prst="roundRect">
            <a:avLst>
              <a:gd name="adj" fmla="val 14545"/>
            </a:avLst>
          </a:prstGeom>
          <a:solidFill>
            <a:srgbClr val="F4F7FB"/>
          </a:solidFill>
          <a:ln w="9525">
            <a:solidFill>
              <a:srgbClr val="E4EAF2"/>
            </a:solidFill>
            <a:prstDash val="solid"/>
          </a:ln>
        </p:spPr>
      </p:sp>
      <p:sp>
        <p:nvSpPr>
          <p:cNvPr id="51" name="Shape 49"/>
          <p:cNvSpPr/>
          <p:nvPr/>
        </p:nvSpPr>
        <p:spPr>
          <a:xfrm>
            <a:off x="4544568" y="4626864"/>
            <a:ext cx="128016" cy="128016"/>
          </a:xfrm>
          <a:prstGeom prst="ellipse">
            <a:avLst/>
          </a:prstGeom>
          <a:solidFill>
            <a:srgbClr val="2E90FA"/>
          </a:solidFill>
          <a:ln/>
        </p:spPr>
      </p:sp>
      <p:sp>
        <p:nvSpPr>
          <p:cNvPr id="52" name="Text 50"/>
          <p:cNvSpPr/>
          <p:nvPr/>
        </p:nvSpPr>
        <p:spPr>
          <a:xfrm>
            <a:off x="4782312"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8101584" y="4434840"/>
            <a:ext cx="3520440" cy="502920"/>
          </a:xfrm>
          <a:prstGeom prst="roundRect">
            <a:avLst>
              <a:gd name="adj" fmla="val 14545"/>
            </a:avLst>
          </a:prstGeom>
          <a:solidFill>
            <a:srgbClr val="F3EEFE"/>
          </a:solidFill>
          <a:ln w="9525">
            <a:solidFill>
              <a:srgbClr val="E4EAF2"/>
            </a:solidFill>
            <a:prstDash val="solid"/>
          </a:ln>
        </p:spPr>
      </p:sp>
      <p:sp>
        <p:nvSpPr>
          <p:cNvPr id="54" name="Shape 52"/>
          <p:cNvSpPr/>
          <p:nvPr/>
        </p:nvSpPr>
        <p:spPr>
          <a:xfrm>
            <a:off x="8321040" y="4626864"/>
            <a:ext cx="128016" cy="128016"/>
          </a:xfrm>
          <a:prstGeom prst="ellipse">
            <a:avLst/>
          </a:prstGeom>
          <a:solidFill>
            <a:srgbClr val="7C3AED"/>
          </a:solidFill>
          <a:ln/>
        </p:spPr>
      </p:sp>
      <p:sp>
        <p:nvSpPr>
          <p:cNvPr id="55" name="Text 53"/>
          <p:cNvSpPr/>
          <p:nvPr/>
        </p:nvSpPr>
        <p:spPr>
          <a:xfrm>
            <a:off x="8558784"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548640" y="5074920"/>
            <a:ext cx="3520440" cy="502920"/>
          </a:xfrm>
          <a:prstGeom prst="roundRect">
            <a:avLst>
              <a:gd name="adj" fmla="val 14545"/>
            </a:avLst>
          </a:prstGeom>
          <a:solidFill>
            <a:srgbClr val="E7F7F0"/>
          </a:solidFill>
          <a:ln w="9525">
            <a:solidFill>
              <a:srgbClr val="E4EAF2"/>
            </a:solidFill>
            <a:prstDash val="solid"/>
          </a:ln>
        </p:spPr>
      </p:sp>
      <p:sp>
        <p:nvSpPr>
          <p:cNvPr id="57" name="Shape 55"/>
          <p:cNvSpPr/>
          <p:nvPr/>
        </p:nvSpPr>
        <p:spPr>
          <a:xfrm>
            <a:off x="768096" y="5266944"/>
            <a:ext cx="128016" cy="128016"/>
          </a:xfrm>
          <a:prstGeom prst="ellipse">
            <a:avLst/>
          </a:prstGeom>
          <a:solidFill>
            <a:srgbClr val="0EA472"/>
          </a:solidFill>
          <a:ln/>
        </p:spPr>
      </p:sp>
      <p:sp>
        <p:nvSpPr>
          <p:cNvPr id="58" name="Text 56"/>
          <p:cNvSpPr/>
          <p:nvPr/>
        </p:nvSpPr>
        <p:spPr>
          <a:xfrm>
            <a:off x="1005840"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4325112" y="5074920"/>
            <a:ext cx="3520440" cy="502920"/>
          </a:xfrm>
          <a:prstGeom prst="roundRect">
            <a:avLst>
              <a:gd name="adj" fmla="val 14545"/>
            </a:avLst>
          </a:prstGeom>
          <a:solidFill>
            <a:srgbClr val="FEF6E7"/>
          </a:solidFill>
          <a:ln w="9525">
            <a:solidFill>
              <a:srgbClr val="E4EAF2"/>
            </a:solidFill>
            <a:prstDash val="solid"/>
          </a:ln>
        </p:spPr>
      </p:sp>
      <p:sp>
        <p:nvSpPr>
          <p:cNvPr id="60" name="Shape 58"/>
          <p:cNvSpPr/>
          <p:nvPr/>
        </p:nvSpPr>
        <p:spPr>
          <a:xfrm>
            <a:off x="4544568" y="5266944"/>
            <a:ext cx="128016" cy="128016"/>
          </a:xfrm>
          <a:prstGeom prst="ellipse">
            <a:avLst/>
          </a:prstGeom>
          <a:solidFill>
            <a:srgbClr val="E0900C"/>
          </a:solidFill>
          <a:ln/>
        </p:spPr>
      </p:sp>
      <p:sp>
        <p:nvSpPr>
          <p:cNvPr id="61" name="Text 59"/>
          <p:cNvSpPr/>
          <p:nvPr/>
        </p:nvSpPr>
        <p:spPr>
          <a:xfrm>
            <a:off x="4782312"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 &amp; surface finish</a:t>
            </a:r>
            <a:endParaRPr lang="en-US" sz="1050" dirty="0"/>
          </a:p>
        </p:txBody>
      </p:sp>
      <p:sp>
        <p:nvSpPr>
          <p:cNvPr id="62" name="Shape 60"/>
          <p:cNvSpPr/>
          <p:nvPr/>
        </p:nvSpPr>
        <p:spPr>
          <a:xfrm>
            <a:off x="8101584" y="5074920"/>
            <a:ext cx="3520440" cy="502920"/>
          </a:xfrm>
          <a:prstGeom prst="roundRect">
            <a:avLst>
              <a:gd name="adj" fmla="val 14545"/>
            </a:avLst>
          </a:prstGeom>
          <a:solidFill>
            <a:srgbClr val="FDECEC"/>
          </a:solidFill>
          <a:ln w="9525">
            <a:solidFill>
              <a:srgbClr val="E4EAF2"/>
            </a:solidFill>
            <a:prstDash val="solid"/>
          </a:ln>
        </p:spPr>
      </p:sp>
      <p:sp>
        <p:nvSpPr>
          <p:cNvPr id="63" name="Shape 61"/>
          <p:cNvSpPr/>
          <p:nvPr/>
        </p:nvSpPr>
        <p:spPr>
          <a:xfrm>
            <a:off x="8321040" y="5266944"/>
            <a:ext cx="128016" cy="128016"/>
          </a:xfrm>
          <a:prstGeom prst="ellipse">
            <a:avLst/>
          </a:prstGeom>
          <a:solidFill>
            <a:srgbClr val="E5484D"/>
          </a:solidFill>
          <a:ln/>
        </p:spPr>
      </p:sp>
      <p:sp>
        <p:nvSpPr>
          <p:cNvPr id="64" name="Text 62"/>
          <p:cNvSpPr/>
          <p:nvPr/>
        </p:nvSpPr>
        <p:spPr>
          <a:xfrm>
            <a:off x="8558784"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sp>
      <p:sp>
        <p:nvSpPr>
          <p:cNvPr id="66" name="Shape 64"/>
          <p:cNvSpPr/>
          <p:nvPr/>
        </p:nvSpPr>
        <p:spPr>
          <a:xfrm>
            <a:off x="548640" y="5742432"/>
            <a:ext cx="82296" cy="548640"/>
          </a:xfrm>
          <a:prstGeom prst="rect">
            <a:avLst/>
          </a:prstGeom>
          <a:solidFill>
            <a:srgbClr val="E0900C"/>
          </a:solidFill>
          <a:ln/>
        </p:spPr>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auditable 8-bucket cost stack (material → margin) with feature-based machining on top. The same part then prices across 20 regions — that's the next section.</a:t>
            </a:r>
            <a:endParaRPr lang="en-US" sz="1150" dirty="0"/>
          </a:p>
        </p:txBody>
      </p:sp>
      <p:sp>
        <p:nvSpPr>
          <p:cNvPr id="68" name="Shape 66"/>
          <p:cNvSpPr/>
          <p:nvPr/>
        </p:nvSpPr>
        <p:spPr>
          <a:xfrm>
            <a:off x="548640" y="6400800"/>
            <a:ext cx="11094415" cy="12802"/>
          </a:xfrm>
          <a:prstGeom prst="rect">
            <a:avLst/>
          </a:prstGeom>
          <a:solidFill>
            <a:srgbClr val="E4EAF2"/>
          </a:solidFill>
          <a:ln/>
        </p:spPr>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we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Bring our own rate database — our rates, our numbers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481328"/>
            <a:ext cx="11091672"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Upload our organisation’s own cost rates as one Excel workbook. Every costing then runs on our numbers — validated on upload, versioned, and fully auditable. No black box, no lock-in to our defaults.</a:t>
            </a:r>
            <a:endParaRPr lang="en-US" sz="1200" dirty="0"/>
          </a:p>
        </p:txBody>
      </p:sp>
      <p:sp>
        <p:nvSpPr>
          <p:cNvPr id="11" name="Shape 9"/>
          <p:cNvSpPr/>
          <p:nvPr/>
        </p:nvSpPr>
        <p:spPr>
          <a:xfrm>
            <a:off x="54864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12" name="Shape 10"/>
          <p:cNvSpPr/>
          <p:nvPr/>
        </p:nvSpPr>
        <p:spPr>
          <a:xfrm>
            <a:off x="548640" y="1938528"/>
            <a:ext cx="82296" cy="1371600"/>
          </a:xfrm>
          <a:prstGeom prst="rect">
            <a:avLst/>
          </a:prstGeom>
          <a:solidFill>
            <a:srgbClr val="2563EB"/>
          </a:solidFill>
          <a:ln/>
        </p:spPr>
      </p:sp>
      <p:sp>
        <p:nvSpPr>
          <p:cNvPr id="13" name="Text 11"/>
          <p:cNvSpPr/>
          <p:nvPr/>
        </p:nvSpPr>
        <p:spPr>
          <a:xfrm>
            <a:off x="731520" y="2084832"/>
            <a:ext cx="1495044" cy="27432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Materials</a:t>
            </a:r>
            <a:endParaRPr lang="en-US" sz="1250" dirty="0"/>
          </a:p>
        </p:txBody>
      </p:sp>
      <p:sp>
        <p:nvSpPr>
          <p:cNvPr id="14" name="Text 12"/>
          <p:cNvSpPr/>
          <p:nvPr/>
        </p:nvSpPr>
        <p:spPr>
          <a:xfrm>
            <a:off x="73152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£/kg, scrap-recovery £/kg, density, region — with effective date</a:t>
            </a:r>
            <a:endParaRPr lang="en-US" sz="830" dirty="0"/>
          </a:p>
        </p:txBody>
      </p:sp>
      <p:sp>
        <p:nvSpPr>
          <p:cNvPr id="15" name="Shape 13"/>
          <p:cNvSpPr/>
          <p:nvPr/>
        </p:nvSpPr>
        <p:spPr>
          <a:xfrm>
            <a:off x="2409444"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16" name="Shape 14"/>
          <p:cNvSpPr/>
          <p:nvPr/>
        </p:nvSpPr>
        <p:spPr>
          <a:xfrm>
            <a:off x="2409444" y="1938528"/>
            <a:ext cx="82296" cy="1371600"/>
          </a:xfrm>
          <a:prstGeom prst="rect">
            <a:avLst/>
          </a:prstGeom>
          <a:solidFill>
            <a:srgbClr val="4F46E5"/>
          </a:solidFill>
          <a:ln/>
        </p:spPr>
      </p:sp>
      <p:sp>
        <p:nvSpPr>
          <p:cNvPr id="17" name="Text 15"/>
          <p:cNvSpPr/>
          <p:nvPr/>
        </p:nvSpPr>
        <p:spPr>
          <a:xfrm>
            <a:off x="2592324" y="2084832"/>
            <a:ext cx="1495044" cy="274320"/>
          </a:xfrm>
          <a:prstGeom prst="rect">
            <a:avLst/>
          </a:prstGeom>
          <a:noFill/>
          <a:ln/>
        </p:spPr>
        <p:txBody>
          <a:bodyPr wrap="square" lIns="0" tIns="0" rIns="0" bIns="0" rtlCol="0" anchor="t"/>
          <a:lstStyle/>
          <a:p>
            <a:pPr indent="0" marL="0">
              <a:buNone/>
            </a:pPr>
            <a:r>
              <a:rPr lang="en-US" sz="1250" b="1" dirty="0">
                <a:solidFill>
                  <a:srgbClr val="4F46E5"/>
                </a:solidFill>
                <a:latin typeface="Calibri" pitchFamily="34" charset="0"/>
                <a:ea typeface="Calibri" pitchFamily="34" charset="-122"/>
                <a:cs typeface="Calibri" pitchFamily="34" charset="-120"/>
              </a:rPr>
              <a:t>Machines</a:t>
            </a:r>
            <a:endParaRPr lang="en-US" sz="1250" dirty="0"/>
          </a:p>
        </p:txBody>
      </p:sp>
      <p:sp>
        <p:nvSpPr>
          <p:cNvPr id="18" name="Text 16"/>
          <p:cNvSpPr/>
          <p:nvPr/>
        </p:nvSpPr>
        <p:spPr>
          <a:xfrm>
            <a:off x="2592324"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 rate build-up (deprec., maint., energy, floor, finance, hours, utilisation) → £/hr</a:t>
            </a:r>
            <a:endParaRPr lang="en-US" sz="830" dirty="0"/>
          </a:p>
        </p:txBody>
      </p:sp>
      <p:sp>
        <p:nvSpPr>
          <p:cNvPr id="19" name="Shape 17"/>
          <p:cNvSpPr/>
          <p:nvPr/>
        </p:nvSpPr>
        <p:spPr>
          <a:xfrm>
            <a:off x="4270248"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20" name="Shape 18"/>
          <p:cNvSpPr/>
          <p:nvPr/>
        </p:nvSpPr>
        <p:spPr>
          <a:xfrm>
            <a:off x="4270248" y="1938528"/>
            <a:ext cx="82296" cy="1371600"/>
          </a:xfrm>
          <a:prstGeom prst="rect">
            <a:avLst/>
          </a:prstGeom>
          <a:solidFill>
            <a:srgbClr val="0DA5A0"/>
          </a:solidFill>
          <a:ln/>
        </p:spPr>
      </p:sp>
      <p:sp>
        <p:nvSpPr>
          <p:cNvPr id="21" name="Text 19"/>
          <p:cNvSpPr/>
          <p:nvPr/>
        </p:nvSpPr>
        <p:spPr>
          <a:xfrm>
            <a:off x="4453128" y="2084832"/>
            <a:ext cx="1495044" cy="274320"/>
          </a:xfrm>
          <a:prstGeom prst="rect">
            <a:avLst/>
          </a:prstGeom>
          <a:noFill/>
          <a:ln/>
        </p:spPr>
        <p:txBody>
          <a:bodyPr wrap="square" lIns="0" tIns="0" rIns="0" bIns="0" rtlCol="0" anchor="t"/>
          <a:lstStyle/>
          <a:p>
            <a:pPr indent="0" marL="0">
              <a:buNone/>
            </a:pPr>
            <a:r>
              <a:rPr lang="en-US" sz="1250" b="1" dirty="0">
                <a:solidFill>
                  <a:srgbClr val="0DA5A0"/>
                </a:solidFill>
                <a:latin typeface="Calibri" pitchFamily="34" charset="0"/>
                <a:ea typeface="Calibri" pitchFamily="34" charset="-122"/>
                <a:cs typeface="Calibri" pitchFamily="34" charset="-120"/>
              </a:rPr>
              <a:t>Labour</a:t>
            </a:r>
            <a:endParaRPr lang="en-US" sz="1250" dirty="0"/>
          </a:p>
        </p:txBody>
      </p:sp>
      <p:sp>
        <p:nvSpPr>
          <p:cNvPr id="22" name="Text 20"/>
          <p:cNvSpPr/>
          <p:nvPr/>
        </p:nvSpPr>
        <p:spPr>
          <a:xfrm>
            <a:off x="4453128"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Fully-loaded £/hr by region and skill level</a:t>
            </a:r>
            <a:endParaRPr lang="en-US" sz="830" dirty="0"/>
          </a:p>
        </p:txBody>
      </p:sp>
      <p:sp>
        <p:nvSpPr>
          <p:cNvPr id="23" name="Shape 21"/>
          <p:cNvSpPr/>
          <p:nvPr/>
        </p:nvSpPr>
        <p:spPr>
          <a:xfrm>
            <a:off x="6131052"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24" name="Shape 22"/>
          <p:cNvSpPr/>
          <p:nvPr/>
        </p:nvSpPr>
        <p:spPr>
          <a:xfrm>
            <a:off x="6131052" y="1938528"/>
            <a:ext cx="82296" cy="1371600"/>
          </a:xfrm>
          <a:prstGeom prst="rect">
            <a:avLst/>
          </a:prstGeom>
          <a:solidFill>
            <a:srgbClr val="E0900C"/>
          </a:solidFill>
          <a:ln/>
        </p:spPr>
      </p:sp>
      <p:sp>
        <p:nvSpPr>
          <p:cNvPr id="25" name="Text 23"/>
          <p:cNvSpPr/>
          <p:nvPr/>
        </p:nvSpPr>
        <p:spPr>
          <a:xfrm>
            <a:off x="6313932" y="2084832"/>
            <a:ext cx="1495044" cy="274320"/>
          </a:xfrm>
          <a:prstGeom prst="rect">
            <a:avLst/>
          </a:prstGeom>
          <a:noFill/>
          <a:ln/>
        </p:spPr>
        <p:txBody>
          <a:bodyPr wrap="square" lIns="0" tIns="0" rIns="0" bIns="0" rtlCol="0" anchor="t"/>
          <a:lstStyle/>
          <a:p>
            <a:pPr indent="0" marL="0">
              <a:buNone/>
            </a:pPr>
            <a:r>
              <a:rPr lang="en-US" sz="1250" b="1" dirty="0">
                <a:solidFill>
                  <a:srgbClr val="E0900C"/>
                </a:solidFill>
                <a:latin typeface="Calibri" pitchFamily="34" charset="0"/>
                <a:ea typeface="Calibri" pitchFamily="34" charset="-122"/>
                <a:cs typeface="Calibri" pitchFamily="34" charset="-120"/>
              </a:rPr>
              <a:t>Energy</a:t>
            </a:r>
            <a:endParaRPr lang="en-US" sz="1250" dirty="0"/>
          </a:p>
        </p:txBody>
      </p:sp>
      <p:sp>
        <p:nvSpPr>
          <p:cNvPr id="26" name="Text 24"/>
          <p:cNvSpPr/>
          <p:nvPr/>
        </p:nvSpPr>
        <p:spPr>
          <a:xfrm>
            <a:off x="6313932"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Electricity &amp; gas £/kWh by region</a:t>
            </a:r>
            <a:endParaRPr lang="en-US" sz="830" dirty="0"/>
          </a:p>
        </p:txBody>
      </p:sp>
      <p:sp>
        <p:nvSpPr>
          <p:cNvPr id="27" name="Shape 25"/>
          <p:cNvSpPr/>
          <p:nvPr/>
        </p:nvSpPr>
        <p:spPr>
          <a:xfrm>
            <a:off x="7991856"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28" name="Shape 26"/>
          <p:cNvSpPr/>
          <p:nvPr/>
        </p:nvSpPr>
        <p:spPr>
          <a:xfrm>
            <a:off x="7991856" y="1938528"/>
            <a:ext cx="82296" cy="1371600"/>
          </a:xfrm>
          <a:prstGeom prst="rect">
            <a:avLst/>
          </a:prstGeom>
          <a:solidFill>
            <a:srgbClr val="0E93B0"/>
          </a:solidFill>
          <a:ln/>
        </p:spPr>
      </p:sp>
      <p:sp>
        <p:nvSpPr>
          <p:cNvPr id="29" name="Text 27"/>
          <p:cNvSpPr/>
          <p:nvPr/>
        </p:nvSpPr>
        <p:spPr>
          <a:xfrm>
            <a:off x="8174736" y="2084832"/>
            <a:ext cx="1495044" cy="274320"/>
          </a:xfrm>
          <a:prstGeom prst="rect">
            <a:avLst/>
          </a:prstGeom>
          <a:noFill/>
          <a:ln/>
        </p:spPr>
        <p:txBody>
          <a:bodyPr wrap="square" lIns="0" tIns="0" rIns="0" bIns="0" rtlCol="0" anchor="t"/>
          <a:lstStyle/>
          <a:p>
            <a:pPr indent="0" marL="0">
              <a:buNone/>
            </a:pPr>
            <a:r>
              <a:rPr lang="en-US" sz="1250" b="1" dirty="0">
                <a:solidFill>
                  <a:srgbClr val="0E93B0"/>
                </a:solidFill>
                <a:latin typeface="Calibri" pitchFamily="34" charset="0"/>
                <a:ea typeface="Calibri" pitchFamily="34" charset="-122"/>
                <a:cs typeface="Calibri" pitchFamily="34" charset="-120"/>
              </a:rPr>
              <a:t>FX</a:t>
            </a:r>
            <a:endParaRPr lang="en-US" sz="1250" dirty="0"/>
          </a:p>
        </p:txBody>
      </p:sp>
      <p:sp>
        <p:nvSpPr>
          <p:cNvPr id="30" name="Text 28"/>
          <p:cNvSpPr/>
          <p:nvPr/>
        </p:nvSpPr>
        <p:spPr>
          <a:xfrm>
            <a:off x="8174736"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Currency pairs and exchange rates</a:t>
            </a:r>
            <a:endParaRPr lang="en-US" sz="830" dirty="0"/>
          </a:p>
        </p:txBody>
      </p:sp>
      <p:sp>
        <p:nvSpPr>
          <p:cNvPr id="31" name="Shape 29"/>
          <p:cNvSpPr/>
          <p:nvPr/>
        </p:nvSpPr>
        <p:spPr>
          <a:xfrm>
            <a:off x="985266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32" name="Shape 30"/>
          <p:cNvSpPr/>
          <p:nvPr/>
        </p:nvSpPr>
        <p:spPr>
          <a:xfrm>
            <a:off x="9852660" y="1938528"/>
            <a:ext cx="82296" cy="1371600"/>
          </a:xfrm>
          <a:prstGeom prst="rect">
            <a:avLst/>
          </a:prstGeom>
          <a:solidFill>
            <a:srgbClr val="7C3AED"/>
          </a:solidFill>
          <a:ln/>
        </p:spPr>
      </p:sp>
      <p:sp>
        <p:nvSpPr>
          <p:cNvPr id="33" name="Text 31"/>
          <p:cNvSpPr/>
          <p:nvPr/>
        </p:nvSpPr>
        <p:spPr>
          <a:xfrm>
            <a:off x="10035540" y="2084832"/>
            <a:ext cx="1495044" cy="27432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Overhead</a:t>
            </a:r>
            <a:endParaRPr lang="en-US" sz="1250" dirty="0"/>
          </a:p>
        </p:txBody>
      </p:sp>
      <p:sp>
        <p:nvSpPr>
          <p:cNvPr id="34" name="Text 32"/>
          <p:cNvSpPr/>
          <p:nvPr/>
        </p:nvSpPr>
        <p:spPr>
          <a:xfrm>
            <a:off x="1003554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Overhead % and margin % by commodity and supplier tier</a:t>
            </a:r>
            <a:endParaRPr lang="en-US" sz="830" dirty="0"/>
          </a:p>
        </p:txBody>
      </p:sp>
      <p:sp>
        <p:nvSpPr>
          <p:cNvPr id="35" name="Text 33"/>
          <p:cNvSpPr/>
          <p:nvPr/>
        </p:nvSpPr>
        <p:spPr>
          <a:xfrm>
            <a:off x="548640" y="3355848"/>
            <a:ext cx="11091672" cy="237744"/>
          </a:xfrm>
          <a:prstGeom prst="rect">
            <a:avLst/>
          </a:prstGeom>
          <a:noFill/>
          <a:ln/>
        </p:spPr>
        <p:txBody>
          <a:bodyPr wrap="square" lIns="0" tIns="0" rIns="0" bIns="0" rtlCol="0" anchor="t"/>
          <a:lstStyle/>
          <a:p>
            <a:pPr indent="0" marL="0">
              <a:buNone/>
            </a:pPr>
            <a:r>
              <a:rPr lang="en-US" sz="930" i="1" dirty="0">
                <a:solidFill>
                  <a:srgbClr val="8A97A8"/>
                </a:solidFill>
                <a:latin typeface="Calibri" pitchFamily="34" charset="0"/>
                <a:ea typeface="Calibri" pitchFamily="34" charset="-122"/>
                <a:cs typeface="Calibri" pitchFamily="34" charset="-120"/>
              </a:rPr>
              <a:t>Six rate tables — one tab each in the template.</a:t>
            </a:r>
            <a:endParaRPr lang="en-US" sz="930" dirty="0"/>
          </a:p>
        </p:txBody>
      </p:sp>
      <p:sp>
        <p:nvSpPr>
          <p:cNvPr id="36" name="Shape 34"/>
          <p:cNvSpPr/>
          <p:nvPr/>
        </p:nvSpPr>
        <p:spPr>
          <a:xfrm>
            <a:off x="548640"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37" name="Shape 35"/>
          <p:cNvSpPr/>
          <p:nvPr/>
        </p:nvSpPr>
        <p:spPr>
          <a:xfrm>
            <a:off x="548640" y="3474720"/>
            <a:ext cx="82296" cy="1463040"/>
          </a:xfrm>
          <a:prstGeom prst="rect">
            <a:avLst/>
          </a:prstGeom>
          <a:solidFill>
            <a:srgbClr val="7C3AED"/>
          </a:solidFill>
          <a:ln/>
        </p:spPr>
      </p:sp>
      <p:sp>
        <p:nvSpPr>
          <p:cNvPr id="38" name="Text 36"/>
          <p:cNvSpPr/>
          <p:nvPr/>
        </p:nvSpPr>
        <p:spPr>
          <a:xfrm>
            <a:off x="768096" y="3639312"/>
            <a:ext cx="3252216" cy="274320"/>
          </a:xfrm>
          <a:prstGeom prst="rect">
            <a:avLst/>
          </a:prstGeom>
          <a:noFill/>
          <a:ln/>
        </p:spPr>
        <p:txBody>
          <a:bodyPr wrap="square" lIns="0" tIns="0" rIns="0" bIns="0" rtlCol="0" anchor="t"/>
          <a:lstStyle/>
          <a:p>
            <a:pPr indent="0" marL="0">
              <a:buNone/>
            </a:pPr>
            <a:r>
              <a:rPr lang="en-US" sz="1200" b="1" spc="40" kern="0" dirty="0">
                <a:solidFill>
                  <a:srgbClr val="7C3AED"/>
                </a:solidFill>
                <a:latin typeface="Calibri" pitchFamily="34" charset="0"/>
                <a:ea typeface="Calibri" pitchFamily="34" charset="-122"/>
                <a:cs typeface="Calibri" pitchFamily="34" charset="-120"/>
              </a:rPr>
              <a:t>WHO CAN UPLOAD</a:t>
            </a:r>
            <a:endParaRPr lang="en-US" sz="1200" dirty="0"/>
          </a:p>
        </p:txBody>
      </p:sp>
      <p:sp>
        <p:nvSpPr>
          <p:cNvPr id="39" name="Text 37"/>
          <p:cNvSpPr/>
          <p:nvPr/>
        </p:nvSpPr>
        <p:spPr>
          <a:xfrm>
            <a:off x="768096"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Admin-gated.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Admins upload, switch company ↔ built-in, or reset. Everyone else costs on the active set — a badge shows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“Company rates active”</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vs built-in. One consistent number across the team.</a:t>
            </a:r>
            <a:endParaRPr lang="en-US" sz="960" dirty="0"/>
          </a:p>
        </p:txBody>
      </p:sp>
      <p:sp>
        <p:nvSpPr>
          <p:cNvPr id="40" name="Shape 38"/>
          <p:cNvSpPr/>
          <p:nvPr/>
        </p:nvSpPr>
        <p:spPr>
          <a:xfrm>
            <a:off x="4285488"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41" name="Shape 39"/>
          <p:cNvSpPr/>
          <p:nvPr/>
        </p:nvSpPr>
        <p:spPr>
          <a:xfrm>
            <a:off x="4285488" y="3474720"/>
            <a:ext cx="82296" cy="1463040"/>
          </a:xfrm>
          <a:prstGeom prst="rect">
            <a:avLst/>
          </a:prstGeom>
          <a:solidFill>
            <a:srgbClr val="2563EB"/>
          </a:solidFill>
          <a:ln/>
        </p:spPr>
      </p:sp>
      <p:sp>
        <p:nvSpPr>
          <p:cNvPr id="42" name="Text 40"/>
          <p:cNvSpPr/>
          <p:nvPr/>
        </p:nvSpPr>
        <p:spPr>
          <a:xfrm>
            <a:off x="4504944" y="3639312"/>
            <a:ext cx="3252216" cy="274320"/>
          </a:xfrm>
          <a:prstGeom prst="rect">
            <a:avLst/>
          </a:prstGeom>
          <a:noFill/>
          <a:ln/>
        </p:spPr>
        <p:txBody>
          <a:bodyPr wrap="square" lIns="0" tIns="0" rIns="0" bIns="0" rtlCol="0" anchor="t"/>
          <a:lstStyle/>
          <a:p>
            <a:pPr indent="0" marL="0">
              <a:buNone/>
            </a:pPr>
            <a:r>
              <a:rPr lang="en-US" sz="1200" b="1" spc="40" kern="0" dirty="0">
                <a:solidFill>
                  <a:srgbClr val="2563EB"/>
                </a:solidFill>
                <a:latin typeface="Calibri" pitchFamily="34" charset="0"/>
                <a:ea typeface="Calibri" pitchFamily="34" charset="-122"/>
                <a:cs typeface="Calibri" pitchFamily="34" charset="-120"/>
              </a:rPr>
              <a:t>THE EXCEL TEMPLATE</a:t>
            </a:r>
            <a:endParaRPr lang="en-US" sz="1200" dirty="0"/>
          </a:p>
        </p:txBody>
      </p:sp>
      <p:sp>
        <p:nvSpPr>
          <p:cNvPr id="43" name="Text 41"/>
          <p:cNvSpPr/>
          <p:nvPr/>
        </p:nvSpPr>
        <p:spPr>
          <a:xfrm>
            <a:off x="4504944"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One workbook, 6 tabs.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Download → fill → upload. The server validates every row and rejects bad cells with line-level errors. Each row carries an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effective date + confidence.</a:t>
            </a:r>
            <a:endParaRPr lang="en-US" sz="960" dirty="0"/>
          </a:p>
        </p:txBody>
      </p:sp>
      <p:sp>
        <p:nvSpPr>
          <p:cNvPr id="44" name="Shape 42"/>
          <p:cNvSpPr/>
          <p:nvPr/>
        </p:nvSpPr>
        <p:spPr>
          <a:xfrm>
            <a:off x="8022336"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45" name="Shape 43"/>
          <p:cNvSpPr/>
          <p:nvPr/>
        </p:nvSpPr>
        <p:spPr>
          <a:xfrm>
            <a:off x="8022336" y="3474720"/>
            <a:ext cx="82296" cy="1463040"/>
          </a:xfrm>
          <a:prstGeom prst="rect">
            <a:avLst/>
          </a:prstGeom>
          <a:solidFill>
            <a:srgbClr val="0EA472"/>
          </a:solidFill>
          <a:ln/>
        </p:spPr>
      </p:sp>
      <p:sp>
        <p:nvSpPr>
          <p:cNvPr id="46" name="Text 44"/>
          <p:cNvSpPr/>
          <p:nvPr/>
        </p:nvSpPr>
        <p:spPr>
          <a:xfrm>
            <a:off x="8241792" y="3639312"/>
            <a:ext cx="3252216" cy="274320"/>
          </a:xfrm>
          <a:prstGeom prst="rect">
            <a:avLst/>
          </a:prstGeom>
          <a:noFill/>
          <a:ln/>
        </p:spPr>
        <p:txBody>
          <a:bodyPr wrap="square" lIns="0" tIns="0" rIns="0" bIns="0" rtlCol="0" anchor="t"/>
          <a:lstStyle/>
          <a:p>
            <a:pPr indent="0" marL="0">
              <a:buNone/>
            </a:pPr>
            <a:r>
              <a:rPr lang="en-US" sz="1200" b="1" spc="40" kern="0" dirty="0">
                <a:solidFill>
                  <a:srgbClr val="0EA472"/>
                </a:solidFill>
                <a:latin typeface="Calibri" pitchFamily="34" charset="0"/>
                <a:ea typeface="Calibri" pitchFamily="34" charset="-122"/>
                <a:cs typeface="Calibri" pitchFamily="34" charset="-120"/>
              </a:rPr>
              <a:t>UPDATE IN ONE CLICK</a:t>
            </a:r>
            <a:endParaRPr lang="en-US" sz="1200" dirty="0"/>
          </a:p>
        </p:txBody>
      </p:sp>
      <p:sp>
        <p:nvSpPr>
          <p:cNvPr id="47" name="Text 45"/>
          <p:cNvSpPr/>
          <p:nvPr/>
        </p:nvSpPr>
        <p:spPr>
          <a:xfrm>
            <a:off x="8241792"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Load a new dated rate set</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activate — the whole portfolio re-prices in a click. The library is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versioned</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so we keep current vs old vintages and scenarios flag if costed on an older version.</a:t>
            </a:r>
            <a:endParaRPr lang="en-US" sz="960" dirty="0"/>
          </a:p>
        </p:txBody>
      </p:sp>
      <p:sp>
        <p:nvSpPr>
          <p:cNvPr id="48" name="Shape 46"/>
          <p:cNvSpPr/>
          <p:nvPr/>
        </p:nvSpPr>
        <p:spPr>
          <a:xfrm>
            <a:off x="548640" y="5138928"/>
            <a:ext cx="11091672" cy="841248"/>
          </a:xfrm>
          <a:prstGeom prst="roundRect">
            <a:avLst>
              <a:gd name="adj" fmla="val 7609"/>
            </a:avLst>
          </a:prstGeom>
          <a:solidFill>
            <a:srgbClr val="FEF6E7"/>
          </a:solidFill>
          <a:ln w="12700">
            <a:solidFill>
              <a:srgbClr val="E4EAF2"/>
            </a:solidFill>
            <a:prstDash val="solid"/>
          </a:ln>
        </p:spPr>
      </p:sp>
      <p:sp>
        <p:nvSpPr>
          <p:cNvPr id="49" name="Shape 47"/>
          <p:cNvSpPr/>
          <p:nvPr/>
        </p:nvSpPr>
        <p:spPr>
          <a:xfrm>
            <a:off x="548640" y="5138928"/>
            <a:ext cx="82296" cy="841248"/>
          </a:xfrm>
          <a:prstGeom prst="rect">
            <a:avLst/>
          </a:prstGeom>
          <a:solidFill>
            <a:srgbClr val="E0900C"/>
          </a:solidFill>
          <a:ln/>
        </p:spPr>
      </p:sp>
      <p:sp>
        <p:nvSpPr>
          <p:cNvPr id="50" name="Text 48"/>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20" b="1" dirty="0">
                <a:solidFill>
                  <a:srgbClr val="0F1E3D"/>
                </a:solidFill>
                <a:latin typeface="Calibri" pitchFamily="34" charset="0"/>
                <a:ea typeface="Calibri" pitchFamily="34" charset="-122"/>
                <a:cs typeface="Calibri" pitchFamily="34" charset="-120"/>
              </a:rPr>
              <a:t>Our rates, our defensible numbers.  </a:t>
            </a:r>
            <a:pPr indent="0" marL="0">
              <a:lnSpc>
                <a:spcPct val="108000"/>
              </a:lnSpc>
              <a:buNone/>
            </a:pPr>
            <a:r>
              <a:rPr lang="en-US" sz="1120" dirty="0">
                <a:solidFill>
                  <a:srgbClr val="3E4C63"/>
                </a:solidFill>
                <a:latin typeface="Calibri" pitchFamily="34" charset="0"/>
                <a:ea typeface="Calibri" pitchFamily="34" charset="-122"/>
                <a:cs typeface="Calibri" pitchFamily="34" charset="-120"/>
              </a:rPr>
              <a:t>Quick to load (download → fill → upload), validated on the way in, versioned and auditable — and every costing across the platform immediately uses them.</a:t>
            </a:r>
            <a:endParaRPr lang="en-US" sz="112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LIVE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example — Aluminium HPDC casting,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simple 1.2 kg ADC12 aluminium die-casting (2-cavity, 800T), run through the real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 the true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−23% ex-works, narrowing to −12% landed once logistics &amp; duty are added — the model shows both.</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sp>
      <p:sp>
        <p:nvSpPr>
          <p:cNvPr id="20" name="Shape 16"/>
          <p:cNvSpPr/>
          <p:nvPr/>
        </p:nvSpPr>
        <p:spPr>
          <a:xfrm>
            <a:off x="548640" y="5074920"/>
            <a:ext cx="82296" cy="960120"/>
          </a:xfrm>
          <a:prstGeom prst="rect">
            <a:avLst/>
          </a:prstGeom>
          <a:solidFill>
            <a:srgbClr val="0EA472"/>
          </a:solidFill>
          <a:ln/>
        </p:spPr>
      </p:sp>
      <p:sp>
        <p:nvSpPr>
          <p:cNvPr id="21" name="Text 17"/>
          <p:cNvSpPr/>
          <p:nvPr/>
        </p:nvSpPr>
        <p:spPr>
          <a:xfrm>
            <a:off x="914400" y="5193792"/>
            <a:ext cx="73152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one versioned rate library</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Material factors, labour, energy and overhead all live in one versioned rate library — not scattered across spreadsheets.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Upload an updated, dated rate set and every part re-prices — one click, no re-keying, no stale spreadsheets.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Keeping should-costs current with the latest economics is a single upload, not a manual rebuild.</a:t>
            </a:r>
            <a:endParaRPr lang="en-US" sz="1080" dirty="0"/>
          </a:p>
        </p:txBody>
      </p:sp>
      <p:sp>
        <p:nvSpPr>
          <p:cNvPr id="23" name="Shape 19"/>
          <p:cNvSpPr/>
          <p:nvPr/>
        </p:nvSpPr>
        <p:spPr>
          <a:xfrm>
            <a:off x="548640" y="6400800"/>
            <a:ext cx="11094415" cy="12802"/>
          </a:xfrm>
          <a:prstGeom prst="rect">
            <a:avLst/>
          </a:prstGeom>
          <a:solidFill>
            <a:srgbClr val="E4EAF2"/>
          </a:solidFill>
          <a:ln/>
        </p:spPr>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Illustrative figures — the same teardown runs on our real supplier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sp>
      <p:sp>
        <p:nvSpPr>
          <p:cNvPr id="56" name="Shape 54"/>
          <p:cNvSpPr/>
          <p:nvPr/>
        </p:nvSpPr>
        <p:spPr>
          <a:xfrm>
            <a:off x="548640" y="5010912"/>
            <a:ext cx="82296" cy="914400"/>
          </a:xfrm>
          <a:prstGeom prst="rect">
            <a:avLst/>
          </a:prstGeom>
          <a:solidFill>
            <a:srgbClr val="7C3AED"/>
          </a:solidFill>
          <a:ln/>
        </p:spPr>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We stop arguing about the total and start negotiating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 before and after.</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944 automated tests across 81 suites, exercised end-to-end on the live system.</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us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 · CONTINUOUS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Built to stay right — quality that’s enforced, not promised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It isn’t enough to be right once. These guardrails run on every change, so the tool stays defensible as it evolves — quality is enforced by the build, not by memory.</a:t>
            </a:r>
            <a:endParaRPr lang="en-US" sz="1200" dirty="0"/>
          </a:p>
        </p:txBody>
      </p:sp>
      <p:sp>
        <p:nvSpPr>
          <p:cNvPr id="11" name="Shape 9"/>
          <p:cNvSpPr/>
          <p:nvPr/>
        </p:nvSpPr>
        <p:spPr>
          <a:xfrm>
            <a:off x="54864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2" name="Shape 10"/>
          <p:cNvSpPr/>
          <p:nvPr/>
        </p:nvSpPr>
        <p:spPr>
          <a:xfrm>
            <a:off x="548640" y="2084832"/>
            <a:ext cx="82296" cy="1335024"/>
          </a:xfrm>
          <a:prstGeom prst="rect">
            <a:avLst/>
          </a:prstGeom>
          <a:solidFill>
            <a:srgbClr val="2563EB"/>
          </a:solidFill>
          <a:ln/>
        </p:spPr>
      </p:sp>
      <p:sp>
        <p:nvSpPr>
          <p:cNvPr id="13" name="Shape 11"/>
          <p:cNvSpPr/>
          <p:nvPr/>
        </p:nvSpPr>
        <p:spPr>
          <a:xfrm>
            <a:off x="804672" y="2286000"/>
            <a:ext cx="457200" cy="457200"/>
          </a:xfrm>
          <a:prstGeom prst="ellipse">
            <a:avLst/>
          </a:prstGeom>
          <a:solidFill>
            <a:srgbClr val="EAF1FE"/>
          </a:solidFill>
          <a:ln/>
        </p:spPr>
      </p:sp>
      <p:sp>
        <p:nvSpPr>
          <p:cNvPr id="14" name="Text 12"/>
          <p:cNvSpPr/>
          <p:nvPr/>
        </p:nvSpPr>
        <p:spPr>
          <a:xfrm>
            <a:off x="804672" y="2276856"/>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5" name="Text 13"/>
          <p:cNvSpPr/>
          <p:nvPr/>
        </p:nvSpPr>
        <p:spPr>
          <a:xfrm>
            <a:off x="1335024" y="2322576"/>
            <a:ext cx="4434840" cy="45720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The golden rule, machine-enforced</a:t>
            </a:r>
            <a:endParaRPr lang="en-US" sz="1300" dirty="0"/>
          </a:p>
        </p:txBody>
      </p:sp>
      <p:sp>
        <p:nvSpPr>
          <p:cNvPr id="16" name="Text 14"/>
          <p:cNvSpPr/>
          <p:nvPr/>
        </p:nvSpPr>
        <p:spPr>
          <a:xfrm>
            <a:off x="82296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“AI never sets a price” is now a build-time check: if any AI dependency ever reaches the deterministic cost engine, the build fails. It cannot be bypassed.</a:t>
            </a:r>
            <a:endParaRPr lang="en-US" sz="1000" dirty="0"/>
          </a:p>
        </p:txBody>
      </p:sp>
      <p:sp>
        <p:nvSpPr>
          <p:cNvPr id="17" name="Shape 15"/>
          <p:cNvSpPr/>
          <p:nvPr/>
        </p:nvSpPr>
        <p:spPr>
          <a:xfrm>
            <a:off x="621792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18" name="Shape 16"/>
          <p:cNvSpPr/>
          <p:nvPr/>
        </p:nvSpPr>
        <p:spPr>
          <a:xfrm>
            <a:off x="6217920" y="2084832"/>
            <a:ext cx="82296" cy="1335024"/>
          </a:xfrm>
          <a:prstGeom prst="rect">
            <a:avLst/>
          </a:prstGeom>
          <a:solidFill>
            <a:srgbClr val="0DA5A0"/>
          </a:solidFill>
          <a:ln/>
        </p:spPr>
      </p:sp>
      <p:sp>
        <p:nvSpPr>
          <p:cNvPr id="19" name="Shape 17"/>
          <p:cNvSpPr/>
          <p:nvPr/>
        </p:nvSpPr>
        <p:spPr>
          <a:xfrm>
            <a:off x="6473952" y="2286000"/>
            <a:ext cx="457200" cy="457200"/>
          </a:xfrm>
          <a:prstGeom prst="ellipse">
            <a:avLst/>
          </a:prstGeom>
          <a:solidFill>
            <a:srgbClr val="E7F7F0"/>
          </a:solidFill>
          <a:ln/>
        </p:spPr>
      </p:sp>
      <p:sp>
        <p:nvSpPr>
          <p:cNvPr id="20" name="Text 18"/>
          <p:cNvSpPr/>
          <p:nvPr/>
        </p:nvSpPr>
        <p:spPr>
          <a:xfrm>
            <a:off x="6473952" y="2276856"/>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1" name="Text 19"/>
          <p:cNvSpPr/>
          <p:nvPr/>
        </p:nvSpPr>
        <p:spPr>
          <a:xfrm>
            <a:off x="7004304" y="2322576"/>
            <a:ext cx="4434840" cy="457200"/>
          </a:xfrm>
          <a:prstGeom prst="rect">
            <a:avLst/>
          </a:prstGeom>
          <a:noFill/>
          <a:ln/>
        </p:spPr>
        <p:txBody>
          <a:bodyPr wrap="square" lIns="0" tIns="0" rIns="0" bIns="0" rtlCol="0" anchor="ctr"/>
          <a:lstStyle/>
          <a:p>
            <a:pPr indent="0" marL="0">
              <a:buNone/>
            </a:pPr>
            <a:r>
              <a:rPr lang="en-US" sz="1300" b="1" dirty="0">
                <a:solidFill>
                  <a:srgbClr val="0DA5A0"/>
                </a:solidFill>
                <a:latin typeface="Calibri" pitchFamily="34" charset="0"/>
                <a:ea typeface="Calibri" pitchFamily="34" charset="-122"/>
                <a:cs typeface="Calibri" pitchFamily="34" charset="-120"/>
              </a:rPr>
              <a:t>Accuracy measured every build</a:t>
            </a:r>
            <a:endParaRPr lang="en-US" sz="1300" dirty="0"/>
          </a:p>
        </p:txBody>
      </p:sp>
      <p:sp>
        <p:nvSpPr>
          <p:cNvPr id="22" name="Text 20"/>
          <p:cNvSpPr/>
          <p:nvPr/>
        </p:nvSpPr>
        <p:spPr>
          <a:xfrm>
            <a:off x="649224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CAD feature detection is scored against hand-verified golden parts — precision, recall, F1 (≈0.96 today). A floor gate catches any drop before it ships.</a:t>
            </a:r>
            <a:endParaRPr lang="en-US" sz="1000" dirty="0"/>
          </a:p>
        </p:txBody>
      </p:sp>
      <p:sp>
        <p:nvSpPr>
          <p:cNvPr id="23" name="Shape 21"/>
          <p:cNvSpPr/>
          <p:nvPr/>
        </p:nvSpPr>
        <p:spPr>
          <a:xfrm>
            <a:off x="54864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24" name="Shape 22"/>
          <p:cNvSpPr/>
          <p:nvPr/>
        </p:nvSpPr>
        <p:spPr>
          <a:xfrm>
            <a:off x="548640" y="3566160"/>
            <a:ext cx="82296" cy="1335024"/>
          </a:xfrm>
          <a:prstGeom prst="rect">
            <a:avLst/>
          </a:prstGeom>
          <a:solidFill>
            <a:srgbClr val="0EA472"/>
          </a:solidFill>
          <a:ln/>
        </p:spPr>
      </p:sp>
      <p:sp>
        <p:nvSpPr>
          <p:cNvPr id="25" name="Shape 23"/>
          <p:cNvSpPr/>
          <p:nvPr/>
        </p:nvSpPr>
        <p:spPr>
          <a:xfrm>
            <a:off x="804672" y="3767328"/>
            <a:ext cx="457200" cy="457200"/>
          </a:xfrm>
          <a:prstGeom prst="ellipse">
            <a:avLst/>
          </a:prstGeom>
          <a:solidFill>
            <a:srgbClr val="E7F7F0"/>
          </a:solidFill>
          <a:ln/>
        </p:spPr>
      </p:sp>
      <p:sp>
        <p:nvSpPr>
          <p:cNvPr id="26" name="Text 24"/>
          <p:cNvSpPr/>
          <p:nvPr/>
        </p:nvSpPr>
        <p:spPr>
          <a:xfrm>
            <a:off x="804672" y="3758184"/>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27" name="Text 25"/>
          <p:cNvSpPr/>
          <p:nvPr/>
        </p:nvSpPr>
        <p:spPr>
          <a:xfrm>
            <a:off x="1335024" y="3803904"/>
            <a:ext cx="44348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Every change guarded</a:t>
            </a:r>
            <a:endParaRPr lang="en-US" sz="1300" dirty="0"/>
          </a:p>
        </p:txBody>
      </p:sp>
      <p:sp>
        <p:nvSpPr>
          <p:cNvPr id="28" name="Text 26"/>
          <p:cNvSpPr/>
          <p:nvPr/>
        </p:nvSpPr>
        <p:spPr>
          <a:xfrm>
            <a:off x="82296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944 automated tests plus visual-regression screenshots of the key screens — a logic or UI regression fails the build, not the customer demo.</a:t>
            </a:r>
            <a:endParaRPr lang="en-US" sz="1000" dirty="0"/>
          </a:p>
        </p:txBody>
      </p:sp>
      <p:sp>
        <p:nvSpPr>
          <p:cNvPr id="29" name="Shape 27"/>
          <p:cNvSpPr/>
          <p:nvPr/>
        </p:nvSpPr>
        <p:spPr>
          <a:xfrm>
            <a:off x="621792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30" name="Shape 28"/>
          <p:cNvSpPr/>
          <p:nvPr/>
        </p:nvSpPr>
        <p:spPr>
          <a:xfrm>
            <a:off x="6217920" y="3566160"/>
            <a:ext cx="82296" cy="1335024"/>
          </a:xfrm>
          <a:prstGeom prst="rect">
            <a:avLst/>
          </a:prstGeom>
          <a:solidFill>
            <a:srgbClr val="7C3AED"/>
          </a:solidFill>
          <a:ln/>
        </p:spPr>
      </p:sp>
      <p:sp>
        <p:nvSpPr>
          <p:cNvPr id="31" name="Shape 29"/>
          <p:cNvSpPr/>
          <p:nvPr/>
        </p:nvSpPr>
        <p:spPr>
          <a:xfrm>
            <a:off x="6473952" y="3767328"/>
            <a:ext cx="457200" cy="457200"/>
          </a:xfrm>
          <a:prstGeom prst="ellipse">
            <a:avLst/>
          </a:prstGeom>
          <a:solidFill>
            <a:srgbClr val="F3EEFE"/>
          </a:solidFill>
          <a:ln/>
        </p:spPr>
      </p:sp>
      <p:sp>
        <p:nvSpPr>
          <p:cNvPr id="32" name="Text 30"/>
          <p:cNvSpPr/>
          <p:nvPr/>
        </p:nvSpPr>
        <p:spPr>
          <a:xfrm>
            <a:off x="6473952" y="3758184"/>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33" name="Text 31"/>
          <p:cNvSpPr/>
          <p:nvPr/>
        </p:nvSpPr>
        <p:spPr>
          <a:xfrm>
            <a:off x="7004304" y="3803904"/>
            <a:ext cx="4434840" cy="4572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Confidence on every number</a:t>
            </a:r>
            <a:endParaRPr lang="en-US" sz="1300" dirty="0"/>
          </a:p>
        </p:txBody>
      </p:sp>
      <p:sp>
        <p:nvSpPr>
          <p:cNvPr id="34" name="Text 32"/>
          <p:cNvSpPr/>
          <p:nvPr/>
        </p:nvSpPr>
        <p:spPr>
          <a:xfrm>
            <a:off x="649224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Each should-cost shows a P10–P50–P90 band, colour-graded by width — an honest range a buyer can defend, never a false single figure.</a:t>
            </a:r>
            <a:endParaRPr lang="en-US" sz="1000" dirty="0"/>
          </a:p>
        </p:txBody>
      </p:sp>
      <p:sp>
        <p:nvSpPr>
          <p:cNvPr id="35" name="Shape 33"/>
          <p:cNvSpPr/>
          <p:nvPr/>
        </p:nvSpPr>
        <p:spPr>
          <a:xfrm>
            <a:off x="548640" y="5138928"/>
            <a:ext cx="11091672" cy="841248"/>
          </a:xfrm>
          <a:prstGeom prst="roundRect">
            <a:avLst>
              <a:gd name="adj" fmla="val 7609"/>
            </a:avLst>
          </a:prstGeom>
          <a:solidFill>
            <a:srgbClr val="E7F7F0"/>
          </a:solidFill>
          <a:ln w="12700">
            <a:solidFill>
              <a:srgbClr val="E4EAF2"/>
            </a:solidFill>
            <a:prstDash val="solid"/>
          </a:ln>
        </p:spPr>
      </p:sp>
      <p:sp>
        <p:nvSpPr>
          <p:cNvPr id="36" name="Shape 34"/>
          <p:cNvSpPr/>
          <p:nvPr/>
        </p:nvSpPr>
        <p:spPr>
          <a:xfrm>
            <a:off x="548640" y="5138928"/>
            <a:ext cx="82296" cy="841248"/>
          </a:xfrm>
          <a:prstGeom prst="rect">
            <a:avLst/>
          </a:prstGeom>
          <a:solidFill>
            <a:srgbClr val="0EA472"/>
          </a:solidFill>
          <a:ln/>
        </p:spPr>
      </p:sp>
      <p:sp>
        <p:nvSpPr>
          <p:cNvPr id="37" name="Text 35"/>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50" b="1" dirty="0">
                <a:solidFill>
                  <a:srgbClr val="0F1E3D"/>
                </a:solidFill>
                <a:latin typeface="Calibri" pitchFamily="34" charset="0"/>
                <a:ea typeface="Calibri" pitchFamily="34" charset="-122"/>
                <a:cs typeface="Calibri" pitchFamily="34" charset="-120"/>
              </a:rPr>
              <a:t>Bottom line: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the number we put in front of a supplier is defensible by construction — and stays that way. Quality isn’t reviewed in after the fact; it’s enforced on every commit.</a:t>
            </a:r>
            <a:endParaRPr lang="en-US" sz="115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Text 8"/>
          <p:cNvSpPr/>
          <p:nvPr/>
        </p:nvSpPr>
        <p:spPr>
          <a:xfrm>
            <a:off x="548640" y="1554480"/>
            <a:ext cx="11064240" cy="320040"/>
          </a:xfrm>
          <a:prstGeom prst="rect">
            <a:avLst/>
          </a:prstGeom>
          <a:noFill/>
          <a:ln/>
        </p:spPr>
        <p:txBody>
          <a:bodyPr wrap="square" lIns="0" tIns="0" rIns="0" bIns="0" rtlCol="0" anchor="t"/>
          <a:lstStyle/>
          <a:p>
            <a:pPr indent="0" marL="0">
              <a:buNone/>
            </a:pPr>
            <a:r>
              <a:rPr lang="en-US" sz="1150" dirty="0">
                <a:solidFill>
                  <a:srgbClr val="3E4C63"/>
                </a:solidFill>
                <a:latin typeface="Calibri" pitchFamily="34" charset="0"/>
                <a:ea typeface="Calibri" pitchFamily="34" charset="-122"/>
                <a:cs typeface="Calibri" pitchFamily="34" charset="-120"/>
              </a:rPr>
              <a:t>Not a prototype or a thin wrapper around a chatbot — a substantial, tested, full-stack platform, custom-built in-house (AI-accelerated).</a:t>
            </a:r>
            <a:endParaRPr lang="en-US" sz="11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12" name="Shape 10"/>
          <p:cNvSpPr/>
          <p:nvPr/>
        </p:nvSpPr>
        <p:spPr>
          <a:xfrm>
            <a:off x="548640" y="1874520"/>
            <a:ext cx="82296" cy="1143000"/>
          </a:xfrm>
          <a:prstGeom prst="rect">
            <a:avLst/>
          </a:prstGeom>
          <a:solidFill>
            <a:srgbClr val="4F46E5"/>
          </a:solidFill>
          <a:ln/>
        </p:spPr>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~75,000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custom code, built in-house</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sp>
      <p:sp>
        <p:nvSpPr>
          <p:cNvPr id="16" name="Shape 14"/>
          <p:cNvSpPr/>
          <p:nvPr/>
        </p:nvSpPr>
        <p:spPr>
          <a:xfrm>
            <a:off x="3319272" y="1874520"/>
            <a:ext cx="82296" cy="1143000"/>
          </a:xfrm>
          <a:prstGeom prst="rect">
            <a:avLst/>
          </a:prstGeom>
          <a:solidFill>
            <a:srgbClr val="0EA472"/>
          </a:solidFill>
          <a:ln/>
        </p:spPr>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944</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 · 81 suites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sp>
      <p:sp>
        <p:nvSpPr>
          <p:cNvPr id="20" name="Shape 18"/>
          <p:cNvSpPr/>
          <p:nvPr/>
        </p:nvSpPr>
        <p:spPr>
          <a:xfrm>
            <a:off x="6089904" y="1874520"/>
            <a:ext cx="82296" cy="1143000"/>
          </a:xfrm>
          <a:prstGeom prst="rect">
            <a:avLst/>
          </a:prstGeom>
          <a:solidFill>
            <a:srgbClr val="E0900C"/>
          </a:solidFill>
          <a:ln/>
        </p:spPr>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purpose-built cost engines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sp>
      <p:sp>
        <p:nvSpPr>
          <p:cNvPr id="24" name="Shape 22"/>
          <p:cNvSpPr/>
          <p:nvPr/>
        </p:nvSpPr>
        <p:spPr>
          <a:xfrm>
            <a:off x="8860536" y="1874520"/>
            <a:ext cx="82296" cy="1143000"/>
          </a:xfrm>
          <a:prstGeom prst="rect">
            <a:avLst/>
          </a:prstGeom>
          <a:solidFill>
            <a:srgbClr val="0E93B0"/>
          </a:solidFill>
          <a:ln/>
        </p:spPr>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5</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languages &amp; runtimes in the stack</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16,000-line deterministic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auditable "money maths" — 19 commodities,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Python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OCCT/CadQuery reads STEP, IGES &amp; STL — genuine CAD engineering</a:t>
            </a:r>
            <a:endParaRPr lang="en-US" sz="960" dirty="0"/>
          </a:p>
        </p:txBody>
      </p:sp>
      <p:sp>
        <p:nvSpPr>
          <p:cNvPr id="38" name="Shape 35"/>
          <p:cNvSpPr/>
          <p:nvPr/>
        </p:nvSpPr>
        <p:spPr>
          <a:xfrm>
            <a:off x="7114032" y="4636008"/>
            <a:ext cx="274320" cy="274320"/>
          </a:xfrm>
          <a:prstGeom prst="ellipse">
            <a:avLst/>
          </a:prstGeom>
          <a:solidFill>
            <a:srgbClr val="EAF1FE"/>
          </a:solidFill>
          <a:ln/>
        </p:spPr>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backend &amp; UI, Three.js 3D, SQLite, Python — one system</a:t>
            </a:r>
            <a:endParaRPr lang="en-US" sz="960" dirty="0"/>
          </a:p>
        </p:txBody>
      </p:sp>
      <p:sp>
        <p:nvSpPr>
          <p:cNvPr id="41" name="Shape 38"/>
          <p:cNvSpPr/>
          <p:nvPr/>
        </p:nvSpPr>
        <p:spPr>
          <a:xfrm>
            <a:off x="7114032" y="5093208"/>
            <a:ext cx="274320" cy="274320"/>
          </a:xfrm>
          <a:prstGeom prst="ellipse">
            <a:avLst/>
          </a:prstGeom>
          <a:solidFill>
            <a:srgbClr val="E7F7F0"/>
          </a:solidFill>
          <a:ln/>
        </p:spPr>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~9,900 lines of tests, 944 passing — it does not silently regress</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sp>
      <p:sp>
        <p:nvSpPr>
          <p:cNvPr id="45" name="Shape 42"/>
          <p:cNvSpPr/>
          <p:nvPr/>
        </p:nvSpPr>
        <p:spPr>
          <a:xfrm>
            <a:off x="548640" y="5742432"/>
            <a:ext cx="82296" cy="457200"/>
          </a:xfrm>
          <a:prstGeom prst="rect">
            <a:avLst/>
          </a:prstGeom>
          <a:solidFill>
            <a:srgbClr val="4F46E5"/>
          </a:solidFill>
          <a:ln/>
        </p:spPr>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depth of engineering is exactly why the intelligence is a durable, proprietary company asset — not a subscription that can be switched off.</a:t>
            </a:r>
            <a:endParaRPr lang="en-US" sz="1100" dirty="0"/>
          </a:p>
        </p:txBody>
      </p:sp>
      <p:sp>
        <p:nvSpPr>
          <p:cNvPr id="47" name="Shape 44"/>
          <p:cNvSpPr/>
          <p:nvPr/>
        </p:nvSpPr>
        <p:spPr>
          <a:xfrm>
            <a:off x="548640" y="6400800"/>
            <a:ext cx="11094415" cy="12802"/>
          </a:xfrm>
          <a:prstGeom prst="rect">
            <a:avLst/>
          </a:prstGeom>
          <a:solidFill>
            <a:srgbClr val="E4EAF2"/>
          </a:solidFill>
          <a:ln/>
        </p:spPr>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us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our data, our infrastructure, our IP.</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1874520"/>
            <a:ext cx="82296" cy="1600200"/>
          </a:xfrm>
          <a:prstGeom prst="rect">
            <a:avLst/>
          </a:prstGeom>
          <a:solidFill>
            <a:srgbClr val="0EA472"/>
          </a:solidFill>
          <a:ln/>
        </p:spPr>
      </p:sp>
      <p:sp>
        <p:nvSpPr>
          <p:cNvPr id="13" name="Shape 11"/>
          <p:cNvSpPr/>
          <p:nvPr/>
        </p:nvSpPr>
        <p:spPr>
          <a:xfrm>
            <a:off x="786384" y="2075688"/>
            <a:ext cx="457200" cy="457200"/>
          </a:xfrm>
          <a:prstGeom prst="ellipse">
            <a:avLst/>
          </a:prstGeom>
          <a:solidFill>
            <a:srgbClr val="E7F7F0"/>
          </a:solidFill>
          <a:ln/>
        </p:spPr>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Runs inside our own walls — the knowledge base and every analysis are stored on our servers and never retained by any vendor.</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8" name="Shape 16"/>
          <p:cNvSpPr/>
          <p:nvPr/>
        </p:nvSpPr>
        <p:spPr>
          <a:xfrm>
            <a:off x="4325112" y="1874520"/>
            <a:ext cx="82296" cy="1600200"/>
          </a:xfrm>
          <a:prstGeom prst="rect">
            <a:avLst/>
          </a:prstGeom>
          <a:solidFill>
            <a:srgbClr val="2563EB"/>
          </a:solidFill>
          <a:ln/>
        </p:spPr>
      </p:sp>
      <p:sp>
        <p:nvSpPr>
          <p:cNvPr id="19" name="Shape 17"/>
          <p:cNvSpPr/>
          <p:nvPr/>
        </p:nvSpPr>
        <p:spPr>
          <a:xfrm>
            <a:off x="4562856" y="2075688"/>
            <a:ext cx="457200" cy="457200"/>
          </a:xfrm>
          <a:prstGeom prst="ellipse">
            <a:avLst/>
          </a:prstGeom>
          <a:solidFill>
            <a:srgbClr val="EAF1FE"/>
          </a:solidFill>
          <a:ln/>
        </p:spPr>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AI key lives server-side (.env) — the browser never sees it. AI calls proxy through our server to the model endpoint.</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4" name="Shape 22"/>
          <p:cNvSpPr/>
          <p:nvPr/>
        </p:nvSpPr>
        <p:spPr>
          <a:xfrm>
            <a:off x="8101584" y="1874520"/>
            <a:ext cx="82296" cy="1600200"/>
          </a:xfrm>
          <a:prstGeom prst="rect">
            <a:avLst/>
          </a:prstGeom>
          <a:solidFill>
            <a:srgbClr val="7C3AED"/>
          </a:solidFill>
          <a:ln/>
        </p:spPr>
      </p:sp>
      <p:sp>
        <p:nvSpPr>
          <p:cNvPr id="25" name="Shape 23"/>
          <p:cNvSpPr/>
          <p:nvPr/>
        </p:nvSpPr>
        <p:spPr>
          <a:xfrm>
            <a:off x="8339328" y="2075688"/>
            <a:ext cx="457200" cy="457200"/>
          </a:xfrm>
          <a:prstGeom prst="ellipse">
            <a:avLst/>
          </a:prstGeom>
          <a:solidFill>
            <a:srgbClr val="F3EEFE"/>
          </a:solidFill>
          <a:ln/>
        </p:spPr>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Private routing (ANTHROPIC_BASE_URL) or air-gapped mode keeps even the AI request in-network for the most sensitive programmes.</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548640" y="3657600"/>
            <a:ext cx="82296" cy="1600200"/>
          </a:xfrm>
          <a:prstGeom prst="rect">
            <a:avLst/>
          </a:prstGeom>
          <a:solidFill>
            <a:srgbClr val="0E93B0"/>
          </a:solidFill>
          <a:ln/>
        </p:spPr>
      </p:sp>
      <p:sp>
        <p:nvSpPr>
          <p:cNvPr id="31" name="Shape 29"/>
          <p:cNvSpPr/>
          <p:nvPr/>
        </p:nvSpPr>
        <p:spPr>
          <a:xfrm>
            <a:off x="786384" y="3858768"/>
            <a:ext cx="457200" cy="457200"/>
          </a:xfrm>
          <a:prstGeom prst="ellipse">
            <a:avLst/>
          </a:prstGeom>
          <a:solidFill>
            <a:srgbClr val="E8F6FA"/>
          </a:solidFill>
          <a:ln/>
        </p:spPr>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6" name="Shape 34"/>
          <p:cNvSpPr/>
          <p:nvPr/>
        </p:nvSpPr>
        <p:spPr>
          <a:xfrm>
            <a:off x="4325112" y="3657600"/>
            <a:ext cx="82296" cy="1600200"/>
          </a:xfrm>
          <a:prstGeom prst="rect">
            <a:avLst/>
          </a:prstGeom>
          <a:solidFill>
            <a:srgbClr val="E0900C"/>
          </a:solidFill>
          <a:ln/>
        </p:spPr>
      </p:sp>
      <p:sp>
        <p:nvSpPr>
          <p:cNvPr id="37" name="Shape 35"/>
          <p:cNvSpPr/>
          <p:nvPr/>
        </p:nvSpPr>
        <p:spPr>
          <a:xfrm>
            <a:off x="4562856" y="3858768"/>
            <a:ext cx="457200" cy="457200"/>
          </a:xfrm>
          <a:prstGeom prst="ellipse">
            <a:avLst/>
          </a:prstGeom>
          <a:solidFill>
            <a:srgbClr val="FEF6E7"/>
          </a:solidFill>
          <a:ln/>
        </p:spPr>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2" name="Shape 40"/>
          <p:cNvSpPr/>
          <p:nvPr/>
        </p:nvSpPr>
        <p:spPr>
          <a:xfrm>
            <a:off x="8101584" y="3657600"/>
            <a:ext cx="82296" cy="1600200"/>
          </a:xfrm>
          <a:prstGeom prst="rect">
            <a:avLst/>
          </a:prstGeom>
          <a:solidFill>
            <a:srgbClr val="0DA5A0"/>
          </a:solidFill>
          <a:ln/>
        </p:spPr>
      </p:sp>
      <p:sp>
        <p:nvSpPr>
          <p:cNvPr id="43" name="Shape 41"/>
          <p:cNvSpPr/>
          <p:nvPr/>
        </p:nvSpPr>
        <p:spPr>
          <a:xfrm>
            <a:off x="8339328" y="3858768"/>
            <a:ext cx="457200" cy="457200"/>
          </a:xfrm>
          <a:prstGeom prst="ellipse">
            <a:avLst/>
          </a:prstGeom>
          <a:solidFill>
            <a:srgbClr val="E7F7F0"/>
          </a:solidFill>
          <a:ln/>
        </p:spPr>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sp>
      <p:sp>
        <p:nvSpPr>
          <p:cNvPr id="48" name="Shape 46"/>
          <p:cNvSpPr/>
          <p:nvPr/>
        </p:nvSpPr>
        <p:spPr>
          <a:xfrm>
            <a:off x="548640" y="5367528"/>
            <a:ext cx="82296" cy="502920"/>
          </a:xfrm>
          <a:prstGeom prst="rect">
            <a:avLst/>
          </a:prstGeom>
          <a:solidFill>
            <a:srgbClr val="0EA472"/>
          </a:solidFill>
          <a:ln/>
        </p:spPr>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actually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only the AI inference request, sent via our own server and not retained by the model provider — and in air-gapped / private-routing mode, not even that. Our data, our infrastructure, our IP.</a:t>
            </a:r>
            <a:endParaRPr lang="en-US" sz="105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we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640080"/>
            <a:ext cx="457200" cy="457200"/>
          </a:xfrm>
          <a:prstGeom prst="roundRect">
            <a:avLst>
              <a:gd name="adj" fmla="val 24000"/>
            </a:avLst>
          </a:prstGeom>
          <a:solidFill>
            <a:srgbClr val="4F46E5"/>
          </a:solidFill>
          <a:ln/>
        </p:spPr>
      </p:sp>
      <p:sp>
        <p:nvSpPr>
          <p:cNvPr id="7" name="Text 5"/>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8" name="Text 6"/>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9" name="Text 7"/>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0" name="Text 8"/>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1" name="Text 9"/>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2" name="Shape 10"/>
          <p:cNvSpPr/>
          <p:nvPr/>
        </p:nvSpPr>
        <p:spPr>
          <a:xfrm>
            <a:off x="822960" y="4206240"/>
            <a:ext cx="3383280" cy="1280160"/>
          </a:xfrm>
          <a:prstGeom prst="roundRect">
            <a:avLst>
              <a:gd name="adj" fmla="val 5714"/>
            </a:avLst>
          </a:prstGeom>
          <a:solidFill>
            <a:srgbClr val="FFFFFF">
              <a:alpha val="94000"/>
            </a:srgbClr>
          </a:solidFill>
          <a:ln/>
        </p:spPr>
      </p:sp>
      <p:sp>
        <p:nvSpPr>
          <p:cNvPr id="13" name="Shape 11"/>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sp>
      <p:sp>
        <p:nvSpPr>
          <p:cNvPr id="14" name="Text 12"/>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5" name="Text 13"/>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on-premise pilot</a:t>
            </a:r>
            <a:endParaRPr lang="en-US" sz="1200" dirty="0"/>
          </a:p>
        </p:txBody>
      </p:sp>
      <p:sp>
        <p:nvSpPr>
          <p:cNvPr id="16" name="Text 14"/>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7" name="Shape 15"/>
          <p:cNvSpPr/>
          <p:nvPr/>
        </p:nvSpPr>
        <p:spPr>
          <a:xfrm>
            <a:off x="4434840" y="4206240"/>
            <a:ext cx="3383280" cy="1280160"/>
          </a:xfrm>
          <a:prstGeom prst="roundRect">
            <a:avLst>
              <a:gd name="adj" fmla="val 5714"/>
            </a:avLst>
          </a:prstGeom>
          <a:solidFill>
            <a:srgbClr val="FFFFFF">
              <a:alpha val="94000"/>
            </a:srgbClr>
          </a:solidFill>
          <a:ln/>
        </p:spPr>
      </p:sp>
      <p:sp>
        <p:nvSpPr>
          <p:cNvPr id="18" name="Shape 16"/>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sp>
      <p:sp>
        <p:nvSpPr>
          <p:cNvPr id="19" name="Text 17"/>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0" name="Text 18"/>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1" name="Text 19"/>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2" name="Shape 20"/>
          <p:cNvSpPr/>
          <p:nvPr/>
        </p:nvSpPr>
        <p:spPr>
          <a:xfrm>
            <a:off x="8046720" y="4206240"/>
            <a:ext cx="3383280" cy="1280160"/>
          </a:xfrm>
          <a:prstGeom prst="roundRect">
            <a:avLst>
              <a:gd name="adj" fmla="val 5714"/>
            </a:avLst>
          </a:prstGeom>
          <a:solidFill>
            <a:srgbClr val="FFFFFF">
              <a:alpha val="94000"/>
            </a:srgbClr>
          </a:solidFill>
          <a:ln/>
        </p:spPr>
      </p:sp>
      <p:sp>
        <p:nvSpPr>
          <p:cNvPr id="23" name="Shape 21"/>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sp>
      <p:sp>
        <p:nvSpPr>
          <p:cNvPr id="24" name="Text 22"/>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5" name="Text 23"/>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Put agent findings on the agenda</a:t>
            </a:r>
            <a:endParaRPr lang="en-US" sz="1200" dirty="0"/>
          </a:p>
        </p:txBody>
      </p:sp>
      <p:sp>
        <p:nvSpPr>
          <p:cNvPr id="26" name="Text 24"/>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7" name="Text 25"/>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2026-07-21T11:12:19Z</dcterms:created>
  <dcterms:modified xsi:type="dcterms:W3CDTF">2026-07-21T11:12:19Z</dcterms:modified>
</cp:coreProperties>
</file>