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2021 training data. Point at the example card: a real Zeekr-benchmarked idea, with an annual saving, a difficulty flag, and — crucially —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So TRIZ actually walks the contradiction matrix; DFA actually computes the Boothroyd-Dewhurst theoretical minimum part count; Value Engineering computes a real value index. The message: method from theory, numbers from the engine, wording from the AI. Each of these is a lens an engineer can apply to the same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thousands of verified ideas an engineer can pull from instead of starting blank, each already carrying an engine-checked cost. On the right, the analytics turn ideas into decisions: confidence bands so we're honest about uncertainty, an ROI calculator for the business case, and a pipeline that tracks a saving from first idea through to committed.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four beats only, mirroring the workflow slide: generate ideas for a system, upload a CAD part to show feature-based cost and the 3D viewer, run a should-cost and an AI cost-down so they see the engine verify in real time, then finish on the pipeline and ROI so it lands as a business tool.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'Now' is real and demonstrable today — don't undersell it. 'Next' is the near-term engineering: more commodities and tighter calibration from real quotes. 'Later' is the vision — collaboration, PLM/ERP integration and portfolio-level cost intelligence. The subtext for the Director: this isn't finished-and-frozen, it's a living platform with a clear direction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6-Wave</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engineering build</a:t>
            </a:r>
          </a:p>
        </p:txBody>
      </p:sp>
      <p:sp>
        <p:nvSpPr>
          <p:cNvPr id="12" name="Rounded Rectangle 11"/>
          <p:cNvSpPr/>
          <p:nvPr/>
        </p:nvSpPr>
        <p:spPr>
          <a:xfrm>
            <a:off x="35204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13+</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vehicle systems</a:t>
            </a:r>
          </a:p>
        </p:txBody>
      </p:sp>
      <p:sp>
        <p:nvSpPr>
          <p:cNvPr id="15" name="Rounded Rectangle 14"/>
          <p:cNvSpPr/>
          <p:nvPr/>
        </p:nvSpPr>
        <p:spPr>
          <a:xfrm>
            <a:off x="60350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7</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innovation methods</a:t>
            </a:r>
          </a:p>
        </p:txBody>
      </p:sp>
      <p:sp>
        <p:nvSpPr>
          <p:cNvPr id="18" name="Rounded Rectangle 17"/>
          <p:cNvSpPr/>
          <p:nvPr/>
        </p:nvSpPr>
        <p:spPr>
          <a:xfrm>
            <a:off x="85496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the selected system, vehicle type, body style, volume and plant region.</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Grounded, not guessed</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Live web search pulls current commodity costs and last-18-months innovations before ideating.</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and circularity lenses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Savings, difficulty, timeline and a should-cost check attached to each idea.</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4191381"/>
            <a:ext cx="822960" cy="134073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4" name="Rounded Rectangle 23"/>
          <p:cNvSpPr/>
          <p:nvPr/>
        </p:nvSpPr>
        <p:spPr>
          <a:xfrm>
            <a:off x="2926080" y="4910328"/>
            <a:ext cx="822960" cy="62179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16.0%</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Real methodology as deterministic logic — not a chatbot prompt. The AI turns each method's output into concrete embodiments.</a:t>
            </a:r>
          </a:p>
        </p:txBody>
      </p:sp>
      <p:sp>
        <p:nvSpPr>
          <p:cNvPr id="12" name="Rounded Rectangle 11"/>
          <p:cNvSpPr/>
          <p:nvPr/>
        </p:nvSpPr>
        <p:spPr>
          <a:xfrm>
            <a:off x="548640" y="214884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48840"/>
            <a:ext cx="356616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68880"/>
            <a:ext cx="356616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148840"/>
            <a:ext cx="3108960" cy="640080"/>
          </a:xfrm>
          <a:prstGeom prst="rect">
            <a:avLst/>
          </a:prstGeom>
          <a:noFill/>
        </p:spPr>
        <p:txBody>
          <a:bodyPr wrap="square" anchor="ctr" lIns="0" rIns="0" tIns="0" bIns="0">
            <a:spAutoFit/>
          </a:bodyPr>
          <a:lstStyle/>
          <a:p>
            <a:pPr algn="l">
              <a:lnSpc>
                <a:spcPct val="100000"/>
              </a:lnSpc>
            </a:pPr>
            <a:r>
              <a:rPr sz="1600" b="1" i="0">
                <a:solidFill>
                  <a:srgbClr val="FFFFFF"/>
                </a:solidFill>
                <a:latin typeface="Segoe UI Semibold"/>
              </a:rPr>
              <a:t>TRIZ</a:t>
            </a:r>
          </a:p>
        </p:txBody>
      </p:sp>
      <p:sp>
        <p:nvSpPr>
          <p:cNvPr id="16" name="TextBox 15"/>
          <p:cNvSpPr txBox="1"/>
          <p:nvPr/>
        </p:nvSpPr>
        <p:spPr>
          <a:xfrm>
            <a:off x="822960" y="2926080"/>
            <a:ext cx="3063240" cy="731520"/>
          </a:xfrm>
          <a:prstGeom prst="rect">
            <a:avLst/>
          </a:prstGeom>
          <a:noFill/>
        </p:spPr>
        <p:txBody>
          <a:bodyPr wrap="square" anchor="t" lIns="0" rIns="0" tIns="0" bIns="0">
            <a:spAutoFit/>
          </a:bodyPr>
          <a:lstStyle/>
          <a:p>
            <a:pPr algn="l">
              <a:lnSpc>
                <a:spcPct val="105000"/>
              </a:lnSpc>
            </a:pPr>
            <a:r>
              <a:rPr sz="1200" b="0" i="0">
                <a:solidFill>
                  <a:srgbClr val="374558"/>
                </a:solidFill>
                <a:latin typeface="Segoe UI"/>
              </a:rPr>
              <a:t>40 inventive principles + contradiction matrix</a:t>
            </a:r>
          </a:p>
        </p:txBody>
      </p:sp>
      <p:sp>
        <p:nvSpPr>
          <p:cNvPr id="17" name="Rounded Rectangle 16"/>
          <p:cNvSpPr/>
          <p:nvPr/>
        </p:nvSpPr>
        <p:spPr>
          <a:xfrm>
            <a:off x="4279392" y="214884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148840"/>
            <a:ext cx="356616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68880"/>
            <a:ext cx="356616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2148840"/>
            <a:ext cx="3108960" cy="640080"/>
          </a:xfrm>
          <a:prstGeom prst="rect">
            <a:avLst/>
          </a:prstGeom>
          <a:noFill/>
        </p:spPr>
        <p:txBody>
          <a:bodyPr wrap="square" anchor="ctr" lIns="0" rIns="0" tIns="0" bIns="0">
            <a:spAutoFit/>
          </a:bodyPr>
          <a:lstStyle/>
          <a:p>
            <a:pPr algn="l">
              <a:lnSpc>
                <a:spcPct val="100000"/>
              </a:lnSpc>
            </a:pPr>
            <a:r>
              <a:rPr sz="1600" b="1" i="0">
                <a:solidFill>
                  <a:srgbClr val="FFFFFF"/>
                </a:solidFill>
                <a:latin typeface="Segoe UI Semibold"/>
              </a:rPr>
              <a:t>Value Engineering</a:t>
            </a:r>
          </a:p>
        </p:txBody>
      </p:sp>
      <p:sp>
        <p:nvSpPr>
          <p:cNvPr id="21" name="TextBox 20"/>
          <p:cNvSpPr txBox="1"/>
          <p:nvPr/>
        </p:nvSpPr>
        <p:spPr>
          <a:xfrm>
            <a:off x="4553712" y="2926080"/>
            <a:ext cx="3063240" cy="731520"/>
          </a:xfrm>
          <a:prstGeom prst="rect">
            <a:avLst/>
          </a:prstGeom>
          <a:noFill/>
        </p:spPr>
        <p:txBody>
          <a:bodyPr wrap="square" anchor="t" lIns="0" rIns="0" tIns="0" bIns="0">
            <a:spAutoFit/>
          </a:bodyPr>
          <a:lstStyle/>
          <a:p>
            <a:pPr algn="l">
              <a:lnSpc>
                <a:spcPct val="105000"/>
              </a:lnSpc>
            </a:pPr>
            <a:r>
              <a:rPr sz="1200" b="0" i="0">
                <a:solidFill>
                  <a:srgbClr val="374558"/>
                </a:solidFill>
                <a:latin typeface="Segoe UI"/>
              </a:rPr>
              <a:t>Value index = worth ÷ cost, per function</a:t>
            </a:r>
          </a:p>
        </p:txBody>
      </p:sp>
      <p:sp>
        <p:nvSpPr>
          <p:cNvPr id="22" name="Rounded Rectangle 21"/>
          <p:cNvSpPr/>
          <p:nvPr/>
        </p:nvSpPr>
        <p:spPr>
          <a:xfrm>
            <a:off x="8010144" y="214884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148840"/>
            <a:ext cx="356616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468880"/>
            <a:ext cx="356616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4464" y="2148840"/>
            <a:ext cx="3108960" cy="640080"/>
          </a:xfrm>
          <a:prstGeom prst="rect">
            <a:avLst/>
          </a:prstGeom>
          <a:noFill/>
        </p:spPr>
        <p:txBody>
          <a:bodyPr wrap="square" anchor="ctr" lIns="0" rIns="0" tIns="0" bIns="0">
            <a:spAutoFit/>
          </a:bodyPr>
          <a:lstStyle/>
          <a:p>
            <a:pPr algn="l">
              <a:lnSpc>
                <a:spcPct val="100000"/>
              </a:lnSpc>
            </a:pPr>
            <a:r>
              <a:rPr sz="1600" b="1" i="0">
                <a:solidFill>
                  <a:srgbClr val="FFFFFF"/>
                </a:solidFill>
                <a:latin typeface="Segoe UI Semibold"/>
              </a:rPr>
              <a:t>DFA / DFMA</a:t>
            </a:r>
          </a:p>
        </p:txBody>
      </p:sp>
      <p:sp>
        <p:nvSpPr>
          <p:cNvPr id="26" name="TextBox 25"/>
          <p:cNvSpPr txBox="1"/>
          <p:nvPr/>
        </p:nvSpPr>
        <p:spPr>
          <a:xfrm>
            <a:off x="8284464" y="2926080"/>
            <a:ext cx="3063240" cy="731520"/>
          </a:xfrm>
          <a:prstGeom prst="rect">
            <a:avLst/>
          </a:prstGeom>
          <a:noFill/>
        </p:spPr>
        <p:txBody>
          <a:bodyPr wrap="square" anchor="t" lIns="0" rIns="0" tIns="0" bIns="0">
            <a:spAutoFit/>
          </a:bodyPr>
          <a:lstStyle/>
          <a:p>
            <a:pPr algn="l">
              <a:lnSpc>
                <a:spcPct val="105000"/>
              </a:lnSpc>
            </a:pPr>
            <a:r>
              <a:rPr sz="1200" b="0" i="0">
                <a:solidFill>
                  <a:srgbClr val="374558"/>
                </a:solidFill>
                <a:latin typeface="Segoe UI"/>
              </a:rPr>
              <a:t>Boothroyd-Dewhurst min-parts &amp; efficiency</a:t>
            </a:r>
          </a:p>
        </p:txBody>
      </p:sp>
      <p:sp>
        <p:nvSpPr>
          <p:cNvPr id="27" name="Rounded Rectangle 26"/>
          <p:cNvSpPr/>
          <p:nvPr/>
        </p:nvSpPr>
        <p:spPr>
          <a:xfrm>
            <a:off x="548640" y="393192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931920"/>
            <a:ext cx="3566160" cy="6400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251960"/>
            <a:ext cx="356616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931920"/>
            <a:ext cx="3108960" cy="640080"/>
          </a:xfrm>
          <a:prstGeom prst="rect">
            <a:avLst/>
          </a:prstGeom>
          <a:noFill/>
        </p:spPr>
        <p:txBody>
          <a:bodyPr wrap="square" anchor="ctr" lIns="0" rIns="0" tIns="0" bIns="0">
            <a:spAutoFit/>
          </a:bodyPr>
          <a:lstStyle/>
          <a:p>
            <a:pPr algn="l">
              <a:lnSpc>
                <a:spcPct val="100000"/>
              </a:lnSpc>
            </a:pPr>
            <a:r>
              <a:rPr sz="1600" b="1" i="0">
                <a:solidFill>
                  <a:srgbClr val="FFFFFF"/>
                </a:solidFill>
                <a:latin typeface="Segoe UI Semibold"/>
              </a:rPr>
              <a:t>Design-to-Cost</a:t>
            </a:r>
          </a:p>
        </p:txBody>
      </p:sp>
      <p:sp>
        <p:nvSpPr>
          <p:cNvPr id="31" name="TextBox 30"/>
          <p:cNvSpPr txBox="1"/>
          <p:nvPr/>
        </p:nvSpPr>
        <p:spPr>
          <a:xfrm>
            <a:off x="822960" y="4709160"/>
            <a:ext cx="3063240" cy="731520"/>
          </a:xfrm>
          <a:prstGeom prst="rect">
            <a:avLst/>
          </a:prstGeom>
          <a:noFill/>
        </p:spPr>
        <p:txBody>
          <a:bodyPr wrap="square" anchor="t" lIns="0" rIns="0" tIns="0" bIns="0">
            <a:spAutoFit/>
          </a:bodyPr>
          <a:lstStyle/>
          <a:p>
            <a:pPr algn="l">
              <a:lnSpc>
                <a:spcPct val="105000"/>
              </a:lnSpc>
            </a:pPr>
            <a:r>
              <a:rPr sz="1200" b="0" i="0">
                <a:solidFill>
                  <a:srgbClr val="374558"/>
                </a:solidFill>
                <a:latin typeface="Segoe UI"/>
              </a:rPr>
              <a:t>Allocates the cost gap across buckets</a:t>
            </a:r>
          </a:p>
        </p:txBody>
      </p:sp>
      <p:sp>
        <p:nvSpPr>
          <p:cNvPr id="32" name="Rounded Rectangle 31"/>
          <p:cNvSpPr/>
          <p:nvPr/>
        </p:nvSpPr>
        <p:spPr>
          <a:xfrm>
            <a:off x="4279392" y="393192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931920"/>
            <a:ext cx="356616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4251960"/>
            <a:ext cx="356616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53712" y="3931920"/>
            <a:ext cx="3108960" cy="640080"/>
          </a:xfrm>
          <a:prstGeom prst="rect">
            <a:avLst/>
          </a:prstGeom>
          <a:noFill/>
        </p:spPr>
        <p:txBody>
          <a:bodyPr wrap="square" anchor="ctr" lIns="0" rIns="0" tIns="0" bIns="0">
            <a:spAutoFit/>
          </a:bodyPr>
          <a:lstStyle/>
          <a:p>
            <a:pPr algn="l">
              <a:lnSpc>
                <a:spcPct val="100000"/>
              </a:lnSpc>
            </a:pPr>
            <a:r>
              <a:rPr sz="1600" b="1" i="0">
                <a:solidFill>
                  <a:srgbClr val="FFFFFF"/>
                </a:solidFill>
                <a:latin typeface="Segoe UI Semibold"/>
              </a:rPr>
              <a:t>SCAMPER</a:t>
            </a:r>
          </a:p>
        </p:txBody>
      </p:sp>
      <p:sp>
        <p:nvSpPr>
          <p:cNvPr id="36" name="TextBox 35"/>
          <p:cNvSpPr txBox="1"/>
          <p:nvPr/>
        </p:nvSpPr>
        <p:spPr>
          <a:xfrm>
            <a:off x="4553712" y="4709160"/>
            <a:ext cx="3063240" cy="731520"/>
          </a:xfrm>
          <a:prstGeom prst="rect">
            <a:avLst/>
          </a:prstGeom>
          <a:noFill/>
        </p:spPr>
        <p:txBody>
          <a:bodyPr wrap="square" anchor="t" lIns="0" rIns="0" tIns="0" bIns="0">
            <a:spAutoFit/>
          </a:bodyPr>
          <a:lstStyle/>
          <a:p>
            <a:pPr algn="l">
              <a:lnSpc>
                <a:spcPct val="105000"/>
              </a:lnSpc>
            </a:pPr>
            <a:r>
              <a:rPr sz="1200" b="0" i="0">
                <a:solidFill>
                  <a:srgbClr val="374558"/>
                </a:solidFill>
                <a:latin typeface="Segoe UI"/>
              </a:rPr>
              <a:t>Structured lateral idea prompts</a:t>
            </a:r>
          </a:p>
        </p:txBody>
      </p:sp>
      <p:sp>
        <p:nvSpPr>
          <p:cNvPr id="37" name="Rounded Rectangle 36"/>
          <p:cNvSpPr/>
          <p:nvPr/>
        </p:nvSpPr>
        <p:spPr>
          <a:xfrm>
            <a:off x="8010144" y="393192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931920"/>
            <a:ext cx="3566160" cy="6400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4251960"/>
            <a:ext cx="3566160" cy="32004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84464" y="3931920"/>
            <a:ext cx="3108960" cy="640080"/>
          </a:xfrm>
          <a:prstGeom prst="rect">
            <a:avLst/>
          </a:prstGeom>
          <a:noFill/>
        </p:spPr>
        <p:txBody>
          <a:bodyPr wrap="square" anchor="ctr" lIns="0" rIns="0" tIns="0" bIns="0">
            <a:spAutoFit/>
          </a:bodyPr>
          <a:lstStyle/>
          <a:p>
            <a:pPr algn="l">
              <a:lnSpc>
                <a:spcPct val="100000"/>
              </a:lnSpc>
            </a:pPr>
            <a:r>
              <a:rPr sz="1600" b="1" i="0">
                <a:solidFill>
                  <a:srgbClr val="FFFFFF"/>
                </a:solidFill>
                <a:latin typeface="Segoe UI Semibold"/>
              </a:rPr>
              <a:t>Morphological</a:t>
            </a:r>
          </a:p>
        </p:txBody>
      </p:sp>
      <p:sp>
        <p:nvSpPr>
          <p:cNvPr id="41" name="TextBox 40"/>
          <p:cNvSpPr txBox="1"/>
          <p:nvPr/>
        </p:nvSpPr>
        <p:spPr>
          <a:xfrm>
            <a:off x="8284464" y="4709160"/>
            <a:ext cx="3063240" cy="731520"/>
          </a:xfrm>
          <a:prstGeom prst="rect">
            <a:avLst/>
          </a:prstGeom>
          <a:noFill/>
        </p:spPr>
        <p:txBody>
          <a:bodyPr wrap="square" anchor="t" lIns="0" rIns="0" tIns="0" bIns="0">
            <a:spAutoFit/>
          </a:bodyPr>
          <a:lstStyle/>
          <a:p>
            <a:pPr algn="l">
              <a:lnSpc>
                <a:spcPct val="105000"/>
              </a:lnSpc>
            </a:pPr>
            <a:r>
              <a:rPr sz="1200" b="0" i="0">
                <a:solidFill>
                  <a:srgbClr val="374558"/>
                </a:solidFill>
                <a:latin typeface="Segoe UI"/>
              </a:rPr>
              <a:t>Zwicky concept-space exploration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Thousands of OEM-benchmarked, verified cost ideas</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Reuse proven levers across programmes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Filter by system, saving, difficulty &amp; body style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idea → investigating → committed</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Dashboards by gate, commodity &amp; timeline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Grounded web search</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ECB FX + commodity feeds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machining &amp; stamping</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Unit-tested &amp; benchmarked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8" name="Rounded Rectangle 7"/>
          <p:cNvSpPr/>
          <p:nvPr/>
        </p:nvSpPr>
        <p:spPr>
          <a:xfrm>
            <a:off x="1005840" y="370332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70332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0" name="TextBox 9"/>
          <p:cNvSpPr txBox="1"/>
          <p:nvPr/>
        </p:nvSpPr>
        <p:spPr>
          <a:xfrm>
            <a:off x="1645920" y="3721608"/>
            <a:ext cx="8686800" cy="457200"/>
          </a:xfrm>
          <a:prstGeom prst="rect">
            <a:avLst/>
          </a:prstGeom>
          <a:noFill/>
        </p:spPr>
        <p:txBody>
          <a:bodyPr wrap="square" anchor="ctr" lIns="0" rIns="0" tIns="0" bIns="0">
            <a:spAutoFit/>
          </a:bodyPr>
          <a:lstStyle/>
          <a:p>
            <a:pPr algn="l">
              <a:lnSpc>
                <a:spcPct val="100000"/>
              </a:lnSpc>
            </a:pPr>
            <a:r>
              <a:rPr sz="1550" b="0" i="0">
                <a:solidFill>
                  <a:srgbClr val="16273C"/>
                </a:solidFill>
                <a:latin typeface="Segoe UI"/>
              </a:rPr>
              <a:t>Generate cost-reduction ideas for a live vehicle system</a:t>
            </a:r>
          </a:p>
        </p:txBody>
      </p:sp>
      <p:sp>
        <p:nvSpPr>
          <p:cNvPr id="11" name="Rounded Rectangle 10"/>
          <p:cNvSpPr/>
          <p:nvPr/>
        </p:nvSpPr>
        <p:spPr>
          <a:xfrm>
            <a:off x="1005840" y="432511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32511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3" name="TextBox 12"/>
          <p:cNvSpPr txBox="1"/>
          <p:nvPr/>
        </p:nvSpPr>
        <p:spPr>
          <a:xfrm>
            <a:off x="1645920" y="4343400"/>
            <a:ext cx="8686800" cy="457200"/>
          </a:xfrm>
          <a:prstGeom prst="rect">
            <a:avLst/>
          </a:prstGeom>
          <a:noFill/>
        </p:spPr>
        <p:txBody>
          <a:bodyPr wrap="square" anchor="ctr" lIns="0" rIns="0" tIns="0" bIns="0">
            <a:spAutoFit/>
          </a:bodyPr>
          <a:lstStyle/>
          <a:p>
            <a:pPr algn="l">
              <a:lnSpc>
                <a:spcPct val="100000"/>
              </a:lnSpc>
            </a:pPr>
            <a:r>
              <a:rPr sz="1550" b="0" i="0">
                <a:solidFill>
                  <a:srgbClr val="16273C"/>
                </a:solidFill>
                <a:latin typeface="Segoe UI"/>
              </a:rPr>
              <a:t>Upload a CAD part → feature-based should-cost + 3D view</a:t>
            </a:r>
          </a:p>
        </p:txBody>
      </p:sp>
      <p:sp>
        <p:nvSpPr>
          <p:cNvPr id="14" name="Rounded Rectangle 13"/>
          <p:cNvSpPr/>
          <p:nvPr/>
        </p:nvSpPr>
        <p:spPr>
          <a:xfrm>
            <a:off x="1005840" y="494690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4690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6" name="TextBox 15"/>
          <p:cNvSpPr txBox="1"/>
          <p:nvPr/>
        </p:nvSpPr>
        <p:spPr>
          <a:xfrm>
            <a:off x="1645920" y="4965192"/>
            <a:ext cx="8686800" cy="457200"/>
          </a:xfrm>
          <a:prstGeom prst="rect">
            <a:avLst/>
          </a:prstGeom>
          <a:noFill/>
        </p:spPr>
        <p:txBody>
          <a:bodyPr wrap="square" anchor="ctr" lIns="0" rIns="0" tIns="0" bIns="0">
            <a:spAutoFit/>
          </a:bodyPr>
          <a:lstStyle/>
          <a:p>
            <a:pPr algn="l">
              <a:lnSpc>
                <a:spcPct val="100000"/>
              </a:lnSpc>
            </a:pPr>
            <a:r>
              <a:rPr sz="1550" b="0" i="0">
                <a:solidFill>
                  <a:srgbClr val="16273C"/>
                </a:solidFill>
                <a:latin typeface="Segoe UI"/>
              </a:rPr>
              <a:t>Run a should-cost and an AI-verified cost-down</a:t>
            </a:r>
          </a:p>
        </p:txBody>
      </p:sp>
      <p:sp>
        <p:nvSpPr>
          <p:cNvPr id="17" name="Rounded Rectangle 16"/>
          <p:cNvSpPr/>
          <p:nvPr/>
        </p:nvSpPr>
        <p:spPr>
          <a:xfrm>
            <a:off x="1005840" y="556869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56869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19" name="TextBox 18"/>
          <p:cNvSpPr txBox="1"/>
          <p:nvPr/>
        </p:nvSpPr>
        <p:spPr>
          <a:xfrm>
            <a:off x="1645920" y="5586984"/>
            <a:ext cx="8686800" cy="457200"/>
          </a:xfrm>
          <a:prstGeom prst="rect">
            <a:avLst/>
          </a:prstGeom>
          <a:noFill/>
        </p:spPr>
        <p:txBody>
          <a:bodyPr wrap="square" anchor="ctr" lIns="0" rIns="0" tIns="0" bIns="0">
            <a:spAutoFit/>
          </a:bodyPr>
          <a:lstStyle/>
          <a:p>
            <a:pPr algn="l">
              <a:lnSpc>
                <a:spcPct val="100000"/>
              </a:lnSpc>
            </a:pPr>
            <a:r>
              <a:rPr sz="1550" b="0" i="0">
                <a:solidFill>
                  <a:srgbClr val="16273C"/>
                </a:solidFill>
                <a:latin typeface="Segoe UI"/>
              </a:rPr>
              <a:t>Show the savings pipeline &amp; ROI business case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AI ideation, whole-vehicle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engine + Monte-Carlo</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machining &amp; stamping</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3D CAD-to-cost + marketplace</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TRIZ &amp; innovation methods</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Quote-driven auto-calibration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