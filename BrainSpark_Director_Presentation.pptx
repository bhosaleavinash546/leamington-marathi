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2021 training data. Point at the example card: a real Zeekr-benchmarked idea, with an annual saving, a difficulty flag, and — crucially —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So TRIZ actually walks the contradiction matrix; DFA actually computes the Boothroyd-Dewhurst theoretical minimum part count; Value Engineering computes a real value index. The message: method from theory, numbers from the engine, wording from the AI. Each of these is a lens an engineer can apply to the same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thousands of verified ideas an engineer can pull from instead of starting blank, each already carrying an engine-checked cost. On the right, the analytics turn ideas into decisions: confidence bands so we're honest about uncertainty, an ROI calculator for the business case, and a pipeline that tracks a saving from first idea through to committed.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four beats only, mirroring the workflow slide: generate ideas for a system, upload a CAD part to show feature-based cost and the 3D viewer, run a should-cost and an AI cost-down so they see the engine verify in real time, then finish on the pipeline and ROI so it lands as a business tool.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'Now' is real and demonstrable today — don't undersell it. 'Next' is the near-term engineering: more commodities and tighter calibration from real quotes. 'Later' is the vision — collaboration, PLM/ERP integration and portfolio-level cost intelligence. The subtext for the Director: this isn't finished-and-frozen, it's a living platform with a clear direction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F8FAFC"/>
                </a:solidFill>
                <a:latin typeface="Segoe UI Semibold"/>
              </a:rPr>
              <a:t>Brain</a:t>
            </a:r>
            <a:r>
              <a:rPr sz="6600" b="1" i="0">
                <a:solidFill>
                  <a:srgbClr val="14B8A6"/>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E2E8F0"/>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6-Wave</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engineering build</a:t>
            </a:r>
          </a:p>
        </p:txBody>
      </p:sp>
      <p:sp>
        <p:nvSpPr>
          <p:cNvPr id="12" name="Rounded Rectangle 11"/>
          <p:cNvSpPr/>
          <p:nvPr/>
        </p:nvSpPr>
        <p:spPr>
          <a:xfrm>
            <a:off x="35204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13+</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vehicle systems</a:t>
            </a:r>
          </a:p>
        </p:txBody>
      </p:sp>
      <p:sp>
        <p:nvSpPr>
          <p:cNvPr id="15" name="Rounded Rectangle 14"/>
          <p:cNvSpPr/>
          <p:nvPr/>
        </p:nvSpPr>
        <p:spPr>
          <a:xfrm>
            <a:off x="60350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7</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innovation methods</a:t>
            </a:r>
          </a:p>
        </p:txBody>
      </p:sp>
      <p:sp>
        <p:nvSpPr>
          <p:cNvPr id="18" name="Rounded Rectangle 17"/>
          <p:cNvSpPr/>
          <p:nvPr/>
        </p:nvSpPr>
        <p:spPr>
          <a:xfrm>
            <a:off x="85496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64748B"/>
                </a:solidFill>
                <a:latin typeface="Segoe UI"/>
              </a:rPr>
              <a:t>Prepared for: </a:t>
            </a:r>
            <a:r>
              <a:rPr sz="1200" b="1" i="0">
                <a:solidFill>
                  <a:srgbClr val="F8FAFC"/>
                </a:solidFill>
                <a:latin typeface="Segoe UI"/>
              </a:rPr>
              <a:t>Director, Cost Engineering</a:t>
            </a:r>
            <a:r>
              <a:rPr sz="1200" b="0" i="0">
                <a:solidFill>
                  <a:srgbClr val="64748B"/>
                </a:solidFill>
                <a:latin typeface="Segoe UI"/>
              </a:rPr>
              <a:t>      |      Presenter: </a:t>
            </a:r>
            <a:r>
              <a:rPr sz="1200" b="1" i="0">
                <a:solidFill>
                  <a:srgbClr val="F8FAF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14B8A6"/>
                </a:solidFill>
                <a:latin typeface="Segoe UI Semibold"/>
              </a:rPr>
              <a:t>The opportunity:  </a:t>
            </a:r>
            <a:r>
              <a:rPr sz="1500" b="0" i="0">
                <a:solidFill>
                  <a:srgbClr val="E2E8F0"/>
                </a:solidFill>
                <a:latin typeface="Segoe UI"/>
              </a:rPr>
              <a:t>bring AI ideation and a deterministic cost engine together, so we identify savings across the </a:t>
            </a:r>
            <a:r>
              <a:rPr sz="1500" b="1" i="0">
                <a:solidFill>
                  <a:srgbClr val="F59E0B"/>
                </a:solidFill>
                <a:latin typeface="Segoe UI"/>
              </a:rPr>
              <a:t>whole vehicle</a:t>
            </a:r>
            <a:r>
              <a:rPr sz="1500" b="0" i="0">
                <a:solidFill>
                  <a:srgbClr val="E2E8F0"/>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E2E8F0"/>
                </a:solidFill>
                <a:latin typeface="Segoe UI"/>
              </a:rPr>
              <a:t>A single platform that generates </a:t>
            </a:r>
            <a:r>
              <a:rPr sz="1800" b="1" i="0">
                <a:solidFill>
                  <a:srgbClr val="14B8A6"/>
                </a:solidFill>
                <a:latin typeface="Segoe UI"/>
              </a:rPr>
              <a:t>cost-reduction &amp; value-improvement ideas</a:t>
            </a:r>
            <a:r>
              <a:rPr sz="1800" b="0" i="0">
                <a:solidFill>
                  <a:srgbClr val="E2E8F0"/>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94A3B8"/>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14B8A6"/>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F59E0B"/>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10B981"/>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10B981"/>
                </a:solidFill>
                <a:latin typeface="Segoe UI Semibold"/>
              </a:rPr>
              <a:t>Why it matters:  </a:t>
            </a:r>
            <a:r>
              <a:rPr sz="1400" b="0" i="0">
                <a:solidFill>
                  <a:srgbClr val="E2E8F0"/>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94A3B8"/>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94A3B8"/>
                </a:solidFill>
                <a:latin typeface="Segoe UI"/>
              </a:rPr>
              <a:t>Plus commodity models for </a:t>
            </a:r>
            <a:r>
              <a:rPr sz="1250" b="1" i="0">
                <a:solidFill>
                  <a:srgbClr val="E2E8F0"/>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System-aware</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Ideas tuned to the selected system, vehicle type, body style, volume and plant region.</a:t>
            </a:r>
          </a:p>
        </p:txBody>
      </p:sp>
      <p:sp>
        <p:nvSpPr>
          <p:cNvPr id="16" name="Rounded Rectangle 15"/>
          <p:cNvSpPr/>
          <p:nvPr/>
        </p:nvSpPr>
        <p:spPr>
          <a:xfrm>
            <a:off x="548640" y="3081528"/>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Grounded, not guessed</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Live web search pulls current commodity costs and last-18-months innovations before ideating.</a:t>
            </a:r>
          </a:p>
        </p:txBody>
      </p:sp>
      <p:sp>
        <p:nvSpPr>
          <p:cNvPr id="20" name="Rounded Rectangle 19"/>
          <p:cNvSpPr/>
          <p:nvPr/>
        </p:nvSpPr>
        <p:spPr>
          <a:xfrm>
            <a:off x="548640" y="4105656"/>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Layer TRIZ, Value Engineering, DFA and circularity lenses onto the same part.</a:t>
            </a:r>
          </a:p>
        </p:txBody>
      </p:sp>
      <p:sp>
        <p:nvSpPr>
          <p:cNvPr id="24" name="Rounded Rectangle 23"/>
          <p:cNvSpPr/>
          <p:nvPr/>
        </p:nvSpPr>
        <p:spPr>
          <a:xfrm>
            <a:off x="548640" y="5129784"/>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Every idea costed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Savings, difficulty, timeline and a should-cost check attached to each idea.</a:t>
            </a:r>
          </a:p>
        </p:txBody>
      </p:sp>
      <p:sp>
        <p:nvSpPr>
          <p:cNvPr id="28" name="Rounded Rectangle 27"/>
          <p:cNvSpPr/>
          <p:nvPr/>
        </p:nvSpPr>
        <p:spPr>
          <a:xfrm>
            <a:off x="6675120" y="1737360"/>
            <a:ext cx="4937760" cy="429768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64748B"/>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94A3B8"/>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0B1E33"/>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0B1E33"/>
                </a:solidFill>
                <a:latin typeface="Segoe UI Semibold"/>
              </a:rPr>
              <a:t>High</a:t>
            </a:r>
          </a:p>
        </p:txBody>
      </p:sp>
      <p:sp>
        <p:nvSpPr>
          <p:cNvPr id="37" name="Rounded Rectangle 36"/>
          <p:cNvSpPr/>
          <p:nvPr/>
        </p:nvSpPr>
        <p:spPr>
          <a:xfrm>
            <a:off x="10012680" y="3520440"/>
            <a:ext cx="1143000"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0B1E33"/>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64748B"/>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94A3B8"/>
                </a:solidFill>
                <a:latin typeface="Segoe UI"/>
              </a:rPr>
              <a:t>Should-cost recomputed: </a:t>
            </a:r>
            <a:r>
              <a:rPr sz="1150" b="1" i="0">
                <a:solidFill>
                  <a:srgbClr val="10B981"/>
                </a:solidFill>
                <a:latin typeface="Segoe UI"/>
              </a:rPr>
              <a:t>£17.10</a:t>
            </a:r>
            <a:r>
              <a:rPr sz="1150" b="0" i="0">
                <a:solidFill>
                  <a:srgbClr val="94A3B8"/>
                </a:solidFill>
                <a:latin typeface="Segoe UI"/>
              </a:rPr>
              <a:t> vs </a:t>
            </a:r>
            <a:r>
              <a:rPr sz="1150" b="1" i="0">
                <a:solidFill>
                  <a:srgbClr val="F43F5E"/>
                </a:solidFill>
                <a:latin typeface="Segoe UI"/>
              </a:rPr>
              <a:t>£23.40</a:t>
            </a:r>
            <a:r>
              <a:rPr sz="1150" b="0" i="0">
                <a:solidFill>
                  <a:srgbClr val="94A3B8"/>
                </a:solidFill>
                <a:latin typeface="Segoe UI"/>
              </a:rPr>
              <a:t> baseline.
</a:t>
            </a:r>
            <a:r>
              <a:rPr sz="1150" b="1" i="0">
                <a:solidFill>
                  <a:srgbClr val="E2E8F0"/>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14B8A6"/>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STEP / STL /
drawing / PDF</a:t>
            </a:r>
          </a:p>
        </p:txBody>
      </p:sp>
      <p:sp>
        <p:nvSpPr>
          <p:cNvPr id="17" name="Chevron 16"/>
          <p:cNvSpPr/>
          <p:nvPr/>
        </p:nvSpPr>
        <p:spPr>
          <a:xfrm>
            <a:off x="2542032"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Volume, area,
holes, thickness</a:t>
            </a:r>
          </a:p>
        </p:txBody>
      </p:sp>
      <p:sp>
        <p:nvSpPr>
          <p:cNvPr id="23" name="Chevron 22"/>
          <p:cNvSpPr/>
          <p:nvPr/>
        </p:nvSpPr>
        <p:spPr>
          <a:xfrm>
            <a:off x="4809744"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Interactive
3D viewer</a:t>
            </a:r>
          </a:p>
        </p:txBody>
      </p:sp>
      <p:sp>
        <p:nvSpPr>
          <p:cNvPr id="35" name="Chevron 34"/>
          <p:cNvSpPr/>
          <p:nvPr/>
        </p:nvSpPr>
        <p:spPr>
          <a:xfrm>
            <a:off x="9345168"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3B82F6"/>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E2E8F0"/>
                </a:solidFill>
                <a:latin typeface="Segoe UI"/>
              </a:rPr>
              <a:t>It reads the </a:t>
            </a:r>
            <a:r>
              <a:rPr sz="1250" b="1" i="0">
                <a:solidFill>
                  <a:srgbClr val="F8FAFC"/>
                </a:solidFill>
                <a:latin typeface="Segoe UI"/>
              </a:rPr>
              <a:t>actual geometry</a:t>
            </a:r>
            <a:r>
              <a:rPr sz="1250" b="0" i="0">
                <a:solidFill>
                  <a:srgbClr val="E2E8F0"/>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94A3B8"/>
                </a:solidFill>
                <a:latin typeface="Segoe UI"/>
              </a:rPr>
              <a:t>0</a:t>
            </a:r>
          </a:p>
        </p:txBody>
      </p:sp>
      <p:sp>
        <p:nvSpPr>
          <p:cNvPr id="14" name="Rectangle 13"/>
          <p:cNvSpPr/>
          <p:nvPr/>
        </p:nvSpPr>
        <p:spPr>
          <a:xfrm>
            <a:off x="1417320" y="4754880"/>
            <a:ext cx="5806440" cy="952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94A3B8"/>
                </a:solidFill>
                <a:latin typeface="Segoe UI"/>
              </a:rPr>
              <a:t>20</a:t>
            </a:r>
          </a:p>
        </p:txBody>
      </p:sp>
      <p:sp>
        <p:nvSpPr>
          <p:cNvPr id="16" name="Rectangle 15"/>
          <p:cNvSpPr/>
          <p:nvPr/>
        </p:nvSpPr>
        <p:spPr>
          <a:xfrm>
            <a:off x="1417320" y="3977640"/>
            <a:ext cx="5806440" cy="952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94A3B8"/>
                </a:solidFill>
                <a:latin typeface="Segoe UI"/>
              </a:rPr>
              <a:t>40</a:t>
            </a:r>
          </a:p>
        </p:txBody>
      </p:sp>
      <p:sp>
        <p:nvSpPr>
          <p:cNvPr id="18" name="Rectangle 17"/>
          <p:cNvSpPr/>
          <p:nvPr/>
        </p:nvSpPr>
        <p:spPr>
          <a:xfrm>
            <a:off x="1417320" y="3200400"/>
            <a:ext cx="5806440" cy="952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94A3B8"/>
                </a:solidFill>
                <a:latin typeface="Segoe UI"/>
              </a:rPr>
              <a:t>60</a:t>
            </a:r>
          </a:p>
        </p:txBody>
      </p:sp>
      <p:sp>
        <p:nvSpPr>
          <p:cNvPr id="20" name="Rectangle 19"/>
          <p:cNvSpPr/>
          <p:nvPr/>
        </p:nvSpPr>
        <p:spPr>
          <a:xfrm>
            <a:off x="1417320" y="2423160"/>
            <a:ext cx="5806440" cy="952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94A3B8"/>
                </a:solidFill>
                <a:latin typeface="Segoe UI"/>
              </a:rPr>
              <a:t>80</a:t>
            </a:r>
          </a:p>
        </p:txBody>
      </p:sp>
      <p:sp>
        <p:nvSpPr>
          <p:cNvPr id="22" name="Rounded Rectangle 21"/>
          <p:cNvSpPr/>
          <p:nvPr/>
        </p:nvSpPr>
        <p:spPr>
          <a:xfrm>
            <a:off x="1965960" y="4191381"/>
            <a:ext cx="822960" cy="1340739"/>
          </a:xfrm>
          <a:prstGeom prst="round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F8FAFC"/>
                </a:solidFill>
                <a:latin typeface="Segoe UI Semibold"/>
              </a:rPr>
              <a:t>34.5%</a:t>
            </a:r>
          </a:p>
        </p:txBody>
      </p:sp>
      <p:sp>
        <p:nvSpPr>
          <p:cNvPr id="24" name="Rounded Rectangle 23"/>
          <p:cNvSpPr/>
          <p:nvPr/>
        </p:nvSpPr>
        <p:spPr>
          <a:xfrm>
            <a:off x="2926080" y="4910328"/>
            <a:ext cx="822960" cy="621792"/>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F8FAFC"/>
                </a:solidFill>
                <a:latin typeface="Segoe UI Semibold"/>
              </a:rPr>
              <a:t>16.0%</a:t>
            </a:r>
          </a:p>
        </p:txBody>
      </p:sp>
      <p:sp>
        <p:nvSpPr>
          <p:cNvPr id="26" name="Rounded Rectangle 25"/>
          <p:cNvSpPr/>
          <p:nvPr/>
        </p:nvSpPr>
        <p:spPr>
          <a:xfrm>
            <a:off x="4572000" y="2625243"/>
            <a:ext cx="822960" cy="2906877"/>
          </a:xfrm>
          <a:prstGeom prst="round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F8FAFC"/>
                </a:solidFill>
                <a:latin typeface="Segoe UI Semibold"/>
              </a:rPr>
              <a:t>74.8%</a:t>
            </a:r>
          </a:p>
        </p:txBody>
      </p:sp>
      <p:sp>
        <p:nvSpPr>
          <p:cNvPr id="28" name="Rounded Rectangle 27"/>
          <p:cNvSpPr/>
          <p:nvPr/>
        </p:nvSpPr>
        <p:spPr>
          <a:xfrm>
            <a:off x="5532120" y="4020389"/>
            <a:ext cx="822960" cy="1511731"/>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F8FAF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E2E8F0"/>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E2E8F0"/>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94A3B8"/>
                </a:solidFill>
                <a:latin typeface="Segoe UI"/>
              </a:rPr>
              <a:t>Mean Absolute % Error</a:t>
            </a:r>
          </a:p>
        </p:txBody>
      </p:sp>
      <p:sp>
        <p:nvSpPr>
          <p:cNvPr id="33" name="Rectangle 32"/>
          <p:cNvSpPr/>
          <p:nvPr/>
        </p:nvSpPr>
        <p:spPr>
          <a:xfrm>
            <a:off x="1783080" y="6053328"/>
            <a:ext cx="256032" cy="182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94A3B8"/>
                </a:solidFill>
                <a:latin typeface="Segoe UI"/>
              </a:rPr>
              <a:t>Mass estimate (old)</a:t>
            </a:r>
          </a:p>
        </p:txBody>
      </p:sp>
      <p:sp>
        <p:nvSpPr>
          <p:cNvPr id="35" name="Rectangle 34"/>
          <p:cNvSpPr/>
          <p:nvPr/>
        </p:nvSpPr>
        <p:spPr>
          <a:xfrm>
            <a:off x="4160520" y="6053328"/>
            <a:ext cx="256032" cy="1828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E2E8F0"/>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F59E0B"/>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Method chosen for honesty, not to overfit the benchmark.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Structured Innovation Methods — Built In</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Real methodology as deterministic logic — not a chatbot prompt. The AI turns each method's output into concrete embodiments.</a:t>
            </a:r>
          </a:p>
        </p:txBody>
      </p:sp>
      <p:sp>
        <p:nvSpPr>
          <p:cNvPr id="12" name="Rounded Rectangle 11"/>
          <p:cNvSpPr/>
          <p:nvPr/>
        </p:nvSpPr>
        <p:spPr>
          <a:xfrm>
            <a:off x="548640" y="214884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48840"/>
            <a:ext cx="3566160" cy="6400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68880"/>
            <a:ext cx="356616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TRIZ</a:t>
            </a:r>
          </a:p>
        </p:txBody>
      </p:sp>
      <p:sp>
        <p:nvSpPr>
          <p:cNvPr id="16" name="TextBox 15"/>
          <p:cNvSpPr txBox="1"/>
          <p:nvPr/>
        </p:nvSpPr>
        <p:spPr>
          <a:xfrm>
            <a:off x="822960"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40 inventive principles + contradiction matrix</a:t>
            </a:r>
          </a:p>
        </p:txBody>
      </p:sp>
      <p:sp>
        <p:nvSpPr>
          <p:cNvPr id="17" name="Rounded Rectangle 16"/>
          <p:cNvSpPr/>
          <p:nvPr/>
        </p:nvSpPr>
        <p:spPr>
          <a:xfrm>
            <a:off x="4279392" y="214884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148840"/>
            <a:ext cx="3566160"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68880"/>
            <a:ext cx="356616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Value Engineering</a:t>
            </a:r>
          </a:p>
        </p:txBody>
      </p:sp>
      <p:sp>
        <p:nvSpPr>
          <p:cNvPr id="21" name="TextBox 20"/>
          <p:cNvSpPr txBox="1"/>
          <p:nvPr/>
        </p:nvSpPr>
        <p:spPr>
          <a:xfrm>
            <a:off x="4553712"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Value index = worth ÷ cost, per function</a:t>
            </a:r>
          </a:p>
        </p:txBody>
      </p:sp>
      <p:sp>
        <p:nvSpPr>
          <p:cNvPr id="22" name="Rounded Rectangle 21"/>
          <p:cNvSpPr/>
          <p:nvPr/>
        </p:nvSpPr>
        <p:spPr>
          <a:xfrm>
            <a:off x="8010144" y="214884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148840"/>
            <a:ext cx="3566160" cy="64008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468880"/>
            <a:ext cx="3566160" cy="32004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4464"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DFA / DFMA</a:t>
            </a:r>
          </a:p>
        </p:txBody>
      </p:sp>
      <p:sp>
        <p:nvSpPr>
          <p:cNvPr id="26" name="TextBox 25"/>
          <p:cNvSpPr txBox="1"/>
          <p:nvPr/>
        </p:nvSpPr>
        <p:spPr>
          <a:xfrm>
            <a:off x="8284464"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Boothroyd-Dewhurst min-parts &amp; efficiency</a:t>
            </a:r>
          </a:p>
        </p:txBody>
      </p:sp>
      <p:sp>
        <p:nvSpPr>
          <p:cNvPr id="27" name="Rounded Rectangle 26"/>
          <p:cNvSpPr/>
          <p:nvPr/>
        </p:nvSpPr>
        <p:spPr>
          <a:xfrm>
            <a:off x="548640" y="393192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931920"/>
            <a:ext cx="3566160" cy="64008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251960"/>
            <a:ext cx="3566160" cy="32004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Design-to-Cost</a:t>
            </a:r>
          </a:p>
        </p:txBody>
      </p:sp>
      <p:sp>
        <p:nvSpPr>
          <p:cNvPr id="31" name="TextBox 30"/>
          <p:cNvSpPr txBox="1"/>
          <p:nvPr/>
        </p:nvSpPr>
        <p:spPr>
          <a:xfrm>
            <a:off x="822960"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Allocates the cost gap across buckets</a:t>
            </a:r>
          </a:p>
        </p:txBody>
      </p:sp>
      <p:sp>
        <p:nvSpPr>
          <p:cNvPr id="32" name="Rounded Rectangle 31"/>
          <p:cNvSpPr/>
          <p:nvPr/>
        </p:nvSpPr>
        <p:spPr>
          <a:xfrm>
            <a:off x="4279392" y="393192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931920"/>
            <a:ext cx="3566160" cy="6400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4251960"/>
            <a:ext cx="356616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53712"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SCAMPER</a:t>
            </a:r>
          </a:p>
        </p:txBody>
      </p:sp>
      <p:sp>
        <p:nvSpPr>
          <p:cNvPr id="36" name="TextBox 35"/>
          <p:cNvSpPr txBox="1"/>
          <p:nvPr/>
        </p:nvSpPr>
        <p:spPr>
          <a:xfrm>
            <a:off x="4553712"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Structured lateral idea prompts</a:t>
            </a:r>
          </a:p>
        </p:txBody>
      </p:sp>
      <p:sp>
        <p:nvSpPr>
          <p:cNvPr id="37" name="Rounded Rectangle 36"/>
          <p:cNvSpPr/>
          <p:nvPr/>
        </p:nvSpPr>
        <p:spPr>
          <a:xfrm>
            <a:off x="8010144" y="3931920"/>
            <a:ext cx="3566160" cy="1627632"/>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931920"/>
            <a:ext cx="3566160" cy="64008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4251960"/>
            <a:ext cx="3566160" cy="32004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84464"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Morphological</a:t>
            </a:r>
          </a:p>
        </p:txBody>
      </p:sp>
      <p:sp>
        <p:nvSpPr>
          <p:cNvPr id="41" name="TextBox 40"/>
          <p:cNvSpPr txBox="1"/>
          <p:nvPr/>
        </p:nvSpPr>
        <p:spPr>
          <a:xfrm>
            <a:off x="8284464"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Zwicky concept-space exploration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F8FAF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Thousands of OEM-benchmarked, verified cost ideas</a:t>
            </a:r>
          </a:p>
        </p:txBody>
      </p:sp>
      <p:sp>
        <p:nvSpPr>
          <p:cNvPr id="18" name="Rounded Rectangle 17"/>
          <p:cNvSpPr/>
          <p:nvPr/>
        </p:nvSpPr>
        <p:spPr>
          <a:xfrm>
            <a:off x="868680" y="3355848"/>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Reuse proven levers across programmes</a:t>
            </a:r>
          </a:p>
        </p:txBody>
      </p:sp>
      <p:sp>
        <p:nvSpPr>
          <p:cNvPr id="21" name="Rounded Rectangle 20"/>
          <p:cNvSpPr/>
          <p:nvPr/>
        </p:nvSpPr>
        <p:spPr>
          <a:xfrm>
            <a:off x="868680" y="4105656"/>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Filter by system, saving, difficulty &amp; body style</a:t>
            </a:r>
          </a:p>
        </p:txBody>
      </p:sp>
      <p:sp>
        <p:nvSpPr>
          <p:cNvPr id="24" name="Rounded Rectangle 23"/>
          <p:cNvSpPr/>
          <p:nvPr/>
        </p:nvSpPr>
        <p:spPr>
          <a:xfrm>
            <a:off x="868680" y="4855464"/>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F8FAF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Savings pipeline: idea → investigating → committed</a:t>
            </a:r>
          </a:p>
        </p:txBody>
      </p:sp>
      <p:sp>
        <p:nvSpPr>
          <p:cNvPr id="40" name="Rounded Rectangle 39"/>
          <p:cNvSpPr/>
          <p:nvPr/>
        </p:nvSpPr>
        <p:spPr>
          <a:xfrm>
            <a:off x="6537960" y="4855464"/>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Dashboards by gate, commodity &amp; timeline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94A3B8"/>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14B8A6"/>
                </a:solidFill>
                <a:latin typeface="Segoe UI Semibold"/>
              </a:rPr>
              <a:t>Feedback loop:  </a:t>
            </a:r>
            <a:r>
              <a:rPr sz="1350" b="0" i="0">
                <a:solidFill>
                  <a:srgbClr val="E2E8F0"/>
                </a:solidFill>
                <a:latin typeface="Segoe UI"/>
              </a:rPr>
              <a:t>real supplier quotes feed back into the engine's calibration, so every quote makes the next estimate sharper.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Fast model for cheap steps, flagship model for the hard reasoning — cost-efficient.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Grounded web search</a:t>
            </a:r>
          </a:p>
        </p:txBody>
      </p:sp>
      <p:sp>
        <p:nvSpPr>
          <p:cNvPr id="24" name="Rounded Rectangle 23"/>
          <p:cNvSpPr/>
          <p:nvPr/>
        </p:nvSpPr>
        <p:spPr>
          <a:xfrm>
            <a:off x="749808" y="5038344"/>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Tailwind CSS UI</a:t>
            </a:r>
          </a:p>
        </p:txBody>
      </p:sp>
      <p:sp>
        <p:nvSpPr>
          <p:cNvPr id="37" name="Rounded Rectangle 36"/>
          <p:cNvSpPr/>
          <p:nvPr/>
        </p:nvSpPr>
        <p:spPr>
          <a:xfrm>
            <a:off x="3566160" y="4197096"/>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Node.js + Express</a:t>
            </a:r>
          </a:p>
        </p:txBody>
      </p:sp>
      <p:sp>
        <p:nvSpPr>
          <p:cNvPr id="50" name="Rounded Rectangle 49"/>
          <p:cNvSpPr/>
          <p:nvPr/>
        </p:nvSpPr>
        <p:spPr>
          <a:xfrm>
            <a:off x="6382512" y="3355848"/>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ECB FX + commodity feeds</a:t>
            </a:r>
          </a:p>
        </p:txBody>
      </p:sp>
      <p:sp>
        <p:nvSpPr>
          <p:cNvPr id="59" name="Rounded Rectangle 58"/>
          <p:cNvSpPr/>
          <p:nvPr/>
        </p:nvSpPr>
        <p:spPr>
          <a:xfrm>
            <a:off x="8997696" y="1600200"/>
            <a:ext cx="2697480" cy="43434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machining &amp; stamping</a:t>
            </a:r>
          </a:p>
        </p:txBody>
      </p:sp>
      <p:sp>
        <p:nvSpPr>
          <p:cNvPr id="69" name="Rounded Rectangle 68"/>
          <p:cNvSpPr/>
          <p:nvPr/>
        </p:nvSpPr>
        <p:spPr>
          <a:xfrm>
            <a:off x="9198864" y="4197096"/>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Unit-tested &amp; benchmarked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14B8A6"/>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10B981"/>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3B82F6"/>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F59E0B"/>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F59E0B"/>
                </a:solidFill>
                <a:latin typeface="Segoe UI Semibold"/>
              </a:rPr>
              <a:t>Net effect:  </a:t>
            </a:r>
            <a:r>
              <a:rPr sz="1400" b="1" i="0">
                <a:solidFill>
                  <a:srgbClr val="E2E8F0"/>
                </a:solidFill>
                <a:latin typeface="Segoe UI"/>
              </a:rPr>
              <a:t>more cost-down ideas, found earlier, defended better — and captured as reusable team knowledge.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F8FAF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E2E8F0"/>
                </a:solidFill>
                <a:latin typeface="Segoe UI Light"/>
              </a:rPr>
              <a:t>A 5-minute walk through the real workflow:</a:t>
            </a:r>
          </a:p>
        </p:txBody>
      </p:sp>
      <p:sp>
        <p:nvSpPr>
          <p:cNvPr id="8" name="Rounded Rectangle 7"/>
          <p:cNvSpPr/>
          <p:nvPr/>
        </p:nvSpPr>
        <p:spPr>
          <a:xfrm>
            <a:off x="1005840" y="3703320"/>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703320"/>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1</a:t>
            </a:r>
          </a:p>
        </p:txBody>
      </p:sp>
      <p:sp>
        <p:nvSpPr>
          <p:cNvPr id="10" name="TextBox 9"/>
          <p:cNvSpPr txBox="1"/>
          <p:nvPr/>
        </p:nvSpPr>
        <p:spPr>
          <a:xfrm>
            <a:off x="1645920" y="3721608"/>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Generate cost-reduction ideas for a live vehicle system</a:t>
            </a:r>
          </a:p>
        </p:txBody>
      </p:sp>
      <p:sp>
        <p:nvSpPr>
          <p:cNvPr id="11" name="Rounded Rectangle 10"/>
          <p:cNvSpPr/>
          <p:nvPr/>
        </p:nvSpPr>
        <p:spPr>
          <a:xfrm>
            <a:off x="1005840" y="4325112"/>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325112"/>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2</a:t>
            </a:r>
          </a:p>
        </p:txBody>
      </p:sp>
      <p:sp>
        <p:nvSpPr>
          <p:cNvPr id="13" name="TextBox 12"/>
          <p:cNvSpPr txBox="1"/>
          <p:nvPr/>
        </p:nvSpPr>
        <p:spPr>
          <a:xfrm>
            <a:off x="1645920" y="4343400"/>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Upload a CAD part → feature-based should-cost + 3D view</a:t>
            </a:r>
          </a:p>
        </p:txBody>
      </p:sp>
      <p:sp>
        <p:nvSpPr>
          <p:cNvPr id="14" name="Rounded Rectangle 13"/>
          <p:cNvSpPr/>
          <p:nvPr/>
        </p:nvSpPr>
        <p:spPr>
          <a:xfrm>
            <a:off x="1005840" y="4946904"/>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46904"/>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3</a:t>
            </a:r>
          </a:p>
        </p:txBody>
      </p:sp>
      <p:sp>
        <p:nvSpPr>
          <p:cNvPr id="16" name="TextBox 15"/>
          <p:cNvSpPr txBox="1"/>
          <p:nvPr/>
        </p:nvSpPr>
        <p:spPr>
          <a:xfrm>
            <a:off x="1645920" y="4965192"/>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Run a should-cost and an AI-verified cost-down</a:t>
            </a:r>
          </a:p>
        </p:txBody>
      </p:sp>
      <p:sp>
        <p:nvSpPr>
          <p:cNvPr id="17" name="Rounded Rectangle 16"/>
          <p:cNvSpPr/>
          <p:nvPr/>
        </p:nvSpPr>
        <p:spPr>
          <a:xfrm>
            <a:off x="1005840" y="5568696"/>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568696"/>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4</a:t>
            </a:r>
          </a:p>
        </p:txBody>
      </p:sp>
      <p:sp>
        <p:nvSpPr>
          <p:cNvPr id="19" name="TextBox 18"/>
          <p:cNvSpPr txBox="1"/>
          <p:nvPr/>
        </p:nvSpPr>
        <p:spPr>
          <a:xfrm>
            <a:off x="1645920" y="5586984"/>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Show the savings pipeline &amp; ROI business case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Roadmap</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AI ideation, whole-vehicle</a:t>
            </a:r>
          </a:p>
        </p:txBody>
      </p:sp>
      <p:sp>
        <p:nvSpPr>
          <p:cNvPr id="19" name="Rounded Rectangle 18"/>
          <p:cNvSpPr/>
          <p:nvPr/>
        </p:nvSpPr>
        <p:spPr>
          <a:xfrm>
            <a:off x="804672" y="3364992"/>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Should-cost engine + Monte-Carlo</a:t>
            </a:r>
          </a:p>
        </p:txBody>
      </p:sp>
      <p:sp>
        <p:nvSpPr>
          <p:cNvPr id="22" name="Rounded Rectangle 21"/>
          <p:cNvSpPr/>
          <p:nvPr/>
        </p:nvSpPr>
        <p:spPr>
          <a:xfrm>
            <a:off x="804672" y="3986784"/>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machining &amp; stamping</a:t>
            </a:r>
          </a:p>
        </p:txBody>
      </p:sp>
      <p:sp>
        <p:nvSpPr>
          <p:cNvPr id="25" name="Rounded Rectangle 24"/>
          <p:cNvSpPr/>
          <p:nvPr/>
        </p:nvSpPr>
        <p:spPr>
          <a:xfrm>
            <a:off x="804672" y="4608576"/>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3D CAD-to-cost + marketplace</a:t>
            </a:r>
          </a:p>
        </p:txBody>
      </p:sp>
      <p:sp>
        <p:nvSpPr>
          <p:cNvPr id="28" name="Rounded Rectangle 27"/>
          <p:cNvSpPr/>
          <p:nvPr/>
        </p:nvSpPr>
        <p:spPr>
          <a:xfrm>
            <a:off x="804672" y="5230368"/>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TRIZ &amp; innovation methods</a:t>
            </a:r>
          </a:p>
        </p:txBody>
      </p:sp>
      <p:sp>
        <p:nvSpPr>
          <p:cNvPr id="31" name="Rounded Rectangle 30"/>
          <p:cNvSpPr/>
          <p:nvPr/>
        </p:nvSpPr>
        <p:spPr>
          <a:xfrm>
            <a:off x="4279392" y="1645920"/>
            <a:ext cx="3611880" cy="429768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Quote-driven auto-calibration</a:t>
            </a:r>
          </a:p>
        </p:txBody>
      </p:sp>
      <p:sp>
        <p:nvSpPr>
          <p:cNvPr id="48" name="Rounded Rectangle 47"/>
          <p:cNvSpPr/>
          <p:nvPr/>
        </p:nvSpPr>
        <p:spPr>
          <a:xfrm>
            <a:off x="8010144" y="1645920"/>
            <a:ext cx="3611880" cy="429768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Vision</a:t>
            </a:r>
          </a:p>
        </p:txBody>
      </p:sp>
      <p:sp>
        <p:nvSpPr>
          <p:cNvPr id="53" name="Rounded Rectangle 52"/>
          <p:cNvSpPr/>
          <p:nvPr/>
        </p:nvSpPr>
        <p:spPr>
          <a:xfrm>
            <a:off x="8266176" y="2743200"/>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Portfolio-level cost intelligence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F8FAF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Thank you.  </a:t>
            </a:r>
            <a:r>
              <a:rPr sz="1400" b="0" i="0">
                <a:solidFill>
                  <a:srgbClr val="E2E8F0"/>
                </a:solidFill>
                <a:latin typeface="Segoe UI"/>
              </a:rPr>
              <a:t>Questions &amp; discussion welcome   ·   </a:t>
            </a:r>
            <a:r>
              <a:rPr sz="1400" b="0" i="0">
                <a:solidFill>
                  <a:srgbClr val="94A3B8"/>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