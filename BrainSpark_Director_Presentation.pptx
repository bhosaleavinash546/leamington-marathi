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old training data. The new bit since you last saw this: it learns. Ideas the team approves or confirms in production feed back into the next generation as positive examples, and proven ideas from our own library ground every run — so the tool gets more 'us' the more we use it. Point at the example card: an annual saving, a difficulty flag, and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brand new since the last update, and it fills a real gap — electronics. The workflow is deliberately simple: photograph the board, or drop in the BOM as Excel or PDF, and the AI reads the components off the image. Where a part number resolves, we pull a live distributor price and tag it LIVE; where it doesn't, the estimate is clearly tagged as AI — we never blur the two. Then the engine costs assembly, test and fabrication across twelve manufacturing countries side by side, with a proper sensitivity view and an open-book cost breakdown a supplier would recognise. If procurement has ever asked 'what should this ECU cost from Vietnam versus China?' — this answers it in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The biggest jump is on stamping, where the old approach was worst — error halves from about 75% down to 39%; machining improves from 44% to 34%. And note the second bullet: the core should-cost engine itself — the one behind every number in the tool — scores a 100% hit-rate with 8.3% average error on sixteen held-out reference parts, and CI fails if that regresses. Be candid: the CAD-feature figures are engineering-grade estimates, not supplier quotes, and I deliberately stopped tuning to avoid overfitting the benchmark. That honesty is the point — we show ranges and we don't pretend to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TRIZ actually walks the contradiction matrix; DFA computes the real Boothroyd-Dewhurst minimum part count. Three are new since the last update and worth calling out: the FAST function-cost matrix — the classical value-engineering core, mapping every component's cost onto the functions it serves; the Spec and Tolerance Challenge, where relaxation savings are computed by the cost engine itself and safety-critical characteristics are locked in code so the AI can never propose touching them; and Teardown Delta — compare your part attribute-by-attribute against a benchmark and turn every gap into an idea. Method from theory, numbers from the engine, wording from the 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every director should ask about AI tools: 'does it get better, or is this as good as it gets?' Two answers. Deep Mode is an opt-in switch for the analyses that matter: a panel of three AI experts — a manufacturing engineer, a commercial manager and a quality lead — critiques every idea from its own angle, the ideas then compete head-to-head like a chess tournament, and anything the panel or the engine knocks down gets exactly one repair attempt, which only survives if the engine re-confirms it. It costs a few times more tokens, which is why it's a switch and not the default. The learning loop runs all the time: the tool learns from what the team approves, aims at the white space in our idea library, and merges duplicates. And the last point matters most — we don't claim any of this made the ideas better, we measure it with a benchmark harness before each change ships. That's engineering discipline applied to the AI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over sixteen hundred ideas an engineer can pull from instead of starting blank, each carrying an engine-checked cost. And note the honesty detail: every idea is labelled by origin — Curated means it came from benchmark and teardown curation, Community means one of us submitted it and it passed review. We never dress seeded content up as community wisdom; that's the same no-faking rule the cost figures follow. The library polices itself too: a coverage map shows where our thinking is thin, duplicate submissions get caught at the door, and ideas cluster into browsable themes. On the right, analytics turn ideas into decisions: confidence bands, an ROI calculator, and a savings pipeline with stage-gate scorecards — promoting an idea past an unfinished checklist warns you exactly what was skipped. Plus a patent check that cites real patent records, with the standing caveat that it's awareness,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effort and the standard — and be upfront about how it was built, because it's the strongest part of the story: I built this with AI-assisted development. I set the direction, made the engineering decisions, reviewed and tested everything; AI did the heavy lifting on the code. In other words, I used exactly the human-plus-AI way of working this tool offers our engineers — and this is what one engineer can produce with it on personal time. Walk the numbers: over forty-two thousand lines of production code, including five and a half thousand lines of curated engineering knowledge — the levers and benchmarks that make ideas automotive-grade rather than generic — and roughly one line of test or benchmark code for every eight lines of product. Then land on the discipline column: two hundred and eighty-five tests on every change, accuracy proven on held-out parts, AI changes A/B-measured with a debt report that flags anything still unmeasured, and it's run like a product — daily automatic backups, a written decision log, and an honest register of what's NOT production-ready yet. That last point is worth saying out loud: I keep a list of the gaps — monitoring, deployment, spend tracking — because knowing your limits is part of the engineering. AI accelerated the build; discipline governed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five beats, mirroring the workflow slide: generate ideas for a system, upload a CAD part to show feature-based cost and the 3D viewer, then the crowd-pleaser — photograph a circuit board and watch it read the components and cost it across twelve countries. Fourth beat: run a should-cost with a supplier quote and show the gap-closure ideas, so they see the engine verify in real time. Finish on the pipeline with its scorecards and ROI so it lands as a business tool, not a toy.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 and note how much moved from 'next' into 'now' since the last version of this deck: the PCB suite, Deep Mode, the learning loop, the new methods, scorecards and the patent check all shipped in the past fortnight. 'Next' is the near-term engineering: more commodity models and tighter empirical confidence bands. 'Later' is the vision — collaboration, PLM/ERP integration and portfolio-level cost intelligence. The subtext for the Director: this isn't finished-and-frozen, it's a living platform with visible velocity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hero.png"/>
          <p:cNvPicPr>
            <a:picLocks noChangeAspect="1"/>
          </p:cNvPicPr>
          <p:nvPr/>
        </p:nvPicPr>
        <p:blipFill>
          <a:blip r:embed="rId2"/>
          <a:srcRect t="11412" b="5370"/>
          <a:stretch>
            <a:fillRect/>
          </a:stretch>
        </p:blipFill>
        <p:spPr>
          <a:xfrm>
            <a:off x="8183879" y="1234440"/>
            <a:ext cx="3611880" cy="4251960"/>
          </a:xfrm>
          <a:prstGeom prst="rect">
            <a:avLst/>
          </a:prstGeom>
        </p:spPr>
      </p:pic>
      <p:sp>
        <p:nvSpPr>
          <p:cNvPr id="5" name="Rectangle 4"/>
          <p:cNvSpPr/>
          <p:nvPr/>
        </p:nvSpPr>
        <p:spPr>
          <a:xfrm>
            <a:off x="8183879" y="1234440"/>
            <a:ext cx="3611880" cy="4251960"/>
          </a:xfrm>
          <a:prstGeom prst="rect">
            <a:avLst/>
          </a:prstGeom>
          <a:no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694944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AI-POWERED COST ENGINEERING PLATFORM</a:t>
            </a:r>
          </a:p>
        </p:txBody>
      </p:sp>
      <p:sp>
        <p:nvSpPr>
          <p:cNvPr id="7" name="TextBox 6"/>
          <p:cNvSpPr txBox="1"/>
          <p:nvPr/>
        </p:nvSpPr>
        <p:spPr>
          <a:xfrm>
            <a:off x="960120" y="1965960"/>
            <a:ext cx="7040880" cy="1463040"/>
          </a:xfrm>
          <a:prstGeom prst="rect">
            <a:avLst/>
          </a:prstGeom>
          <a:noFill/>
        </p:spPr>
        <p:txBody>
          <a:bodyPr wrap="square" anchor="t" lIns="0" rIns="0" tIns="0" bIns="0">
            <a:spAutoFit/>
          </a:bodyPr>
          <a:lstStyle/>
          <a:p>
            <a:pPr algn="l">
              <a:lnSpc>
                <a:spcPct val="100000"/>
              </a:lnSpc>
            </a:pPr>
            <a:r>
              <a:rPr sz="6600" b="1" i="0">
                <a:solidFill>
                  <a:srgbClr val="16273C"/>
                </a:solidFill>
                <a:latin typeface="Segoe UI Semibold"/>
              </a:rPr>
              <a:t>Brain</a:t>
            </a:r>
            <a:r>
              <a:rPr sz="6600" b="1" i="0">
                <a:solidFill>
                  <a:srgbClr val="0D9488"/>
                </a:solidFill>
                <a:latin typeface="Segoe UI Semibold"/>
              </a:rPr>
              <a:t>Spark</a:t>
            </a:r>
          </a:p>
        </p:txBody>
      </p:sp>
      <p:sp>
        <p:nvSpPr>
          <p:cNvPr id="8" name="TextBox 7"/>
          <p:cNvSpPr txBox="1"/>
          <p:nvPr/>
        </p:nvSpPr>
        <p:spPr>
          <a:xfrm>
            <a:off x="1005840" y="3200400"/>
            <a:ext cx="6949440" cy="914400"/>
          </a:xfrm>
          <a:prstGeom prst="rect">
            <a:avLst/>
          </a:prstGeom>
          <a:noFill/>
        </p:spPr>
        <p:txBody>
          <a:bodyPr wrap="square" anchor="t" lIns="0" rIns="0" tIns="0" bIns="0">
            <a:spAutoFit/>
          </a:bodyPr>
          <a:lstStyle/>
          <a:p>
            <a:pPr algn="l">
              <a:lnSpc>
                <a:spcPct val="110000"/>
              </a:lnSpc>
            </a:pPr>
            <a:r>
              <a:rPr sz="1900" b="0" i="0">
                <a:solidFill>
                  <a:srgbClr val="374558"/>
                </a:solidFill>
                <a:latin typeface="Segoe UI Light"/>
              </a:rPr>
              <a:t>Turning whole-vehicle cost-reduction ideas into defensible,
quote-ready numbers — in minutes, not weeks.</a:t>
            </a:r>
          </a:p>
        </p:txBody>
      </p:sp>
      <p:sp>
        <p:nvSpPr>
          <p:cNvPr id="9" name="Rounded Rectangle 8"/>
          <p:cNvSpPr/>
          <p:nvPr/>
        </p:nvSpPr>
        <p:spPr>
          <a:xfrm>
            <a:off x="100584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13+</a:t>
            </a:r>
          </a:p>
        </p:txBody>
      </p:sp>
      <p:sp>
        <p:nvSpPr>
          <p:cNvPr id="11" name="TextBox 10"/>
          <p:cNvSpPr txBox="1"/>
          <p:nvPr/>
        </p:nvSpPr>
        <p:spPr>
          <a:xfrm>
            <a:off x="100584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vehicle systems</a:t>
            </a:r>
          </a:p>
        </p:txBody>
      </p:sp>
      <p:sp>
        <p:nvSpPr>
          <p:cNvPr id="12" name="Rounded Rectangle 11"/>
          <p:cNvSpPr/>
          <p:nvPr/>
        </p:nvSpPr>
        <p:spPr>
          <a:xfrm>
            <a:off x="278892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8892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11</a:t>
            </a:r>
          </a:p>
        </p:txBody>
      </p:sp>
      <p:sp>
        <p:nvSpPr>
          <p:cNvPr id="14" name="TextBox 13"/>
          <p:cNvSpPr txBox="1"/>
          <p:nvPr/>
        </p:nvSpPr>
        <p:spPr>
          <a:xfrm>
            <a:off x="278892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innovation methods</a:t>
            </a:r>
          </a:p>
        </p:txBody>
      </p:sp>
      <p:sp>
        <p:nvSpPr>
          <p:cNvPr id="15" name="Rounded Rectangle 14"/>
          <p:cNvSpPr/>
          <p:nvPr/>
        </p:nvSpPr>
        <p:spPr>
          <a:xfrm>
            <a:off x="457200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1,600+</a:t>
            </a:r>
          </a:p>
        </p:txBody>
      </p:sp>
      <p:sp>
        <p:nvSpPr>
          <p:cNvPr id="17" name="TextBox 16"/>
          <p:cNvSpPr txBox="1"/>
          <p:nvPr/>
        </p:nvSpPr>
        <p:spPr>
          <a:xfrm>
            <a:off x="457200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curated ideas</a:t>
            </a:r>
          </a:p>
        </p:txBody>
      </p:sp>
      <p:sp>
        <p:nvSpPr>
          <p:cNvPr id="18" name="Rounded Rectangle 17"/>
          <p:cNvSpPr/>
          <p:nvPr/>
        </p:nvSpPr>
        <p:spPr>
          <a:xfrm>
            <a:off x="635508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100%</a:t>
            </a:r>
          </a:p>
        </p:txBody>
      </p:sp>
      <p:sp>
        <p:nvSpPr>
          <p:cNvPr id="20" name="TextBox 19"/>
          <p:cNvSpPr txBox="1"/>
          <p:nvPr/>
        </p:nvSpPr>
        <p:spPr>
          <a:xfrm>
            <a:off x="635508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8390A1"/>
                </a:solidFill>
                <a:latin typeface="Segoe UI"/>
              </a:rPr>
              <a:t>Prepared for: </a:t>
            </a:r>
            <a:r>
              <a:rPr sz="1200" b="1" i="0">
                <a:solidFill>
                  <a:srgbClr val="16273C"/>
                </a:solidFill>
                <a:latin typeface="Segoe UI"/>
              </a:rPr>
              <a:t>Director, Cost Engineering</a:t>
            </a:r>
            <a:r>
              <a:rPr sz="1200" b="0" i="0">
                <a:solidFill>
                  <a:srgbClr val="8390A1"/>
                </a:solidFill>
                <a:latin typeface="Segoe UI"/>
              </a:rPr>
              <a:t>      |      Presenter: </a:t>
            </a:r>
            <a:r>
              <a:rPr sz="1200" b="1" i="0">
                <a:solidFill>
                  <a:srgbClr val="16273C"/>
                </a:solidFill>
                <a:latin typeface="Segoe UI"/>
              </a:rPr>
              <a:t>Avinash Bhosale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0D9488"/>
                </a:solidFill>
                <a:latin typeface="Segoe UI Semibold"/>
              </a:rPr>
              <a:t>The opportunity:  </a:t>
            </a:r>
            <a:r>
              <a:rPr sz="1500" b="0" i="0">
                <a:solidFill>
                  <a:srgbClr val="374558"/>
                </a:solidFill>
                <a:latin typeface="Segoe UI"/>
              </a:rPr>
              <a:t>bring AI ideation and a deterministic cost engine together, so we identify savings across the </a:t>
            </a:r>
            <a:r>
              <a:rPr sz="1500" b="1" i="0">
                <a:solidFill>
                  <a:srgbClr val="B47609"/>
                </a:solidFill>
                <a:latin typeface="Segoe UI"/>
              </a:rPr>
              <a:t>whole vehicle</a:t>
            </a:r>
            <a:r>
              <a:rPr sz="1500" b="0" i="0">
                <a:solidFill>
                  <a:srgbClr val="374558"/>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374558"/>
                </a:solidFill>
                <a:latin typeface="Segoe UI"/>
              </a:rPr>
              <a:t>A single platform that generates </a:t>
            </a:r>
            <a:r>
              <a:rPr sz="1800" b="1" i="0">
                <a:solidFill>
                  <a:srgbClr val="0D9488"/>
                </a:solidFill>
                <a:latin typeface="Segoe UI"/>
              </a:rPr>
              <a:t>cost-reduction &amp; value-improvement ideas</a:t>
            </a:r>
            <a:r>
              <a:rPr sz="1800" b="0" i="0">
                <a:solidFill>
                  <a:srgbClr val="374558"/>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556477"/>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0D9488"/>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B47609"/>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059669"/>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059669"/>
                </a:solidFill>
                <a:latin typeface="Segoe UI Semibold"/>
              </a:rPr>
              <a:t>Why it matters:  </a:t>
            </a:r>
            <a:r>
              <a:rPr sz="1400" b="0" i="0">
                <a:solidFill>
                  <a:srgbClr val="374558"/>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556477"/>
                </a:solidFill>
                <a:latin typeface="Segoe UI"/>
              </a:rPr>
              <a:t>Plus commodity models for </a:t>
            </a:r>
            <a:r>
              <a:rPr sz="1250" b="1" i="0">
                <a:solidFill>
                  <a:srgbClr val="374558"/>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System-aware &amp; grounded</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tuned to system, vehicle type, volume and region — with live web search for current prices and innovations.</a:t>
            </a:r>
          </a:p>
        </p:txBody>
      </p:sp>
      <p:sp>
        <p:nvSpPr>
          <p:cNvPr id="16" name="Rounded Rectangle 15"/>
          <p:cNvSpPr/>
          <p:nvPr/>
        </p:nvSpPr>
        <p:spPr>
          <a:xfrm>
            <a:off x="548640" y="3081528"/>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Learns from your decisions</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you approve or confirm in production feed back as positive examples; proven marketplace precedents ground every run.</a:t>
            </a:r>
          </a:p>
        </p:txBody>
      </p:sp>
      <p:sp>
        <p:nvSpPr>
          <p:cNvPr id="20" name="Rounded Rectangle 19"/>
          <p:cNvSpPr/>
          <p:nvPr/>
        </p:nvSpPr>
        <p:spPr>
          <a:xfrm>
            <a:off x="548640" y="4105656"/>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Nine 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Layer TRIZ, Value Engineering, DFA, Design-to-Cost, biomimicry and more onto the same part.</a:t>
            </a:r>
          </a:p>
        </p:txBody>
      </p:sp>
      <p:sp>
        <p:nvSpPr>
          <p:cNvPr id="24" name="Rounded Rectangle 23"/>
          <p:cNvSpPr/>
          <p:nvPr/>
        </p:nvSpPr>
        <p:spPr>
          <a:xfrm>
            <a:off x="548640" y="5129784"/>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Every idea costed &amp; ranked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Engine-checked saving, difficulty and payback — ranked by verified value, with every ranking factor visible.</a:t>
            </a:r>
          </a:p>
        </p:txBody>
      </p:sp>
      <p:sp>
        <p:nvSpPr>
          <p:cNvPr id="28" name="Rounded Rectangle 27"/>
          <p:cNvSpPr/>
          <p:nvPr/>
        </p:nvSpPr>
        <p:spPr>
          <a:xfrm>
            <a:off x="6675120" y="1737360"/>
            <a:ext cx="493776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FFFFFF"/>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High</a:t>
            </a:r>
          </a:p>
        </p:txBody>
      </p:sp>
      <p:sp>
        <p:nvSpPr>
          <p:cNvPr id="37" name="Rounded Rectangle 36"/>
          <p:cNvSpPr/>
          <p:nvPr/>
        </p:nvSpPr>
        <p:spPr>
          <a:xfrm>
            <a:off x="10012680" y="3520440"/>
            <a:ext cx="11430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556477"/>
                </a:solidFill>
                <a:latin typeface="Segoe UI"/>
              </a:rPr>
              <a:t>Should-cost recomputed: </a:t>
            </a:r>
            <a:r>
              <a:rPr sz="1150" b="1" i="0">
                <a:solidFill>
                  <a:srgbClr val="059669"/>
                </a:solidFill>
                <a:latin typeface="Segoe UI"/>
              </a:rPr>
              <a:t>£17.10</a:t>
            </a:r>
            <a:r>
              <a:rPr sz="1150" b="0" i="0">
                <a:solidFill>
                  <a:srgbClr val="556477"/>
                </a:solidFill>
                <a:latin typeface="Segoe UI"/>
              </a:rPr>
              <a:t> vs </a:t>
            </a:r>
            <a:r>
              <a:rPr sz="1150" b="1" i="0">
                <a:solidFill>
                  <a:srgbClr val="E11D48"/>
                </a:solidFill>
                <a:latin typeface="Segoe UI"/>
              </a:rPr>
              <a:t>£23.40</a:t>
            </a:r>
            <a:r>
              <a:rPr sz="1150" b="0" i="0">
                <a:solidFill>
                  <a:srgbClr val="556477"/>
                </a:solidFill>
                <a:latin typeface="Segoe UI"/>
              </a:rPr>
              <a:t> baseline.
</a:t>
            </a:r>
            <a:r>
              <a:rPr sz="1150" b="1" i="0">
                <a:solidFill>
                  <a:srgbClr val="374558"/>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STEP / STL /
drawing / PDF</a:t>
            </a:r>
          </a:p>
        </p:txBody>
      </p:sp>
      <p:sp>
        <p:nvSpPr>
          <p:cNvPr id="17" name="Chevron 16"/>
          <p:cNvSpPr/>
          <p:nvPr/>
        </p:nvSpPr>
        <p:spPr>
          <a:xfrm>
            <a:off x="2542032"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Volume, area,
holes, thickness</a:t>
            </a:r>
          </a:p>
        </p:txBody>
      </p:sp>
      <p:sp>
        <p:nvSpPr>
          <p:cNvPr id="23" name="Chevron 22"/>
          <p:cNvSpPr/>
          <p:nvPr/>
        </p:nvSpPr>
        <p:spPr>
          <a:xfrm>
            <a:off x="4809744"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Interactive
3D viewer</a:t>
            </a:r>
          </a:p>
        </p:txBody>
      </p:sp>
      <p:sp>
        <p:nvSpPr>
          <p:cNvPr id="35" name="Chevron 34"/>
          <p:cNvSpPr/>
          <p:nvPr/>
        </p:nvSpPr>
        <p:spPr>
          <a:xfrm>
            <a:off x="9345168"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2563EB"/>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374558"/>
                </a:solidFill>
                <a:latin typeface="Segoe UI"/>
              </a:rPr>
              <a:t>It reads the </a:t>
            </a:r>
            <a:r>
              <a:rPr sz="1250" b="1" i="0">
                <a:solidFill>
                  <a:srgbClr val="16273C"/>
                </a:solidFill>
                <a:latin typeface="Segoe UI"/>
              </a:rPr>
              <a:t>actual geometry</a:t>
            </a:r>
            <a:r>
              <a:rPr sz="1250" b="0" i="0">
                <a:solidFill>
                  <a:srgbClr val="374558"/>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3B — NEW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Electronics: PCB Cost Intelligence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Photograph a circuit board — get a multi-country should-cost with live component prices and a full cost breakdown.</a:t>
            </a:r>
          </a:p>
        </p:txBody>
      </p:sp>
      <p:sp>
        <p:nvSpPr>
          <p:cNvPr id="12" name="Rounded Rectangle 11"/>
          <p:cNvSpPr/>
          <p:nvPr/>
        </p:nvSpPr>
        <p:spPr>
          <a:xfrm>
            <a:off x="548640" y="2011680"/>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143000" y="1975104"/>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Capture</a:t>
            </a:r>
          </a:p>
        </p:txBody>
      </p:sp>
      <p:sp>
        <p:nvSpPr>
          <p:cNvPr id="15" name="TextBox 14"/>
          <p:cNvSpPr txBox="1"/>
          <p:nvPr/>
        </p:nvSpPr>
        <p:spPr>
          <a:xfrm>
            <a:off x="1143000" y="2313432"/>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Up to 5 HD photos, or import the BOM from Excel / PDF</a:t>
            </a:r>
          </a:p>
        </p:txBody>
      </p:sp>
      <p:sp>
        <p:nvSpPr>
          <p:cNvPr id="16" name="Rounded Rectangle 15"/>
          <p:cNvSpPr/>
          <p:nvPr/>
        </p:nvSpPr>
        <p:spPr>
          <a:xfrm>
            <a:off x="548640" y="2999232"/>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99232"/>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43000" y="2962656"/>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Read</a:t>
            </a:r>
          </a:p>
        </p:txBody>
      </p:sp>
      <p:sp>
        <p:nvSpPr>
          <p:cNvPr id="19" name="TextBox 18"/>
          <p:cNvSpPr txBox="1"/>
          <p:nvPr/>
        </p:nvSpPr>
        <p:spPr>
          <a:xfrm>
            <a:off x="1143000" y="3300984"/>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AI vision identifies components, markings and package types</a:t>
            </a:r>
          </a:p>
        </p:txBody>
      </p:sp>
      <p:sp>
        <p:nvSpPr>
          <p:cNvPr id="20" name="Rounded Rectangle 19"/>
          <p:cNvSpPr/>
          <p:nvPr/>
        </p:nvSpPr>
        <p:spPr>
          <a:xfrm>
            <a:off x="548640" y="3986784"/>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86784"/>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143000" y="3950208"/>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Price</a:t>
            </a:r>
          </a:p>
        </p:txBody>
      </p:sp>
      <p:sp>
        <p:nvSpPr>
          <p:cNvPr id="23" name="TextBox 22"/>
          <p:cNvSpPr txBox="1"/>
          <p:nvPr/>
        </p:nvSpPr>
        <p:spPr>
          <a:xfrm>
            <a:off x="1143000" y="4288536"/>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Live DigiKey / Octopart part prices where available — tagged LIVE vs AI-estimated</a:t>
            </a:r>
          </a:p>
        </p:txBody>
      </p:sp>
      <p:sp>
        <p:nvSpPr>
          <p:cNvPr id="24" name="Rounded Rectangle 23"/>
          <p:cNvSpPr/>
          <p:nvPr/>
        </p:nvSpPr>
        <p:spPr>
          <a:xfrm>
            <a:off x="548640" y="4974336"/>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974336"/>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43000" y="4937760"/>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Cost</a:t>
            </a:r>
          </a:p>
        </p:txBody>
      </p:sp>
      <p:sp>
        <p:nvSpPr>
          <p:cNvPr id="27" name="TextBox 26"/>
          <p:cNvSpPr txBox="1"/>
          <p:nvPr/>
        </p:nvSpPr>
        <p:spPr>
          <a:xfrm>
            <a:off x="1143000" y="5276088"/>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Assembly, test, fabrication and overheads modelled across 12 manufacturing countries</a:t>
            </a:r>
          </a:p>
        </p:txBody>
      </p:sp>
      <p:sp>
        <p:nvSpPr>
          <p:cNvPr id="28" name="Rounded Rectangle 27"/>
          <p:cNvSpPr/>
          <p:nvPr/>
        </p:nvSpPr>
        <p:spPr>
          <a:xfrm>
            <a:off x="6492240" y="1783080"/>
            <a:ext cx="5120640" cy="42062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1965960"/>
            <a:ext cx="457200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YOU GET</a:t>
            </a:r>
          </a:p>
        </p:txBody>
      </p:sp>
      <p:sp>
        <p:nvSpPr>
          <p:cNvPr id="30" name="Rounded Rectangle 29"/>
          <p:cNvSpPr/>
          <p:nvPr/>
        </p:nvSpPr>
        <p:spPr>
          <a:xfrm>
            <a:off x="6766560" y="2377440"/>
            <a:ext cx="329184" cy="32918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23774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7269480" y="2331720"/>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China vs India vs Vietnam + 9 more</a:t>
            </a:r>
          </a:p>
        </p:txBody>
      </p:sp>
      <p:sp>
        <p:nvSpPr>
          <p:cNvPr id="33" name="TextBox 32"/>
          <p:cNvSpPr txBox="1"/>
          <p:nvPr/>
        </p:nvSpPr>
        <p:spPr>
          <a:xfrm>
            <a:off x="7269480" y="2651760"/>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side-by-side landed cost per country</a:t>
            </a:r>
          </a:p>
        </p:txBody>
      </p:sp>
      <p:sp>
        <p:nvSpPr>
          <p:cNvPr id="34" name="Rounded Rectangle 33"/>
          <p:cNvSpPr/>
          <p:nvPr/>
        </p:nvSpPr>
        <p:spPr>
          <a:xfrm>
            <a:off x="6766560" y="3273552"/>
            <a:ext cx="329184" cy="32918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3273552"/>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269480" y="3227832"/>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P10 / P50 / P90 + tornado chart</a:t>
            </a:r>
          </a:p>
        </p:txBody>
      </p:sp>
      <p:sp>
        <p:nvSpPr>
          <p:cNvPr id="37" name="TextBox 36"/>
          <p:cNvSpPr txBox="1"/>
          <p:nvPr/>
        </p:nvSpPr>
        <p:spPr>
          <a:xfrm>
            <a:off x="7269480" y="3547872"/>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which drivers move the price most</a:t>
            </a:r>
          </a:p>
        </p:txBody>
      </p:sp>
      <p:sp>
        <p:nvSpPr>
          <p:cNvPr id="38" name="Rounded Rectangle 37"/>
          <p:cNvSpPr/>
          <p:nvPr/>
        </p:nvSpPr>
        <p:spPr>
          <a:xfrm>
            <a:off x="6766560" y="4169664"/>
            <a:ext cx="329184" cy="32918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0" y="41696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7269480" y="4123944"/>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Industry-standard cost breakdown</a:t>
            </a:r>
          </a:p>
        </p:txBody>
      </p:sp>
      <p:sp>
        <p:nvSpPr>
          <p:cNvPr id="41" name="TextBox 40"/>
          <p:cNvSpPr txBox="1"/>
          <p:nvPr/>
        </p:nvSpPr>
        <p:spPr>
          <a:xfrm>
            <a:off x="7269480" y="4443984"/>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open-book waterfall: material → conversion → NRE → overheads → landed</a:t>
            </a:r>
          </a:p>
        </p:txBody>
      </p:sp>
      <p:sp>
        <p:nvSpPr>
          <p:cNvPr id="42" name="Rounded Rectangle 41"/>
          <p:cNvSpPr/>
          <p:nvPr/>
        </p:nvSpPr>
        <p:spPr>
          <a:xfrm>
            <a:off x="6766560" y="506577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66560" y="506577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7269480" y="5020056"/>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Engine-verified insights</a:t>
            </a:r>
          </a:p>
        </p:txBody>
      </p:sp>
      <p:sp>
        <p:nvSpPr>
          <p:cNvPr id="45" name="TextBox 44"/>
          <p:cNvSpPr txBox="1"/>
          <p:nvPr/>
        </p:nvSpPr>
        <p:spPr>
          <a:xfrm>
            <a:off x="7269480" y="5340096"/>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DFM, sourcing and optimisation ideas — each re-costed before it's shown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Held-out benchmark — average error vs reference prices (lower is better). Same parts, two methods.</a:t>
            </a:r>
          </a:p>
        </p:txBody>
      </p:sp>
      <p:sp>
        <p:nvSpPr>
          <p:cNvPr id="12" name="Rectangle 11"/>
          <p:cNvSpPr/>
          <p:nvPr/>
        </p:nvSpPr>
        <p:spPr>
          <a:xfrm>
            <a:off x="1417320" y="553212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42239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0</a:t>
            </a:r>
          </a:p>
        </p:txBody>
      </p:sp>
      <p:sp>
        <p:nvSpPr>
          <p:cNvPr id="14" name="Rectangle 13"/>
          <p:cNvSpPr/>
          <p:nvPr/>
        </p:nvSpPr>
        <p:spPr>
          <a:xfrm>
            <a:off x="1417320" y="475488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64515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20</a:t>
            </a:r>
          </a:p>
        </p:txBody>
      </p:sp>
      <p:sp>
        <p:nvSpPr>
          <p:cNvPr id="16" name="Rectangle 15"/>
          <p:cNvSpPr/>
          <p:nvPr/>
        </p:nvSpPr>
        <p:spPr>
          <a:xfrm>
            <a:off x="1417320" y="397764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86791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40</a:t>
            </a:r>
          </a:p>
        </p:txBody>
      </p:sp>
      <p:sp>
        <p:nvSpPr>
          <p:cNvPr id="18" name="Rectangle 17"/>
          <p:cNvSpPr/>
          <p:nvPr/>
        </p:nvSpPr>
        <p:spPr>
          <a:xfrm>
            <a:off x="1417320" y="320040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9067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60</a:t>
            </a:r>
          </a:p>
        </p:txBody>
      </p:sp>
      <p:sp>
        <p:nvSpPr>
          <p:cNvPr id="20" name="Rectangle 19"/>
          <p:cNvSpPr/>
          <p:nvPr/>
        </p:nvSpPr>
        <p:spPr>
          <a:xfrm>
            <a:off x="1417320" y="242316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231343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80</a:t>
            </a:r>
          </a:p>
        </p:txBody>
      </p:sp>
      <p:sp>
        <p:nvSpPr>
          <p:cNvPr id="22" name="Rounded Rectangle 21"/>
          <p:cNvSpPr/>
          <p:nvPr/>
        </p:nvSpPr>
        <p:spPr>
          <a:xfrm>
            <a:off x="1965960" y="3833851"/>
            <a:ext cx="822960" cy="1698269"/>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350466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43.7%</a:t>
            </a:r>
          </a:p>
        </p:txBody>
      </p:sp>
      <p:sp>
        <p:nvSpPr>
          <p:cNvPr id="24" name="Rounded Rectangle 23"/>
          <p:cNvSpPr/>
          <p:nvPr/>
        </p:nvSpPr>
        <p:spPr>
          <a:xfrm>
            <a:off x="2926080" y="4191381"/>
            <a:ext cx="822960" cy="1340739"/>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386219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34.5%</a:t>
            </a:r>
          </a:p>
        </p:txBody>
      </p:sp>
      <p:sp>
        <p:nvSpPr>
          <p:cNvPr id="26" name="Rounded Rectangle 25"/>
          <p:cNvSpPr/>
          <p:nvPr/>
        </p:nvSpPr>
        <p:spPr>
          <a:xfrm>
            <a:off x="4572000" y="2625243"/>
            <a:ext cx="822960" cy="2906877"/>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296059"/>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74.8%</a:t>
            </a:r>
          </a:p>
        </p:txBody>
      </p:sp>
      <p:sp>
        <p:nvSpPr>
          <p:cNvPr id="28" name="Rounded Rectangle 27"/>
          <p:cNvSpPr/>
          <p:nvPr/>
        </p:nvSpPr>
        <p:spPr>
          <a:xfrm>
            <a:off x="5532120" y="4020389"/>
            <a:ext cx="822960" cy="1511731"/>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3691205"/>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38.9%</a:t>
            </a:r>
          </a:p>
        </p:txBody>
      </p:sp>
      <p:sp>
        <p:nvSpPr>
          <p:cNvPr id="30" name="TextBox 29"/>
          <p:cNvSpPr txBox="1"/>
          <p:nvPr/>
        </p:nvSpPr>
        <p:spPr>
          <a:xfrm>
            <a:off x="173736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Machining parts</a:t>
            </a:r>
          </a:p>
        </p:txBody>
      </p:sp>
      <p:sp>
        <p:nvSpPr>
          <p:cNvPr id="31" name="TextBox 30"/>
          <p:cNvSpPr txBox="1"/>
          <p:nvPr/>
        </p:nvSpPr>
        <p:spPr>
          <a:xfrm>
            <a:off x="434340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Stamping parts</a:t>
            </a:r>
          </a:p>
        </p:txBody>
      </p:sp>
      <p:sp>
        <p:nvSpPr>
          <p:cNvPr id="32" name="TextBox 31"/>
          <p:cNvSpPr txBox="1"/>
          <p:nvPr/>
        </p:nvSpPr>
        <p:spPr>
          <a:xfrm>
            <a:off x="850392" y="2039112"/>
            <a:ext cx="5943600" cy="274320"/>
          </a:xfrm>
          <a:prstGeom prst="rect">
            <a:avLst/>
          </a:prstGeom>
          <a:noFill/>
        </p:spPr>
        <p:txBody>
          <a:bodyPr wrap="square" anchor="t" lIns="0" rIns="0" tIns="0" bIns="0">
            <a:spAutoFit/>
          </a:bodyPr>
          <a:lstStyle/>
          <a:p>
            <a:pPr algn="l">
              <a:lnSpc>
                <a:spcPct val="100000"/>
              </a:lnSpc>
            </a:pPr>
            <a:r>
              <a:rPr sz="1200" b="0" i="0">
                <a:solidFill>
                  <a:srgbClr val="556477"/>
                </a:solidFill>
                <a:latin typeface="Segoe UI"/>
              </a:rPr>
              <a:t>Mean Absolute % Error</a:t>
            </a:r>
          </a:p>
        </p:txBody>
      </p:sp>
      <p:sp>
        <p:nvSpPr>
          <p:cNvPr id="33" name="Rectangle 32"/>
          <p:cNvSpPr/>
          <p:nvPr/>
        </p:nvSpPr>
        <p:spPr>
          <a:xfrm>
            <a:off x="1783080" y="6053328"/>
            <a:ext cx="256032" cy="182880"/>
          </a:xfrm>
          <a:prstGeom prst="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21408" y="6007608"/>
            <a:ext cx="1920240" cy="27432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Mass estimate (old)</a:t>
            </a:r>
          </a:p>
        </p:txBody>
      </p:sp>
      <p:sp>
        <p:nvSpPr>
          <p:cNvPr id="35" name="Rectangle 34"/>
          <p:cNvSpPr/>
          <p:nvPr/>
        </p:nvSpPr>
        <p:spPr>
          <a:xfrm>
            <a:off x="4160520" y="6053328"/>
            <a:ext cx="256032" cy="1828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98848" y="6007608"/>
            <a:ext cx="2743200" cy="274320"/>
          </a:xfrm>
          <a:prstGeom prst="rect">
            <a:avLst/>
          </a:prstGeom>
          <a:noFill/>
        </p:spPr>
        <p:txBody>
          <a:bodyPr wrap="square" anchor="t" lIns="0" rIns="0" tIns="0" bIns="0">
            <a:spAutoFit/>
          </a:bodyPr>
          <a:lstStyle/>
          <a:p>
            <a:pPr algn="l">
              <a:lnSpc>
                <a:spcPct val="100000"/>
              </a:lnSpc>
            </a:pPr>
            <a:r>
              <a:rPr sz="1100" b="0" i="0">
                <a:solidFill>
                  <a:srgbClr val="374558"/>
                </a:solidFill>
                <a:latin typeface="Segoe UI"/>
              </a:rPr>
              <a:t>Feature-based (BrainSpark)</a:t>
            </a:r>
          </a:p>
        </p:txBody>
      </p:sp>
      <p:sp>
        <p:nvSpPr>
          <p:cNvPr id="37" name="Rounded Rectangle 36"/>
          <p:cNvSpPr/>
          <p:nvPr/>
        </p:nvSpPr>
        <p:spPr>
          <a:xfrm>
            <a:off x="7635240" y="2057400"/>
            <a:ext cx="4023360" cy="40233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B47609"/>
                </a:solidFill>
                <a:latin typeface="Segoe UI Semibold"/>
              </a:rPr>
              <a:t>WHAT THIS SHOWS</a:t>
            </a:r>
          </a:p>
        </p:txBody>
      </p:sp>
      <p:sp>
        <p:nvSpPr>
          <p:cNvPr id="39" name="Rounded Rectangle 38"/>
          <p:cNvSpPr/>
          <p:nvPr/>
        </p:nvSpPr>
        <p:spPr>
          <a:xfrm>
            <a:off x="7909560" y="274320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Feature-based cuts error on both — stamping error halves (75% → 39%).</a:t>
            </a:r>
          </a:p>
        </p:txBody>
      </p:sp>
      <p:sp>
        <p:nvSpPr>
          <p:cNvPr id="42" name="Rounded Rectangle 41"/>
          <p:cNvSpPr/>
          <p:nvPr/>
        </p:nvSpPr>
        <p:spPr>
          <a:xfrm>
            <a:off x="7909560" y="356616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Core should-cost engine: 100% hit-rate, 8.3% MAPE on 16 held-out parts (CI-gated).</a:t>
            </a:r>
          </a:p>
        </p:txBody>
      </p:sp>
      <p:sp>
        <p:nvSpPr>
          <p:cNvPr id="45" name="Rounded Rectangle 44"/>
          <p:cNvSpPr/>
          <p:nvPr/>
        </p:nvSpPr>
        <p:spPr>
          <a:xfrm>
            <a:off x="7909560" y="438912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Validated on held-out parts the model never calibrated against.</a:t>
            </a:r>
          </a:p>
        </p:txBody>
      </p:sp>
      <p:sp>
        <p:nvSpPr>
          <p:cNvPr id="48" name="Rounded Rectangle 47"/>
          <p:cNvSpPr/>
          <p:nvPr/>
        </p:nvSpPr>
        <p:spPr>
          <a:xfrm>
            <a:off x="7909560" y="521208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0" name="TextBox 49"/>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Method chosen for honesty, not to overfit the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Eleven Structured Innovation Methods — Built In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57200"/>
          </a:xfrm>
          <a:prstGeom prst="rect">
            <a:avLst/>
          </a:prstGeom>
          <a:noFill/>
        </p:spPr>
        <p:txBody>
          <a:bodyPr wrap="square" anchor="t" lIns="0" rIns="0" tIns="0" bIns="0">
            <a:spAutoFit/>
          </a:bodyPr>
          <a:lstStyle/>
          <a:p>
            <a:pPr algn="l">
              <a:lnSpc>
                <a:spcPct val="100000"/>
              </a:lnSpc>
            </a:pPr>
            <a:r>
              <a:rPr sz="1300" b="0" i="0">
                <a:solidFill>
                  <a:srgbClr val="556477"/>
                </a:solidFill>
                <a:latin typeface="Segoe UI"/>
              </a:rPr>
              <a:t>Real methodology as deterministic logic — not a chatbot prompt. The AI turns each method's output into concrete, engine-checked embodiments.</a:t>
            </a:r>
          </a:p>
        </p:txBody>
      </p:sp>
      <p:sp>
        <p:nvSpPr>
          <p:cNvPr id="12" name="Rounded Rectangle 11"/>
          <p:cNvSpPr/>
          <p:nvPr/>
        </p:nvSpPr>
        <p:spPr>
          <a:xfrm>
            <a:off x="548640"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0116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2677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TRIZ</a:t>
            </a:r>
          </a:p>
        </p:txBody>
      </p:sp>
      <p:sp>
        <p:nvSpPr>
          <p:cNvPr id="16" name="TextBox 15"/>
          <p:cNvSpPr txBox="1"/>
          <p:nvPr/>
        </p:nvSpPr>
        <p:spPr>
          <a:xfrm>
            <a:off x="777240"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40 inventive principles + contradiction matrix</a:t>
            </a:r>
          </a:p>
        </p:txBody>
      </p:sp>
      <p:sp>
        <p:nvSpPr>
          <p:cNvPr id="17" name="Rounded Rectangle 16"/>
          <p:cNvSpPr/>
          <p:nvPr/>
        </p:nvSpPr>
        <p:spPr>
          <a:xfrm>
            <a:off x="4279392"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0116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677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Value Engineering</a:t>
            </a:r>
          </a:p>
        </p:txBody>
      </p:sp>
      <p:sp>
        <p:nvSpPr>
          <p:cNvPr id="21" name="TextBox 20"/>
          <p:cNvSpPr txBox="1"/>
          <p:nvPr/>
        </p:nvSpPr>
        <p:spPr>
          <a:xfrm>
            <a:off x="4507992"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Value index = worth ÷ cost, per function</a:t>
            </a:r>
          </a:p>
        </p:txBody>
      </p:sp>
      <p:sp>
        <p:nvSpPr>
          <p:cNvPr id="22" name="Rounded Rectangle 21"/>
          <p:cNvSpPr/>
          <p:nvPr/>
        </p:nvSpPr>
        <p:spPr>
          <a:xfrm>
            <a:off x="8010144"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011680"/>
            <a:ext cx="3566160"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267712"/>
            <a:ext cx="3566160" cy="2560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8744"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FAST Function-Cost Matrix</a:t>
            </a:r>
          </a:p>
        </p:txBody>
      </p:sp>
      <p:sp>
        <p:nvSpPr>
          <p:cNvPr id="26" name="TextBox 25"/>
          <p:cNvSpPr txBox="1"/>
          <p:nvPr/>
        </p:nvSpPr>
        <p:spPr>
          <a:xfrm>
            <a:off x="8238744"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Component cost mapped onto functions — attack poor value</a:t>
            </a:r>
          </a:p>
        </p:txBody>
      </p:sp>
      <p:sp>
        <p:nvSpPr>
          <p:cNvPr id="27" name="Rounded Rectangle 26"/>
          <p:cNvSpPr/>
          <p:nvPr/>
        </p:nvSpPr>
        <p:spPr>
          <a:xfrm>
            <a:off x="548640"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3832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6393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DFA / DFMA</a:t>
            </a:r>
          </a:p>
        </p:txBody>
      </p:sp>
      <p:sp>
        <p:nvSpPr>
          <p:cNvPr id="31" name="TextBox 30"/>
          <p:cNvSpPr txBox="1"/>
          <p:nvPr/>
        </p:nvSpPr>
        <p:spPr>
          <a:xfrm>
            <a:off x="777240"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Boothroyd-Dewhurst min-parts &amp; efficiency</a:t>
            </a:r>
          </a:p>
        </p:txBody>
      </p:sp>
      <p:sp>
        <p:nvSpPr>
          <p:cNvPr id="32" name="Rounded Rectangle 31"/>
          <p:cNvSpPr/>
          <p:nvPr/>
        </p:nvSpPr>
        <p:spPr>
          <a:xfrm>
            <a:off x="4279392"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383280"/>
            <a:ext cx="3566160" cy="51206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3639312"/>
            <a:ext cx="3566160" cy="2560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07992"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Design-to-Cost</a:t>
            </a:r>
          </a:p>
        </p:txBody>
      </p:sp>
      <p:sp>
        <p:nvSpPr>
          <p:cNvPr id="36" name="TextBox 35"/>
          <p:cNvSpPr txBox="1"/>
          <p:nvPr/>
        </p:nvSpPr>
        <p:spPr>
          <a:xfrm>
            <a:off x="4507992"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Allocates the cost gap across buckets</a:t>
            </a:r>
          </a:p>
        </p:txBody>
      </p:sp>
      <p:sp>
        <p:nvSpPr>
          <p:cNvPr id="37" name="Rounded Rectangle 36"/>
          <p:cNvSpPr/>
          <p:nvPr/>
        </p:nvSpPr>
        <p:spPr>
          <a:xfrm>
            <a:off x="8010144"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383280"/>
            <a:ext cx="3566160"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3639312"/>
            <a:ext cx="3566160" cy="256032"/>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38744"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Spec &amp; Tolerance Challenge</a:t>
            </a:r>
          </a:p>
        </p:txBody>
      </p:sp>
      <p:sp>
        <p:nvSpPr>
          <p:cNvPr id="41" name="TextBox 40"/>
          <p:cNvSpPr txBox="1"/>
          <p:nvPr/>
        </p:nvSpPr>
        <p:spPr>
          <a:xfrm>
            <a:off x="8238744"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Engine-costed relaxations — CTQs stay locked</a:t>
            </a:r>
          </a:p>
        </p:txBody>
      </p:sp>
      <p:sp>
        <p:nvSpPr>
          <p:cNvPr id="42" name="Rounded Rectangle 41"/>
          <p:cNvSpPr/>
          <p:nvPr/>
        </p:nvSpPr>
        <p:spPr>
          <a:xfrm>
            <a:off x="548640"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47548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8640" y="50109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Teardown Delta</a:t>
            </a:r>
          </a:p>
        </p:txBody>
      </p:sp>
      <p:sp>
        <p:nvSpPr>
          <p:cNvPr id="46" name="TextBox 45"/>
          <p:cNvSpPr txBox="1"/>
          <p:nvPr/>
        </p:nvSpPr>
        <p:spPr>
          <a:xfrm>
            <a:off x="777240"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Attribute-by-attribute vs a benchmark part</a:t>
            </a:r>
          </a:p>
        </p:txBody>
      </p:sp>
      <p:sp>
        <p:nvSpPr>
          <p:cNvPr id="47" name="Rounded Rectangle 46"/>
          <p:cNvSpPr/>
          <p:nvPr/>
        </p:nvSpPr>
        <p:spPr>
          <a:xfrm>
            <a:off x="4279392"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79392" y="47548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79392" y="50109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07992"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SCAMPER + Morphological</a:t>
            </a:r>
          </a:p>
        </p:txBody>
      </p:sp>
      <p:sp>
        <p:nvSpPr>
          <p:cNvPr id="51" name="TextBox 50"/>
          <p:cNvSpPr txBox="1"/>
          <p:nvPr/>
        </p:nvSpPr>
        <p:spPr>
          <a:xfrm>
            <a:off x="4507992"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Lateral prompts + Zwicky concept space</a:t>
            </a:r>
          </a:p>
        </p:txBody>
      </p:sp>
      <p:sp>
        <p:nvSpPr>
          <p:cNvPr id="52" name="Rounded Rectangle 51"/>
          <p:cNvSpPr/>
          <p:nvPr/>
        </p:nvSpPr>
        <p:spPr>
          <a:xfrm>
            <a:off x="8010144"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10144" y="47548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10144" y="50109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38744"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Effects &amp; Trends · Circularity</a:t>
            </a:r>
          </a:p>
        </p:txBody>
      </p:sp>
      <p:sp>
        <p:nvSpPr>
          <p:cNvPr id="56" name="TextBox 55"/>
          <p:cNvSpPr txBox="1"/>
          <p:nvPr/>
        </p:nvSpPr>
        <p:spPr>
          <a:xfrm>
            <a:off x="8238744"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Cheaper physical effects, next-gen jumps, EU ELV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NEW — HOW IT GETS BETTER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Deep Mode &amp; the Learning Loop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00" b="1" i="0">
                <a:solidFill>
                  <a:srgbClr val="0D9488"/>
                </a:solidFill>
                <a:latin typeface="Segoe UI Semibold"/>
              </a:rPr>
              <a:t>The same architecture the research labs use for scientific discovery: propose, critique, rank, repair — verified at every step.</a:t>
            </a:r>
          </a:p>
        </p:txBody>
      </p:sp>
      <p:sp>
        <p:nvSpPr>
          <p:cNvPr id="12" name="Rounded Rectangle 11"/>
          <p:cNvSpPr/>
          <p:nvPr/>
        </p:nvSpPr>
        <p:spPr>
          <a:xfrm>
            <a:off x="548640" y="1965960"/>
            <a:ext cx="557784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21408"/>
            <a:ext cx="5029200" cy="365760"/>
          </a:xfrm>
          <a:prstGeom prst="rect">
            <a:avLst/>
          </a:prstGeom>
          <a:noFill/>
        </p:spPr>
        <p:txBody>
          <a:bodyPr wrap="square" anchor="t" lIns="0" rIns="0" tIns="0" bIns="0">
            <a:spAutoFit/>
          </a:bodyPr>
          <a:lstStyle/>
          <a:p>
            <a:pPr algn="l">
              <a:lnSpc>
                <a:spcPct val="100000"/>
              </a:lnSpc>
            </a:pPr>
            <a:r>
              <a:rPr sz="1200" b="1" i="0">
                <a:solidFill>
                  <a:srgbClr val="7C3AED"/>
                </a:solidFill>
                <a:latin typeface="Segoe UI Semibold"/>
              </a:rPr>
              <a:t>DEEP MODE — opt-in, per analysis</a:t>
            </a:r>
          </a:p>
        </p:txBody>
      </p:sp>
      <p:sp>
        <p:nvSpPr>
          <p:cNvPr id="14" name="Rounded Rectangle 13"/>
          <p:cNvSpPr/>
          <p:nvPr/>
        </p:nvSpPr>
        <p:spPr>
          <a:xfrm>
            <a:off x="822960" y="2606040"/>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06040"/>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6" name="TextBox 15"/>
          <p:cNvSpPr txBox="1"/>
          <p:nvPr/>
        </p:nvSpPr>
        <p:spPr>
          <a:xfrm>
            <a:off x="1389888" y="2569464"/>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Expert panel critiques</a:t>
            </a:r>
          </a:p>
        </p:txBody>
      </p:sp>
      <p:sp>
        <p:nvSpPr>
          <p:cNvPr id="17" name="TextBox 16"/>
          <p:cNvSpPr txBox="1"/>
          <p:nvPr/>
        </p:nvSpPr>
        <p:spPr>
          <a:xfrm>
            <a:off x="1389888" y="2907792"/>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Manufacturing, supplier-commercial and quality personas — each reviews every idea from its own discipline</a:t>
            </a:r>
          </a:p>
        </p:txBody>
      </p:sp>
      <p:sp>
        <p:nvSpPr>
          <p:cNvPr id="18" name="Rounded Rectangle 17"/>
          <p:cNvSpPr/>
          <p:nvPr/>
        </p:nvSpPr>
        <p:spPr>
          <a:xfrm>
            <a:off x="822960" y="368503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85032"/>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20" name="TextBox 19"/>
          <p:cNvSpPr txBox="1"/>
          <p:nvPr/>
        </p:nvSpPr>
        <p:spPr>
          <a:xfrm>
            <a:off x="1389888" y="3648456"/>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Tournament ranking</a:t>
            </a:r>
          </a:p>
        </p:txBody>
      </p:sp>
      <p:sp>
        <p:nvSpPr>
          <p:cNvPr id="21" name="TextBox 20"/>
          <p:cNvSpPr txBox="1"/>
          <p:nvPr/>
        </p:nvSpPr>
        <p:spPr>
          <a:xfrm>
            <a:off x="1389888" y="3986784"/>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Ideas judged head-to-head, chess-style — the strongest rise on merit, not on wording</a:t>
            </a:r>
          </a:p>
        </p:txBody>
      </p:sp>
      <p:sp>
        <p:nvSpPr>
          <p:cNvPr id="22" name="Rounded Rectangle 21"/>
          <p:cNvSpPr/>
          <p:nvPr/>
        </p:nvSpPr>
        <p:spPr>
          <a:xfrm>
            <a:off x="822960" y="4764024"/>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764024"/>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24" name="TextBox 23"/>
          <p:cNvSpPr txBox="1"/>
          <p:nvPr/>
        </p:nvSpPr>
        <p:spPr>
          <a:xfrm>
            <a:off x="1389888" y="4727448"/>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Verified repair</a:t>
            </a:r>
          </a:p>
        </p:txBody>
      </p:sp>
      <p:sp>
        <p:nvSpPr>
          <p:cNvPr id="25" name="TextBox 24"/>
          <p:cNvSpPr txBox="1"/>
          <p:nvPr/>
        </p:nvSpPr>
        <p:spPr>
          <a:xfrm>
            <a:off x="1389888" y="5065776"/>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Challenged or engine-contradicted ideas get one fix attempt — accepted only if the engine re-confirms it</a:t>
            </a:r>
          </a:p>
        </p:txBody>
      </p:sp>
      <p:sp>
        <p:nvSpPr>
          <p:cNvPr id="26" name="Rounded Rectangle 25"/>
          <p:cNvSpPr/>
          <p:nvPr/>
        </p:nvSpPr>
        <p:spPr>
          <a:xfrm>
            <a:off x="6355080" y="1965960"/>
            <a:ext cx="5285232"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9400" y="2121408"/>
            <a:ext cx="4754880" cy="365760"/>
          </a:xfrm>
          <a:prstGeom prst="rect">
            <a:avLst/>
          </a:prstGeom>
          <a:noFill/>
        </p:spPr>
        <p:txBody>
          <a:bodyPr wrap="square" anchor="t" lIns="0" rIns="0" tIns="0" bIns="0">
            <a:spAutoFit/>
          </a:bodyPr>
          <a:lstStyle/>
          <a:p>
            <a:pPr algn="l">
              <a:lnSpc>
                <a:spcPct val="100000"/>
              </a:lnSpc>
            </a:pPr>
            <a:r>
              <a:rPr sz="1200" b="1" i="0">
                <a:solidFill>
                  <a:srgbClr val="059669"/>
                </a:solidFill>
                <a:latin typeface="Segoe UI Semibold"/>
              </a:rPr>
              <a:t>THE LEARNING LOOP — always on</a:t>
            </a:r>
          </a:p>
        </p:txBody>
      </p:sp>
      <p:sp>
        <p:nvSpPr>
          <p:cNvPr id="28" name="Rounded Rectangle 27"/>
          <p:cNvSpPr/>
          <p:nvPr/>
        </p:nvSpPr>
        <p:spPr>
          <a:xfrm>
            <a:off x="662940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32320" y="2560320"/>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Learns your taste</a:t>
            </a:r>
          </a:p>
        </p:txBody>
      </p:sp>
      <p:sp>
        <p:nvSpPr>
          <p:cNvPr id="31" name="TextBox 30"/>
          <p:cNvSpPr txBox="1"/>
          <p:nvPr/>
        </p:nvSpPr>
        <p:spPr>
          <a:xfrm>
            <a:off x="7132320" y="2880360"/>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approvals and production-confirmed savings become positive examples for the next run</a:t>
            </a:r>
          </a:p>
        </p:txBody>
      </p:sp>
      <p:sp>
        <p:nvSpPr>
          <p:cNvPr id="32" name="Rounded Rectangle 31"/>
          <p:cNvSpPr/>
          <p:nvPr/>
        </p:nvSpPr>
        <p:spPr>
          <a:xfrm>
            <a:off x="6629400" y="344728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344728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7132320" y="3401568"/>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Targets the gaps</a:t>
            </a:r>
          </a:p>
        </p:txBody>
      </p:sp>
      <p:sp>
        <p:nvSpPr>
          <p:cNvPr id="35" name="TextBox 34"/>
          <p:cNvSpPr txBox="1"/>
          <p:nvPr/>
        </p:nvSpPr>
        <p:spPr>
          <a:xfrm>
            <a:off x="7132320" y="3721608"/>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coverage map of 1,600+ verified ideas shows where thinking is thin — the AI aims there</a:t>
            </a:r>
          </a:p>
        </p:txBody>
      </p:sp>
      <p:sp>
        <p:nvSpPr>
          <p:cNvPr id="36" name="Rounded Rectangle 35"/>
          <p:cNvSpPr/>
          <p:nvPr/>
        </p:nvSpPr>
        <p:spPr>
          <a:xfrm>
            <a:off x="6629400" y="428853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428853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7132320" y="4242816"/>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Kills duplicates</a:t>
            </a:r>
          </a:p>
        </p:txBody>
      </p:sp>
      <p:sp>
        <p:nvSpPr>
          <p:cNvPr id="39" name="TextBox 38"/>
          <p:cNvSpPr txBox="1"/>
          <p:nvPr/>
        </p:nvSpPr>
        <p:spPr>
          <a:xfrm>
            <a:off x="7132320" y="4562856"/>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near-identical ideas are auto-merged; restatements of known ideas get flagged</a:t>
            </a:r>
          </a:p>
        </p:txBody>
      </p:sp>
      <p:sp>
        <p:nvSpPr>
          <p:cNvPr id="40" name="Rounded Rectangle 39"/>
          <p:cNvSpPr/>
          <p:nvPr/>
        </p:nvSpPr>
        <p:spPr>
          <a:xfrm>
            <a:off x="6629400" y="512978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29400" y="512978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132320" y="5084064"/>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Measured, not asserted</a:t>
            </a:r>
          </a:p>
        </p:txBody>
      </p:sp>
      <p:sp>
        <p:nvSpPr>
          <p:cNvPr id="43" name="TextBox 42"/>
          <p:cNvSpPr txBox="1"/>
          <p:nvPr/>
        </p:nvSpPr>
        <p:spPr>
          <a:xfrm>
            <a:off x="7132320" y="5404104"/>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benchmark harness A/B-tests every pipeline change before it ships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1,600+ ideas — each labelled Curated (benchmark-sourced) or Community (user-submitted)</a:t>
            </a:r>
          </a:p>
        </p:txBody>
      </p:sp>
      <p:sp>
        <p:nvSpPr>
          <p:cNvPr id="18" name="Rounded Rectangle 17"/>
          <p:cNvSpPr/>
          <p:nvPr/>
        </p:nvSpPr>
        <p:spPr>
          <a:xfrm>
            <a:off x="868680" y="335584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Coverage map shows where the library is thin — the AI targets those gaps</a:t>
            </a:r>
          </a:p>
        </p:txBody>
      </p:sp>
      <p:sp>
        <p:nvSpPr>
          <p:cNvPr id="21" name="Rounded Rectangle 20"/>
          <p:cNvSpPr/>
          <p:nvPr/>
        </p:nvSpPr>
        <p:spPr>
          <a:xfrm>
            <a:off x="868680" y="410565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Theme clusters + duplicate warnings keep it clean and searchable</a:t>
            </a:r>
          </a:p>
        </p:txBody>
      </p:sp>
      <p:sp>
        <p:nvSpPr>
          <p:cNvPr id="24" name="Rounded Rectangle 23"/>
          <p:cNvSpPr/>
          <p:nvPr/>
        </p:nvSpPr>
        <p:spPr>
          <a:xfrm>
            <a:off x="868680" y="485546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Savings pipeline with G0–G3 stage-gate scorecards</a:t>
            </a:r>
          </a:p>
        </p:txBody>
      </p:sp>
      <p:sp>
        <p:nvSpPr>
          <p:cNvPr id="40" name="Rounded Rectangle 39"/>
          <p:cNvSpPr/>
          <p:nvPr/>
        </p:nvSpPr>
        <p:spPr>
          <a:xfrm>
            <a:off x="6537960" y="4855464"/>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Patent check with real, citable patent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0D9488"/>
                </a:solidFill>
                <a:latin typeface="Segoe UI Semibold"/>
              </a:rPr>
              <a:t>Feedback loop:  </a:t>
            </a:r>
            <a:r>
              <a:rPr sz="1350" b="0" i="0">
                <a:solidFill>
                  <a:srgbClr val="374558"/>
                </a:solidFill>
                <a:latin typeface="Segoe UI"/>
              </a:rPr>
              <a:t>real supplier quotes feed back into the engine's calibration, so every quote makes the next estimate sharper.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Fast model for cheap steps, flagship model for the hard reasoning — cost-efficient.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Expert-panel &amp; tournament ranking</a:t>
            </a:r>
          </a:p>
        </p:txBody>
      </p:sp>
      <p:sp>
        <p:nvSpPr>
          <p:cNvPr id="24" name="Rounded Rectangle 23"/>
          <p:cNvSpPr/>
          <p:nvPr/>
        </p:nvSpPr>
        <p:spPr>
          <a:xfrm>
            <a:off x="749808" y="5038344"/>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Tailwind CSS UI</a:t>
            </a:r>
          </a:p>
        </p:txBody>
      </p:sp>
      <p:sp>
        <p:nvSpPr>
          <p:cNvPr id="37" name="Rounded Rectangle 36"/>
          <p:cNvSpPr/>
          <p:nvPr/>
        </p:nvSpPr>
        <p:spPr>
          <a:xfrm>
            <a:off x="3566160" y="4197096"/>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Node.js + Express</a:t>
            </a:r>
          </a:p>
        </p:txBody>
      </p:sp>
      <p:sp>
        <p:nvSpPr>
          <p:cNvPr id="50" name="Rounded Rectangle 49"/>
          <p:cNvSpPr/>
          <p:nvPr/>
        </p:nvSpPr>
        <p:spPr>
          <a:xfrm>
            <a:off x="6382512" y="3355848"/>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FX, commodity, DigiKey &amp; patent APIs</a:t>
            </a:r>
          </a:p>
        </p:txBody>
      </p:sp>
      <p:sp>
        <p:nvSpPr>
          <p:cNvPr id="59" name="Rounded Rectangle 58"/>
          <p:cNvSpPr/>
          <p:nvPr/>
        </p:nvSpPr>
        <p:spPr>
          <a:xfrm>
            <a:off x="8997696"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Machining, stamping &amp; PCB models</a:t>
            </a:r>
          </a:p>
        </p:txBody>
      </p:sp>
      <p:sp>
        <p:nvSpPr>
          <p:cNvPr id="69" name="Rounded Rectangle 68"/>
          <p:cNvSpPr/>
          <p:nvPr/>
        </p:nvSpPr>
        <p:spPr>
          <a:xfrm>
            <a:off x="9198864" y="419709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280+ automated tests &amp; benchmarks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BEHIND THE SCENES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Engineering Effort Behind the Tool</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Engineer-directed, AI-accelerated development — the same human + AI leverage the tool itself delivers.</a:t>
            </a:r>
          </a:p>
        </p:txBody>
      </p:sp>
      <p:sp>
        <p:nvSpPr>
          <p:cNvPr id="12" name="Rounded Rectangle 11"/>
          <p:cNvSpPr/>
          <p:nvPr/>
        </p:nvSpPr>
        <p:spPr>
          <a:xfrm>
            <a:off x="548640"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42,600+</a:t>
            </a:r>
          </a:p>
        </p:txBody>
      </p:sp>
      <p:sp>
        <p:nvSpPr>
          <p:cNvPr id="14" name="TextBox 13"/>
          <p:cNvSpPr txBox="1"/>
          <p:nvPr/>
        </p:nvSpPr>
        <p:spPr>
          <a:xfrm>
            <a:off x="548640"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lines of production code</a:t>
            </a:r>
          </a:p>
        </p:txBody>
      </p:sp>
      <p:sp>
        <p:nvSpPr>
          <p:cNvPr id="15" name="Rounded Rectangle 14"/>
          <p:cNvSpPr/>
          <p:nvPr/>
        </p:nvSpPr>
        <p:spPr>
          <a:xfrm>
            <a:off x="3364992"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150+</a:t>
            </a:r>
          </a:p>
        </p:txBody>
      </p:sp>
      <p:sp>
        <p:nvSpPr>
          <p:cNvPr id="17" name="TextBox 16"/>
          <p:cNvSpPr txBox="1"/>
          <p:nvPr/>
        </p:nvSpPr>
        <p:spPr>
          <a:xfrm>
            <a:off x="3364992"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source files</a:t>
            </a:r>
          </a:p>
        </p:txBody>
      </p:sp>
      <p:sp>
        <p:nvSpPr>
          <p:cNvPr id="18" name="Rounded Rectangle 17"/>
          <p:cNvSpPr/>
          <p:nvPr/>
        </p:nvSpPr>
        <p:spPr>
          <a:xfrm>
            <a:off x="6181344"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1344"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285</a:t>
            </a:r>
          </a:p>
        </p:txBody>
      </p:sp>
      <p:sp>
        <p:nvSpPr>
          <p:cNvPr id="20" name="TextBox 19"/>
          <p:cNvSpPr txBox="1"/>
          <p:nvPr/>
        </p:nvSpPr>
        <p:spPr>
          <a:xfrm>
            <a:off x="6181344"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automated tests</a:t>
            </a:r>
          </a:p>
        </p:txBody>
      </p:sp>
      <p:sp>
        <p:nvSpPr>
          <p:cNvPr id="21" name="Rounded Rectangle 20"/>
          <p:cNvSpPr/>
          <p:nvPr/>
        </p:nvSpPr>
        <p:spPr>
          <a:xfrm>
            <a:off x="8997696"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97696"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 : 7.7</a:t>
            </a:r>
          </a:p>
        </p:txBody>
      </p:sp>
      <p:sp>
        <p:nvSpPr>
          <p:cNvPr id="23" name="TextBox 22"/>
          <p:cNvSpPr txBox="1"/>
          <p:nvPr/>
        </p:nvSpPr>
        <p:spPr>
          <a:xfrm>
            <a:off x="8997696"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test-to-product code ratio</a:t>
            </a:r>
          </a:p>
        </p:txBody>
      </p:sp>
      <p:sp>
        <p:nvSpPr>
          <p:cNvPr id="24" name="Rounded Rectangle 23"/>
          <p:cNvSpPr/>
          <p:nvPr/>
        </p:nvSpPr>
        <p:spPr>
          <a:xfrm>
            <a:off x="548640" y="3127248"/>
            <a:ext cx="6217920" cy="29718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255264"/>
            <a:ext cx="566928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WHERE THE CODE LIVES</a:t>
            </a:r>
          </a:p>
        </p:txBody>
      </p:sp>
      <p:sp>
        <p:nvSpPr>
          <p:cNvPr id="26" name="TextBox 25"/>
          <p:cNvSpPr txBox="1"/>
          <p:nvPr/>
        </p:nvSpPr>
        <p:spPr>
          <a:xfrm>
            <a:off x="822960" y="3639312"/>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Frontend app (React / TypeScript)</a:t>
            </a:r>
          </a:p>
        </p:txBody>
      </p:sp>
      <p:sp>
        <p:nvSpPr>
          <p:cNvPr id="27" name="Rounded Rectangle 26"/>
          <p:cNvSpPr/>
          <p:nvPr/>
        </p:nvSpPr>
        <p:spPr>
          <a:xfrm>
            <a:off x="822960" y="3858768"/>
            <a:ext cx="3703320" cy="14630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3776472"/>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20.4k</a:t>
            </a:r>
          </a:p>
        </p:txBody>
      </p:sp>
      <p:sp>
        <p:nvSpPr>
          <p:cNvPr id="29" name="TextBox 28"/>
          <p:cNvSpPr txBox="1"/>
          <p:nvPr/>
        </p:nvSpPr>
        <p:spPr>
          <a:xfrm>
            <a:off x="822960" y="4069080"/>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Cost engines + AI pipeline (backend)</a:t>
            </a:r>
          </a:p>
        </p:txBody>
      </p:sp>
      <p:sp>
        <p:nvSpPr>
          <p:cNvPr id="30" name="Rounded Rectangle 29"/>
          <p:cNvSpPr/>
          <p:nvPr/>
        </p:nvSpPr>
        <p:spPr>
          <a:xfrm>
            <a:off x="822960" y="4288536"/>
            <a:ext cx="2051348"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65748" y="4206240"/>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11.3k</a:t>
            </a:r>
          </a:p>
        </p:txBody>
      </p:sp>
      <p:sp>
        <p:nvSpPr>
          <p:cNvPr id="32" name="TextBox 31"/>
          <p:cNvSpPr txBox="1"/>
          <p:nvPr/>
        </p:nvSpPr>
        <p:spPr>
          <a:xfrm>
            <a:off x="822960" y="4498848"/>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Curated knowledge bases (13 domains)</a:t>
            </a:r>
          </a:p>
        </p:txBody>
      </p:sp>
      <p:sp>
        <p:nvSpPr>
          <p:cNvPr id="33" name="Rounded Rectangle 32"/>
          <p:cNvSpPr/>
          <p:nvPr/>
        </p:nvSpPr>
        <p:spPr>
          <a:xfrm>
            <a:off x="822960" y="4718304"/>
            <a:ext cx="998444" cy="14630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12844" y="4636008"/>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5.5k</a:t>
            </a:r>
          </a:p>
        </p:txBody>
      </p:sp>
      <p:sp>
        <p:nvSpPr>
          <p:cNvPr id="35" name="TextBox 34"/>
          <p:cNvSpPr txBox="1"/>
          <p:nvPr/>
        </p:nvSpPr>
        <p:spPr>
          <a:xfrm>
            <a:off x="822960" y="4928616"/>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Automated tests</a:t>
            </a:r>
          </a:p>
        </p:txBody>
      </p:sp>
      <p:sp>
        <p:nvSpPr>
          <p:cNvPr id="36" name="Rounded Rectangle 35"/>
          <p:cNvSpPr/>
          <p:nvPr/>
        </p:nvSpPr>
        <p:spPr>
          <a:xfrm>
            <a:off x="822960" y="5148072"/>
            <a:ext cx="544605" cy="14630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459005" y="5065776"/>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3.0k</a:t>
            </a:r>
          </a:p>
        </p:txBody>
      </p:sp>
      <p:sp>
        <p:nvSpPr>
          <p:cNvPr id="38" name="TextBox 37"/>
          <p:cNvSpPr txBox="1"/>
          <p:nvPr/>
        </p:nvSpPr>
        <p:spPr>
          <a:xfrm>
            <a:off x="822960" y="5358384"/>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Benchmarks &amp; eval harnesses</a:t>
            </a:r>
          </a:p>
        </p:txBody>
      </p:sp>
      <p:sp>
        <p:nvSpPr>
          <p:cNvPr id="39" name="Rounded Rectangle 38"/>
          <p:cNvSpPr/>
          <p:nvPr/>
        </p:nvSpPr>
        <p:spPr>
          <a:xfrm>
            <a:off x="822960" y="5577840"/>
            <a:ext cx="326763" cy="14630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41163" y="5495544"/>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1.8k</a:t>
            </a:r>
          </a:p>
        </p:txBody>
      </p:sp>
      <p:sp>
        <p:nvSpPr>
          <p:cNvPr id="41" name="Rounded Rectangle 40"/>
          <p:cNvSpPr/>
          <p:nvPr/>
        </p:nvSpPr>
        <p:spPr>
          <a:xfrm>
            <a:off x="6995160" y="3127248"/>
            <a:ext cx="4645152" cy="29718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9480" y="3255264"/>
            <a:ext cx="411480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THAT DISCIPLINE BUYS</a:t>
            </a:r>
          </a:p>
        </p:txBody>
      </p:sp>
      <p:sp>
        <p:nvSpPr>
          <p:cNvPr id="43" name="Rounded Rectangle 42"/>
          <p:cNvSpPr/>
          <p:nvPr/>
        </p:nvSpPr>
        <p:spPr>
          <a:xfrm>
            <a:off x="7269480" y="362102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362102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7699248" y="3602736"/>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Every cost engine ships with unit tests — 285 run on every change</a:t>
            </a:r>
          </a:p>
        </p:txBody>
      </p:sp>
      <p:sp>
        <p:nvSpPr>
          <p:cNvPr id="46" name="Rounded Rectangle 45"/>
          <p:cNvSpPr/>
          <p:nvPr/>
        </p:nvSpPr>
        <p:spPr>
          <a:xfrm>
            <a:off x="7269480" y="411937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69480" y="411937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8" name="TextBox 47"/>
          <p:cNvSpPr txBox="1"/>
          <p:nvPr/>
        </p:nvSpPr>
        <p:spPr>
          <a:xfrm>
            <a:off x="7699248" y="4101084"/>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Accuracy proven on held-out parts, not tuned to look good</a:t>
            </a:r>
          </a:p>
        </p:txBody>
      </p:sp>
      <p:sp>
        <p:nvSpPr>
          <p:cNvPr id="49" name="Rounded Rectangle 48"/>
          <p:cNvSpPr/>
          <p:nvPr/>
        </p:nvSpPr>
        <p:spPr>
          <a:xfrm>
            <a:off x="7269480" y="461772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69480" y="461772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1" name="TextBox 50"/>
          <p:cNvSpPr txBox="1"/>
          <p:nvPr/>
        </p:nvSpPr>
        <p:spPr>
          <a:xfrm>
            <a:off x="7699248" y="4599432"/>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AI changes are A/B-measured; a debt report flags unmeasured claims</a:t>
            </a:r>
          </a:p>
        </p:txBody>
      </p:sp>
      <p:sp>
        <p:nvSpPr>
          <p:cNvPr id="52" name="Rounded Rectangle 51"/>
          <p:cNvSpPr/>
          <p:nvPr/>
        </p:nvSpPr>
        <p:spPr>
          <a:xfrm>
            <a:off x="7269480" y="51160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69480" y="51160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4" name="TextBox 53"/>
          <p:cNvSpPr txBox="1"/>
          <p:nvPr/>
        </p:nvSpPr>
        <p:spPr>
          <a:xfrm>
            <a:off x="7699248" y="5097780"/>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Daily automatic backups, a decision log &amp; an honest known-gaps register</a:t>
            </a:r>
          </a:p>
        </p:txBody>
      </p:sp>
      <p:sp>
        <p:nvSpPr>
          <p:cNvPr id="55" name="Rounded Rectangle 54"/>
          <p:cNvSpPr/>
          <p:nvPr/>
        </p:nvSpPr>
        <p:spPr>
          <a:xfrm>
            <a:off x="7269480" y="561441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69480" y="561441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7" name="TextBox 56"/>
          <p:cNvSpPr txBox="1"/>
          <p:nvPr/>
        </p:nvSpPr>
        <p:spPr>
          <a:xfrm>
            <a:off x="7699248" y="5596128"/>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Directed, reviewed &amp; verified by an engineer — AI did the typing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0D9488"/>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059669"/>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2563EB"/>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B47609"/>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B47609"/>
                </a:solidFill>
                <a:latin typeface="Segoe UI Semibold"/>
              </a:rPr>
              <a:t>Net effect:  </a:t>
            </a:r>
            <a:r>
              <a:rPr sz="1400" b="1" i="0">
                <a:solidFill>
                  <a:srgbClr val="374558"/>
                </a:solidFill>
                <a:latin typeface="Segoe UI"/>
              </a:rPr>
              <a:t>more cost-down ideas, found earlier, defended better — and captured as reusable team knowledge.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demo.png"/>
          <p:cNvPicPr>
            <a:picLocks noChangeAspect="1"/>
          </p:cNvPicPr>
          <p:nvPr/>
        </p:nvPicPr>
        <p:blipFill>
          <a:blip r:embed="rId2"/>
          <a:srcRect t="1718" b="2804"/>
          <a:stretch>
            <a:fillRect/>
          </a:stretch>
        </p:blipFill>
        <p:spPr>
          <a:xfrm>
            <a:off x="8183879" y="1188720"/>
            <a:ext cx="3520440" cy="4754880"/>
          </a:xfrm>
          <a:prstGeom prst="rect">
            <a:avLst/>
          </a:prstGeom>
        </p:spPr>
      </p:pic>
      <p:sp>
        <p:nvSpPr>
          <p:cNvPr id="5" name="Rectangle 4"/>
          <p:cNvSpPr/>
          <p:nvPr/>
        </p:nvSpPr>
        <p:spPr>
          <a:xfrm>
            <a:off x="8183879" y="1188720"/>
            <a:ext cx="3520440" cy="4754880"/>
          </a:xfrm>
          <a:prstGeom prst="rect">
            <a:avLst/>
          </a:prstGeom>
          <a:no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694944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SEE IT LIVE</a:t>
            </a:r>
          </a:p>
        </p:txBody>
      </p:sp>
      <p:sp>
        <p:nvSpPr>
          <p:cNvPr id="7" name="TextBox 6"/>
          <p:cNvSpPr txBox="1"/>
          <p:nvPr/>
        </p:nvSpPr>
        <p:spPr>
          <a:xfrm>
            <a:off x="960120" y="1920240"/>
            <a:ext cx="7040880" cy="914400"/>
          </a:xfrm>
          <a:prstGeom prst="rect">
            <a:avLst/>
          </a:prstGeom>
          <a:noFill/>
        </p:spPr>
        <p:txBody>
          <a:bodyPr wrap="square" anchor="t" lIns="0" rIns="0" tIns="0" bIns="0">
            <a:spAutoFit/>
          </a:bodyPr>
          <a:lstStyle/>
          <a:p>
            <a:pPr algn="l">
              <a:lnSpc>
                <a:spcPct val="100000"/>
              </a:lnSpc>
            </a:pPr>
            <a:r>
              <a:rPr sz="5200" b="1" i="0">
                <a:solidFill>
                  <a:srgbClr val="16273C"/>
                </a:solidFill>
                <a:latin typeface="Segoe UI Semibold"/>
              </a:rPr>
              <a:t>Live Demo</a:t>
            </a:r>
          </a:p>
        </p:txBody>
      </p:sp>
      <p:sp>
        <p:nvSpPr>
          <p:cNvPr id="8" name="TextBox 7"/>
          <p:cNvSpPr txBox="1"/>
          <p:nvPr/>
        </p:nvSpPr>
        <p:spPr>
          <a:xfrm>
            <a:off x="1005840" y="3017520"/>
            <a:ext cx="6949440" cy="457200"/>
          </a:xfrm>
          <a:prstGeom prst="rect">
            <a:avLst/>
          </a:prstGeom>
          <a:noFill/>
        </p:spPr>
        <p:txBody>
          <a:bodyPr wrap="square" anchor="t" lIns="0" rIns="0" tIns="0" bIns="0">
            <a:spAutoFit/>
          </a:bodyPr>
          <a:lstStyle/>
          <a:p>
            <a:pPr algn="l">
              <a:lnSpc>
                <a:spcPct val="100000"/>
              </a:lnSpc>
            </a:pPr>
            <a:r>
              <a:rPr sz="1700" b="0" i="0">
                <a:solidFill>
                  <a:srgbClr val="374558"/>
                </a:solidFill>
                <a:latin typeface="Segoe UI Light"/>
              </a:rPr>
              <a:t>A 5-minute walk through the real workflow:</a:t>
            </a:r>
          </a:p>
        </p:txBody>
      </p:sp>
      <p:sp>
        <p:nvSpPr>
          <p:cNvPr id="9" name="Rounded Rectangle 8"/>
          <p:cNvSpPr/>
          <p:nvPr/>
        </p:nvSpPr>
        <p:spPr>
          <a:xfrm>
            <a:off x="1005840" y="3611880"/>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80"/>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1" name="TextBox 10"/>
          <p:cNvSpPr txBox="1"/>
          <p:nvPr/>
        </p:nvSpPr>
        <p:spPr>
          <a:xfrm>
            <a:off x="1645920" y="3630168"/>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Generate cost-reduction ideas for a live vehicle system</a:t>
            </a:r>
          </a:p>
        </p:txBody>
      </p:sp>
      <p:sp>
        <p:nvSpPr>
          <p:cNvPr id="12" name="Rounded Rectangle 11"/>
          <p:cNvSpPr/>
          <p:nvPr/>
        </p:nvSpPr>
        <p:spPr>
          <a:xfrm>
            <a:off x="1005840" y="4178808"/>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178808"/>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14" name="TextBox 13"/>
          <p:cNvSpPr txBox="1"/>
          <p:nvPr/>
        </p:nvSpPr>
        <p:spPr>
          <a:xfrm>
            <a:off x="1645920" y="4197096"/>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Upload a CAD part → feature-based should-cost + 3D view</a:t>
            </a:r>
          </a:p>
        </p:txBody>
      </p:sp>
      <p:sp>
        <p:nvSpPr>
          <p:cNvPr id="15" name="Rounded Rectangle 14"/>
          <p:cNvSpPr/>
          <p:nvPr/>
        </p:nvSpPr>
        <p:spPr>
          <a:xfrm>
            <a:off x="1005840" y="4745736"/>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745736"/>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17" name="TextBox 16"/>
          <p:cNvSpPr txBox="1"/>
          <p:nvPr/>
        </p:nvSpPr>
        <p:spPr>
          <a:xfrm>
            <a:off x="1645920" y="4764024"/>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Photograph a PCB → AI reads the BOM → 12-country cost</a:t>
            </a:r>
          </a:p>
        </p:txBody>
      </p:sp>
      <p:sp>
        <p:nvSpPr>
          <p:cNvPr id="18" name="Rounded Rectangle 17"/>
          <p:cNvSpPr/>
          <p:nvPr/>
        </p:nvSpPr>
        <p:spPr>
          <a:xfrm>
            <a:off x="1005840" y="5312664"/>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312664"/>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4</a:t>
            </a:r>
          </a:p>
        </p:txBody>
      </p:sp>
      <p:sp>
        <p:nvSpPr>
          <p:cNvPr id="20" name="TextBox 19"/>
          <p:cNvSpPr txBox="1"/>
          <p:nvPr/>
        </p:nvSpPr>
        <p:spPr>
          <a:xfrm>
            <a:off x="1645920" y="5330952"/>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Run a should-cost, close a quote gap with targeted ideas</a:t>
            </a:r>
          </a:p>
        </p:txBody>
      </p:sp>
      <p:sp>
        <p:nvSpPr>
          <p:cNvPr id="21" name="Rounded Rectangle 20"/>
          <p:cNvSpPr/>
          <p:nvPr/>
        </p:nvSpPr>
        <p:spPr>
          <a:xfrm>
            <a:off x="1005840" y="5879592"/>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879592"/>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5</a:t>
            </a:r>
          </a:p>
        </p:txBody>
      </p:sp>
      <p:sp>
        <p:nvSpPr>
          <p:cNvPr id="23" name="TextBox 22"/>
          <p:cNvSpPr txBox="1"/>
          <p:nvPr/>
        </p:nvSpPr>
        <p:spPr>
          <a:xfrm>
            <a:off x="1645920" y="5897880"/>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Show the savings pipeline, scorecards &amp; ROI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Roadmap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20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Self-improving AI ideation + Deep Mode</a:t>
            </a:r>
          </a:p>
        </p:txBody>
      </p:sp>
      <p:sp>
        <p:nvSpPr>
          <p:cNvPr id="19" name="Rounded Rectangle 18"/>
          <p:cNvSpPr/>
          <p:nvPr/>
        </p:nvSpPr>
        <p:spPr>
          <a:xfrm>
            <a:off x="804672" y="336499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PCB suite: photo → BOM → 12-country cost</a:t>
            </a:r>
          </a:p>
        </p:txBody>
      </p:sp>
      <p:sp>
        <p:nvSpPr>
          <p:cNvPr id="22" name="Rounded Rectangle 21"/>
          <p:cNvSpPr/>
          <p:nvPr/>
        </p:nvSpPr>
        <p:spPr>
          <a:xfrm>
            <a:off x="804672" y="398678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Should-cost + quote-gap closure</a:t>
            </a:r>
          </a:p>
        </p:txBody>
      </p:sp>
      <p:sp>
        <p:nvSpPr>
          <p:cNvPr id="25" name="Rounded Rectangle 24"/>
          <p:cNvSpPr/>
          <p:nvPr/>
        </p:nvSpPr>
        <p:spPr>
          <a:xfrm>
            <a:off x="804672" y="460857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11 innovation methods, engine-checked</a:t>
            </a:r>
          </a:p>
        </p:txBody>
      </p:sp>
      <p:sp>
        <p:nvSpPr>
          <p:cNvPr id="28" name="Rounded Rectangle 27"/>
          <p:cNvSpPr/>
          <p:nvPr/>
        </p:nvSpPr>
        <p:spPr>
          <a:xfrm>
            <a:off x="804672" y="52303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Marketplace, scorecards &amp; patent check</a:t>
            </a:r>
          </a:p>
        </p:txBody>
      </p:sp>
      <p:sp>
        <p:nvSpPr>
          <p:cNvPr id="31" name="Rounded Rectangle 30"/>
          <p:cNvSpPr/>
          <p:nvPr/>
        </p:nvSpPr>
        <p:spPr>
          <a:xfrm>
            <a:off x="4279392"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Commonality &amp; variant reduction</a:t>
            </a:r>
          </a:p>
        </p:txBody>
      </p:sp>
      <p:sp>
        <p:nvSpPr>
          <p:cNvPr id="48" name="Rounded Rectangle 47"/>
          <p:cNvSpPr/>
          <p:nvPr/>
        </p:nvSpPr>
        <p:spPr>
          <a:xfrm>
            <a:off x="8010144"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Vision</a:t>
            </a:r>
          </a:p>
        </p:txBody>
      </p:sp>
      <p:sp>
        <p:nvSpPr>
          <p:cNvPr id="53" name="Rounded Rectangle 52"/>
          <p:cNvSpPr/>
          <p:nvPr/>
        </p:nvSpPr>
        <p:spPr>
          <a:xfrm>
            <a:off x="8266176" y="2743200"/>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Portfolio-level cost intelligence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close.png"/>
          <p:cNvPicPr>
            <a:picLocks noChangeAspect="1"/>
          </p:cNvPicPr>
          <p:nvPr/>
        </p:nvPicPr>
        <p:blipFill>
          <a:blip r:embed="rId2"/>
          <a:srcRect t="12310" b="17000"/>
          <a:stretch>
            <a:fillRect/>
          </a:stretch>
        </p:blipFill>
        <p:spPr>
          <a:xfrm>
            <a:off x="8549640" y="2651760"/>
            <a:ext cx="3108960" cy="3108960"/>
          </a:xfrm>
          <a:prstGeom prst="rect">
            <a:avLst/>
          </a:prstGeom>
        </p:spPr>
      </p:pic>
      <p:sp>
        <p:nvSpPr>
          <p:cNvPr id="5" name="Rectangle 4"/>
          <p:cNvSpPr/>
          <p:nvPr/>
        </p:nvSpPr>
        <p:spPr>
          <a:xfrm>
            <a:off x="8549640" y="2651760"/>
            <a:ext cx="3108960" cy="3108960"/>
          </a:xfrm>
          <a:prstGeom prst="rect">
            <a:avLst/>
          </a:prstGeom>
          <a:no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WHERE WE GO FROM HERE</a:t>
            </a:r>
          </a:p>
        </p:txBody>
      </p:sp>
      <p:sp>
        <p:nvSpPr>
          <p:cNvPr id="7" name="TextBox 6"/>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16273C"/>
                </a:solidFill>
                <a:latin typeface="Segoe UI Semibold"/>
              </a:rPr>
              <a:t>Let's put it to work</a:t>
            </a:r>
          </a:p>
        </p:txBody>
      </p:sp>
      <p:sp>
        <p:nvSpPr>
          <p:cNvPr id="8" name="Rounded Rectangle 7"/>
          <p:cNvSpPr/>
          <p:nvPr/>
        </p:nvSpPr>
        <p:spPr>
          <a:xfrm>
            <a:off x="1005840" y="278892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0" name="TextBox 9"/>
          <p:cNvSpPr txBox="1"/>
          <p:nvPr/>
        </p:nvSpPr>
        <p:spPr>
          <a:xfrm>
            <a:off x="1783080" y="2743200"/>
            <a:ext cx="658368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Run a live pilot</a:t>
            </a:r>
          </a:p>
        </p:txBody>
      </p:sp>
      <p:sp>
        <p:nvSpPr>
          <p:cNvPr id="11" name="TextBox 10"/>
          <p:cNvSpPr txBox="1"/>
          <p:nvPr/>
        </p:nvSpPr>
        <p:spPr>
          <a:xfrm>
            <a:off x="1783080" y="3172968"/>
            <a:ext cx="658368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Pick one active programme or part family and trial BrainSpark on it.</a:t>
            </a:r>
          </a:p>
        </p:txBody>
      </p:sp>
      <p:sp>
        <p:nvSpPr>
          <p:cNvPr id="12" name="Rounded Rectangle 11"/>
          <p:cNvSpPr/>
          <p:nvPr/>
        </p:nvSpPr>
        <p:spPr>
          <a:xfrm>
            <a:off x="1005840" y="384048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783080" y="3794760"/>
            <a:ext cx="658368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Benchmark it</a:t>
            </a:r>
          </a:p>
        </p:txBody>
      </p:sp>
      <p:sp>
        <p:nvSpPr>
          <p:cNvPr id="15" name="TextBox 14"/>
          <p:cNvSpPr txBox="1"/>
          <p:nvPr/>
        </p:nvSpPr>
        <p:spPr>
          <a:xfrm>
            <a:off x="1783080" y="4224528"/>
            <a:ext cx="658368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Validate its numbers against a few known supplier quotes together.</a:t>
            </a:r>
          </a:p>
        </p:txBody>
      </p:sp>
      <p:sp>
        <p:nvSpPr>
          <p:cNvPr id="16" name="Rounded Rectangle 15"/>
          <p:cNvSpPr/>
          <p:nvPr/>
        </p:nvSpPr>
        <p:spPr>
          <a:xfrm>
            <a:off x="1005840" y="489204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783080" y="4846320"/>
            <a:ext cx="658368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Sponsor &amp; shape</a:t>
            </a:r>
          </a:p>
        </p:txBody>
      </p:sp>
      <p:sp>
        <p:nvSpPr>
          <p:cNvPr id="19" name="TextBox 18"/>
          <p:cNvSpPr txBox="1"/>
          <p:nvPr/>
        </p:nvSpPr>
        <p:spPr>
          <a:xfrm>
            <a:off x="1783080" y="5276088"/>
            <a:ext cx="658368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A little time and direction to prioritise the features that matter most to us.</a:t>
            </a:r>
          </a:p>
        </p:txBody>
      </p:sp>
      <p:sp>
        <p:nvSpPr>
          <p:cNvPr id="20" name="Rectangle 19"/>
          <p:cNvSpPr/>
          <p:nvPr/>
        </p:nvSpPr>
        <p:spPr>
          <a:xfrm>
            <a:off x="1005840" y="5943600"/>
            <a:ext cx="10241280" cy="27432"/>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Thank you.  </a:t>
            </a:r>
            <a:r>
              <a:rPr sz="1400" b="0" i="0">
                <a:solidFill>
                  <a:srgbClr val="374558"/>
                </a:solidFill>
                <a:latin typeface="Segoe UI"/>
              </a:rPr>
              <a:t>Questions &amp; discussion welcome   ·   </a:t>
            </a:r>
            <a:r>
              <a:rPr sz="1400" b="0" i="0">
                <a:solidFill>
                  <a:srgbClr val="556477"/>
                </a:solidFill>
                <a:latin typeface="Segoe UI"/>
              </a:rPr>
              <a:t>Avinash Bhosale · Cost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