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warmly: 'Thanks for making time. I want to walk you through BrainSpark — a cost-engineering platform I've been building on weekends. In about 20 minutes I'll show what it does, why the numbers can be trusted, and then a quick live demo.' Emphasise the one-line promise on screen: defensible, quote-ready numbers in minutes, not weeks. Keep this slide up while people settle.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the Director already feels. Two moves matter here: first, cost ideas usually land too late to change anything; second, when they do land, the numbers are hard to defend. Add that knowledge is fragmented and tools are narrow. Then pivot to the opportunity line at the bottom — that's exactly the gap BrainSpark fills. Don't rush; let the problem land before showing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elevator pitch in one slide. Say it plainly: 'BrainSpark generates cost ideas across the whole car, and immediately prices each one on a deterministic engine.' Then gesture at the six tiles — these are the building blocks I'll go one level deeper on in the next few slides. The key phrase to plant early is 'deterministic should-cost engine', because trust is our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 slow down. The trap with AI is confident, wrong numbers. We avoid that with a simple rule: the AI is allowed to have ideas, but it is never allowed to invent the cost. A separate deterministic engine recomputes every figure and stamps it confirmed or contradicted. Tell the Director: this is what lets us put a number in front of a supplier and defend it. If they remember one thing from today, it should be 'AI proposes, the engine verifies.'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breadth. Cost tools are usually single-commodity; BrainSpark sees the whole car. Walk across a couple of systems the Director cares about most — probably BIW and battery for automotive — and mention that under each system there's a curated set of proven cost levers, not generic advice. The bottom line is the commodity coverage: we can cost most of what a vehicle is made 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go one level down into the first capability. The story: an engineer picks a system — say Body Structure — sets volume, region and vehicle type, and hits generate. Before it answers, it searches for current prices and recent innovations, so ideas are grounded in today's reality, not old training data. The new bit since you last saw this: it learns. Ideas the team approves or confirms in production feed back into the next generation as positive examples, and proven ideas from our own library ground every run — so the tool gets more 'us' the more we use it. Point at the example card: an annual saving, a difficulty flag, and the engine's own recomputed cost underneath. That green 'verified' tag is the trust architecture in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engine behind every number. Stress that it's bottom-up and transparent: material from mass and live commodity prices, process from machine rate times cycle time, tooling amortised over the programme, then overheads and margin by region. Four things to name-drop: nine costing regions, live commodity and FX feeds, Monte-Carlo confidence bands so we show a range not a false-precision point, and self-calibration — feed it a real supplier quote and it tunes itself. This is what makes the output audit-proof.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engineers get excited about. Instead of guessing cost from weight, it reads the geometry. Upload a CAD model, it pulls out the features that actually drive cost — how much metal is removed, surface area to finish, number and depth of holes, press tonnage for a stamping — and builds the cycle time from that. Walk the five-step pipeline left to right and mention the 3D viewer, which makes it tangible in the demo. Honest scope note: machining and stamping are live today; more commodities are on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is brand new since the last update, and it fills a real gap — electronics. The workflow is deliberately simple: photograph the board, or drop in the BOM as Excel or PDF, and the AI reads the components off the image. Where a part number resolves, we pull a live distributor price and tag it LIVE; where it doesn't, the estimate is clearly tagged as AI — we never blur the two. Then the engine costs assembly, test and fabrication across twelve manufacturing countries side by side, with a proper sensitivity view and an open-book cost breakdown a supplier would recognise. If procurement has ever asked 'what should this ECU cost from Vietnam versus China?' — this answers it in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not claims. This is a held-out benchmark — parts the model wasn't tuned on. The grey bars are the old weight-based estimate; the teal bars are the new feature-based method. The biggest jump is on stamping, where the old approach was worst — error halves from about 75% down to 39%; machining improves from 44% to 34%. And note the second bullet: the core should-cost engine itself — the one behind every number in the tool — scores a 100% hit-rate with 8.3% average error on sixteen held-out reference parts, and CI fails if that regresses. Be candid: the CAD-feature figures are engineering-grade estimates, not supplier quotes, and I deliberately stopped tuning to avoid overfitting the benchmark. That honesty is the point — we show ranges and we don't pretend to precision we don't have.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differentiator versus generic AI tools: these are genuine engineering methods implemented as deterministic code, then the AI dresses the output into concrete ideas for your specific part. TRIZ actually walks the contradiction matrix; DFA computes the real Boothroyd-Dewhurst minimum part count. Three are new since the last update and worth calling out: the FAST function-cost matrix — the classical value-engineering core, mapping every component's cost onto the functions it serves; the Spec and Tolerance Challenge, where relaxation savings are computed by the cost engine itself and safety-critical characteristics are locked in code so the AI can never propose touching them; and Teardown Delta — compare your part attribute-by-attribute against a benchmark and turn every gap into an idea. Method from theory, numbers from the engine, wording from the 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every director should ask about AI tools: 'does it get better, or is this as good as it gets?' Two answers. Deep Mode is an opt-in switch for the analyses that matter: a panel of three AI experts — a manufacturing engineer, a commercial manager and a quality lead — critiques every idea from its own angle, the ideas then compete head-to-head like a chess tournament, and anything the panel or the engine knocks down gets exactly one repair attempt, which only survives if the engine re-confirms it. It costs a few times more tokens, which is why it's a switch and not the default. The learning loop runs all the time: the tool learns from what the team approves, aims at the white space in our idea library, and merges duplicates. And the last point matters most — we don't claim any of this made the ideas better, we measure it with a benchmark harness before each change ships. That's engineering discipline applied to the AI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capabilities that make it a platform rather than a gadget. On the left, the marketplace is an institutional memory — over sixteen hundred ideas an engineer can pull from instead of starting blank, each carrying an engine-checked cost. And note the honesty detail: every idea is labelled by origin — Curated means it came from benchmark and teardown curation, Community means one of us submitted it and it passed review. We never dress seeded content up as community wisdom; that's the same no-faking rule the cost figures follow. The library polices itself too: a coverage map shows where our thinking is thin, duplicate submissions get caught at the door, and ideas cluster into browsable themes. On the right, analytics turn ideas into decisions: confidence bands, an ROI calculator, and a savings pipeline with stage-gate scorecards — promoting an idea past an unfinished checklist warns you exactly what was skipped. Plus a patent check that cites real patent records, with the standing caveat that it's awareness,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it all together as one flow. Select a system or upload a CAD file; set the context; the AI generates ideas while the engine prices each; the engine verifies; and you decide and track. Then the loop at the bottom is the clever part — when we later get a real supplier quote, it feeds back and calibrates the engine, so the tool gets more accurate the more we use it. This is the slide to keep on screen right before the live demo, because the demo will follow exactly these five steps.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technically-curious Director, here's what the AI actually does — and what keeps it safe. Agentic reasoning means it uses the cost engine as a tool, tries alternatives and learns when the engine rejects an impossible combination. It searches the web for live prices before answering. It reads CAD and PDF drawings, not just text. Outputs are forced into strict schemas so we get clean data. And there are guardrails: anything a user types is treated as data, never as instructions, so the tool can't be hijacked. Model tiering keeps running costs sensible.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light unless the Director is technical. Headline: it's built on a modern, production-grade stack, not a prototype held together with string. Claude does the reasoning; React and Three.js give a polished UI with a real 3D viewer; Node and SQLite run the backend with live price and FX feeds; and the cost engine is proper software — unit-tested and benchmarked. If they ask 'is this maintainable and safe', the answer is yes: standard tools, tested code, and it runs self-contained.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the effort and the standard — and be upfront about how it was built, because it's the strongest part of the story: I built this with AI-assisted development. I set the direction, made the engineering decisions, reviewed and tested everything; AI did the heavy lifting on the code. In other words, I used exactly the human-plus-AI way of working this tool offers our engineers — and this is what one engineer can produce with it on personal time. Walk the numbers: over forty-two thousand lines of production code, including five and a half thousand lines of curated engineering knowledge — the levers and benchmarks that make ideas automotive-grade rather than generic — and roughly one line of test or benchmark code for every eight lines of product. Then land on the discipline column: two hundred and eighty-five tests on every change, accuracy proven on held-out parts, AI changes A/B-measured with a debt report that flags anything still unmeasured, and it's run like a product — daily automatic backups, a written decision log, and an honest register of what's NOT production-ready yet. That last point is worth saying out loud: I keep a list of the gaps — monitoring, deployment, spend tracking — because knowing your limits is part of the engineering. AI accelerated the build; discipline governed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Translate features into value the Director cares about. Speed: ideas arrive while the design is still open, so they can actually be actioned. Confidence: the numbers survive a sourcing review because they're reproducible. Breadth: no blind spots — we see the whole car. Leverage: the know-how that usually walks out the door at 5pm becomes a searchable team asset. The one-line net effect at the bottom is your summary sentence — say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the live tool. Keep the demo tight — five beats, mirroring the workflow slide: generate ideas for a system, upload a CAD part to show feature-based cost and the 3D viewer, then the crowd-pleaser — photograph a circuit board and watch it read the components and cost it across twelve countries. Fourth beat: run a should-cost with a supplier quote and show the gap-closure ideas, so they see the engine verify in real time. Finish on the pipeline with its scorecards and ROI so it lands as a business tool, not a toy. If anything is slow or offline, narrate what it would show and move on — don't fight the tech in the room. Have a backup screen-recording ready just in case.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momentum and a credible path — and note how much moved from 'next' into 'now' since the last version of this deck: the PCB suite, Deep Mode, the learning loop, the new methods, scorecards and the patent check all shipped in the past fortnight. 'Next' is the near-term engineering: more commodity models and tighter empirical confidence bands. 'Later' is the vision — collaboration, PLM/ERP integration and portfolio-level cost intelligence. The subtext for the Director: this isn't finished-and-frozen, it's a living platform with visible velocity — and with a little support it accelerates.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clear, low-risk ask — don't leave it open-ended. Three concrete next steps: run a small pilot on one real programme, benchmark it together against a handful of known quotes so trust is earned not asserted, and give it light sponsorship to steer the roadmap. Then hand over to questions. End on the collaborative note: this is built to support the team's work, and the fastest way to prove its worth is to try it on something real.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09728" cy="685800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ck-hero.png"/>
          <p:cNvPicPr>
            <a:picLocks noChangeAspect="1"/>
          </p:cNvPicPr>
          <p:nvPr/>
        </p:nvPicPr>
        <p:blipFill>
          <a:blip r:embed="rId2"/>
          <a:srcRect t="11412" b="5370"/>
          <a:stretch>
            <a:fillRect/>
          </a:stretch>
        </p:blipFill>
        <p:spPr>
          <a:xfrm>
            <a:off x="8183879" y="1234440"/>
            <a:ext cx="3611880" cy="4251960"/>
          </a:xfrm>
          <a:prstGeom prst="rect">
            <a:avLst/>
          </a:prstGeom>
        </p:spPr>
      </p:pic>
      <p:sp>
        <p:nvSpPr>
          <p:cNvPr id="5" name="Rectangle 4"/>
          <p:cNvSpPr/>
          <p:nvPr/>
        </p:nvSpPr>
        <p:spPr>
          <a:xfrm>
            <a:off x="8183879" y="1234440"/>
            <a:ext cx="3611880" cy="4251960"/>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71600"/>
            <a:ext cx="6949440" cy="457200"/>
          </a:xfrm>
          <a:prstGeom prst="rect">
            <a:avLst/>
          </a:prstGeom>
          <a:noFill/>
        </p:spPr>
        <p:txBody>
          <a:bodyPr wrap="square" anchor="t" lIns="0" rIns="0" tIns="0" bIns="0">
            <a:spAutoFit/>
          </a:bodyPr>
          <a:lstStyle/>
          <a:p>
            <a:pPr algn="l">
              <a:lnSpc>
                <a:spcPct val="100000"/>
              </a:lnSpc>
            </a:pPr>
            <a:r>
              <a:rPr sz="1500" b="1" i="0">
                <a:solidFill>
                  <a:srgbClr val="0D9488"/>
                </a:solidFill>
                <a:latin typeface="Segoe UI Semibold"/>
              </a:rPr>
              <a:t>AI-POWERED COST ENGINEERING PLATFORM</a:t>
            </a:r>
          </a:p>
        </p:txBody>
      </p:sp>
      <p:sp>
        <p:nvSpPr>
          <p:cNvPr id="7" name="TextBox 6"/>
          <p:cNvSpPr txBox="1"/>
          <p:nvPr/>
        </p:nvSpPr>
        <p:spPr>
          <a:xfrm>
            <a:off x="960120" y="1965960"/>
            <a:ext cx="7040880" cy="1463040"/>
          </a:xfrm>
          <a:prstGeom prst="rect">
            <a:avLst/>
          </a:prstGeom>
          <a:noFill/>
        </p:spPr>
        <p:txBody>
          <a:bodyPr wrap="square" anchor="t" lIns="0" rIns="0" tIns="0" bIns="0">
            <a:spAutoFit/>
          </a:bodyPr>
          <a:lstStyle/>
          <a:p>
            <a:pPr algn="l">
              <a:lnSpc>
                <a:spcPct val="100000"/>
              </a:lnSpc>
            </a:pPr>
            <a:r>
              <a:rPr sz="6600" b="1" i="0">
                <a:solidFill>
                  <a:srgbClr val="16273C"/>
                </a:solidFill>
                <a:latin typeface="Segoe UI Semibold"/>
              </a:rPr>
              <a:t>Brain</a:t>
            </a:r>
            <a:r>
              <a:rPr sz="6600" b="1" i="0">
                <a:solidFill>
                  <a:srgbClr val="0D9488"/>
                </a:solidFill>
                <a:latin typeface="Segoe UI Semibold"/>
              </a:rPr>
              <a:t>Spark</a:t>
            </a:r>
          </a:p>
        </p:txBody>
      </p:sp>
      <p:sp>
        <p:nvSpPr>
          <p:cNvPr id="8" name="TextBox 7"/>
          <p:cNvSpPr txBox="1"/>
          <p:nvPr/>
        </p:nvSpPr>
        <p:spPr>
          <a:xfrm>
            <a:off x="1005840" y="3200400"/>
            <a:ext cx="6949440" cy="914400"/>
          </a:xfrm>
          <a:prstGeom prst="rect">
            <a:avLst/>
          </a:prstGeom>
          <a:noFill/>
        </p:spPr>
        <p:txBody>
          <a:bodyPr wrap="square" anchor="t" lIns="0" rIns="0" tIns="0" bIns="0">
            <a:spAutoFit/>
          </a:bodyPr>
          <a:lstStyle/>
          <a:p>
            <a:pPr algn="l">
              <a:lnSpc>
                <a:spcPct val="110000"/>
              </a:lnSpc>
            </a:pPr>
            <a:r>
              <a:rPr sz="1900" b="0" i="0">
                <a:solidFill>
                  <a:srgbClr val="374558"/>
                </a:solidFill>
                <a:latin typeface="Segoe UI Light"/>
              </a:rPr>
              <a:t>Turning whole-vehicle cost-reduction ideas into defensible,
quote-ready numbers — in minutes, not weeks.</a:t>
            </a:r>
          </a:p>
        </p:txBody>
      </p:sp>
      <p:sp>
        <p:nvSpPr>
          <p:cNvPr id="9" name="Rounded Rectangle 8"/>
          <p:cNvSpPr/>
          <p:nvPr/>
        </p:nvSpPr>
        <p:spPr>
          <a:xfrm>
            <a:off x="1005840" y="4709160"/>
            <a:ext cx="1673352"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46320"/>
            <a:ext cx="1673352" cy="411480"/>
          </a:xfrm>
          <a:prstGeom prst="rect">
            <a:avLst/>
          </a:prstGeom>
          <a:noFill/>
        </p:spPr>
        <p:txBody>
          <a:bodyPr wrap="square" anchor="t" lIns="0" rIns="0" tIns="0" bIns="0">
            <a:spAutoFit/>
          </a:bodyPr>
          <a:lstStyle/>
          <a:p>
            <a:pPr algn="ctr">
              <a:lnSpc>
                <a:spcPct val="100000"/>
              </a:lnSpc>
            </a:pPr>
            <a:r>
              <a:rPr sz="2000" b="1" i="0">
                <a:solidFill>
                  <a:srgbClr val="B47609"/>
                </a:solidFill>
                <a:latin typeface="Segoe UI Semibold"/>
              </a:rPr>
              <a:t>13+</a:t>
            </a:r>
          </a:p>
        </p:txBody>
      </p:sp>
      <p:sp>
        <p:nvSpPr>
          <p:cNvPr id="11" name="TextBox 10"/>
          <p:cNvSpPr txBox="1"/>
          <p:nvPr/>
        </p:nvSpPr>
        <p:spPr>
          <a:xfrm>
            <a:off x="1005840" y="5303520"/>
            <a:ext cx="1673352" cy="320040"/>
          </a:xfrm>
          <a:prstGeom prst="rect">
            <a:avLst/>
          </a:prstGeom>
          <a:noFill/>
        </p:spPr>
        <p:txBody>
          <a:bodyPr wrap="square" anchor="t" lIns="0" rIns="0" tIns="0" bIns="0">
            <a:spAutoFit/>
          </a:bodyPr>
          <a:lstStyle/>
          <a:p>
            <a:pPr algn="ctr">
              <a:lnSpc>
                <a:spcPct val="100000"/>
              </a:lnSpc>
            </a:pPr>
            <a:r>
              <a:rPr sz="950" b="0" i="0">
                <a:solidFill>
                  <a:srgbClr val="556477"/>
                </a:solidFill>
                <a:latin typeface="Segoe UI"/>
              </a:rPr>
              <a:t>vehicle systems</a:t>
            </a:r>
          </a:p>
        </p:txBody>
      </p:sp>
      <p:sp>
        <p:nvSpPr>
          <p:cNvPr id="12" name="Rounded Rectangle 11"/>
          <p:cNvSpPr/>
          <p:nvPr/>
        </p:nvSpPr>
        <p:spPr>
          <a:xfrm>
            <a:off x="2788920" y="4709160"/>
            <a:ext cx="1673352"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4846320"/>
            <a:ext cx="1673352" cy="411480"/>
          </a:xfrm>
          <a:prstGeom prst="rect">
            <a:avLst/>
          </a:prstGeom>
          <a:noFill/>
        </p:spPr>
        <p:txBody>
          <a:bodyPr wrap="square" anchor="t" lIns="0" rIns="0" tIns="0" bIns="0">
            <a:spAutoFit/>
          </a:bodyPr>
          <a:lstStyle/>
          <a:p>
            <a:pPr algn="ctr">
              <a:lnSpc>
                <a:spcPct val="100000"/>
              </a:lnSpc>
            </a:pPr>
            <a:r>
              <a:rPr sz="2000" b="1" i="0">
                <a:solidFill>
                  <a:srgbClr val="B47609"/>
                </a:solidFill>
                <a:latin typeface="Segoe UI Semibold"/>
              </a:rPr>
              <a:t>11</a:t>
            </a:r>
          </a:p>
        </p:txBody>
      </p:sp>
      <p:sp>
        <p:nvSpPr>
          <p:cNvPr id="14" name="TextBox 13"/>
          <p:cNvSpPr txBox="1"/>
          <p:nvPr/>
        </p:nvSpPr>
        <p:spPr>
          <a:xfrm>
            <a:off x="2788920" y="5303520"/>
            <a:ext cx="1673352" cy="320040"/>
          </a:xfrm>
          <a:prstGeom prst="rect">
            <a:avLst/>
          </a:prstGeom>
          <a:noFill/>
        </p:spPr>
        <p:txBody>
          <a:bodyPr wrap="square" anchor="t" lIns="0" rIns="0" tIns="0" bIns="0">
            <a:spAutoFit/>
          </a:bodyPr>
          <a:lstStyle/>
          <a:p>
            <a:pPr algn="ctr">
              <a:lnSpc>
                <a:spcPct val="100000"/>
              </a:lnSpc>
            </a:pPr>
            <a:r>
              <a:rPr sz="950" b="0" i="0">
                <a:solidFill>
                  <a:srgbClr val="556477"/>
                </a:solidFill>
                <a:latin typeface="Segoe UI"/>
              </a:rPr>
              <a:t>innovation methods</a:t>
            </a:r>
          </a:p>
        </p:txBody>
      </p:sp>
      <p:sp>
        <p:nvSpPr>
          <p:cNvPr id="15" name="Rounded Rectangle 14"/>
          <p:cNvSpPr/>
          <p:nvPr/>
        </p:nvSpPr>
        <p:spPr>
          <a:xfrm>
            <a:off x="4572000" y="4709160"/>
            <a:ext cx="1673352"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846320"/>
            <a:ext cx="1673352" cy="411480"/>
          </a:xfrm>
          <a:prstGeom prst="rect">
            <a:avLst/>
          </a:prstGeom>
          <a:noFill/>
        </p:spPr>
        <p:txBody>
          <a:bodyPr wrap="square" anchor="t" lIns="0" rIns="0" tIns="0" bIns="0">
            <a:spAutoFit/>
          </a:bodyPr>
          <a:lstStyle/>
          <a:p>
            <a:pPr algn="ctr">
              <a:lnSpc>
                <a:spcPct val="100000"/>
              </a:lnSpc>
            </a:pPr>
            <a:r>
              <a:rPr sz="2000" b="1" i="0">
                <a:solidFill>
                  <a:srgbClr val="B47609"/>
                </a:solidFill>
                <a:latin typeface="Segoe UI Semibold"/>
              </a:rPr>
              <a:t>1,600+</a:t>
            </a:r>
          </a:p>
        </p:txBody>
      </p:sp>
      <p:sp>
        <p:nvSpPr>
          <p:cNvPr id="17" name="TextBox 16"/>
          <p:cNvSpPr txBox="1"/>
          <p:nvPr/>
        </p:nvSpPr>
        <p:spPr>
          <a:xfrm>
            <a:off x="4572000" y="5303520"/>
            <a:ext cx="1673352" cy="320040"/>
          </a:xfrm>
          <a:prstGeom prst="rect">
            <a:avLst/>
          </a:prstGeom>
          <a:noFill/>
        </p:spPr>
        <p:txBody>
          <a:bodyPr wrap="square" anchor="t" lIns="0" rIns="0" tIns="0" bIns="0">
            <a:spAutoFit/>
          </a:bodyPr>
          <a:lstStyle/>
          <a:p>
            <a:pPr algn="ctr">
              <a:lnSpc>
                <a:spcPct val="100000"/>
              </a:lnSpc>
            </a:pPr>
            <a:r>
              <a:rPr sz="950" b="0" i="0">
                <a:solidFill>
                  <a:srgbClr val="556477"/>
                </a:solidFill>
                <a:latin typeface="Segoe UI"/>
              </a:rPr>
              <a:t>curated ideas</a:t>
            </a:r>
          </a:p>
        </p:txBody>
      </p:sp>
      <p:sp>
        <p:nvSpPr>
          <p:cNvPr id="18" name="Rounded Rectangle 17"/>
          <p:cNvSpPr/>
          <p:nvPr/>
        </p:nvSpPr>
        <p:spPr>
          <a:xfrm>
            <a:off x="6355080" y="4709160"/>
            <a:ext cx="1673352"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846320"/>
            <a:ext cx="1673352" cy="411480"/>
          </a:xfrm>
          <a:prstGeom prst="rect">
            <a:avLst/>
          </a:prstGeom>
          <a:noFill/>
        </p:spPr>
        <p:txBody>
          <a:bodyPr wrap="square" anchor="t" lIns="0" rIns="0" tIns="0" bIns="0">
            <a:spAutoFit/>
          </a:bodyPr>
          <a:lstStyle/>
          <a:p>
            <a:pPr algn="ctr">
              <a:lnSpc>
                <a:spcPct val="100000"/>
              </a:lnSpc>
            </a:pPr>
            <a:r>
              <a:rPr sz="2000" b="1" i="0">
                <a:solidFill>
                  <a:srgbClr val="B47609"/>
                </a:solidFill>
                <a:latin typeface="Segoe UI Semibold"/>
              </a:rPr>
              <a:t>100%</a:t>
            </a:r>
          </a:p>
        </p:txBody>
      </p:sp>
      <p:sp>
        <p:nvSpPr>
          <p:cNvPr id="20" name="TextBox 19"/>
          <p:cNvSpPr txBox="1"/>
          <p:nvPr/>
        </p:nvSpPr>
        <p:spPr>
          <a:xfrm>
            <a:off x="6355080" y="5303520"/>
            <a:ext cx="1673352" cy="320040"/>
          </a:xfrm>
          <a:prstGeom prst="rect">
            <a:avLst/>
          </a:prstGeom>
          <a:noFill/>
        </p:spPr>
        <p:txBody>
          <a:bodyPr wrap="square" anchor="t" lIns="0" rIns="0" tIns="0" bIns="0">
            <a:spAutoFit/>
          </a:bodyPr>
          <a:lstStyle/>
          <a:p>
            <a:pPr algn="ctr">
              <a:lnSpc>
                <a:spcPct val="100000"/>
              </a:lnSpc>
            </a:pPr>
            <a:r>
              <a:rPr sz="950" b="0" i="0">
                <a:solidFill>
                  <a:srgbClr val="556477"/>
                </a:solidFill>
                <a:latin typeface="Segoe UI"/>
              </a:rPr>
              <a:t>engine-verified</a:t>
            </a:r>
          </a:p>
        </p:txBody>
      </p:sp>
      <p:sp>
        <p:nvSpPr>
          <p:cNvPr id="21" name="TextBox 20"/>
          <p:cNvSpPr txBox="1"/>
          <p:nvPr/>
        </p:nvSpPr>
        <p:spPr>
          <a:xfrm>
            <a:off x="1005840" y="6035040"/>
            <a:ext cx="10058400" cy="365760"/>
          </a:xfrm>
          <a:prstGeom prst="rect">
            <a:avLst/>
          </a:prstGeom>
          <a:noFill/>
        </p:spPr>
        <p:txBody>
          <a:bodyPr wrap="square" anchor="t" lIns="0" rIns="0" tIns="0" bIns="0">
            <a:spAutoFit/>
          </a:bodyPr>
          <a:lstStyle/>
          <a:p>
            <a:pPr algn="l">
              <a:lnSpc>
                <a:spcPct val="100000"/>
              </a:lnSpc>
            </a:pPr>
            <a:r>
              <a:rPr sz="1200" b="0" i="0">
                <a:solidFill>
                  <a:srgbClr val="8390A1"/>
                </a:solidFill>
                <a:latin typeface="Segoe UI"/>
              </a:rPr>
              <a:t>Prepared for: </a:t>
            </a:r>
            <a:r>
              <a:rPr sz="1200" b="1" i="0">
                <a:solidFill>
                  <a:srgbClr val="16273C"/>
                </a:solidFill>
                <a:latin typeface="Segoe UI"/>
              </a:rPr>
              <a:t>Director, Cost Engineering</a:t>
            </a:r>
            <a:r>
              <a:rPr sz="1200" b="0" i="0">
                <a:solidFill>
                  <a:srgbClr val="8390A1"/>
                </a:solidFill>
                <a:latin typeface="Segoe UI"/>
              </a:rPr>
              <a:t>      |      Presenter: </a:t>
            </a:r>
            <a:r>
              <a:rPr sz="1200" b="1" i="0">
                <a:solidFill>
                  <a:srgbClr val="16273C"/>
                </a:solidFill>
                <a:latin typeface="Segoe UI"/>
              </a:rPr>
              <a:t>Avinash Bhosale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WHY THIS MATTERS</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The Cost-Engineering Challenge</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02</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Rounded Rectangle 10"/>
          <p:cNvSpPr/>
          <p:nvPr/>
        </p:nvSpPr>
        <p:spPr>
          <a:xfrm>
            <a:off x="548640" y="1600200"/>
            <a:ext cx="2697480" cy="27432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1600200"/>
            <a:ext cx="82296" cy="27432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 y="1837944"/>
            <a:ext cx="502920" cy="50292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183794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5" name="TextBox 14"/>
          <p:cNvSpPr txBox="1"/>
          <p:nvPr/>
        </p:nvSpPr>
        <p:spPr>
          <a:xfrm>
            <a:off x="1463040" y="183794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Slow to insight</a:t>
            </a:r>
          </a:p>
        </p:txBody>
      </p:sp>
      <p:sp>
        <p:nvSpPr>
          <p:cNvPr id="16" name="TextBox 15"/>
          <p:cNvSpPr txBox="1"/>
          <p:nvPr/>
        </p:nvSpPr>
        <p:spPr>
          <a:xfrm>
            <a:off x="841248" y="2468880"/>
            <a:ext cx="2148840" cy="178308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Manual should-costing and VAVE workshops take days to weeks per part — ideas arrive after the design is frozen.</a:t>
            </a:r>
          </a:p>
        </p:txBody>
      </p:sp>
      <p:sp>
        <p:nvSpPr>
          <p:cNvPr id="17" name="Rounded Rectangle 16"/>
          <p:cNvSpPr/>
          <p:nvPr/>
        </p:nvSpPr>
        <p:spPr>
          <a:xfrm>
            <a:off x="3364992" y="1600200"/>
            <a:ext cx="2697480" cy="27432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364992" y="1600200"/>
            <a:ext cx="82296" cy="27432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621024" y="1837944"/>
            <a:ext cx="502920" cy="50292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21024" y="183794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1" name="TextBox 20"/>
          <p:cNvSpPr txBox="1"/>
          <p:nvPr/>
        </p:nvSpPr>
        <p:spPr>
          <a:xfrm>
            <a:off x="4279392" y="183794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Hard to defend</a:t>
            </a:r>
          </a:p>
        </p:txBody>
      </p:sp>
      <p:sp>
        <p:nvSpPr>
          <p:cNvPr id="22" name="TextBox 21"/>
          <p:cNvSpPr txBox="1"/>
          <p:nvPr/>
        </p:nvSpPr>
        <p:spPr>
          <a:xfrm>
            <a:off x="3657600" y="2468880"/>
            <a:ext cx="2148840" cy="178308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Spreadsheet estimates and gut-feel savings don't survive scrutiny in a sourcing or programme review.</a:t>
            </a:r>
          </a:p>
        </p:txBody>
      </p:sp>
      <p:sp>
        <p:nvSpPr>
          <p:cNvPr id="23" name="Rounded Rectangle 22"/>
          <p:cNvSpPr/>
          <p:nvPr/>
        </p:nvSpPr>
        <p:spPr>
          <a:xfrm>
            <a:off x="6181344" y="1600200"/>
            <a:ext cx="2697480" cy="27432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81344" y="1600200"/>
            <a:ext cx="82296" cy="2743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7376" y="1837944"/>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7376" y="183794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7" name="TextBox 26"/>
          <p:cNvSpPr txBox="1"/>
          <p:nvPr/>
        </p:nvSpPr>
        <p:spPr>
          <a:xfrm>
            <a:off x="7095744" y="183794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Fragmented knowledge</a:t>
            </a:r>
          </a:p>
        </p:txBody>
      </p:sp>
      <p:sp>
        <p:nvSpPr>
          <p:cNvPr id="28" name="TextBox 27"/>
          <p:cNvSpPr txBox="1"/>
          <p:nvPr/>
        </p:nvSpPr>
        <p:spPr>
          <a:xfrm>
            <a:off x="6473952" y="2468880"/>
            <a:ext cx="2148840" cy="178308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OEM best practice, teardown data and commodity prices live in silos and in people's heads.</a:t>
            </a:r>
          </a:p>
        </p:txBody>
      </p:sp>
      <p:sp>
        <p:nvSpPr>
          <p:cNvPr id="29" name="Rounded Rectangle 28"/>
          <p:cNvSpPr/>
          <p:nvPr/>
        </p:nvSpPr>
        <p:spPr>
          <a:xfrm>
            <a:off x="8997696" y="1600200"/>
            <a:ext cx="2697480" cy="27432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97696" y="1600200"/>
            <a:ext cx="82296" cy="27432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53728" y="1837944"/>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3728" y="183794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3" name="TextBox 32"/>
          <p:cNvSpPr txBox="1"/>
          <p:nvPr/>
        </p:nvSpPr>
        <p:spPr>
          <a:xfrm>
            <a:off x="9912096" y="183794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Narrow coverage</a:t>
            </a:r>
          </a:p>
        </p:txBody>
      </p:sp>
      <p:sp>
        <p:nvSpPr>
          <p:cNvPr id="34" name="TextBox 33"/>
          <p:cNvSpPr txBox="1"/>
          <p:nvPr/>
        </p:nvSpPr>
        <p:spPr>
          <a:xfrm>
            <a:off x="9290304" y="2468880"/>
            <a:ext cx="2148840" cy="178308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Tools tend to cover one commodity; nobody sees the whole vehicle at once.</a:t>
            </a:r>
          </a:p>
        </p:txBody>
      </p:sp>
      <p:sp>
        <p:nvSpPr>
          <p:cNvPr id="35" name="Rounded Rectangle 34"/>
          <p:cNvSpPr/>
          <p:nvPr/>
        </p:nvSpPr>
        <p:spPr>
          <a:xfrm>
            <a:off x="548640" y="4617720"/>
            <a:ext cx="11091672" cy="13716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8640" y="4617720"/>
            <a:ext cx="109728" cy="13716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4800600"/>
            <a:ext cx="10424160" cy="1005840"/>
          </a:xfrm>
          <a:prstGeom prst="rect">
            <a:avLst/>
          </a:prstGeom>
          <a:noFill/>
        </p:spPr>
        <p:txBody>
          <a:bodyPr wrap="square" anchor="ctr" lIns="0" rIns="0" tIns="0" bIns="0">
            <a:spAutoFit/>
          </a:bodyPr>
          <a:lstStyle/>
          <a:p>
            <a:pPr algn="l">
              <a:lnSpc>
                <a:spcPct val="108000"/>
              </a:lnSpc>
            </a:pPr>
            <a:r>
              <a:rPr sz="1600" b="1" i="0">
                <a:solidFill>
                  <a:srgbClr val="0D9488"/>
                </a:solidFill>
                <a:latin typeface="Segoe UI Semibold"/>
              </a:rPr>
              <a:t>The opportunity:  </a:t>
            </a:r>
            <a:r>
              <a:rPr sz="1500" b="0" i="0">
                <a:solidFill>
                  <a:srgbClr val="374558"/>
                </a:solidFill>
                <a:latin typeface="Segoe UI"/>
              </a:rPr>
              <a:t>bring AI ideation and a deterministic cost engine together, so we identify savings across the </a:t>
            </a:r>
            <a:r>
              <a:rPr sz="1500" b="1" i="0">
                <a:solidFill>
                  <a:srgbClr val="B47609"/>
                </a:solidFill>
                <a:latin typeface="Segoe UI"/>
              </a:rPr>
              <a:t>whole vehicle</a:t>
            </a:r>
            <a:r>
              <a:rPr sz="1500" b="0" i="0">
                <a:solidFill>
                  <a:srgbClr val="374558"/>
                </a:solidFill>
                <a:latin typeface="Segoe UI"/>
              </a:rPr>
              <a:t> and back every number with real engineering — fast enough to act while the design is still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OVERVIEW</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What is BrainSpark?</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03</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508760"/>
            <a:ext cx="10972800" cy="822960"/>
          </a:xfrm>
          <a:prstGeom prst="rect">
            <a:avLst/>
          </a:prstGeom>
          <a:noFill/>
        </p:spPr>
        <p:txBody>
          <a:bodyPr wrap="square" anchor="t" lIns="0" rIns="0" tIns="0" bIns="0">
            <a:spAutoFit/>
          </a:bodyPr>
          <a:lstStyle/>
          <a:p>
            <a:pPr algn="l">
              <a:lnSpc>
                <a:spcPct val="110000"/>
              </a:lnSpc>
            </a:pPr>
            <a:r>
              <a:rPr sz="1800" b="0" i="0">
                <a:solidFill>
                  <a:srgbClr val="374558"/>
                </a:solidFill>
                <a:latin typeface="Segoe UI"/>
              </a:rPr>
              <a:t>A single platform that generates </a:t>
            </a:r>
            <a:r>
              <a:rPr sz="1800" b="1" i="0">
                <a:solidFill>
                  <a:srgbClr val="0D9488"/>
                </a:solidFill>
                <a:latin typeface="Segoe UI"/>
              </a:rPr>
              <a:t>cost-reduction &amp; value-improvement ideas</a:t>
            </a:r>
            <a:r>
              <a:rPr sz="1800" b="0" i="0">
                <a:solidFill>
                  <a:srgbClr val="374558"/>
                </a:solidFill>
                <a:latin typeface="Segoe UI"/>
              </a:rPr>
              <a:t> across the whole vehicle — and prices every one of them on a deterministic should-cost engine.</a:t>
            </a:r>
          </a:p>
        </p:txBody>
      </p:sp>
      <p:sp>
        <p:nvSpPr>
          <p:cNvPr id="12" name="Rounded Rectangle 11"/>
          <p:cNvSpPr/>
          <p:nvPr/>
        </p:nvSpPr>
        <p:spPr>
          <a:xfrm>
            <a:off x="548640" y="2514600"/>
            <a:ext cx="3566160" cy="1627632"/>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2514600"/>
            <a:ext cx="82296" cy="1627632"/>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 y="2752344"/>
            <a:ext cx="5029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75234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6" name="TextBox 15"/>
          <p:cNvSpPr txBox="1"/>
          <p:nvPr/>
        </p:nvSpPr>
        <p:spPr>
          <a:xfrm>
            <a:off x="1463040" y="275234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AI Idea Generation</a:t>
            </a:r>
          </a:p>
        </p:txBody>
      </p:sp>
      <p:sp>
        <p:nvSpPr>
          <p:cNvPr id="17" name="TextBox 16"/>
          <p:cNvSpPr txBox="1"/>
          <p:nvPr/>
        </p:nvSpPr>
        <p:spPr>
          <a:xfrm>
            <a:off x="841248" y="3383280"/>
            <a:ext cx="3017520" cy="667512"/>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System-aware ideas grounded in OEM &amp; teardown benchmarks</a:t>
            </a:r>
          </a:p>
        </p:txBody>
      </p:sp>
      <p:sp>
        <p:nvSpPr>
          <p:cNvPr id="18" name="Rounded Rectangle 17"/>
          <p:cNvSpPr/>
          <p:nvPr/>
        </p:nvSpPr>
        <p:spPr>
          <a:xfrm>
            <a:off x="4279392" y="2514600"/>
            <a:ext cx="3566160" cy="1627632"/>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79392" y="2514600"/>
            <a:ext cx="82296" cy="1627632"/>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35424" y="2752344"/>
            <a:ext cx="502920" cy="50292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35424" y="275234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2" name="TextBox 21"/>
          <p:cNvSpPr txBox="1"/>
          <p:nvPr/>
        </p:nvSpPr>
        <p:spPr>
          <a:xfrm>
            <a:off x="5193792" y="275234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Should-Cost Engine</a:t>
            </a:r>
          </a:p>
        </p:txBody>
      </p:sp>
      <p:sp>
        <p:nvSpPr>
          <p:cNvPr id="23" name="TextBox 22"/>
          <p:cNvSpPr txBox="1"/>
          <p:nvPr/>
        </p:nvSpPr>
        <p:spPr>
          <a:xfrm>
            <a:off x="4572000" y="3383280"/>
            <a:ext cx="3017520" cy="667512"/>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Bottom-up costs from rates, mass, geometry &amp; live commodities</a:t>
            </a:r>
          </a:p>
        </p:txBody>
      </p:sp>
      <p:sp>
        <p:nvSpPr>
          <p:cNvPr id="24" name="Rounded Rectangle 23"/>
          <p:cNvSpPr/>
          <p:nvPr/>
        </p:nvSpPr>
        <p:spPr>
          <a:xfrm>
            <a:off x="8010144" y="2514600"/>
            <a:ext cx="3566160" cy="1627632"/>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10144" y="2514600"/>
            <a:ext cx="82296" cy="1627632"/>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266176" y="2752344"/>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6" y="275234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3D</a:t>
            </a:r>
          </a:p>
        </p:txBody>
      </p:sp>
      <p:sp>
        <p:nvSpPr>
          <p:cNvPr id="28" name="TextBox 27"/>
          <p:cNvSpPr txBox="1"/>
          <p:nvPr/>
        </p:nvSpPr>
        <p:spPr>
          <a:xfrm>
            <a:off x="8924544" y="275234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CAD-to-Cost</a:t>
            </a:r>
          </a:p>
        </p:txBody>
      </p:sp>
      <p:sp>
        <p:nvSpPr>
          <p:cNvPr id="29" name="TextBox 28"/>
          <p:cNvSpPr txBox="1"/>
          <p:nvPr/>
        </p:nvSpPr>
        <p:spPr>
          <a:xfrm>
            <a:off x="8302752" y="3383280"/>
            <a:ext cx="3017520" cy="667512"/>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Upload a model or drawing → instant feature-based cost + 3D view</a:t>
            </a:r>
          </a:p>
        </p:txBody>
      </p:sp>
      <p:sp>
        <p:nvSpPr>
          <p:cNvPr id="30" name="Rounded Rectangle 29"/>
          <p:cNvSpPr/>
          <p:nvPr/>
        </p:nvSpPr>
        <p:spPr>
          <a:xfrm>
            <a:off x="548640" y="4297680"/>
            <a:ext cx="3566160" cy="1627632"/>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48640" y="4297680"/>
            <a:ext cx="82296" cy="1627632"/>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04672" y="4535424"/>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5354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4" name="TextBox 33"/>
          <p:cNvSpPr txBox="1"/>
          <p:nvPr/>
        </p:nvSpPr>
        <p:spPr>
          <a:xfrm>
            <a:off x="1463040" y="45354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Innovation Methods</a:t>
            </a:r>
          </a:p>
        </p:txBody>
      </p:sp>
      <p:sp>
        <p:nvSpPr>
          <p:cNvPr id="35" name="TextBox 34"/>
          <p:cNvSpPr txBox="1"/>
          <p:nvPr/>
        </p:nvSpPr>
        <p:spPr>
          <a:xfrm>
            <a:off x="841248" y="5166360"/>
            <a:ext cx="3017520" cy="667512"/>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TRIZ, Value Engineering, DFA/DFMA, Design-to-Cost built in</a:t>
            </a:r>
          </a:p>
        </p:txBody>
      </p:sp>
      <p:sp>
        <p:nvSpPr>
          <p:cNvPr id="36" name="Rounded Rectangle 35"/>
          <p:cNvSpPr/>
          <p:nvPr/>
        </p:nvSpPr>
        <p:spPr>
          <a:xfrm>
            <a:off x="4279392" y="4297680"/>
            <a:ext cx="3566160" cy="1627632"/>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279392" y="4297680"/>
            <a:ext cx="82296" cy="1627632"/>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535424" y="4535424"/>
            <a:ext cx="502920" cy="50292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35424" y="45354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0" name="TextBox 39"/>
          <p:cNvSpPr txBox="1"/>
          <p:nvPr/>
        </p:nvSpPr>
        <p:spPr>
          <a:xfrm>
            <a:off x="5193792" y="45354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Idea Marketplace</a:t>
            </a:r>
          </a:p>
        </p:txBody>
      </p:sp>
      <p:sp>
        <p:nvSpPr>
          <p:cNvPr id="41" name="TextBox 40"/>
          <p:cNvSpPr txBox="1"/>
          <p:nvPr/>
        </p:nvSpPr>
        <p:spPr>
          <a:xfrm>
            <a:off x="4572000" y="5166360"/>
            <a:ext cx="3017520" cy="667512"/>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Thousands of verified, OEM-benchmarked ideas to reuse</a:t>
            </a:r>
          </a:p>
        </p:txBody>
      </p:sp>
      <p:sp>
        <p:nvSpPr>
          <p:cNvPr id="42" name="Rounded Rectangle 41"/>
          <p:cNvSpPr/>
          <p:nvPr/>
        </p:nvSpPr>
        <p:spPr>
          <a:xfrm>
            <a:off x="8010144" y="4297680"/>
            <a:ext cx="3566160" cy="1627632"/>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010144" y="4297680"/>
            <a:ext cx="82296" cy="1627632"/>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266176" y="4535424"/>
            <a:ext cx="502920" cy="50292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66176" y="45354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6" name="TextBox 45"/>
          <p:cNvSpPr txBox="1"/>
          <p:nvPr/>
        </p:nvSpPr>
        <p:spPr>
          <a:xfrm>
            <a:off x="8924544" y="45354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Decision Analytics</a:t>
            </a:r>
          </a:p>
        </p:txBody>
      </p:sp>
      <p:sp>
        <p:nvSpPr>
          <p:cNvPr id="47" name="TextBox 46"/>
          <p:cNvSpPr txBox="1"/>
          <p:nvPr/>
        </p:nvSpPr>
        <p:spPr>
          <a:xfrm>
            <a:off x="8302752" y="5166360"/>
            <a:ext cx="3017520" cy="667512"/>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Monte-Carlo, ROI, savings pipeline &amp; dashboards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THE CORE DIFFERENTIATOR</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Our USP: AI Proposes, the Engine Verifies</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04</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63040"/>
            <a:ext cx="11064240" cy="502920"/>
          </a:xfrm>
          <a:prstGeom prst="rect">
            <a:avLst/>
          </a:prstGeom>
          <a:noFill/>
        </p:spPr>
        <p:txBody>
          <a:bodyPr wrap="square" anchor="t" lIns="0" rIns="0" tIns="0" bIns="0">
            <a:spAutoFit/>
          </a:bodyPr>
          <a:lstStyle/>
          <a:p>
            <a:pPr algn="l">
              <a:lnSpc>
                <a:spcPct val="100000"/>
              </a:lnSpc>
            </a:pPr>
            <a:r>
              <a:rPr sz="1500" b="0" i="0">
                <a:solidFill>
                  <a:srgbClr val="556477"/>
                </a:solidFill>
                <a:latin typeface="Segoe UI"/>
              </a:rPr>
              <a:t>Most AI tools estimate savings. BrainSpark checks every figure against real engineering — so nothing is hallucinated.</a:t>
            </a:r>
          </a:p>
        </p:txBody>
      </p:sp>
      <p:sp>
        <p:nvSpPr>
          <p:cNvPr id="12" name="Rounded Rectangle 11"/>
          <p:cNvSpPr/>
          <p:nvPr/>
        </p:nvSpPr>
        <p:spPr>
          <a:xfrm>
            <a:off x="548640" y="2286000"/>
            <a:ext cx="3383280"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920240" y="2514600"/>
            <a:ext cx="685800" cy="6858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2514600"/>
            <a:ext cx="685800" cy="6858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AI</a:t>
            </a:r>
          </a:p>
        </p:txBody>
      </p:sp>
      <p:sp>
        <p:nvSpPr>
          <p:cNvPr id="15" name="TextBox 14"/>
          <p:cNvSpPr txBox="1"/>
          <p:nvPr/>
        </p:nvSpPr>
        <p:spPr>
          <a:xfrm>
            <a:off x="548640" y="3291840"/>
            <a:ext cx="3383280" cy="365760"/>
          </a:xfrm>
          <a:prstGeom prst="rect">
            <a:avLst/>
          </a:prstGeom>
          <a:noFill/>
        </p:spPr>
        <p:txBody>
          <a:bodyPr wrap="square" anchor="t" lIns="0" rIns="0" tIns="0" bIns="0">
            <a:spAutoFit/>
          </a:bodyPr>
          <a:lstStyle/>
          <a:p>
            <a:pPr algn="ctr">
              <a:lnSpc>
                <a:spcPct val="100000"/>
              </a:lnSpc>
            </a:pPr>
            <a:r>
              <a:rPr sz="1500" b="1" i="0">
                <a:solidFill>
                  <a:srgbClr val="0D9488"/>
                </a:solidFill>
                <a:latin typeface="Segoe UI Semibold"/>
              </a:rPr>
              <a:t>AI PROPOSES</a:t>
            </a:r>
          </a:p>
        </p:txBody>
      </p:sp>
      <p:sp>
        <p:nvSpPr>
          <p:cNvPr id="16" name="TextBox 15"/>
          <p:cNvSpPr txBox="1"/>
          <p:nvPr/>
        </p:nvSpPr>
        <p:spPr>
          <a:xfrm>
            <a:off x="822960" y="3703320"/>
            <a:ext cx="2834640" cy="822960"/>
          </a:xfrm>
          <a:prstGeom prst="rect">
            <a:avLst/>
          </a:prstGeom>
          <a:noFill/>
        </p:spPr>
        <p:txBody>
          <a:bodyPr wrap="square" anchor="t" lIns="0" rIns="0" tIns="0" bIns="0">
            <a:spAutoFit/>
          </a:bodyPr>
          <a:lstStyle/>
          <a:p>
            <a:pPr algn="ctr">
              <a:lnSpc>
                <a:spcPct val="105000"/>
              </a:lnSpc>
            </a:pPr>
            <a:r>
              <a:rPr sz="1150" b="0" i="0">
                <a:solidFill>
                  <a:srgbClr val="556477"/>
                </a:solidFill>
                <a:latin typeface="Segoe UI"/>
              </a:rPr>
              <a:t>Claude generates ideas &amp; alternatives grounded in benchmarks and live data</a:t>
            </a:r>
          </a:p>
        </p:txBody>
      </p:sp>
      <p:sp>
        <p:nvSpPr>
          <p:cNvPr id="17" name="Chevron 16"/>
          <p:cNvSpPr/>
          <p:nvPr/>
        </p:nvSpPr>
        <p:spPr>
          <a:xfrm>
            <a:off x="3977640" y="3200400"/>
            <a:ext cx="502920"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79392" y="2286000"/>
            <a:ext cx="3383280"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50992" y="2514600"/>
            <a:ext cx="685800" cy="6858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50992" y="2514600"/>
            <a:ext cx="685800" cy="6858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1" name="TextBox 20"/>
          <p:cNvSpPr txBox="1"/>
          <p:nvPr/>
        </p:nvSpPr>
        <p:spPr>
          <a:xfrm>
            <a:off x="4279392" y="3291840"/>
            <a:ext cx="3383280" cy="365760"/>
          </a:xfrm>
          <a:prstGeom prst="rect">
            <a:avLst/>
          </a:prstGeom>
          <a:noFill/>
        </p:spPr>
        <p:txBody>
          <a:bodyPr wrap="square" anchor="t" lIns="0" rIns="0" tIns="0" bIns="0">
            <a:spAutoFit/>
          </a:bodyPr>
          <a:lstStyle/>
          <a:p>
            <a:pPr algn="ctr">
              <a:lnSpc>
                <a:spcPct val="100000"/>
              </a:lnSpc>
            </a:pPr>
            <a:r>
              <a:rPr sz="1500" b="1" i="0">
                <a:solidFill>
                  <a:srgbClr val="B47609"/>
                </a:solidFill>
                <a:latin typeface="Segoe UI Semibold"/>
              </a:rPr>
              <a:t>ENGINE VERIFIES</a:t>
            </a:r>
          </a:p>
        </p:txBody>
      </p:sp>
      <p:sp>
        <p:nvSpPr>
          <p:cNvPr id="22" name="TextBox 21"/>
          <p:cNvSpPr txBox="1"/>
          <p:nvPr/>
        </p:nvSpPr>
        <p:spPr>
          <a:xfrm>
            <a:off x="4553712" y="3703320"/>
            <a:ext cx="2834640" cy="822960"/>
          </a:xfrm>
          <a:prstGeom prst="rect">
            <a:avLst/>
          </a:prstGeom>
          <a:noFill/>
        </p:spPr>
        <p:txBody>
          <a:bodyPr wrap="square" anchor="t" lIns="0" rIns="0" tIns="0" bIns="0">
            <a:spAutoFit/>
          </a:bodyPr>
          <a:lstStyle/>
          <a:p>
            <a:pPr algn="ctr">
              <a:lnSpc>
                <a:spcPct val="105000"/>
              </a:lnSpc>
            </a:pPr>
            <a:r>
              <a:rPr sz="1150" b="0" i="0">
                <a:solidFill>
                  <a:srgbClr val="556477"/>
                </a:solidFill>
                <a:latin typeface="Segoe UI"/>
              </a:rPr>
              <a:t>Deterministic should-cost engine re-computes every number from first principles</a:t>
            </a:r>
          </a:p>
        </p:txBody>
      </p:sp>
      <p:sp>
        <p:nvSpPr>
          <p:cNvPr id="23" name="Chevron 22"/>
          <p:cNvSpPr/>
          <p:nvPr/>
        </p:nvSpPr>
        <p:spPr>
          <a:xfrm>
            <a:off x="7708392" y="3200400"/>
            <a:ext cx="502920"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10144" y="2286000"/>
            <a:ext cx="3383280"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381744" y="2514600"/>
            <a:ext cx="685800" cy="68580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81744" y="2514600"/>
            <a:ext cx="685800" cy="6858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7" name="TextBox 26"/>
          <p:cNvSpPr txBox="1"/>
          <p:nvPr/>
        </p:nvSpPr>
        <p:spPr>
          <a:xfrm>
            <a:off x="8010144" y="3291840"/>
            <a:ext cx="3383280" cy="365760"/>
          </a:xfrm>
          <a:prstGeom prst="rect">
            <a:avLst/>
          </a:prstGeom>
          <a:noFill/>
        </p:spPr>
        <p:txBody>
          <a:bodyPr wrap="square" anchor="t" lIns="0" rIns="0" tIns="0" bIns="0">
            <a:spAutoFit/>
          </a:bodyPr>
          <a:lstStyle/>
          <a:p>
            <a:pPr algn="ctr">
              <a:lnSpc>
                <a:spcPct val="100000"/>
              </a:lnSpc>
            </a:pPr>
            <a:r>
              <a:rPr sz="1500" b="1" i="0">
                <a:solidFill>
                  <a:srgbClr val="059669"/>
                </a:solidFill>
                <a:latin typeface="Segoe UI Semibold"/>
              </a:rPr>
              <a:t>STAMPED RESULT</a:t>
            </a:r>
          </a:p>
        </p:txBody>
      </p:sp>
      <p:sp>
        <p:nvSpPr>
          <p:cNvPr id="28" name="TextBox 27"/>
          <p:cNvSpPr txBox="1"/>
          <p:nvPr/>
        </p:nvSpPr>
        <p:spPr>
          <a:xfrm>
            <a:off x="8284464" y="3703320"/>
            <a:ext cx="2834640" cy="822960"/>
          </a:xfrm>
          <a:prstGeom prst="rect">
            <a:avLst/>
          </a:prstGeom>
          <a:noFill/>
        </p:spPr>
        <p:txBody>
          <a:bodyPr wrap="square" anchor="t" lIns="0" rIns="0" tIns="0" bIns="0">
            <a:spAutoFit/>
          </a:bodyPr>
          <a:lstStyle/>
          <a:p>
            <a:pPr algn="ctr">
              <a:lnSpc>
                <a:spcPct val="105000"/>
              </a:lnSpc>
            </a:pPr>
            <a:r>
              <a:rPr sz="1150" b="0" i="0">
                <a:solidFill>
                  <a:srgbClr val="556477"/>
                </a:solidFill>
                <a:latin typeface="Segoe UI"/>
              </a:rPr>
              <a:t>Each idea is marked confirmed / contradicted — defensible, quote-ready</a:t>
            </a:r>
          </a:p>
        </p:txBody>
      </p:sp>
      <p:sp>
        <p:nvSpPr>
          <p:cNvPr id="29" name="Rounded Rectangle 28"/>
          <p:cNvSpPr/>
          <p:nvPr/>
        </p:nvSpPr>
        <p:spPr>
          <a:xfrm>
            <a:off x="548640" y="4892040"/>
            <a:ext cx="11091672" cy="105156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4892040"/>
            <a:ext cx="109728" cy="105156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029200"/>
            <a:ext cx="10515600" cy="777240"/>
          </a:xfrm>
          <a:prstGeom prst="rect">
            <a:avLst/>
          </a:prstGeom>
          <a:noFill/>
        </p:spPr>
        <p:txBody>
          <a:bodyPr wrap="square" anchor="ctr" lIns="0" rIns="0" tIns="0" bIns="0">
            <a:spAutoFit/>
          </a:bodyPr>
          <a:lstStyle/>
          <a:p>
            <a:pPr algn="l">
              <a:lnSpc>
                <a:spcPct val="106000"/>
              </a:lnSpc>
            </a:pPr>
            <a:r>
              <a:rPr sz="1500" b="1" i="0">
                <a:solidFill>
                  <a:srgbClr val="059669"/>
                </a:solidFill>
                <a:latin typeface="Segoe UI Semibold"/>
              </a:rPr>
              <a:t>Why it matters:  </a:t>
            </a:r>
            <a:r>
              <a:rPr sz="1400" b="0" i="0">
                <a:solidFill>
                  <a:srgbClr val="374558"/>
                </a:solidFill>
                <a:latin typeface="Segoe UI"/>
              </a:rPr>
              <a:t>the same engine runs behind every screen — ideas, CAD, marketplace — so a saving shown to a supplier is the same number our engineers can reproduce and stand behind.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BREADTH</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Whole-Vehicle System Coverage</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05</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63040"/>
            <a:ext cx="10972800" cy="457200"/>
          </a:xfrm>
          <a:prstGeom prst="rect">
            <a:avLst/>
          </a:prstGeom>
          <a:noFill/>
        </p:spPr>
        <p:txBody>
          <a:bodyPr wrap="square" anchor="t" lIns="0" rIns="0" tIns="0" bIns="0">
            <a:spAutoFit/>
          </a:bodyPr>
          <a:lstStyle/>
          <a:p>
            <a:pPr algn="l">
              <a:lnSpc>
                <a:spcPct val="100000"/>
              </a:lnSpc>
            </a:pPr>
            <a:r>
              <a:rPr sz="1400" b="0" i="0">
                <a:solidFill>
                  <a:srgbClr val="556477"/>
                </a:solidFill>
                <a:latin typeface="Segoe UI"/>
              </a:rPr>
              <a:t>One platform spans the full vehicle — powertrain to trim, ICE to BEV — with curated levers and benchmarks for each system.</a:t>
            </a:r>
          </a:p>
        </p:txBody>
      </p:sp>
      <p:sp>
        <p:nvSpPr>
          <p:cNvPr id="12" name="Rounded Rectangle 11"/>
          <p:cNvSpPr/>
          <p:nvPr/>
        </p:nvSpPr>
        <p:spPr>
          <a:xfrm>
            <a:off x="548640" y="2148840"/>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386584"/>
            <a:ext cx="146304"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148840"/>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BIW / Body Structure</a:t>
            </a:r>
          </a:p>
        </p:txBody>
      </p:sp>
      <p:sp>
        <p:nvSpPr>
          <p:cNvPr id="15" name="Rounded Rectangle 14"/>
          <p:cNvSpPr/>
          <p:nvPr/>
        </p:nvSpPr>
        <p:spPr>
          <a:xfrm>
            <a:off x="3346704" y="2148840"/>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11296" y="2386584"/>
            <a:ext cx="146304" cy="384048"/>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03904" y="2148840"/>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Powertrain — ICE</a:t>
            </a:r>
          </a:p>
        </p:txBody>
      </p:sp>
      <p:sp>
        <p:nvSpPr>
          <p:cNvPr id="18" name="Rounded Rectangle 17"/>
          <p:cNvSpPr/>
          <p:nvPr/>
        </p:nvSpPr>
        <p:spPr>
          <a:xfrm>
            <a:off x="6144768" y="2148840"/>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2386584"/>
            <a:ext cx="146304" cy="3840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2148840"/>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Powertrain — BEV / EDU</a:t>
            </a:r>
          </a:p>
        </p:txBody>
      </p:sp>
      <p:sp>
        <p:nvSpPr>
          <p:cNvPr id="21" name="Rounded Rectangle 20"/>
          <p:cNvSpPr/>
          <p:nvPr/>
        </p:nvSpPr>
        <p:spPr>
          <a:xfrm>
            <a:off x="8942832" y="2148840"/>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07424" y="2386584"/>
            <a:ext cx="146304" cy="38404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2148840"/>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Battery Pack &amp; BMS</a:t>
            </a:r>
          </a:p>
        </p:txBody>
      </p:sp>
      <p:sp>
        <p:nvSpPr>
          <p:cNvPr id="24" name="Rounded Rectangle 23"/>
          <p:cNvSpPr/>
          <p:nvPr/>
        </p:nvSpPr>
        <p:spPr>
          <a:xfrm>
            <a:off x="548640" y="3172968"/>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3410712"/>
            <a:ext cx="146304"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3172968"/>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Chassis &amp; Suspension</a:t>
            </a:r>
          </a:p>
        </p:txBody>
      </p:sp>
      <p:sp>
        <p:nvSpPr>
          <p:cNvPr id="27" name="Rounded Rectangle 26"/>
          <p:cNvSpPr/>
          <p:nvPr/>
        </p:nvSpPr>
        <p:spPr>
          <a:xfrm>
            <a:off x="3346704" y="3172968"/>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11296" y="3410712"/>
            <a:ext cx="146304" cy="38404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03904" y="3172968"/>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Braking &amp; Wheel-end</a:t>
            </a:r>
          </a:p>
        </p:txBody>
      </p:sp>
      <p:sp>
        <p:nvSpPr>
          <p:cNvPr id="30" name="Rounded Rectangle 29"/>
          <p:cNvSpPr/>
          <p:nvPr/>
        </p:nvSpPr>
        <p:spPr>
          <a:xfrm>
            <a:off x="6144768" y="3172968"/>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09360" y="3410712"/>
            <a:ext cx="146304"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01968" y="3172968"/>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Interior Systems</a:t>
            </a:r>
          </a:p>
        </p:txBody>
      </p:sp>
      <p:sp>
        <p:nvSpPr>
          <p:cNvPr id="33" name="Rounded Rectangle 32"/>
          <p:cNvSpPr/>
          <p:nvPr/>
        </p:nvSpPr>
        <p:spPr>
          <a:xfrm>
            <a:off x="8942832" y="3172968"/>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07424" y="3410712"/>
            <a:ext cx="146304" cy="38404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00032" y="3172968"/>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Exterior &amp; Trim</a:t>
            </a:r>
          </a:p>
        </p:txBody>
      </p:sp>
      <p:sp>
        <p:nvSpPr>
          <p:cNvPr id="36" name="Rounded Rectangle 35"/>
          <p:cNvSpPr/>
          <p:nvPr/>
        </p:nvSpPr>
        <p:spPr>
          <a:xfrm>
            <a:off x="548640" y="4197096"/>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13232" y="4434840"/>
            <a:ext cx="146304" cy="384048"/>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4197096"/>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ADAS &amp; Sensors</a:t>
            </a:r>
          </a:p>
        </p:txBody>
      </p:sp>
      <p:sp>
        <p:nvSpPr>
          <p:cNvPr id="39" name="Rounded Rectangle 38"/>
          <p:cNvSpPr/>
          <p:nvPr/>
        </p:nvSpPr>
        <p:spPr>
          <a:xfrm>
            <a:off x="3346704" y="4197096"/>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511296" y="4434840"/>
            <a:ext cx="146304" cy="384048"/>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03904" y="4197096"/>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Thermal &amp; HVAC</a:t>
            </a:r>
          </a:p>
        </p:txBody>
      </p:sp>
      <p:sp>
        <p:nvSpPr>
          <p:cNvPr id="42" name="Rounded Rectangle 41"/>
          <p:cNvSpPr/>
          <p:nvPr/>
        </p:nvSpPr>
        <p:spPr>
          <a:xfrm>
            <a:off x="6144768" y="4197096"/>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09360" y="4434840"/>
            <a:ext cx="146304" cy="3840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01968" y="4197096"/>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E/E &amp; Wiring</a:t>
            </a:r>
          </a:p>
        </p:txBody>
      </p:sp>
      <p:sp>
        <p:nvSpPr>
          <p:cNvPr id="45" name="Rounded Rectangle 44"/>
          <p:cNvSpPr/>
          <p:nvPr/>
        </p:nvSpPr>
        <p:spPr>
          <a:xfrm>
            <a:off x="8942832" y="4197096"/>
            <a:ext cx="2651760" cy="868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107424" y="4434840"/>
            <a:ext cx="146304" cy="38404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400032" y="4197096"/>
            <a:ext cx="2148840" cy="868680"/>
          </a:xfrm>
          <a:prstGeom prst="rect">
            <a:avLst/>
          </a:prstGeom>
          <a:noFill/>
        </p:spPr>
        <p:txBody>
          <a:bodyPr wrap="square" anchor="ctr" lIns="0" rIns="0" tIns="0" bIns="0">
            <a:spAutoFit/>
          </a:bodyPr>
          <a:lstStyle/>
          <a:p>
            <a:pPr algn="l">
              <a:lnSpc>
                <a:spcPct val="100000"/>
              </a:lnSpc>
            </a:pPr>
            <a:r>
              <a:rPr sz="1250" b="1" i="0">
                <a:solidFill>
                  <a:srgbClr val="16273C"/>
                </a:solidFill>
                <a:latin typeface="Segoe UI Semibold"/>
              </a:rPr>
              <a:t>Transmission &amp; Driveline</a:t>
            </a:r>
          </a:p>
        </p:txBody>
      </p:sp>
      <p:sp>
        <p:nvSpPr>
          <p:cNvPr id="48" name="TextBox 47"/>
          <p:cNvSpPr txBox="1"/>
          <p:nvPr/>
        </p:nvSpPr>
        <p:spPr>
          <a:xfrm>
            <a:off x="548640" y="5532120"/>
            <a:ext cx="10972800" cy="457200"/>
          </a:xfrm>
          <a:prstGeom prst="rect">
            <a:avLst/>
          </a:prstGeom>
          <a:noFill/>
        </p:spPr>
        <p:txBody>
          <a:bodyPr wrap="square" anchor="t" lIns="0" rIns="0" tIns="0" bIns="0">
            <a:spAutoFit/>
          </a:bodyPr>
          <a:lstStyle/>
          <a:p>
            <a:pPr algn="l">
              <a:lnSpc>
                <a:spcPct val="105000"/>
              </a:lnSpc>
            </a:pPr>
            <a:r>
              <a:rPr sz="1250" b="0" i="0">
                <a:solidFill>
                  <a:srgbClr val="556477"/>
                </a:solidFill>
                <a:latin typeface="Segoe UI"/>
              </a:rPr>
              <a:t>Plus commodity models for </a:t>
            </a:r>
            <a:r>
              <a:rPr sz="1250" b="1" i="0">
                <a:solidFill>
                  <a:srgbClr val="374558"/>
                </a:solidFill>
                <a:latin typeface="Segoe UI"/>
              </a:rPr>
              <a:t>machining, stamping, casting, moulding, forging, wiring harness, electrical-steel laminations, glass &amp; PCB assembly.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CAPABILITY 1</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AI Idea Generation</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06</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63040"/>
            <a:ext cx="5852160" cy="457200"/>
          </a:xfrm>
          <a:prstGeom prst="rect">
            <a:avLst/>
          </a:prstGeom>
          <a:noFill/>
        </p:spPr>
        <p:txBody>
          <a:bodyPr wrap="square" anchor="t" lIns="0" rIns="0" tIns="0" bIns="0">
            <a:spAutoFit/>
          </a:bodyPr>
          <a:lstStyle/>
          <a:p>
            <a:pPr algn="l">
              <a:lnSpc>
                <a:spcPct val="100000"/>
              </a:lnSpc>
            </a:pPr>
            <a:r>
              <a:rPr sz="1500" b="1" i="0">
                <a:solidFill>
                  <a:srgbClr val="0D9488"/>
                </a:solidFill>
                <a:latin typeface="Segoe UI Semibold"/>
              </a:rPr>
              <a:t>Pick a system, set the context, generate.</a:t>
            </a:r>
          </a:p>
        </p:txBody>
      </p:sp>
      <p:sp>
        <p:nvSpPr>
          <p:cNvPr id="12" name="Rounded Rectangle 11"/>
          <p:cNvSpPr/>
          <p:nvPr/>
        </p:nvSpPr>
        <p:spPr>
          <a:xfrm>
            <a:off x="548640" y="2057400"/>
            <a:ext cx="384048"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57400"/>
            <a:ext cx="384048" cy="38404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4" name="TextBox 13"/>
          <p:cNvSpPr txBox="1"/>
          <p:nvPr/>
        </p:nvSpPr>
        <p:spPr>
          <a:xfrm>
            <a:off x="1097280" y="2011680"/>
            <a:ext cx="5394960" cy="365760"/>
          </a:xfrm>
          <a:prstGeom prst="rect">
            <a:avLst/>
          </a:prstGeom>
          <a:noFill/>
        </p:spPr>
        <p:txBody>
          <a:bodyPr wrap="square" anchor="t" lIns="0" rIns="0" tIns="0" bIns="0">
            <a:spAutoFit/>
          </a:bodyPr>
          <a:lstStyle/>
          <a:p>
            <a:pPr algn="l">
              <a:lnSpc>
                <a:spcPct val="100000"/>
              </a:lnSpc>
            </a:pPr>
            <a:r>
              <a:rPr sz="1400" b="1" i="0">
                <a:solidFill>
                  <a:srgbClr val="16273C"/>
                </a:solidFill>
                <a:latin typeface="Segoe UI Semibold"/>
              </a:rPr>
              <a:t>System-aware &amp; grounded</a:t>
            </a:r>
          </a:p>
        </p:txBody>
      </p:sp>
      <p:sp>
        <p:nvSpPr>
          <p:cNvPr id="15" name="TextBox 14"/>
          <p:cNvSpPr txBox="1"/>
          <p:nvPr/>
        </p:nvSpPr>
        <p:spPr>
          <a:xfrm>
            <a:off x="1097280" y="2350008"/>
            <a:ext cx="5394960" cy="640080"/>
          </a:xfrm>
          <a:prstGeom prst="rect">
            <a:avLst/>
          </a:prstGeom>
          <a:noFill/>
        </p:spPr>
        <p:txBody>
          <a:bodyPr wrap="square" anchor="t" lIns="0" rIns="0" tIns="0" bIns="0">
            <a:spAutoFit/>
          </a:bodyPr>
          <a:lstStyle/>
          <a:p>
            <a:pPr algn="l">
              <a:lnSpc>
                <a:spcPct val="103000"/>
              </a:lnSpc>
            </a:pPr>
            <a:r>
              <a:rPr sz="1150" b="0" i="0">
                <a:solidFill>
                  <a:srgbClr val="556477"/>
                </a:solidFill>
                <a:latin typeface="Segoe UI"/>
              </a:rPr>
              <a:t>Ideas tuned to system, vehicle type, volume and region — with live web search for current prices and innovations.</a:t>
            </a:r>
          </a:p>
        </p:txBody>
      </p:sp>
      <p:sp>
        <p:nvSpPr>
          <p:cNvPr id="16" name="Rounded Rectangle 15"/>
          <p:cNvSpPr/>
          <p:nvPr/>
        </p:nvSpPr>
        <p:spPr>
          <a:xfrm>
            <a:off x="548640" y="3081528"/>
            <a:ext cx="384048"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81528"/>
            <a:ext cx="384048" cy="38404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8" name="TextBox 17"/>
          <p:cNvSpPr txBox="1"/>
          <p:nvPr/>
        </p:nvSpPr>
        <p:spPr>
          <a:xfrm>
            <a:off x="1097280" y="3035808"/>
            <a:ext cx="5394960" cy="365760"/>
          </a:xfrm>
          <a:prstGeom prst="rect">
            <a:avLst/>
          </a:prstGeom>
          <a:noFill/>
        </p:spPr>
        <p:txBody>
          <a:bodyPr wrap="square" anchor="t" lIns="0" rIns="0" tIns="0" bIns="0">
            <a:spAutoFit/>
          </a:bodyPr>
          <a:lstStyle/>
          <a:p>
            <a:pPr algn="l">
              <a:lnSpc>
                <a:spcPct val="100000"/>
              </a:lnSpc>
            </a:pPr>
            <a:r>
              <a:rPr sz="1400" b="1" i="0">
                <a:solidFill>
                  <a:srgbClr val="16273C"/>
                </a:solidFill>
                <a:latin typeface="Segoe UI Semibold"/>
              </a:rPr>
              <a:t>Learns from your decisions</a:t>
            </a:r>
          </a:p>
        </p:txBody>
      </p:sp>
      <p:sp>
        <p:nvSpPr>
          <p:cNvPr id="19" name="TextBox 18"/>
          <p:cNvSpPr txBox="1"/>
          <p:nvPr/>
        </p:nvSpPr>
        <p:spPr>
          <a:xfrm>
            <a:off x="1097280" y="3374136"/>
            <a:ext cx="5394960" cy="640080"/>
          </a:xfrm>
          <a:prstGeom prst="rect">
            <a:avLst/>
          </a:prstGeom>
          <a:noFill/>
        </p:spPr>
        <p:txBody>
          <a:bodyPr wrap="square" anchor="t" lIns="0" rIns="0" tIns="0" bIns="0">
            <a:spAutoFit/>
          </a:bodyPr>
          <a:lstStyle/>
          <a:p>
            <a:pPr algn="l">
              <a:lnSpc>
                <a:spcPct val="103000"/>
              </a:lnSpc>
            </a:pPr>
            <a:r>
              <a:rPr sz="1150" b="0" i="0">
                <a:solidFill>
                  <a:srgbClr val="556477"/>
                </a:solidFill>
                <a:latin typeface="Segoe UI"/>
              </a:rPr>
              <a:t>Ideas you approve or confirm in production feed back as positive examples; proven marketplace precedents ground every run.</a:t>
            </a:r>
          </a:p>
        </p:txBody>
      </p:sp>
      <p:sp>
        <p:nvSpPr>
          <p:cNvPr id="20" name="Rounded Rectangle 19"/>
          <p:cNvSpPr/>
          <p:nvPr/>
        </p:nvSpPr>
        <p:spPr>
          <a:xfrm>
            <a:off x="548640" y="4105656"/>
            <a:ext cx="384048"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105656"/>
            <a:ext cx="384048" cy="38404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2" name="TextBox 21"/>
          <p:cNvSpPr txBox="1"/>
          <p:nvPr/>
        </p:nvSpPr>
        <p:spPr>
          <a:xfrm>
            <a:off x="1097280" y="4059936"/>
            <a:ext cx="5394960" cy="365760"/>
          </a:xfrm>
          <a:prstGeom prst="rect">
            <a:avLst/>
          </a:prstGeom>
          <a:noFill/>
        </p:spPr>
        <p:txBody>
          <a:bodyPr wrap="square" anchor="t" lIns="0" rIns="0" tIns="0" bIns="0">
            <a:spAutoFit/>
          </a:bodyPr>
          <a:lstStyle/>
          <a:p>
            <a:pPr algn="l">
              <a:lnSpc>
                <a:spcPct val="100000"/>
              </a:lnSpc>
            </a:pPr>
            <a:r>
              <a:rPr sz="1400" b="1" i="0">
                <a:solidFill>
                  <a:srgbClr val="16273C"/>
                </a:solidFill>
                <a:latin typeface="Segoe UI Semibold"/>
              </a:rPr>
              <a:t>Nine analysis lenses</a:t>
            </a:r>
          </a:p>
        </p:txBody>
      </p:sp>
      <p:sp>
        <p:nvSpPr>
          <p:cNvPr id="23" name="TextBox 22"/>
          <p:cNvSpPr txBox="1"/>
          <p:nvPr/>
        </p:nvSpPr>
        <p:spPr>
          <a:xfrm>
            <a:off x="1097280" y="4398264"/>
            <a:ext cx="5394960" cy="640080"/>
          </a:xfrm>
          <a:prstGeom prst="rect">
            <a:avLst/>
          </a:prstGeom>
          <a:noFill/>
        </p:spPr>
        <p:txBody>
          <a:bodyPr wrap="square" anchor="t" lIns="0" rIns="0" tIns="0" bIns="0">
            <a:spAutoFit/>
          </a:bodyPr>
          <a:lstStyle/>
          <a:p>
            <a:pPr algn="l">
              <a:lnSpc>
                <a:spcPct val="103000"/>
              </a:lnSpc>
            </a:pPr>
            <a:r>
              <a:rPr sz="1150" b="0" i="0">
                <a:solidFill>
                  <a:srgbClr val="556477"/>
                </a:solidFill>
                <a:latin typeface="Segoe UI"/>
              </a:rPr>
              <a:t>Layer TRIZ, Value Engineering, DFA, Design-to-Cost, biomimicry and more onto the same part.</a:t>
            </a:r>
          </a:p>
        </p:txBody>
      </p:sp>
      <p:sp>
        <p:nvSpPr>
          <p:cNvPr id="24" name="Rounded Rectangle 23"/>
          <p:cNvSpPr/>
          <p:nvPr/>
        </p:nvSpPr>
        <p:spPr>
          <a:xfrm>
            <a:off x="548640" y="5129784"/>
            <a:ext cx="384048"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129784"/>
            <a:ext cx="384048" cy="38404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6" name="TextBox 25"/>
          <p:cNvSpPr txBox="1"/>
          <p:nvPr/>
        </p:nvSpPr>
        <p:spPr>
          <a:xfrm>
            <a:off x="1097280" y="5084064"/>
            <a:ext cx="5394960" cy="365760"/>
          </a:xfrm>
          <a:prstGeom prst="rect">
            <a:avLst/>
          </a:prstGeom>
          <a:noFill/>
        </p:spPr>
        <p:txBody>
          <a:bodyPr wrap="square" anchor="t" lIns="0" rIns="0" tIns="0" bIns="0">
            <a:spAutoFit/>
          </a:bodyPr>
          <a:lstStyle/>
          <a:p>
            <a:pPr algn="l">
              <a:lnSpc>
                <a:spcPct val="100000"/>
              </a:lnSpc>
            </a:pPr>
            <a:r>
              <a:rPr sz="1400" b="1" i="0">
                <a:solidFill>
                  <a:srgbClr val="16273C"/>
                </a:solidFill>
                <a:latin typeface="Segoe UI Semibold"/>
              </a:rPr>
              <a:t>Every idea costed &amp; ranked</a:t>
            </a:r>
          </a:p>
        </p:txBody>
      </p:sp>
      <p:sp>
        <p:nvSpPr>
          <p:cNvPr id="27" name="TextBox 26"/>
          <p:cNvSpPr txBox="1"/>
          <p:nvPr/>
        </p:nvSpPr>
        <p:spPr>
          <a:xfrm>
            <a:off x="1097280" y="5422392"/>
            <a:ext cx="5394960" cy="640080"/>
          </a:xfrm>
          <a:prstGeom prst="rect">
            <a:avLst/>
          </a:prstGeom>
          <a:noFill/>
        </p:spPr>
        <p:txBody>
          <a:bodyPr wrap="square" anchor="t" lIns="0" rIns="0" tIns="0" bIns="0">
            <a:spAutoFit/>
          </a:bodyPr>
          <a:lstStyle/>
          <a:p>
            <a:pPr algn="l">
              <a:lnSpc>
                <a:spcPct val="103000"/>
              </a:lnSpc>
            </a:pPr>
            <a:r>
              <a:rPr sz="1150" b="0" i="0">
                <a:solidFill>
                  <a:srgbClr val="556477"/>
                </a:solidFill>
                <a:latin typeface="Segoe UI"/>
              </a:rPr>
              <a:t>Engine-checked saving, difficulty and payback — ranked by verified value, with every ranking factor visible.</a:t>
            </a:r>
          </a:p>
        </p:txBody>
      </p:sp>
      <p:sp>
        <p:nvSpPr>
          <p:cNvPr id="28" name="Rounded Rectangle 27"/>
          <p:cNvSpPr/>
          <p:nvPr/>
        </p:nvSpPr>
        <p:spPr>
          <a:xfrm>
            <a:off x="6675120" y="1737360"/>
            <a:ext cx="4937760" cy="4297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1920240"/>
            <a:ext cx="4389120" cy="365760"/>
          </a:xfrm>
          <a:prstGeom prst="rect">
            <a:avLst/>
          </a:prstGeom>
          <a:noFill/>
        </p:spPr>
        <p:txBody>
          <a:bodyPr wrap="square" anchor="t" lIns="0" rIns="0" tIns="0" bIns="0">
            <a:spAutoFit/>
          </a:bodyPr>
          <a:lstStyle/>
          <a:p>
            <a:pPr algn="l">
              <a:lnSpc>
                <a:spcPct val="100000"/>
              </a:lnSpc>
            </a:pPr>
            <a:r>
              <a:rPr sz="1100" b="1" i="0">
                <a:solidFill>
                  <a:srgbClr val="8390A1"/>
                </a:solidFill>
                <a:latin typeface="Segoe UI Semibold"/>
              </a:rPr>
              <a:t>EXAMPLE IDEA CARD</a:t>
            </a:r>
          </a:p>
        </p:txBody>
      </p:sp>
      <p:sp>
        <p:nvSpPr>
          <p:cNvPr id="30" name="Rounded Rectangle 29"/>
          <p:cNvSpPr/>
          <p:nvPr/>
        </p:nvSpPr>
        <p:spPr>
          <a:xfrm>
            <a:off x="6949440" y="2331720"/>
            <a:ext cx="4389120" cy="16002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0" y="2468880"/>
            <a:ext cx="4023360" cy="64008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One-piece hot-stamped B-pillar tailored blank</a:t>
            </a:r>
          </a:p>
        </p:txBody>
      </p:sp>
      <p:sp>
        <p:nvSpPr>
          <p:cNvPr id="32" name="TextBox 31"/>
          <p:cNvSpPr txBox="1"/>
          <p:nvPr/>
        </p:nvSpPr>
        <p:spPr>
          <a:xfrm>
            <a:off x="7132320" y="3127248"/>
            <a:ext cx="4023360" cy="365760"/>
          </a:xfrm>
          <a:prstGeom prst="rect">
            <a:avLst/>
          </a:prstGeom>
          <a:noFill/>
        </p:spPr>
        <p:txBody>
          <a:bodyPr wrap="square" anchor="t" lIns="0" rIns="0" tIns="0" bIns="0">
            <a:spAutoFit/>
          </a:bodyPr>
          <a:lstStyle/>
          <a:p>
            <a:pPr algn="l">
              <a:lnSpc>
                <a:spcPct val="100000"/>
              </a:lnSpc>
            </a:pPr>
            <a:r>
              <a:rPr sz="1100" b="0" i="0">
                <a:solidFill>
                  <a:srgbClr val="556477"/>
                </a:solidFill>
                <a:latin typeface="Segoe UI"/>
              </a:rPr>
              <a:t>Deletes 14 welds + 2 dies · −0.9 kg/veh</a:t>
            </a:r>
          </a:p>
        </p:txBody>
      </p:sp>
      <p:sp>
        <p:nvSpPr>
          <p:cNvPr id="33" name="Rounded Rectangle 32"/>
          <p:cNvSpPr/>
          <p:nvPr/>
        </p:nvSpPr>
        <p:spPr>
          <a:xfrm>
            <a:off x="7132320" y="3520440"/>
            <a:ext cx="1371600" cy="38404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0" y="3538728"/>
            <a:ext cx="1371600" cy="347472"/>
          </a:xfrm>
          <a:prstGeom prst="rect">
            <a:avLst/>
          </a:prstGeom>
          <a:noFill/>
        </p:spPr>
        <p:txBody>
          <a:bodyPr wrap="square" anchor="ctr" lIns="0" rIns="0" tIns="0" bIns="0">
            <a:spAutoFit/>
          </a:bodyPr>
          <a:lstStyle/>
          <a:p>
            <a:pPr algn="ctr">
              <a:lnSpc>
                <a:spcPct val="100000"/>
              </a:lnSpc>
            </a:pPr>
            <a:r>
              <a:rPr sz="1200" b="1" i="0">
                <a:solidFill>
                  <a:srgbClr val="FFFFFF"/>
                </a:solidFill>
                <a:latin typeface="Segoe UI Semibold"/>
              </a:rPr>
              <a:t>£2.04M/yr</a:t>
            </a:r>
          </a:p>
        </p:txBody>
      </p:sp>
      <p:sp>
        <p:nvSpPr>
          <p:cNvPr id="35" name="Rounded Rectangle 34"/>
          <p:cNvSpPr/>
          <p:nvPr/>
        </p:nvSpPr>
        <p:spPr>
          <a:xfrm>
            <a:off x="8641080" y="3520440"/>
            <a:ext cx="1234440" cy="38404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1080" y="3538728"/>
            <a:ext cx="1234440" cy="347472"/>
          </a:xfrm>
          <a:prstGeom prst="rect">
            <a:avLst/>
          </a:prstGeom>
          <a:noFill/>
        </p:spPr>
        <p:txBody>
          <a:bodyPr wrap="square" anchor="ctr" lIns="0" rIns="0" tIns="0" bIns="0">
            <a:spAutoFit/>
          </a:bodyPr>
          <a:lstStyle/>
          <a:p>
            <a:pPr algn="ctr">
              <a:lnSpc>
                <a:spcPct val="100000"/>
              </a:lnSpc>
            </a:pPr>
            <a:r>
              <a:rPr sz="1100" b="1" i="0">
                <a:solidFill>
                  <a:srgbClr val="FFFFFF"/>
                </a:solidFill>
                <a:latin typeface="Segoe UI Semibold"/>
              </a:rPr>
              <a:t>High</a:t>
            </a:r>
          </a:p>
        </p:txBody>
      </p:sp>
      <p:sp>
        <p:nvSpPr>
          <p:cNvPr id="37" name="Rounded Rectangle 36"/>
          <p:cNvSpPr/>
          <p:nvPr/>
        </p:nvSpPr>
        <p:spPr>
          <a:xfrm>
            <a:off x="10012680" y="3520440"/>
            <a:ext cx="1143000"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2680" y="3538728"/>
            <a:ext cx="1143000" cy="347472"/>
          </a:xfrm>
          <a:prstGeom prst="rect">
            <a:avLst/>
          </a:prstGeom>
          <a:noFill/>
        </p:spPr>
        <p:txBody>
          <a:bodyPr wrap="square" anchor="ctr" lIns="0" rIns="0" tIns="0" bIns="0">
            <a:spAutoFit/>
          </a:bodyPr>
          <a:lstStyle/>
          <a:p>
            <a:pPr algn="ctr">
              <a:lnSpc>
                <a:spcPct val="100000"/>
              </a:lnSpc>
            </a:pPr>
            <a:r>
              <a:rPr sz="1100" b="1" i="0">
                <a:solidFill>
                  <a:srgbClr val="FFFFFF"/>
                </a:solidFill>
                <a:latin typeface="Segoe UI Semibold"/>
              </a:rPr>
              <a:t>✓ Verified</a:t>
            </a:r>
          </a:p>
        </p:txBody>
      </p:sp>
      <p:sp>
        <p:nvSpPr>
          <p:cNvPr id="39" name="TextBox 38"/>
          <p:cNvSpPr txBox="1"/>
          <p:nvPr/>
        </p:nvSpPr>
        <p:spPr>
          <a:xfrm>
            <a:off x="6949440" y="4160520"/>
            <a:ext cx="4389120" cy="365760"/>
          </a:xfrm>
          <a:prstGeom prst="rect">
            <a:avLst/>
          </a:prstGeom>
          <a:noFill/>
        </p:spPr>
        <p:txBody>
          <a:bodyPr wrap="square" anchor="t" lIns="0" rIns="0" tIns="0" bIns="0">
            <a:spAutoFit/>
          </a:bodyPr>
          <a:lstStyle/>
          <a:p>
            <a:pPr algn="l">
              <a:lnSpc>
                <a:spcPct val="100000"/>
              </a:lnSpc>
            </a:pPr>
            <a:r>
              <a:rPr sz="1100" b="1" i="0">
                <a:solidFill>
                  <a:srgbClr val="8390A1"/>
                </a:solidFill>
                <a:latin typeface="Segoe UI Semibold"/>
              </a:rPr>
              <a:t>ENGINE CHECK</a:t>
            </a:r>
          </a:p>
        </p:txBody>
      </p:sp>
      <p:sp>
        <p:nvSpPr>
          <p:cNvPr id="40" name="Rounded Rectangle 39"/>
          <p:cNvSpPr/>
          <p:nvPr/>
        </p:nvSpPr>
        <p:spPr>
          <a:xfrm>
            <a:off x="6949440" y="4526280"/>
            <a:ext cx="4389120" cy="12344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0" y="4663440"/>
            <a:ext cx="4023360" cy="1005840"/>
          </a:xfrm>
          <a:prstGeom prst="rect">
            <a:avLst/>
          </a:prstGeom>
          <a:noFill/>
        </p:spPr>
        <p:txBody>
          <a:bodyPr wrap="square" anchor="t" lIns="0" rIns="0" tIns="0" bIns="0">
            <a:spAutoFit/>
          </a:bodyPr>
          <a:lstStyle/>
          <a:p>
            <a:pPr algn="l">
              <a:lnSpc>
                <a:spcPct val="105000"/>
              </a:lnSpc>
            </a:pPr>
            <a:r>
              <a:rPr sz="1150" b="0" i="0">
                <a:solidFill>
                  <a:srgbClr val="556477"/>
                </a:solidFill>
                <a:latin typeface="Segoe UI"/>
              </a:rPr>
              <a:t>Should-cost recomputed: </a:t>
            </a:r>
            <a:r>
              <a:rPr sz="1150" b="1" i="0">
                <a:solidFill>
                  <a:srgbClr val="059669"/>
                </a:solidFill>
                <a:latin typeface="Segoe UI"/>
              </a:rPr>
              <a:t>£17.10</a:t>
            </a:r>
            <a:r>
              <a:rPr sz="1150" b="0" i="0">
                <a:solidFill>
                  <a:srgbClr val="556477"/>
                </a:solidFill>
                <a:latin typeface="Segoe UI"/>
              </a:rPr>
              <a:t> vs </a:t>
            </a:r>
            <a:r>
              <a:rPr sz="1150" b="1" i="0">
                <a:solidFill>
                  <a:srgbClr val="E11D48"/>
                </a:solidFill>
                <a:latin typeface="Segoe UI"/>
              </a:rPr>
              <a:t>£23.40</a:t>
            </a:r>
            <a:r>
              <a:rPr sz="1150" b="0" i="0">
                <a:solidFill>
                  <a:srgbClr val="556477"/>
                </a:solidFill>
                <a:latin typeface="Segoe UI"/>
              </a:rPr>
              <a:t> baseline.
</a:t>
            </a:r>
            <a:r>
              <a:rPr sz="1150" b="1" i="0">
                <a:solidFill>
                  <a:srgbClr val="374558"/>
                </a:solidFill>
                <a:latin typeface="Segoe UI"/>
              </a:rPr>
              <a:t>Saving confirmed by the deterministic engine.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CAPABILITY 2</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Deterministic Should-Cost Engine</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07</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63040"/>
            <a:ext cx="10972800" cy="457200"/>
          </a:xfrm>
          <a:prstGeom prst="rect">
            <a:avLst/>
          </a:prstGeom>
          <a:noFill/>
        </p:spPr>
        <p:txBody>
          <a:bodyPr wrap="square" anchor="t" lIns="0" rIns="0" tIns="0" bIns="0">
            <a:spAutoFit/>
          </a:bodyPr>
          <a:lstStyle/>
          <a:p>
            <a:pPr algn="l">
              <a:lnSpc>
                <a:spcPct val="100000"/>
              </a:lnSpc>
            </a:pPr>
            <a:r>
              <a:rPr sz="1500" b="1" i="0">
                <a:solidFill>
                  <a:srgbClr val="0D9488"/>
                </a:solidFill>
                <a:latin typeface="Segoe UI Semibold"/>
              </a:rPr>
              <a:t>Bottom-up piece-price from real drivers — no black box, fully reproducible.</a:t>
            </a:r>
          </a:p>
        </p:txBody>
      </p:sp>
      <p:sp>
        <p:nvSpPr>
          <p:cNvPr id="12" name="Rounded Rectangle 11"/>
          <p:cNvSpPr/>
          <p:nvPr/>
        </p:nvSpPr>
        <p:spPr>
          <a:xfrm>
            <a:off x="548640" y="2103120"/>
            <a:ext cx="2697480" cy="21488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2103120"/>
            <a:ext cx="82296" cy="214884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 y="2340864"/>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34086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6" name="TextBox 15"/>
          <p:cNvSpPr txBox="1"/>
          <p:nvPr/>
        </p:nvSpPr>
        <p:spPr>
          <a:xfrm>
            <a:off x="1463040" y="234086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Material</a:t>
            </a:r>
          </a:p>
        </p:txBody>
      </p:sp>
      <p:sp>
        <p:nvSpPr>
          <p:cNvPr id="17" name="TextBox 16"/>
          <p:cNvSpPr txBox="1"/>
          <p:nvPr/>
        </p:nvSpPr>
        <p:spPr>
          <a:xfrm>
            <a:off x="841248" y="2971800"/>
            <a:ext cx="2148840" cy="118872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Density, live commodity €/kg, buy-to-fly &amp; scrap recovery</a:t>
            </a:r>
          </a:p>
        </p:txBody>
      </p:sp>
      <p:sp>
        <p:nvSpPr>
          <p:cNvPr id="18" name="Rounded Rectangle 17"/>
          <p:cNvSpPr/>
          <p:nvPr/>
        </p:nvSpPr>
        <p:spPr>
          <a:xfrm>
            <a:off x="3364992" y="2103120"/>
            <a:ext cx="2697480" cy="21488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364992" y="2103120"/>
            <a:ext cx="82296" cy="214884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21024" y="2340864"/>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21024" y="234086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2" name="TextBox 21"/>
          <p:cNvSpPr txBox="1"/>
          <p:nvPr/>
        </p:nvSpPr>
        <p:spPr>
          <a:xfrm>
            <a:off x="4279392" y="234086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Process</a:t>
            </a:r>
          </a:p>
        </p:txBody>
      </p:sp>
      <p:sp>
        <p:nvSpPr>
          <p:cNvPr id="23" name="TextBox 22"/>
          <p:cNvSpPr txBox="1"/>
          <p:nvPr/>
        </p:nvSpPr>
        <p:spPr>
          <a:xfrm>
            <a:off x="3657600" y="2971800"/>
            <a:ext cx="2148840" cy="118872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Machine rate × cycle time, labour, setup, secondary ops</a:t>
            </a:r>
          </a:p>
        </p:txBody>
      </p:sp>
      <p:sp>
        <p:nvSpPr>
          <p:cNvPr id="24" name="Rounded Rectangle 23"/>
          <p:cNvSpPr/>
          <p:nvPr/>
        </p:nvSpPr>
        <p:spPr>
          <a:xfrm>
            <a:off x="6181344" y="2103120"/>
            <a:ext cx="2697480" cy="21488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81344" y="2103120"/>
            <a:ext cx="82296" cy="214884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37376" y="2340864"/>
            <a:ext cx="502920" cy="50292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234086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8" name="TextBox 27"/>
          <p:cNvSpPr txBox="1"/>
          <p:nvPr/>
        </p:nvSpPr>
        <p:spPr>
          <a:xfrm>
            <a:off x="7095744" y="234086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Tooling</a:t>
            </a:r>
          </a:p>
        </p:txBody>
      </p:sp>
      <p:sp>
        <p:nvSpPr>
          <p:cNvPr id="29" name="TextBox 28"/>
          <p:cNvSpPr txBox="1"/>
          <p:nvPr/>
        </p:nvSpPr>
        <p:spPr>
          <a:xfrm>
            <a:off x="6473952" y="2971800"/>
            <a:ext cx="2148840" cy="118872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Amortised die / mould / fixture over programme volume</a:t>
            </a:r>
          </a:p>
        </p:txBody>
      </p:sp>
      <p:sp>
        <p:nvSpPr>
          <p:cNvPr id="30" name="Rounded Rectangle 29"/>
          <p:cNvSpPr/>
          <p:nvPr/>
        </p:nvSpPr>
        <p:spPr>
          <a:xfrm>
            <a:off x="8997696" y="2103120"/>
            <a:ext cx="2697480" cy="21488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97696" y="2103120"/>
            <a:ext cx="82296" cy="214884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53728" y="2340864"/>
            <a:ext cx="5029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53728" y="234086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4" name="TextBox 33"/>
          <p:cNvSpPr txBox="1"/>
          <p:nvPr/>
        </p:nvSpPr>
        <p:spPr>
          <a:xfrm>
            <a:off x="9912096" y="2340864"/>
            <a:ext cx="160020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Overheads</a:t>
            </a:r>
          </a:p>
        </p:txBody>
      </p:sp>
      <p:sp>
        <p:nvSpPr>
          <p:cNvPr id="35" name="TextBox 34"/>
          <p:cNvSpPr txBox="1"/>
          <p:nvPr/>
        </p:nvSpPr>
        <p:spPr>
          <a:xfrm>
            <a:off x="9290304" y="2971800"/>
            <a:ext cx="2148840" cy="1188720"/>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Factory burden, SG&amp;A, packaging &amp; freight by region</a:t>
            </a:r>
          </a:p>
        </p:txBody>
      </p:sp>
      <p:sp>
        <p:nvSpPr>
          <p:cNvPr id="36" name="Rounded Rectangle 35"/>
          <p:cNvSpPr/>
          <p:nvPr/>
        </p:nvSpPr>
        <p:spPr>
          <a:xfrm>
            <a:off x="548640" y="4526280"/>
            <a:ext cx="2697480" cy="12344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709160"/>
            <a:ext cx="2697480" cy="457200"/>
          </a:xfrm>
          <a:prstGeom prst="rect">
            <a:avLst/>
          </a:prstGeom>
          <a:noFill/>
        </p:spPr>
        <p:txBody>
          <a:bodyPr wrap="square" anchor="t" lIns="0" rIns="0" tIns="0" bIns="0">
            <a:spAutoFit/>
          </a:bodyPr>
          <a:lstStyle/>
          <a:p>
            <a:pPr algn="ctr">
              <a:lnSpc>
                <a:spcPct val="100000"/>
              </a:lnSpc>
            </a:pPr>
            <a:r>
              <a:rPr sz="1800" b="1" i="0">
                <a:solidFill>
                  <a:srgbClr val="B47609"/>
                </a:solidFill>
                <a:latin typeface="Segoe UI Semibold"/>
              </a:rPr>
              <a:t>9-region</a:t>
            </a:r>
          </a:p>
        </p:txBody>
      </p:sp>
      <p:sp>
        <p:nvSpPr>
          <p:cNvPr id="38" name="TextBox 37"/>
          <p:cNvSpPr txBox="1"/>
          <p:nvPr/>
        </p:nvSpPr>
        <p:spPr>
          <a:xfrm>
            <a:off x="548640" y="5230368"/>
            <a:ext cx="2697480" cy="457200"/>
          </a:xfrm>
          <a:prstGeom prst="rect">
            <a:avLst/>
          </a:prstGeom>
          <a:noFill/>
        </p:spPr>
        <p:txBody>
          <a:bodyPr wrap="square" anchor="t" lIns="0" rIns="0" tIns="0" bIns="0">
            <a:spAutoFit/>
          </a:bodyPr>
          <a:lstStyle/>
          <a:p>
            <a:pPr algn="ctr">
              <a:lnSpc>
                <a:spcPct val="100000"/>
              </a:lnSpc>
            </a:pPr>
            <a:r>
              <a:rPr sz="1100" b="0" i="0">
                <a:solidFill>
                  <a:srgbClr val="556477"/>
                </a:solidFill>
                <a:latin typeface="Segoe UI"/>
              </a:rPr>
              <a:t>labour &amp; overhead library</a:t>
            </a:r>
          </a:p>
        </p:txBody>
      </p:sp>
      <p:sp>
        <p:nvSpPr>
          <p:cNvPr id="39" name="Rounded Rectangle 38"/>
          <p:cNvSpPr/>
          <p:nvPr/>
        </p:nvSpPr>
        <p:spPr>
          <a:xfrm>
            <a:off x="3364992" y="4526280"/>
            <a:ext cx="2697480" cy="12344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64992" y="4709160"/>
            <a:ext cx="2697480" cy="457200"/>
          </a:xfrm>
          <a:prstGeom prst="rect">
            <a:avLst/>
          </a:prstGeom>
          <a:noFill/>
        </p:spPr>
        <p:txBody>
          <a:bodyPr wrap="square" anchor="t" lIns="0" rIns="0" tIns="0" bIns="0">
            <a:spAutoFit/>
          </a:bodyPr>
          <a:lstStyle/>
          <a:p>
            <a:pPr algn="ctr">
              <a:lnSpc>
                <a:spcPct val="100000"/>
              </a:lnSpc>
            </a:pPr>
            <a:r>
              <a:rPr sz="1800" b="1" i="0">
                <a:solidFill>
                  <a:srgbClr val="B47609"/>
                </a:solidFill>
                <a:latin typeface="Segoe UI Semibold"/>
              </a:rPr>
              <a:t>Live prices</a:t>
            </a:r>
          </a:p>
        </p:txBody>
      </p:sp>
      <p:sp>
        <p:nvSpPr>
          <p:cNvPr id="41" name="TextBox 40"/>
          <p:cNvSpPr txBox="1"/>
          <p:nvPr/>
        </p:nvSpPr>
        <p:spPr>
          <a:xfrm>
            <a:off x="3364992" y="5230368"/>
            <a:ext cx="2697480" cy="457200"/>
          </a:xfrm>
          <a:prstGeom prst="rect">
            <a:avLst/>
          </a:prstGeom>
          <a:noFill/>
        </p:spPr>
        <p:txBody>
          <a:bodyPr wrap="square" anchor="t" lIns="0" rIns="0" tIns="0" bIns="0">
            <a:spAutoFit/>
          </a:bodyPr>
          <a:lstStyle/>
          <a:p>
            <a:pPr algn="ctr">
              <a:lnSpc>
                <a:spcPct val="100000"/>
              </a:lnSpc>
            </a:pPr>
            <a:r>
              <a:rPr sz="1100" b="0" i="0">
                <a:solidFill>
                  <a:srgbClr val="556477"/>
                </a:solidFill>
                <a:latin typeface="Segoe UI"/>
              </a:rPr>
              <a:t>ECB FX + commodity feeds</a:t>
            </a:r>
          </a:p>
        </p:txBody>
      </p:sp>
      <p:sp>
        <p:nvSpPr>
          <p:cNvPr id="42" name="Rounded Rectangle 41"/>
          <p:cNvSpPr/>
          <p:nvPr/>
        </p:nvSpPr>
        <p:spPr>
          <a:xfrm>
            <a:off x="6181344" y="4526280"/>
            <a:ext cx="2697480" cy="12344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81344" y="4709160"/>
            <a:ext cx="2697480" cy="457200"/>
          </a:xfrm>
          <a:prstGeom prst="rect">
            <a:avLst/>
          </a:prstGeom>
          <a:noFill/>
        </p:spPr>
        <p:txBody>
          <a:bodyPr wrap="square" anchor="t" lIns="0" rIns="0" tIns="0" bIns="0">
            <a:spAutoFit/>
          </a:bodyPr>
          <a:lstStyle/>
          <a:p>
            <a:pPr algn="ctr">
              <a:lnSpc>
                <a:spcPct val="100000"/>
              </a:lnSpc>
            </a:pPr>
            <a:r>
              <a:rPr sz="1800" b="1" i="0">
                <a:solidFill>
                  <a:srgbClr val="B47609"/>
                </a:solidFill>
                <a:latin typeface="Segoe UI Semibold"/>
              </a:rPr>
              <a:t>Monte-Carlo</a:t>
            </a:r>
          </a:p>
        </p:txBody>
      </p:sp>
      <p:sp>
        <p:nvSpPr>
          <p:cNvPr id="44" name="TextBox 43"/>
          <p:cNvSpPr txBox="1"/>
          <p:nvPr/>
        </p:nvSpPr>
        <p:spPr>
          <a:xfrm>
            <a:off x="6181344" y="5230368"/>
            <a:ext cx="2697480" cy="457200"/>
          </a:xfrm>
          <a:prstGeom prst="rect">
            <a:avLst/>
          </a:prstGeom>
          <a:noFill/>
        </p:spPr>
        <p:txBody>
          <a:bodyPr wrap="square" anchor="t" lIns="0" rIns="0" tIns="0" bIns="0">
            <a:spAutoFit/>
          </a:bodyPr>
          <a:lstStyle/>
          <a:p>
            <a:pPr algn="ctr">
              <a:lnSpc>
                <a:spcPct val="100000"/>
              </a:lnSpc>
            </a:pPr>
            <a:r>
              <a:rPr sz="1100" b="0" i="0">
                <a:solidFill>
                  <a:srgbClr val="556477"/>
                </a:solidFill>
                <a:latin typeface="Segoe UI"/>
              </a:rPr>
              <a:t>P10 / P50 / P90 bands</a:t>
            </a:r>
          </a:p>
        </p:txBody>
      </p:sp>
      <p:sp>
        <p:nvSpPr>
          <p:cNvPr id="45" name="Rounded Rectangle 44"/>
          <p:cNvSpPr/>
          <p:nvPr/>
        </p:nvSpPr>
        <p:spPr>
          <a:xfrm>
            <a:off x="8997696" y="4526280"/>
            <a:ext cx="2697480" cy="12344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97696" y="4709160"/>
            <a:ext cx="2697480" cy="457200"/>
          </a:xfrm>
          <a:prstGeom prst="rect">
            <a:avLst/>
          </a:prstGeom>
          <a:noFill/>
        </p:spPr>
        <p:txBody>
          <a:bodyPr wrap="square" anchor="t" lIns="0" rIns="0" tIns="0" bIns="0">
            <a:spAutoFit/>
          </a:bodyPr>
          <a:lstStyle/>
          <a:p>
            <a:pPr algn="ctr">
              <a:lnSpc>
                <a:spcPct val="100000"/>
              </a:lnSpc>
            </a:pPr>
            <a:r>
              <a:rPr sz="1800" b="1" i="0">
                <a:solidFill>
                  <a:srgbClr val="B47609"/>
                </a:solidFill>
                <a:latin typeface="Segoe UI Semibold"/>
              </a:rPr>
              <a:t>Self-calibrating</a:t>
            </a:r>
          </a:p>
        </p:txBody>
      </p:sp>
      <p:sp>
        <p:nvSpPr>
          <p:cNvPr id="47" name="TextBox 46"/>
          <p:cNvSpPr txBox="1"/>
          <p:nvPr/>
        </p:nvSpPr>
        <p:spPr>
          <a:xfrm>
            <a:off x="8997696" y="5230368"/>
            <a:ext cx="2697480" cy="457200"/>
          </a:xfrm>
          <a:prstGeom prst="rect">
            <a:avLst/>
          </a:prstGeom>
          <a:noFill/>
        </p:spPr>
        <p:txBody>
          <a:bodyPr wrap="square" anchor="t" lIns="0" rIns="0" tIns="0" bIns="0">
            <a:spAutoFit/>
          </a:bodyPr>
          <a:lstStyle/>
          <a:p>
            <a:pPr algn="ctr">
              <a:lnSpc>
                <a:spcPct val="100000"/>
              </a:lnSpc>
            </a:pPr>
            <a:r>
              <a:rPr sz="1100" b="0" i="0">
                <a:solidFill>
                  <a:srgbClr val="556477"/>
                </a:solidFill>
                <a:latin typeface="Segoe UI"/>
              </a:rPr>
              <a:t>learns from real quotes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CAPABILITY 3</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Feature-Based CAD-to-Cost</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08</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63040"/>
            <a:ext cx="11064240" cy="457200"/>
          </a:xfrm>
          <a:prstGeom prst="rect">
            <a:avLst/>
          </a:prstGeom>
          <a:noFill/>
        </p:spPr>
        <p:txBody>
          <a:bodyPr wrap="square" anchor="t" lIns="0" rIns="0" tIns="0" bIns="0">
            <a:spAutoFit/>
          </a:bodyPr>
          <a:lstStyle/>
          <a:p>
            <a:pPr algn="l">
              <a:lnSpc>
                <a:spcPct val="100000"/>
              </a:lnSpc>
            </a:pPr>
            <a:r>
              <a:rPr sz="1450" b="1" i="0">
                <a:solidFill>
                  <a:srgbClr val="0D9488"/>
                </a:solidFill>
                <a:latin typeface="Segoe UI Semibold"/>
              </a:rPr>
              <a:t>Upload a STEP / STL model or a 2D drawing — cost is driven by the geometry itself, the way aPriori-class tools work.</a:t>
            </a:r>
          </a:p>
        </p:txBody>
      </p:sp>
      <p:sp>
        <p:nvSpPr>
          <p:cNvPr id="12" name="Rounded Rectangle 11"/>
          <p:cNvSpPr/>
          <p:nvPr/>
        </p:nvSpPr>
        <p:spPr>
          <a:xfrm>
            <a:off x="548640" y="2240280"/>
            <a:ext cx="1965960" cy="17830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261872" y="2395728"/>
            <a:ext cx="548640" cy="54864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61872" y="2395728"/>
            <a:ext cx="548640" cy="54864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5" name="TextBox 14"/>
          <p:cNvSpPr txBox="1"/>
          <p:nvPr/>
        </p:nvSpPr>
        <p:spPr>
          <a:xfrm>
            <a:off x="548640" y="3017520"/>
            <a:ext cx="1965960" cy="320040"/>
          </a:xfrm>
          <a:prstGeom prst="rect">
            <a:avLst/>
          </a:prstGeom>
          <a:noFill/>
        </p:spPr>
        <p:txBody>
          <a:bodyPr wrap="square" anchor="t" lIns="0" rIns="0" tIns="0" bIns="0">
            <a:spAutoFit/>
          </a:bodyPr>
          <a:lstStyle/>
          <a:p>
            <a:pPr algn="ctr">
              <a:lnSpc>
                <a:spcPct val="100000"/>
              </a:lnSpc>
            </a:pPr>
            <a:r>
              <a:rPr sz="1300" b="1" i="0">
                <a:solidFill>
                  <a:srgbClr val="16273C"/>
                </a:solidFill>
                <a:latin typeface="Segoe UI Semibold"/>
              </a:rPr>
              <a:t>Upload</a:t>
            </a:r>
          </a:p>
        </p:txBody>
      </p:sp>
      <p:sp>
        <p:nvSpPr>
          <p:cNvPr id="16" name="TextBox 15"/>
          <p:cNvSpPr txBox="1"/>
          <p:nvPr/>
        </p:nvSpPr>
        <p:spPr>
          <a:xfrm>
            <a:off x="548640" y="3364992"/>
            <a:ext cx="1965960" cy="59436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STEP / STL /
drawing / PDF</a:t>
            </a:r>
          </a:p>
        </p:txBody>
      </p:sp>
      <p:sp>
        <p:nvSpPr>
          <p:cNvPr id="17" name="Chevron 16"/>
          <p:cNvSpPr/>
          <p:nvPr/>
        </p:nvSpPr>
        <p:spPr>
          <a:xfrm>
            <a:off x="2542032" y="2880360"/>
            <a:ext cx="292608"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16352" y="2240280"/>
            <a:ext cx="1965960" cy="17830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29584" y="2395728"/>
            <a:ext cx="548640" cy="54864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9584" y="2395728"/>
            <a:ext cx="548640" cy="54864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1" name="TextBox 20"/>
          <p:cNvSpPr txBox="1"/>
          <p:nvPr/>
        </p:nvSpPr>
        <p:spPr>
          <a:xfrm>
            <a:off x="2816352" y="3017520"/>
            <a:ext cx="1965960" cy="320040"/>
          </a:xfrm>
          <a:prstGeom prst="rect">
            <a:avLst/>
          </a:prstGeom>
          <a:noFill/>
        </p:spPr>
        <p:txBody>
          <a:bodyPr wrap="square" anchor="t" lIns="0" rIns="0" tIns="0" bIns="0">
            <a:spAutoFit/>
          </a:bodyPr>
          <a:lstStyle/>
          <a:p>
            <a:pPr algn="ctr">
              <a:lnSpc>
                <a:spcPct val="100000"/>
              </a:lnSpc>
            </a:pPr>
            <a:r>
              <a:rPr sz="1300" b="1" i="0">
                <a:solidFill>
                  <a:srgbClr val="16273C"/>
                </a:solidFill>
                <a:latin typeface="Segoe UI Semibold"/>
              </a:rPr>
              <a:t>Extract</a:t>
            </a:r>
          </a:p>
        </p:txBody>
      </p:sp>
      <p:sp>
        <p:nvSpPr>
          <p:cNvPr id="22" name="TextBox 21"/>
          <p:cNvSpPr txBox="1"/>
          <p:nvPr/>
        </p:nvSpPr>
        <p:spPr>
          <a:xfrm>
            <a:off x="2816352" y="3364992"/>
            <a:ext cx="1965960" cy="59436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Volume, area,
holes, thickness</a:t>
            </a:r>
          </a:p>
        </p:txBody>
      </p:sp>
      <p:sp>
        <p:nvSpPr>
          <p:cNvPr id="23" name="Chevron 22"/>
          <p:cNvSpPr/>
          <p:nvPr/>
        </p:nvSpPr>
        <p:spPr>
          <a:xfrm>
            <a:off x="4809744" y="2880360"/>
            <a:ext cx="292608"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84064" y="2240280"/>
            <a:ext cx="1965960" cy="17830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797296" y="2395728"/>
            <a:ext cx="548640" cy="54864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97296" y="2395728"/>
            <a:ext cx="548640" cy="54864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7" name="TextBox 26"/>
          <p:cNvSpPr txBox="1"/>
          <p:nvPr/>
        </p:nvSpPr>
        <p:spPr>
          <a:xfrm>
            <a:off x="5084064" y="3017520"/>
            <a:ext cx="1965960" cy="320040"/>
          </a:xfrm>
          <a:prstGeom prst="rect">
            <a:avLst/>
          </a:prstGeom>
          <a:noFill/>
        </p:spPr>
        <p:txBody>
          <a:bodyPr wrap="square" anchor="t" lIns="0" rIns="0" tIns="0" bIns="0">
            <a:spAutoFit/>
          </a:bodyPr>
          <a:lstStyle/>
          <a:p>
            <a:pPr algn="ctr">
              <a:lnSpc>
                <a:spcPct val="100000"/>
              </a:lnSpc>
            </a:pPr>
            <a:r>
              <a:rPr sz="1300" b="1" i="0">
                <a:solidFill>
                  <a:srgbClr val="16273C"/>
                </a:solidFill>
                <a:latin typeface="Segoe UI Semibold"/>
              </a:rPr>
              <a:t>Cost</a:t>
            </a:r>
          </a:p>
        </p:txBody>
      </p:sp>
      <p:sp>
        <p:nvSpPr>
          <p:cNvPr id="28" name="TextBox 27"/>
          <p:cNvSpPr txBox="1"/>
          <p:nvPr/>
        </p:nvSpPr>
        <p:spPr>
          <a:xfrm>
            <a:off x="5084064" y="3364992"/>
            <a:ext cx="1965960" cy="59436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Feature-based
cycle &amp; material</a:t>
            </a:r>
          </a:p>
        </p:txBody>
      </p:sp>
      <p:sp>
        <p:nvSpPr>
          <p:cNvPr id="29" name="Chevron 28"/>
          <p:cNvSpPr/>
          <p:nvPr/>
        </p:nvSpPr>
        <p:spPr>
          <a:xfrm>
            <a:off x="7077456" y="2880360"/>
            <a:ext cx="292608"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51776" y="2240280"/>
            <a:ext cx="1965960" cy="17830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65008" y="2395728"/>
            <a:ext cx="548640" cy="54864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65008" y="2395728"/>
            <a:ext cx="548640" cy="54864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3D</a:t>
            </a:r>
          </a:p>
        </p:txBody>
      </p:sp>
      <p:sp>
        <p:nvSpPr>
          <p:cNvPr id="33" name="TextBox 32"/>
          <p:cNvSpPr txBox="1"/>
          <p:nvPr/>
        </p:nvSpPr>
        <p:spPr>
          <a:xfrm>
            <a:off x="7351776" y="3017520"/>
            <a:ext cx="1965960" cy="320040"/>
          </a:xfrm>
          <a:prstGeom prst="rect">
            <a:avLst/>
          </a:prstGeom>
          <a:noFill/>
        </p:spPr>
        <p:txBody>
          <a:bodyPr wrap="square" anchor="t" lIns="0" rIns="0" tIns="0" bIns="0">
            <a:spAutoFit/>
          </a:bodyPr>
          <a:lstStyle/>
          <a:p>
            <a:pPr algn="ctr">
              <a:lnSpc>
                <a:spcPct val="100000"/>
              </a:lnSpc>
            </a:pPr>
            <a:r>
              <a:rPr sz="1300" b="1" i="0">
                <a:solidFill>
                  <a:srgbClr val="16273C"/>
                </a:solidFill>
                <a:latin typeface="Segoe UI Semibold"/>
              </a:rPr>
              <a:t>Visualise</a:t>
            </a:r>
          </a:p>
        </p:txBody>
      </p:sp>
      <p:sp>
        <p:nvSpPr>
          <p:cNvPr id="34" name="TextBox 33"/>
          <p:cNvSpPr txBox="1"/>
          <p:nvPr/>
        </p:nvSpPr>
        <p:spPr>
          <a:xfrm>
            <a:off x="7351776" y="3364992"/>
            <a:ext cx="1965960" cy="59436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Interactive
3D viewer</a:t>
            </a:r>
          </a:p>
        </p:txBody>
      </p:sp>
      <p:sp>
        <p:nvSpPr>
          <p:cNvPr id="35" name="Chevron 34"/>
          <p:cNvSpPr/>
          <p:nvPr/>
        </p:nvSpPr>
        <p:spPr>
          <a:xfrm>
            <a:off x="9345168" y="2880360"/>
            <a:ext cx="292608"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619488" y="2240280"/>
            <a:ext cx="1965960" cy="17830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332720" y="2395728"/>
            <a:ext cx="548640" cy="54864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0" y="2395728"/>
            <a:ext cx="548640" cy="54864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9" name="TextBox 38"/>
          <p:cNvSpPr txBox="1"/>
          <p:nvPr/>
        </p:nvSpPr>
        <p:spPr>
          <a:xfrm>
            <a:off x="9619488" y="3017520"/>
            <a:ext cx="1965960" cy="320040"/>
          </a:xfrm>
          <a:prstGeom prst="rect">
            <a:avLst/>
          </a:prstGeom>
          <a:noFill/>
        </p:spPr>
        <p:txBody>
          <a:bodyPr wrap="square" anchor="t" lIns="0" rIns="0" tIns="0" bIns="0">
            <a:spAutoFit/>
          </a:bodyPr>
          <a:lstStyle/>
          <a:p>
            <a:pPr algn="ctr">
              <a:lnSpc>
                <a:spcPct val="100000"/>
              </a:lnSpc>
            </a:pPr>
            <a:r>
              <a:rPr sz="1300" b="1" i="0">
                <a:solidFill>
                  <a:srgbClr val="16273C"/>
                </a:solidFill>
                <a:latin typeface="Segoe UI Semibold"/>
              </a:rPr>
              <a:t>Report</a:t>
            </a:r>
          </a:p>
        </p:txBody>
      </p:sp>
      <p:sp>
        <p:nvSpPr>
          <p:cNvPr id="40" name="TextBox 39"/>
          <p:cNvSpPr txBox="1"/>
          <p:nvPr/>
        </p:nvSpPr>
        <p:spPr>
          <a:xfrm>
            <a:off x="9619488" y="3364992"/>
            <a:ext cx="1965960" cy="59436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DFMA score +
should-cost</a:t>
            </a:r>
          </a:p>
        </p:txBody>
      </p:sp>
      <p:sp>
        <p:nvSpPr>
          <p:cNvPr id="41" name="Rounded Rectangle 40"/>
          <p:cNvSpPr/>
          <p:nvPr/>
        </p:nvSpPr>
        <p:spPr>
          <a:xfrm>
            <a:off x="548640" y="4343400"/>
            <a:ext cx="11091672" cy="150876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4343400"/>
            <a:ext cx="109728" cy="150876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498848"/>
            <a:ext cx="10515600" cy="411480"/>
          </a:xfrm>
          <a:prstGeom prst="rect">
            <a:avLst/>
          </a:prstGeom>
          <a:noFill/>
        </p:spPr>
        <p:txBody>
          <a:bodyPr wrap="square" anchor="t" lIns="0" rIns="0" tIns="0" bIns="0">
            <a:spAutoFit/>
          </a:bodyPr>
          <a:lstStyle/>
          <a:p>
            <a:pPr algn="l">
              <a:lnSpc>
                <a:spcPct val="100000"/>
              </a:lnSpc>
            </a:pPr>
            <a:r>
              <a:rPr sz="1400" b="1" i="0">
                <a:solidFill>
                  <a:srgbClr val="2563EB"/>
                </a:solidFill>
                <a:latin typeface="Segoe UI Semibold"/>
              </a:rPr>
              <a:t>Why feature-based beats a mass estimate:</a:t>
            </a:r>
          </a:p>
        </p:txBody>
      </p:sp>
      <p:sp>
        <p:nvSpPr>
          <p:cNvPr id="44" name="TextBox 43"/>
          <p:cNvSpPr txBox="1"/>
          <p:nvPr/>
        </p:nvSpPr>
        <p:spPr>
          <a:xfrm>
            <a:off x="914400" y="4919472"/>
            <a:ext cx="10515600" cy="868680"/>
          </a:xfrm>
          <a:prstGeom prst="rect">
            <a:avLst/>
          </a:prstGeom>
          <a:noFill/>
        </p:spPr>
        <p:txBody>
          <a:bodyPr wrap="square" anchor="t" lIns="0" rIns="0" tIns="0" bIns="0">
            <a:spAutoFit/>
          </a:bodyPr>
          <a:lstStyle/>
          <a:p>
            <a:pPr algn="l">
              <a:lnSpc>
                <a:spcPct val="106000"/>
              </a:lnSpc>
            </a:pPr>
            <a:r>
              <a:rPr sz="1250" b="0" i="0">
                <a:solidFill>
                  <a:srgbClr val="374558"/>
                </a:solidFill>
                <a:latin typeface="Segoe UI"/>
              </a:rPr>
              <a:t>It reads the </a:t>
            </a:r>
            <a:r>
              <a:rPr sz="1250" b="1" i="0">
                <a:solidFill>
                  <a:srgbClr val="16273C"/>
                </a:solidFill>
                <a:latin typeface="Segoe UI"/>
              </a:rPr>
              <a:t>actual geometry</a:t>
            </a:r>
            <a:r>
              <a:rPr sz="1250" b="0" i="0">
                <a:solidFill>
                  <a:srgbClr val="374558"/>
                </a:solidFill>
                <a:latin typeface="Segoe UI"/>
              </a:rPr>
              <a:t> — removal volume, surface area, holes, wall thickness, press tonnage — so it tells a slow, dear titanium billet apart from a cheap aluminium one, and a deep-drawn panel apart from a flat bracket. Live for machining and stamping today.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CAPABILITY 3B — NEW</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Electronics: PCB Cost Intelligence</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09</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17320"/>
            <a:ext cx="11064240" cy="457200"/>
          </a:xfrm>
          <a:prstGeom prst="rect">
            <a:avLst/>
          </a:prstGeom>
          <a:noFill/>
        </p:spPr>
        <p:txBody>
          <a:bodyPr wrap="square" anchor="t" lIns="0" rIns="0" tIns="0" bIns="0">
            <a:spAutoFit/>
          </a:bodyPr>
          <a:lstStyle/>
          <a:p>
            <a:pPr algn="l">
              <a:lnSpc>
                <a:spcPct val="100000"/>
              </a:lnSpc>
            </a:pPr>
            <a:r>
              <a:rPr sz="1450" b="1" i="0">
                <a:solidFill>
                  <a:srgbClr val="0D9488"/>
                </a:solidFill>
                <a:latin typeface="Segoe UI Semibold"/>
              </a:rPr>
              <a:t>Photograph a circuit board — get a multi-country should-cost with live component prices and a full cost breakdown.</a:t>
            </a:r>
          </a:p>
        </p:txBody>
      </p:sp>
      <p:sp>
        <p:nvSpPr>
          <p:cNvPr id="12" name="Rounded Rectangle 11"/>
          <p:cNvSpPr/>
          <p:nvPr/>
        </p:nvSpPr>
        <p:spPr>
          <a:xfrm>
            <a:off x="548640" y="2011680"/>
            <a:ext cx="420624" cy="42062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420624" cy="42062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4" name="TextBox 13"/>
          <p:cNvSpPr txBox="1"/>
          <p:nvPr/>
        </p:nvSpPr>
        <p:spPr>
          <a:xfrm>
            <a:off x="1143000" y="1975104"/>
            <a:ext cx="5120640" cy="36576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Capture</a:t>
            </a:r>
          </a:p>
        </p:txBody>
      </p:sp>
      <p:sp>
        <p:nvSpPr>
          <p:cNvPr id="15" name="TextBox 14"/>
          <p:cNvSpPr txBox="1"/>
          <p:nvPr/>
        </p:nvSpPr>
        <p:spPr>
          <a:xfrm>
            <a:off x="1143000" y="2313432"/>
            <a:ext cx="5166360" cy="685800"/>
          </a:xfrm>
          <a:prstGeom prst="rect">
            <a:avLst/>
          </a:prstGeom>
          <a:noFill/>
        </p:spPr>
        <p:txBody>
          <a:bodyPr wrap="square" anchor="t" lIns="0" rIns="0" tIns="0" bIns="0">
            <a:spAutoFit/>
          </a:bodyPr>
          <a:lstStyle/>
          <a:p>
            <a:pPr algn="l">
              <a:lnSpc>
                <a:spcPct val="103000"/>
              </a:lnSpc>
            </a:pPr>
            <a:r>
              <a:rPr sz="1100" b="0" i="0">
                <a:solidFill>
                  <a:srgbClr val="556477"/>
                </a:solidFill>
                <a:latin typeface="Segoe UI"/>
              </a:rPr>
              <a:t>Up to 5 HD photos, or import the BOM from Excel / PDF</a:t>
            </a:r>
          </a:p>
        </p:txBody>
      </p:sp>
      <p:sp>
        <p:nvSpPr>
          <p:cNvPr id="16" name="Rounded Rectangle 15"/>
          <p:cNvSpPr/>
          <p:nvPr/>
        </p:nvSpPr>
        <p:spPr>
          <a:xfrm>
            <a:off x="548640" y="2999232"/>
            <a:ext cx="420624" cy="42062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999232"/>
            <a:ext cx="420624" cy="42062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8" name="TextBox 17"/>
          <p:cNvSpPr txBox="1"/>
          <p:nvPr/>
        </p:nvSpPr>
        <p:spPr>
          <a:xfrm>
            <a:off x="1143000" y="2962656"/>
            <a:ext cx="5120640" cy="36576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Read</a:t>
            </a:r>
          </a:p>
        </p:txBody>
      </p:sp>
      <p:sp>
        <p:nvSpPr>
          <p:cNvPr id="19" name="TextBox 18"/>
          <p:cNvSpPr txBox="1"/>
          <p:nvPr/>
        </p:nvSpPr>
        <p:spPr>
          <a:xfrm>
            <a:off x="1143000" y="3300984"/>
            <a:ext cx="5166360" cy="685800"/>
          </a:xfrm>
          <a:prstGeom prst="rect">
            <a:avLst/>
          </a:prstGeom>
          <a:noFill/>
        </p:spPr>
        <p:txBody>
          <a:bodyPr wrap="square" anchor="t" lIns="0" rIns="0" tIns="0" bIns="0">
            <a:spAutoFit/>
          </a:bodyPr>
          <a:lstStyle/>
          <a:p>
            <a:pPr algn="l">
              <a:lnSpc>
                <a:spcPct val="103000"/>
              </a:lnSpc>
            </a:pPr>
            <a:r>
              <a:rPr sz="1100" b="0" i="0">
                <a:solidFill>
                  <a:srgbClr val="556477"/>
                </a:solidFill>
                <a:latin typeface="Segoe UI"/>
              </a:rPr>
              <a:t>AI vision identifies components, markings and package types</a:t>
            </a:r>
          </a:p>
        </p:txBody>
      </p:sp>
      <p:sp>
        <p:nvSpPr>
          <p:cNvPr id="20" name="Rounded Rectangle 19"/>
          <p:cNvSpPr/>
          <p:nvPr/>
        </p:nvSpPr>
        <p:spPr>
          <a:xfrm>
            <a:off x="548640" y="3986784"/>
            <a:ext cx="420624" cy="42062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986784"/>
            <a:ext cx="420624" cy="42062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2" name="TextBox 21"/>
          <p:cNvSpPr txBox="1"/>
          <p:nvPr/>
        </p:nvSpPr>
        <p:spPr>
          <a:xfrm>
            <a:off x="1143000" y="3950208"/>
            <a:ext cx="5120640" cy="36576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Price</a:t>
            </a:r>
          </a:p>
        </p:txBody>
      </p:sp>
      <p:sp>
        <p:nvSpPr>
          <p:cNvPr id="23" name="TextBox 22"/>
          <p:cNvSpPr txBox="1"/>
          <p:nvPr/>
        </p:nvSpPr>
        <p:spPr>
          <a:xfrm>
            <a:off x="1143000" y="4288536"/>
            <a:ext cx="5166360" cy="685800"/>
          </a:xfrm>
          <a:prstGeom prst="rect">
            <a:avLst/>
          </a:prstGeom>
          <a:noFill/>
        </p:spPr>
        <p:txBody>
          <a:bodyPr wrap="square" anchor="t" lIns="0" rIns="0" tIns="0" bIns="0">
            <a:spAutoFit/>
          </a:bodyPr>
          <a:lstStyle/>
          <a:p>
            <a:pPr algn="l">
              <a:lnSpc>
                <a:spcPct val="103000"/>
              </a:lnSpc>
            </a:pPr>
            <a:r>
              <a:rPr sz="1100" b="0" i="0">
                <a:solidFill>
                  <a:srgbClr val="556477"/>
                </a:solidFill>
                <a:latin typeface="Segoe UI"/>
              </a:rPr>
              <a:t>Live DigiKey / Octopart part prices where available — tagged LIVE vs AI-estimated</a:t>
            </a:r>
          </a:p>
        </p:txBody>
      </p:sp>
      <p:sp>
        <p:nvSpPr>
          <p:cNvPr id="24" name="Rounded Rectangle 23"/>
          <p:cNvSpPr/>
          <p:nvPr/>
        </p:nvSpPr>
        <p:spPr>
          <a:xfrm>
            <a:off x="548640" y="4974336"/>
            <a:ext cx="420624" cy="42062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974336"/>
            <a:ext cx="420624" cy="42062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6" name="TextBox 25"/>
          <p:cNvSpPr txBox="1"/>
          <p:nvPr/>
        </p:nvSpPr>
        <p:spPr>
          <a:xfrm>
            <a:off x="1143000" y="4937760"/>
            <a:ext cx="5120640" cy="36576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Cost</a:t>
            </a:r>
          </a:p>
        </p:txBody>
      </p:sp>
      <p:sp>
        <p:nvSpPr>
          <p:cNvPr id="27" name="TextBox 26"/>
          <p:cNvSpPr txBox="1"/>
          <p:nvPr/>
        </p:nvSpPr>
        <p:spPr>
          <a:xfrm>
            <a:off x="1143000" y="5276088"/>
            <a:ext cx="5166360" cy="685800"/>
          </a:xfrm>
          <a:prstGeom prst="rect">
            <a:avLst/>
          </a:prstGeom>
          <a:noFill/>
        </p:spPr>
        <p:txBody>
          <a:bodyPr wrap="square" anchor="t" lIns="0" rIns="0" tIns="0" bIns="0">
            <a:spAutoFit/>
          </a:bodyPr>
          <a:lstStyle/>
          <a:p>
            <a:pPr algn="l">
              <a:lnSpc>
                <a:spcPct val="103000"/>
              </a:lnSpc>
            </a:pPr>
            <a:r>
              <a:rPr sz="1100" b="0" i="0">
                <a:solidFill>
                  <a:srgbClr val="556477"/>
                </a:solidFill>
                <a:latin typeface="Segoe UI"/>
              </a:rPr>
              <a:t>Assembly, test, fabrication and overheads modelled across 12 manufacturing countries</a:t>
            </a:r>
          </a:p>
        </p:txBody>
      </p:sp>
      <p:sp>
        <p:nvSpPr>
          <p:cNvPr id="28" name="Rounded Rectangle 27"/>
          <p:cNvSpPr/>
          <p:nvPr/>
        </p:nvSpPr>
        <p:spPr>
          <a:xfrm>
            <a:off x="6492240" y="1783080"/>
            <a:ext cx="5120640" cy="42062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0" y="1965960"/>
            <a:ext cx="4572000" cy="365760"/>
          </a:xfrm>
          <a:prstGeom prst="rect">
            <a:avLst/>
          </a:prstGeom>
          <a:noFill/>
        </p:spPr>
        <p:txBody>
          <a:bodyPr wrap="square" anchor="t" lIns="0" rIns="0" tIns="0" bIns="0">
            <a:spAutoFit/>
          </a:bodyPr>
          <a:lstStyle/>
          <a:p>
            <a:pPr algn="l">
              <a:lnSpc>
                <a:spcPct val="100000"/>
              </a:lnSpc>
            </a:pPr>
            <a:r>
              <a:rPr sz="1100" b="1" i="0">
                <a:solidFill>
                  <a:srgbClr val="8390A1"/>
                </a:solidFill>
                <a:latin typeface="Segoe UI Semibold"/>
              </a:rPr>
              <a:t>WHAT YOU GET</a:t>
            </a:r>
          </a:p>
        </p:txBody>
      </p:sp>
      <p:sp>
        <p:nvSpPr>
          <p:cNvPr id="30" name="Rounded Rectangle 29"/>
          <p:cNvSpPr/>
          <p:nvPr/>
        </p:nvSpPr>
        <p:spPr>
          <a:xfrm>
            <a:off x="6766560" y="2377440"/>
            <a:ext cx="329184" cy="32918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2377440"/>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2" name="TextBox 31"/>
          <p:cNvSpPr txBox="1"/>
          <p:nvPr/>
        </p:nvSpPr>
        <p:spPr>
          <a:xfrm>
            <a:off x="7269480" y="2331720"/>
            <a:ext cx="420624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China vs India vs Vietnam + 9 more</a:t>
            </a:r>
          </a:p>
        </p:txBody>
      </p:sp>
      <p:sp>
        <p:nvSpPr>
          <p:cNvPr id="33" name="TextBox 32"/>
          <p:cNvSpPr txBox="1"/>
          <p:nvPr/>
        </p:nvSpPr>
        <p:spPr>
          <a:xfrm>
            <a:off x="7269480" y="2651760"/>
            <a:ext cx="420624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side-by-side landed cost per country</a:t>
            </a:r>
          </a:p>
        </p:txBody>
      </p:sp>
      <p:sp>
        <p:nvSpPr>
          <p:cNvPr id="34" name="Rounded Rectangle 33"/>
          <p:cNvSpPr/>
          <p:nvPr/>
        </p:nvSpPr>
        <p:spPr>
          <a:xfrm>
            <a:off x="6766560" y="3273552"/>
            <a:ext cx="329184" cy="329184"/>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0" y="3273552"/>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6" name="TextBox 35"/>
          <p:cNvSpPr txBox="1"/>
          <p:nvPr/>
        </p:nvSpPr>
        <p:spPr>
          <a:xfrm>
            <a:off x="7269480" y="3227832"/>
            <a:ext cx="420624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P10 / P50 / P90 + tornado chart</a:t>
            </a:r>
          </a:p>
        </p:txBody>
      </p:sp>
      <p:sp>
        <p:nvSpPr>
          <p:cNvPr id="37" name="TextBox 36"/>
          <p:cNvSpPr txBox="1"/>
          <p:nvPr/>
        </p:nvSpPr>
        <p:spPr>
          <a:xfrm>
            <a:off x="7269480" y="3547872"/>
            <a:ext cx="420624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which drivers move the price most</a:t>
            </a:r>
          </a:p>
        </p:txBody>
      </p:sp>
      <p:sp>
        <p:nvSpPr>
          <p:cNvPr id="38" name="Rounded Rectangle 37"/>
          <p:cNvSpPr/>
          <p:nvPr/>
        </p:nvSpPr>
        <p:spPr>
          <a:xfrm>
            <a:off x="6766560" y="4169664"/>
            <a:ext cx="329184" cy="32918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0" y="4169664"/>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0" name="TextBox 39"/>
          <p:cNvSpPr txBox="1"/>
          <p:nvPr/>
        </p:nvSpPr>
        <p:spPr>
          <a:xfrm>
            <a:off x="7269480" y="4123944"/>
            <a:ext cx="420624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Industry-standard cost breakdown</a:t>
            </a:r>
          </a:p>
        </p:txBody>
      </p:sp>
      <p:sp>
        <p:nvSpPr>
          <p:cNvPr id="41" name="TextBox 40"/>
          <p:cNvSpPr txBox="1"/>
          <p:nvPr/>
        </p:nvSpPr>
        <p:spPr>
          <a:xfrm>
            <a:off x="7269480" y="4443984"/>
            <a:ext cx="420624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open-book waterfall: material → conversion → NRE → overheads → landed</a:t>
            </a:r>
          </a:p>
        </p:txBody>
      </p:sp>
      <p:sp>
        <p:nvSpPr>
          <p:cNvPr id="42" name="Rounded Rectangle 41"/>
          <p:cNvSpPr/>
          <p:nvPr/>
        </p:nvSpPr>
        <p:spPr>
          <a:xfrm>
            <a:off x="6766560" y="5065776"/>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66560" y="5065776"/>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4" name="TextBox 43"/>
          <p:cNvSpPr txBox="1"/>
          <p:nvPr/>
        </p:nvSpPr>
        <p:spPr>
          <a:xfrm>
            <a:off x="7269480" y="5020056"/>
            <a:ext cx="420624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Engine-verified insights</a:t>
            </a:r>
          </a:p>
        </p:txBody>
      </p:sp>
      <p:sp>
        <p:nvSpPr>
          <p:cNvPr id="45" name="TextBox 44"/>
          <p:cNvSpPr txBox="1"/>
          <p:nvPr/>
        </p:nvSpPr>
        <p:spPr>
          <a:xfrm>
            <a:off x="7269480" y="5340096"/>
            <a:ext cx="420624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DFM, sourcing and optimisation ideas — each re-costed before it's shown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PROOF POINT</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Feature-Based Accuracy vs a Mass Estimate</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10</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63040"/>
            <a:ext cx="10972800" cy="457200"/>
          </a:xfrm>
          <a:prstGeom prst="rect">
            <a:avLst/>
          </a:prstGeom>
          <a:noFill/>
        </p:spPr>
        <p:txBody>
          <a:bodyPr wrap="square" anchor="t" lIns="0" rIns="0" tIns="0" bIns="0">
            <a:spAutoFit/>
          </a:bodyPr>
          <a:lstStyle/>
          <a:p>
            <a:pPr algn="l">
              <a:lnSpc>
                <a:spcPct val="100000"/>
              </a:lnSpc>
            </a:pPr>
            <a:r>
              <a:rPr sz="1350" b="0" i="0">
                <a:solidFill>
                  <a:srgbClr val="556477"/>
                </a:solidFill>
                <a:latin typeface="Segoe UI"/>
              </a:rPr>
              <a:t>Held-out benchmark — average error vs reference prices (lower is better). Same parts, two methods.</a:t>
            </a:r>
          </a:p>
        </p:txBody>
      </p:sp>
      <p:sp>
        <p:nvSpPr>
          <p:cNvPr id="12" name="Rectangle 11"/>
          <p:cNvSpPr/>
          <p:nvPr/>
        </p:nvSpPr>
        <p:spPr>
          <a:xfrm>
            <a:off x="1417320" y="5532120"/>
            <a:ext cx="5806440" cy="9525"/>
          </a:xfrm>
          <a:prstGeom prst="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5422392"/>
            <a:ext cx="457200" cy="228600"/>
          </a:xfrm>
          <a:prstGeom prst="rect">
            <a:avLst/>
          </a:prstGeom>
          <a:noFill/>
        </p:spPr>
        <p:txBody>
          <a:bodyPr wrap="square" anchor="t" lIns="0" rIns="0" tIns="0" bIns="0">
            <a:spAutoFit/>
          </a:bodyPr>
          <a:lstStyle/>
          <a:p>
            <a:pPr algn="r">
              <a:lnSpc>
                <a:spcPct val="100000"/>
              </a:lnSpc>
            </a:pPr>
            <a:r>
              <a:rPr sz="1000" b="0" i="0">
                <a:solidFill>
                  <a:srgbClr val="556477"/>
                </a:solidFill>
                <a:latin typeface="Segoe UI"/>
              </a:rPr>
              <a:t>0</a:t>
            </a:r>
          </a:p>
        </p:txBody>
      </p:sp>
      <p:sp>
        <p:nvSpPr>
          <p:cNvPr id="14" name="Rectangle 13"/>
          <p:cNvSpPr/>
          <p:nvPr/>
        </p:nvSpPr>
        <p:spPr>
          <a:xfrm>
            <a:off x="1417320" y="4754880"/>
            <a:ext cx="5806440" cy="9525"/>
          </a:xfrm>
          <a:prstGeom prst="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4645152"/>
            <a:ext cx="457200" cy="228600"/>
          </a:xfrm>
          <a:prstGeom prst="rect">
            <a:avLst/>
          </a:prstGeom>
          <a:noFill/>
        </p:spPr>
        <p:txBody>
          <a:bodyPr wrap="square" anchor="t" lIns="0" rIns="0" tIns="0" bIns="0">
            <a:spAutoFit/>
          </a:bodyPr>
          <a:lstStyle/>
          <a:p>
            <a:pPr algn="r">
              <a:lnSpc>
                <a:spcPct val="100000"/>
              </a:lnSpc>
            </a:pPr>
            <a:r>
              <a:rPr sz="1000" b="0" i="0">
                <a:solidFill>
                  <a:srgbClr val="556477"/>
                </a:solidFill>
                <a:latin typeface="Segoe UI"/>
              </a:rPr>
              <a:t>20</a:t>
            </a:r>
          </a:p>
        </p:txBody>
      </p:sp>
      <p:sp>
        <p:nvSpPr>
          <p:cNvPr id="16" name="Rectangle 15"/>
          <p:cNvSpPr/>
          <p:nvPr/>
        </p:nvSpPr>
        <p:spPr>
          <a:xfrm>
            <a:off x="1417320" y="3977640"/>
            <a:ext cx="5806440" cy="9525"/>
          </a:xfrm>
          <a:prstGeom prst="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867912"/>
            <a:ext cx="457200" cy="228600"/>
          </a:xfrm>
          <a:prstGeom prst="rect">
            <a:avLst/>
          </a:prstGeom>
          <a:noFill/>
        </p:spPr>
        <p:txBody>
          <a:bodyPr wrap="square" anchor="t" lIns="0" rIns="0" tIns="0" bIns="0">
            <a:spAutoFit/>
          </a:bodyPr>
          <a:lstStyle/>
          <a:p>
            <a:pPr algn="r">
              <a:lnSpc>
                <a:spcPct val="100000"/>
              </a:lnSpc>
            </a:pPr>
            <a:r>
              <a:rPr sz="1000" b="0" i="0">
                <a:solidFill>
                  <a:srgbClr val="556477"/>
                </a:solidFill>
                <a:latin typeface="Segoe UI"/>
              </a:rPr>
              <a:t>40</a:t>
            </a:r>
          </a:p>
        </p:txBody>
      </p:sp>
      <p:sp>
        <p:nvSpPr>
          <p:cNvPr id="18" name="Rectangle 17"/>
          <p:cNvSpPr/>
          <p:nvPr/>
        </p:nvSpPr>
        <p:spPr>
          <a:xfrm>
            <a:off x="1417320" y="3200400"/>
            <a:ext cx="5806440" cy="9525"/>
          </a:xfrm>
          <a:prstGeom prst="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3090672"/>
            <a:ext cx="457200" cy="228600"/>
          </a:xfrm>
          <a:prstGeom prst="rect">
            <a:avLst/>
          </a:prstGeom>
          <a:noFill/>
        </p:spPr>
        <p:txBody>
          <a:bodyPr wrap="square" anchor="t" lIns="0" rIns="0" tIns="0" bIns="0">
            <a:spAutoFit/>
          </a:bodyPr>
          <a:lstStyle/>
          <a:p>
            <a:pPr algn="r">
              <a:lnSpc>
                <a:spcPct val="100000"/>
              </a:lnSpc>
            </a:pPr>
            <a:r>
              <a:rPr sz="1000" b="0" i="0">
                <a:solidFill>
                  <a:srgbClr val="556477"/>
                </a:solidFill>
                <a:latin typeface="Segoe UI"/>
              </a:rPr>
              <a:t>60</a:t>
            </a:r>
          </a:p>
        </p:txBody>
      </p:sp>
      <p:sp>
        <p:nvSpPr>
          <p:cNvPr id="20" name="Rectangle 19"/>
          <p:cNvSpPr/>
          <p:nvPr/>
        </p:nvSpPr>
        <p:spPr>
          <a:xfrm>
            <a:off x="1417320" y="2423160"/>
            <a:ext cx="5806440" cy="9525"/>
          </a:xfrm>
          <a:prstGeom prst="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 y="2313432"/>
            <a:ext cx="457200" cy="228600"/>
          </a:xfrm>
          <a:prstGeom prst="rect">
            <a:avLst/>
          </a:prstGeom>
          <a:noFill/>
        </p:spPr>
        <p:txBody>
          <a:bodyPr wrap="square" anchor="t" lIns="0" rIns="0" tIns="0" bIns="0">
            <a:spAutoFit/>
          </a:bodyPr>
          <a:lstStyle/>
          <a:p>
            <a:pPr algn="r">
              <a:lnSpc>
                <a:spcPct val="100000"/>
              </a:lnSpc>
            </a:pPr>
            <a:r>
              <a:rPr sz="1000" b="0" i="0">
                <a:solidFill>
                  <a:srgbClr val="556477"/>
                </a:solidFill>
                <a:latin typeface="Segoe UI"/>
              </a:rPr>
              <a:t>80</a:t>
            </a:r>
          </a:p>
        </p:txBody>
      </p:sp>
      <p:sp>
        <p:nvSpPr>
          <p:cNvPr id="22" name="Rounded Rectangle 21"/>
          <p:cNvSpPr/>
          <p:nvPr/>
        </p:nvSpPr>
        <p:spPr>
          <a:xfrm>
            <a:off x="1965960" y="3833851"/>
            <a:ext cx="822960" cy="1698269"/>
          </a:xfrm>
          <a:prstGeom prst="roundRect">
            <a:avLst/>
          </a:prstGeom>
          <a:solidFill>
            <a:srgbClr val="839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28800" y="3504667"/>
            <a:ext cx="1097280" cy="274320"/>
          </a:xfrm>
          <a:prstGeom prst="rect">
            <a:avLst/>
          </a:prstGeom>
          <a:noFill/>
        </p:spPr>
        <p:txBody>
          <a:bodyPr wrap="square" anchor="t" lIns="0" rIns="0" tIns="0" bIns="0">
            <a:spAutoFit/>
          </a:bodyPr>
          <a:lstStyle/>
          <a:p>
            <a:pPr algn="ctr">
              <a:lnSpc>
                <a:spcPct val="100000"/>
              </a:lnSpc>
            </a:pPr>
            <a:r>
              <a:rPr sz="1200" b="1" i="0">
                <a:solidFill>
                  <a:srgbClr val="16273C"/>
                </a:solidFill>
                <a:latin typeface="Segoe UI Semibold"/>
              </a:rPr>
              <a:t>43.7%</a:t>
            </a:r>
          </a:p>
        </p:txBody>
      </p:sp>
      <p:sp>
        <p:nvSpPr>
          <p:cNvPr id="24" name="Rounded Rectangle 23"/>
          <p:cNvSpPr/>
          <p:nvPr/>
        </p:nvSpPr>
        <p:spPr>
          <a:xfrm>
            <a:off x="2926080" y="4191381"/>
            <a:ext cx="822960" cy="1340739"/>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88920" y="3862197"/>
            <a:ext cx="1097280" cy="274320"/>
          </a:xfrm>
          <a:prstGeom prst="rect">
            <a:avLst/>
          </a:prstGeom>
          <a:noFill/>
        </p:spPr>
        <p:txBody>
          <a:bodyPr wrap="square" anchor="t" lIns="0" rIns="0" tIns="0" bIns="0">
            <a:spAutoFit/>
          </a:bodyPr>
          <a:lstStyle/>
          <a:p>
            <a:pPr algn="ctr">
              <a:lnSpc>
                <a:spcPct val="100000"/>
              </a:lnSpc>
            </a:pPr>
            <a:r>
              <a:rPr sz="1200" b="1" i="0">
                <a:solidFill>
                  <a:srgbClr val="16273C"/>
                </a:solidFill>
                <a:latin typeface="Segoe UI Semibold"/>
              </a:rPr>
              <a:t>34.5%</a:t>
            </a:r>
          </a:p>
        </p:txBody>
      </p:sp>
      <p:sp>
        <p:nvSpPr>
          <p:cNvPr id="26" name="Rounded Rectangle 25"/>
          <p:cNvSpPr/>
          <p:nvPr/>
        </p:nvSpPr>
        <p:spPr>
          <a:xfrm>
            <a:off x="4572000" y="2625243"/>
            <a:ext cx="822960" cy="2906877"/>
          </a:xfrm>
          <a:prstGeom prst="roundRect">
            <a:avLst/>
          </a:prstGeom>
          <a:solidFill>
            <a:srgbClr val="839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2296059"/>
            <a:ext cx="1097280" cy="274320"/>
          </a:xfrm>
          <a:prstGeom prst="rect">
            <a:avLst/>
          </a:prstGeom>
          <a:noFill/>
        </p:spPr>
        <p:txBody>
          <a:bodyPr wrap="square" anchor="t" lIns="0" rIns="0" tIns="0" bIns="0">
            <a:spAutoFit/>
          </a:bodyPr>
          <a:lstStyle/>
          <a:p>
            <a:pPr algn="ctr">
              <a:lnSpc>
                <a:spcPct val="100000"/>
              </a:lnSpc>
            </a:pPr>
            <a:r>
              <a:rPr sz="1200" b="1" i="0">
                <a:solidFill>
                  <a:srgbClr val="16273C"/>
                </a:solidFill>
                <a:latin typeface="Segoe UI Semibold"/>
              </a:rPr>
              <a:t>74.8%</a:t>
            </a:r>
          </a:p>
        </p:txBody>
      </p:sp>
      <p:sp>
        <p:nvSpPr>
          <p:cNvPr id="28" name="Rounded Rectangle 27"/>
          <p:cNvSpPr/>
          <p:nvPr/>
        </p:nvSpPr>
        <p:spPr>
          <a:xfrm>
            <a:off x="5532120" y="4020389"/>
            <a:ext cx="822960" cy="1511731"/>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94960" y="3691205"/>
            <a:ext cx="1097280" cy="274320"/>
          </a:xfrm>
          <a:prstGeom prst="rect">
            <a:avLst/>
          </a:prstGeom>
          <a:noFill/>
        </p:spPr>
        <p:txBody>
          <a:bodyPr wrap="square" anchor="t" lIns="0" rIns="0" tIns="0" bIns="0">
            <a:spAutoFit/>
          </a:bodyPr>
          <a:lstStyle/>
          <a:p>
            <a:pPr algn="ctr">
              <a:lnSpc>
                <a:spcPct val="100000"/>
              </a:lnSpc>
            </a:pPr>
            <a:r>
              <a:rPr sz="1200" b="1" i="0">
                <a:solidFill>
                  <a:srgbClr val="16273C"/>
                </a:solidFill>
                <a:latin typeface="Segoe UI Semibold"/>
              </a:rPr>
              <a:t>38.9%</a:t>
            </a:r>
          </a:p>
        </p:txBody>
      </p:sp>
      <p:sp>
        <p:nvSpPr>
          <p:cNvPr id="30" name="TextBox 29"/>
          <p:cNvSpPr txBox="1"/>
          <p:nvPr/>
        </p:nvSpPr>
        <p:spPr>
          <a:xfrm>
            <a:off x="1737360" y="5641848"/>
            <a:ext cx="2148840" cy="320040"/>
          </a:xfrm>
          <a:prstGeom prst="rect">
            <a:avLst/>
          </a:prstGeom>
          <a:noFill/>
        </p:spPr>
        <p:txBody>
          <a:bodyPr wrap="square" anchor="t" lIns="0" rIns="0" tIns="0" bIns="0">
            <a:spAutoFit/>
          </a:bodyPr>
          <a:lstStyle/>
          <a:p>
            <a:pPr algn="ctr">
              <a:lnSpc>
                <a:spcPct val="100000"/>
              </a:lnSpc>
            </a:pPr>
            <a:r>
              <a:rPr sz="1250" b="1" i="0">
                <a:solidFill>
                  <a:srgbClr val="374558"/>
                </a:solidFill>
                <a:latin typeface="Segoe UI Semibold"/>
              </a:rPr>
              <a:t>Machining parts</a:t>
            </a:r>
          </a:p>
        </p:txBody>
      </p:sp>
      <p:sp>
        <p:nvSpPr>
          <p:cNvPr id="31" name="TextBox 30"/>
          <p:cNvSpPr txBox="1"/>
          <p:nvPr/>
        </p:nvSpPr>
        <p:spPr>
          <a:xfrm>
            <a:off x="4343400" y="5641848"/>
            <a:ext cx="2148840" cy="320040"/>
          </a:xfrm>
          <a:prstGeom prst="rect">
            <a:avLst/>
          </a:prstGeom>
          <a:noFill/>
        </p:spPr>
        <p:txBody>
          <a:bodyPr wrap="square" anchor="t" lIns="0" rIns="0" tIns="0" bIns="0">
            <a:spAutoFit/>
          </a:bodyPr>
          <a:lstStyle/>
          <a:p>
            <a:pPr algn="ctr">
              <a:lnSpc>
                <a:spcPct val="100000"/>
              </a:lnSpc>
            </a:pPr>
            <a:r>
              <a:rPr sz="1250" b="1" i="0">
                <a:solidFill>
                  <a:srgbClr val="374558"/>
                </a:solidFill>
                <a:latin typeface="Segoe UI Semibold"/>
              </a:rPr>
              <a:t>Stamping parts</a:t>
            </a:r>
          </a:p>
        </p:txBody>
      </p:sp>
      <p:sp>
        <p:nvSpPr>
          <p:cNvPr id="32" name="TextBox 31"/>
          <p:cNvSpPr txBox="1"/>
          <p:nvPr/>
        </p:nvSpPr>
        <p:spPr>
          <a:xfrm>
            <a:off x="850392" y="2039112"/>
            <a:ext cx="5943600" cy="274320"/>
          </a:xfrm>
          <a:prstGeom prst="rect">
            <a:avLst/>
          </a:prstGeom>
          <a:noFill/>
        </p:spPr>
        <p:txBody>
          <a:bodyPr wrap="square" anchor="t" lIns="0" rIns="0" tIns="0" bIns="0">
            <a:spAutoFit/>
          </a:bodyPr>
          <a:lstStyle/>
          <a:p>
            <a:pPr algn="l">
              <a:lnSpc>
                <a:spcPct val="100000"/>
              </a:lnSpc>
            </a:pPr>
            <a:r>
              <a:rPr sz="1200" b="0" i="0">
                <a:solidFill>
                  <a:srgbClr val="556477"/>
                </a:solidFill>
                <a:latin typeface="Segoe UI"/>
              </a:rPr>
              <a:t>Mean Absolute % Error</a:t>
            </a:r>
          </a:p>
        </p:txBody>
      </p:sp>
      <p:sp>
        <p:nvSpPr>
          <p:cNvPr id="33" name="Rectangle 32"/>
          <p:cNvSpPr/>
          <p:nvPr/>
        </p:nvSpPr>
        <p:spPr>
          <a:xfrm>
            <a:off x="1783080" y="6053328"/>
            <a:ext cx="256032" cy="182880"/>
          </a:xfrm>
          <a:prstGeom prst="rect">
            <a:avLst/>
          </a:prstGeom>
          <a:solidFill>
            <a:srgbClr val="8390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21408" y="6007608"/>
            <a:ext cx="1920240" cy="274320"/>
          </a:xfrm>
          <a:prstGeom prst="rect">
            <a:avLst/>
          </a:prstGeom>
          <a:noFill/>
        </p:spPr>
        <p:txBody>
          <a:bodyPr wrap="square" anchor="t" lIns="0" rIns="0" tIns="0" bIns="0">
            <a:spAutoFit/>
          </a:bodyPr>
          <a:lstStyle/>
          <a:p>
            <a:pPr algn="l">
              <a:lnSpc>
                <a:spcPct val="100000"/>
              </a:lnSpc>
            </a:pPr>
            <a:r>
              <a:rPr sz="1100" b="0" i="0">
                <a:solidFill>
                  <a:srgbClr val="556477"/>
                </a:solidFill>
                <a:latin typeface="Segoe UI"/>
              </a:rPr>
              <a:t>Mass estimate (old)</a:t>
            </a:r>
          </a:p>
        </p:txBody>
      </p:sp>
      <p:sp>
        <p:nvSpPr>
          <p:cNvPr id="35" name="Rectangle 34"/>
          <p:cNvSpPr/>
          <p:nvPr/>
        </p:nvSpPr>
        <p:spPr>
          <a:xfrm>
            <a:off x="4160520" y="6053328"/>
            <a:ext cx="256032" cy="1828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6007608"/>
            <a:ext cx="2743200" cy="274320"/>
          </a:xfrm>
          <a:prstGeom prst="rect">
            <a:avLst/>
          </a:prstGeom>
          <a:noFill/>
        </p:spPr>
        <p:txBody>
          <a:bodyPr wrap="square" anchor="t" lIns="0" rIns="0" tIns="0" bIns="0">
            <a:spAutoFit/>
          </a:bodyPr>
          <a:lstStyle/>
          <a:p>
            <a:pPr algn="l">
              <a:lnSpc>
                <a:spcPct val="100000"/>
              </a:lnSpc>
            </a:pPr>
            <a:r>
              <a:rPr sz="1100" b="0" i="0">
                <a:solidFill>
                  <a:srgbClr val="374558"/>
                </a:solidFill>
                <a:latin typeface="Segoe UI"/>
              </a:rPr>
              <a:t>Feature-based (BrainSpark)</a:t>
            </a:r>
          </a:p>
        </p:txBody>
      </p:sp>
      <p:sp>
        <p:nvSpPr>
          <p:cNvPr id="37" name="Rounded Rectangle 36"/>
          <p:cNvSpPr/>
          <p:nvPr/>
        </p:nvSpPr>
        <p:spPr>
          <a:xfrm>
            <a:off x="7635240" y="2057400"/>
            <a:ext cx="4023360" cy="402336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09560" y="2240280"/>
            <a:ext cx="3566160" cy="365760"/>
          </a:xfrm>
          <a:prstGeom prst="rect">
            <a:avLst/>
          </a:prstGeom>
          <a:noFill/>
        </p:spPr>
        <p:txBody>
          <a:bodyPr wrap="square" anchor="t" lIns="0" rIns="0" tIns="0" bIns="0">
            <a:spAutoFit/>
          </a:bodyPr>
          <a:lstStyle/>
          <a:p>
            <a:pPr algn="l">
              <a:lnSpc>
                <a:spcPct val="100000"/>
              </a:lnSpc>
            </a:pPr>
            <a:r>
              <a:rPr sz="1200" b="1" i="0">
                <a:solidFill>
                  <a:srgbClr val="B47609"/>
                </a:solidFill>
                <a:latin typeface="Segoe UI Semibold"/>
              </a:rPr>
              <a:t>WHAT THIS SHOWS</a:t>
            </a:r>
          </a:p>
        </p:txBody>
      </p:sp>
      <p:sp>
        <p:nvSpPr>
          <p:cNvPr id="39" name="Rounded Rectangle 38"/>
          <p:cNvSpPr/>
          <p:nvPr/>
        </p:nvSpPr>
        <p:spPr>
          <a:xfrm>
            <a:off x="7909560" y="2743200"/>
            <a:ext cx="347472" cy="347472"/>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09560" y="2743200"/>
            <a:ext cx="347472" cy="347472"/>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1" name="TextBox 40"/>
          <p:cNvSpPr txBox="1"/>
          <p:nvPr/>
        </p:nvSpPr>
        <p:spPr>
          <a:xfrm>
            <a:off x="8412480" y="2724912"/>
            <a:ext cx="3063240" cy="777240"/>
          </a:xfrm>
          <a:prstGeom prst="rect">
            <a:avLst/>
          </a:prstGeom>
          <a:noFill/>
        </p:spPr>
        <p:txBody>
          <a:bodyPr wrap="square" anchor="t" lIns="0" rIns="0" tIns="0" bIns="0">
            <a:spAutoFit/>
          </a:bodyPr>
          <a:lstStyle/>
          <a:p>
            <a:pPr algn="l">
              <a:lnSpc>
                <a:spcPct val="103000"/>
              </a:lnSpc>
            </a:pPr>
            <a:r>
              <a:rPr sz="1150" b="0" i="0">
                <a:solidFill>
                  <a:srgbClr val="374558"/>
                </a:solidFill>
                <a:latin typeface="Segoe UI"/>
              </a:rPr>
              <a:t>Feature-based cuts error on both — stamping error halves (75% → 39%).</a:t>
            </a:r>
          </a:p>
        </p:txBody>
      </p:sp>
      <p:sp>
        <p:nvSpPr>
          <p:cNvPr id="42" name="Rounded Rectangle 41"/>
          <p:cNvSpPr/>
          <p:nvPr/>
        </p:nvSpPr>
        <p:spPr>
          <a:xfrm>
            <a:off x="7909560" y="3566160"/>
            <a:ext cx="347472" cy="347472"/>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09560" y="3566160"/>
            <a:ext cx="347472" cy="347472"/>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4" name="TextBox 43"/>
          <p:cNvSpPr txBox="1"/>
          <p:nvPr/>
        </p:nvSpPr>
        <p:spPr>
          <a:xfrm>
            <a:off x="8412480" y="3547872"/>
            <a:ext cx="3063240" cy="777240"/>
          </a:xfrm>
          <a:prstGeom prst="rect">
            <a:avLst/>
          </a:prstGeom>
          <a:noFill/>
        </p:spPr>
        <p:txBody>
          <a:bodyPr wrap="square" anchor="t" lIns="0" rIns="0" tIns="0" bIns="0">
            <a:spAutoFit/>
          </a:bodyPr>
          <a:lstStyle/>
          <a:p>
            <a:pPr algn="l">
              <a:lnSpc>
                <a:spcPct val="103000"/>
              </a:lnSpc>
            </a:pPr>
            <a:r>
              <a:rPr sz="1150" b="0" i="0">
                <a:solidFill>
                  <a:srgbClr val="374558"/>
                </a:solidFill>
                <a:latin typeface="Segoe UI"/>
              </a:rPr>
              <a:t>Core should-cost engine: 100% hit-rate, 8.3% MAPE on 16 held-out parts (CI-gated).</a:t>
            </a:r>
          </a:p>
        </p:txBody>
      </p:sp>
      <p:sp>
        <p:nvSpPr>
          <p:cNvPr id="45" name="Rounded Rectangle 44"/>
          <p:cNvSpPr/>
          <p:nvPr/>
        </p:nvSpPr>
        <p:spPr>
          <a:xfrm>
            <a:off x="7909560" y="4389120"/>
            <a:ext cx="347472" cy="347472"/>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09560" y="4389120"/>
            <a:ext cx="347472" cy="347472"/>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7" name="TextBox 46"/>
          <p:cNvSpPr txBox="1"/>
          <p:nvPr/>
        </p:nvSpPr>
        <p:spPr>
          <a:xfrm>
            <a:off x="8412480" y="4370832"/>
            <a:ext cx="3063240" cy="777240"/>
          </a:xfrm>
          <a:prstGeom prst="rect">
            <a:avLst/>
          </a:prstGeom>
          <a:noFill/>
        </p:spPr>
        <p:txBody>
          <a:bodyPr wrap="square" anchor="t" lIns="0" rIns="0" tIns="0" bIns="0">
            <a:spAutoFit/>
          </a:bodyPr>
          <a:lstStyle/>
          <a:p>
            <a:pPr algn="l">
              <a:lnSpc>
                <a:spcPct val="103000"/>
              </a:lnSpc>
            </a:pPr>
            <a:r>
              <a:rPr sz="1150" b="0" i="0">
                <a:solidFill>
                  <a:srgbClr val="374558"/>
                </a:solidFill>
                <a:latin typeface="Segoe UI"/>
              </a:rPr>
              <a:t>Validated on held-out parts the model never calibrated against.</a:t>
            </a:r>
          </a:p>
        </p:txBody>
      </p:sp>
      <p:sp>
        <p:nvSpPr>
          <p:cNvPr id="48" name="Rounded Rectangle 47"/>
          <p:cNvSpPr/>
          <p:nvPr/>
        </p:nvSpPr>
        <p:spPr>
          <a:xfrm>
            <a:off x="7909560" y="5212080"/>
            <a:ext cx="347472" cy="347472"/>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909560" y="5212080"/>
            <a:ext cx="347472" cy="347472"/>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0" name="TextBox 49"/>
          <p:cNvSpPr txBox="1"/>
          <p:nvPr/>
        </p:nvSpPr>
        <p:spPr>
          <a:xfrm>
            <a:off x="8412480" y="5193792"/>
            <a:ext cx="3063240" cy="777240"/>
          </a:xfrm>
          <a:prstGeom prst="rect">
            <a:avLst/>
          </a:prstGeom>
          <a:noFill/>
        </p:spPr>
        <p:txBody>
          <a:bodyPr wrap="square" anchor="t" lIns="0" rIns="0" tIns="0" bIns="0">
            <a:spAutoFit/>
          </a:bodyPr>
          <a:lstStyle/>
          <a:p>
            <a:pPr algn="l">
              <a:lnSpc>
                <a:spcPct val="103000"/>
              </a:lnSpc>
            </a:pPr>
            <a:r>
              <a:rPr sz="1150" b="0" i="0">
                <a:solidFill>
                  <a:srgbClr val="374558"/>
                </a:solidFill>
                <a:latin typeface="Segoe UI"/>
              </a:rPr>
              <a:t>Method chosen for honesty, not to overfit the benchmark.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CAPABILITY 4</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Eleven Structured Innovation Methods — Built In</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11</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17320"/>
            <a:ext cx="10972800" cy="457200"/>
          </a:xfrm>
          <a:prstGeom prst="rect">
            <a:avLst/>
          </a:prstGeom>
          <a:noFill/>
        </p:spPr>
        <p:txBody>
          <a:bodyPr wrap="square" anchor="t" lIns="0" rIns="0" tIns="0" bIns="0">
            <a:spAutoFit/>
          </a:bodyPr>
          <a:lstStyle/>
          <a:p>
            <a:pPr algn="l">
              <a:lnSpc>
                <a:spcPct val="100000"/>
              </a:lnSpc>
            </a:pPr>
            <a:r>
              <a:rPr sz="1300" b="0" i="0">
                <a:solidFill>
                  <a:srgbClr val="556477"/>
                </a:solidFill>
                <a:latin typeface="Segoe UI"/>
              </a:rPr>
              <a:t>Real methodology as deterministic logic — not a chatbot prompt. The AI turns each method's output into concrete, engine-checked embodiments.</a:t>
            </a:r>
          </a:p>
        </p:txBody>
      </p:sp>
      <p:sp>
        <p:nvSpPr>
          <p:cNvPr id="12" name="Rounded Rectangle 11"/>
          <p:cNvSpPr/>
          <p:nvPr/>
        </p:nvSpPr>
        <p:spPr>
          <a:xfrm>
            <a:off x="548640" y="20116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2011680"/>
            <a:ext cx="3566160"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267712"/>
            <a:ext cx="3566160" cy="25603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0116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TRIZ</a:t>
            </a:r>
          </a:p>
        </p:txBody>
      </p:sp>
      <p:sp>
        <p:nvSpPr>
          <p:cNvPr id="16" name="TextBox 15"/>
          <p:cNvSpPr txBox="1"/>
          <p:nvPr/>
        </p:nvSpPr>
        <p:spPr>
          <a:xfrm>
            <a:off x="777240" y="26151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40 inventive principles + contradiction matrix</a:t>
            </a:r>
          </a:p>
        </p:txBody>
      </p:sp>
      <p:sp>
        <p:nvSpPr>
          <p:cNvPr id="17" name="Rounded Rectangle 16"/>
          <p:cNvSpPr/>
          <p:nvPr/>
        </p:nvSpPr>
        <p:spPr>
          <a:xfrm>
            <a:off x="4279392" y="20116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79392" y="2011680"/>
            <a:ext cx="3566160" cy="512064"/>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79392" y="2267712"/>
            <a:ext cx="3566160" cy="256032"/>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7992" y="20116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Value Engineering</a:t>
            </a:r>
          </a:p>
        </p:txBody>
      </p:sp>
      <p:sp>
        <p:nvSpPr>
          <p:cNvPr id="21" name="TextBox 20"/>
          <p:cNvSpPr txBox="1"/>
          <p:nvPr/>
        </p:nvSpPr>
        <p:spPr>
          <a:xfrm>
            <a:off x="4507992" y="26151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Value index = worth ÷ cost, per function</a:t>
            </a:r>
          </a:p>
        </p:txBody>
      </p:sp>
      <p:sp>
        <p:nvSpPr>
          <p:cNvPr id="22" name="Rounded Rectangle 21"/>
          <p:cNvSpPr/>
          <p:nvPr/>
        </p:nvSpPr>
        <p:spPr>
          <a:xfrm>
            <a:off x="8010144" y="20116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0144" y="2011680"/>
            <a:ext cx="3566160" cy="51206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0144" y="2267712"/>
            <a:ext cx="3566160" cy="2560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38744" y="20116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FAST Function-Cost Matrix</a:t>
            </a:r>
          </a:p>
        </p:txBody>
      </p:sp>
      <p:sp>
        <p:nvSpPr>
          <p:cNvPr id="26" name="TextBox 25"/>
          <p:cNvSpPr txBox="1"/>
          <p:nvPr/>
        </p:nvSpPr>
        <p:spPr>
          <a:xfrm>
            <a:off x="8238744" y="26151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Component cost mapped onto functions — attack poor value</a:t>
            </a:r>
          </a:p>
        </p:txBody>
      </p:sp>
      <p:sp>
        <p:nvSpPr>
          <p:cNvPr id="27" name="Rounded Rectangle 26"/>
          <p:cNvSpPr/>
          <p:nvPr/>
        </p:nvSpPr>
        <p:spPr>
          <a:xfrm>
            <a:off x="548640" y="33832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3383280"/>
            <a:ext cx="3566160"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639312"/>
            <a:ext cx="3566160" cy="2560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3832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DFA / DFMA</a:t>
            </a:r>
          </a:p>
        </p:txBody>
      </p:sp>
      <p:sp>
        <p:nvSpPr>
          <p:cNvPr id="31" name="TextBox 30"/>
          <p:cNvSpPr txBox="1"/>
          <p:nvPr/>
        </p:nvSpPr>
        <p:spPr>
          <a:xfrm>
            <a:off x="777240" y="39867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Boothroyd-Dewhurst min-parts &amp; efficiency</a:t>
            </a:r>
          </a:p>
        </p:txBody>
      </p:sp>
      <p:sp>
        <p:nvSpPr>
          <p:cNvPr id="32" name="Rounded Rectangle 31"/>
          <p:cNvSpPr/>
          <p:nvPr/>
        </p:nvSpPr>
        <p:spPr>
          <a:xfrm>
            <a:off x="4279392" y="33832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279392" y="3383280"/>
            <a:ext cx="3566160" cy="51206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79392" y="3639312"/>
            <a:ext cx="3566160" cy="25603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07992" y="33832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Design-to-Cost</a:t>
            </a:r>
          </a:p>
        </p:txBody>
      </p:sp>
      <p:sp>
        <p:nvSpPr>
          <p:cNvPr id="36" name="TextBox 35"/>
          <p:cNvSpPr txBox="1"/>
          <p:nvPr/>
        </p:nvSpPr>
        <p:spPr>
          <a:xfrm>
            <a:off x="4507992" y="39867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Allocates the cost gap across buckets</a:t>
            </a:r>
          </a:p>
        </p:txBody>
      </p:sp>
      <p:sp>
        <p:nvSpPr>
          <p:cNvPr id="37" name="Rounded Rectangle 36"/>
          <p:cNvSpPr/>
          <p:nvPr/>
        </p:nvSpPr>
        <p:spPr>
          <a:xfrm>
            <a:off x="8010144" y="33832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010144" y="3383280"/>
            <a:ext cx="3566160"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10144" y="3639312"/>
            <a:ext cx="3566160" cy="2560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38744" y="33832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Spec &amp; Tolerance Challenge</a:t>
            </a:r>
          </a:p>
        </p:txBody>
      </p:sp>
      <p:sp>
        <p:nvSpPr>
          <p:cNvPr id="41" name="TextBox 40"/>
          <p:cNvSpPr txBox="1"/>
          <p:nvPr/>
        </p:nvSpPr>
        <p:spPr>
          <a:xfrm>
            <a:off x="8238744" y="39867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Engine-costed relaxations — CTQs stay locked</a:t>
            </a:r>
          </a:p>
        </p:txBody>
      </p:sp>
      <p:sp>
        <p:nvSpPr>
          <p:cNvPr id="42" name="Rounded Rectangle 41"/>
          <p:cNvSpPr/>
          <p:nvPr/>
        </p:nvSpPr>
        <p:spPr>
          <a:xfrm>
            <a:off x="548640" y="47548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48640" y="4754880"/>
            <a:ext cx="3566160" cy="51206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5010912"/>
            <a:ext cx="3566160" cy="25603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7548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Teardown Delta</a:t>
            </a:r>
          </a:p>
        </p:txBody>
      </p:sp>
      <p:sp>
        <p:nvSpPr>
          <p:cNvPr id="46" name="TextBox 45"/>
          <p:cNvSpPr txBox="1"/>
          <p:nvPr/>
        </p:nvSpPr>
        <p:spPr>
          <a:xfrm>
            <a:off x="777240" y="53583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Attribute-by-attribute vs a benchmark part</a:t>
            </a:r>
          </a:p>
        </p:txBody>
      </p:sp>
      <p:sp>
        <p:nvSpPr>
          <p:cNvPr id="47" name="Rounded Rectangle 46"/>
          <p:cNvSpPr/>
          <p:nvPr/>
        </p:nvSpPr>
        <p:spPr>
          <a:xfrm>
            <a:off x="4279392" y="47548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4279392" y="4754880"/>
            <a:ext cx="3566160" cy="512064"/>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79392" y="5010912"/>
            <a:ext cx="3566160" cy="256032"/>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07992" y="47548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SCAMPER + Morphological</a:t>
            </a:r>
          </a:p>
        </p:txBody>
      </p:sp>
      <p:sp>
        <p:nvSpPr>
          <p:cNvPr id="51" name="TextBox 50"/>
          <p:cNvSpPr txBox="1"/>
          <p:nvPr/>
        </p:nvSpPr>
        <p:spPr>
          <a:xfrm>
            <a:off x="4507992" y="53583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Lateral prompts + Zwicky concept space</a:t>
            </a:r>
          </a:p>
        </p:txBody>
      </p:sp>
      <p:sp>
        <p:nvSpPr>
          <p:cNvPr id="52" name="Rounded Rectangle 51"/>
          <p:cNvSpPr/>
          <p:nvPr/>
        </p:nvSpPr>
        <p:spPr>
          <a:xfrm>
            <a:off x="8010144" y="4754880"/>
            <a:ext cx="3566160" cy="1243584"/>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8010144" y="4754880"/>
            <a:ext cx="3566160" cy="51206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010144" y="5010912"/>
            <a:ext cx="3566160" cy="25603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38744" y="4754880"/>
            <a:ext cx="3154680" cy="512064"/>
          </a:xfrm>
          <a:prstGeom prst="rect">
            <a:avLst/>
          </a:prstGeom>
          <a:noFill/>
        </p:spPr>
        <p:txBody>
          <a:bodyPr wrap="square" anchor="ctr" lIns="0" rIns="0" tIns="0" bIns="0">
            <a:spAutoFit/>
          </a:bodyPr>
          <a:lstStyle/>
          <a:p>
            <a:pPr algn="l">
              <a:lnSpc>
                <a:spcPct val="95000"/>
              </a:lnSpc>
            </a:pPr>
            <a:r>
              <a:rPr sz="1250" b="1" i="0">
                <a:solidFill>
                  <a:srgbClr val="FFFFFF"/>
                </a:solidFill>
                <a:latin typeface="Segoe UI Semibold"/>
              </a:rPr>
              <a:t>Effects &amp; Trends · Circularity</a:t>
            </a:r>
          </a:p>
        </p:txBody>
      </p:sp>
      <p:sp>
        <p:nvSpPr>
          <p:cNvPr id="56" name="TextBox 55"/>
          <p:cNvSpPr txBox="1"/>
          <p:nvPr/>
        </p:nvSpPr>
        <p:spPr>
          <a:xfrm>
            <a:off x="8238744" y="5358384"/>
            <a:ext cx="3154680" cy="594360"/>
          </a:xfrm>
          <a:prstGeom prst="rect">
            <a:avLst/>
          </a:prstGeom>
          <a:noFill/>
        </p:spPr>
        <p:txBody>
          <a:bodyPr wrap="square" anchor="t" lIns="0" rIns="0" tIns="0" bIns="0">
            <a:spAutoFit/>
          </a:bodyPr>
          <a:lstStyle/>
          <a:p>
            <a:pPr algn="l">
              <a:lnSpc>
                <a:spcPct val="102000"/>
              </a:lnSpc>
            </a:pPr>
            <a:r>
              <a:rPr sz="1050" b="0" i="0">
                <a:solidFill>
                  <a:srgbClr val="374558"/>
                </a:solidFill>
                <a:latin typeface="Segoe UI"/>
              </a:rPr>
              <a:t>Cheaper physical effects, next-gen jumps, EU ELV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NEW — HOW IT GETS BETTER</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Deep Mode &amp; the Learning Loop</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12</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17320"/>
            <a:ext cx="11064240" cy="457200"/>
          </a:xfrm>
          <a:prstGeom prst="rect">
            <a:avLst/>
          </a:prstGeom>
          <a:noFill/>
        </p:spPr>
        <p:txBody>
          <a:bodyPr wrap="square" anchor="t" lIns="0" rIns="0" tIns="0" bIns="0">
            <a:spAutoFit/>
          </a:bodyPr>
          <a:lstStyle/>
          <a:p>
            <a:pPr algn="l">
              <a:lnSpc>
                <a:spcPct val="100000"/>
              </a:lnSpc>
            </a:pPr>
            <a:r>
              <a:rPr sz="1400" b="1" i="0">
                <a:solidFill>
                  <a:srgbClr val="0D9488"/>
                </a:solidFill>
                <a:latin typeface="Segoe UI Semibold"/>
              </a:rPr>
              <a:t>The same architecture the research labs use for scientific discovery: propose, critique, rank, repair — verified at every step.</a:t>
            </a:r>
          </a:p>
        </p:txBody>
      </p:sp>
      <p:sp>
        <p:nvSpPr>
          <p:cNvPr id="12" name="Rounded Rectangle 11"/>
          <p:cNvSpPr/>
          <p:nvPr/>
        </p:nvSpPr>
        <p:spPr>
          <a:xfrm>
            <a:off x="548640" y="1965960"/>
            <a:ext cx="5577840" cy="3977639"/>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121408"/>
            <a:ext cx="5029200" cy="365760"/>
          </a:xfrm>
          <a:prstGeom prst="rect">
            <a:avLst/>
          </a:prstGeom>
          <a:noFill/>
        </p:spPr>
        <p:txBody>
          <a:bodyPr wrap="square" anchor="t" lIns="0" rIns="0" tIns="0" bIns="0">
            <a:spAutoFit/>
          </a:bodyPr>
          <a:lstStyle/>
          <a:p>
            <a:pPr algn="l">
              <a:lnSpc>
                <a:spcPct val="100000"/>
              </a:lnSpc>
            </a:pPr>
            <a:r>
              <a:rPr sz="1200" b="1" i="0">
                <a:solidFill>
                  <a:srgbClr val="7C3AED"/>
                </a:solidFill>
                <a:latin typeface="Segoe UI Semibold"/>
              </a:rPr>
              <a:t>DEEP MODE — opt-in, per analysis</a:t>
            </a:r>
          </a:p>
        </p:txBody>
      </p:sp>
      <p:sp>
        <p:nvSpPr>
          <p:cNvPr id="14" name="Rounded Rectangle 13"/>
          <p:cNvSpPr/>
          <p:nvPr/>
        </p:nvSpPr>
        <p:spPr>
          <a:xfrm>
            <a:off x="822960" y="2606040"/>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06040"/>
            <a:ext cx="402336" cy="40233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1</a:t>
            </a:r>
          </a:p>
        </p:txBody>
      </p:sp>
      <p:sp>
        <p:nvSpPr>
          <p:cNvPr id="16" name="TextBox 15"/>
          <p:cNvSpPr txBox="1"/>
          <p:nvPr/>
        </p:nvSpPr>
        <p:spPr>
          <a:xfrm>
            <a:off x="1389888" y="2569464"/>
            <a:ext cx="4572000" cy="365760"/>
          </a:xfrm>
          <a:prstGeom prst="rect">
            <a:avLst/>
          </a:prstGeom>
          <a:noFill/>
        </p:spPr>
        <p:txBody>
          <a:bodyPr wrap="square" anchor="t" lIns="0" rIns="0" tIns="0" bIns="0">
            <a:spAutoFit/>
          </a:bodyPr>
          <a:lstStyle/>
          <a:p>
            <a:pPr algn="l">
              <a:lnSpc>
                <a:spcPct val="100000"/>
              </a:lnSpc>
            </a:pPr>
            <a:r>
              <a:rPr sz="1300" b="1" i="0">
                <a:solidFill>
                  <a:srgbClr val="16273C"/>
                </a:solidFill>
                <a:latin typeface="Segoe UI Semibold"/>
              </a:rPr>
              <a:t>Expert panel critiques</a:t>
            </a:r>
          </a:p>
        </p:txBody>
      </p:sp>
      <p:sp>
        <p:nvSpPr>
          <p:cNvPr id="17" name="TextBox 16"/>
          <p:cNvSpPr txBox="1"/>
          <p:nvPr/>
        </p:nvSpPr>
        <p:spPr>
          <a:xfrm>
            <a:off x="1389888" y="2907792"/>
            <a:ext cx="4572000" cy="685800"/>
          </a:xfrm>
          <a:prstGeom prst="rect">
            <a:avLst/>
          </a:prstGeom>
          <a:noFill/>
        </p:spPr>
        <p:txBody>
          <a:bodyPr wrap="square" anchor="t" lIns="0" rIns="0" tIns="0" bIns="0">
            <a:spAutoFit/>
          </a:bodyPr>
          <a:lstStyle/>
          <a:p>
            <a:pPr algn="l">
              <a:lnSpc>
                <a:spcPct val="103000"/>
              </a:lnSpc>
            </a:pPr>
            <a:r>
              <a:rPr sz="1050" b="0" i="0">
                <a:solidFill>
                  <a:srgbClr val="556477"/>
                </a:solidFill>
                <a:latin typeface="Segoe UI"/>
              </a:rPr>
              <a:t>Manufacturing, supplier-commercial and quality personas — each reviews every idea from its own discipline</a:t>
            </a:r>
          </a:p>
        </p:txBody>
      </p:sp>
      <p:sp>
        <p:nvSpPr>
          <p:cNvPr id="18" name="Rounded Rectangle 17"/>
          <p:cNvSpPr/>
          <p:nvPr/>
        </p:nvSpPr>
        <p:spPr>
          <a:xfrm>
            <a:off x="822960" y="3685032"/>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85032"/>
            <a:ext cx="402336" cy="40233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2</a:t>
            </a:r>
          </a:p>
        </p:txBody>
      </p:sp>
      <p:sp>
        <p:nvSpPr>
          <p:cNvPr id="20" name="TextBox 19"/>
          <p:cNvSpPr txBox="1"/>
          <p:nvPr/>
        </p:nvSpPr>
        <p:spPr>
          <a:xfrm>
            <a:off x="1389888" y="3648456"/>
            <a:ext cx="4572000" cy="365760"/>
          </a:xfrm>
          <a:prstGeom prst="rect">
            <a:avLst/>
          </a:prstGeom>
          <a:noFill/>
        </p:spPr>
        <p:txBody>
          <a:bodyPr wrap="square" anchor="t" lIns="0" rIns="0" tIns="0" bIns="0">
            <a:spAutoFit/>
          </a:bodyPr>
          <a:lstStyle/>
          <a:p>
            <a:pPr algn="l">
              <a:lnSpc>
                <a:spcPct val="100000"/>
              </a:lnSpc>
            </a:pPr>
            <a:r>
              <a:rPr sz="1300" b="1" i="0">
                <a:solidFill>
                  <a:srgbClr val="16273C"/>
                </a:solidFill>
                <a:latin typeface="Segoe UI Semibold"/>
              </a:rPr>
              <a:t>Tournament ranking</a:t>
            </a:r>
          </a:p>
        </p:txBody>
      </p:sp>
      <p:sp>
        <p:nvSpPr>
          <p:cNvPr id="21" name="TextBox 20"/>
          <p:cNvSpPr txBox="1"/>
          <p:nvPr/>
        </p:nvSpPr>
        <p:spPr>
          <a:xfrm>
            <a:off x="1389888" y="3986784"/>
            <a:ext cx="4572000" cy="685800"/>
          </a:xfrm>
          <a:prstGeom prst="rect">
            <a:avLst/>
          </a:prstGeom>
          <a:noFill/>
        </p:spPr>
        <p:txBody>
          <a:bodyPr wrap="square" anchor="t" lIns="0" rIns="0" tIns="0" bIns="0">
            <a:spAutoFit/>
          </a:bodyPr>
          <a:lstStyle/>
          <a:p>
            <a:pPr algn="l">
              <a:lnSpc>
                <a:spcPct val="103000"/>
              </a:lnSpc>
            </a:pPr>
            <a:r>
              <a:rPr sz="1050" b="0" i="0">
                <a:solidFill>
                  <a:srgbClr val="556477"/>
                </a:solidFill>
                <a:latin typeface="Segoe UI"/>
              </a:rPr>
              <a:t>Ideas judged head-to-head, chess-style — the strongest rise on merit, not on wording</a:t>
            </a:r>
          </a:p>
        </p:txBody>
      </p:sp>
      <p:sp>
        <p:nvSpPr>
          <p:cNvPr id="22" name="Rounded Rectangle 21"/>
          <p:cNvSpPr/>
          <p:nvPr/>
        </p:nvSpPr>
        <p:spPr>
          <a:xfrm>
            <a:off x="822960" y="4764024"/>
            <a:ext cx="402336" cy="402336"/>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764024"/>
            <a:ext cx="402336" cy="40233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3</a:t>
            </a:r>
          </a:p>
        </p:txBody>
      </p:sp>
      <p:sp>
        <p:nvSpPr>
          <p:cNvPr id="24" name="TextBox 23"/>
          <p:cNvSpPr txBox="1"/>
          <p:nvPr/>
        </p:nvSpPr>
        <p:spPr>
          <a:xfrm>
            <a:off x="1389888" y="4727448"/>
            <a:ext cx="4572000" cy="365760"/>
          </a:xfrm>
          <a:prstGeom prst="rect">
            <a:avLst/>
          </a:prstGeom>
          <a:noFill/>
        </p:spPr>
        <p:txBody>
          <a:bodyPr wrap="square" anchor="t" lIns="0" rIns="0" tIns="0" bIns="0">
            <a:spAutoFit/>
          </a:bodyPr>
          <a:lstStyle/>
          <a:p>
            <a:pPr algn="l">
              <a:lnSpc>
                <a:spcPct val="100000"/>
              </a:lnSpc>
            </a:pPr>
            <a:r>
              <a:rPr sz="1300" b="1" i="0">
                <a:solidFill>
                  <a:srgbClr val="16273C"/>
                </a:solidFill>
                <a:latin typeface="Segoe UI Semibold"/>
              </a:rPr>
              <a:t>Verified repair</a:t>
            </a:r>
          </a:p>
        </p:txBody>
      </p:sp>
      <p:sp>
        <p:nvSpPr>
          <p:cNvPr id="25" name="TextBox 24"/>
          <p:cNvSpPr txBox="1"/>
          <p:nvPr/>
        </p:nvSpPr>
        <p:spPr>
          <a:xfrm>
            <a:off x="1389888" y="5065776"/>
            <a:ext cx="4572000" cy="685800"/>
          </a:xfrm>
          <a:prstGeom prst="rect">
            <a:avLst/>
          </a:prstGeom>
          <a:noFill/>
        </p:spPr>
        <p:txBody>
          <a:bodyPr wrap="square" anchor="t" lIns="0" rIns="0" tIns="0" bIns="0">
            <a:spAutoFit/>
          </a:bodyPr>
          <a:lstStyle/>
          <a:p>
            <a:pPr algn="l">
              <a:lnSpc>
                <a:spcPct val="103000"/>
              </a:lnSpc>
            </a:pPr>
            <a:r>
              <a:rPr sz="1050" b="0" i="0">
                <a:solidFill>
                  <a:srgbClr val="556477"/>
                </a:solidFill>
                <a:latin typeface="Segoe UI"/>
              </a:rPr>
              <a:t>Challenged or engine-contradicted ideas get one fix attempt — accepted only if the engine re-confirms it</a:t>
            </a:r>
          </a:p>
        </p:txBody>
      </p:sp>
      <p:sp>
        <p:nvSpPr>
          <p:cNvPr id="26" name="Rounded Rectangle 25"/>
          <p:cNvSpPr/>
          <p:nvPr/>
        </p:nvSpPr>
        <p:spPr>
          <a:xfrm>
            <a:off x="6355080" y="1965960"/>
            <a:ext cx="5285232" cy="3977639"/>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2121408"/>
            <a:ext cx="4754880" cy="365760"/>
          </a:xfrm>
          <a:prstGeom prst="rect">
            <a:avLst/>
          </a:prstGeom>
          <a:noFill/>
        </p:spPr>
        <p:txBody>
          <a:bodyPr wrap="square" anchor="t" lIns="0" rIns="0" tIns="0" bIns="0">
            <a:spAutoFit/>
          </a:bodyPr>
          <a:lstStyle/>
          <a:p>
            <a:pPr algn="l">
              <a:lnSpc>
                <a:spcPct val="100000"/>
              </a:lnSpc>
            </a:pPr>
            <a:r>
              <a:rPr sz="1200" b="1" i="0">
                <a:solidFill>
                  <a:srgbClr val="059669"/>
                </a:solidFill>
                <a:latin typeface="Segoe UI Semibold"/>
              </a:rPr>
              <a:t>THE LEARNING LOOP — always on</a:t>
            </a:r>
          </a:p>
        </p:txBody>
      </p:sp>
      <p:sp>
        <p:nvSpPr>
          <p:cNvPr id="28" name="Rounded Rectangle 27"/>
          <p:cNvSpPr/>
          <p:nvPr/>
        </p:nvSpPr>
        <p:spPr>
          <a:xfrm>
            <a:off x="6629400" y="2606040"/>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2606040"/>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0" name="TextBox 29"/>
          <p:cNvSpPr txBox="1"/>
          <p:nvPr/>
        </p:nvSpPr>
        <p:spPr>
          <a:xfrm>
            <a:off x="7132320" y="2560320"/>
            <a:ext cx="434340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Learns your taste</a:t>
            </a:r>
          </a:p>
        </p:txBody>
      </p:sp>
      <p:sp>
        <p:nvSpPr>
          <p:cNvPr id="31" name="TextBox 30"/>
          <p:cNvSpPr txBox="1"/>
          <p:nvPr/>
        </p:nvSpPr>
        <p:spPr>
          <a:xfrm>
            <a:off x="7132320" y="2880360"/>
            <a:ext cx="434340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approvals and production-confirmed savings become positive examples for the next run</a:t>
            </a:r>
          </a:p>
        </p:txBody>
      </p:sp>
      <p:sp>
        <p:nvSpPr>
          <p:cNvPr id="32" name="Rounded Rectangle 31"/>
          <p:cNvSpPr/>
          <p:nvPr/>
        </p:nvSpPr>
        <p:spPr>
          <a:xfrm>
            <a:off x="6629400" y="3447288"/>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3447288"/>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4" name="TextBox 33"/>
          <p:cNvSpPr txBox="1"/>
          <p:nvPr/>
        </p:nvSpPr>
        <p:spPr>
          <a:xfrm>
            <a:off x="7132320" y="3401568"/>
            <a:ext cx="434340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Targets the gaps</a:t>
            </a:r>
          </a:p>
        </p:txBody>
      </p:sp>
      <p:sp>
        <p:nvSpPr>
          <p:cNvPr id="35" name="TextBox 34"/>
          <p:cNvSpPr txBox="1"/>
          <p:nvPr/>
        </p:nvSpPr>
        <p:spPr>
          <a:xfrm>
            <a:off x="7132320" y="3721608"/>
            <a:ext cx="434340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a coverage map of 1,600+ verified ideas shows where thinking is thin — the AI aims there</a:t>
            </a:r>
          </a:p>
        </p:txBody>
      </p:sp>
      <p:sp>
        <p:nvSpPr>
          <p:cNvPr id="36" name="Rounded Rectangle 35"/>
          <p:cNvSpPr/>
          <p:nvPr/>
        </p:nvSpPr>
        <p:spPr>
          <a:xfrm>
            <a:off x="6629400" y="4288536"/>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288536"/>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8" name="TextBox 37"/>
          <p:cNvSpPr txBox="1"/>
          <p:nvPr/>
        </p:nvSpPr>
        <p:spPr>
          <a:xfrm>
            <a:off x="7132320" y="4242816"/>
            <a:ext cx="434340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Kills duplicates</a:t>
            </a:r>
          </a:p>
        </p:txBody>
      </p:sp>
      <p:sp>
        <p:nvSpPr>
          <p:cNvPr id="39" name="TextBox 38"/>
          <p:cNvSpPr txBox="1"/>
          <p:nvPr/>
        </p:nvSpPr>
        <p:spPr>
          <a:xfrm>
            <a:off x="7132320" y="4562856"/>
            <a:ext cx="434340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near-identical ideas are auto-merged; restatements of known ideas get flagged</a:t>
            </a:r>
          </a:p>
        </p:txBody>
      </p:sp>
      <p:sp>
        <p:nvSpPr>
          <p:cNvPr id="40" name="Rounded Rectangle 39"/>
          <p:cNvSpPr/>
          <p:nvPr/>
        </p:nvSpPr>
        <p:spPr>
          <a:xfrm>
            <a:off x="6629400" y="5129784"/>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9400" y="5129784"/>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2" name="TextBox 41"/>
          <p:cNvSpPr txBox="1"/>
          <p:nvPr/>
        </p:nvSpPr>
        <p:spPr>
          <a:xfrm>
            <a:off x="7132320" y="5084064"/>
            <a:ext cx="4343400" cy="365760"/>
          </a:xfrm>
          <a:prstGeom prst="rect">
            <a:avLst/>
          </a:prstGeom>
          <a:noFill/>
        </p:spPr>
        <p:txBody>
          <a:bodyPr wrap="square" anchor="t" lIns="0" rIns="0" tIns="0" bIns="0">
            <a:spAutoFit/>
          </a:bodyPr>
          <a:lstStyle/>
          <a:p>
            <a:pPr algn="l">
              <a:lnSpc>
                <a:spcPct val="100000"/>
              </a:lnSpc>
            </a:pPr>
            <a:r>
              <a:rPr sz="1250" b="1" i="0">
                <a:solidFill>
                  <a:srgbClr val="16273C"/>
                </a:solidFill>
                <a:latin typeface="Segoe UI Semibold"/>
              </a:rPr>
              <a:t>Measured, not asserted</a:t>
            </a:r>
          </a:p>
        </p:txBody>
      </p:sp>
      <p:sp>
        <p:nvSpPr>
          <p:cNvPr id="43" name="TextBox 42"/>
          <p:cNvSpPr txBox="1"/>
          <p:nvPr/>
        </p:nvSpPr>
        <p:spPr>
          <a:xfrm>
            <a:off x="7132320" y="5404104"/>
            <a:ext cx="4343400" cy="548640"/>
          </a:xfrm>
          <a:prstGeom prst="rect">
            <a:avLst/>
          </a:prstGeom>
          <a:noFill/>
        </p:spPr>
        <p:txBody>
          <a:bodyPr wrap="square" anchor="t" lIns="0" rIns="0" tIns="0" bIns="0">
            <a:spAutoFit/>
          </a:bodyPr>
          <a:lstStyle/>
          <a:p>
            <a:pPr algn="l">
              <a:lnSpc>
                <a:spcPct val="102000"/>
              </a:lnSpc>
            </a:pPr>
            <a:r>
              <a:rPr sz="1050" b="0" i="0">
                <a:solidFill>
                  <a:srgbClr val="556477"/>
                </a:solidFill>
                <a:latin typeface="Segoe UI"/>
              </a:rPr>
              <a:t>a benchmark harness A/B-tests every pipeline change before it ships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CAPABILITIES 5 &amp; 6</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Idea Marketplace + Decision Analytics</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13</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Rounded Rectangle 10"/>
          <p:cNvSpPr/>
          <p:nvPr/>
        </p:nvSpPr>
        <p:spPr>
          <a:xfrm>
            <a:off x="548640" y="1554480"/>
            <a:ext cx="5394960" cy="44348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1783080"/>
            <a:ext cx="548640" cy="54864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783080"/>
            <a:ext cx="548640" cy="54864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4" name="TextBox 13"/>
          <p:cNvSpPr txBox="1"/>
          <p:nvPr/>
        </p:nvSpPr>
        <p:spPr>
          <a:xfrm>
            <a:off x="1508760" y="1810512"/>
            <a:ext cx="4206240" cy="548640"/>
          </a:xfrm>
          <a:prstGeom prst="rect">
            <a:avLst/>
          </a:prstGeom>
          <a:noFill/>
        </p:spPr>
        <p:txBody>
          <a:bodyPr wrap="square" anchor="ctr" lIns="0" rIns="0" tIns="0" bIns="0">
            <a:spAutoFit/>
          </a:bodyPr>
          <a:lstStyle/>
          <a:p>
            <a:pPr algn="l">
              <a:lnSpc>
                <a:spcPct val="100000"/>
              </a:lnSpc>
            </a:pPr>
            <a:r>
              <a:rPr sz="1800" b="1" i="0">
                <a:solidFill>
                  <a:srgbClr val="16273C"/>
                </a:solidFill>
                <a:latin typeface="Segoe UI Semibold"/>
              </a:rPr>
              <a:t>Idea Marketplace</a:t>
            </a:r>
          </a:p>
        </p:txBody>
      </p:sp>
      <p:sp>
        <p:nvSpPr>
          <p:cNvPr id="15" name="Rounded Rectangle 14"/>
          <p:cNvSpPr/>
          <p:nvPr/>
        </p:nvSpPr>
        <p:spPr>
          <a:xfrm>
            <a:off x="868680" y="2606040"/>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06040"/>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7" name="TextBox 16"/>
          <p:cNvSpPr txBox="1"/>
          <p:nvPr/>
        </p:nvSpPr>
        <p:spPr>
          <a:xfrm>
            <a:off x="1371600" y="2587752"/>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1,600+ ideas — each labelled Curated (benchmark-sourced) or Community (user-submitted)</a:t>
            </a:r>
          </a:p>
        </p:txBody>
      </p:sp>
      <p:sp>
        <p:nvSpPr>
          <p:cNvPr id="18" name="Rounded Rectangle 17"/>
          <p:cNvSpPr/>
          <p:nvPr/>
        </p:nvSpPr>
        <p:spPr>
          <a:xfrm>
            <a:off x="868680" y="3355848"/>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355848"/>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0" name="TextBox 19"/>
          <p:cNvSpPr txBox="1"/>
          <p:nvPr/>
        </p:nvSpPr>
        <p:spPr>
          <a:xfrm>
            <a:off x="1371600" y="3337560"/>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Coverage map shows where the library is thin — the AI targets those gaps</a:t>
            </a:r>
          </a:p>
        </p:txBody>
      </p:sp>
      <p:sp>
        <p:nvSpPr>
          <p:cNvPr id="21" name="Rounded Rectangle 20"/>
          <p:cNvSpPr/>
          <p:nvPr/>
        </p:nvSpPr>
        <p:spPr>
          <a:xfrm>
            <a:off x="868680" y="4105656"/>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105656"/>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3" name="TextBox 22"/>
          <p:cNvSpPr txBox="1"/>
          <p:nvPr/>
        </p:nvSpPr>
        <p:spPr>
          <a:xfrm>
            <a:off x="1371600" y="4087368"/>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Theme clusters + duplicate warnings keep it clean and searchable</a:t>
            </a:r>
          </a:p>
        </p:txBody>
      </p:sp>
      <p:sp>
        <p:nvSpPr>
          <p:cNvPr id="24" name="Rounded Rectangle 23"/>
          <p:cNvSpPr/>
          <p:nvPr/>
        </p:nvSpPr>
        <p:spPr>
          <a:xfrm>
            <a:off x="868680" y="4855464"/>
            <a:ext cx="329184" cy="32918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855464"/>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6" name="TextBox 25"/>
          <p:cNvSpPr txBox="1"/>
          <p:nvPr/>
        </p:nvSpPr>
        <p:spPr>
          <a:xfrm>
            <a:off x="1371600" y="4837176"/>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Every idea carries an engine-checked should-cost</a:t>
            </a:r>
          </a:p>
        </p:txBody>
      </p:sp>
      <p:sp>
        <p:nvSpPr>
          <p:cNvPr id="27" name="Rounded Rectangle 26"/>
          <p:cNvSpPr/>
          <p:nvPr/>
        </p:nvSpPr>
        <p:spPr>
          <a:xfrm>
            <a:off x="6217920" y="1554480"/>
            <a:ext cx="5422392" cy="443484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92240" y="1783080"/>
            <a:ext cx="548640" cy="54864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1783080"/>
            <a:ext cx="548640" cy="54864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0" name="TextBox 29"/>
          <p:cNvSpPr txBox="1"/>
          <p:nvPr/>
        </p:nvSpPr>
        <p:spPr>
          <a:xfrm>
            <a:off x="7178040" y="1810512"/>
            <a:ext cx="4206240" cy="548640"/>
          </a:xfrm>
          <a:prstGeom prst="rect">
            <a:avLst/>
          </a:prstGeom>
          <a:noFill/>
        </p:spPr>
        <p:txBody>
          <a:bodyPr wrap="square" anchor="ctr" lIns="0" rIns="0" tIns="0" bIns="0">
            <a:spAutoFit/>
          </a:bodyPr>
          <a:lstStyle/>
          <a:p>
            <a:pPr algn="l">
              <a:lnSpc>
                <a:spcPct val="100000"/>
              </a:lnSpc>
            </a:pPr>
            <a:r>
              <a:rPr sz="1800" b="1" i="0">
                <a:solidFill>
                  <a:srgbClr val="16273C"/>
                </a:solidFill>
                <a:latin typeface="Segoe UI Semibold"/>
              </a:rPr>
              <a:t>Decision Analytics</a:t>
            </a:r>
          </a:p>
        </p:txBody>
      </p:sp>
      <p:sp>
        <p:nvSpPr>
          <p:cNvPr id="31" name="Rounded Rectangle 30"/>
          <p:cNvSpPr/>
          <p:nvPr/>
        </p:nvSpPr>
        <p:spPr>
          <a:xfrm>
            <a:off x="6537960" y="2606040"/>
            <a:ext cx="329184" cy="32918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2606040"/>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3" name="TextBox 32"/>
          <p:cNvSpPr txBox="1"/>
          <p:nvPr/>
        </p:nvSpPr>
        <p:spPr>
          <a:xfrm>
            <a:off x="7040880" y="2587752"/>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Monte-Carlo confidence bands on every cost</a:t>
            </a:r>
          </a:p>
        </p:txBody>
      </p:sp>
      <p:sp>
        <p:nvSpPr>
          <p:cNvPr id="34" name="Rounded Rectangle 33"/>
          <p:cNvSpPr/>
          <p:nvPr/>
        </p:nvSpPr>
        <p:spPr>
          <a:xfrm>
            <a:off x="6537960" y="3355848"/>
            <a:ext cx="329184" cy="32918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3355848"/>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6" name="TextBox 35"/>
          <p:cNvSpPr txBox="1"/>
          <p:nvPr/>
        </p:nvSpPr>
        <p:spPr>
          <a:xfrm>
            <a:off x="7040880" y="3337560"/>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ROI &amp; business-case calculator</a:t>
            </a:r>
          </a:p>
        </p:txBody>
      </p:sp>
      <p:sp>
        <p:nvSpPr>
          <p:cNvPr id="37" name="Rounded Rectangle 36"/>
          <p:cNvSpPr/>
          <p:nvPr/>
        </p:nvSpPr>
        <p:spPr>
          <a:xfrm>
            <a:off x="6537960" y="4105656"/>
            <a:ext cx="329184" cy="32918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60" y="4105656"/>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9" name="TextBox 38"/>
          <p:cNvSpPr txBox="1"/>
          <p:nvPr/>
        </p:nvSpPr>
        <p:spPr>
          <a:xfrm>
            <a:off x="7040880" y="4087368"/>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Savings pipeline with G0–G3 stage-gate scorecards</a:t>
            </a:r>
          </a:p>
        </p:txBody>
      </p:sp>
      <p:sp>
        <p:nvSpPr>
          <p:cNvPr id="40" name="Rounded Rectangle 39"/>
          <p:cNvSpPr/>
          <p:nvPr/>
        </p:nvSpPr>
        <p:spPr>
          <a:xfrm>
            <a:off x="6537960" y="4855464"/>
            <a:ext cx="329184" cy="32918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37960" y="4855464"/>
            <a:ext cx="329184" cy="329184"/>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2" name="TextBox 41"/>
          <p:cNvSpPr txBox="1"/>
          <p:nvPr/>
        </p:nvSpPr>
        <p:spPr>
          <a:xfrm>
            <a:off x="7040880" y="4837176"/>
            <a:ext cx="4343400" cy="685800"/>
          </a:xfrm>
          <a:prstGeom prst="rect">
            <a:avLst/>
          </a:prstGeom>
          <a:noFill/>
        </p:spPr>
        <p:txBody>
          <a:bodyPr wrap="square" anchor="t" lIns="0" rIns="0" tIns="0" bIns="0">
            <a:spAutoFit/>
          </a:bodyPr>
          <a:lstStyle/>
          <a:p>
            <a:pPr algn="l">
              <a:lnSpc>
                <a:spcPct val="103000"/>
              </a:lnSpc>
            </a:pPr>
            <a:r>
              <a:rPr sz="1250" b="0" i="0">
                <a:solidFill>
                  <a:srgbClr val="374558"/>
                </a:solidFill>
                <a:latin typeface="Segoe UI"/>
              </a:rPr>
              <a:t>Patent check with real, citable patent records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HOW IT WORKS</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End-to-End Workflow</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14</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17320"/>
            <a:ext cx="10972800" cy="411480"/>
          </a:xfrm>
          <a:prstGeom prst="rect">
            <a:avLst/>
          </a:prstGeom>
          <a:noFill/>
        </p:spPr>
        <p:txBody>
          <a:bodyPr wrap="square" anchor="t" lIns="0" rIns="0" tIns="0" bIns="0">
            <a:spAutoFit/>
          </a:bodyPr>
          <a:lstStyle/>
          <a:p>
            <a:pPr algn="l">
              <a:lnSpc>
                <a:spcPct val="100000"/>
              </a:lnSpc>
            </a:pPr>
            <a:r>
              <a:rPr sz="1400" b="0" i="0">
                <a:solidFill>
                  <a:srgbClr val="556477"/>
                </a:solidFill>
                <a:latin typeface="Segoe UI"/>
              </a:rPr>
              <a:t>From a part or a CAD file to a tracked, defensible saving — one continuous flow.</a:t>
            </a:r>
          </a:p>
        </p:txBody>
      </p:sp>
      <p:sp>
        <p:nvSpPr>
          <p:cNvPr id="12" name="Rounded Rectangle 11"/>
          <p:cNvSpPr/>
          <p:nvPr/>
        </p:nvSpPr>
        <p:spPr>
          <a:xfrm>
            <a:off x="502920" y="2148840"/>
            <a:ext cx="2084831"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148840"/>
            <a:ext cx="2084831"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377440"/>
            <a:ext cx="2084831" cy="2743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148840"/>
            <a:ext cx="548640" cy="502920"/>
          </a:xfrm>
          <a:prstGeom prst="rect">
            <a:avLst/>
          </a:prstGeom>
          <a:noFill/>
        </p:spPr>
        <p:txBody>
          <a:bodyPr wrap="square" anchor="ctr" lIns="0" rIns="0" tIns="0" bIns="0">
            <a:spAutoFit/>
          </a:bodyPr>
          <a:lstStyle/>
          <a:p>
            <a:pPr algn="l">
              <a:lnSpc>
                <a:spcPct val="100000"/>
              </a:lnSpc>
            </a:pPr>
            <a:r>
              <a:rPr sz="2000" b="1" i="0">
                <a:solidFill>
                  <a:srgbClr val="FFFFFF"/>
                </a:solidFill>
                <a:latin typeface="Segoe UI Semibold"/>
              </a:rPr>
              <a:t>1</a:t>
            </a:r>
          </a:p>
        </p:txBody>
      </p:sp>
      <p:sp>
        <p:nvSpPr>
          <p:cNvPr id="16" name="TextBox 15"/>
          <p:cNvSpPr txBox="1"/>
          <p:nvPr/>
        </p:nvSpPr>
        <p:spPr>
          <a:xfrm>
            <a:off x="1234440" y="2148840"/>
            <a:ext cx="1280160" cy="502920"/>
          </a:xfrm>
          <a:prstGeom prst="rect">
            <a:avLst/>
          </a:prstGeom>
          <a:noFill/>
        </p:spPr>
        <p:txBody>
          <a:bodyPr wrap="square" anchor="ctr" lIns="0" rIns="0" tIns="0" bIns="0">
            <a:spAutoFit/>
          </a:bodyPr>
          <a:lstStyle/>
          <a:p>
            <a:pPr algn="r">
              <a:lnSpc>
                <a:spcPct val="100000"/>
              </a:lnSpc>
            </a:pPr>
            <a:r>
              <a:rPr sz="1600" b="1" i="0">
                <a:solidFill>
                  <a:srgbClr val="FFFFFF"/>
                </a:solidFill>
                <a:latin typeface="Arial"/>
              </a:rPr>
              <a:t>↑</a:t>
            </a:r>
          </a:p>
        </p:txBody>
      </p:sp>
      <p:sp>
        <p:nvSpPr>
          <p:cNvPr id="17" name="TextBox 16"/>
          <p:cNvSpPr txBox="1"/>
          <p:nvPr/>
        </p:nvSpPr>
        <p:spPr>
          <a:xfrm>
            <a:off x="667512" y="2788920"/>
            <a:ext cx="1828800" cy="45720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Select / Upload</a:t>
            </a:r>
          </a:p>
        </p:txBody>
      </p:sp>
      <p:sp>
        <p:nvSpPr>
          <p:cNvPr id="18" name="TextBox 17"/>
          <p:cNvSpPr txBox="1"/>
          <p:nvPr/>
        </p:nvSpPr>
        <p:spPr>
          <a:xfrm>
            <a:off x="667512" y="3310128"/>
            <a:ext cx="1783080" cy="1005840"/>
          </a:xfrm>
          <a:prstGeom prst="rect">
            <a:avLst/>
          </a:prstGeom>
          <a:noFill/>
        </p:spPr>
        <p:txBody>
          <a:bodyPr wrap="square" anchor="t" lIns="0" rIns="0" tIns="0" bIns="0">
            <a:spAutoFit/>
          </a:bodyPr>
          <a:lstStyle/>
          <a:p>
            <a:pPr algn="l">
              <a:lnSpc>
                <a:spcPct val="105000"/>
              </a:lnSpc>
            </a:pPr>
            <a:r>
              <a:rPr sz="1100" b="0" i="0">
                <a:solidFill>
                  <a:srgbClr val="556477"/>
                </a:solidFill>
                <a:latin typeface="Segoe UI"/>
              </a:rPr>
              <a:t>Choose a system or drop a CAD model</a:t>
            </a:r>
          </a:p>
        </p:txBody>
      </p:sp>
      <p:sp>
        <p:nvSpPr>
          <p:cNvPr id="19" name="Chevron 18"/>
          <p:cNvSpPr/>
          <p:nvPr/>
        </p:nvSpPr>
        <p:spPr>
          <a:xfrm>
            <a:off x="2606040" y="3063240"/>
            <a:ext cx="237744"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816352" y="2148840"/>
            <a:ext cx="2084831"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816352" y="2148840"/>
            <a:ext cx="2084831" cy="50292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16352" y="2377440"/>
            <a:ext cx="2084831" cy="2743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44952" y="2148840"/>
            <a:ext cx="548640" cy="502920"/>
          </a:xfrm>
          <a:prstGeom prst="rect">
            <a:avLst/>
          </a:prstGeom>
          <a:noFill/>
        </p:spPr>
        <p:txBody>
          <a:bodyPr wrap="square" anchor="ctr" lIns="0" rIns="0" tIns="0" bIns="0">
            <a:spAutoFit/>
          </a:bodyPr>
          <a:lstStyle/>
          <a:p>
            <a:pPr algn="l">
              <a:lnSpc>
                <a:spcPct val="100000"/>
              </a:lnSpc>
            </a:pPr>
            <a:r>
              <a:rPr sz="2000" b="1" i="0">
                <a:solidFill>
                  <a:srgbClr val="FFFFFF"/>
                </a:solidFill>
                <a:latin typeface="Segoe UI Semibold"/>
              </a:rPr>
              <a:t>2</a:t>
            </a:r>
          </a:p>
        </p:txBody>
      </p:sp>
      <p:sp>
        <p:nvSpPr>
          <p:cNvPr id="24" name="TextBox 23"/>
          <p:cNvSpPr txBox="1"/>
          <p:nvPr/>
        </p:nvSpPr>
        <p:spPr>
          <a:xfrm>
            <a:off x="3547872" y="2148840"/>
            <a:ext cx="1280160" cy="502920"/>
          </a:xfrm>
          <a:prstGeom prst="rect">
            <a:avLst/>
          </a:prstGeom>
          <a:noFill/>
        </p:spPr>
        <p:txBody>
          <a:bodyPr wrap="square" anchor="ctr" lIns="0" rIns="0" tIns="0" bIns="0">
            <a:spAutoFit/>
          </a:bodyPr>
          <a:lstStyle/>
          <a:p>
            <a:pPr algn="r">
              <a:lnSpc>
                <a:spcPct val="100000"/>
              </a:lnSpc>
            </a:pPr>
            <a:r>
              <a:rPr sz="1600" b="1" i="0">
                <a:solidFill>
                  <a:srgbClr val="FFFFFF"/>
                </a:solidFill>
                <a:latin typeface="Arial"/>
              </a:rPr>
              <a:t>◆</a:t>
            </a:r>
          </a:p>
        </p:txBody>
      </p:sp>
      <p:sp>
        <p:nvSpPr>
          <p:cNvPr id="25" name="TextBox 24"/>
          <p:cNvSpPr txBox="1"/>
          <p:nvPr/>
        </p:nvSpPr>
        <p:spPr>
          <a:xfrm>
            <a:off x="2980944" y="2788920"/>
            <a:ext cx="1828800" cy="45720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Configure</a:t>
            </a:r>
          </a:p>
        </p:txBody>
      </p:sp>
      <p:sp>
        <p:nvSpPr>
          <p:cNvPr id="26" name="TextBox 25"/>
          <p:cNvSpPr txBox="1"/>
          <p:nvPr/>
        </p:nvSpPr>
        <p:spPr>
          <a:xfrm>
            <a:off x="2980944" y="3310128"/>
            <a:ext cx="1783080" cy="1005840"/>
          </a:xfrm>
          <a:prstGeom prst="rect">
            <a:avLst/>
          </a:prstGeom>
          <a:noFill/>
        </p:spPr>
        <p:txBody>
          <a:bodyPr wrap="square" anchor="t" lIns="0" rIns="0" tIns="0" bIns="0">
            <a:spAutoFit/>
          </a:bodyPr>
          <a:lstStyle/>
          <a:p>
            <a:pPr algn="l">
              <a:lnSpc>
                <a:spcPct val="105000"/>
              </a:lnSpc>
            </a:pPr>
            <a:r>
              <a:rPr sz="1100" b="0" i="0">
                <a:solidFill>
                  <a:srgbClr val="556477"/>
                </a:solidFill>
                <a:latin typeface="Segoe UI"/>
              </a:rPr>
              <a:t>Volume, region, currency, lenses</a:t>
            </a:r>
          </a:p>
        </p:txBody>
      </p:sp>
      <p:sp>
        <p:nvSpPr>
          <p:cNvPr id="27" name="Chevron 26"/>
          <p:cNvSpPr/>
          <p:nvPr/>
        </p:nvSpPr>
        <p:spPr>
          <a:xfrm>
            <a:off x="4919472" y="3063240"/>
            <a:ext cx="237744"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29784" y="2148840"/>
            <a:ext cx="2084831"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129784" y="2148840"/>
            <a:ext cx="2084831"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129784" y="2377440"/>
            <a:ext cx="2084831" cy="274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58384" y="2148840"/>
            <a:ext cx="548640" cy="502920"/>
          </a:xfrm>
          <a:prstGeom prst="rect">
            <a:avLst/>
          </a:prstGeom>
          <a:noFill/>
        </p:spPr>
        <p:txBody>
          <a:bodyPr wrap="square" anchor="ctr" lIns="0" rIns="0" tIns="0" bIns="0">
            <a:spAutoFit/>
          </a:bodyPr>
          <a:lstStyle/>
          <a:p>
            <a:pPr algn="l">
              <a:lnSpc>
                <a:spcPct val="100000"/>
              </a:lnSpc>
            </a:pPr>
            <a:r>
              <a:rPr sz="2000" b="1" i="0">
                <a:solidFill>
                  <a:srgbClr val="FFFFFF"/>
                </a:solidFill>
                <a:latin typeface="Segoe UI Semibold"/>
              </a:rPr>
              <a:t>3</a:t>
            </a:r>
          </a:p>
        </p:txBody>
      </p:sp>
      <p:sp>
        <p:nvSpPr>
          <p:cNvPr id="32" name="TextBox 31"/>
          <p:cNvSpPr txBox="1"/>
          <p:nvPr/>
        </p:nvSpPr>
        <p:spPr>
          <a:xfrm>
            <a:off x="5861304" y="2148840"/>
            <a:ext cx="1280160" cy="502920"/>
          </a:xfrm>
          <a:prstGeom prst="rect">
            <a:avLst/>
          </a:prstGeom>
          <a:noFill/>
        </p:spPr>
        <p:txBody>
          <a:bodyPr wrap="square" anchor="ctr" lIns="0" rIns="0" tIns="0" bIns="0">
            <a:spAutoFit/>
          </a:bodyPr>
          <a:lstStyle/>
          <a:p>
            <a:pPr algn="r">
              <a:lnSpc>
                <a:spcPct val="100000"/>
              </a:lnSpc>
            </a:pPr>
            <a:r>
              <a:rPr sz="1600" b="1" i="0">
                <a:solidFill>
                  <a:srgbClr val="FFFFFF"/>
                </a:solidFill>
                <a:latin typeface="Arial"/>
              </a:rPr>
              <a:t>●</a:t>
            </a:r>
          </a:p>
        </p:txBody>
      </p:sp>
      <p:sp>
        <p:nvSpPr>
          <p:cNvPr id="33" name="TextBox 32"/>
          <p:cNvSpPr txBox="1"/>
          <p:nvPr/>
        </p:nvSpPr>
        <p:spPr>
          <a:xfrm>
            <a:off x="5294376" y="2788920"/>
            <a:ext cx="1828800" cy="45720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Generate + Cost</a:t>
            </a:r>
          </a:p>
        </p:txBody>
      </p:sp>
      <p:sp>
        <p:nvSpPr>
          <p:cNvPr id="34" name="TextBox 33"/>
          <p:cNvSpPr txBox="1"/>
          <p:nvPr/>
        </p:nvSpPr>
        <p:spPr>
          <a:xfrm>
            <a:off x="5294376" y="3310128"/>
            <a:ext cx="1783080" cy="1005840"/>
          </a:xfrm>
          <a:prstGeom prst="rect">
            <a:avLst/>
          </a:prstGeom>
          <a:noFill/>
        </p:spPr>
        <p:txBody>
          <a:bodyPr wrap="square" anchor="t" lIns="0" rIns="0" tIns="0" bIns="0">
            <a:spAutoFit/>
          </a:bodyPr>
          <a:lstStyle/>
          <a:p>
            <a:pPr algn="l">
              <a:lnSpc>
                <a:spcPct val="105000"/>
              </a:lnSpc>
            </a:pPr>
            <a:r>
              <a:rPr sz="1100" b="0" i="0">
                <a:solidFill>
                  <a:srgbClr val="556477"/>
                </a:solidFill>
                <a:latin typeface="Segoe UI"/>
              </a:rPr>
              <a:t>AI ideates · engine prices each</a:t>
            </a:r>
          </a:p>
        </p:txBody>
      </p:sp>
      <p:sp>
        <p:nvSpPr>
          <p:cNvPr id="35" name="Chevron 34"/>
          <p:cNvSpPr/>
          <p:nvPr/>
        </p:nvSpPr>
        <p:spPr>
          <a:xfrm>
            <a:off x="7232904" y="3063240"/>
            <a:ext cx="237744"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443216" y="2148840"/>
            <a:ext cx="2084831"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43216" y="2148840"/>
            <a:ext cx="2084831" cy="50292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43216" y="2377440"/>
            <a:ext cx="2084831" cy="27432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71816" y="2148840"/>
            <a:ext cx="548640" cy="502920"/>
          </a:xfrm>
          <a:prstGeom prst="rect">
            <a:avLst/>
          </a:prstGeom>
          <a:noFill/>
        </p:spPr>
        <p:txBody>
          <a:bodyPr wrap="square" anchor="ctr" lIns="0" rIns="0" tIns="0" bIns="0">
            <a:spAutoFit/>
          </a:bodyPr>
          <a:lstStyle/>
          <a:p>
            <a:pPr algn="l">
              <a:lnSpc>
                <a:spcPct val="100000"/>
              </a:lnSpc>
            </a:pPr>
            <a:r>
              <a:rPr sz="2000" b="1" i="0">
                <a:solidFill>
                  <a:srgbClr val="FFFFFF"/>
                </a:solidFill>
                <a:latin typeface="Segoe UI Semibold"/>
              </a:rPr>
              <a:t>4</a:t>
            </a:r>
          </a:p>
        </p:txBody>
      </p:sp>
      <p:sp>
        <p:nvSpPr>
          <p:cNvPr id="40" name="TextBox 39"/>
          <p:cNvSpPr txBox="1"/>
          <p:nvPr/>
        </p:nvSpPr>
        <p:spPr>
          <a:xfrm>
            <a:off x="8174736" y="2148840"/>
            <a:ext cx="1280160" cy="502920"/>
          </a:xfrm>
          <a:prstGeom prst="rect">
            <a:avLst/>
          </a:prstGeom>
          <a:noFill/>
        </p:spPr>
        <p:txBody>
          <a:bodyPr wrap="square" anchor="ctr" lIns="0" rIns="0" tIns="0" bIns="0">
            <a:spAutoFit/>
          </a:bodyPr>
          <a:lstStyle/>
          <a:p>
            <a:pPr algn="r">
              <a:lnSpc>
                <a:spcPct val="100000"/>
              </a:lnSpc>
            </a:pPr>
            <a:r>
              <a:rPr sz="1600" b="1" i="0">
                <a:solidFill>
                  <a:srgbClr val="FFFFFF"/>
                </a:solidFill>
                <a:latin typeface="Arial"/>
              </a:rPr>
              <a:t>✓</a:t>
            </a:r>
          </a:p>
        </p:txBody>
      </p:sp>
      <p:sp>
        <p:nvSpPr>
          <p:cNvPr id="41" name="TextBox 40"/>
          <p:cNvSpPr txBox="1"/>
          <p:nvPr/>
        </p:nvSpPr>
        <p:spPr>
          <a:xfrm>
            <a:off x="7607808" y="2788920"/>
            <a:ext cx="1828800" cy="45720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Verify</a:t>
            </a:r>
          </a:p>
        </p:txBody>
      </p:sp>
      <p:sp>
        <p:nvSpPr>
          <p:cNvPr id="42" name="TextBox 41"/>
          <p:cNvSpPr txBox="1"/>
          <p:nvPr/>
        </p:nvSpPr>
        <p:spPr>
          <a:xfrm>
            <a:off x="7607808" y="3310128"/>
            <a:ext cx="1783080" cy="1005840"/>
          </a:xfrm>
          <a:prstGeom prst="rect">
            <a:avLst/>
          </a:prstGeom>
          <a:noFill/>
        </p:spPr>
        <p:txBody>
          <a:bodyPr wrap="square" anchor="t" lIns="0" rIns="0" tIns="0" bIns="0">
            <a:spAutoFit/>
          </a:bodyPr>
          <a:lstStyle/>
          <a:p>
            <a:pPr algn="l">
              <a:lnSpc>
                <a:spcPct val="105000"/>
              </a:lnSpc>
            </a:pPr>
            <a:r>
              <a:rPr sz="1100" b="0" i="0">
                <a:solidFill>
                  <a:srgbClr val="556477"/>
                </a:solidFill>
                <a:latin typeface="Segoe UI"/>
              </a:rPr>
              <a:t>Engine stamps confirmed / contradicted</a:t>
            </a:r>
          </a:p>
        </p:txBody>
      </p:sp>
      <p:sp>
        <p:nvSpPr>
          <p:cNvPr id="43" name="Chevron 42"/>
          <p:cNvSpPr/>
          <p:nvPr/>
        </p:nvSpPr>
        <p:spPr>
          <a:xfrm>
            <a:off x="9546336" y="3063240"/>
            <a:ext cx="237744" cy="457200"/>
          </a:xfrm>
          <a:prstGeom prst="chevron">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756648" y="2148840"/>
            <a:ext cx="2084831" cy="22860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756648" y="2148840"/>
            <a:ext cx="2084831" cy="50292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756648" y="2377440"/>
            <a:ext cx="2084831" cy="274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85248" y="2148840"/>
            <a:ext cx="548640" cy="502920"/>
          </a:xfrm>
          <a:prstGeom prst="rect">
            <a:avLst/>
          </a:prstGeom>
          <a:noFill/>
        </p:spPr>
        <p:txBody>
          <a:bodyPr wrap="square" anchor="ctr" lIns="0" rIns="0" tIns="0" bIns="0">
            <a:spAutoFit/>
          </a:bodyPr>
          <a:lstStyle/>
          <a:p>
            <a:pPr algn="l">
              <a:lnSpc>
                <a:spcPct val="100000"/>
              </a:lnSpc>
            </a:pPr>
            <a:r>
              <a:rPr sz="2000" b="1" i="0">
                <a:solidFill>
                  <a:srgbClr val="FFFFFF"/>
                </a:solidFill>
                <a:latin typeface="Segoe UI Semibold"/>
              </a:rPr>
              <a:t>5</a:t>
            </a:r>
          </a:p>
        </p:txBody>
      </p:sp>
      <p:sp>
        <p:nvSpPr>
          <p:cNvPr id="48" name="TextBox 47"/>
          <p:cNvSpPr txBox="1"/>
          <p:nvPr/>
        </p:nvSpPr>
        <p:spPr>
          <a:xfrm>
            <a:off x="10488168" y="2148840"/>
            <a:ext cx="1280160" cy="502920"/>
          </a:xfrm>
          <a:prstGeom prst="rect">
            <a:avLst/>
          </a:prstGeom>
          <a:noFill/>
        </p:spPr>
        <p:txBody>
          <a:bodyPr wrap="square" anchor="ctr" lIns="0" rIns="0" tIns="0" bIns="0">
            <a:spAutoFit/>
          </a:bodyPr>
          <a:lstStyle/>
          <a:p>
            <a:pPr algn="r">
              <a:lnSpc>
                <a:spcPct val="100000"/>
              </a:lnSpc>
            </a:pPr>
            <a:r>
              <a:rPr sz="1600" b="1" i="0">
                <a:solidFill>
                  <a:srgbClr val="FFFFFF"/>
                </a:solidFill>
                <a:latin typeface="Arial"/>
              </a:rPr>
              <a:t>▲</a:t>
            </a:r>
          </a:p>
        </p:txBody>
      </p:sp>
      <p:sp>
        <p:nvSpPr>
          <p:cNvPr id="49" name="TextBox 48"/>
          <p:cNvSpPr txBox="1"/>
          <p:nvPr/>
        </p:nvSpPr>
        <p:spPr>
          <a:xfrm>
            <a:off x="9921240" y="2788920"/>
            <a:ext cx="1828800" cy="457200"/>
          </a:xfrm>
          <a:prstGeom prst="rect">
            <a:avLst/>
          </a:prstGeom>
          <a:noFill/>
        </p:spPr>
        <p:txBody>
          <a:bodyPr wrap="square" anchor="t" lIns="0" rIns="0" tIns="0" bIns="0">
            <a:spAutoFit/>
          </a:bodyPr>
          <a:lstStyle/>
          <a:p>
            <a:pPr algn="l">
              <a:lnSpc>
                <a:spcPct val="100000"/>
              </a:lnSpc>
            </a:pPr>
            <a:r>
              <a:rPr sz="1350" b="1" i="0">
                <a:solidFill>
                  <a:srgbClr val="16273C"/>
                </a:solidFill>
                <a:latin typeface="Segoe UI Semibold"/>
              </a:rPr>
              <a:t>Decide &amp; Track</a:t>
            </a:r>
          </a:p>
        </p:txBody>
      </p:sp>
      <p:sp>
        <p:nvSpPr>
          <p:cNvPr id="50" name="TextBox 49"/>
          <p:cNvSpPr txBox="1"/>
          <p:nvPr/>
        </p:nvSpPr>
        <p:spPr>
          <a:xfrm>
            <a:off x="9921240" y="3310128"/>
            <a:ext cx="1783080" cy="1005840"/>
          </a:xfrm>
          <a:prstGeom prst="rect">
            <a:avLst/>
          </a:prstGeom>
          <a:noFill/>
        </p:spPr>
        <p:txBody>
          <a:bodyPr wrap="square" anchor="t" lIns="0" rIns="0" tIns="0" bIns="0">
            <a:spAutoFit/>
          </a:bodyPr>
          <a:lstStyle/>
          <a:p>
            <a:pPr algn="l">
              <a:lnSpc>
                <a:spcPct val="105000"/>
              </a:lnSpc>
            </a:pPr>
            <a:r>
              <a:rPr sz="1100" b="0" i="0">
                <a:solidFill>
                  <a:srgbClr val="556477"/>
                </a:solidFill>
                <a:latin typeface="Segoe UI"/>
              </a:rPr>
              <a:t>ROI, pipeline, export to sourcing</a:t>
            </a:r>
          </a:p>
        </p:txBody>
      </p:sp>
      <p:sp>
        <p:nvSpPr>
          <p:cNvPr id="51" name="Rounded Rectangle 50"/>
          <p:cNvSpPr/>
          <p:nvPr/>
        </p:nvSpPr>
        <p:spPr>
          <a:xfrm>
            <a:off x="502920" y="4892040"/>
            <a:ext cx="11155680" cy="105156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5029200"/>
            <a:ext cx="10607040" cy="777240"/>
          </a:xfrm>
          <a:prstGeom prst="rect">
            <a:avLst/>
          </a:prstGeom>
          <a:noFill/>
        </p:spPr>
        <p:txBody>
          <a:bodyPr wrap="square" anchor="ctr" lIns="0" rIns="0" tIns="0" bIns="0">
            <a:spAutoFit/>
          </a:bodyPr>
          <a:lstStyle/>
          <a:p>
            <a:pPr algn="l">
              <a:lnSpc>
                <a:spcPct val="105000"/>
              </a:lnSpc>
            </a:pPr>
            <a:r>
              <a:rPr sz="1400" b="1" i="0">
                <a:solidFill>
                  <a:srgbClr val="0D9488"/>
                </a:solidFill>
                <a:latin typeface="Segoe UI Semibold"/>
              </a:rPr>
              <a:t>Feedback loop:  </a:t>
            </a:r>
            <a:r>
              <a:rPr sz="1350" b="0" i="0">
                <a:solidFill>
                  <a:srgbClr val="374558"/>
                </a:solidFill>
                <a:latin typeface="Segoe UI"/>
              </a:rPr>
              <a:t>real supplier quotes feed back into the engine's calibration, so every quote makes the next estimate sharper.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UNDER THE HOOD</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AI Capabilities</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15</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Rounded Rectangle 10"/>
          <p:cNvSpPr/>
          <p:nvPr/>
        </p:nvSpPr>
        <p:spPr>
          <a:xfrm>
            <a:off x="548640" y="1554480"/>
            <a:ext cx="3566160" cy="2121408"/>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1554480"/>
            <a:ext cx="82296" cy="212140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 y="1792224"/>
            <a:ext cx="5029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17922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5" name="TextBox 14"/>
          <p:cNvSpPr txBox="1"/>
          <p:nvPr/>
        </p:nvSpPr>
        <p:spPr>
          <a:xfrm>
            <a:off x="1463040" y="17922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Agentic reasoning</a:t>
            </a:r>
          </a:p>
        </p:txBody>
      </p:sp>
      <p:sp>
        <p:nvSpPr>
          <p:cNvPr id="16" name="TextBox 15"/>
          <p:cNvSpPr txBox="1"/>
          <p:nvPr/>
        </p:nvSpPr>
        <p:spPr>
          <a:xfrm>
            <a:off x="841248" y="2423160"/>
            <a:ext cx="3017520" cy="1161288"/>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The AI calls the cost engine as a tool, tests alternatives, and learns from rejections — it explores, it doesn't just answer.</a:t>
            </a:r>
          </a:p>
        </p:txBody>
      </p:sp>
      <p:sp>
        <p:nvSpPr>
          <p:cNvPr id="17" name="Rounded Rectangle 16"/>
          <p:cNvSpPr/>
          <p:nvPr/>
        </p:nvSpPr>
        <p:spPr>
          <a:xfrm>
            <a:off x="4279392" y="1554480"/>
            <a:ext cx="3566160" cy="2121408"/>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79392" y="1554480"/>
            <a:ext cx="82296" cy="212140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35424" y="1792224"/>
            <a:ext cx="502920" cy="50292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5424" y="17922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1" name="TextBox 20"/>
          <p:cNvSpPr txBox="1"/>
          <p:nvPr/>
        </p:nvSpPr>
        <p:spPr>
          <a:xfrm>
            <a:off x="5193792" y="17922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Grounded web search</a:t>
            </a:r>
          </a:p>
        </p:txBody>
      </p:sp>
      <p:sp>
        <p:nvSpPr>
          <p:cNvPr id="22" name="TextBox 21"/>
          <p:cNvSpPr txBox="1"/>
          <p:nvPr/>
        </p:nvSpPr>
        <p:spPr>
          <a:xfrm>
            <a:off x="4572000" y="2423160"/>
            <a:ext cx="3017520" cy="1161288"/>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Live search for current commodity prices and recent OEM innovations before it generates.</a:t>
            </a:r>
          </a:p>
        </p:txBody>
      </p:sp>
      <p:sp>
        <p:nvSpPr>
          <p:cNvPr id="23" name="Rounded Rectangle 22"/>
          <p:cNvSpPr/>
          <p:nvPr/>
        </p:nvSpPr>
        <p:spPr>
          <a:xfrm>
            <a:off x="8010144" y="1554480"/>
            <a:ext cx="3566160" cy="2121408"/>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010144" y="1554480"/>
            <a:ext cx="82296" cy="212140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66176" y="1792224"/>
            <a:ext cx="502920" cy="50292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66176" y="17922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7" name="TextBox 26"/>
          <p:cNvSpPr txBox="1"/>
          <p:nvPr/>
        </p:nvSpPr>
        <p:spPr>
          <a:xfrm>
            <a:off x="8924544" y="17922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Multimodal input</a:t>
            </a:r>
          </a:p>
        </p:txBody>
      </p:sp>
      <p:sp>
        <p:nvSpPr>
          <p:cNvPr id="28" name="TextBox 27"/>
          <p:cNvSpPr txBox="1"/>
          <p:nvPr/>
        </p:nvSpPr>
        <p:spPr>
          <a:xfrm>
            <a:off x="8302752" y="2423160"/>
            <a:ext cx="3017520" cy="1161288"/>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Reads 3D models, 2D drawings and multi-sheet PDF drawing packs via vision.</a:t>
            </a:r>
          </a:p>
        </p:txBody>
      </p:sp>
      <p:sp>
        <p:nvSpPr>
          <p:cNvPr id="29" name="Rounded Rectangle 28"/>
          <p:cNvSpPr/>
          <p:nvPr/>
        </p:nvSpPr>
        <p:spPr>
          <a:xfrm>
            <a:off x="548640" y="3840480"/>
            <a:ext cx="3566160" cy="2121408"/>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3840480"/>
            <a:ext cx="82296" cy="2121408"/>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078224"/>
            <a:ext cx="502920" cy="50292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40782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3" name="TextBox 32"/>
          <p:cNvSpPr txBox="1"/>
          <p:nvPr/>
        </p:nvSpPr>
        <p:spPr>
          <a:xfrm>
            <a:off x="1463040" y="40782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Structured output</a:t>
            </a:r>
          </a:p>
        </p:txBody>
      </p:sp>
      <p:sp>
        <p:nvSpPr>
          <p:cNvPr id="34" name="TextBox 33"/>
          <p:cNvSpPr txBox="1"/>
          <p:nvPr/>
        </p:nvSpPr>
        <p:spPr>
          <a:xfrm>
            <a:off x="841248" y="4709160"/>
            <a:ext cx="3017520" cy="1161288"/>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Forced tool-schemas guarantee clean, typed data — never free-text guesses.</a:t>
            </a:r>
          </a:p>
        </p:txBody>
      </p:sp>
      <p:sp>
        <p:nvSpPr>
          <p:cNvPr id="35" name="Rounded Rectangle 34"/>
          <p:cNvSpPr/>
          <p:nvPr/>
        </p:nvSpPr>
        <p:spPr>
          <a:xfrm>
            <a:off x="4279392" y="3840480"/>
            <a:ext cx="3566160" cy="2121408"/>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279392" y="3840480"/>
            <a:ext cx="82296" cy="212140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535424" y="4078224"/>
            <a:ext cx="502920" cy="50292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35424" y="40782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9" name="TextBox 38"/>
          <p:cNvSpPr txBox="1"/>
          <p:nvPr/>
        </p:nvSpPr>
        <p:spPr>
          <a:xfrm>
            <a:off x="5193792" y="40782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Guardrails</a:t>
            </a:r>
          </a:p>
        </p:txBody>
      </p:sp>
      <p:sp>
        <p:nvSpPr>
          <p:cNvPr id="40" name="TextBox 39"/>
          <p:cNvSpPr txBox="1"/>
          <p:nvPr/>
        </p:nvSpPr>
        <p:spPr>
          <a:xfrm>
            <a:off x="4572000" y="4709160"/>
            <a:ext cx="3017520" cy="1161288"/>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Prompt-injection defences; untrusted part text treated as data, not instructions.</a:t>
            </a:r>
          </a:p>
        </p:txBody>
      </p:sp>
      <p:sp>
        <p:nvSpPr>
          <p:cNvPr id="41" name="Rounded Rectangle 40"/>
          <p:cNvSpPr/>
          <p:nvPr/>
        </p:nvSpPr>
        <p:spPr>
          <a:xfrm>
            <a:off x="8010144" y="3840480"/>
            <a:ext cx="3566160" cy="2121408"/>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010144" y="3840480"/>
            <a:ext cx="82296" cy="21214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266176" y="4078224"/>
            <a:ext cx="502920" cy="50292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66176" y="4078224"/>
            <a:ext cx="502920" cy="50292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5" name="TextBox 44"/>
          <p:cNvSpPr txBox="1"/>
          <p:nvPr/>
        </p:nvSpPr>
        <p:spPr>
          <a:xfrm>
            <a:off x="8924544" y="4078224"/>
            <a:ext cx="2468880" cy="457200"/>
          </a:xfrm>
          <a:prstGeom prst="rect">
            <a:avLst/>
          </a:prstGeom>
          <a:noFill/>
        </p:spPr>
        <p:txBody>
          <a:bodyPr wrap="square" anchor="ctr" lIns="0" rIns="0" tIns="0" bIns="0">
            <a:spAutoFit/>
          </a:bodyPr>
          <a:lstStyle/>
          <a:p>
            <a:pPr algn="l">
              <a:lnSpc>
                <a:spcPct val="100000"/>
              </a:lnSpc>
            </a:pPr>
            <a:r>
              <a:rPr sz="1500" b="1" i="0">
                <a:solidFill>
                  <a:srgbClr val="16273C"/>
                </a:solidFill>
                <a:latin typeface="Segoe UI Semibold"/>
              </a:rPr>
              <a:t>Model tiering</a:t>
            </a:r>
          </a:p>
        </p:txBody>
      </p:sp>
      <p:sp>
        <p:nvSpPr>
          <p:cNvPr id="46" name="TextBox 45"/>
          <p:cNvSpPr txBox="1"/>
          <p:nvPr/>
        </p:nvSpPr>
        <p:spPr>
          <a:xfrm>
            <a:off x="8302752" y="4709160"/>
            <a:ext cx="3017520" cy="1161288"/>
          </a:xfrm>
          <a:prstGeom prst="rect">
            <a:avLst/>
          </a:prstGeom>
          <a:noFill/>
        </p:spPr>
        <p:txBody>
          <a:bodyPr wrap="square" anchor="t" lIns="0" rIns="0" tIns="0" bIns="0">
            <a:spAutoFit/>
          </a:bodyPr>
          <a:lstStyle/>
          <a:p>
            <a:pPr algn="l">
              <a:lnSpc>
                <a:spcPct val="106000"/>
              </a:lnSpc>
            </a:pPr>
            <a:r>
              <a:rPr sz="1150" b="0" i="0">
                <a:solidFill>
                  <a:srgbClr val="556477"/>
                </a:solidFill>
                <a:latin typeface="Segoe UI"/>
              </a:rPr>
              <a:t>Fast model for cheap steps, flagship model for the hard reasoning — cost-efficient.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ENGINEERING</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Technology &amp; Tools Used</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16</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Rounded Rectangle 10"/>
          <p:cNvSpPr/>
          <p:nvPr/>
        </p:nvSpPr>
        <p:spPr>
          <a:xfrm>
            <a:off x="548640" y="1600200"/>
            <a:ext cx="2697480" cy="43434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1600200"/>
            <a:ext cx="2697480" cy="68580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65960"/>
            <a:ext cx="2697480" cy="3200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00200"/>
            <a:ext cx="2697480" cy="685800"/>
          </a:xfrm>
          <a:prstGeom prst="rect">
            <a:avLst/>
          </a:prstGeom>
          <a:noFill/>
        </p:spPr>
        <p:txBody>
          <a:bodyPr wrap="square" anchor="ctr" lIns="0" rIns="0" tIns="0" bIns="0">
            <a:spAutoFit/>
          </a:bodyPr>
          <a:lstStyle/>
          <a:p>
            <a:pPr algn="ctr">
              <a:lnSpc>
                <a:spcPct val="100000"/>
              </a:lnSpc>
            </a:pPr>
            <a:r>
              <a:rPr sz="1450" b="1" i="0">
                <a:solidFill>
                  <a:srgbClr val="FFFFFF"/>
                </a:solidFill>
                <a:latin typeface="Segoe UI Semibold"/>
              </a:rPr>
              <a:t>AI &amp; Reasoning</a:t>
            </a:r>
          </a:p>
        </p:txBody>
      </p:sp>
      <p:sp>
        <p:nvSpPr>
          <p:cNvPr id="15" name="Rounded Rectangle 14"/>
          <p:cNvSpPr/>
          <p:nvPr/>
        </p:nvSpPr>
        <p:spPr>
          <a:xfrm>
            <a:off x="749808" y="2514600"/>
            <a:ext cx="310896" cy="31089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2514600"/>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7" name="TextBox 16"/>
          <p:cNvSpPr txBox="1"/>
          <p:nvPr/>
        </p:nvSpPr>
        <p:spPr>
          <a:xfrm>
            <a:off x="1152144" y="2487168"/>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Anthropic Claude (Opus / Sonnet)</a:t>
            </a:r>
          </a:p>
        </p:txBody>
      </p:sp>
      <p:sp>
        <p:nvSpPr>
          <p:cNvPr id="18" name="Rounded Rectangle 17"/>
          <p:cNvSpPr/>
          <p:nvPr/>
        </p:nvSpPr>
        <p:spPr>
          <a:xfrm>
            <a:off x="749808" y="3355848"/>
            <a:ext cx="310896" cy="31089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355848"/>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0" name="TextBox 19"/>
          <p:cNvSpPr txBox="1"/>
          <p:nvPr/>
        </p:nvSpPr>
        <p:spPr>
          <a:xfrm>
            <a:off x="1152144" y="3328416"/>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Agentic tool-use loop</a:t>
            </a:r>
          </a:p>
        </p:txBody>
      </p:sp>
      <p:sp>
        <p:nvSpPr>
          <p:cNvPr id="21" name="Rounded Rectangle 20"/>
          <p:cNvSpPr/>
          <p:nvPr/>
        </p:nvSpPr>
        <p:spPr>
          <a:xfrm>
            <a:off x="749808" y="4197096"/>
            <a:ext cx="310896" cy="31089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197096"/>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3" name="TextBox 22"/>
          <p:cNvSpPr txBox="1"/>
          <p:nvPr/>
        </p:nvSpPr>
        <p:spPr>
          <a:xfrm>
            <a:off x="1152144" y="4169664"/>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Expert-panel &amp; tournament ranking</a:t>
            </a:r>
          </a:p>
        </p:txBody>
      </p:sp>
      <p:sp>
        <p:nvSpPr>
          <p:cNvPr id="24" name="Rounded Rectangle 23"/>
          <p:cNvSpPr/>
          <p:nvPr/>
        </p:nvSpPr>
        <p:spPr>
          <a:xfrm>
            <a:off x="749808" y="5038344"/>
            <a:ext cx="310896" cy="31089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038344"/>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6" name="TextBox 25"/>
          <p:cNvSpPr txBox="1"/>
          <p:nvPr/>
        </p:nvSpPr>
        <p:spPr>
          <a:xfrm>
            <a:off x="1152144" y="5010912"/>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Structured JSON output</a:t>
            </a:r>
          </a:p>
        </p:txBody>
      </p:sp>
      <p:sp>
        <p:nvSpPr>
          <p:cNvPr id="27" name="Rounded Rectangle 26"/>
          <p:cNvSpPr/>
          <p:nvPr/>
        </p:nvSpPr>
        <p:spPr>
          <a:xfrm>
            <a:off x="3364992" y="1600200"/>
            <a:ext cx="2697480" cy="43434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364992" y="1600200"/>
            <a:ext cx="2697480" cy="6858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64992" y="1965960"/>
            <a:ext cx="2697480" cy="3200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64992" y="1600200"/>
            <a:ext cx="2697480" cy="685800"/>
          </a:xfrm>
          <a:prstGeom prst="rect">
            <a:avLst/>
          </a:prstGeom>
          <a:noFill/>
        </p:spPr>
        <p:txBody>
          <a:bodyPr wrap="square" anchor="ctr" lIns="0" rIns="0" tIns="0" bIns="0">
            <a:spAutoFit/>
          </a:bodyPr>
          <a:lstStyle/>
          <a:p>
            <a:pPr algn="ctr">
              <a:lnSpc>
                <a:spcPct val="100000"/>
              </a:lnSpc>
            </a:pPr>
            <a:r>
              <a:rPr sz="1450" b="1" i="0">
                <a:solidFill>
                  <a:srgbClr val="FFFFFF"/>
                </a:solidFill>
                <a:latin typeface="Segoe UI Semibold"/>
              </a:rPr>
              <a:t>Frontend</a:t>
            </a:r>
          </a:p>
        </p:txBody>
      </p:sp>
      <p:sp>
        <p:nvSpPr>
          <p:cNvPr id="31" name="Rounded Rectangle 30"/>
          <p:cNvSpPr/>
          <p:nvPr/>
        </p:nvSpPr>
        <p:spPr>
          <a:xfrm>
            <a:off x="3566160" y="2514600"/>
            <a:ext cx="310896" cy="31089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6160" y="2514600"/>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3" name="TextBox 32"/>
          <p:cNvSpPr txBox="1"/>
          <p:nvPr/>
        </p:nvSpPr>
        <p:spPr>
          <a:xfrm>
            <a:off x="3968496" y="2487168"/>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React + TypeScript + Vite</a:t>
            </a:r>
          </a:p>
        </p:txBody>
      </p:sp>
      <p:sp>
        <p:nvSpPr>
          <p:cNvPr id="34" name="Rounded Rectangle 33"/>
          <p:cNvSpPr/>
          <p:nvPr/>
        </p:nvSpPr>
        <p:spPr>
          <a:xfrm>
            <a:off x="3566160" y="3355848"/>
            <a:ext cx="310896" cy="31089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66160" y="3355848"/>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6" name="TextBox 35"/>
          <p:cNvSpPr txBox="1"/>
          <p:nvPr/>
        </p:nvSpPr>
        <p:spPr>
          <a:xfrm>
            <a:off x="3968496" y="3328416"/>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Tailwind CSS UI</a:t>
            </a:r>
          </a:p>
        </p:txBody>
      </p:sp>
      <p:sp>
        <p:nvSpPr>
          <p:cNvPr id="37" name="Rounded Rectangle 36"/>
          <p:cNvSpPr/>
          <p:nvPr/>
        </p:nvSpPr>
        <p:spPr>
          <a:xfrm>
            <a:off x="3566160" y="4197096"/>
            <a:ext cx="310896" cy="31089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66160" y="4197096"/>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9" name="TextBox 38"/>
          <p:cNvSpPr txBox="1"/>
          <p:nvPr/>
        </p:nvSpPr>
        <p:spPr>
          <a:xfrm>
            <a:off x="3968496" y="4169664"/>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Three.js 3D CAD viewer</a:t>
            </a:r>
          </a:p>
        </p:txBody>
      </p:sp>
      <p:sp>
        <p:nvSpPr>
          <p:cNvPr id="40" name="Rounded Rectangle 39"/>
          <p:cNvSpPr/>
          <p:nvPr/>
        </p:nvSpPr>
        <p:spPr>
          <a:xfrm>
            <a:off x="3566160" y="5038344"/>
            <a:ext cx="310896" cy="310896"/>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66160" y="5038344"/>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2" name="TextBox 41"/>
          <p:cNvSpPr txBox="1"/>
          <p:nvPr/>
        </p:nvSpPr>
        <p:spPr>
          <a:xfrm>
            <a:off x="3968496" y="5010912"/>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PWA / mobile (Capacitor)</a:t>
            </a:r>
          </a:p>
        </p:txBody>
      </p:sp>
      <p:sp>
        <p:nvSpPr>
          <p:cNvPr id="43" name="Rounded Rectangle 42"/>
          <p:cNvSpPr/>
          <p:nvPr/>
        </p:nvSpPr>
        <p:spPr>
          <a:xfrm>
            <a:off x="6181344" y="1600200"/>
            <a:ext cx="2697480" cy="43434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181344" y="1600200"/>
            <a:ext cx="2697480" cy="6858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81344" y="1965960"/>
            <a:ext cx="2697480" cy="32004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81344" y="1600200"/>
            <a:ext cx="2697480" cy="685800"/>
          </a:xfrm>
          <a:prstGeom prst="rect">
            <a:avLst/>
          </a:prstGeom>
          <a:noFill/>
        </p:spPr>
        <p:txBody>
          <a:bodyPr wrap="square" anchor="ctr" lIns="0" rIns="0" tIns="0" bIns="0">
            <a:spAutoFit/>
          </a:bodyPr>
          <a:lstStyle/>
          <a:p>
            <a:pPr algn="ctr">
              <a:lnSpc>
                <a:spcPct val="100000"/>
              </a:lnSpc>
            </a:pPr>
            <a:r>
              <a:rPr sz="1450" b="1" i="0">
                <a:solidFill>
                  <a:srgbClr val="FFFFFF"/>
                </a:solidFill>
                <a:latin typeface="Segoe UI Semibold"/>
              </a:rPr>
              <a:t>Backend &amp; Data</a:t>
            </a:r>
          </a:p>
        </p:txBody>
      </p:sp>
      <p:sp>
        <p:nvSpPr>
          <p:cNvPr id="47" name="Rounded Rectangle 46"/>
          <p:cNvSpPr/>
          <p:nvPr/>
        </p:nvSpPr>
        <p:spPr>
          <a:xfrm>
            <a:off x="6382512" y="2514600"/>
            <a:ext cx="310896" cy="310896"/>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82512" y="2514600"/>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9" name="TextBox 48"/>
          <p:cNvSpPr txBox="1"/>
          <p:nvPr/>
        </p:nvSpPr>
        <p:spPr>
          <a:xfrm>
            <a:off x="6784848" y="2487168"/>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Node.js + Express</a:t>
            </a:r>
          </a:p>
        </p:txBody>
      </p:sp>
      <p:sp>
        <p:nvSpPr>
          <p:cNvPr id="50" name="Rounded Rectangle 49"/>
          <p:cNvSpPr/>
          <p:nvPr/>
        </p:nvSpPr>
        <p:spPr>
          <a:xfrm>
            <a:off x="6382512" y="3355848"/>
            <a:ext cx="310896" cy="310896"/>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82512" y="3355848"/>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2" name="TextBox 51"/>
          <p:cNvSpPr txBox="1"/>
          <p:nvPr/>
        </p:nvSpPr>
        <p:spPr>
          <a:xfrm>
            <a:off x="6784848" y="3328416"/>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SQLite (better-sqlite3)</a:t>
            </a:r>
          </a:p>
        </p:txBody>
      </p:sp>
      <p:sp>
        <p:nvSpPr>
          <p:cNvPr id="53" name="Rounded Rectangle 52"/>
          <p:cNvSpPr/>
          <p:nvPr/>
        </p:nvSpPr>
        <p:spPr>
          <a:xfrm>
            <a:off x="6382512" y="4197096"/>
            <a:ext cx="310896" cy="310896"/>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82512" y="4197096"/>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5" name="TextBox 54"/>
          <p:cNvSpPr txBox="1"/>
          <p:nvPr/>
        </p:nvSpPr>
        <p:spPr>
          <a:xfrm>
            <a:off x="6784848" y="4169664"/>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OpenCascade CAD geometry</a:t>
            </a:r>
          </a:p>
        </p:txBody>
      </p:sp>
      <p:sp>
        <p:nvSpPr>
          <p:cNvPr id="56" name="Rounded Rectangle 55"/>
          <p:cNvSpPr/>
          <p:nvPr/>
        </p:nvSpPr>
        <p:spPr>
          <a:xfrm>
            <a:off x="6382512" y="5038344"/>
            <a:ext cx="310896" cy="310896"/>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82512" y="5038344"/>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8" name="TextBox 57"/>
          <p:cNvSpPr txBox="1"/>
          <p:nvPr/>
        </p:nvSpPr>
        <p:spPr>
          <a:xfrm>
            <a:off x="6784848" y="5010912"/>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FX, commodity, DigiKey &amp; patent APIs</a:t>
            </a:r>
          </a:p>
        </p:txBody>
      </p:sp>
      <p:sp>
        <p:nvSpPr>
          <p:cNvPr id="59" name="Rounded Rectangle 58"/>
          <p:cNvSpPr/>
          <p:nvPr/>
        </p:nvSpPr>
        <p:spPr>
          <a:xfrm>
            <a:off x="8997696" y="1600200"/>
            <a:ext cx="2697480" cy="43434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8997696" y="1600200"/>
            <a:ext cx="2697480" cy="68580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97696" y="1965960"/>
            <a:ext cx="2697480" cy="32004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97696" y="1600200"/>
            <a:ext cx="2697480" cy="685800"/>
          </a:xfrm>
          <a:prstGeom prst="rect">
            <a:avLst/>
          </a:prstGeom>
          <a:noFill/>
        </p:spPr>
        <p:txBody>
          <a:bodyPr wrap="square" anchor="ctr" lIns="0" rIns="0" tIns="0" bIns="0">
            <a:spAutoFit/>
          </a:bodyPr>
          <a:lstStyle/>
          <a:p>
            <a:pPr algn="ctr">
              <a:lnSpc>
                <a:spcPct val="100000"/>
              </a:lnSpc>
            </a:pPr>
            <a:r>
              <a:rPr sz="1450" b="1" i="0">
                <a:solidFill>
                  <a:srgbClr val="FFFFFF"/>
                </a:solidFill>
                <a:latin typeface="Segoe UI Semibold"/>
              </a:rPr>
              <a:t>Cost Engine</a:t>
            </a:r>
          </a:p>
        </p:txBody>
      </p:sp>
      <p:sp>
        <p:nvSpPr>
          <p:cNvPr id="63" name="Rounded Rectangle 62"/>
          <p:cNvSpPr/>
          <p:nvPr/>
        </p:nvSpPr>
        <p:spPr>
          <a:xfrm>
            <a:off x="9198864" y="2514600"/>
            <a:ext cx="310896" cy="310896"/>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98864" y="2514600"/>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65" name="TextBox 64"/>
          <p:cNvSpPr txBox="1"/>
          <p:nvPr/>
        </p:nvSpPr>
        <p:spPr>
          <a:xfrm>
            <a:off x="9601200" y="2487168"/>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Deterministic should-cost core</a:t>
            </a:r>
          </a:p>
        </p:txBody>
      </p:sp>
      <p:sp>
        <p:nvSpPr>
          <p:cNvPr id="66" name="Rounded Rectangle 65"/>
          <p:cNvSpPr/>
          <p:nvPr/>
        </p:nvSpPr>
        <p:spPr>
          <a:xfrm>
            <a:off x="9198864" y="3355848"/>
            <a:ext cx="310896" cy="310896"/>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98864" y="3355848"/>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68" name="TextBox 67"/>
          <p:cNvSpPr txBox="1"/>
          <p:nvPr/>
        </p:nvSpPr>
        <p:spPr>
          <a:xfrm>
            <a:off x="9601200" y="3328416"/>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Machining, stamping &amp; PCB models</a:t>
            </a:r>
          </a:p>
        </p:txBody>
      </p:sp>
      <p:sp>
        <p:nvSpPr>
          <p:cNvPr id="69" name="Rounded Rectangle 68"/>
          <p:cNvSpPr/>
          <p:nvPr/>
        </p:nvSpPr>
        <p:spPr>
          <a:xfrm>
            <a:off x="9198864" y="4197096"/>
            <a:ext cx="310896" cy="310896"/>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198864" y="4197096"/>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71" name="TextBox 70"/>
          <p:cNvSpPr txBox="1"/>
          <p:nvPr/>
        </p:nvSpPr>
        <p:spPr>
          <a:xfrm>
            <a:off x="9601200" y="4169664"/>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Monte-Carlo simulation</a:t>
            </a:r>
          </a:p>
        </p:txBody>
      </p:sp>
      <p:sp>
        <p:nvSpPr>
          <p:cNvPr id="72" name="Rounded Rectangle 71"/>
          <p:cNvSpPr/>
          <p:nvPr/>
        </p:nvSpPr>
        <p:spPr>
          <a:xfrm>
            <a:off x="9198864" y="5038344"/>
            <a:ext cx="310896" cy="310896"/>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98864" y="5038344"/>
            <a:ext cx="310896" cy="310896"/>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74" name="TextBox 73"/>
          <p:cNvSpPr txBox="1"/>
          <p:nvPr/>
        </p:nvSpPr>
        <p:spPr>
          <a:xfrm>
            <a:off x="9601200" y="5010912"/>
            <a:ext cx="2011680" cy="7772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280+ automated tests &amp; benchmarks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BEHIND THE SCENES</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The Engineering Effort Behind the Tool</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17</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TextBox 10"/>
          <p:cNvSpPr txBox="1"/>
          <p:nvPr/>
        </p:nvSpPr>
        <p:spPr>
          <a:xfrm>
            <a:off x="548640" y="1417320"/>
            <a:ext cx="11064240" cy="457200"/>
          </a:xfrm>
          <a:prstGeom prst="rect">
            <a:avLst/>
          </a:prstGeom>
          <a:noFill/>
        </p:spPr>
        <p:txBody>
          <a:bodyPr wrap="square" anchor="t" lIns="0" rIns="0" tIns="0" bIns="0">
            <a:spAutoFit/>
          </a:bodyPr>
          <a:lstStyle/>
          <a:p>
            <a:pPr algn="l">
              <a:lnSpc>
                <a:spcPct val="100000"/>
              </a:lnSpc>
            </a:pPr>
            <a:r>
              <a:rPr sz="1450" b="1" i="0">
                <a:solidFill>
                  <a:srgbClr val="0D9488"/>
                </a:solidFill>
                <a:latin typeface="Segoe UI Semibold"/>
              </a:rPr>
              <a:t>Engineer-directed, AI-accelerated development — the same human + AI leverage the tool itself delivers.</a:t>
            </a:r>
          </a:p>
        </p:txBody>
      </p:sp>
      <p:sp>
        <p:nvSpPr>
          <p:cNvPr id="12" name="Rounded Rectangle 11"/>
          <p:cNvSpPr/>
          <p:nvPr/>
        </p:nvSpPr>
        <p:spPr>
          <a:xfrm>
            <a:off x="548640" y="1965960"/>
            <a:ext cx="2697480"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75688"/>
            <a:ext cx="2697480" cy="457200"/>
          </a:xfrm>
          <a:prstGeom prst="rect">
            <a:avLst/>
          </a:prstGeom>
          <a:noFill/>
        </p:spPr>
        <p:txBody>
          <a:bodyPr wrap="square" anchor="t" lIns="0" rIns="0" tIns="0" bIns="0">
            <a:spAutoFit/>
          </a:bodyPr>
          <a:lstStyle/>
          <a:p>
            <a:pPr algn="ctr">
              <a:lnSpc>
                <a:spcPct val="100000"/>
              </a:lnSpc>
            </a:pPr>
            <a:r>
              <a:rPr sz="2400" b="1" i="0">
                <a:solidFill>
                  <a:srgbClr val="B47609"/>
                </a:solidFill>
                <a:latin typeface="Segoe UI Semibold"/>
              </a:rPr>
              <a:t>42,600+</a:t>
            </a:r>
          </a:p>
        </p:txBody>
      </p:sp>
      <p:sp>
        <p:nvSpPr>
          <p:cNvPr id="14" name="TextBox 13"/>
          <p:cNvSpPr txBox="1"/>
          <p:nvPr/>
        </p:nvSpPr>
        <p:spPr>
          <a:xfrm>
            <a:off x="548640" y="2578608"/>
            <a:ext cx="2697480" cy="32004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lines of production code</a:t>
            </a:r>
          </a:p>
        </p:txBody>
      </p:sp>
      <p:sp>
        <p:nvSpPr>
          <p:cNvPr id="15" name="Rounded Rectangle 14"/>
          <p:cNvSpPr/>
          <p:nvPr/>
        </p:nvSpPr>
        <p:spPr>
          <a:xfrm>
            <a:off x="3364992" y="1965960"/>
            <a:ext cx="2697480"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64992" y="2075688"/>
            <a:ext cx="2697480" cy="457200"/>
          </a:xfrm>
          <a:prstGeom prst="rect">
            <a:avLst/>
          </a:prstGeom>
          <a:noFill/>
        </p:spPr>
        <p:txBody>
          <a:bodyPr wrap="square" anchor="t" lIns="0" rIns="0" tIns="0" bIns="0">
            <a:spAutoFit/>
          </a:bodyPr>
          <a:lstStyle/>
          <a:p>
            <a:pPr algn="ctr">
              <a:lnSpc>
                <a:spcPct val="100000"/>
              </a:lnSpc>
            </a:pPr>
            <a:r>
              <a:rPr sz="2400" b="1" i="0">
                <a:solidFill>
                  <a:srgbClr val="B47609"/>
                </a:solidFill>
                <a:latin typeface="Segoe UI Semibold"/>
              </a:rPr>
              <a:t>150+</a:t>
            </a:r>
          </a:p>
        </p:txBody>
      </p:sp>
      <p:sp>
        <p:nvSpPr>
          <p:cNvPr id="17" name="TextBox 16"/>
          <p:cNvSpPr txBox="1"/>
          <p:nvPr/>
        </p:nvSpPr>
        <p:spPr>
          <a:xfrm>
            <a:off x="3364992" y="2578608"/>
            <a:ext cx="2697480" cy="32004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source files</a:t>
            </a:r>
          </a:p>
        </p:txBody>
      </p:sp>
      <p:sp>
        <p:nvSpPr>
          <p:cNvPr id="18" name="Rounded Rectangle 17"/>
          <p:cNvSpPr/>
          <p:nvPr/>
        </p:nvSpPr>
        <p:spPr>
          <a:xfrm>
            <a:off x="6181344" y="1965960"/>
            <a:ext cx="2697480"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2075688"/>
            <a:ext cx="2697480" cy="457200"/>
          </a:xfrm>
          <a:prstGeom prst="rect">
            <a:avLst/>
          </a:prstGeom>
          <a:noFill/>
        </p:spPr>
        <p:txBody>
          <a:bodyPr wrap="square" anchor="t" lIns="0" rIns="0" tIns="0" bIns="0">
            <a:spAutoFit/>
          </a:bodyPr>
          <a:lstStyle/>
          <a:p>
            <a:pPr algn="ctr">
              <a:lnSpc>
                <a:spcPct val="100000"/>
              </a:lnSpc>
            </a:pPr>
            <a:r>
              <a:rPr sz="2400" b="1" i="0">
                <a:solidFill>
                  <a:srgbClr val="B47609"/>
                </a:solidFill>
                <a:latin typeface="Segoe UI Semibold"/>
              </a:rPr>
              <a:t>285</a:t>
            </a:r>
          </a:p>
        </p:txBody>
      </p:sp>
      <p:sp>
        <p:nvSpPr>
          <p:cNvPr id="20" name="TextBox 19"/>
          <p:cNvSpPr txBox="1"/>
          <p:nvPr/>
        </p:nvSpPr>
        <p:spPr>
          <a:xfrm>
            <a:off x="6181344" y="2578608"/>
            <a:ext cx="2697480" cy="32004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automated tests</a:t>
            </a:r>
          </a:p>
        </p:txBody>
      </p:sp>
      <p:sp>
        <p:nvSpPr>
          <p:cNvPr id="21" name="Rounded Rectangle 20"/>
          <p:cNvSpPr/>
          <p:nvPr/>
        </p:nvSpPr>
        <p:spPr>
          <a:xfrm>
            <a:off x="8997696" y="1965960"/>
            <a:ext cx="2697480" cy="96012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97696" y="2075688"/>
            <a:ext cx="2697480" cy="457200"/>
          </a:xfrm>
          <a:prstGeom prst="rect">
            <a:avLst/>
          </a:prstGeom>
          <a:noFill/>
        </p:spPr>
        <p:txBody>
          <a:bodyPr wrap="square" anchor="t" lIns="0" rIns="0" tIns="0" bIns="0">
            <a:spAutoFit/>
          </a:bodyPr>
          <a:lstStyle/>
          <a:p>
            <a:pPr algn="ctr">
              <a:lnSpc>
                <a:spcPct val="100000"/>
              </a:lnSpc>
            </a:pPr>
            <a:r>
              <a:rPr sz="2400" b="1" i="0">
                <a:solidFill>
                  <a:srgbClr val="B47609"/>
                </a:solidFill>
                <a:latin typeface="Segoe UI Semibold"/>
              </a:rPr>
              <a:t>1 : 7.7</a:t>
            </a:r>
          </a:p>
        </p:txBody>
      </p:sp>
      <p:sp>
        <p:nvSpPr>
          <p:cNvPr id="23" name="TextBox 22"/>
          <p:cNvSpPr txBox="1"/>
          <p:nvPr/>
        </p:nvSpPr>
        <p:spPr>
          <a:xfrm>
            <a:off x="8997696" y="2578608"/>
            <a:ext cx="2697480" cy="320040"/>
          </a:xfrm>
          <a:prstGeom prst="rect">
            <a:avLst/>
          </a:prstGeom>
          <a:noFill/>
        </p:spPr>
        <p:txBody>
          <a:bodyPr wrap="square" anchor="t" lIns="0" rIns="0" tIns="0" bIns="0">
            <a:spAutoFit/>
          </a:bodyPr>
          <a:lstStyle/>
          <a:p>
            <a:pPr algn="ctr">
              <a:lnSpc>
                <a:spcPct val="100000"/>
              </a:lnSpc>
            </a:pPr>
            <a:r>
              <a:rPr sz="1050" b="0" i="0">
                <a:solidFill>
                  <a:srgbClr val="556477"/>
                </a:solidFill>
                <a:latin typeface="Segoe UI"/>
              </a:rPr>
              <a:t>test-to-product code ratio</a:t>
            </a:r>
          </a:p>
        </p:txBody>
      </p:sp>
      <p:sp>
        <p:nvSpPr>
          <p:cNvPr id="24" name="Rounded Rectangle 23"/>
          <p:cNvSpPr/>
          <p:nvPr/>
        </p:nvSpPr>
        <p:spPr>
          <a:xfrm>
            <a:off x="548640" y="3127248"/>
            <a:ext cx="6217920" cy="29718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255264"/>
            <a:ext cx="5669280" cy="320040"/>
          </a:xfrm>
          <a:prstGeom prst="rect">
            <a:avLst/>
          </a:prstGeom>
          <a:noFill/>
        </p:spPr>
        <p:txBody>
          <a:bodyPr wrap="square" anchor="t" lIns="0" rIns="0" tIns="0" bIns="0">
            <a:spAutoFit/>
          </a:bodyPr>
          <a:lstStyle/>
          <a:p>
            <a:pPr algn="l">
              <a:lnSpc>
                <a:spcPct val="100000"/>
              </a:lnSpc>
            </a:pPr>
            <a:r>
              <a:rPr sz="1100" b="1" i="0">
                <a:solidFill>
                  <a:srgbClr val="8390A1"/>
                </a:solidFill>
                <a:latin typeface="Segoe UI Semibold"/>
              </a:rPr>
              <a:t>WHERE THE CODE LIVES</a:t>
            </a:r>
          </a:p>
        </p:txBody>
      </p:sp>
      <p:sp>
        <p:nvSpPr>
          <p:cNvPr id="26" name="TextBox 25"/>
          <p:cNvSpPr txBox="1"/>
          <p:nvPr/>
        </p:nvSpPr>
        <p:spPr>
          <a:xfrm>
            <a:off x="822960" y="3639312"/>
            <a:ext cx="5577840" cy="274320"/>
          </a:xfrm>
          <a:prstGeom prst="rect">
            <a:avLst/>
          </a:prstGeom>
          <a:noFill/>
        </p:spPr>
        <p:txBody>
          <a:bodyPr wrap="square" anchor="t" lIns="0" rIns="0" tIns="0" bIns="0">
            <a:spAutoFit/>
          </a:bodyPr>
          <a:lstStyle/>
          <a:p>
            <a:pPr algn="l">
              <a:lnSpc>
                <a:spcPct val="100000"/>
              </a:lnSpc>
            </a:pPr>
            <a:r>
              <a:rPr sz="1050" b="0" i="0">
                <a:solidFill>
                  <a:srgbClr val="374558"/>
                </a:solidFill>
                <a:latin typeface="Segoe UI"/>
              </a:rPr>
              <a:t>Frontend app (React / TypeScript)</a:t>
            </a:r>
          </a:p>
        </p:txBody>
      </p:sp>
      <p:sp>
        <p:nvSpPr>
          <p:cNvPr id="27" name="Rounded Rectangle 26"/>
          <p:cNvSpPr/>
          <p:nvPr/>
        </p:nvSpPr>
        <p:spPr>
          <a:xfrm>
            <a:off x="822960" y="3858768"/>
            <a:ext cx="3703320" cy="146304"/>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3776472"/>
            <a:ext cx="1097280" cy="274320"/>
          </a:xfrm>
          <a:prstGeom prst="rect">
            <a:avLst/>
          </a:prstGeom>
          <a:noFill/>
        </p:spPr>
        <p:txBody>
          <a:bodyPr wrap="square" anchor="t" lIns="0" rIns="0" tIns="0" bIns="0">
            <a:spAutoFit/>
          </a:bodyPr>
          <a:lstStyle/>
          <a:p>
            <a:pPr algn="l">
              <a:lnSpc>
                <a:spcPct val="100000"/>
              </a:lnSpc>
            </a:pPr>
            <a:r>
              <a:rPr sz="1050" b="1" i="0">
                <a:solidFill>
                  <a:srgbClr val="16273C"/>
                </a:solidFill>
                <a:latin typeface="Segoe UI Semibold"/>
              </a:rPr>
              <a:t>20.4k</a:t>
            </a:r>
          </a:p>
        </p:txBody>
      </p:sp>
      <p:sp>
        <p:nvSpPr>
          <p:cNvPr id="29" name="TextBox 28"/>
          <p:cNvSpPr txBox="1"/>
          <p:nvPr/>
        </p:nvSpPr>
        <p:spPr>
          <a:xfrm>
            <a:off x="822960" y="4069080"/>
            <a:ext cx="5577840" cy="274320"/>
          </a:xfrm>
          <a:prstGeom prst="rect">
            <a:avLst/>
          </a:prstGeom>
          <a:noFill/>
        </p:spPr>
        <p:txBody>
          <a:bodyPr wrap="square" anchor="t" lIns="0" rIns="0" tIns="0" bIns="0">
            <a:spAutoFit/>
          </a:bodyPr>
          <a:lstStyle/>
          <a:p>
            <a:pPr algn="l">
              <a:lnSpc>
                <a:spcPct val="100000"/>
              </a:lnSpc>
            </a:pPr>
            <a:r>
              <a:rPr sz="1050" b="0" i="0">
                <a:solidFill>
                  <a:srgbClr val="374558"/>
                </a:solidFill>
                <a:latin typeface="Segoe UI"/>
              </a:rPr>
              <a:t>Cost engines + AI pipeline (backend)</a:t>
            </a:r>
          </a:p>
        </p:txBody>
      </p:sp>
      <p:sp>
        <p:nvSpPr>
          <p:cNvPr id="30" name="Rounded Rectangle 29"/>
          <p:cNvSpPr/>
          <p:nvPr/>
        </p:nvSpPr>
        <p:spPr>
          <a:xfrm>
            <a:off x="822960" y="4288536"/>
            <a:ext cx="2051348" cy="14630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65748" y="4206240"/>
            <a:ext cx="1097280" cy="274320"/>
          </a:xfrm>
          <a:prstGeom prst="rect">
            <a:avLst/>
          </a:prstGeom>
          <a:noFill/>
        </p:spPr>
        <p:txBody>
          <a:bodyPr wrap="square" anchor="t" lIns="0" rIns="0" tIns="0" bIns="0">
            <a:spAutoFit/>
          </a:bodyPr>
          <a:lstStyle/>
          <a:p>
            <a:pPr algn="l">
              <a:lnSpc>
                <a:spcPct val="100000"/>
              </a:lnSpc>
            </a:pPr>
            <a:r>
              <a:rPr sz="1050" b="1" i="0">
                <a:solidFill>
                  <a:srgbClr val="16273C"/>
                </a:solidFill>
                <a:latin typeface="Segoe UI Semibold"/>
              </a:rPr>
              <a:t>11.3k</a:t>
            </a:r>
          </a:p>
        </p:txBody>
      </p:sp>
      <p:sp>
        <p:nvSpPr>
          <p:cNvPr id="32" name="TextBox 31"/>
          <p:cNvSpPr txBox="1"/>
          <p:nvPr/>
        </p:nvSpPr>
        <p:spPr>
          <a:xfrm>
            <a:off x="822960" y="4498848"/>
            <a:ext cx="5577840" cy="274320"/>
          </a:xfrm>
          <a:prstGeom prst="rect">
            <a:avLst/>
          </a:prstGeom>
          <a:noFill/>
        </p:spPr>
        <p:txBody>
          <a:bodyPr wrap="square" anchor="t" lIns="0" rIns="0" tIns="0" bIns="0">
            <a:spAutoFit/>
          </a:bodyPr>
          <a:lstStyle/>
          <a:p>
            <a:pPr algn="l">
              <a:lnSpc>
                <a:spcPct val="100000"/>
              </a:lnSpc>
            </a:pPr>
            <a:r>
              <a:rPr sz="1050" b="0" i="0">
                <a:solidFill>
                  <a:srgbClr val="374558"/>
                </a:solidFill>
                <a:latin typeface="Segoe UI"/>
              </a:rPr>
              <a:t>Curated knowledge bases (13 domains)</a:t>
            </a:r>
          </a:p>
        </p:txBody>
      </p:sp>
      <p:sp>
        <p:nvSpPr>
          <p:cNvPr id="33" name="Rounded Rectangle 32"/>
          <p:cNvSpPr/>
          <p:nvPr/>
        </p:nvSpPr>
        <p:spPr>
          <a:xfrm>
            <a:off x="822960" y="4718304"/>
            <a:ext cx="998444" cy="146304"/>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12844" y="4636008"/>
            <a:ext cx="1097280" cy="274320"/>
          </a:xfrm>
          <a:prstGeom prst="rect">
            <a:avLst/>
          </a:prstGeom>
          <a:noFill/>
        </p:spPr>
        <p:txBody>
          <a:bodyPr wrap="square" anchor="t" lIns="0" rIns="0" tIns="0" bIns="0">
            <a:spAutoFit/>
          </a:bodyPr>
          <a:lstStyle/>
          <a:p>
            <a:pPr algn="l">
              <a:lnSpc>
                <a:spcPct val="100000"/>
              </a:lnSpc>
            </a:pPr>
            <a:r>
              <a:rPr sz="1050" b="1" i="0">
                <a:solidFill>
                  <a:srgbClr val="16273C"/>
                </a:solidFill>
                <a:latin typeface="Segoe UI Semibold"/>
              </a:rPr>
              <a:t>5.5k</a:t>
            </a:r>
          </a:p>
        </p:txBody>
      </p:sp>
      <p:sp>
        <p:nvSpPr>
          <p:cNvPr id="35" name="TextBox 34"/>
          <p:cNvSpPr txBox="1"/>
          <p:nvPr/>
        </p:nvSpPr>
        <p:spPr>
          <a:xfrm>
            <a:off x="822960" y="4928616"/>
            <a:ext cx="5577840" cy="274320"/>
          </a:xfrm>
          <a:prstGeom prst="rect">
            <a:avLst/>
          </a:prstGeom>
          <a:noFill/>
        </p:spPr>
        <p:txBody>
          <a:bodyPr wrap="square" anchor="t" lIns="0" rIns="0" tIns="0" bIns="0">
            <a:spAutoFit/>
          </a:bodyPr>
          <a:lstStyle/>
          <a:p>
            <a:pPr algn="l">
              <a:lnSpc>
                <a:spcPct val="100000"/>
              </a:lnSpc>
            </a:pPr>
            <a:r>
              <a:rPr sz="1050" b="0" i="0">
                <a:solidFill>
                  <a:srgbClr val="374558"/>
                </a:solidFill>
                <a:latin typeface="Segoe UI"/>
              </a:rPr>
              <a:t>Automated tests</a:t>
            </a:r>
          </a:p>
        </p:txBody>
      </p:sp>
      <p:sp>
        <p:nvSpPr>
          <p:cNvPr id="36" name="Rounded Rectangle 35"/>
          <p:cNvSpPr/>
          <p:nvPr/>
        </p:nvSpPr>
        <p:spPr>
          <a:xfrm>
            <a:off x="822960" y="5148072"/>
            <a:ext cx="544605" cy="146304"/>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459005" y="5065776"/>
            <a:ext cx="1097280" cy="274320"/>
          </a:xfrm>
          <a:prstGeom prst="rect">
            <a:avLst/>
          </a:prstGeom>
          <a:noFill/>
        </p:spPr>
        <p:txBody>
          <a:bodyPr wrap="square" anchor="t" lIns="0" rIns="0" tIns="0" bIns="0">
            <a:spAutoFit/>
          </a:bodyPr>
          <a:lstStyle/>
          <a:p>
            <a:pPr algn="l">
              <a:lnSpc>
                <a:spcPct val="100000"/>
              </a:lnSpc>
            </a:pPr>
            <a:r>
              <a:rPr sz="1050" b="1" i="0">
                <a:solidFill>
                  <a:srgbClr val="16273C"/>
                </a:solidFill>
                <a:latin typeface="Segoe UI Semibold"/>
              </a:rPr>
              <a:t>3.0k</a:t>
            </a:r>
          </a:p>
        </p:txBody>
      </p:sp>
      <p:sp>
        <p:nvSpPr>
          <p:cNvPr id="38" name="TextBox 37"/>
          <p:cNvSpPr txBox="1"/>
          <p:nvPr/>
        </p:nvSpPr>
        <p:spPr>
          <a:xfrm>
            <a:off x="822960" y="5358384"/>
            <a:ext cx="5577840" cy="274320"/>
          </a:xfrm>
          <a:prstGeom prst="rect">
            <a:avLst/>
          </a:prstGeom>
          <a:noFill/>
        </p:spPr>
        <p:txBody>
          <a:bodyPr wrap="square" anchor="t" lIns="0" rIns="0" tIns="0" bIns="0">
            <a:spAutoFit/>
          </a:bodyPr>
          <a:lstStyle/>
          <a:p>
            <a:pPr algn="l">
              <a:lnSpc>
                <a:spcPct val="100000"/>
              </a:lnSpc>
            </a:pPr>
            <a:r>
              <a:rPr sz="1050" b="0" i="0">
                <a:solidFill>
                  <a:srgbClr val="374558"/>
                </a:solidFill>
                <a:latin typeface="Segoe UI"/>
              </a:rPr>
              <a:t>Benchmarks &amp; eval harnesses</a:t>
            </a:r>
          </a:p>
        </p:txBody>
      </p:sp>
      <p:sp>
        <p:nvSpPr>
          <p:cNvPr id="39" name="Rounded Rectangle 38"/>
          <p:cNvSpPr/>
          <p:nvPr/>
        </p:nvSpPr>
        <p:spPr>
          <a:xfrm>
            <a:off x="822960" y="5577840"/>
            <a:ext cx="326763" cy="146304"/>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41163" y="5495544"/>
            <a:ext cx="1097280" cy="274320"/>
          </a:xfrm>
          <a:prstGeom prst="rect">
            <a:avLst/>
          </a:prstGeom>
          <a:noFill/>
        </p:spPr>
        <p:txBody>
          <a:bodyPr wrap="square" anchor="t" lIns="0" rIns="0" tIns="0" bIns="0">
            <a:spAutoFit/>
          </a:bodyPr>
          <a:lstStyle/>
          <a:p>
            <a:pPr algn="l">
              <a:lnSpc>
                <a:spcPct val="100000"/>
              </a:lnSpc>
            </a:pPr>
            <a:r>
              <a:rPr sz="1050" b="1" i="0">
                <a:solidFill>
                  <a:srgbClr val="16273C"/>
                </a:solidFill>
                <a:latin typeface="Segoe UI Semibold"/>
              </a:rPr>
              <a:t>1.8k</a:t>
            </a:r>
          </a:p>
        </p:txBody>
      </p:sp>
      <p:sp>
        <p:nvSpPr>
          <p:cNvPr id="41" name="Rounded Rectangle 40"/>
          <p:cNvSpPr/>
          <p:nvPr/>
        </p:nvSpPr>
        <p:spPr>
          <a:xfrm>
            <a:off x="6995160" y="3127248"/>
            <a:ext cx="4645152" cy="297180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9480" y="3255264"/>
            <a:ext cx="4114800" cy="320040"/>
          </a:xfrm>
          <a:prstGeom prst="rect">
            <a:avLst/>
          </a:prstGeom>
          <a:noFill/>
        </p:spPr>
        <p:txBody>
          <a:bodyPr wrap="square" anchor="t" lIns="0" rIns="0" tIns="0" bIns="0">
            <a:spAutoFit/>
          </a:bodyPr>
          <a:lstStyle/>
          <a:p>
            <a:pPr algn="l">
              <a:lnSpc>
                <a:spcPct val="100000"/>
              </a:lnSpc>
            </a:pPr>
            <a:r>
              <a:rPr sz="1100" b="1" i="0">
                <a:solidFill>
                  <a:srgbClr val="8390A1"/>
                </a:solidFill>
                <a:latin typeface="Segoe UI Semibold"/>
              </a:rPr>
              <a:t>WHAT THAT DISCIPLINE BUYS</a:t>
            </a:r>
          </a:p>
        </p:txBody>
      </p:sp>
      <p:sp>
        <p:nvSpPr>
          <p:cNvPr id="43" name="Rounded Rectangle 42"/>
          <p:cNvSpPr/>
          <p:nvPr/>
        </p:nvSpPr>
        <p:spPr>
          <a:xfrm>
            <a:off x="7269480" y="3621024"/>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69480" y="3621024"/>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5" name="TextBox 44"/>
          <p:cNvSpPr txBox="1"/>
          <p:nvPr/>
        </p:nvSpPr>
        <p:spPr>
          <a:xfrm>
            <a:off x="7699248" y="3602736"/>
            <a:ext cx="3794760" cy="502920"/>
          </a:xfrm>
          <a:prstGeom prst="rect">
            <a:avLst/>
          </a:prstGeom>
          <a:noFill/>
        </p:spPr>
        <p:txBody>
          <a:bodyPr wrap="square" anchor="t" lIns="0" rIns="0" tIns="0" bIns="0">
            <a:spAutoFit/>
          </a:bodyPr>
          <a:lstStyle/>
          <a:p>
            <a:pPr algn="l">
              <a:lnSpc>
                <a:spcPct val="102000"/>
              </a:lnSpc>
            </a:pPr>
            <a:r>
              <a:rPr sz="1000" b="0" i="0">
                <a:solidFill>
                  <a:srgbClr val="374558"/>
                </a:solidFill>
                <a:latin typeface="Segoe UI"/>
              </a:rPr>
              <a:t>Every cost engine ships with unit tests — 285 run on every change</a:t>
            </a:r>
          </a:p>
        </p:txBody>
      </p:sp>
      <p:sp>
        <p:nvSpPr>
          <p:cNvPr id="46" name="Rounded Rectangle 45"/>
          <p:cNvSpPr/>
          <p:nvPr/>
        </p:nvSpPr>
        <p:spPr>
          <a:xfrm>
            <a:off x="7269480" y="4119372"/>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69480" y="4119372"/>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8" name="TextBox 47"/>
          <p:cNvSpPr txBox="1"/>
          <p:nvPr/>
        </p:nvSpPr>
        <p:spPr>
          <a:xfrm>
            <a:off x="7699248" y="4101084"/>
            <a:ext cx="3794760" cy="502920"/>
          </a:xfrm>
          <a:prstGeom prst="rect">
            <a:avLst/>
          </a:prstGeom>
          <a:noFill/>
        </p:spPr>
        <p:txBody>
          <a:bodyPr wrap="square" anchor="t" lIns="0" rIns="0" tIns="0" bIns="0">
            <a:spAutoFit/>
          </a:bodyPr>
          <a:lstStyle/>
          <a:p>
            <a:pPr algn="l">
              <a:lnSpc>
                <a:spcPct val="102000"/>
              </a:lnSpc>
            </a:pPr>
            <a:r>
              <a:rPr sz="1000" b="0" i="0">
                <a:solidFill>
                  <a:srgbClr val="374558"/>
                </a:solidFill>
                <a:latin typeface="Segoe UI"/>
              </a:rPr>
              <a:t>Accuracy proven on held-out parts, not tuned to look good</a:t>
            </a:r>
          </a:p>
        </p:txBody>
      </p:sp>
      <p:sp>
        <p:nvSpPr>
          <p:cNvPr id="49" name="Rounded Rectangle 48"/>
          <p:cNvSpPr/>
          <p:nvPr/>
        </p:nvSpPr>
        <p:spPr>
          <a:xfrm>
            <a:off x="7269480" y="4617720"/>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69480" y="4617720"/>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1" name="TextBox 50"/>
          <p:cNvSpPr txBox="1"/>
          <p:nvPr/>
        </p:nvSpPr>
        <p:spPr>
          <a:xfrm>
            <a:off x="7699248" y="4599432"/>
            <a:ext cx="3794760" cy="502920"/>
          </a:xfrm>
          <a:prstGeom prst="rect">
            <a:avLst/>
          </a:prstGeom>
          <a:noFill/>
        </p:spPr>
        <p:txBody>
          <a:bodyPr wrap="square" anchor="t" lIns="0" rIns="0" tIns="0" bIns="0">
            <a:spAutoFit/>
          </a:bodyPr>
          <a:lstStyle/>
          <a:p>
            <a:pPr algn="l">
              <a:lnSpc>
                <a:spcPct val="102000"/>
              </a:lnSpc>
            </a:pPr>
            <a:r>
              <a:rPr sz="1000" b="0" i="0">
                <a:solidFill>
                  <a:srgbClr val="374558"/>
                </a:solidFill>
                <a:latin typeface="Segoe UI"/>
              </a:rPr>
              <a:t>AI changes are A/B-measured; a debt report flags unmeasured claims</a:t>
            </a:r>
          </a:p>
        </p:txBody>
      </p:sp>
      <p:sp>
        <p:nvSpPr>
          <p:cNvPr id="52" name="Rounded Rectangle 51"/>
          <p:cNvSpPr/>
          <p:nvPr/>
        </p:nvSpPr>
        <p:spPr>
          <a:xfrm>
            <a:off x="7269480" y="5116068"/>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69480" y="5116068"/>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4" name="TextBox 53"/>
          <p:cNvSpPr txBox="1"/>
          <p:nvPr/>
        </p:nvSpPr>
        <p:spPr>
          <a:xfrm>
            <a:off x="7699248" y="5097780"/>
            <a:ext cx="3794760" cy="502920"/>
          </a:xfrm>
          <a:prstGeom prst="rect">
            <a:avLst/>
          </a:prstGeom>
          <a:noFill/>
        </p:spPr>
        <p:txBody>
          <a:bodyPr wrap="square" anchor="t" lIns="0" rIns="0" tIns="0" bIns="0">
            <a:spAutoFit/>
          </a:bodyPr>
          <a:lstStyle/>
          <a:p>
            <a:pPr algn="l">
              <a:lnSpc>
                <a:spcPct val="102000"/>
              </a:lnSpc>
            </a:pPr>
            <a:r>
              <a:rPr sz="1000" b="0" i="0">
                <a:solidFill>
                  <a:srgbClr val="374558"/>
                </a:solidFill>
                <a:latin typeface="Segoe UI"/>
              </a:rPr>
              <a:t>Daily automatic backups, a decision log &amp; an honest known-gaps register</a:t>
            </a:r>
          </a:p>
        </p:txBody>
      </p:sp>
      <p:sp>
        <p:nvSpPr>
          <p:cNvPr id="55" name="Rounded Rectangle 54"/>
          <p:cNvSpPr/>
          <p:nvPr/>
        </p:nvSpPr>
        <p:spPr>
          <a:xfrm>
            <a:off x="7269480" y="5614416"/>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69480" y="5614416"/>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7" name="TextBox 56"/>
          <p:cNvSpPr txBox="1"/>
          <p:nvPr/>
        </p:nvSpPr>
        <p:spPr>
          <a:xfrm>
            <a:off x="7699248" y="5596128"/>
            <a:ext cx="3794760" cy="502920"/>
          </a:xfrm>
          <a:prstGeom prst="rect">
            <a:avLst/>
          </a:prstGeom>
          <a:noFill/>
        </p:spPr>
        <p:txBody>
          <a:bodyPr wrap="square" anchor="t" lIns="0" rIns="0" tIns="0" bIns="0">
            <a:spAutoFit/>
          </a:bodyPr>
          <a:lstStyle/>
          <a:p>
            <a:pPr algn="l">
              <a:lnSpc>
                <a:spcPct val="102000"/>
              </a:lnSpc>
            </a:pPr>
            <a:r>
              <a:rPr sz="1000" b="0" i="0">
                <a:solidFill>
                  <a:srgbClr val="374558"/>
                </a:solidFill>
                <a:latin typeface="Segoe UI"/>
              </a:rPr>
              <a:t>Directed, reviewed &amp; verified by an engineer — AI did the typing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THE VALUE</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Benefits &amp; Business Impact</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18</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Rounded Rectangle 10"/>
          <p:cNvSpPr/>
          <p:nvPr/>
        </p:nvSpPr>
        <p:spPr>
          <a:xfrm>
            <a:off x="548640" y="1600200"/>
            <a:ext cx="2697480" cy="3977639"/>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618488" y="1874519"/>
            <a:ext cx="640080" cy="6400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18488" y="1874519"/>
            <a:ext cx="640080" cy="64008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4" name="TextBox 13"/>
          <p:cNvSpPr txBox="1"/>
          <p:nvPr/>
        </p:nvSpPr>
        <p:spPr>
          <a:xfrm>
            <a:off x="548640" y="2651760"/>
            <a:ext cx="2697480" cy="365760"/>
          </a:xfrm>
          <a:prstGeom prst="rect">
            <a:avLst/>
          </a:prstGeom>
          <a:noFill/>
        </p:spPr>
        <p:txBody>
          <a:bodyPr wrap="square" anchor="t" lIns="0" rIns="0" tIns="0" bIns="0">
            <a:spAutoFit/>
          </a:bodyPr>
          <a:lstStyle/>
          <a:p>
            <a:pPr algn="ctr">
              <a:lnSpc>
                <a:spcPct val="100000"/>
              </a:lnSpc>
            </a:pPr>
            <a:r>
              <a:rPr sz="1700" b="1" i="0">
                <a:solidFill>
                  <a:srgbClr val="16273C"/>
                </a:solidFill>
                <a:latin typeface="Segoe UI Semibold"/>
              </a:rPr>
              <a:t>Speed</a:t>
            </a:r>
          </a:p>
        </p:txBody>
      </p:sp>
      <p:sp>
        <p:nvSpPr>
          <p:cNvPr id="15" name="TextBox 14"/>
          <p:cNvSpPr txBox="1"/>
          <p:nvPr/>
        </p:nvSpPr>
        <p:spPr>
          <a:xfrm>
            <a:off x="731520" y="3063240"/>
            <a:ext cx="2331720" cy="457200"/>
          </a:xfrm>
          <a:prstGeom prst="rect">
            <a:avLst/>
          </a:prstGeom>
          <a:noFill/>
        </p:spPr>
        <p:txBody>
          <a:bodyPr wrap="square" anchor="t" lIns="0" rIns="0" tIns="0" bIns="0">
            <a:spAutoFit/>
          </a:bodyPr>
          <a:lstStyle/>
          <a:p>
            <a:pPr algn="ctr">
              <a:lnSpc>
                <a:spcPct val="100000"/>
              </a:lnSpc>
            </a:pPr>
            <a:r>
              <a:rPr sz="1200" b="1" i="0">
                <a:solidFill>
                  <a:srgbClr val="0D9488"/>
                </a:solidFill>
                <a:latin typeface="Segoe UI Semibold"/>
              </a:rPr>
              <a:t>Costed ideas in minutes</a:t>
            </a:r>
          </a:p>
        </p:txBody>
      </p:sp>
      <p:sp>
        <p:nvSpPr>
          <p:cNvPr id="16" name="TextBox 15"/>
          <p:cNvSpPr txBox="1"/>
          <p:nvPr/>
        </p:nvSpPr>
        <p:spPr>
          <a:xfrm>
            <a:off x="804672" y="3657600"/>
            <a:ext cx="2194560" cy="1828800"/>
          </a:xfrm>
          <a:prstGeom prst="rect">
            <a:avLst/>
          </a:prstGeom>
          <a:noFill/>
        </p:spPr>
        <p:txBody>
          <a:bodyPr wrap="square" anchor="t" lIns="0" rIns="0" tIns="0" bIns="0">
            <a:spAutoFit/>
          </a:bodyPr>
          <a:lstStyle/>
          <a:p>
            <a:pPr algn="ctr">
              <a:lnSpc>
                <a:spcPct val="106000"/>
              </a:lnSpc>
            </a:pPr>
            <a:r>
              <a:rPr sz="1150" b="0" i="0">
                <a:solidFill>
                  <a:srgbClr val="556477"/>
                </a:solidFill>
                <a:latin typeface="Segoe UI"/>
              </a:rPr>
              <a:t>From part or CAD to a defensible number in minutes, not the days a manual should-cost takes.</a:t>
            </a:r>
          </a:p>
        </p:txBody>
      </p:sp>
      <p:sp>
        <p:nvSpPr>
          <p:cNvPr id="17" name="Rounded Rectangle 16"/>
          <p:cNvSpPr/>
          <p:nvPr/>
        </p:nvSpPr>
        <p:spPr>
          <a:xfrm>
            <a:off x="3364992" y="1600200"/>
            <a:ext cx="2697480" cy="3977639"/>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34840" y="1874519"/>
            <a:ext cx="640080" cy="64008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1874519"/>
            <a:ext cx="640080" cy="64008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0" name="TextBox 19"/>
          <p:cNvSpPr txBox="1"/>
          <p:nvPr/>
        </p:nvSpPr>
        <p:spPr>
          <a:xfrm>
            <a:off x="3364992" y="2651760"/>
            <a:ext cx="2697480" cy="365760"/>
          </a:xfrm>
          <a:prstGeom prst="rect">
            <a:avLst/>
          </a:prstGeom>
          <a:noFill/>
        </p:spPr>
        <p:txBody>
          <a:bodyPr wrap="square" anchor="t" lIns="0" rIns="0" tIns="0" bIns="0">
            <a:spAutoFit/>
          </a:bodyPr>
          <a:lstStyle/>
          <a:p>
            <a:pPr algn="ctr">
              <a:lnSpc>
                <a:spcPct val="100000"/>
              </a:lnSpc>
            </a:pPr>
            <a:r>
              <a:rPr sz="1700" b="1" i="0">
                <a:solidFill>
                  <a:srgbClr val="16273C"/>
                </a:solidFill>
                <a:latin typeface="Segoe UI Semibold"/>
              </a:rPr>
              <a:t>Confidence</a:t>
            </a:r>
          </a:p>
        </p:txBody>
      </p:sp>
      <p:sp>
        <p:nvSpPr>
          <p:cNvPr id="21" name="TextBox 20"/>
          <p:cNvSpPr txBox="1"/>
          <p:nvPr/>
        </p:nvSpPr>
        <p:spPr>
          <a:xfrm>
            <a:off x="3547872" y="3063240"/>
            <a:ext cx="2331720" cy="457200"/>
          </a:xfrm>
          <a:prstGeom prst="rect">
            <a:avLst/>
          </a:prstGeom>
          <a:noFill/>
        </p:spPr>
        <p:txBody>
          <a:bodyPr wrap="square" anchor="t" lIns="0" rIns="0" tIns="0" bIns="0">
            <a:spAutoFit/>
          </a:bodyPr>
          <a:lstStyle/>
          <a:p>
            <a:pPr algn="ctr">
              <a:lnSpc>
                <a:spcPct val="100000"/>
              </a:lnSpc>
            </a:pPr>
            <a:r>
              <a:rPr sz="1200" b="1" i="0">
                <a:solidFill>
                  <a:srgbClr val="059669"/>
                </a:solidFill>
                <a:latin typeface="Segoe UI Semibold"/>
              </a:rPr>
              <a:t>Numbers that survive review</a:t>
            </a:r>
          </a:p>
        </p:txBody>
      </p:sp>
      <p:sp>
        <p:nvSpPr>
          <p:cNvPr id="22" name="TextBox 21"/>
          <p:cNvSpPr txBox="1"/>
          <p:nvPr/>
        </p:nvSpPr>
        <p:spPr>
          <a:xfrm>
            <a:off x="3621024" y="3657600"/>
            <a:ext cx="2194560" cy="1828800"/>
          </a:xfrm>
          <a:prstGeom prst="rect">
            <a:avLst/>
          </a:prstGeom>
          <a:noFill/>
        </p:spPr>
        <p:txBody>
          <a:bodyPr wrap="square" anchor="t" lIns="0" rIns="0" tIns="0" bIns="0">
            <a:spAutoFit/>
          </a:bodyPr>
          <a:lstStyle/>
          <a:p>
            <a:pPr algn="ctr">
              <a:lnSpc>
                <a:spcPct val="106000"/>
              </a:lnSpc>
            </a:pPr>
            <a:r>
              <a:rPr sz="1150" b="0" i="0">
                <a:solidFill>
                  <a:srgbClr val="556477"/>
                </a:solidFill>
                <a:latin typeface="Segoe UI"/>
              </a:rPr>
              <a:t>Every figure is engine-verified and reproducible — defensible in sourcing and programme gates.</a:t>
            </a:r>
          </a:p>
        </p:txBody>
      </p:sp>
      <p:sp>
        <p:nvSpPr>
          <p:cNvPr id="23" name="Rounded Rectangle 22"/>
          <p:cNvSpPr/>
          <p:nvPr/>
        </p:nvSpPr>
        <p:spPr>
          <a:xfrm>
            <a:off x="6181344" y="1600200"/>
            <a:ext cx="2697480" cy="3977639"/>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251192" y="1874519"/>
            <a:ext cx="640080" cy="64008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51192" y="1874519"/>
            <a:ext cx="640080" cy="64008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6" name="TextBox 25"/>
          <p:cNvSpPr txBox="1"/>
          <p:nvPr/>
        </p:nvSpPr>
        <p:spPr>
          <a:xfrm>
            <a:off x="6181344" y="2651760"/>
            <a:ext cx="2697480" cy="365760"/>
          </a:xfrm>
          <a:prstGeom prst="rect">
            <a:avLst/>
          </a:prstGeom>
          <a:noFill/>
        </p:spPr>
        <p:txBody>
          <a:bodyPr wrap="square" anchor="t" lIns="0" rIns="0" tIns="0" bIns="0">
            <a:spAutoFit/>
          </a:bodyPr>
          <a:lstStyle/>
          <a:p>
            <a:pPr algn="ctr">
              <a:lnSpc>
                <a:spcPct val="100000"/>
              </a:lnSpc>
            </a:pPr>
            <a:r>
              <a:rPr sz="1700" b="1" i="0">
                <a:solidFill>
                  <a:srgbClr val="16273C"/>
                </a:solidFill>
                <a:latin typeface="Segoe UI Semibold"/>
              </a:rPr>
              <a:t>Breadth</a:t>
            </a:r>
          </a:p>
        </p:txBody>
      </p:sp>
      <p:sp>
        <p:nvSpPr>
          <p:cNvPr id="27" name="TextBox 26"/>
          <p:cNvSpPr txBox="1"/>
          <p:nvPr/>
        </p:nvSpPr>
        <p:spPr>
          <a:xfrm>
            <a:off x="6364224" y="3063240"/>
            <a:ext cx="2331720" cy="457200"/>
          </a:xfrm>
          <a:prstGeom prst="rect">
            <a:avLst/>
          </a:prstGeom>
          <a:noFill/>
        </p:spPr>
        <p:txBody>
          <a:bodyPr wrap="square" anchor="t" lIns="0" rIns="0" tIns="0" bIns="0">
            <a:spAutoFit/>
          </a:bodyPr>
          <a:lstStyle/>
          <a:p>
            <a:pPr algn="ctr">
              <a:lnSpc>
                <a:spcPct val="100000"/>
              </a:lnSpc>
            </a:pPr>
            <a:r>
              <a:rPr sz="1200" b="1" i="0">
                <a:solidFill>
                  <a:srgbClr val="2563EB"/>
                </a:solidFill>
                <a:latin typeface="Segoe UI Semibold"/>
              </a:rPr>
              <a:t>See the whole vehicle</a:t>
            </a:r>
          </a:p>
        </p:txBody>
      </p:sp>
      <p:sp>
        <p:nvSpPr>
          <p:cNvPr id="28" name="TextBox 27"/>
          <p:cNvSpPr txBox="1"/>
          <p:nvPr/>
        </p:nvSpPr>
        <p:spPr>
          <a:xfrm>
            <a:off x="6437376" y="3657600"/>
            <a:ext cx="2194560" cy="1828800"/>
          </a:xfrm>
          <a:prstGeom prst="rect">
            <a:avLst/>
          </a:prstGeom>
          <a:noFill/>
        </p:spPr>
        <p:txBody>
          <a:bodyPr wrap="square" anchor="t" lIns="0" rIns="0" tIns="0" bIns="0">
            <a:spAutoFit/>
          </a:bodyPr>
          <a:lstStyle/>
          <a:p>
            <a:pPr algn="ctr">
              <a:lnSpc>
                <a:spcPct val="106000"/>
              </a:lnSpc>
            </a:pPr>
            <a:r>
              <a:rPr sz="1150" b="0" i="0">
                <a:solidFill>
                  <a:srgbClr val="556477"/>
                </a:solidFill>
                <a:latin typeface="Segoe UI"/>
              </a:rPr>
              <a:t>One platform across all systems and commodities — no more single-tool blind spots.</a:t>
            </a:r>
          </a:p>
        </p:txBody>
      </p:sp>
      <p:sp>
        <p:nvSpPr>
          <p:cNvPr id="29" name="Rounded Rectangle 28"/>
          <p:cNvSpPr/>
          <p:nvPr/>
        </p:nvSpPr>
        <p:spPr>
          <a:xfrm>
            <a:off x="8997696" y="1600200"/>
            <a:ext cx="2697480" cy="3977639"/>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067544" y="1874519"/>
            <a:ext cx="640080" cy="64008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67544" y="1874519"/>
            <a:ext cx="640080" cy="64008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2" name="TextBox 31"/>
          <p:cNvSpPr txBox="1"/>
          <p:nvPr/>
        </p:nvSpPr>
        <p:spPr>
          <a:xfrm>
            <a:off x="8997696" y="2651760"/>
            <a:ext cx="2697480" cy="365760"/>
          </a:xfrm>
          <a:prstGeom prst="rect">
            <a:avLst/>
          </a:prstGeom>
          <a:noFill/>
        </p:spPr>
        <p:txBody>
          <a:bodyPr wrap="square" anchor="t" lIns="0" rIns="0" tIns="0" bIns="0">
            <a:spAutoFit/>
          </a:bodyPr>
          <a:lstStyle/>
          <a:p>
            <a:pPr algn="ctr">
              <a:lnSpc>
                <a:spcPct val="100000"/>
              </a:lnSpc>
            </a:pPr>
            <a:r>
              <a:rPr sz="1700" b="1" i="0">
                <a:solidFill>
                  <a:srgbClr val="16273C"/>
                </a:solidFill>
                <a:latin typeface="Segoe UI Semibold"/>
              </a:rPr>
              <a:t>Leverage</a:t>
            </a:r>
          </a:p>
        </p:txBody>
      </p:sp>
      <p:sp>
        <p:nvSpPr>
          <p:cNvPr id="33" name="TextBox 32"/>
          <p:cNvSpPr txBox="1"/>
          <p:nvPr/>
        </p:nvSpPr>
        <p:spPr>
          <a:xfrm>
            <a:off x="9180576" y="3063240"/>
            <a:ext cx="2331720" cy="457200"/>
          </a:xfrm>
          <a:prstGeom prst="rect">
            <a:avLst/>
          </a:prstGeom>
          <a:noFill/>
        </p:spPr>
        <p:txBody>
          <a:bodyPr wrap="square" anchor="t" lIns="0" rIns="0" tIns="0" bIns="0">
            <a:spAutoFit/>
          </a:bodyPr>
          <a:lstStyle/>
          <a:p>
            <a:pPr algn="ctr">
              <a:lnSpc>
                <a:spcPct val="100000"/>
              </a:lnSpc>
            </a:pPr>
            <a:r>
              <a:rPr sz="1200" b="1" i="0">
                <a:solidFill>
                  <a:srgbClr val="B47609"/>
                </a:solidFill>
                <a:latin typeface="Segoe UI Semibold"/>
              </a:rPr>
              <a:t>Capture know-how</a:t>
            </a:r>
          </a:p>
        </p:txBody>
      </p:sp>
      <p:sp>
        <p:nvSpPr>
          <p:cNvPr id="34" name="TextBox 33"/>
          <p:cNvSpPr txBox="1"/>
          <p:nvPr/>
        </p:nvSpPr>
        <p:spPr>
          <a:xfrm>
            <a:off x="9253728" y="3657600"/>
            <a:ext cx="2194560" cy="1828800"/>
          </a:xfrm>
          <a:prstGeom prst="rect">
            <a:avLst/>
          </a:prstGeom>
          <a:noFill/>
        </p:spPr>
        <p:txBody>
          <a:bodyPr wrap="square" anchor="t" lIns="0" rIns="0" tIns="0" bIns="0">
            <a:spAutoFit/>
          </a:bodyPr>
          <a:lstStyle/>
          <a:p>
            <a:pPr algn="ctr">
              <a:lnSpc>
                <a:spcPct val="106000"/>
              </a:lnSpc>
            </a:pPr>
            <a:r>
              <a:rPr sz="1150" b="0" i="0">
                <a:solidFill>
                  <a:srgbClr val="556477"/>
                </a:solidFill>
                <a:latin typeface="Segoe UI"/>
              </a:rPr>
              <a:t>Turns scattered OEM best-practice into a reusable, searchable asset for the whole team.</a:t>
            </a:r>
          </a:p>
        </p:txBody>
      </p:sp>
      <p:sp>
        <p:nvSpPr>
          <p:cNvPr id="35" name="TextBox 34"/>
          <p:cNvSpPr txBox="1"/>
          <p:nvPr/>
        </p:nvSpPr>
        <p:spPr>
          <a:xfrm>
            <a:off x="548640" y="5760720"/>
            <a:ext cx="10972800" cy="457200"/>
          </a:xfrm>
          <a:prstGeom prst="rect">
            <a:avLst/>
          </a:prstGeom>
          <a:noFill/>
        </p:spPr>
        <p:txBody>
          <a:bodyPr wrap="square" anchor="t" lIns="0" rIns="0" tIns="0" bIns="0">
            <a:spAutoFit/>
          </a:bodyPr>
          <a:lstStyle/>
          <a:p>
            <a:pPr algn="ctr">
              <a:lnSpc>
                <a:spcPct val="100000"/>
              </a:lnSpc>
            </a:pPr>
            <a:r>
              <a:rPr sz="1400" b="1" i="0">
                <a:solidFill>
                  <a:srgbClr val="B47609"/>
                </a:solidFill>
                <a:latin typeface="Segoe UI Semibold"/>
              </a:rPr>
              <a:t>Net effect:  </a:t>
            </a:r>
            <a:r>
              <a:rPr sz="1400" b="1" i="0">
                <a:solidFill>
                  <a:srgbClr val="374558"/>
                </a:solidFill>
                <a:latin typeface="Segoe UI"/>
              </a:rPr>
              <a:t>more cost-down ideas, found earlier, defended better — and captured as reusable team knowledge.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09728" cy="685800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ck-demo.png"/>
          <p:cNvPicPr>
            <a:picLocks noChangeAspect="1"/>
          </p:cNvPicPr>
          <p:nvPr/>
        </p:nvPicPr>
        <p:blipFill>
          <a:blip r:embed="rId2"/>
          <a:srcRect t="1718" b="2804"/>
          <a:stretch>
            <a:fillRect/>
          </a:stretch>
        </p:blipFill>
        <p:spPr>
          <a:xfrm>
            <a:off x="8183879" y="1188720"/>
            <a:ext cx="3520440" cy="4754880"/>
          </a:xfrm>
          <a:prstGeom prst="rect">
            <a:avLst/>
          </a:prstGeom>
        </p:spPr>
      </p:pic>
      <p:sp>
        <p:nvSpPr>
          <p:cNvPr id="5" name="Rectangle 4"/>
          <p:cNvSpPr/>
          <p:nvPr/>
        </p:nvSpPr>
        <p:spPr>
          <a:xfrm>
            <a:off x="8183879" y="1188720"/>
            <a:ext cx="3520440" cy="4754880"/>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71600"/>
            <a:ext cx="6949440" cy="457200"/>
          </a:xfrm>
          <a:prstGeom prst="rect">
            <a:avLst/>
          </a:prstGeom>
          <a:noFill/>
        </p:spPr>
        <p:txBody>
          <a:bodyPr wrap="square" anchor="t" lIns="0" rIns="0" tIns="0" bIns="0">
            <a:spAutoFit/>
          </a:bodyPr>
          <a:lstStyle/>
          <a:p>
            <a:pPr algn="l">
              <a:lnSpc>
                <a:spcPct val="100000"/>
              </a:lnSpc>
            </a:pPr>
            <a:r>
              <a:rPr sz="1500" b="1" i="0">
                <a:solidFill>
                  <a:srgbClr val="0D9488"/>
                </a:solidFill>
                <a:latin typeface="Segoe UI Semibold"/>
              </a:rPr>
              <a:t>SEE IT LIVE</a:t>
            </a:r>
          </a:p>
        </p:txBody>
      </p:sp>
      <p:sp>
        <p:nvSpPr>
          <p:cNvPr id="7" name="TextBox 6"/>
          <p:cNvSpPr txBox="1"/>
          <p:nvPr/>
        </p:nvSpPr>
        <p:spPr>
          <a:xfrm>
            <a:off x="960120" y="1920240"/>
            <a:ext cx="7040880" cy="914400"/>
          </a:xfrm>
          <a:prstGeom prst="rect">
            <a:avLst/>
          </a:prstGeom>
          <a:noFill/>
        </p:spPr>
        <p:txBody>
          <a:bodyPr wrap="square" anchor="t" lIns="0" rIns="0" tIns="0" bIns="0">
            <a:spAutoFit/>
          </a:bodyPr>
          <a:lstStyle/>
          <a:p>
            <a:pPr algn="l">
              <a:lnSpc>
                <a:spcPct val="100000"/>
              </a:lnSpc>
            </a:pPr>
            <a:r>
              <a:rPr sz="5200" b="1" i="0">
                <a:solidFill>
                  <a:srgbClr val="16273C"/>
                </a:solidFill>
                <a:latin typeface="Segoe UI Semibold"/>
              </a:rPr>
              <a:t>Live Demo</a:t>
            </a:r>
          </a:p>
        </p:txBody>
      </p:sp>
      <p:sp>
        <p:nvSpPr>
          <p:cNvPr id="8" name="TextBox 7"/>
          <p:cNvSpPr txBox="1"/>
          <p:nvPr/>
        </p:nvSpPr>
        <p:spPr>
          <a:xfrm>
            <a:off x="1005840" y="3017520"/>
            <a:ext cx="6949440" cy="457200"/>
          </a:xfrm>
          <a:prstGeom prst="rect">
            <a:avLst/>
          </a:prstGeom>
          <a:noFill/>
        </p:spPr>
        <p:txBody>
          <a:bodyPr wrap="square" anchor="t" lIns="0" rIns="0" tIns="0" bIns="0">
            <a:spAutoFit/>
          </a:bodyPr>
          <a:lstStyle/>
          <a:p>
            <a:pPr algn="l">
              <a:lnSpc>
                <a:spcPct val="100000"/>
              </a:lnSpc>
            </a:pPr>
            <a:r>
              <a:rPr sz="1700" b="0" i="0">
                <a:solidFill>
                  <a:srgbClr val="374558"/>
                </a:solidFill>
                <a:latin typeface="Segoe UI Light"/>
              </a:rPr>
              <a:t>A 5-minute walk through the real workflow:</a:t>
            </a:r>
          </a:p>
        </p:txBody>
      </p:sp>
      <p:sp>
        <p:nvSpPr>
          <p:cNvPr id="9" name="Rounded Rectangle 8"/>
          <p:cNvSpPr/>
          <p:nvPr/>
        </p:nvSpPr>
        <p:spPr>
          <a:xfrm>
            <a:off x="1005840" y="3611880"/>
            <a:ext cx="457200" cy="4572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611880"/>
            <a:ext cx="457200" cy="4572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1</a:t>
            </a:r>
          </a:p>
        </p:txBody>
      </p:sp>
      <p:sp>
        <p:nvSpPr>
          <p:cNvPr id="11" name="TextBox 10"/>
          <p:cNvSpPr txBox="1"/>
          <p:nvPr/>
        </p:nvSpPr>
        <p:spPr>
          <a:xfrm>
            <a:off x="1645920" y="3630168"/>
            <a:ext cx="6309360" cy="457200"/>
          </a:xfrm>
          <a:prstGeom prst="rect">
            <a:avLst/>
          </a:prstGeom>
          <a:noFill/>
        </p:spPr>
        <p:txBody>
          <a:bodyPr wrap="square" anchor="ctr" lIns="0" rIns="0" tIns="0" bIns="0">
            <a:spAutoFit/>
          </a:bodyPr>
          <a:lstStyle/>
          <a:p>
            <a:pPr algn="l">
              <a:lnSpc>
                <a:spcPct val="100000"/>
              </a:lnSpc>
            </a:pPr>
            <a:r>
              <a:rPr sz="1450" b="0" i="0">
                <a:solidFill>
                  <a:srgbClr val="16273C"/>
                </a:solidFill>
                <a:latin typeface="Segoe UI"/>
              </a:rPr>
              <a:t>Generate cost-reduction ideas for a live vehicle system</a:t>
            </a:r>
          </a:p>
        </p:txBody>
      </p:sp>
      <p:sp>
        <p:nvSpPr>
          <p:cNvPr id="12" name="Rounded Rectangle 11"/>
          <p:cNvSpPr/>
          <p:nvPr/>
        </p:nvSpPr>
        <p:spPr>
          <a:xfrm>
            <a:off x="1005840" y="4178808"/>
            <a:ext cx="457200" cy="4572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178808"/>
            <a:ext cx="457200" cy="4572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2</a:t>
            </a:r>
          </a:p>
        </p:txBody>
      </p:sp>
      <p:sp>
        <p:nvSpPr>
          <p:cNvPr id="14" name="TextBox 13"/>
          <p:cNvSpPr txBox="1"/>
          <p:nvPr/>
        </p:nvSpPr>
        <p:spPr>
          <a:xfrm>
            <a:off x="1645920" y="4197096"/>
            <a:ext cx="6309360" cy="457200"/>
          </a:xfrm>
          <a:prstGeom prst="rect">
            <a:avLst/>
          </a:prstGeom>
          <a:noFill/>
        </p:spPr>
        <p:txBody>
          <a:bodyPr wrap="square" anchor="ctr" lIns="0" rIns="0" tIns="0" bIns="0">
            <a:spAutoFit/>
          </a:bodyPr>
          <a:lstStyle/>
          <a:p>
            <a:pPr algn="l">
              <a:lnSpc>
                <a:spcPct val="100000"/>
              </a:lnSpc>
            </a:pPr>
            <a:r>
              <a:rPr sz="1450" b="0" i="0">
                <a:solidFill>
                  <a:srgbClr val="16273C"/>
                </a:solidFill>
                <a:latin typeface="Segoe UI"/>
              </a:rPr>
              <a:t>Upload a CAD part → feature-based should-cost + 3D view</a:t>
            </a:r>
          </a:p>
        </p:txBody>
      </p:sp>
      <p:sp>
        <p:nvSpPr>
          <p:cNvPr id="15" name="Rounded Rectangle 14"/>
          <p:cNvSpPr/>
          <p:nvPr/>
        </p:nvSpPr>
        <p:spPr>
          <a:xfrm>
            <a:off x="1005840" y="4745736"/>
            <a:ext cx="457200" cy="4572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745736"/>
            <a:ext cx="457200" cy="4572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3</a:t>
            </a:r>
          </a:p>
        </p:txBody>
      </p:sp>
      <p:sp>
        <p:nvSpPr>
          <p:cNvPr id="17" name="TextBox 16"/>
          <p:cNvSpPr txBox="1"/>
          <p:nvPr/>
        </p:nvSpPr>
        <p:spPr>
          <a:xfrm>
            <a:off x="1645920" y="4764024"/>
            <a:ext cx="6309360" cy="457200"/>
          </a:xfrm>
          <a:prstGeom prst="rect">
            <a:avLst/>
          </a:prstGeom>
          <a:noFill/>
        </p:spPr>
        <p:txBody>
          <a:bodyPr wrap="square" anchor="ctr" lIns="0" rIns="0" tIns="0" bIns="0">
            <a:spAutoFit/>
          </a:bodyPr>
          <a:lstStyle/>
          <a:p>
            <a:pPr algn="l">
              <a:lnSpc>
                <a:spcPct val="100000"/>
              </a:lnSpc>
            </a:pPr>
            <a:r>
              <a:rPr sz="1450" b="0" i="0">
                <a:solidFill>
                  <a:srgbClr val="16273C"/>
                </a:solidFill>
                <a:latin typeface="Segoe UI"/>
              </a:rPr>
              <a:t>Photograph a PCB → AI reads the BOM → 12-country cost</a:t>
            </a:r>
          </a:p>
        </p:txBody>
      </p:sp>
      <p:sp>
        <p:nvSpPr>
          <p:cNvPr id="18" name="Rounded Rectangle 17"/>
          <p:cNvSpPr/>
          <p:nvPr/>
        </p:nvSpPr>
        <p:spPr>
          <a:xfrm>
            <a:off x="1005840" y="5312664"/>
            <a:ext cx="457200" cy="4572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312664"/>
            <a:ext cx="457200" cy="4572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4</a:t>
            </a:r>
          </a:p>
        </p:txBody>
      </p:sp>
      <p:sp>
        <p:nvSpPr>
          <p:cNvPr id="20" name="TextBox 19"/>
          <p:cNvSpPr txBox="1"/>
          <p:nvPr/>
        </p:nvSpPr>
        <p:spPr>
          <a:xfrm>
            <a:off x="1645920" y="5330952"/>
            <a:ext cx="6309360" cy="457200"/>
          </a:xfrm>
          <a:prstGeom prst="rect">
            <a:avLst/>
          </a:prstGeom>
          <a:noFill/>
        </p:spPr>
        <p:txBody>
          <a:bodyPr wrap="square" anchor="ctr" lIns="0" rIns="0" tIns="0" bIns="0">
            <a:spAutoFit/>
          </a:bodyPr>
          <a:lstStyle/>
          <a:p>
            <a:pPr algn="l">
              <a:lnSpc>
                <a:spcPct val="100000"/>
              </a:lnSpc>
            </a:pPr>
            <a:r>
              <a:rPr sz="1450" b="0" i="0">
                <a:solidFill>
                  <a:srgbClr val="16273C"/>
                </a:solidFill>
                <a:latin typeface="Segoe UI"/>
              </a:rPr>
              <a:t>Run a should-cost, close a quote gap with targeted ideas</a:t>
            </a:r>
          </a:p>
        </p:txBody>
      </p:sp>
      <p:sp>
        <p:nvSpPr>
          <p:cNvPr id="21" name="Rounded Rectangle 20"/>
          <p:cNvSpPr/>
          <p:nvPr/>
        </p:nvSpPr>
        <p:spPr>
          <a:xfrm>
            <a:off x="1005840" y="5879592"/>
            <a:ext cx="457200" cy="45720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879592"/>
            <a:ext cx="457200" cy="457200"/>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5</a:t>
            </a:r>
          </a:p>
        </p:txBody>
      </p:sp>
      <p:sp>
        <p:nvSpPr>
          <p:cNvPr id="23" name="TextBox 22"/>
          <p:cNvSpPr txBox="1"/>
          <p:nvPr/>
        </p:nvSpPr>
        <p:spPr>
          <a:xfrm>
            <a:off x="1645920" y="5897880"/>
            <a:ext cx="6309360" cy="457200"/>
          </a:xfrm>
          <a:prstGeom prst="rect">
            <a:avLst/>
          </a:prstGeom>
          <a:noFill/>
        </p:spPr>
        <p:txBody>
          <a:bodyPr wrap="square" anchor="ctr" lIns="0" rIns="0" tIns="0" bIns="0">
            <a:spAutoFit/>
          </a:bodyPr>
          <a:lstStyle/>
          <a:p>
            <a:pPr algn="l">
              <a:lnSpc>
                <a:spcPct val="100000"/>
              </a:lnSpc>
            </a:pPr>
            <a:r>
              <a:rPr sz="1450" b="0" i="0">
                <a:solidFill>
                  <a:srgbClr val="16273C"/>
                </a:solidFill>
                <a:latin typeface="Segoe UI"/>
              </a:rPr>
              <a:t>Show the savings pipeline, scorecards &amp; ROI business case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384048"/>
            <a:ext cx="100584" cy="50292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
            <a:ext cx="9601200" cy="320040"/>
          </a:xfrm>
          <a:prstGeom prst="rect">
            <a:avLst/>
          </a:prstGeom>
          <a:noFill/>
        </p:spPr>
        <p:txBody>
          <a:bodyPr wrap="square" anchor="t" lIns="0" rIns="0" tIns="0" bIns="0">
            <a:spAutoFit/>
          </a:bodyPr>
          <a:lstStyle/>
          <a:p>
            <a:pPr algn="l">
              <a:lnSpc>
                <a:spcPct val="100000"/>
              </a:lnSpc>
            </a:pPr>
            <a:r>
              <a:rPr sz="1200" b="1" i="0">
                <a:solidFill>
                  <a:srgbClr val="0D9488"/>
                </a:solidFill>
                <a:latin typeface="Segoe UI Semibold"/>
              </a:rPr>
              <a:t>WHAT'S NEXT</a:t>
            </a:r>
          </a:p>
        </p:txBody>
      </p:sp>
      <p:sp>
        <p:nvSpPr>
          <p:cNvPr id="6" name="TextBox 5"/>
          <p:cNvSpPr txBox="1"/>
          <p:nvPr/>
        </p:nvSpPr>
        <p:spPr>
          <a:xfrm>
            <a:off x="777240" y="548640"/>
            <a:ext cx="10332720" cy="548640"/>
          </a:xfrm>
          <a:prstGeom prst="rect">
            <a:avLst/>
          </a:prstGeom>
          <a:noFill/>
        </p:spPr>
        <p:txBody>
          <a:bodyPr wrap="square" anchor="t" lIns="0" rIns="0" tIns="0" bIns="0">
            <a:spAutoFit/>
          </a:bodyPr>
          <a:lstStyle/>
          <a:p>
            <a:pPr algn="l">
              <a:lnSpc>
                <a:spcPct val="100000"/>
              </a:lnSpc>
            </a:pPr>
            <a:r>
              <a:rPr sz="2700" b="1" i="0">
                <a:solidFill>
                  <a:srgbClr val="16273C"/>
                </a:solidFill>
                <a:latin typeface="Segoe UI Semibold"/>
              </a:rPr>
              <a:t>Roadmap</a:t>
            </a:r>
          </a:p>
        </p:txBody>
      </p:sp>
      <p:sp>
        <p:nvSpPr>
          <p:cNvPr id="7" name="Rounded Rectangle 6"/>
          <p:cNvSpPr/>
          <p:nvPr/>
        </p:nvSpPr>
        <p:spPr>
          <a:xfrm>
            <a:off x="11292840" y="457200"/>
            <a:ext cx="502920" cy="365760"/>
          </a:xfrm>
          <a:prstGeom prst="round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92840" y="484632"/>
            <a:ext cx="502920" cy="320040"/>
          </a:xfrm>
          <a:prstGeom prst="rect">
            <a:avLst/>
          </a:prstGeom>
          <a:noFill/>
        </p:spPr>
        <p:txBody>
          <a:bodyPr wrap="square" anchor="t" lIns="0" rIns="0" tIns="0" bIns="0">
            <a:spAutoFit/>
          </a:bodyPr>
          <a:lstStyle/>
          <a:p>
            <a:pPr algn="ctr">
              <a:lnSpc>
                <a:spcPct val="100000"/>
              </a:lnSpc>
            </a:pPr>
            <a:r>
              <a:rPr sz="1300" b="1" i="0">
                <a:solidFill>
                  <a:srgbClr val="556477"/>
                </a:solidFill>
                <a:latin typeface="Segoe UI"/>
              </a:rPr>
              <a:t>20</a:t>
            </a:r>
          </a:p>
        </p:txBody>
      </p:sp>
      <p:sp>
        <p:nvSpPr>
          <p:cNvPr id="9" name="TextBox 8"/>
          <p:cNvSpPr txBox="1"/>
          <p:nvPr/>
        </p:nvSpPr>
        <p:spPr>
          <a:xfrm>
            <a:off x="777240" y="6455664"/>
            <a:ext cx="7315200" cy="274320"/>
          </a:xfrm>
          <a:prstGeom prst="rect">
            <a:avLst/>
          </a:prstGeom>
          <a:noFill/>
        </p:spPr>
        <p:txBody>
          <a:bodyPr wrap="square" anchor="t" lIns="0" rIns="0" tIns="0" bIns="0">
            <a:spAutoFit/>
          </a:bodyPr>
          <a:lstStyle/>
          <a:p>
            <a:pPr algn="l">
              <a:lnSpc>
                <a:spcPct val="100000"/>
              </a:lnSpc>
            </a:pPr>
            <a:r>
              <a:rPr sz="900" b="1" i="0">
                <a:solidFill>
                  <a:srgbClr val="0D9488"/>
                </a:solidFill>
                <a:latin typeface="Segoe UI"/>
              </a:rPr>
              <a:t>BrainSpark</a:t>
            </a:r>
            <a:r>
              <a:rPr sz="900" b="0" i="0">
                <a:solidFill>
                  <a:srgbClr val="8390A1"/>
                </a:solidFill>
                <a:latin typeface="Segoe UI"/>
              </a:rPr>
              <a:t>  ·  AI-Powered Cost Engineering Platform</a:t>
            </a:r>
          </a:p>
        </p:txBody>
      </p:sp>
      <p:sp>
        <p:nvSpPr>
          <p:cNvPr id="10" name="TextBox 9"/>
          <p:cNvSpPr txBox="1"/>
          <p:nvPr/>
        </p:nvSpPr>
        <p:spPr>
          <a:xfrm>
            <a:off x="8686800" y="6455664"/>
            <a:ext cx="2743200" cy="274320"/>
          </a:xfrm>
          <a:prstGeom prst="rect">
            <a:avLst/>
          </a:prstGeom>
          <a:noFill/>
        </p:spPr>
        <p:txBody>
          <a:bodyPr wrap="square" anchor="t" lIns="0" rIns="0" tIns="0" bIns="0">
            <a:spAutoFit/>
          </a:bodyPr>
          <a:lstStyle/>
          <a:p>
            <a:pPr algn="r">
              <a:lnSpc>
                <a:spcPct val="100000"/>
              </a:lnSpc>
            </a:pPr>
            <a:r>
              <a:rPr sz="900" b="0" i="0">
                <a:solidFill>
                  <a:srgbClr val="8390A1"/>
                </a:solidFill>
                <a:latin typeface="Segoe UI"/>
              </a:rPr>
              <a:t>Confidential — Internal</a:t>
            </a:r>
          </a:p>
        </p:txBody>
      </p:sp>
      <p:sp>
        <p:nvSpPr>
          <p:cNvPr id="11" name="Rounded Rectangle 10"/>
          <p:cNvSpPr/>
          <p:nvPr/>
        </p:nvSpPr>
        <p:spPr>
          <a:xfrm>
            <a:off x="548640" y="1645920"/>
            <a:ext cx="3611880" cy="4297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1645920"/>
            <a:ext cx="3611880" cy="868680"/>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94560"/>
            <a:ext cx="3611880" cy="32004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1737360"/>
            <a:ext cx="3017520" cy="457200"/>
          </a:xfrm>
          <a:prstGeom prst="rect">
            <a:avLst/>
          </a:prstGeom>
          <a:noFill/>
        </p:spPr>
        <p:txBody>
          <a:bodyPr wrap="square" anchor="t" lIns="0" rIns="0" tIns="0" bIns="0">
            <a:spAutoFit/>
          </a:bodyPr>
          <a:lstStyle/>
          <a:p>
            <a:pPr algn="l">
              <a:lnSpc>
                <a:spcPct val="100000"/>
              </a:lnSpc>
            </a:pPr>
            <a:r>
              <a:rPr sz="2200" b="1" i="0">
                <a:solidFill>
                  <a:srgbClr val="FFFFFF"/>
                </a:solidFill>
                <a:latin typeface="Segoe UI Semibold"/>
              </a:rPr>
              <a:t>NOW</a:t>
            </a:r>
          </a:p>
        </p:txBody>
      </p:sp>
      <p:sp>
        <p:nvSpPr>
          <p:cNvPr id="15" name="TextBox 14"/>
          <p:cNvSpPr txBox="1"/>
          <p:nvPr/>
        </p:nvSpPr>
        <p:spPr>
          <a:xfrm>
            <a:off x="868680" y="2176272"/>
            <a:ext cx="3017520" cy="320040"/>
          </a:xfrm>
          <a:prstGeom prst="rect">
            <a:avLst/>
          </a:prstGeom>
          <a:noFill/>
        </p:spPr>
        <p:txBody>
          <a:bodyPr wrap="square" anchor="t" lIns="0" rIns="0" tIns="0" bIns="0">
            <a:spAutoFit/>
          </a:bodyPr>
          <a:lstStyle/>
          <a:p>
            <a:pPr algn="l">
              <a:lnSpc>
                <a:spcPct val="100000"/>
              </a:lnSpc>
            </a:pPr>
            <a:r>
              <a:rPr sz="1200" b="1" i="0">
                <a:solidFill>
                  <a:srgbClr val="FFFFFF"/>
                </a:solidFill>
                <a:latin typeface="Segoe UI Semibold"/>
              </a:rPr>
              <a:t>Live today</a:t>
            </a:r>
          </a:p>
        </p:txBody>
      </p:sp>
      <p:sp>
        <p:nvSpPr>
          <p:cNvPr id="16" name="Rounded Rectangle 15"/>
          <p:cNvSpPr/>
          <p:nvPr/>
        </p:nvSpPr>
        <p:spPr>
          <a:xfrm>
            <a:off x="804672" y="2743200"/>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2743200"/>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8" name="TextBox 17"/>
          <p:cNvSpPr txBox="1"/>
          <p:nvPr/>
        </p:nvSpPr>
        <p:spPr>
          <a:xfrm>
            <a:off x="1188720" y="2724912"/>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Self-improving AI ideation + Deep Mode</a:t>
            </a:r>
          </a:p>
        </p:txBody>
      </p:sp>
      <p:sp>
        <p:nvSpPr>
          <p:cNvPr id="19" name="Rounded Rectangle 18"/>
          <p:cNvSpPr/>
          <p:nvPr/>
        </p:nvSpPr>
        <p:spPr>
          <a:xfrm>
            <a:off x="804672" y="3364992"/>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364992"/>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1" name="TextBox 20"/>
          <p:cNvSpPr txBox="1"/>
          <p:nvPr/>
        </p:nvSpPr>
        <p:spPr>
          <a:xfrm>
            <a:off x="1188720" y="3346704"/>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PCB suite: photo → BOM → 12-country cost</a:t>
            </a:r>
          </a:p>
        </p:txBody>
      </p:sp>
      <p:sp>
        <p:nvSpPr>
          <p:cNvPr id="22" name="Rounded Rectangle 21"/>
          <p:cNvSpPr/>
          <p:nvPr/>
        </p:nvSpPr>
        <p:spPr>
          <a:xfrm>
            <a:off x="804672" y="3986784"/>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986784"/>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4" name="TextBox 23"/>
          <p:cNvSpPr txBox="1"/>
          <p:nvPr/>
        </p:nvSpPr>
        <p:spPr>
          <a:xfrm>
            <a:off x="1188720" y="3968496"/>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Should-cost + quote-gap closure</a:t>
            </a:r>
          </a:p>
        </p:txBody>
      </p:sp>
      <p:sp>
        <p:nvSpPr>
          <p:cNvPr id="25" name="Rounded Rectangle 24"/>
          <p:cNvSpPr/>
          <p:nvPr/>
        </p:nvSpPr>
        <p:spPr>
          <a:xfrm>
            <a:off x="804672" y="4608576"/>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4608576"/>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27" name="TextBox 26"/>
          <p:cNvSpPr txBox="1"/>
          <p:nvPr/>
        </p:nvSpPr>
        <p:spPr>
          <a:xfrm>
            <a:off x="1188720" y="4590288"/>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11 innovation methods, engine-checked</a:t>
            </a:r>
          </a:p>
        </p:txBody>
      </p:sp>
      <p:sp>
        <p:nvSpPr>
          <p:cNvPr id="28" name="Rounded Rectangle 27"/>
          <p:cNvSpPr/>
          <p:nvPr/>
        </p:nvSpPr>
        <p:spPr>
          <a:xfrm>
            <a:off x="804672" y="5230368"/>
            <a:ext cx="292608" cy="292608"/>
          </a:xfrm>
          <a:prstGeom prst="round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5230368"/>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0" name="TextBox 29"/>
          <p:cNvSpPr txBox="1"/>
          <p:nvPr/>
        </p:nvSpPr>
        <p:spPr>
          <a:xfrm>
            <a:off x="1188720" y="5212080"/>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Marketplace, scorecards &amp; patent check</a:t>
            </a:r>
          </a:p>
        </p:txBody>
      </p:sp>
      <p:sp>
        <p:nvSpPr>
          <p:cNvPr id="31" name="Rounded Rectangle 30"/>
          <p:cNvSpPr/>
          <p:nvPr/>
        </p:nvSpPr>
        <p:spPr>
          <a:xfrm>
            <a:off x="4279392" y="1645920"/>
            <a:ext cx="3611880" cy="4297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279392" y="1645920"/>
            <a:ext cx="3611880" cy="868680"/>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79392" y="2194560"/>
            <a:ext cx="3611880" cy="32004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99432" y="1737360"/>
            <a:ext cx="3017520" cy="457200"/>
          </a:xfrm>
          <a:prstGeom prst="rect">
            <a:avLst/>
          </a:prstGeom>
          <a:noFill/>
        </p:spPr>
        <p:txBody>
          <a:bodyPr wrap="square" anchor="t" lIns="0" rIns="0" tIns="0" bIns="0">
            <a:spAutoFit/>
          </a:bodyPr>
          <a:lstStyle/>
          <a:p>
            <a:pPr algn="l">
              <a:lnSpc>
                <a:spcPct val="100000"/>
              </a:lnSpc>
            </a:pPr>
            <a:r>
              <a:rPr sz="2200" b="1" i="0">
                <a:solidFill>
                  <a:srgbClr val="FFFFFF"/>
                </a:solidFill>
                <a:latin typeface="Segoe UI Semibold"/>
              </a:rPr>
              <a:t>NEXT</a:t>
            </a:r>
          </a:p>
        </p:txBody>
      </p:sp>
      <p:sp>
        <p:nvSpPr>
          <p:cNvPr id="35" name="TextBox 34"/>
          <p:cNvSpPr txBox="1"/>
          <p:nvPr/>
        </p:nvSpPr>
        <p:spPr>
          <a:xfrm>
            <a:off x="4599432" y="2176272"/>
            <a:ext cx="3017520" cy="320040"/>
          </a:xfrm>
          <a:prstGeom prst="rect">
            <a:avLst/>
          </a:prstGeom>
          <a:noFill/>
        </p:spPr>
        <p:txBody>
          <a:bodyPr wrap="square" anchor="t" lIns="0" rIns="0" tIns="0" bIns="0">
            <a:spAutoFit/>
          </a:bodyPr>
          <a:lstStyle/>
          <a:p>
            <a:pPr algn="l">
              <a:lnSpc>
                <a:spcPct val="100000"/>
              </a:lnSpc>
            </a:pPr>
            <a:r>
              <a:rPr sz="1200" b="1" i="0">
                <a:solidFill>
                  <a:srgbClr val="FFFFFF"/>
                </a:solidFill>
                <a:latin typeface="Segoe UI Semibold"/>
              </a:rPr>
              <a:t>3–6 months</a:t>
            </a:r>
          </a:p>
        </p:txBody>
      </p:sp>
      <p:sp>
        <p:nvSpPr>
          <p:cNvPr id="36" name="Rounded Rectangle 35"/>
          <p:cNvSpPr/>
          <p:nvPr/>
        </p:nvSpPr>
        <p:spPr>
          <a:xfrm>
            <a:off x="4535424" y="2743200"/>
            <a:ext cx="292608" cy="29260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35424" y="2743200"/>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38" name="TextBox 37"/>
          <p:cNvSpPr txBox="1"/>
          <p:nvPr/>
        </p:nvSpPr>
        <p:spPr>
          <a:xfrm>
            <a:off x="4919472" y="2724912"/>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Feature-based casting &amp; moulding</a:t>
            </a:r>
          </a:p>
        </p:txBody>
      </p:sp>
      <p:sp>
        <p:nvSpPr>
          <p:cNvPr id="39" name="Rounded Rectangle 38"/>
          <p:cNvSpPr/>
          <p:nvPr/>
        </p:nvSpPr>
        <p:spPr>
          <a:xfrm>
            <a:off x="4535424" y="3364992"/>
            <a:ext cx="292608" cy="29260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35424" y="3364992"/>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1" name="TextBox 40"/>
          <p:cNvSpPr txBox="1"/>
          <p:nvPr/>
        </p:nvSpPr>
        <p:spPr>
          <a:xfrm>
            <a:off x="4919472" y="3346704"/>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Weld / assembly cost models</a:t>
            </a:r>
          </a:p>
        </p:txBody>
      </p:sp>
      <p:sp>
        <p:nvSpPr>
          <p:cNvPr id="42" name="Rounded Rectangle 41"/>
          <p:cNvSpPr/>
          <p:nvPr/>
        </p:nvSpPr>
        <p:spPr>
          <a:xfrm>
            <a:off x="4535424" y="3986784"/>
            <a:ext cx="292608" cy="29260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35424" y="3986784"/>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4" name="TextBox 43"/>
          <p:cNvSpPr txBox="1"/>
          <p:nvPr/>
        </p:nvSpPr>
        <p:spPr>
          <a:xfrm>
            <a:off x="4919472" y="3968496"/>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Empirical confidence bands</a:t>
            </a:r>
          </a:p>
        </p:txBody>
      </p:sp>
      <p:sp>
        <p:nvSpPr>
          <p:cNvPr id="45" name="Rounded Rectangle 44"/>
          <p:cNvSpPr/>
          <p:nvPr/>
        </p:nvSpPr>
        <p:spPr>
          <a:xfrm>
            <a:off x="4535424" y="4608576"/>
            <a:ext cx="292608" cy="29260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35424" y="4608576"/>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47" name="TextBox 46"/>
          <p:cNvSpPr txBox="1"/>
          <p:nvPr/>
        </p:nvSpPr>
        <p:spPr>
          <a:xfrm>
            <a:off x="4919472" y="4590288"/>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Commonality &amp; variant reduction</a:t>
            </a:r>
          </a:p>
        </p:txBody>
      </p:sp>
      <p:sp>
        <p:nvSpPr>
          <p:cNvPr id="48" name="Rounded Rectangle 47"/>
          <p:cNvSpPr/>
          <p:nvPr/>
        </p:nvSpPr>
        <p:spPr>
          <a:xfrm>
            <a:off x="8010144" y="1645920"/>
            <a:ext cx="3611880" cy="4297680"/>
          </a:xfrm>
          <a:prstGeom prst="roundRect">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8010144" y="1645920"/>
            <a:ext cx="3611880" cy="86868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10144" y="2194560"/>
            <a:ext cx="3611880" cy="32004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4" y="1737360"/>
            <a:ext cx="3017520" cy="457200"/>
          </a:xfrm>
          <a:prstGeom prst="rect">
            <a:avLst/>
          </a:prstGeom>
          <a:noFill/>
        </p:spPr>
        <p:txBody>
          <a:bodyPr wrap="square" anchor="t" lIns="0" rIns="0" tIns="0" bIns="0">
            <a:spAutoFit/>
          </a:bodyPr>
          <a:lstStyle/>
          <a:p>
            <a:pPr algn="l">
              <a:lnSpc>
                <a:spcPct val="100000"/>
              </a:lnSpc>
            </a:pPr>
            <a:r>
              <a:rPr sz="2200" b="1" i="0">
                <a:solidFill>
                  <a:srgbClr val="FFFFFF"/>
                </a:solidFill>
                <a:latin typeface="Segoe UI Semibold"/>
              </a:rPr>
              <a:t>LATER</a:t>
            </a:r>
          </a:p>
        </p:txBody>
      </p:sp>
      <p:sp>
        <p:nvSpPr>
          <p:cNvPr id="52" name="TextBox 51"/>
          <p:cNvSpPr txBox="1"/>
          <p:nvPr/>
        </p:nvSpPr>
        <p:spPr>
          <a:xfrm>
            <a:off x="8330184" y="2176272"/>
            <a:ext cx="3017520" cy="320040"/>
          </a:xfrm>
          <a:prstGeom prst="rect">
            <a:avLst/>
          </a:prstGeom>
          <a:noFill/>
        </p:spPr>
        <p:txBody>
          <a:bodyPr wrap="square" anchor="t" lIns="0" rIns="0" tIns="0" bIns="0">
            <a:spAutoFit/>
          </a:bodyPr>
          <a:lstStyle/>
          <a:p>
            <a:pPr algn="l">
              <a:lnSpc>
                <a:spcPct val="100000"/>
              </a:lnSpc>
            </a:pPr>
            <a:r>
              <a:rPr sz="1200" b="1" i="0">
                <a:solidFill>
                  <a:srgbClr val="FFFFFF"/>
                </a:solidFill>
                <a:latin typeface="Segoe UI Semibold"/>
              </a:rPr>
              <a:t>Vision</a:t>
            </a:r>
          </a:p>
        </p:txBody>
      </p:sp>
      <p:sp>
        <p:nvSpPr>
          <p:cNvPr id="53" name="Rounded Rectangle 52"/>
          <p:cNvSpPr/>
          <p:nvPr/>
        </p:nvSpPr>
        <p:spPr>
          <a:xfrm>
            <a:off x="8266176" y="2743200"/>
            <a:ext cx="292608" cy="29260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66176" y="2743200"/>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5" name="TextBox 54"/>
          <p:cNvSpPr txBox="1"/>
          <p:nvPr/>
        </p:nvSpPr>
        <p:spPr>
          <a:xfrm>
            <a:off x="8650224" y="2724912"/>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Composite &amp; paint models</a:t>
            </a:r>
          </a:p>
        </p:txBody>
      </p:sp>
      <p:sp>
        <p:nvSpPr>
          <p:cNvPr id="56" name="Rounded Rectangle 55"/>
          <p:cNvSpPr/>
          <p:nvPr/>
        </p:nvSpPr>
        <p:spPr>
          <a:xfrm>
            <a:off x="8266176" y="3364992"/>
            <a:ext cx="292608" cy="29260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66176" y="3364992"/>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58" name="TextBox 57"/>
          <p:cNvSpPr txBox="1"/>
          <p:nvPr/>
        </p:nvSpPr>
        <p:spPr>
          <a:xfrm>
            <a:off x="8650224" y="3346704"/>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Team collaboration &amp; approvals</a:t>
            </a:r>
          </a:p>
        </p:txBody>
      </p:sp>
      <p:sp>
        <p:nvSpPr>
          <p:cNvPr id="59" name="Rounded Rectangle 58"/>
          <p:cNvSpPr/>
          <p:nvPr/>
        </p:nvSpPr>
        <p:spPr>
          <a:xfrm>
            <a:off x="8266176" y="3986784"/>
            <a:ext cx="292608" cy="29260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66176" y="3986784"/>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61" name="TextBox 60"/>
          <p:cNvSpPr txBox="1"/>
          <p:nvPr/>
        </p:nvSpPr>
        <p:spPr>
          <a:xfrm>
            <a:off x="8650224" y="3968496"/>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ERP / PLM integration</a:t>
            </a:r>
          </a:p>
        </p:txBody>
      </p:sp>
      <p:sp>
        <p:nvSpPr>
          <p:cNvPr id="62" name="Rounded Rectangle 61"/>
          <p:cNvSpPr/>
          <p:nvPr/>
        </p:nvSpPr>
        <p:spPr>
          <a:xfrm>
            <a:off x="8266176" y="4608576"/>
            <a:ext cx="292608" cy="29260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66176" y="4608576"/>
            <a:ext cx="292608" cy="29260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64" name="TextBox 63"/>
          <p:cNvSpPr txBox="1"/>
          <p:nvPr/>
        </p:nvSpPr>
        <p:spPr>
          <a:xfrm>
            <a:off x="8650224" y="4590288"/>
            <a:ext cx="2834640" cy="548640"/>
          </a:xfrm>
          <a:prstGeom prst="rect">
            <a:avLst/>
          </a:prstGeom>
          <a:noFill/>
        </p:spPr>
        <p:txBody>
          <a:bodyPr wrap="square" anchor="t" lIns="0" rIns="0" tIns="0" bIns="0">
            <a:spAutoFit/>
          </a:bodyPr>
          <a:lstStyle/>
          <a:p>
            <a:pPr algn="l">
              <a:lnSpc>
                <a:spcPct val="102000"/>
              </a:lnSpc>
            </a:pPr>
            <a:r>
              <a:rPr sz="1150" b="0" i="0">
                <a:solidFill>
                  <a:srgbClr val="374558"/>
                </a:solidFill>
                <a:latin typeface="Segoe UI"/>
              </a:rPr>
              <a:t>Portfolio-level cost intelligence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5F9"/>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09728" cy="6858000"/>
          </a:xfrm>
          <a:prstGeom prst="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ck-close.png"/>
          <p:cNvPicPr>
            <a:picLocks noChangeAspect="1"/>
          </p:cNvPicPr>
          <p:nvPr/>
        </p:nvPicPr>
        <p:blipFill>
          <a:blip r:embed="rId2"/>
          <a:srcRect t="12310" b="17000"/>
          <a:stretch>
            <a:fillRect/>
          </a:stretch>
        </p:blipFill>
        <p:spPr>
          <a:xfrm>
            <a:off x="8549640" y="2651760"/>
            <a:ext cx="3108960" cy="3108960"/>
          </a:xfrm>
          <a:prstGeom prst="rect">
            <a:avLst/>
          </a:prstGeom>
        </p:spPr>
      </p:pic>
      <p:sp>
        <p:nvSpPr>
          <p:cNvPr id="5" name="Rectangle 4"/>
          <p:cNvSpPr/>
          <p:nvPr/>
        </p:nvSpPr>
        <p:spPr>
          <a:xfrm>
            <a:off x="8549640" y="2651760"/>
            <a:ext cx="3108960" cy="3108960"/>
          </a:xfrm>
          <a:prstGeom prst="rect">
            <a:avLst/>
          </a:prstGeom>
          <a:no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051560"/>
            <a:ext cx="7315200" cy="457200"/>
          </a:xfrm>
          <a:prstGeom prst="rect">
            <a:avLst/>
          </a:prstGeom>
          <a:noFill/>
        </p:spPr>
        <p:txBody>
          <a:bodyPr wrap="square" anchor="t" lIns="0" rIns="0" tIns="0" bIns="0">
            <a:spAutoFit/>
          </a:bodyPr>
          <a:lstStyle/>
          <a:p>
            <a:pPr algn="l">
              <a:lnSpc>
                <a:spcPct val="100000"/>
              </a:lnSpc>
            </a:pPr>
            <a:r>
              <a:rPr sz="1500" b="1" i="0">
                <a:solidFill>
                  <a:srgbClr val="0D9488"/>
                </a:solidFill>
                <a:latin typeface="Segoe UI Semibold"/>
              </a:rPr>
              <a:t>WHERE WE GO FROM HERE</a:t>
            </a:r>
          </a:p>
        </p:txBody>
      </p:sp>
      <p:sp>
        <p:nvSpPr>
          <p:cNvPr id="7" name="TextBox 6"/>
          <p:cNvSpPr txBox="1"/>
          <p:nvPr/>
        </p:nvSpPr>
        <p:spPr>
          <a:xfrm>
            <a:off x="960120" y="1600200"/>
            <a:ext cx="9601200" cy="822960"/>
          </a:xfrm>
          <a:prstGeom prst="rect">
            <a:avLst/>
          </a:prstGeom>
          <a:noFill/>
        </p:spPr>
        <p:txBody>
          <a:bodyPr wrap="square" anchor="t" lIns="0" rIns="0" tIns="0" bIns="0">
            <a:spAutoFit/>
          </a:bodyPr>
          <a:lstStyle/>
          <a:p>
            <a:pPr algn="l">
              <a:lnSpc>
                <a:spcPct val="100000"/>
              </a:lnSpc>
            </a:pPr>
            <a:r>
              <a:rPr sz="4600" b="1" i="0">
                <a:solidFill>
                  <a:srgbClr val="16273C"/>
                </a:solidFill>
                <a:latin typeface="Segoe UI Semibold"/>
              </a:rPr>
              <a:t>Let's put it to work</a:t>
            </a:r>
          </a:p>
        </p:txBody>
      </p:sp>
      <p:sp>
        <p:nvSpPr>
          <p:cNvPr id="8" name="Rounded Rectangle 7"/>
          <p:cNvSpPr/>
          <p:nvPr/>
        </p:nvSpPr>
        <p:spPr>
          <a:xfrm>
            <a:off x="1005840" y="2788920"/>
            <a:ext cx="566928" cy="56692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88920"/>
            <a:ext cx="566928" cy="56692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0" name="TextBox 9"/>
          <p:cNvSpPr txBox="1"/>
          <p:nvPr/>
        </p:nvSpPr>
        <p:spPr>
          <a:xfrm>
            <a:off x="1783080" y="2743200"/>
            <a:ext cx="6583680" cy="411480"/>
          </a:xfrm>
          <a:prstGeom prst="rect">
            <a:avLst/>
          </a:prstGeom>
          <a:noFill/>
        </p:spPr>
        <p:txBody>
          <a:bodyPr wrap="square" anchor="t" lIns="0" rIns="0" tIns="0" bIns="0">
            <a:spAutoFit/>
          </a:bodyPr>
          <a:lstStyle/>
          <a:p>
            <a:pPr algn="l">
              <a:lnSpc>
                <a:spcPct val="100000"/>
              </a:lnSpc>
            </a:pPr>
            <a:r>
              <a:rPr sz="1800" b="1" i="0">
                <a:solidFill>
                  <a:srgbClr val="16273C"/>
                </a:solidFill>
                <a:latin typeface="Segoe UI Semibold"/>
              </a:rPr>
              <a:t>Run a live pilot</a:t>
            </a:r>
          </a:p>
        </p:txBody>
      </p:sp>
      <p:sp>
        <p:nvSpPr>
          <p:cNvPr id="11" name="TextBox 10"/>
          <p:cNvSpPr txBox="1"/>
          <p:nvPr/>
        </p:nvSpPr>
        <p:spPr>
          <a:xfrm>
            <a:off x="1783080" y="3172968"/>
            <a:ext cx="6583680" cy="411480"/>
          </a:xfrm>
          <a:prstGeom prst="rect">
            <a:avLst/>
          </a:prstGeom>
          <a:noFill/>
        </p:spPr>
        <p:txBody>
          <a:bodyPr wrap="square" anchor="t" lIns="0" rIns="0" tIns="0" bIns="0">
            <a:spAutoFit/>
          </a:bodyPr>
          <a:lstStyle/>
          <a:p>
            <a:pPr algn="l">
              <a:lnSpc>
                <a:spcPct val="100000"/>
              </a:lnSpc>
            </a:pPr>
            <a:r>
              <a:rPr sz="1350" b="0" i="0">
                <a:solidFill>
                  <a:srgbClr val="556477"/>
                </a:solidFill>
                <a:latin typeface="Segoe UI"/>
              </a:rPr>
              <a:t>Pick one active programme or part family and trial BrainSpark on it.</a:t>
            </a:r>
          </a:p>
        </p:txBody>
      </p:sp>
      <p:sp>
        <p:nvSpPr>
          <p:cNvPr id="12" name="Rounded Rectangle 11"/>
          <p:cNvSpPr/>
          <p:nvPr/>
        </p:nvSpPr>
        <p:spPr>
          <a:xfrm>
            <a:off x="1005840" y="3840480"/>
            <a:ext cx="566928" cy="56692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40480"/>
            <a:ext cx="566928" cy="56692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4" name="TextBox 13"/>
          <p:cNvSpPr txBox="1"/>
          <p:nvPr/>
        </p:nvSpPr>
        <p:spPr>
          <a:xfrm>
            <a:off x="1783080" y="3794760"/>
            <a:ext cx="6583680" cy="411480"/>
          </a:xfrm>
          <a:prstGeom prst="rect">
            <a:avLst/>
          </a:prstGeom>
          <a:noFill/>
        </p:spPr>
        <p:txBody>
          <a:bodyPr wrap="square" anchor="t" lIns="0" rIns="0" tIns="0" bIns="0">
            <a:spAutoFit/>
          </a:bodyPr>
          <a:lstStyle/>
          <a:p>
            <a:pPr algn="l">
              <a:lnSpc>
                <a:spcPct val="100000"/>
              </a:lnSpc>
            </a:pPr>
            <a:r>
              <a:rPr sz="1800" b="1" i="0">
                <a:solidFill>
                  <a:srgbClr val="16273C"/>
                </a:solidFill>
                <a:latin typeface="Segoe UI Semibold"/>
              </a:rPr>
              <a:t>Benchmark it</a:t>
            </a:r>
          </a:p>
        </p:txBody>
      </p:sp>
      <p:sp>
        <p:nvSpPr>
          <p:cNvPr id="15" name="TextBox 14"/>
          <p:cNvSpPr txBox="1"/>
          <p:nvPr/>
        </p:nvSpPr>
        <p:spPr>
          <a:xfrm>
            <a:off x="1783080" y="4224528"/>
            <a:ext cx="6583680" cy="411480"/>
          </a:xfrm>
          <a:prstGeom prst="rect">
            <a:avLst/>
          </a:prstGeom>
          <a:noFill/>
        </p:spPr>
        <p:txBody>
          <a:bodyPr wrap="square" anchor="t" lIns="0" rIns="0" tIns="0" bIns="0">
            <a:spAutoFit/>
          </a:bodyPr>
          <a:lstStyle/>
          <a:p>
            <a:pPr algn="l">
              <a:lnSpc>
                <a:spcPct val="100000"/>
              </a:lnSpc>
            </a:pPr>
            <a:r>
              <a:rPr sz="1350" b="0" i="0">
                <a:solidFill>
                  <a:srgbClr val="556477"/>
                </a:solidFill>
                <a:latin typeface="Segoe UI"/>
              </a:rPr>
              <a:t>Validate its numbers against a few known supplier quotes together.</a:t>
            </a:r>
          </a:p>
        </p:txBody>
      </p:sp>
      <p:sp>
        <p:nvSpPr>
          <p:cNvPr id="16" name="Rounded Rectangle 15"/>
          <p:cNvSpPr/>
          <p:nvPr/>
        </p:nvSpPr>
        <p:spPr>
          <a:xfrm>
            <a:off x="1005840" y="4892040"/>
            <a:ext cx="566928" cy="566928"/>
          </a:xfrm>
          <a:prstGeom prst="roundRect">
            <a:avLst/>
          </a:prstGeom>
          <a:solidFill>
            <a:srgbClr val="B476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892040"/>
            <a:ext cx="566928" cy="566928"/>
          </a:xfrm>
          <a:prstGeom prst="rect">
            <a:avLst/>
          </a:prstGeom>
          <a:noFill/>
        </p:spPr>
        <p:txBody>
          <a:bodyPr wrap="square" anchor="ctr" lIns="0" rIns="0" tIns="0" bIns="0">
            <a:spAutoFit/>
          </a:bodyPr>
          <a:lstStyle/>
          <a:p>
            <a:pPr algn="ctr">
              <a:lnSpc>
                <a:spcPct val="100000"/>
              </a:lnSpc>
            </a:pPr>
            <a:r>
              <a:rPr sz="1800" b="1" i="0">
                <a:solidFill>
                  <a:srgbClr val="FFFFFF"/>
                </a:solidFill>
                <a:latin typeface="Arial"/>
              </a:rPr>
              <a:t>◆</a:t>
            </a:r>
          </a:p>
        </p:txBody>
      </p:sp>
      <p:sp>
        <p:nvSpPr>
          <p:cNvPr id="18" name="TextBox 17"/>
          <p:cNvSpPr txBox="1"/>
          <p:nvPr/>
        </p:nvSpPr>
        <p:spPr>
          <a:xfrm>
            <a:off x="1783080" y="4846320"/>
            <a:ext cx="6583680" cy="411480"/>
          </a:xfrm>
          <a:prstGeom prst="rect">
            <a:avLst/>
          </a:prstGeom>
          <a:noFill/>
        </p:spPr>
        <p:txBody>
          <a:bodyPr wrap="square" anchor="t" lIns="0" rIns="0" tIns="0" bIns="0">
            <a:spAutoFit/>
          </a:bodyPr>
          <a:lstStyle/>
          <a:p>
            <a:pPr algn="l">
              <a:lnSpc>
                <a:spcPct val="100000"/>
              </a:lnSpc>
            </a:pPr>
            <a:r>
              <a:rPr sz="1800" b="1" i="0">
                <a:solidFill>
                  <a:srgbClr val="16273C"/>
                </a:solidFill>
                <a:latin typeface="Segoe UI Semibold"/>
              </a:rPr>
              <a:t>Sponsor &amp; shape</a:t>
            </a:r>
          </a:p>
        </p:txBody>
      </p:sp>
      <p:sp>
        <p:nvSpPr>
          <p:cNvPr id="19" name="TextBox 18"/>
          <p:cNvSpPr txBox="1"/>
          <p:nvPr/>
        </p:nvSpPr>
        <p:spPr>
          <a:xfrm>
            <a:off x="1783080" y="5276088"/>
            <a:ext cx="6583680" cy="411480"/>
          </a:xfrm>
          <a:prstGeom prst="rect">
            <a:avLst/>
          </a:prstGeom>
          <a:noFill/>
        </p:spPr>
        <p:txBody>
          <a:bodyPr wrap="square" anchor="t" lIns="0" rIns="0" tIns="0" bIns="0">
            <a:spAutoFit/>
          </a:bodyPr>
          <a:lstStyle/>
          <a:p>
            <a:pPr algn="l">
              <a:lnSpc>
                <a:spcPct val="100000"/>
              </a:lnSpc>
            </a:pPr>
            <a:r>
              <a:rPr sz="1350" b="0" i="0">
                <a:solidFill>
                  <a:srgbClr val="556477"/>
                </a:solidFill>
                <a:latin typeface="Segoe UI"/>
              </a:rPr>
              <a:t>A little time and direction to prioritise the features that matter most to us.</a:t>
            </a:r>
          </a:p>
        </p:txBody>
      </p:sp>
      <p:sp>
        <p:nvSpPr>
          <p:cNvPr id="20" name="Rectangle 19"/>
          <p:cNvSpPr/>
          <p:nvPr/>
        </p:nvSpPr>
        <p:spPr>
          <a:xfrm>
            <a:off x="1005840" y="5943600"/>
            <a:ext cx="10241280" cy="27432"/>
          </a:xfrm>
          <a:prstGeom prst="rect">
            <a:avLst/>
          </a:prstGeom>
          <a:solidFill>
            <a:srgbClr val="E4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6080760"/>
            <a:ext cx="10058400" cy="457200"/>
          </a:xfrm>
          <a:prstGeom prst="rect">
            <a:avLst/>
          </a:prstGeom>
          <a:noFill/>
        </p:spPr>
        <p:txBody>
          <a:bodyPr wrap="square" anchor="t" lIns="0" rIns="0" tIns="0" bIns="0">
            <a:spAutoFit/>
          </a:bodyPr>
          <a:lstStyle/>
          <a:p>
            <a:pPr algn="l">
              <a:lnSpc>
                <a:spcPct val="100000"/>
              </a:lnSpc>
            </a:pPr>
            <a:r>
              <a:rPr sz="1500" b="1" i="0">
                <a:solidFill>
                  <a:srgbClr val="0D9488"/>
                </a:solidFill>
                <a:latin typeface="Segoe UI Semibold"/>
              </a:rPr>
              <a:t>Thank you.  </a:t>
            </a:r>
            <a:r>
              <a:rPr sz="1400" b="0" i="0">
                <a:solidFill>
                  <a:srgbClr val="374558"/>
                </a:solidFill>
                <a:latin typeface="Segoe UI"/>
              </a:rPr>
              <a:t>Questions &amp; discussion welcome   ·   </a:t>
            </a:r>
            <a:r>
              <a:rPr sz="1400" b="0" i="0">
                <a:solidFill>
                  <a:srgbClr val="556477"/>
                </a:solidFill>
                <a:latin typeface="Segoe UI"/>
              </a:rPr>
              <a:t>Avinash Bhosale · Cost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