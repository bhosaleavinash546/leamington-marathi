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have been building a tool called CostVision for about four months. The question in front of us is simple: how do we get the benefit of it into JLR. There are two sensible ways to do that. I am going to walk through both, tell you honestly what each one involves, and give you my recommendation at the end. I will keep the technical language to a minimum — where I do have to use a term, I will explain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remember one slide, make it this one. Two options. Option 1 takes about five months and keeps CAPEE as our costing system. Option 2 takes two to three months and puts CostVision alongside it running on our numbers. My recommendation is that these are not either-or — do the quick one first, because it answers the question the slow one depends on. And the amber box: I want to say this before anyone else does. We have never checked this tool against a real price we have paid. Until we do, I cannot tell you how accurate it is, and I am not going to pretend otherwise.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case for doing anything at all. Today every one of those numbers on the left is typed in by hand. It is slow, but the bigger problem is the second point — two of our engineers costing the same part will not enter the same numbers, so we get two different answers for the same part. On the right is what the tool does instead. And the blue box matters: the 3D model is measured, not guessed. Software measures it exactly like a CMM would.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of Option 1 on one slide, so let me walk the top row first. The engineer uploads the model and the drawing from inside CAPEE — same screen they use now. Software measures the model. The AI reads the drawing. The safety checks then compare what the AI read against what was measured, and anything that disagrees gets flagged rather than quietly used. There are a few things no 3D model can tell you — heat treatment, tolerance class — so the engineer confirms those. Then CAPEE gets the numbers and does the costing exactly as it does today. Underneath is how we build it, roughly five months, and who does what. The honest bit is the amber strip: I cannot firm up weeks twelve to sixteen until IT tell us how CAPEE is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separate two things that get lumped together as AI. On the left is measuring — that is ordinary software doing geometry, the same maths a CMM uses. It is exact and it repeats. On the right is reading the drawing, which is the AI, because reading a drawing note is a language job. Everything on the right gets checked before it can move a cost. And the green box is the one IT security will ask about: the CAD file never leaves JLR. The measuring software has no internet connection at all — we verified that in the code. Only a few lines of drawing text go to the AI, and that can go through JLR's own service.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instinct on a project like this is to take the clever bit — the measuring and the AI — and leave what looks like plumbing until later. I want to argue against that. These four checks are what make the clever bit safe. The first one is the most important: if the AI and the measured model disagree, the model wins, every time. The last one matters for a different reason — where the tool genuinely cannot know something, it asks the engineer rather than guessing, and it never pre-ticks its own suggestion. And the red box is a real example from our own audit. We found a path with no checks, and it returned a nonsense cost while reporting that everything was fine. We fixed it, but that is exactly what happens when the checks are treated as optional.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what we would actually be handing over, so here it is. Six things. The measuring engine is written in Python, which is the normal language for engineering and measurement work. Everything else is TypeScript, which is one of the most common languages for business software. Neither is unusual — IT will have people who know both, and we are not locking JLR into anything odd. The last row is the settings list, which is the next slide and is probably the part you care about most. The amber box is the one practical constraint: the measuring engine needs a normal Linux server. Worth IT confirming early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specifically what we mean by hardcoded values, because it is a phrase that means nothing on its own. This is what they are. Look at the third row — a rejected plated part costs about four and a half times a good one, because you have to strip it and do it again. That is why a three percent reject rate is really a thirteen percent cost adder. That is an engineering judgement, and it is the sort of thing you would challenge in a review. So we pull every one of these out into a single list you can read and change without going near a developer. The amber strip is important though — these are our estimates, not measurements from a JLR plant. They are a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here yet because nobody has told us how CAPEE is actually built. So rather than hold the whole thing up, here are all three ways, with the timing for each. The good news is that all three work — it is a question of how long, not whether. If you asked me to choose without knowing, I would choose B, running it alongside, because that works whatever CAPEE is and it means we can improve our side without disturbing CAPEE every time. The three questions in the amber box are what I need from IT to firm this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about five months. Two I want to draw out. Step three is the settings list — that is the one you asked for, where every fixed number gets written out so you can read and challenge it. Step four is the safety checks, and I have deliberately given it three weeks of its own rather than tucking it into the connection work, because it is the bit that would otherwise get squeezed. And the amber box: we start with one part type. Machined parts or pressings, because that is where most of our volume is and the shapes are best understood. We widen once it is proven.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treatment for Option 2. Top row is what an engineer does — sign in with their normal JLR login, put in a model or fill the form, pick the part type, and out comes a costed answer with a report they can take to a supplier. Underneath is the setup, two to three months. Now look at the two bands. Almost everything on the top band is us and it is straightforward. The bottom band is JLR, and weeks five to ten is the real work — collecting our own rates. I want to be honest that the software side of this is easy. Whether it takes two months or four depends entirely on how quickly we can pull our own numbers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Left, everything that stays exactly as it is — all eighteen part types, the maths, the reports. Middle, the numbers we swap for ours. Right, the things we add to make it fit JLR properly — our logins, a proper database, our own AI service. The blue box is the reassuring engineering point: the tool was designed so the rate book is handed to it from outside, so putting our numbers in is a setting, not a rebuild. The amber box is me being straight with you — there are two gaps. It does not keep a history of rate changes and it does not save finished costings, so you could not reproduce a cost from three months ago. For our use that has to be fixed, and I have put it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Step three is the one that determines the timeline — gathering our own rates. That is our work, not software work, and I would rather flag it now than have it surprise us in month two. Step four is the most valuable step in either option. Thirty to fifty parts we have actually bought, compared against what the tool says. That is what lets me stand here next quarter and tell you how accurate it is instead of saying we think it is about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 each option wins some rows. I would steer you to the bottom three. Option 2 tells us how accurate the tool is; Option 1 does not, because CAPEE does the costing. Option 2 we can switch off on a Friday if it is not working; Option 1 is wired into CAPEE and much harder to unwind. And Option 2 does not wait on anybody, whereas Option 1 is stuck until IT tell us how CAPEE is built. Those three rows are the reason for my recommendation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 is that we stop thinking about this as either-or and do them in order. This quarter, Option 2 — install it, load our rates, and critically, check it against parts we have actually bought. Next quarter we look at those results with the answer from IT and decide properly. Quarter after, Option 1, and by then we are scaling something we know works rather than betting. If the money only stretches to one, do Option 2. Option 1 saves our engineers typing, which is worth having. Option 2 gives us something we do not have at all today.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you hear these from me than find them later. The top one is the big one — we have never checked this against a real price we paid, so I genuinely cannot tell you today how accurate it is. The second is that it cannot currently reproduce a costing from three months ago, which matters if we ever want to defend a number in an audit. Both of those get fixed by doing Option 2. The rest are manageable. And notice the last row — the CAD file never leaves JLR, only a few lines of drawing text, and even that can go through our own AI service.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asks. Number one is the one I will keep coming back to — thirty to fifty parts where we know what we actually paid. Old purchase records are fine. Without that, I cannot tell anyone how accurate this is, and that is the first question we will get. Number two is our own rates, which is the long pole so worth starting now. Number three is three questions to IT about CAPEE. Number four is a security decision — we can either turn the AI reading off completely and keep all the measuring, or route it through JLR's own approved service. Either works, and we have the paperwork ready for both.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options on one line. Option 2 runs through the first quarter and a bit, we trial it, and by about month three we have a working tool on our own rates and a real answer on accuracy. We then decide, and Option 1 runs through the middle of the year. Yes, that means automatic input into CAPEE lands around month nine rather than month five. But it lands on top of something we have proved, with the settings already reviewed and signed off, instead of us finding out in month five whether any of it was 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anybody who wants to know how we know. Every claim I have made today was checked against the software itself last month rather than assumed. A couple worth pointing at: the costing gives the same answer every time, which sounds obvious but is not true of every tool. And the fourth row — we checked every line of the measuring software for internet connections and there are none, which is the answer to the first question IT security will ask. We also found and fixed three faults during that review, and I have listed them rather than quietly fixing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874519"/>
            <a:ext cx="10607040" cy="1280160"/>
          </a:xfrm>
          <a:prstGeom prst="rect">
            <a:avLst/>
          </a:prstGeom>
          <a:noFill/>
        </p:spPr>
        <p:txBody>
          <a:bodyPr wrap="square" anchor="t" lIns="0" rIns="0" tIns="0" bIns="0">
            <a:spAutoFit/>
          </a:bodyPr>
          <a:lstStyle/>
          <a:p>
            <a:pPr algn="l">
              <a:lnSpc>
                <a:spcPct val="100000"/>
              </a:lnSpc>
              <a:spcAft>
                <a:spcPts val="400"/>
              </a:spcAft>
            </a:pPr>
            <a:r>
              <a:rPr sz="3800" b="1" i="0">
                <a:solidFill>
                  <a:srgbClr val="FFFFFF"/>
                </a:solidFill>
                <a:latin typeface="Cambria"/>
              </a:rPr>
              <a:t>Two ways to bring CostVision into JLR</a:t>
            </a:r>
          </a:p>
        </p:txBody>
      </p:sp>
      <p:sp>
        <p:nvSpPr>
          <p:cNvPr id="8" name="TextBox 7"/>
          <p:cNvSpPr txBox="1"/>
          <p:nvPr/>
        </p:nvSpPr>
        <p:spPr>
          <a:xfrm>
            <a:off x="548640" y="278892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What each one involves, how long it takes, what it costs us in effort, and which one we recommend</a:t>
            </a:r>
          </a:p>
        </p:txBody>
      </p:sp>
      <p:sp>
        <p:nvSpPr>
          <p:cNvPr id="9" name="Rectangle 8"/>
          <p:cNvSpPr/>
          <p:nvPr/>
        </p:nvSpPr>
        <p:spPr>
          <a:xfrm>
            <a:off x="548640" y="361188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93192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95020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a:t>
            </a:r>
          </a:p>
        </p:txBody>
      </p:sp>
      <p:sp>
        <p:nvSpPr>
          <p:cNvPr id="12" name="TextBox 11"/>
          <p:cNvSpPr txBox="1"/>
          <p:nvPr/>
        </p:nvSpPr>
        <p:spPr>
          <a:xfrm>
            <a:off x="1280160" y="4251960"/>
            <a:ext cx="9875520" cy="274320"/>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CAPEE stays as it is. We give it the numbers, read from the CAD model and the drawing.</a:t>
            </a:r>
          </a:p>
        </p:txBody>
      </p:sp>
      <p:sp>
        <p:nvSpPr>
          <p:cNvPr id="13" name="Oval 12"/>
          <p:cNvSpPr/>
          <p:nvPr/>
        </p:nvSpPr>
        <p:spPr>
          <a:xfrm>
            <a:off x="566928" y="480060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81888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Use CostVision on our own rates</a:t>
            </a:r>
          </a:p>
        </p:txBody>
      </p:sp>
      <p:sp>
        <p:nvSpPr>
          <p:cNvPr id="15" name="TextBox 14"/>
          <p:cNvSpPr txBox="1"/>
          <p:nvPr/>
        </p:nvSpPr>
        <p:spPr>
          <a:xfrm>
            <a:off x="1280160" y="5120640"/>
            <a:ext cx="9875520" cy="274320"/>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Install CostVision as it is. Put JLR material, machine, labour and energy rates into it.</a:t>
            </a:r>
          </a:p>
        </p:txBody>
      </p:sp>
      <p:sp>
        <p:nvSpPr>
          <p:cNvPr id="16" name="TextBox 15"/>
          <p:cNvSpPr txBox="1"/>
          <p:nvPr/>
        </p:nvSpPr>
        <p:spPr>
          <a:xfrm>
            <a:off x="548640" y="594360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Prepared for the JLR Cost Engineering team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in one slide</a:t>
            </a:r>
          </a:p>
        </p:txBody>
      </p:sp>
      <p:sp>
        <p:nvSpPr>
          <p:cNvPr id="9" name="Rounded Rectangle 8"/>
          <p:cNvSpPr/>
          <p:nvPr/>
        </p:nvSpPr>
        <p:spPr>
          <a:xfrm>
            <a:off x="411480" y="1645920"/>
            <a:ext cx="5577840" cy="22860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2286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12" name="TextBox 11"/>
          <p:cNvSpPr txBox="1"/>
          <p:nvPr/>
        </p:nvSpPr>
        <p:spPr>
          <a:xfrm>
            <a:off x="612648" y="2084832"/>
            <a:ext cx="5212080" cy="17373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exactly as it is and still does the costing.</a:t>
            </a:r>
          </a:p>
          <a:p>
            <a:pPr algn="l">
              <a:lnSpc>
                <a:spcPct val="112000"/>
              </a:lnSpc>
              <a:spcAft>
                <a:spcPts val="300"/>
              </a:spcAft>
            </a:pPr>
            <a:r>
              <a:rPr sz="1050" b="0" i="0">
                <a:solidFill>
                  <a:srgbClr val="3A4356"/>
                </a:solidFill>
                <a:latin typeface="Calibri"/>
              </a:rPr>
              <a:t>Instead of typing thirty boxes, the engineer drops in the</a:t>
            </a:r>
          </a:p>
          <a:p>
            <a:pPr algn="l">
              <a:lnSpc>
                <a:spcPct val="112000"/>
              </a:lnSpc>
              <a:spcAft>
                <a:spcPts val="300"/>
              </a:spcAft>
            </a:pPr>
            <a:r>
              <a:rPr sz="1050" b="0" i="0">
                <a:solidFill>
                  <a:srgbClr val="3A4356"/>
                </a:solidFill>
                <a:latin typeface="Calibri"/>
              </a:rPr>
              <a:t>3D model and the drawing, and the numbers appear.</a:t>
            </a:r>
          </a:p>
          <a:p>
            <a:pPr algn="l">
              <a:lnSpc>
                <a:spcPct val="112000"/>
              </a:lnSpc>
              <a:spcAft>
                <a:spcPts val="300"/>
              </a:spcAft>
            </a:pPr>
          </a:p>
          <a:p>
            <a:pPr algn="l">
              <a:lnSpc>
                <a:spcPct val="112000"/>
              </a:lnSpc>
              <a:spcAft>
                <a:spcPts val="300"/>
              </a:spcAft>
            </a:pPr>
            <a:r>
              <a:rPr sz="1050" b="1" i="0">
                <a:solidFill>
                  <a:srgbClr val="16325C"/>
                </a:solidFill>
                <a:latin typeface="Calibri"/>
              </a:rPr>
              <a:t>Roughly 5 months of work.</a:t>
            </a:r>
          </a:p>
          <a:p>
            <a:pPr algn="l">
              <a:lnSpc>
                <a:spcPct val="112000"/>
              </a:lnSpc>
              <a:spcAft>
                <a:spcPts val="300"/>
              </a:spcAft>
            </a:pPr>
            <a:r>
              <a:rPr sz="1050" b="1" i="0">
                <a:solidFill>
                  <a:srgbClr val="16325C"/>
                </a:solidFill>
                <a:latin typeface="Calibri"/>
              </a:rPr>
              <a:t>Most of the effort is ours, plus JLR IT.</a:t>
            </a:r>
          </a:p>
        </p:txBody>
      </p:sp>
      <p:sp>
        <p:nvSpPr>
          <p:cNvPr id="13" name="Rounded Rectangle 12"/>
          <p:cNvSpPr/>
          <p:nvPr/>
        </p:nvSpPr>
        <p:spPr>
          <a:xfrm>
            <a:off x="6199632" y="1645920"/>
            <a:ext cx="5577840" cy="22860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22860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Use CostVision on our rates</a:t>
            </a:r>
          </a:p>
        </p:txBody>
      </p:sp>
      <p:sp>
        <p:nvSpPr>
          <p:cNvPr id="16" name="TextBox 15"/>
          <p:cNvSpPr txBox="1"/>
          <p:nvPr/>
        </p:nvSpPr>
        <p:spPr>
          <a:xfrm>
            <a:off x="6400800" y="2084832"/>
            <a:ext cx="5212080" cy="17373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Install CostVision as it is. Nothing is rebuilt.</a:t>
            </a:r>
          </a:p>
          <a:p>
            <a:pPr algn="l">
              <a:lnSpc>
                <a:spcPct val="112000"/>
              </a:lnSpc>
              <a:spcAft>
                <a:spcPts val="300"/>
              </a:spcAft>
            </a:pPr>
            <a:r>
              <a:rPr sz="1050" b="0" i="0">
                <a:solidFill>
                  <a:srgbClr val="3A4356"/>
                </a:solidFill>
                <a:latin typeface="Calibri"/>
              </a:rPr>
              <a:t>We load JLR material prices, machine rates, labour and</a:t>
            </a:r>
          </a:p>
          <a:p>
            <a:pPr algn="l">
              <a:lnSpc>
                <a:spcPct val="112000"/>
              </a:lnSpc>
              <a:spcAft>
                <a:spcPts val="300"/>
              </a:spcAft>
            </a:pPr>
            <a:r>
              <a:rPr sz="1050" b="0" i="0">
                <a:solidFill>
                  <a:srgbClr val="3A4356"/>
                </a:solidFill>
                <a:latin typeface="Calibri"/>
              </a:rPr>
              <a:t>energy costs in place of the ones it ships with.</a:t>
            </a:r>
          </a:p>
          <a:p>
            <a:pPr algn="l">
              <a:lnSpc>
                <a:spcPct val="112000"/>
              </a:lnSpc>
              <a:spcAft>
                <a:spcPts val="300"/>
              </a:spcAft>
            </a:pPr>
          </a:p>
          <a:p>
            <a:pPr algn="l">
              <a:lnSpc>
                <a:spcPct val="112000"/>
              </a:lnSpc>
              <a:spcAft>
                <a:spcPts val="300"/>
              </a:spcAft>
            </a:pPr>
            <a:r>
              <a:rPr sz="1050" b="1" i="0">
                <a:solidFill>
                  <a:srgbClr val="16325C"/>
                </a:solidFill>
                <a:latin typeface="Calibri"/>
              </a:rPr>
              <a:t>Roughly 2 to 3 months.</a:t>
            </a:r>
          </a:p>
          <a:p>
            <a:pPr algn="l">
              <a:lnSpc>
                <a:spcPct val="112000"/>
              </a:lnSpc>
              <a:spcAft>
                <a:spcPts val="300"/>
              </a:spcAft>
            </a:pPr>
            <a:r>
              <a:rPr sz="1050" b="1" i="0">
                <a:solidFill>
                  <a:srgbClr val="16325C"/>
                </a:solidFill>
                <a:latin typeface="Calibri"/>
              </a:rPr>
              <a:t>Most of the effort is JLR collecting the rate data.</a:t>
            </a:r>
          </a:p>
        </p:txBody>
      </p:sp>
      <p:sp>
        <p:nvSpPr>
          <p:cNvPr id="17" name="Rounded Rectangle 16"/>
          <p:cNvSpPr/>
          <p:nvPr/>
        </p:nvSpPr>
        <p:spPr>
          <a:xfrm>
            <a:off x="411480" y="411480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1480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336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OUR RECOMMENDATION — do Option 2 first, then Option 1</a:t>
            </a:r>
          </a:p>
        </p:txBody>
      </p:sp>
      <p:sp>
        <p:nvSpPr>
          <p:cNvPr id="20" name="TextBox 19"/>
          <p:cNvSpPr txBox="1"/>
          <p:nvPr/>
        </p:nvSpPr>
        <p:spPr>
          <a:xfrm>
            <a:off x="630936" y="451713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These are not really a choice between two things. Option 2 is quicker, we can stop it at any time if we do not like it, and it tells us whether the tool actually gets the right answer on JLR parts. Option 1 needs that answer before it is worth doing.</a:t>
            </a:r>
          </a:p>
        </p:txBody>
      </p:sp>
      <p:sp>
        <p:nvSpPr>
          <p:cNvPr id="21" name="Rounded Rectangle 20"/>
          <p:cNvSpPr/>
          <p:nvPr/>
        </p:nvSpPr>
        <p:spPr>
          <a:xfrm>
            <a:off x="411480" y="5193792"/>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31266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TO BE CLEAR ABOUT, WHICHEVER WE CHOOSE</a:t>
            </a:r>
          </a:p>
        </p:txBody>
      </p:sp>
      <p:sp>
        <p:nvSpPr>
          <p:cNvPr id="24" name="TextBox 23"/>
          <p:cNvSpPr txBox="1"/>
          <p:nvPr/>
        </p:nvSpPr>
        <p:spPr>
          <a:xfrm>
            <a:off x="630936" y="5596128"/>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We have not yet checked the tool's answers against real JLR prices. Not once. Until we take 30 to 50 parts we have actually bought and compare them, we cannot tell anyone how accurate it is. That is a job for us, not for the software, and it is the single most valuable thing we could do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for the person doing the costing</a:t>
            </a:r>
          </a:p>
        </p:txBody>
      </p:sp>
      <p:sp>
        <p:nvSpPr>
          <p:cNvPr id="9" name="Rounded Rectangle 8"/>
          <p:cNvSpPr/>
          <p:nvPr/>
        </p:nvSpPr>
        <p:spPr>
          <a:xfrm>
            <a:off x="411480" y="1691640"/>
            <a:ext cx="5577840" cy="32004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3200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 everything is typed in by hand</a:t>
            </a:r>
          </a:p>
        </p:txBody>
      </p:sp>
      <p:sp>
        <p:nvSpPr>
          <p:cNvPr id="12" name="TextBox 11"/>
          <p:cNvSpPr txBox="1"/>
          <p:nvPr/>
        </p:nvSpPr>
        <p:spPr>
          <a:xfrm>
            <a:off x="612648" y="213055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Part weight, and the weight of the material we start with</a:t>
            </a:r>
          </a:p>
          <a:p>
            <a:pPr algn="l">
              <a:lnSpc>
                <a:spcPct val="112000"/>
              </a:lnSpc>
              <a:spcAft>
                <a:spcPts val="300"/>
              </a:spcAft>
            </a:pPr>
            <a:r>
              <a:rPr sz="1050" b="0" i="0">
                <a:solidFill>
                  <a:srgbClr val="3A4356"/>
                </a:solidFill>
                <a:latin typeface="Calibri"/>
              </a:rPr>
              <a:t>Wall thickness, overall size</a:t>
            </a:r>
          </a:p>
          <a:p>
            <a:pPr algn="l">
              <a:lnSpc>
                <a:spcPct val="112000"/>
              </a:lnSpc>
              <a:spcAft>
                <a:spcPts val="300"/>
              </a:spcAft>
            </a:pPr>
            <a:r>
              <a:rPr sz="1050" b="0" i="0">
                <a:solidFill>
                  <a:srgbClr val="3A4356"/>
                </a:solidFill>
                <a:latin typeface="Calibri"/>
              </a:rPr>
              <a:t>How many holes, pockets, bosses</a:t>
            </a:r>
          </a:p>
          <a:p>
            <a:pPr algn="l">
              <a:lnSpc>
                <a:spcPct val="112000"/>
              </a:lnSpc>
              <a:spcAft>
                <a:spcPts val="300"/>
              </a:spcAft>
            </a:pPr>
            <a:r>
              <a:rPr sz="1050" b="0" i="0">
                <a:solidFill>
                  <a:srgbClr val="3A4356"/>
                </a:solidFill>
                <a:latin typeface="Calibri"/>
              </a:rPr>
              <a:t>How long each machine takes</a:t>
            </a:r>
          </a:p>
          <a:p>
            <a:pPr algn="l">
              <a:lnSpc>
                <a:spcPct val="112000"/>
              </a:lnSpc>
              <a:spcAft>
                <a:spcPts val="300"/>
              </a:spcAft>
            </a:pPr>
            <a:r>
              <a:rPr sz="1050" b="0" i="0">
                <a:solidFill>
                  <a:srgbClr val="3A4356"/>
                </a:solidFill>
                <a:latin typeface="Calibri"/>
              </a:rPr>
              <a:t>Surface area for painting or plating</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0" i="0">
                <a:solidFill>
                  <a:srgbClr val="3A4356"/>
                </a:solidFill>
                <a:latin typeface="Calibri"/>
              </a:rPr>
              <a:t>It is slow, and two engineers looking at the same part</a:t>
            </a:r>
          </a:p>
          <a:p>
            <a:pPr algn="l">
              <a:lnSpc>
                <a:spcPct val="112000"/>
              </a:lnSpc>
              <a:spcAft>
                <a:spcPts val="300"/>
              </a:spcAft>
            </a:pPr>
            <a:r>
              <a:rPr sz="1050" b="1" i="0">
                <a:solidFill>
                  <a:srgbClr val="16325C"/>
                </a:solidFill>
                <a:latin typeface="Calibri"/>
              </a:rPr>
              <a:t>will not type the same numbers.</a:t>
            </a:r>
          </a:p>
        </p:txBody>
      </p:sp>
      <p:sp>
        <p:nvSpPr>
          <p:cNvPr id="13" name="Rounded Rectangle 12"/>
          <p:cNvSpPr/>
          <p:nvPr/>
        </p:nvSpPr>
        <p:spPr>
          <a:xfrm>
            <a:off x="6199632" y="1691640"/>
            <a:ext cx="5577840" cy="32004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3200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 — read straight off the model</a:t>
            </a:r>
          </a:p>
        </p:txBody>
      </p:sp>
      <p:sp>
        <p:nvSpPr>
          <p:cNvPr id="16" name="TextBox 15"/>
          <p:cNvSpPr txBox="1"/>
          <p:nvPr/>
        </p:nvSpPr>
        <p:spPr>
          <a:xfrm>
            <a:off x="6400800" y="213055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Drop in the 3D model and the drawing.</a:t>
            </a:r>
          </a:p>
          <a:p>
            <a:pPr algn="l">
              <a:lnSpc>
                <a:spcPct val="112000"/>
              </a:lnSpc>
              <a:spcAft>
                <a:spcPts val="300"/>
              </a:spcAft>
            </a:pPr>
          </a:p>
          <a:p>
            <a:pPr algn="l">
              <a:lnSpc>
                <a:spcPct val="112000"/>
              </a:lnSpc>
              <a:spcAft>
                <a:spcPts val="300"/>
              </a:spcAft>
            </a:pPr>
            <a:r>
              <a:rPr sz="1050" b="1" i="0">
                <a:solidFill>
                  <a:srgbClr val="16325C"/>
                </a:solidFill>
                <a:latin typeface="Calibri"/>
              </a:rPr>
              <a:t>MEASURED from the 3D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a:t>
            </a:r>
          </a:p>
          <a:p>
            <a:pPr algn="l">
              <a:lnSpc>
                <a:spcPct val="112000"/>
              </a:lnSpc>
              <a:spcAft>
                <a:spcPts val="300"/>
              </a:spcAft>
            </a:pPr>
          </a:p>
          <a:p>
            <a:pPr algn="l">
              <a:lnSpc>
                <a:spcPct val="112000"/>
              </a:lnSpc>
              <a:spcAft>
                <a:spcPts val="300"/>
              </a:spcAft>
            </a:pPr>
            <a:r>
              <a:rPr sz="1050" b="1" i="0">
                <a:solidFill>
                  <a:srgbClr val="16325C"/>
                </a:solidFill>
                <a:latin typeface="Calibri"/>
              </a:rPr>
              <a:t>READ from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how many features are masked off.</a:t>
            </a:r>
          </a:p>
          <a:p>
            <a:pPr algn="l">
              <a:lnSpc>
                <a:spcPct val="112000"/>
              </a:lnSpc>
              <a:spcAft>
                <a:spcPts val="300"/>
              </a:spcAft>
            </a:pPr>
          </a:p>
          <a:p>
            <a:pPr algn="l">
              <a:lnSpc>
                <a:spcPct val="112000"/>
              </a:lnSpc>
              <a:spcAft>
                <a:spcPts val="300"/>
              </a:spcAft>
            </a:pPr>
            <a:r>
              <a:rPr sz="1050" b="1" i="0">
                <a:solidFill>
                  <a:srgbClr val="2E8B57"/>
                </a:solidFill>
                <a:latin typeface="Calibri"/>
              </a:rPr>
              <a:t>Same part, same numbers, every single time.</a:t>
            </a:r>
          </a:p>
        </p:txBody>
      </p:sp>
      <p:sp>
        <p:nvSpPr>
          <p:cNvPr id="17" name="Rounded Rectangle 16"/>
          <p:cNvSpPr/>
          <p:nvPr/>
        </p:nvSpPr>
        <p:spPr>
          <a:xfrm>
            <a:off x="411480" y="5120640"/>
            <a:ext cx="11365992"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12064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239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important difference — measuring is not guessing</a:t>
            </a:r>
          </a:p>
        </p:txBody>
      </p:sp>
      <p:sp>
        <p:nvSpPr>
          <p:cNvPr id="20" name="TextBox 19"/>
          <p:cNvSpPr txBox="1"/>
          <p:nvPr/>
        </p:nvSpPr>
        <p:spPr>
          <a:xfrm>
            <a:off x="630936" y="552297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the same way a CMM measures a part. That is not the AI guessing. The AI is only used to read the words on the drawing, and everything it reads is checked against the measured model before it can affect a cost. Slide 6 explains those checks, and why they have to come with 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FULL PICTURE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 how it works, start to finish</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every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uploads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Safety 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Anything the AI read is checked against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few things a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it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receives the numbers and does the maths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we build it — about 5 months</a:t>
            </a:r>
          </a:p>
        </p:txBody>
      </p:sp>
      <p:sp>
        <p:nvSpPr>
          <p:cNvPr id="52" name="Chevron 51"/>
          <p:cNvSpPr/>
          <p:nvPr/>
        </p:nvSpPr>
        <p:spPr>
          <a:xfrm>
            <a:off x="411480" y="4187952"/>
            <a:ext cx="1874519" cy="658368"/>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1-2</a:t>
            </a:r>
          </a:p>
          <a:p>
            <a:pPr algn="ctr"/>
            <a:r>
              <a:rPr sz="850">
                <a:solidFill>
                  <a:srgbClr val="FFFFFF"/>
                </a:solidFill>
                <a:latin typeface="Calibri"/>
              </a:rPr>
              <a:t>Agree the connection</a:t>
            </a:r>
          </a:p>
        </p:txBody>
      </p:sp>
      <p:sp>
        <p:nvSpPr>
          <p:cNvPr id="53" name="Chevron 52"/>
          <p:cNvSpPr/>
          <p:nvPr/>
        </p:nvSpPr>
        <p:spPr>
          <a:xfrm>
            <a:off x="2249423" y="4187952"/>
            <a:ext cx="1874519" cy="658368"/>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3-6</a:t>
            </a:r>
          </a:p>
          <a:p>
            <a:pPr algn="ctr"/>
            <a:r>
              <a:rPr sz="850">
                <a:solidFill>
                  <a:srgbClr val="FFFFFF"/>
                </a:solidFill>
                <a:latin typeface="Calibri"/>
              </a:rPr>
              <a:t>Stand up measuring</a:t>
            </a:r>
          </a:p>
        </p:txBody>
      </p:sp>
      <p:sp>
        <p:nvSpPr>
          <p:cNvPr id="54" name="Chevron 53"/>
          <p:cNvSpPr/>
          <p:nvPr/>
        </p:nvSpPr>
        <p:spPr>
          <a:xfrm>
            <a:off x="4087366" y="4187952"/>
            <a:ext cx="1874519" cy="658368"/>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7-8</a:t>
            </a:r>
          </a:p>
          <a:p>
            <a:pPr algn="ctr"/>
            <a:r>
              <a:rPr sz="850">
                <a:solidFill>
                  <a:srgbClr val="FFFFFF"/>
                </a:solidFill>
                <a:latin typeface="Calibri"/>
              </a:rPr>
              <a:t>Hand over settings</a:t>
            </a:r>
          </a:p>
        </p:txBody>
      </p:sp>
      <p:sp>
        <p:nvSpPr>
          <p:cNvPr id="55" name="Chevron 54"/>
          <p:cNvSpPr/>
          <p:nvPr/>
        </p:nvSpPr>
        <p:spPr>
          <a:xfrm>
            <a:off x="5925309" y="4187952"/>
            <a:ext cx="1874519" cy="658368"/>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9-11</a:t>
            </a:r>
          </a:p>
          <a:p>
            <a:pPr algn="ctr"/>
            <a:r>
              <a:rPr sz="850">
                <a:solidFill>
                  <a:srgbClr val="FFFFFF"/>
                </a:solidFill>
                <a:latin typeface="Calibri"/>
              </a:rPr>
              <a:t>Add safety checks</a:t>
            </a:r>
          </a:p>
        </p:txBody>
      </p:sp>
      <p:sp>
        <p:nvSpPr>
          <p:cNvPr id="56" name="Chevron 55"/>
          <p:cNvSpPr/>
          <p:nvPr/>
        </p:nvSpPr>
        <p:spPr>
          <a:xfrm>
            <a:off x="7763252" y="4187952"/>
            <a:ext cx="1874519" cy="658368"/>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12-16</a:t>
            </a:r>
          </a:p>
          <a:p>
            <a:pPr algn="ctr"/>
            <a:r>
              <a:rPr sz="850">
                <a:solidFill>
                  <a:srgbClr val="FFFFFF"/>
                </a:solidFill>
                <a:latin typeface="Calibri"/>
              </a:rPr>
              <a:t>Connect into CAPEE</a:t>
            </a:r>
          </a:p>
        </p:txBody>
      </p:sp>
      <p:sp>
        <p:nvSpPr>
          <p:cNvPr id="57" name="Chevron 56"/>
          <p:cNvSpPr/>
          <p:nvPr/>
        </p:nvSpPr>
        <p:spPr>
          <a:xfrm>
            <a:off x="9601195" y="4187952"/>
            <a:ext cx="1874519" cy="658368"/>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17-19</a:t>
            </a:r>
          </a:p>
          <a:p>
            <a:pPr algn="ctr"/>
            <a:r>
              <a:rPr sz="850">
                <a:solidFill>
                  <a:srgbClr val="FFFFFF"/>
                </a:solidFill>
                <a:latin typeface="Calibri"/>
              </a:rPr>
              <a:t>Trial with one team</a:t>
            </a:r>
          </a:p>
        </p:txBody>
      </p:sp>
      <p:sp>
        <p:nvSpPr>
          <p:cNvPr id="58" name="Rectangle 57"/>
          <p:cNvSpPr/>
          <p:nvPr/>
        </p:nvSpPr>
        <p:spPr>
          <a:xfrm>
            <a:off x="411480" y="5029200"/>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5029200"/>
            <a:ext cx="1371600" cy="56692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5029200"/>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Port the safety checks</a:t>
            </a:r>
          </a:p>
        </p:txBody>
      </p:sp>
      <p:sp>
        <p:nvSpPr>
          <p:cNvPr id="66" name="Rectangle 65"/>
          <p:cNvSpPr/>
          <p:nvPr/>
        </p:nvSpPr>
        <p:spPr>
          <a:xfrm>
            <a:off x="9278874"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Support the CAPEE connection</a:t>
            </a:r>
          </a:p>
        </p:txBody>
      </p:sp>
      <p:sp>
        <p:nvSpPr>
          <p:cNvPr id="68" name="Rectangle 67"/>
          <p:cNvSpPr/>
          <p:nvPr/>
        </p:nvSpPr>
        <p:spPr>
          <a:xfrm>
            <a:off x="411480" y="5632704"/>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632704"/>
            <a:ext cx="1371600" cy="56692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632704"/>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 to run it on</a:t>
            </a:r>
          </a:p>
        </p:txBody>
      </p:sp>
      <p:sp>
        <p:nvSpPr>
          <p:cNvPr id="74" name="Rectangle 73"/>
          <p:cNvSpPr/>
          <p:nvPr/>
        </p:nvSpPr>
        <p:spPr>
          <a:xfrm>
            <a:off x="6780276"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accept the numbers</a:t>
            </a:r>
          </a:p>
        </p:txBody>
      </p:sp>
      <p:sp>
        <p:nvSpPr>
          <p:cNvPr id="76" name="Rectangle 75"/>
          <p:cNvSpPr/>
          <p:nvPr/>
        </p:nvSpPr>
        <p:spPr>
          <a:xfrm>
            <a:off x="9278874"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Give us one team for the trial</a:t>
            </a:r>
          </a:p>
        </p:txBody>
      </p:sp>
      <p:sp>
        <p:nvSpPr>
          <p:cNvPr id="78" name="Rounded Rectangle 77"/>
          <p:cNvSpPr/>
          <p:nvPr/>
        </p:nvSpPr>
        <p:spPr>
          <a:xfrm>
            <a:off x="411480" y="6272784"/>
            <a:ext cx="11365992" cy="4572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272784"/>
            <a:ext cx="68580" cy="4572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39165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We cannot fix the timing yet</a:t>
            </a:r>
          </a:p>
        </p:txBody>
      </p:sp>
      <p:sp>
        <p:nvSpPr>
          <p:cNvPr id="81" name="TextBox 80"/>
          <p:cNvSpPr txBox="1"/>
          <p:nvPr/>
        </p:nvSpPr>
        <p:spPr>
          <a:xfrm>
            <a:off x="630936" y="6675120"/>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Until JLR tells us what CAPEE is built with, weeks 12 to 16 could be shorter or longer. Slide 9 shows the three ways of connecting and what each would cost 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DETAIL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the numbers come out of the 3D model</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Two different jobs, done by two different things. This distinction is the whole basis of trusting the output.</a:t>
            </a:r>
          </a:p>
        </p:txBody>
      </p:sp>
      <p:sp>
        <p:nvSpPr>
          <p:cNvPr id="10" name="Rounded Rectangle 9"/>
          <p:cNvSpPr/>
          <p:nvPr/>
        </p:nvSpPr>
        <p:spPr>
          <a:xfrm>
            <a:off x="411480" y="2057400"/>
            <a:ext cx="5577840" cy="26517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57400"/>
            <a:ext cx="68580" cy="26517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1854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MEASURED — by software, not AI</a:t>
            </a:r>
          </a:p>
        </p:txBody>
      </p:sp>
      <p:sp>
        <p:nvSpPr>
          <p:cNvPr id="13" name="TextBox 12"/>
          <p:cNvSpPr txBox="1"/>
          <p:nvPr/>
        </p:nvSpPr>
        <p:spPr>
          <a:xfrm>
            <a:off x="612648" y="2496312"/>
            <a:ext cx="5212080" cy="210312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Volume and weight</a:t>
            </a:r>
          </a:p>
          <a:p>
            <a:pPr algn="l">
              <a:lnSpc>
                <a:spcPct val="112000"/>
              </a:lnSpc>
              <a:spcAft>
                <a:spcPts val="300"/>
              </a:spcAft>
            </a:pPr>
            <a:r>
              <a:rPr sz="1050" b="0" i="0">
                <a:solidFill>
                  <a:srgbClr val="3A4356"/>
                </a:solidFill>
                <a:latin typeface="Calibri"/>
              </a:rPr>
              <a:t>Overall size and wall thickness</a:t>
            </a:r>
          </a:p>
          <a:p>
            <a:pPr algn="l">
              <a:lnSpc>
                <a:spcPct val="112000"/>
              </a:lnSpc>
              <a:spcAft>
                <a:spcPts val="300"/>
              </a:spcAft>
            </a:pPr>
            <a:r>
              <a:rPr sz="1050" b="0" i="0">
                <a:solidFill>
                  <a:srgbClr val="3A4356"/>
                </a:solidFill>
                <a:latin typeface="Calibri"/>
              </a:rPr>
              <a:t>Total surface area, for paint and plating</a:t>
            </a:r>
          </a:p>
          <a:p>
            <a:pPr algn="l">
              <a:lnSpc>
                <a:spcPct val="112000"/>
              </a:lnSpc>
              <a:spcAft>
                <a:spcPts val="300"/>
              </a:spcAft>
            </a:pPr>
            <a:r>
              <a:rPr sz="1050" b="0" i="0">
                <a:solidFill>
                  <a:srgbClr val="3A4356"/>
                </a:solidFill>
                <a:latin typeface="Calibri"/>
              </a:rPr>
              <a:t>Every hole, pocket and boss, with its size</a:t>
            </a:r>
          </a:p>
          <a:p>
            <a:pPr algn="l">
              <a:lnSpc>
                <a:spcPct val="112000"/>
              </a:lnSpc>
              <a:spcAft>
                <a:spcPts val="300"/>
              </a:spcAft>
            </a:pPr>
            <a:r>
              <a:rPr sz="1050" b="0" i="0">
                <a:solidFill>
                  <a:srgbClr val="3A4356"/>
                </a:solidFill>
                <a:latin typeface="Calibri"/>
              </a:rPr>
              <a:t>Flat faces that need machining</a:t>
            </a:r>
          </a:p>
          <a:p>
            <a:pPr algn="l">
              <a:lnSpc>
                <a:spcPct val="112000"/>
              </a:lnSpc>
              <a:spcAft>
                <a:spcPts val="300"/>
              </a:spcAft>
            </a:pPr>
            <a:r>
              <a:rPr sz="1050" b="0" i="0">
                <a:solidFill>
                  <a:srgbClr val="3A4356"/>
                </a:solidFill>
                <a:latin typeface="Calibri"/>
              </a:rPr>
              <a:t>Gear teeth, module, face width</a:t>
            </a:r>
          </a:p>
          <a:p>
            <a:pPr algn="l">
              <a:lnSpc>
                <a:spcPct val="112000"/>
              </a:lnSpc>
              <a:spcAft>
                <a:spcPts val="300"/>
              </a:spcAft>
            </a:pPr>
          </a:p>
          <a:p>
            <a:pPr algn="l">
              <a:lnSpc>
                <a:spcPct val="112000"/>
              </a:lnSpc>
              <a:spcAft>
                <a:spcPts val="300"/>
              </a:spcAft>
            </a:pPr>
            <a:r>
              <a:rPr sz="1050" b="1" i="0">
                <a:solidFill>
                  <a:srgbClr val="16325C"/>
                </a:solidFill>
                <a:latin typeface="Calibri"/>
              </a:rPr>
              <a:t>Exact and repeatable. Run it a hundred times,</a:t>
            </a:r>
          </a:p>
          <a:p>
            <a:pPr algn="l">
              <a:lnSpc>
                <a:spcPct val="112000"/>
              </a:lnSpc>
              <a:spcAft>
                <a:spcPts val="300"/>
              </a:spcAft>
            </a:pPr>
            <a:r>
              <a:rPr sz="1050" b="1" i="0">
                <a:solidFill>
                  <a:srgbClr val="16325C"/>
                </a:solidFill>
                <a:latin typeface="Calibri"/>
              </a:rPr>
              <a:t>you get the same answer a hundred times.</a:t>
            </a:r>
          </a:p>
        </p:txBody>
      </p:sp>
      <p:sp>
        <p:nvSpPr>
          <p:cNvPr id="14" name="Rounded Rectangle 13"/>
          <p:cNvSpPr/>
          <p:nvPr/>
        </p:nvSpPr>
        <p:spPr>
          <a:xfrm>
            <a:off x="6199632" y="2057400"/>
            <a:ext cx="5577840" cy="26517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2057400"/>
            <a:ext cx="68580" cy="26517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18541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READ — by AI, from the drawing</a:t>
            </a:r>
          </a:p>
        </p:txBody>
      </p:sp>
      <p:sp>
        <p:nvSpPr>
          <p:cNvPr id="17" name="TextBox 16"/>
          <p:cNvSpPr txBox="1"/>
          <p:nvPr/>
        </p:nvSpPr>
        <p:spPr>
          <a:xfrm>
            <a:off x="6400800" y="2496312"/>
            <a:ext cx="5212080" cy="210312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Tolerances and GD&amp;T callouts</a:t>
            </a:r>
          </a:p>
          <a:p>
            <a:pPr algn="l">
              <a:lnSpc>
                <a:spcPct val="112000"/>
              </a:lnSpc>
              <a:spcAft>
                <a:spcPts val="300"/>
              </a:spcAft>
            </a:pPr>
            <a:r>
              <a:rPr sz="1050" b="0" i="0">
                <a:solidFill>
                  <a:srgbClr val="3A4356"/>
                </a:solidFill>
                <a:latin typeface="Calibri"/>
              </a:rPr>
              <a:t>Surface finish requirements</a:t>
            </a:r>
          </a:p>
          <a:p>
            <a:pPr algn="l">
              <a:lnSpc>
                <a:spcPct val="112000"/>
              </a:lnSpc>
              <a:spcAft>
                <a:spcPts val="300"/>
              </a:spcAft>
            </a:pPr>
            <a:r>
              <a:rPr sz="1050" b="0" i="0">
                <a:solidFill>
                  <a:srgbClr val="3A4356"/>
                </a:solidFill>
                <a:latin typeface="Calibri"/>
              </a:rPr>
              <a:t>Coating or plating specification</a:t>
            </a:r>
          </a:p>
          <a:p>
            <a:pPr algn="l">
              <a:lnSpc>
                <a:spcPct val="112000"/>
              </a:lnSpc>
              <a:spcAft>
                <a:spcPts val="300"/>
              </a:spcAft>
            </a:pPr>
            <a:r>
              <a:rPr sz="1050" b="0" i="0">
                <a:solidFill>
                  <a:srgbClr val="3A4356"/>
                </a:solidFill>
                <a:latin typeface="Calibri"/>
              </a:rPr>
              <a:t>Heat treatment notes</a:t>
            </a:r>
          </a:p>
          <a:p>
            <a:pPr algn="l">
              <a:lnSpc>
                <a:spcPct val="112000"/>
              </a:lnSpc>
              <a:spcAft>
                <a:spcPts val="300"/>
              </a:spcAft>
            </a:pPr>
            <a:r>
              <a:rPr sz="1050" b="0" i="0">
                <a:solidFill>
                  <a:srgbClr val="3A4356"/>
                </a:solidFill>
                <a:latin typeface="Calibri"/>
              </a:rPr>
              <a:t>Salt spray hours</a:t>
            </a:r>
          </a:p>
          <a:p>
            <a:pPr algn="l">
              <a:lnSpc>
                <a:spcPct val="112000"/>
              </a:lnSpc>
              <a:spcAft>
                <a:spcPts val="300"/>
              </a:spcAft>
            </a:pPr>
            <a:r>
              <a:rPr sz="1050" b="0" i="0">
                <a:solidFill>
                  <a:srgbClr val="3A4356"/>
                </a:solidFill>
                <a:latin typeface="Calibri"/>
              </a:rPr>
              <a:t>Which features are masked off</a:t>
            </a:r>
          </a:p>
          <a:p>
            <a:pPr algn="l">
              <a:lnSpc>
                <a:spcPct val="112000"/>
              </a:lnSpc>
              <a:spcAft>
                <a:spcPts val="300"/>
              </a:spcAft>
            </a:pPr>
          </a:p>
          <a:p>
            <a:pPr algn="l">
              <a:lnSpc>
                <a:spcPct val="112000"/>
              </a:lnSpc>
              <a:spcAft>
                <a:spcPts val="300"/>
              </a:spcAft>
            </a:pPr>
            <a:r>
              <a:rPr sz="1050" b="1" i="0">
                <a:solidFill>
                  <a:srgbClr val="16325C"/>
                </a:solidFill>
                <a:latin typeface="Calibri"/>
              </a:rPr>
              <a:t>Every one of these is then checked, and the</a:t>
            </a:r>
          </a:p>
          <a:p>
            <a:pPr algn="l">
              <a:lnSpc>
                <a:spcPct val="112000"/>
              </a:lnSpc>
              <a:spcAft>
                <a:spcPts val="300"/>
              </a:spcAft>
            </a:pPr>
            <a:r>
              <a:rPr sz="1050" b="1" i="0">
                <a:solidFill>
                  <a:srgbClr val="16325C"/>
                </a:solidFill>
                <a:latin typeface="Calibri"/>
              </a:rPr>
              <a:t>engineer confirms anything that matters.</a:t>
            </a:r>
          </a:p>
        </p:txBody>
      </p:sp>
      <p:sp>
        <p:nvSpPr>
          <p:cNvPr id="18" name="Rounded Rectangle 17"/>
          <p:cNvSpPr/>
          <p:nvPr/>
        </p:nvSpPr>
        <p:spPr>
          <a:xfrm>
            <a:off x="411480" y="489204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48920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010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CAD file never leaves JLR</a:t>
            </a:r>
          </a:p>
        </p:txBody>
      </p:sp>
      <p:sp>
        <p:nvSpPr>
          <p:cNvPr id="21" name="TextBox 20"/>
          <p:cNvSpPr txBox="1"/>
          <p:nvPr/>
        </p:nvSpPr>
        <p:spPr>
          <a:xfrm>
            <a:off x="630936" y="52943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software runs on a JLR server and does not connect to the internet at all — we checked this line by line. Only short pieces of text from the drawing go to the AI, and that can be routed through JLR's own approved AI service. The 3D model itself stays inside the building.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NON-NEGOTIABLE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safety checks must come too</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never sets a price. But it does supply numbers that go INTO a price — so a wrong number becomes a wrong cost, confidently. These four checks stop that.</a:t>
            </a:r>
          </a:p>
        </p:txBody>
      </p:sp>
      <p:sp>
        <p:nvSpPr>
          <p:cNvPr id="10" name="Rounded Rectangle 9"/>
          <p:cNvSpPr/>
          <p:nvPr/>
        </p:nvSpPr>
        <p:spPr>
          <a:xfrm>
            <a:off x="411480" y="2103120"/>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58568"/>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401214"/>
            <a:ext cx="263348" cy="263348"/>
          </a:xfrm>
          <a:prstGeom prst="rect">
            <a:avLst/>
          </a:prstGeom>
        </p:spPr>
      </p:pic>
      <p:sp>
        <p:nvSpPr>
          <p:cNvPr id="14" name="TextBox 13"/>
          <p:cNvSpPr txBox="1"/>
          <p:nvPr/>
        </p:nvSpPr>
        <p:spPr>
          <a:xfrm>
            <a:off x="1417320" y="224028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model wins over the AI</a:t>
            </a:r>
          </a:p>
        </p:txBody>
      </p:sp>
      <p:sp>
        <p:nvSpPr>
          <p:cNvPr id="15" name="TextBox 14"/>
          <p:cNvSpPr txBox="1"/>
          <p:nvPr/>
        </p:nvSpPr>
        <p:spPr>
          <a:xfrm>
            <a:off x="1417320" y="252374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says the part weighs 2 kg and the model measures 1.4 kg, the measured figure is used. Always. The AI does not get to overrule the geometry.</a:t>
            </a:r>
          </a:p>
        </p:txBody>
      </p:sp>
      <p:sp>
        <p:nvSpPr>
          <p:cNvPr id="16" name="Rounded Rectangle 15"/>
          <p:cNvSpPr/>
          <p:nvPr/>
        </p:nvSpPr>
        <p:spPr>
          <a:xfrm>
            <a:off x="411480" y="3072384"/>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072384"/>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22783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370478"/>
            <a:ext cx="263348" cy="263348"/>
          </a:xfrm>
          <a:prstGeom prst="rect">
            <a:avLst/>
          </a:prstGeom>
        </p:spPr>
      </p:pic>
      <p:sp>
        <p:nvSpPr>
          <p:cNvPr id="20" name="TextBox 19"/>
          <p:cNvSpPr txBox="1"/>
          <p:nvPr/>
        </p:nvSpPr>
        <p:spPr>
          <a:xfrm>
            <a:off x="1417320" y="320954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Cross-check everything read</a:t>
            </a:r>
          </a:p>
        </p:txBody>
      </p:sp>
      <p:sp>
        <p:nvSpPr>
          <p:cNvPr id="21" name="TextBox 20"/>
          <p:cNvSpPr txBox="1"/>
          <p:nvPr/>
        </p:nvSpPr>
        <p:spPr>
          <a:xfrm>
            <a:off x="1417320" y="349300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read off the drawing are compared against the measured model. Anything that disagrees is reported to the engineer, not quietly resolved.</a:t>
            </a:r>
          </a:p>
        </p:txBody>
      </p:sp>
      <p:sp>
        <p:nvSpPr>
          <p:cNvPr id="22" name="Rounded Rectangle 21"/>
          <p:cNvSpPr/>
          <p:nvPr/>
        </p:nvSpPr>
        <p:spPr>
          <a:xfrm>
            <a:off x="411480" y="4041648"/>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04164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197096"/>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39742"/>
            <a:ext cx="263348" cy="263348"/>
          </a:xfrm>
          <a:prstGeom prst="rect">
            <a:avLst/>
          </a:prstGeom>
        </p:spPr>
      </p:pic>
      <p:sp>
        <p:nvSpPr>
          <p:cNvPr id="26" name="TextBox 25"/>
          <p:cNvSpPr txBox="1"/>
          <p:nvPr/>
        </p:nvSpPr>
        <p:spPr>
          <a:xfrm>
            <a:off x="1417320" y="4178808"/>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Sensible limits on machining</a:t>
            </a:r>
          </a:p>
        </p:txBody>
      </p:sp>
      <p:sp>
        <p:nvSpPr>
          <p:cNvPr id="27" name="TextBox 26"/>
          <p:cNvSpPr txBox="1"/>
          <p:nvPr/>
        </p:nvSpPr>
        <p:spPr>
          <a:xfrm>
            <a:off x="1417320" y="4462272"/>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time is capped at what finishing that part could actually take, so a bad estimate cannot inflate the cost.</a:t>
            </a:r>
          </a:p>
        </p:txBody>
      </p:sp>
      <p:sp>
        <p:nvSpPr>
          <p:cNvPr id="28" name="Rounded Rectangle 27"/>
          <p:cNvSpPr/>
          <p:nvPr/>
        </p:nvSpPr>
        <p:spPr>
          <a:xfrm>
            <a:off x="411480" y="5010912"/>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10912"/>
            <a:ext cx="68580" cy="868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66360"/>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09006"/>
            <a:ext cx="263348" cy="263348"/>
          </a:xfrm>
          <a:prstGeom prst="rect">
            <a:avLst/>
          </a:prstGeom>
        </p:spPr>
      </p:pic>
      <p:sp>
        <p:nvSpPr>
          <p:cNvPr id="32" name="TextBox 31"/>
          <p:cNvSpPr txBox="1"/>
          <p:nvPr/>
        </p:nvSpPr>
        <p:spPr>
          <a:xfrm>
            <a:off x="1417320" y="51480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Ask, do not guess</a:t>
            </a:r>
          </a:p>
        </p:txBody>
      </p:sp>
      <p:sp>
        <p:nvSpPr>
          <p:cNvPr id="33" name="TextBox 32"/>
          <p:cNvSpPr txBox="1"/>
          <p:nvPr/>
        </p:nvSpPr>
        <p:spPr>
          <a:xfrm>
            <a:off x="1417320" y="54315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Things no 3D model can show — heat treatment, tolerance class, material grade — are put to the engineer as a question. The AI's suggestion is labelled as a suggestion and never pre-ticked.</a:t>
            </a:r>
          </a:p>
        </p:txBody>
      </p:sp>
      <p:sp>
        <p:nvSpPr>
          <p:cNvPr id="34" name="Rounded Rectangle 33"/>
          <p:cNvSpPr/>
          <p:nvPr/>
        </p:nvSpPr>
        <p:spPr>
          <a:xfrm>
            <a:off x="411480" y="6035040"/>
            <a:ext cx="11365992" cy="65836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65836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Why I am making a point of this</a:t>
            </a:r>
          </a:p>
        </p:txBody>
      </p:sp>
      <p:sp>
        <p:nvSpPr>
          <p:cNvPr id="37" name="TextBox 36"/>
          <p:cNvSpPr txBox="1"/>
          <p:nvPr/>
        </p:nvSpPr>
        <p:spPr>
          <a:xfrm>
            <a:off x="630936" y="643737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When we audited our own tool in August we found a part of it with no safety checks. One missing input produced a cost of "not a number" — and the software still reported success. We fixed it. The lesson is that the checks are not the boring part to leave until last; they are where the risk actually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hand over, and what it is written in</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Nothing here is unusual. Both languages are mainstream, widely used, and JLR IT will already have people who know them.</a:t>
            </a:r>
          </a:p>
        </p:txBody>
      </p:sp>
      <p:sp>
        <p:nvSpPr>
          <p:cNvPr id="10" name="Rectangle 9"/>
          <p:cNvSpPr/>
          <p:nvPr/>
        </p:nvSpPr>
        <p:spPr>
          <a:xfrm>
            <a:off x="411480" y="205740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2" name="Rectangle 11"/>
          <p:cNvSpPr/>
          <p:nvPr/>
        </p:nvSpPr>
        <p:spPr>
          <a:xfrm>
            <a:off x="3429000" y="205740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3969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05740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3969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05740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3969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386584"/>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5059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measuring engine</a:t>
            </a:r>
          </a:p>
        </p:txBody>
      </p:sp>
      <p:sp>
        <p:nvSpPr>
          <p:cNvPr id="20" name="Rectangle 19"/>
          <p:cNvSpPr/>
          <p:nvPr/>
        </p:nvSpPr>
        <p:spPr>
          <a:xfrm>
            <a:off x="3429000" y="2386584"/>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5059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386584"/>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5059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2,000 lines</a:t>
            </a:r>
          </a:p>
        </p:txBody>
      </p:sp>
      <p:sp>
        <p:nvSpPr>
          <p:cNvPr id="24" name="Rectangle 23"/>
          <p:cNvSpPr/>
          <p:nvPr/>
        </p:nvSpPr>
        <p:spPr>
          <a:xfrm>
            <a:off x="6355080" y="2386584"/>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5059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No internet connection.</a:t>
            </a:r>
          </a:p>
        </p:txBody>
      </p:sp>
      <p:sp>
        <p:nvSpPr>
          <p:cNvPr id="26" name="Rectangle 25"/>
          <p:cNvSpPr/>
          <p:nvPr/>
        </p:nvSpPr>
        <p:spPr>
          <a:xfrm>
            <a:off x="411480" y="2862072"/>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26080"/>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62072"/>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26080"/>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62072"/>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26080"/>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2,400 lines</a:t>
            </a:r>
          </a:p>
        </p:txBody>
      </p:sp>
      <p:sp>
        <p:nvSpPr>
          <p:cNvPr id="32" name="Rectangle 31"/>
          <p:cNvSpPr/>
          <p:nvPr/>
        </p:nvSpPr>
        <p:spPr>
          <a:xfrm>
            <a:off x="6355080" y="2862072"/>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26080"/>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organises what comes back.</a:t>
            </a:r>
          </a:p>
        </p:txBody>
      </p:sp>
      <p:sp>
        <p:nvSpPr>
          <p:cNvPr id="34" name="Rectangle 33"/>
          <p:cNvSpPr/>
          <p:nvPr/>
        </p:nvSpPr>
        <p:spPr>
          <a:xfrm>
            <a:off x="411480" y="3337560"/>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01568"/>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37560"/>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01568"/>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37560"/>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01568"/>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540 lines</a:t>
            </a:r>
          </a:p>
        </p:txBody>
      </p:sp>
      <p:sp>
        <p:nvSpPr>
          <p:cNvPr id="40" name="Rectangle 39"/>
          <p:cNvSpPr/>
          <p:nvPr/>
        </p:nvSpPr>
        <p:spPr>
          <a:xfrm>
            <a:off x="6355080" y="3337560"/>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01568"/>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previous slide.</a:t>
            </a:r>
          </a:p>
        </p:txBody>
      </p:sp>
      <p:sp>
        <p:nvSpPr>
          <p:cNvPr id="42" name="Rectangle 41"/>
          <p:cNvSpPr/>
          <p:nvPr/>
        </p:nvSpPr>
        <p:spPr>
          <a:xfrm>
            <a:off x="411480" y="3813048"/>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77056"/>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 rules per part type</a:t>
            </a:r>
          </a:p>
        </p:txBody>
      </p:sp>
      <p:sp>
        <p:nvSpPr>
          <p:cNvPr id="44" name="Rectangle 43"/>
          <p:cNvSpPr/>
          <p:nvPr/>
        </p:nvSpPr>
        <p:spPr>
          <a:xfrm>
            <a:off x="3429000" y="3813048"/>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77056"/>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13048"/>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77056"/>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7,000 lines</a:t>
            </a:r>
          </a:p>
        </p:txBody>
      </p:sp>
      <p:sp>
        <p:nvSpPr>
          <p:cNvPr id="48" name="Rectangle 47"/>
          <p:cNvSpPr/>
          <p:nvPr/>
        </p:nvSpPr>
        <p:spPr>
          <a:xfrm>
            <a:off x="6355080" y="3813048"/>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77056"/>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Decides what to ask the engineer for each kind of part.</a:t>
            </a:r>
          </a:p>
        </p:txBody>
      </p:sp>
      <p:sp>
        <p:nvSpPr>
          <p:cNvPr id="50" name="Rectangle 49"/>
          <p:cNvSpPr/>
          <p:nvPr/>
        </p:nvSpPr>
        <p:spPr>
          <a:xfrm>
            <a:off x="411480" y="4288536"/>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52544"/>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88536"/>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52544"/>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88536"/>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52544"/>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1,900 lines</a:t>
            </a:r>
          </a:p>
        </p:txBody>
      </p:sp>
      <p:sp>
        <p:nvSpPr>
          <p:cNvPr id="56" name="Rectangle 55"/>
          <p:cNvSpPr/>
          <p:nvPr/>
        </p:nvSpPr>
        <p:spPr>
          <a:xfrm>
            <a:off x="6355080" y="4288536"/>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52544"/>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Spots expensive features and says why they cost money.</a:t>
            </a:r>
          </a:p>
        </p:txBody>
      </p:sp>
      <p:sp>
        <p:nvSpPr>
          <p:cNvPr id="58" name="Rectangle 57"/>
          <p:cNvSpPr/>
          <p:nvPr/>
        </p:nvSpPr>
        <p:spPr>
          <a:xfrm>
            <a:off x="411480" y="4764024"/>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82803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settings list</a:t>
            </a:r>
          </a:p>
        </p:txBody>
      </p:sp>
      <p:sp>
        <p:nvSpPr>
          <p:cNvPr id="60" name="Rectangle 59"/>
          <p:cNvSpPr/>
          <p:nvPr/>
        </p:nvSpPr>
        <p:spPr>
          <a:xfrm>
            <a:off x="3429000" y="4764024"/>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82803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64024"/>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82803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64024"/>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2803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in one readable place — see the next slide.</a:t>
            </a:r>
          </a:p>
        </p:txBody>
      </p:sp>
      <p:sp>
        <p:nvSpPr>
          <p:cNvPr id="66" name="Rounded Rectangle 65"/>
          <p:cNvSpPr/>
          <p:nvPr/>
        </p:nvSpPr>
        <p:spPr>
          <a:xfrm>
            <a:off x="411480" y="5120640"/>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12064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Python and TypeScript — in one line each</a:t>
            </a:r>
          </a:p>
        </p:txBody>
      </p:sp>
      <p:sp>
        <p:nvSpPr>
          <p:cNvPr id="69" name="TextBox 68"/>
          <p:cNvSpPr txBox="1"/>
          <p:nvPr/>
        </p:nvSpPr>
        <p:spPr>
          <a:xfrm>
            <a:off x="630936"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standard language for engineering and measurement work. TypeScript is one of the most common languages for business software. Neither is exotic and neither locks JLR in.</a:t>
            </a:r>
          </a:p>
        </p:txBody>
      </p:sp>
      <p:sp>
        <p:nvSpPr>
          <p:cNvPr id="70" name="Rounded Rectangle 69"/>
          <p:cNvSpPr/>
          <p:nvPr/>
        </p:nvSpPr>
        <p:spPr>
          <a:xfrm>
            <a:off x="6199632" y="5120640"/>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12064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IT must confirm</a:t>
            </a:r>
          </a:p>
        </p:txBody>
      </p:sp>
      <p:sp>
        <p:nvSpPr>
          <p:cNvPr id="73" name="TextBox 72"/>
          <p:cNvSpPr txBox="1"/>
          <p:nvPr/>
        </p:nvSpPr>
        <p:spPr>
          <a:xfrm>
            <a:off x="6419088"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an ordinary Linux server, not the cut-down kind some teams use for small programs. Worth checking early — it decides where it can be installed.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SETTINGS LIST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They are engineering judgements written into the software. Real examples:</a:t>
            </a:r>
          </a:p>
        </p:txBody>
      </p:sp>
      <p:sp>
        <p:nvSpPr>
          <p:cNvPr id="10" name="Rectangle 9"/>
          <p:cNvSpPr/>
          <p:nvPr/>
        </p:nvSpPr>
        <p:spPr>
          <a:xfrm>
            <a:off x="411480" y="205740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05740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13969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The value</a:t>
            </a:r>
          </a:p>
        </p:txBody>
      </p:sp>
      <p:sp>
        <p:nvSpPr>
          <p:cNvPr id="14" name="Rectangle 13"/>
          <p:cNvSpPr/>
          <p:nvPr/>
        </p:nvSpPr>
        <p:spPr>
          <a:xfrm>
            <a:off x="6446520" y="205740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13969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 it is set that way</a:t>
            </a:r>
          </a:p>
        </p:txBody>
      </p:sp>
      <p:sp>
        <p:nvSpPr>
          <p:cNvPr id="16" name="Rectangle 15"/>
          <p:cNvSpPr/>
          <p:nvPr/>
        </p:nvSpPr>
        <p:spPr>
          <a:xfrm>
            <a:off x="411480" y="23865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450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we count as machined</a:t>
            </a:r>
          </a:p>
        </p:txBody>
      </p:sp>
      <p:sp>
        <p:nvSpPr>
          <p:cNvPr id="18" name="Rectangle 17"/>
          <p:cNvSpPr/>
          <p:nvPr/>
        </p:nvSpPr>
        <p:spPr>
          <a:xfrm>
            <a:off x="4343400" y="23865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450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3865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450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8437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077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we count</a:t>
            </a:r>
          </a:p>
        </p:txBody>
      </p:sp>
      <p:sp>
        <p:nvSpPr>
          <p:cNvPr id="24" name="Rectangle 23"/>
          <p:cNvSpPr/>
          <p:nvPr/>
        </p:nvSpPr>
        <p:spPr>
          <a:xfrm>
            <a:off x="4343400" y="28437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077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8437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077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tiny recesses being costed as pockets</a:t>
            </a:r>
          </a:p>
        </p:txBody>
      </p:sp>
      <p:sp>
        <p:nvSpPr>
          <p:cNvPr id="28" name="Rectangle 27"/>
          <p:cNvSpPr/>
          <p:nvPr/>
        </p:nvSpPr>
        <p:spPr>
          <a:xfrm>
            <a:off x="411480" y="33009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3649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009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3649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 x a good one</a:t>
            </a:r>
          </a:p>
        </p:txBody>
      </p:sp>
      <p:sp>
        <p:nvSpPr>
          <p:cNvPr id="32" name="Rectangle 31"/>
          <p:cNvSpPr/>
          <p:nvPr/>
        </p:nvSpPr>
        <p:spPr>
          <a:xfrm>
            <a:off x="6446520" y="33009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3649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Strip it and re-plate it — a 3% reject is really a 13% cost adder</a:t>
            </a:r>
          </a:p>
        </p:txBody>
      </p:sp>
      <p:sp>
        <p:nvSpPr>
          <p:cNvPr id="34" name="Rectangle 33"/>
          <p:cNvSpPr/>
          <p:nvPr/>
        </p:nvSpPr>
        <p:spPr>
          <a:xfrm>
            <a:off x="411480" y="37581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8221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for plating</a:t>
            </a:r>
          </a:p>
        </p:txBody>
      </p:sp>
      <p:sp>
        <p:nvSpPr>
          <p:cNvPr id="36" name="Rectangle 35"/>
          <p:cNvSpPr/>
          <p:nvPr/>
        </p:nvSpPr>
        <p:spPr>
          <a:xfrm>
            <a:off x="4343400" y="37581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8221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7581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8221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 meant to be updated</a:t>
            </a:r>
          </a:p>
        </p:txBody>
      </p:sp>
      <p:sp>
        <p:nvSpPr>
          <p:cNvPr id="40" name="Rectangle 39"/>
          <p:cNvSpPr/>
          <p:nvPr/>
        </p:nvSpPr>
        <p:spPr>
          <a:xfrm>
            <a:off x="411480" y="42153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2793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2153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2793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2153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2793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Real parts have more surface than a flat plate — edges, flanges, bends</a:t>
            </a:r>
          </a:p>
        </p:txBody>
      </p:sp>
      <p:sp>
        <p:nvSpPr>
          <p:cNvPr id="46" name="Rectangle 45"/>
          <p:cNvSpPr/>
          <p:nvPr/>
        </p:nvSpPr>
        <p:spPr>
          <a:xfrm>
            <a:off x="411480" y="46725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736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 forging</a:t>
            </a:r>
          </a:p>
        </p:txBody>
      </p:sp>
      <p:sp>
        <p:nvSpPr>
          <p:cNvPr id="48" name="Rectangle 47"/>
          <p:cNvSpPr/>
          <p:nvPr/>
        </p:nvSpPr>
        <p:spPr>
          <a:xfrm>
            <a:off x="4343400" y="46725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736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6725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736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have ribs and bosses; forgings are simpler outside</a:t>
            </a:r>
          </a:p>
        </p:txBody>
      </p:sp>
      <p:sp>
        <p:nvSpPr>
          <p:cNvPr id="52" name="Rounded Rectangle 51"/>
          <p:cNvSpPr/>
          <p:nvPr/>
        </p:nvSpPr>
        <p:spPr>
          <a:xfrm>
            <a:off x="411480" y="5029200"/>
            <a:ext cx="5577840"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02920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we hand these over</a:t>
            </a:r>
          </a:p>
        </p:txBody>
      </p:sp>
      <p:sp>
        <p:nvSpPr>
          <p:cNvPr id="55" name="TextBox 54"/>
          <p:cNvSpPr txBox="1"/>
          <p:nvPr/>
        </p:nvSpPr>
        <p:spPr>
          <a:xfrm>
            <a:off x="630936" y="5431536"/>
            <a:ext cx="5166360"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 buried in the code. Every one of these is pulled out into a single list JLR can read, question and change without a developer. That list is a deliverable in its own right and is in the plan as weeks 7 and 8.</a:t>
            </a:r>
          </a:p>
        </p:txBody>
      </p:sp>
      <p:sp>
        <p:nvSpPr>
          <p:cNvPr id="56" name="Rounded Rectangle 55"/>
          <p:cNvSpPr/>
          <p:nvPr/>
        </p:nvSpPr>
        <p:spPr>
          <a:xfrm>
            <a:off x="411480" y="6263640"/>
            <a:ext cx="11365992" cy="4572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11480" y="6263640"/>
            <a:ext cx="68580" cy="4572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0936" y="6382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And the honest part</a:t>
            </a:r>
          </a:p>
        </p:txBody>
      </p:sp>
      <p:sp>
        <p:nvSpPr>
          <p:cNvPr id="59" name="TextBox 58"/>
          <p:cNvSpPr txBox="1"/>
          <p:nvPr/>
        </p:nvSpPr>
        <p:spPr>
          <a:xfrm>
            <a:off x="630936" y="6665976"/>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These are our engineering estimates. They are not measurements from a JLR plant. They are a sensible starting point that JLR should replace with its own figures over time.</a:t>
            </a:r>
          </a:p>
        </p:txBody>
      </p:sp>
      <p:sp>
        <p:nvSpPr>
          <p:cNvPr id="60" name="Rounded Rectangle 59"/>
          <p:cNvSpPr/>
          <p:nvPr/>
        </p:nvSpPr>
        <p:spPr>
          <a:xfrm>
            <a:off x="6199632" y="5029200"/>
            <a:ext cx="5577840" cy="11430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199632" y="5029200"/>
            <a:ext cx="68580" cy="11430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19088"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this matters to a cost engineer</a:t>
            </a:r>
          </a:p>
        </p:txBody>
      </p:sp>
      <p:sp>
        <p:nvSpPr>
          <p:cNvPr id="63" name="TextBox 62"/>
          <p:cNvSpPr txBox="1"/>
          <p:nvPr/>
        </p:nvSpPr>
        <p:spPr>
          <a:xfrm>
            <a:off x="6419088" y="5431536"/>
            <a:ext cx="5166360"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These numbers are exactly the sort of thing you would argue about in a costing review — and you should be able to. Putting them in one readable list means you can challenge any of them without needing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A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yet know how CAPEE is built, so here are all three. The answer changes the timing, not whether it works.</a:t>
            </a:r>
          </a:p>
        </p:txBody>
      </p:sp>
      <p:sp>
        <p:nvSpPr>
          <p:cNvPr id="10" name="Rectangle 9"/>
          <p:cNvSpPr/>
          <p:nvPr/>
        </p:nvSpPr>
        <p:spPr>
          <a:xfrm>
            <a:off x="411480" y="205740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Way of connecting</a:t>
            </a:r>
          </a:p>
        </p:txBody>
      </p:sp>
      <p:sp>
        <p:nvSpPr>
          <p:cNvPr id="12" name="Rectangle 11"/>
          <p:cNvSpPr/>
          <p:nvPr/>
        </p:nvSpPr>
        <p:spPr>
          <a:xfrm>
            <a:off x="3063240" y="205740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3969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this when…</a:t>
            </a:r>
          </a:p>
        </p:txBody>
      </p:sp>
      <p:sp>
        <p:nvSpPr>
          <p:cNvPr id="14" name="Rectangle 13"/>
          <p:cNvSpPr/>
          <p:nvPr/>
        </p:nvSpPr>
        <p:spPr>
          <a:xfrm>
            <a:off x="5715000" y="2057400"/>
            <a:ext cx="4873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39696"/>
            <a:ext cx="4727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in practice</a:t>
            </a:r>
          </a:p>
        </p:txBody>
      </p:sp>
      <p:sp>
        <p:nvSpPr>
          <p:cNvPr id="16" name="Rectangle 15"/>
          <p:cNvSpPr/>
          <p:nvPr/>
        </p:nvSpPr>
        <p:spPr>
          <a:xfrm>
            <a:off x="10588752" y="205740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13969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Time</a:t>
            </a:r>
          </a:p>
        </p:txBody>
      </p:sp>
      <p:sp>
        <p:nvSpPr>
          <p:cNvPr id="18" name="Rectangle 17"/>
          <p:cNvSpPr/>
          <p:nvPr/>
        </p:nvSpPr>
        <p:spPr>
          <a:xfrm>
            <a:off x="411480" y="23865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505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3865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505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If CAPEE is built in JavaScript</a:t>
            </a:r>
          </a:p>
        </p:txBody>
      </p:sp>
      <p:sp>
        <p:nvSpPr>
          <p:cNvPr id="22" name="Rectangle 21"/>
          <p:cNvSpPr/>
          <p:nvPr/>
        </p:nvSpPr>
        <p:spPr>
          <a:xfrm>
            <a:off x="5715000" y="2386584"/>
            <a:ext cx="487375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50592"/>
            <a:ext cx="472744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drops straight in. Only the measuring engine sits separately.</a:t>
            </a:r>
          </a:p>
        </p:txBody>
      </p:sp>
      <p:sp>
        <p:nvSpPr>
          <p:cNvPr id="24" name="Rectangle 23"/>
          <p:cNvSpPr/>
          <p:nvPr/>
        </p:nvSpPr>
        <p:spPr>
          <a:xfrm>
            <a:off x="10588752" y="2386584"/>
            <a:ext cx="118872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450592"/>
            <a:ext cx="104241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3 months</a:t>
            </a:r>
          </a:p>
        </p:txBody>
      </p:sp>
      <p:sp>
        <p:nvSpPr>
          <p:cNvPr id="26" name="Rectangle 25"/>
          <p:cNvSpPr/>
          <p:nvPr/>
        </p:nvSpPr>
        <p:spPr>
          <a:xfrm>
            <a:off x="411480" y="316382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2783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16382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2783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If CAPEE is Java, .NET or anything else</a:t>
            </a:r>
          </a:p>
        </p:txBody>
      </p:sp>
      <p:sp>
        <p:nvSpPr>
          <p:cNvPr id="30" name="Rectangle 29"/>
          <p:cNvSpPr/>
          <p:nvPr/>
        </p:nvSpPr>
        <p:spPr>
          <a:xfrm>
            <a:off x="5715000" y="3163824"/>
            <a:ext cx="487375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27832"/>
            <a:ext cx="472744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small program on a JLR server. CAPEE asks it for numbers over a secure link.</a:t>
            </a:r>
          </a:p>
        </p:txBody>
      </p:sp>
      <p:sp>
        <p:nvSpPr>
          <p:cNvPr id="32" name="Rectangle 31"/>
          <p:cNvSpPr/>
          <p:nvPr/>
        </p:nvSpPr>
        <p:spPr>
          <a:xfrm>
            <a:off x="10588752" y="3163824"/>
            <a:ext cx="118872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3227832"/>
            <a:ext cx="104241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3.5-4.5 months</a:t>
            </a:r>
          </a:p>
        </p:txBody>
      </p:sp>
      <p:sp>
        <p:nvSpPr>
          <p:cNvPr id="34" name="Rectangle 33"/>
          <p:cNvSpPr/>
          <p:nvPr/>
        </p:nvSpPr>
        <p:spPr>
          <a:xfrm>
            <a:off x="411480" y="394106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0507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4106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0507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If CAPEE is a desktop or spreadsheet tool</a:t>
            </a:r>
          </a:p>
        </p:txBody>
      </p:sp>
      <p:sp>
        <p:nvSpPr>
          <p:cNvPr id="38" name="Rectangle 37"/>
          <p:cNvSpPr/>
          <p:nvPr/>
        </p:nvSpPr>
        <p:spPr>
          <a:xfrm>
            <a:off x="5715000" y="3941064"/>
            <a:ext cx="487375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05072"/>
            <a:ext cx="472744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produces a file that CAPEE imports. Simplest, but somebody presses a button.</a:t>
            </a:r>
          </a:p>
        </p:txBody>
      </p:sp>
      <p:sp>
        <p:nvSpPr>
          <p:cNvPr id="40" name="Rectangle 39"/>
          <p:cNvSpPr/>
          <p:nvPr/>
        </p:nvSpPr>
        <p:spPr>
          <a:xfrm>
            <a:off x="10588752" y="3941064"/>
            <a:ext cx="118872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4005072"/>
            <a:ext cx="104241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2.5-3 months</a:t>
            </a:r>
          </a:p>
        </p:txBody>
      </p:sp>
      <p:sp>
        <p:nvSpPr>
          <p:cNvPr id="42" name="Rounded Rectangle 41"/>
          <p:cNvSpPr/>
          <p:nvPr/>
        </p:nvSpPr>
        <p:spPr>
          <a:xfrm>
            <a:off x="411480" y="484632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84632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496519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 pick B</a:t>
            </a:r>
          </a:p>
        </p:txBody>
      </p:sp>
      <p:sp>
        <p:nvSpPr>
          <p:cNvPr id="45" name="TextBox 44"/>
          <p:cNvSpPr txBox="1"/>
          <p:nvPr/>
        </p:nvSpPr>
        <p:spPr>
          <a:xfrm>
            <a:off x="630936" y="524865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Running it alongside works whatever CAPEE turns out to be, and it lets us improve CostVision without touching CAPEE each time.</a:t>
            </a:r>
          </a:p>
        </p:txBody>
      </p:sp>
      <p:sp>
        <p:nvSpPr>
          <p:cNvPr id="46" name="Rounded Rectangle 45"/>
          <p:cNvSpPr/>
          <p:nvPr/>
        </p:nvSpPr>
        <p:spPr>
          <a:xfrm>
            <a:off x="6199632" y="484632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84632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496519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What we need to ask IT</a:t>
            </a:r>
          </a:p>
        </p:txBody>
      </p:sp>
      <p:sp>
        <p:nvSpPr>
          <p:cNvPr id="49" name="TextBox 48"/>
          <p:cNvSpPr txBox="1"/>
          <p:nvPr/>
        </p:nvSpPr>
        <p:spPr>
          <a:xfrm>
            <a:off x="6419088" y="524865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out to another program on the network? And can it run on a normal Linux server?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 the plan, step by step</a:t>
            </a:r>
          </a:p>
        </p:txBody>
      </p:sp>
      <p:sp>
        <p:nvSpPr>
          <p:cNvPr id="9" name="Rounded Rectangle 8"/>
          <p:cNvSpPr/>
          <p:nvPr/>
        </p:nvSpPr>
        <p:spPr>
          <a:xfrm>
            <a:off x="411480" y="178308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901952"/>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1-2</a:t>
            </a:r>
          </a:p>
        </p:txBody>
      </p:sp>
      <p:sp>
        <p:nvSpPr>
          <p:cNvPr id="13" name="TextBox 12"/>
          <p:cNvSpPr txBox="1"/>
          <p:nvPr/>
        </p:nvSpPr>
        <p:spPr>
          <a:xfrm>
            <a:off x="2606040" y="1883664"/>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Agree the connection</a:t>
            </a:r>
          </a:p>
        </p:txBody>
      </p:sp>
      <p:sp>
        <p:nvSpPr>
          <p:cNvPr id="14" name="TextBox 13"/>
          <p:cNvSpPr txBox="1"/>
          <p:nvPr/>
        </p:nvSpPr>
        <p:spPr>
          <a:xfrm>
            <a:off x="2606040" y="2167128"/>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Find out how CAPEE is built, pick one of the three ways, agree exactly which numbers CAPEE wants.</a:t>
            </a:r>
          </a:p>
        </p:txBody>
      </p:sp>
      <p:sp>
        <p:nvSpPr>
          <p:cNvPr id="15" name="Rounded Rectangle 14"/>
          <p:cNvSpPr/>
          <p:nvPr/>
        </p:nvSpPr>
        <p:spPr>
          <a:xfrm>
            <a:off x="411480" y="2587752"/>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587752"/>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2724912"/>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298448" y="2706624"/>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3-6</a:t>
            </a:r>
          </a:p>
        </p:txBody>
      </p:sp>
      <p:sp>
        <p:nvSpPr>
          <p:cNvPr id="19" name="TextBox 18"/>
          <p:cNvSpPr txBox="1"/>
          <p:nvPr/>
        </p:nvSpPr>
        <p:spPr>
          <a:xfrm>
            <a:off x="2606040" y="2688336"/>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Stand up the measuring software</a:t>
            </a:r>
          </a:p>
        </p:txBody>
      </p:sp>
      <p:sp>
        <p:nvSpPr>
          <p:cNvPr id="20" name="TextBox 19"/>
          <p:cNvSpPr txBox="1"/>
          <p:nvPr/>
        </p:nvSpPr>
        <p:spPr>
          <a:xfrm>
            <a:off x="2606040" y="2971800"/>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Install it on a JLR server. Measure 20 real JLR parts and check the answers against the drawings.</a:t>
            </a:r>
          </a:p>
        </p:txBody>
      </p:sp>
      <p:sp>
        <p:nvSpPr>
          <p:cNvPr id="21" name="Rounded Rectangle 20"/>
          <p:cNvSpPr/>
          <p:nvPr/>
        </p:nvSpPr>
        <p:spPr>
          <a:xfrm>
            <a:off x="411480" y="3392424"/>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392424"/>
            <a:ext cx="68580" cy="72237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58368" y="3529584"/>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4" name="TextBox 23"/>
          <p:cNvSpPr txBox="1"/>
          <p:nvPr/>
        </p:nvSpPr>
        <p:spPr>
          <a:xfrm>
            <a:off x="1298448" y="3511296"/>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7-8</a:t>
            </a:r>
          </a:p>
        </p:txBody>
      </p:sp>
      <p:sp>
        <p:nvSpPr>
          <p:cNvPr id="25" name="TextBox 24"/>
          <p:cNvSpPr txBox="1"/>
          <p:nvPr/>
        </p:nvSpPr>
        <p:spPr>
          <a:xfrm>
            <a:off x="2606040" y="3493008"/>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Hand over the settings list</a:t>
            </a:r>
          </a:p>
        </p:txBody>
      </p:sp>
      <p:sp>
        <p:nvSpPr>
          <p:cNvPr id="26" name="TextBox 25"/>
          <p:cNvSpPr txBox="1"/>
          <p:nvPr/>
        </p:nvSpPr>
        <p:spPr>
          <a:xfrm>
            <a:off x="2606040" y="3776472"/>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Pull every fixed number out into one readable list. JLR reviews it and signs it off.</a:t>
            </a:r>
          </a:p>
        </p:txBody>
      </p:sp>
      <p:sp>
        <p:nvSpPr>
          <p:cNvPr id="27" name="Rounded Rectangle 26"/>
          <p:cNvSpPr/>
          <p:nvPr/>
        </p:nvSpPr>
        <p:spPr>
          <a:xfrm>
            <a:off x="411480" y="4197096"/>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8368" y="4334256"/>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0" name="TextBox 29"/>
          <p:cNvSpPr txBox="1"/>
          <p:nvPr/>
        </p:nvSpPr>
        <p:spPr>
          <a:xfrm>
            <a:off x="1298448" y="4315968"/>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9-11</a:t>
            </a:r>
          </a:p>
        </p:txBody>
      </p:sp>
      <p:sp>
        <p:nvSpPr>
          <p:cNvPr id="31" name="TextBox 30"/>
          <p:cNvSpPr txBox="1"/>
          <p:nvPr/>
        </p:nvSpPr>
        <p:spPr>
          <a:xfrm>
            <a:off x="2606040" y="4297680"/>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Add the safety checks</a:t>
            </a:r>
          </a:p>
        </p:txBody>
      </p:sp>
      <p:sp>
        <p:nvSpPr>
          <p:cNvPr id="32" name="TextBox 31"/>
          <p:cNvSpPr txBox="1"/>
          <p:nvPr/>
        </p:nvSpPr>
        <p:spPr>
          <a:xfrm>
            <a:off x="2606040" y="4581144"/>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Port the four checks and the questions the engineer confirms. Not optional.</a:t>
            </a:r>
          </a:p>
        </p:txBody>
      </p:sp>
      <p:sp>
        <p:nvSpPr>
          <p:cNvPr id="33" name="Rounded Rectangle 32"/>
          <p:cNvSpPr/>
          <p:nvPr/>
        </p:nvSpPr>
        <p:spPr>
          <a:xfrm>
            <a:off x="411480" y="5001768"/>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5001768"/>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8368" y="5138928"/>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6" name="TextBox 35"/>
          <p:cNvSpPr txBox="1"/>
          <p:nvPr/>
        </p:nvSpPr>
        <p:spPr>
          <a:xfrm>
            <a:off x="1298448" y="5120640"/>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12-16</a:t>
            </a:r>
          </a:p>
        </p:txBody>
      </p:sp>
      <p:sp>
        <p:nvSpPr>
          <p:cNvPr id="37" name="TextBox 36"/>
          <p:cNvSpPr txBox="1"/>
          <p:nvPr/>
        </p:nvSpPr>
        <p:spPr>
          <a:xfrm>
            <a:off x="2606040" y="5102352"/>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Connect into CAPEE</a:t>
            </a:r>
          </a:p>
        </p:txBody>
      </p:sp>
      <p:sp>
        <p:nvSpPr>
          <p:cNvPr id="38" name="TextBox 37"/>
          <p:cNvSpPr txBox="1"/>
          <p:nvPr/>
        </p:nvSpPr>
        <p:spPr>
          <a:xfrm>
            <a:off x="2606040" y="5385816"/>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Wire it in. Route drawing reading through JLR's approved AI service. Cost a real part end to end.</a:t>
            </a:r>
          </a:p>
        </p:txBody>
      </p:sp>
      <p:sp>
        <p:nvSpPr>
          <p:cNvPr id="39" name="Rounded Rectangle 38"/>
          <p:cNvSpPr/>
          <p:nvPr/>
        </p:nvSpPr>
        <p:spPr>
          <a:xfrm>
            <a:off x="411480" y="580644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5806440"/>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8368" y="5943600"/>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42" name="TextBox 41"/>
          <p:cNvSpPr txBox="1"/>
          <p:nvPr/>
        </p:nvSpPr>
        <p:spPr>
          <a:xfrm>
            <a:off x="1298448" y="5925312"/>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17-19</a:t>
            </a:r>
          </a:p>
        </p:txBody>
      </p:sp>
      <p:sp>
        <p:nvSpPr>
          <p:cNvPr id="43" name="TextBox 42"/>
          <p:cNvSpPr txBox="1"/>
          <p:nvPr/>
        </p:nvSpPr>
        <p:spPr>
          <a:xfrm>
            <a:off x="2606040" y="5907024"/>
            <a:ext cx="896112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Trial with one team</a:t>
            </a:r>
          </a:p>
        </p:txBody>
      </p:sp>
      <p:sp>
        <p:nvSpPr>
          <p:cNvPr id="44" name="TextBox 43"/>
          <p:cNvSpPr txBox="1"/>
          <p:nvPr/>
        </p:nvSpPr>
        <p:spPr>
          <a:xfrm>
            <a:off x="2606040" y="6190488"/>
            <a:ext cx="8961120" cy="27432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One part type, one team, 30 or more parts. Measure how good the measuring actually is.</a:t>
            </a:r>
          </a:p>
        </p:txBody>
      </p:sp>
      <p:sp>
        <p:nvSpPr>
          <p:cNvPr id="45" name="Rounded Rectangle 44"/>
          <p:cNvSpPr/>
          <p:nvPr/>
        </p:nvSpPr>
        <p:spPr>
          <a:xfrm>
            <a:off x="411480" y="5870448"/>
            <a:ext cx="5577840"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870448"/>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98932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5 months in total</a:t>
            </a:r>
          </a:p>
        </p:txBody>
      </p:sp>
      <p:sp>
        <p:nvSpPr>
          <p:cNvPr id="48" name="TextBox 47"/>
          <p:cNvSpPr txBox="1"/>
          <p:nvPr/>
        </p:nvSpPr>
        <p:spPr>
          <a:xfrm>
            <a:off x="630936" y="6272784"/>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Assumes one developer from us plus JLR IT support, and that step 1 finishes on time.</a:t>
            </a:r>
          </a:p>
        </p:txBody>
      </p:sp>
      <p:sp>
        <p:nvSpPr>
          <p:cNvPr id="49" name="Rounded Rectangle 48"/>
          <p:cNvSpPr/>
          <p:nvPr/>
        </p:nvSpPr>
        <p:spPr>
          <a:xfrm>
            <a:off x="6199632" y="5870448"/>
            <a:ext cx="5577840" cy="749808"/>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199632" y="5870448"/>
            <a:ext cx="68580" cy="74980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19088" y="598932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 not all eighteen</a:t>
            </a:r>
          </a:p>
        </p:txBody>
      </p:sp>
      <p:sp>
        <p:nvSpPr>
          <p:cNvPr id="52" name="TextBox 51"/>
          <p:cNvSpPr txBox="1"/>
          <p:nvPr/>
        </p:nvSpPr>
        <p:spPr>
          <a:xfrm>
            <a:off x="6419088" y="6272784"/>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 most parts, best understood shapes. Widen once it works.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FULL PICTURE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 how it works, start to finish</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every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opens CostVision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Signs in with their normal JLR login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ube.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Uploads or types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if there is one, or fills the form</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Picks the part type</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Machined, pressed, cast, forged, moulded…</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oins.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JLR rates are applied</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Our own material, machine, labour, energy costs</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Cost is calculated</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cost buckets, every number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Report comes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PDF or Excel, ready for a supplier meeting</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we set it up — about 2 to 3 months</a:t>
            </a:r>
          </a:p>
        </p:txBody>
      </p:sp>
      <p:sp>
        <p:nvSpPr>
          <p:cNvPr id="52" name="Chevron 51"/>
          <p:cNvSpPr/>
          <p:nvPr/>
        </p:nvSpPr>
        <p:spPr>
          <a:xfrm>
            <a:off x="411480" y="4187952"/>
            <a:ext cx="2258568" cy="658368"/>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1-2</a:t>
            </a:r>
          </a:p>
          <a:p>
            <a:pPr algn="ctr"/>
            <a:r>
              <a:rPr sz="850">
                <a:solidFill>
                  <a:srgbClr val="FFFFFF"/>
                </a:solidFill>
                <a:latin typeface="Calibri"/>
              </a:rPr>
              <a:t>IT security review</a:t>
            </a:r>
          </a:p>
        </p:txBody>
      </p:sp>
      <p:sp>
        <p:nvSpPr>
          <p:cNvPr id="53" name="Chevron 52"/>
          <p:cNvSpPr/>
          <p:nvPr/>
        </p:nvSpPr>
        <p:spPr>
          <a:xfrm>
            <a:off x="2633472" y="4187952"/>
            <a:ext cx="2258568" cy="658368"/>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3-4</a:t>
            </a:r>
          </a:p>
          <a:p>
            <a:pPr algn="ctr"/>
            <a:r>
              <a:rPr sz="850">
                <a:solidFill>
                  <a:srgbClr val="FFFFFF"/>
                </a:solidFill>
                <a:latin typeface="Calibri"/>
              </a:rPr>
              <a:t>Install and connect logins</a:t>
            </a:r>
          </a:p>
        </p:txBody>
      </p:sp>
      <p:sp>
        <p:nvSpPr>
          <p:cNvPr id="54" name="Chevron 53"/>
          <p:cNvSpPr/>
          <p:nvPr/>
        </p:nvSpPr>
        <p:spPr>
          <a:xfrm>
            <a:off x="4855464" y="4187952"/>
            <a:ext cx="2258568" cy="658368"/>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5-10</a:t>
            </a:r>
          </a:p>
          <a:p>
            <a:pPr algn="ctr"/>
            <a:r>
              <a:rPr sz="850">
                <a:solidFill>
                  <a:srgbClr val="FFFFFF"/>
                </a:solidFill>
                <a:latin typeface="Calibri"/>
              </a:rPr>
              <a:t>Load JLR rates</a:t>
            </a:r>
          </a:p>
        </p:txBody>
      </p:sp>
      <p:sp>
        <p:nvSpPr>
          <p:cNvPr id="55" name="Chevron 54"/>
          <p:cNvSpPr/>
          <p:nvPr/>
        </p:nvSpPr>
        <p:spPr>
          <a:xfrm>
            <a:off x="7077456" y="4187952"/>
            <a:ext cx="2258568" cy="658368"/>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11-12</a:t>
            </a:r>
          </a:p>
          <a:p>
            <a:pPr algn="ctr"/>
            <a:r>
              <a:rPr sz="850">
                <a:solidFill>
                  <a:srgbClr val="FFFFFF"/>
                </a:solidFill>
                <a:latin typeface="Calibri"/>
              </a:rPr>
              <a:t>Check accuracy</a:t>
            </a:r>
          </a:p>
        </p:txBody>
      </p:sp>
      <p:sp>
        <p:nvSpPr>
          <p:cNvPr id="56" name="Chevron 55"/>
          <p:cNvSpPr/>
          <p:nvPr/>
        </p:nvSpPr>
        <p:spPr>
          <a:xfrm>
            <a:off x="9299448" y="4187952"/>
            <a:ext cx="2258568" cy="658368"/>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Weeks 13-14</a:t>
            </a:r>
          </a:p>
          <a:p>
            <a:pPr algn="ctr"/>
            <a:r>
              <a:rPr sz="850">
                <a:solidFill>
                  <a:srgbClr val="FFFFFF"/>
                </a:solidFill>
                <a:latin typeface="Calibri"/>
              </a:rPr>
              <a:t>Trial with one team</a:t>
            </a:r>
          </a:p>
        </p:txBody>
      </p:sp>
      <p:sp>
        <p:nvSpPr>
          <p:cNvPr id="57" name="Rectangle 56"/>
          <p:cNvSpPr/>
          <p:nvPr/>
        </p:nvSpPr>
        <p:spPr>
          <a:xfrm>
            <a:off x="411480" y="5029200"/>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029200"/>
            <a:ext cx="1371600" cy="56692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5029200"/>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0" name="TextBox 59"/>
          <p:cNvSpPr txBox="1"/>
          <p:nvPr/>
        </p:nvSpPr>
        <p:spPr>
          <a:xfrm>
            <a:off x="1892808"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Install it on a JLR server</a:t>
            </a:r>
          </a:p>
        </p:txBody>
      </p:sp>
      <p:sp>
        <p:nvSpPr>
          <p:cNvPr id="61" name="Rectangle 60"/>
          <p:cNvSpPr/>
          <p:nvPr/>
        </p:nvSpPr>
        <p:spPr>
          <a:xfrm>
            <a:off x="4281678"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91406"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Connect JLR sign-on</a:t>
            </a:r>
          </a:p>
        </p:txBody>
      </p:sp>
      <p:sp>
        <p:nvSpPr>
          <p:cNvPr id="63" name="Rectangle 62"/>
          <p:cNvSpPr/>
          <p:nvPr/>
        </p:nvSpPr>
        <p:spPr>
          <a:xfrm>
            <a:off x="6780276"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90004"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Load the rates you give us</a:t>
            </a:r>
          </a:p>
        </p:txBody>
      </p:sp>
      <p:sp>
        <p:nvSpPr>
          <p:cNvPr id="65" name="Rectangle 64"/>
          <p:cNvSpPr/>
          <p:nvPr/>
        </p:nvSpPr>
        <p:spPr>
          <a:xfrm>
            <a:off x="9278874" y="5084064"/>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88602" y="5148072"/>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Run the accuracy check</a:t>
            </a:r>
          </a:p>
        </p:txBody>
      </p:sp>
      <p:sp>
        <p:nvSpPr>
          <p:cNvPr id="67" name="Rectangle 66"/>
          <p:cNvSpPr/>
          <p:nvPr/>
        </p:nvSpPr>
        <p:spPr>
          <a:xfrm>
            <a:off x="411480" y="5632704"/>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1480" y="5632704"/>
            <a:ext cx="1371600" cy="56692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632704"/>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0" name="TextBox 69"/>
          <p:cNvSpPr txBox="1"/>
          <p:nvPr/>
        </p:nvSpPr>
        <p:spPr>
          <a:xfrm>
            <a:off x="1892808"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Security sign-off</a:t>
            </a:r>
          </a:p>
        </p:txBody>
      </p:sp>
      <p:sp>
        <p:nvSpPr>
          <p:cNvPr id="71" name="Rectangle 70"/>
          <p:cNvSpPr/>
          <p:nvPr/>
        </p:nvSpPr>
        <p:spPr>
          <a:xfrm>
            <a:off x="4281678"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391406"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3" name="Rectangle 72"/>
          <p:cNvSpPr/>
          <p:nvPr/>
        </p:nvSpPr>
        <p:spPr>
          <a:xfrm>
            <a:off x="6780276"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90004"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COLLECT THE RATE DATA — the long pole</a:t>
            </a:r>
          </a:p>
        </p:txBody>
      </p:sp>
      <p:sp>
        <p:nvSpPr>
          <p:cNvPr id="75" name="Rectangle 74"/>
          <p:cNvSpPr/>
          <p:nvPr/>
        </p:nvSpPr>
        <p:spPr>
          <a:xfrm>
            <a:off x="9278874"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388602" y="5751576"/>
            <a:ext cx="227914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Give us 30-50 parts with real prices</a:t>
            </a:r>
          </a:p>
        </p:txBody>
      </p:sp>
      <p:sp>
        <p:nvSpPr>
          <p:cNvPr id="77" name="Rounded Rectangle 76"/>
          <p:cNvSpPr/>
          <p:nvPr/>
        </p:nvSpPr>
        <p:spPr>
          <a:xfrm>
            <a:off x="411480" y="6272784"/>
            <a:ext cx="11365992" cy="4572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11480" y="6272784"/>
            <a:ext cx="68580" cy="4572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0936" y="639165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software is the easy part</a:t>
            </a:r>
          </a:p>
        </p:txBody>
      </p:sp>
      <p:sp>
        <p:nvSpPr>
          <p:cNvPr id="80" name="TextBox 79"/>
          <p:cNvSpPr txBox="1"/>
          <p:nvPr/>
        </p:nvSpPr>
        <p:spPr>
          <a:xfrm>
            <a:off x="630936" y="6675120"/>
            <a:ext cx="10954512"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Weeks 5 to 10 are the whole job. Gathering our material prices, machine rates, labour and energy costs is what decides whether this takes two months or four.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DETAIL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and what does not</a:t>
            </a:r>
          </a:p>
        </p:txBody>
      </p:sp>
      <p:sp>
        <p:nvSpPr>
          <p:cNvPr id="9" name="Rounded Rectangle 8"/>
          <p:cNvSpPr/>
          <p:nvPr/>
        </p:nvSpPr>
        <p:spPr>
          <a:xfrm>
            <a:off x="411480" y="1737360"/>
            <a:ext cx="3657600" cy="24688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2468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STAYS THE SAME</a:t>
            </a:r>
          </a:p>
        </p:txBody>
      </p:sp>
      <p:sp>
        <p:nvSpPr>
          <p:cNvPr id="12" name="TextBox 11"/>
          <p:cNvSpPr txBox="1"/>
          <p:nvPr/>
        </p:nvSpPr>
        <p:spPr>
          <a:xfrm>
            <a:off x="612648"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All 18 part types</a:t>
            </a:r>
          </a:p>
          <a:p>
            <a:pPr algn="l">
              <a:lnSpc>
                <a:spcPct val="112000"/>
              </a:lnSpc>
              <a:spcAft>
                <a:spcPts val="300"/>
              </a:spcAft>
            </a:pPr>
            <a:r>
              <a:rPr sz="1050" b="0" i="0">
                <a:solidFill>
                  <a:srgbClr val="3A4356"/>
                </a:solidFill>
                <a:latin typeface="Calibri"/>
              </a:rPr>
              <a:t>The costing maths</a:t>
            </a:r>
          </a:p>
          <a:p>
            <a:pPr algn="l">
              <a:lnSpc>
                <a:spcPct val="112000"/>
              </a:lnSpc>
              <a:spcAft>
                <a:spcPts val="300"/>
              </a:spcAft>
            </a:pPr>
            <a:r>
              <a:rPr sz="1050" b="0" i="0">
                <a:solidFill>
                  <a:srgbClr val="3A4356"/>
                </a:solidFill>
                <a:latin typeface="Calibri"/>
              </a:rPr>
              <a:t>Reading 3D models and drawings</a:t>
            </a:r>
          </a:p>
          <a:p>
            <a:pPr algn="l">
              <a:lnSpc>
                <a:spcPct val="112000"/>
              </a:lnSpc>
              <a:spcAft>
                <a:spcPts val="300"/>
              </a:spcAft>
            </a:pPr>
            <a:r>
              <a:rPr sz="1050" b="0" i="0">
                <a:solidFill>
                  <a:srgbClr val="3A4356"/>
                </a:solidFill>
                <a:latin typeface="Calibri"/>
              </a:rPr>
              <a:t>The safety checks</a:t>
            </a:r>
          </a:p>
          <a:p>
            <a:pPr algn="l">
              <a:lnSpc>
                <a:spcPct val="112000"/>
              </a:lnSpc>
              <a:spcAft>
                <a:spcPts val="300"/>
              </a:spcAft>
            </a:pPr>
            <a:r>
              <a:rPr sz="1050" b="0" i="0">
                <a:solidFill>
                  <a:srgbClr val="3A4356"/>
                </a:solidFill>
                <a:latin typeface="Calibri"/>
              </a:rPr>
              <a:t>Reports — PDF, Excel, slides</a:t>
            </a:r>
          </a:p>
          <a:p>
            <a:pPr algn="l">
              <a:lnSpc>
                <a:spcPct val="112000"/>
              </a:lnSpc>
              <a:spcAft>
                <a:spcPts val="300"/>
              </a:spcAft>
            </a:pPr>
            <a:r>
              <a:rPr sz="1050" b="0" i="0">
                <a:solidFill>
                  <a:srgbClr val="3A4356"/>
                </a:solidFill>
                <a:latin typeface="Calibri"/>
              </a:rPr>
              <a:t>Cost-saving suggestions</a:t>
            </a:r>
          </a:p>
        </p:txBody>
      </p:sp>
      <p:sp>
        <p:nvSpPr>
          <p:cNvPr id="13" name="Rounded Rectangle 12"/>
          <p:cNvSpPr/>
          <p:nvPr/>
        </p:nvSpPr>
        <p:spPr>
          <a:xfrm>
            <a:off x="4233672" y="1737360"/>
            <a:ext cx="3657600"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737360"/>
            <a:ext cx="68580" cy="2468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WE REPLACE WITH JLR DATA</a:t>
            </a:r>
          </a:p>
        </p:txBody>
      </p:sp>
      <p:sp>
        <p:nvSpPr>
          <p:cNvPr id="16" name="TextBox 15"/>
          <p:cNvSpPr txBox="1"/>
          <p:nvPr/>
        </p:nvSpPr>
        <p:spPr>
          <a:xfrm>
            <a:off x="4434840"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prices</a:t>
            </a:r>
          </a:p>
          <a:p>
            <a:pPr algn="l">
              <a:lnSpc>
                <a:spcPct val="112000"/>
              </a:lnSpc>
              <a:spcAft>
                <a:spcPts val="300"/>
              </a:spcAft>
            </a:pPr>
            <a:r>
              <a:rPr sz="1050" b="0" i="0">
                <a:solidFill>
                  <a:srgbClr val="3A4356"/>
                </a:solidFill>
                <a:latin typeface="Calibri"/>
              </a:rPr>
              <a:t>Machine rates per hour</a:t>
            </a:r>
          </a:p>
          <a:p>
            <a:pPr algn="l">
              <a:lnSpc>
                <a:spcPct val="112000"/>
              </a:lnSpc>
              <a:spcAft>
                <a:spcPts val="300"/>
              </a:spcAft>
            </a:pPr>
            <a:r>
              <a:rPr sz="1050" b="0" i="0">
                <a:solidFill>
                  <a:srgbClr val="3A4356"/>
                </a:solidFill>
                <a:latin typeface="Calibri"/>
              </a:rPr>
              <a:t>Labour rates by grade</a:t>
            </a:r>
          </a:p>
          <a:p>
            <a:pPr algn="l">
              <a:lnSpc>
                <a:spcPct val="112000"/>
              </a:lnSpc>
              <a:spcAft>
                <a:spcPts val="300"/>
              </a:spcAft>
            </a:pPr>
            <a:r>
              <a:rPr sz="1050" b="0" i="0">
                <a:solidFill>
                  <a:srgbClr val="3A4356"/>
                </a:solidFill>
                <a:latin typeface="Calibri"/>
              </a:rPr>
              <a:t>Electricity and gas prices</a:t>
            </a:r>
          </a:p>
          <a:p>
            <a:pPr algn="l">
              <a:lnSpc>
                <a:spcPct val="112000"/>
              </a:lnSpc>
              <a:spcAft>
                <a:spcPts val="300"/>
              </a:spcAft>
            </a:pPr>
            <a:r>
              <a:rPr sz="1050" b="0" i="0">
                <a:solidFill>
                  <a:srgbClr val="3A4356"/>
                </a:solidFill>
                <a:latin typeface="Calibri"/>
              </a:rPr>
              <a:t>Overhead and margin policy</a:t>
            </a:r>
          </a:p>
          <a:p>
            <a:pPr algn="l">
              <a:lnSpc>
                <a:spcPct val="112000"/>
              </a:lnSpc>
              <a:spcAft>
                <a:spcPts val="300"/>
              </a:spcAft>
            </a:pPr>
            <a:r>
              <a:rPr sz="1050" b="0" i="0">
                <a:solidFill>
                  <a:srgbClr val="3A4356"/>
                </a:solidFill>
                <a:latin typeface="Calibri"/>
              </a:rPr>
              <a:t>Rates for each country we buy from</a:t>
            </a:r>
          </a:p>
        </p:txBody>
      </p:sp>
      <p:sp>
        <p:nvSpPr>
          <p:cNvPr id="17" name="Rounded Rectangle 16"/>
          <p:cNvSpPr/>
          <p:nvPr/>
        </p:nvSpPr>
        <p:spPr>
          <a:xfrm>
            <a:off x="8055864" y="1737360"/>
            <a:ext cx="3721608"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4" y="1737360"/>
            <a:ext cx="68580" cy="24688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86537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WE ADD FOR JLR USE</a:t>
            </a:r>
          </a:p>
        </p:txBody>
      </p:sp>
      <p:sp>
        <p:nvSpPr>
          <p:cNvPr id="20" name="TextBox 19"/>
          <p:cNvSpPr txBox="1"/>
          <p:nvPr/>
        </p:nvSpPr>
        <p:spPr>
          <a:xfrm>
            <a:off x="8257032" y="2176272"/>
            <a:ext cx="3355848"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JLR single sign-on</a:t>
            </a:r>
          </a:p>
          <a:p>
            <a:pPr algn="l">
              <a:lnSpc>
                <a:spcPct val="112000"/>
              </a:lnSpc>
              <a:spcAft>
                <a:spcPts val="300"/>
              </a:spcAft>
            </a:pPr>
            <a:r>
              <a:rPr sz="1050" b="0" i="0">
                <a:solidFill>
                  <a:srgbClr val="3A4356"/>
                </a:solidFill>
                <a:latin typeface="Calibri"/>
              </a:rPr>
              <a:t>A proper shared database</a:t>
            </a:r>
          </a:p>
          <a:p>
            <a:pPr algn="l">
              <a:lnSpc>
                <a:spcPct val="112000"/>
              </a:lnSpc>
              <a:spcAft>
                <a:spcPts val="300"/>
              </a:spcAft>
            </a:pPr>
            <a:r>
              <a:rPr sz="1050" b="0" i="0">
                <a:solidFill>
                  <a:srgbClr val="3A4356"/>
                </a:solidFill>
                <a:latin typeface="Calibri"/>
              </a:rPr>
              <a:t>AI routed through JLR's service</a:t>
            </a:r>
          </a:p>
          <a:p>
            <a:pPr algn="l">
              <a:lnSpc>
                <a:spcPct val="112000"/>
              </a:lnSpc>
              <a:spcAft>
                <a:spcPts val="300"/>
              </a:spcAft>
            </a:pPr>
            <a:r>
              <a:rPr sz="1050" b="0" i="0">
                <a:solidFill>
                  <a:srgbClr val="3A4356"/>
                </a:solidFill>
                <a:latin typeface="Calibri"/>
              </a:rPr>
              <a:t>A record of every rate change</a:t>
            </a:r>
          </a:p>
          <a:p>
            <a:pPr algn="l">
              <a:lnSpc>
                <a:spcPct val="112000"/>
              </a:lnSpc>
              <a:spcAft>
                <a:spcPts val="300"/>
              </a:spcAft>
            </a:pPr>
            <a:r>
              <a:rPr sz="1050" b="0" i="0">
                <a:solidFill>
                  <a:srgbClr val="3A4356"/>
                </a:solidFill>
                <a:latin typeface="Calibri"/>
              </a:rPr>
              <a:t>Costings saved and auditable</a:t>
            </a:r>
          </a:p>
          <a:p>
            <a:pPr algn="l">
              <a:lnSpc>
                <a:spcPct val="112000"/>
              </a:lnSpc>
              <a:spcAft>
                <a:spcPts val="300"/>
              </a:spcAft>
            </a:pPr>
            <a:r>
              <a:rPr sz="1050" b="0" i="0">
                <a:solidFill>
                  <a:srgbClr val="3A4356"/>
                </a:solidFill>
                <a:latin typeface="Calibri"/>
              </a:rPr>
              <a:t>Backups to JLR standard</a:t>
            </a:r>
          </a:p>
        </p:txBody>
      </p:sp>
      <p:sp>
        <p:nvSpPr>
          <p:cNvPr id="21" name="Rounded Rectangle 20"/>
          <p:cNvSpPr/>
          <p:nvPr/>
        </p:nvSpPr>
        <p:spPr>
          <a:xfrm>
            <a:off x="411480" y="438912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38912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45079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Swapping the rates is a setting, not a rebuild</a:t>
            </a:r>
          </a:p>
        </p:txBody>
      </p:sp>
      <p:sp>
        <p:nvSpPr>
          <p:cNvPr id="24" name="TextBox 23"/>
          <p:cNvSpPr txBox="1"/>
          <p:nvPr/>
        </p:nvSpPr>
        <p:spPr>
          <a:xfrm>
            <a:off x="630936" y="479145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was built so the rate book is handed to it, rather than buried inside it. There is already a screen for uploading a company rate book. Putting JLR numbers in does not mean changing how it calculates anything.</a:t>
            </a:r>
          </a:p>
        </p:txBody>
      </p:sp>
      <p:sp>
        <p:nvSpPr>
          <p:cNvPr id="25" name="Rounded Rectangle 24"/>
          <p:cNvSpPr/>
          <p:nvPr/>
        </p:nvSpPr>
        <p:spPr>
          <a:xfrm>
            <a:off x="411480" y="544068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44068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55595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Two things it does not do well enough yet, and we should fix as part of this</a:t>
            </a:r>
          </a:p>
        </p:txBody>
      </p:sp>
      <p:sp>
        <p:nvSpPr>
          <p:cNvPr id="28" name="TextBox 27"/>
          <p:cNvSpPr txBox="1"/>
          <p:nvPr/>
        </p:nvSpPr>
        <p:spPr>
          <a:xfrm>
            <a:off x="630936" y="584301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does not keep a history of rate changes, and it does not store finished costings. So today you could not reproduce a cost you produced three months ago. For JLR use that needs fixing, and it is in the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 the plan, step by step</a:t>
            </a:r>
          </a:p>
        </p:txBody>
      </p:sp>
      <p:sp>
        <p:nvSpPr>
          <p:cNvPr id="9" name="Rounded Rectangle 8"/>
          <p:cNvSpPr/>
          <p:nvPr/>
        </p:nvSpPr>
        <p:spPr>
          <a:xfrm>
            <a:off x="411480" y="1828800"/>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93392"/>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325880" y="1965960"/>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1-2</a:t>
            </a:r>
          </a:p>
        </p:txBody>
      </p:sp>
      <p:sp>
        <p:nvSpPr>
          <p:cNvPr id="13" name="TextBox 12"/>
          <p:cNvSpPr txBox="1"/>
          <p:nvPr/>
        </p:nvSpPr>
        <p:spPr>
          <a:xfrm>
            <a:off x="2651760" y="1947672"/>
            <a:ext cx="891540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IT security review</a:t>
            </a:r>
          </a:p>
        </p:txBody>
      </p:sp>
      <p:sp>
        <p:nvSpPr>
          <p:cNvPr id="14" name="TextBox 13"/>
          <p:cNvSpPr txBox="1"/>
          <p:nvPr/>
        </p:nvSpPr>
        <p:spPr>
          <a:xfrm>
            <a:off x="2651760" y="2249424"/>
            <a:ext cx="891540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We already have the document showing where every piece of data goes. IT decides how the AI part is handled.</a:t>
            </a:r>
          </a:p>
        </p:txBody>
      </p:sp>
      <p:sp>
        <p:nvSpPr>
          <p:cNvPr id="15" name="Rounded Rectangle 14"/>
          <p:cNvSpPr/>
          <p:nvPr/>
        </p:nvSpPr>
        <p:spPr>
          <a:xfrm>
            <a:off x="411480" y="2706624"/>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06624"/>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2871216"/>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2843784"/>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3-4</a:t>
            </a:r>
          </a:p>
        </p:txBody>
      </p:sp>
      <p:sp>
        <p:nvSpPr>
          <p:cNvPr id="19" name="TextBox 18"/>
          <p:cNvSpPr txBox="1"/>
          <p:nvPr/>
        </p:nvSpPr>
        <p:spPr>
          <a:xfrm>
            <a:off x="2651760" y="2825496"/>
            <a:ext cx="891540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Install and connect</a:t>
            </a:r>
          </a:p>
        </p:txBody>
      </p:sp>
      <p:sp>
        <p:nvSpPr>
          <p:cNvPr id="20" name="TextBox 19"/>
          <p:cNvSpPr txBox="1"/>
          <p:nvPr/>
        </p:nvSpPr>
        <p:spPr>
          <a:xfrm>
            <a:off x="2651760" y="3127248"/>
            <a:ext cx="891540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Put it on a JLR server, connect JLR logins, move to a proper shared database.</a:t>
            </a:r>
          </a:p>
        </p:txBody>
      </p:sp>
      <p:sp>
        <p:nvSpPr>
          <p:cNvPr id="21" name="Rounded Rectangle 20"/>
          <p:cNvSpPr/>
          <p:nvPr/>
        </p:nvSpPr>
        <p:spPr>
          <a:xfrm>
            <a:off x="411480" y="3584448"/>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584448"/>
            <a:ext cx="68580" cy="78638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58368" y="374904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4" name="TextBox 23"/>
          <p:cNvSpPr txBox="1"/>
          <p:nvPr/>
        </p:nvSpPr>
        <p:spPr>
          <a:xfrm>
            <a:off x="1325880" y="3721608"/>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5-10</a:t>
            </a:r>
          </a:p>
        </p:txBody>
      </p:sp>
      <p:sp>
        <p:nvSpPr>
          <p:cNvPr id="25" name="TextBox 24"/>
          <p:cNvSpPr txBox="1"/>
          <p:nvPr/>
        </p:nvSpPr>
        <p:spPr>
          <a:xfrm>
            <a:off x="2651760" y="3703320"/>
            <a:ext cx="891540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Load JLR rates — the long pole</a:t>
            </a:r>
          </a:p>
        </p:txBody>
      </p:sp>
      <p:sp>
        <p:nvSpPr>
          <p:cNvPr id="26" name="TextBox 25"/>
          <p:cNvSpPr txBox="1"/>
          <p:nvPr/>
        </p:nvSpPr>
        <p:spPr>
          <a:xfrm>
            <a:off x="2651760" y="4005072"/>
            <a:ext cx="891540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Materials, machine rates, labour, energy, country factors. This is the real work and it is ours to do.</a:t>
            </a:r>
          </a:p>
        </p:txBody>
      </p:sp>
      <p:sp>
        <p:nvSpPr>
          <p:cNvPr id="27" name="Rounded Rectangle 26"/>
          <p:cNvSpPr/>
          <p:nvPr/>
        </p:nvSpPr>
        <p:spPr>
          <a:xfrm>
            <a:off x="411480" y="4462272"/>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462272"/>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8368" y="4626864"/>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0" name="TextBox 29"/>
          <p:cNvSpPr txBox="1"/>
          <p:nvPr/>
        </p:nvSpPr>
        <p:spPr>
          <a:xfrm>
            <a:off x="1325880" y="4599432"/>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11-12</a:t>
            </a:r>
          </a:p>
        </p:txBody>
      </p:sp>
      <p:sp>
        <p:nvSpPr>
          <p:cNvPr id="31" name="TextBox 30"/>
          <p:cNvSpPr txBox="1"/>
          <p:nvPr/>
        </p:nvSpPr>
        <p:spPr>
          <a:xfrm>
            <a:off x="2651760" y="4581144"/>
            <a:ext cx="891540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Check it against real parts</a:t>
            </a:r>
          </a:p>
        </p:txBody>
      </p:sp>
      <p:sp>
        <p:nvSpPr>
          <p:cNvPr id="32" name="TextBox 31"/>
          <p:cNvSpPr txBox="1"/>
          <p:nvPr/>
        </p:nvSpPr>
        <p:spPr>
          <a:xfrm>
            <a:off x="2651760" y="4882896"/>
            <a:ext cx="891540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Take 30 to 50 parts we have actually bought and compare. This is what tells us how accurate it is.</a:t>
            </a:r>
          </a:p>
        </p:txBody>
      </p:sp>
      <p:sp>
        <p:nvSpPr>
          <p:cNvPr id="33" name="Rounded Rectangle 32"/>
          <p:cNvSpPr/>
          <p:nvPr/>
        </p:nvSpPr>
        <p:spPr>
          <a:xfrm>
            <a:off x="411480" y="5340096"/>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5340096"/>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8368" y="55046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6" name="TextBox 35"/>
          <p:cNvSpPr txBox="1"/>
          <p:nvPr/>
        </p:nvSpPr>
        <p:spPr>
          <a:xfrm>
            <a:off x="1325880" y="5477256"/>
            <a:ext cx="1371600" cy="237744"/>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Weeks 13-14</a:t>
            </a:r>
          </a:p>
        </p:txBody>
      </p:sp>
      <p:sp>
        <p:nvSpPr>
          <p:cNvPr id="37" name="TextBox 36"/>
          <p:cNvSpPr txBox="1"/>
          <p:nvPr/>
        </p:nvSpPr>
        <p:spPr>
          <a:xfrm>
            <a:off x="2651760" y="5458968"/>
            <a:ext cx="891540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with one team</a:t>
            </a:r>
          </a:p>
        </p:txBody>
      </p:sp>
      <p:sp>
        <p:nvSpPr>
          <p:cNvPr id="38" name="TextBox 37"/>
          <p:cNvSpPr txBox="1"/>
          <p:nvPr/>
        </p:nvSpPr>
        <p:spPr>
          <a:xfrm>
            <a:off x="2651760" y="5760720"/>
            <a:ext cx="891540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Real parts, side by side with CAPEE. Where they differ, understand why.</a:t>
            </a:r>
          </a:p>
        </p:txBody>
      </p:sp>
      <p:sp>
        <p:nvSpPr>
          <p:cNvPr id="39" name="Rounded Rectangle 38"/>
          <p:cNvSpPr/>
          <p:nvPr/>
        </p:nvSpPr>
        <p:spPr>
          <a:xfrm>
            <a:off x="411480" y="6263640"/>
            <a:ext cx="5577840" cy="4572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263640"/>
            <a:ext cx="6858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About 2 to 3 months</a:t>
            </a:r>
          </a:p>
        </p:txBody>
      </p:sp>
      <p:sp>
        <p:nvSpPr>
          <p:cNvPr id="42" name="TextBox 41"/>
          <p:cNvSpPr txBox="1"/>
          <p:nvPr/>
        </p:nvSpPr>
        <p:spPr>
          <a:xfrm>
            <a:off x="630936" y="6665976"/>
            <a:ext cx="5166360"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Software work is small. The range is all about rate collection.</a:t>
            </a:r>
          </a:p>
        </p:txBody>
      </p:sp>
      <p:sp>
        <p:nvSpPr>
          <p:cNvPr id="43" name="Rounded Rectangle 42"/>
          <p:cNvSpPr/>
          <p:nvPr/>
        </p:nvSpPr>
        <p:spPr>
          <a:xfrm>
            <a:off x="6199632" y="6263640"/>
            <a:ext cx="5577840" cy="4572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263640"/>
            <a:ext cx="68580" cy="4572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 4 is the one that matters</a:t>
            </a:r>
          </a:p>
        </p:txBody>
      </p:sp>
      <p:sp>
        <p:nvSpPr>
          <p:cNvPr id="46" name="TextBox 45"/>
          <p:cNvSpPr txBox="1"/>
          <p:nvPr/>
        </p:nvSpPr>
        <p:spPr>
          <a:xfrm>
            <a:off x="6419088" y="6665976"/>
            <a:ext cx="5166360" cy="-457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is what turns "promising" into "we know it is accurate".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side by side</a:t>
            </a:r>
          </a:p>
        </p:txBody>
      </p:sp>
      <p:sp>
        <p:nvSpPr>
          <p:cNvPr id="9" name="Rectangle 8"/>
          <p:cNvSpPr/>
          <p:nvPr/>
        </p:nvSpPr>
        <p:spPr>
          <a:xfrm>
            <a:off x="411480" y="1828800"/>
            <a:ext cx="4050791"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11096"/>
            <a:ext cx="3904487"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4622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81198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21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CostVision on our rates</a:t>
            </a:r>
          </a:p>
        </p:txBody>
      </p:sp>
      <p:sp>
        <p:nvSpPr>
          <p:cNvPr id="15" name="Rectangle 14"/>
          <p:cNvSpPr/>
          <p:nvPr/>
        </p:nvSpPr>
        <p:spPr>
          <a:xfrm>
            <a:off x="411480" y="2157984"/>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22199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long</a:t>
            </a:r>
          </a:p>
        </p:txBody>
      </p:sp>
      <p:sp>
        <p:nvSpPr>
          <p:cNvPr id="17" name="Rectangle 16"/>
          <p:cNvSpPr/>
          <p:nvPr/>
        </p:nvSpPr>
        <p:spPr>
          <a:xfrm>
            <a:off x="44622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7" y="222199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About 5 months</a:t>
            </a:r>
          </a:p>
        </p:txBody>
      </p:sp>
      <p:sp>
        <p:nvSpPr>
          <p:cNvPr id="19" name="Rectangle 18"/>
          <p:cNvSpPr/>
          <p:nvPr/>
        </p:nvSpPr>
        <p:spPr>
          <a:xfrm>
            <a:off x="81198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7" y="222199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2 to 3 months</a:t>
            </a:r>
          </a:p>
        </p:txBody>
      </p:sp>
      <p:sp>
        <p:nvSpPr>
          <p:cNvPr id="21" name="Rectangle 20"/>
          <p:cNvSpPr/>
          <p:nvPr/>
        </p:nvSpPr>
        <p:spPr>
          <a:xfrm>
            <a:off x="411480" y="2560320"/>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62432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Who does most of the work</a:t>
            </a:r>
          </a:p>
        </p:txBody>
      </p:sp>
      <p:sp>
        <p:nvSpPr>
          <p:cNvPr id="23" name="Rectangle 22"/>
          <p:cNvSpPr/>
          <p:nvPr/>
        </p:nvSpPr>
        <p:spPr>
          <a:xfrm>
            <a:off x="44622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7" y="2624328"/>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Us and JLR IT</a:t>
            </a:r>
          </a:p>
        </p:txBody>
      </p:sp>
      <p:sp>
        <p:nvSpPr>
          <p:cNvPr id="25" name="Rectangle 24"/>
          <p:cNvSpPr/>
          <p:nvPr/>
        </p:nvSpPr>
        <p:spPr>
          <a:xfrm>
            <a:off x="81198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7" y="2624328"/>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JLR, gathering rates</a:t>
            </a:r>
          </a:p>
        </p:txBody>
      </p:sp>
      <p:sp>
        <p:nvSpPr>
          <p:cNvPr id="27" name="Rectangle 26"/>
          <p:cNvSpPr/>
          <p:nvPr/>
        </p:nvSpPr>
        <p:spPr>
          <a:xfrm>
            <a:off x="411480" y="2962656"/>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2666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Which system does the costing</a:t>
            </a:r>
          </a:p>
        </p:txBody>
      </p:sp>
      <p:sp>
        <p:nvSpPr>
          <p:cNvPr id="29" name="Rectangle 28"/>
          <p:cNvSpPr/>
          <p:nvPr/>
        </p:nvSpPr>
        <p:spPr>
          <a:xfrm>
            <a:off x="44622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4567" y="302666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CAPEE, unchanged</a:t>
            </a:r>
          </a:p>
        </p:txBody>
      </p:sp>
      <p:sp>
        <p:nvSpPr>
          <p:cNvPr id="31" name="Rectangle 30"/>
          <p:cNvSpPr/>
          <p:nvPr/>
        </p:nvSpPr>
        <p:spPr>
          <a:xfrm>
            <a:off x="81198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2167" y="3026664"/>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CostVision, alongside CAPEE</a:t>
            </a:r>
          </a:p>
        </p:txBody>
      </p:sp>
      <p:sp>
        <p:nvSpPr>
          <p:cNvPr id="33" name="Rectangle 32"/>
          <p:cNvSpPr/>
          <p:nvPr/>
        </p:nvSpPr>
        <p:spPr>
          <a:xfrm>
            <a:off x="411480" y="3364992"/>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2900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the engineer learn a new tool</a:t>
            </a:r>
          </a:p>
        </p:txBody>
      </p:sp>
      <p:sp>
        <p:nvSpPr>
          <p:cNvPr id="35" name="Rectangle 34"/>
          <p:cNvSpPr/>
          <p:nvPr/>
        </p:nvSpPr>
        <p:spPr>
          <a:xfrm>
            <a:off x="44622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7" y="342900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 — same CAPEE screens</a:t>
            </a:r>
          </a:p>
        </p:txBody>
      </p:sp>
      <p:sp>
        <p:nvSpPr>
          <p:cNvPr id="37" name="Rectangle 36"/>
          <p:cNvSpPr/>
          <p:nvPr/>
        </p:nvSpPr>
        <p:spPr>
          <a:xfrm>
            <a:off x="81198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21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Yes</a:t>
            </a:r>
          </a:p>
        </p:txBody>
      </p:sp>
      <p:sp>
        <p:nvSpPr>
          <p:cNvPr id="39" name="Rectangle 38"/>
          <p:cNvSpPr/>
          <p:nvPr/>
        </p:nvSpPr>
        <p:spPr>
          <a:xfrm>
            <a:off x="411480" y="3767328"/>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831336"/>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the full costing engine</a:t>
            </a:r>
          </a:p>
        </p:txBody>
      </p:sp>
      <p:sp>
        <p:nvSpPr>
          <p:cNvPr id="41" name="Rectangle 40"/>
          <p:cNvSpPr/>
          <p:nvPr/>
        </p:nvSpPr>
        <p:spPr>
          <a:xfrm>
            <a:off x="44622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44567" y="3831336"/>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3" name="Rectangle 42"/>
          <p:cNvSpPr/>
          <p:nvPr/>
        </p:nvSpPr>
        <p:spPr>
          <a:xfrm>
            <a:off x="81198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02167" y="3831336"/>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45" name="Rectangle 44"/>
          <p:cNvSpPr/>
          <p:nvPr/>
        </p:nvSpPr>
        <p:spPr>
          <a:xfrm>
            <a:off x="411480" y="4169664"/>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23367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the cost-saving suggestions</a:t>
            </a:r>
          </a:p>
        </p:txBody>
      </p:sp>
      <p:sp>
        <p:nvSpPr>
          <p:cNvPr id="47" name="Rectangle 46"/>
          <p:cNvSpPr/>
          <p:nvPr/>
        </p:nvSpPr>
        <p:spPr>
          <a:xfrm>
            <a:off x="44622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7" y="423367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9" name="Rectangle 48"/>
          <p:cNvSpPr/>
          <p:nvPr/>
        </p:nvSpPr>
        <p:spPr>
          <a:xfrm>
            <a:off x="81198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02167" y="423367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51" name="Rectangle 50"/>
          <p:cNvSpPr/>
          <p:nvPr/>
        </p:nvSpPr>
        <p:spPr>
          <a:xfrm>
            <a:off x="411480" y="4572000"/>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63600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it tell us how accurate it is</a:t>
            </a:r>
          </a:p>
        </p:txBody>
      </p:sp>
      <p:sp>
        <p:nvSpPr>
          <p:cNvPr id="53" name="Rectangle 52"/>
          <p:cNvSpPr/>
          <p:nvPr/>
        </p:nvSpPr>
        <p:spPr>
          <a:xfrm>
            <a:off x="44622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No</a:t>
            </a:r>
          </a:p>
        </p:txBody>
      </p:sp>
      <p:sp>
        <p:nvSpPr>
          <p:cNvPr id="55" name="Rectangle 54"/>
          <p:cNvSpPr/>
          <p:nvPr/>
        </p:nvSpPr>
        <p:spPr>
          <a:xfrm>
            <a:off x="81198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021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 — step 4</a:t>
            </a:r>
          </a:p>
        </p:txBody>
      </p:sp>
      <p:sp>
        <p:nvSpPr>
          <p:cNvPr id="57" name="Rectangle 56"/>
          <p:cNvSpPr/>
          <p:nvPr/>
        </p:nvSpPr>
        <p:spPr>
          <a:xfrm>
            <a:off x="411480" y="4974336"/>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3834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Can we stop if we do not like it</a:t>
            </a:r>
          </a:p>
        </p:txBody>
      </p:sp>
      <p:sp>
        <p:nvSpPr>
          <p:cNvPr id="59" name="Rectangle 58"/>
          <p:cNvSpPr/>
          <p:nvPr/>
        </p:nvSpPr>
        <p:spPr>
          <a:xfrm>
            <a:off x="44622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445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Hard — it is inside CAPEE</a:t>
            </a:r>
          </a:p>
        </p:txBody>
      </p:sp>
      <p:sp>
        <p:nvSpPr>
          <p:cNvPr id="61" name="Rectangle 60"/>
          <p:cNvSpPr/>
          <p:nvPr/>
        </p:nvSpPr>
        <p:spPr>
          <a:xfrm>
            <a:off x="81198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021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Easy — switch it off</a:t>
            </a:r>
          </a:p>
        </p:txBody>
      </p:sp>
      <p:sp>
        <p:nvSpPr>
          <p:cNvPr id="63" name="Rectangle 62"/>
          <p:cNvSpPr/>
          <p:nvPr/>
        </p:nvSpPr>
        <p:spPr>
          <a:xfrm>
            <a:off x="411480" y="5376672"/>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44068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it depend on an unknown</a:t>
            </a:r>
          </a:p>
        </p:txBody>
      </p:sp>
      <p:sp>
        <p:nvSpPr>
          <p:cNvPr id="65" name="Rectangle 64"/>
          <p:cNvSpPr/>
          <p:nvPr/>
        </p:nvSpPr>
        <p:spPr>
          <a:xfrm>
            <a:off x="44622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445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Yes — how CAPEE is built</a:t>
            </a:r>
          </a:p>
        </p:txBody>
      </p:sp>
      <p:sp>
        <p:nvSpPr>
          <p:cNvPr id="67" name="Rectangle 66"/>
          <p:cNvSpPr/>
          <p:nvPr/>
        </p:nvSpPr>
        <p:spPr>
          <a:xfrm>
            <a:off x="81198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021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a:t>
            </a:r>
          </a:p>
        </p:txBody>
      </p:sp>
      <p:sp>
        <p:nvSpPr>
          <p:cNvPr id="69" name="Rounded Rectangle 68"/>
          <p:cNvSpPr/>
          <p:nvPr/>
        </p:nvSpPr>
        <p:spPr>
          <a:xfrm>
            <a:off x="411480" y="580644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80644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9253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Look at the bottom three rows together</a:t>
            </a:r>
          </a:p>
        </p:txBody>
      </p:sp>
      <p:sp>
        <p:nvSpPr>
          <p:cNvPr id="72" name="TextBox 71"/>
          <p:cNvSpPr txBox="1"/>
          <p:nvPr/>
        </p:nvSpPr>
        <p:spPr>
          <a:xfrm>
            <a:off x="630936" y="62087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tells us whether the tool is accurate, we can stop it if we want to, and it does not wait on anything. Option 1 is none of those three. That is the whole argument for doing them in that order.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ANSWER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recommend</a:t>
            </a:r>
          </a:p>
        </p:txBody>
      </p:sp>
      <p:sp>
        <p:nvSpPr>
          <p:cNvPr id="9" name="Rounded Rectangle 8"/>
          <p:cNvSpPr/>
          <p:nvPr/>
        </p:nvSpPr>
        <p:spPr>
          <a:xfrm>
            <a:off x="411480" y="1691640"/>
            <a:ext cx="11365992" cy="9601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810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Do Option 2 first. Then Option 1, using what we learn from it.</a:t>
            </a:r>
          </a:p>
        </p:txBody>
      </p:sp>
      <p:sp>
        <p:nvSpPr>
          <p:cNvPr id="12" name="TextBox 11"/>
          <p:cNvSpPr txBox="1"/>
          <p:nvPr/>
        </p:nvSpPr>
        <p:spPr>
          <a:xfrm>
            <a:off x="630936" y="209397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These are not really two competing choices. Option 2 is quicker, we can stop it at any point, and it answers the one question Option 1 cannot answer for itself — is this tool actually getting the right number on JLR parts.</a:t>
            </a:r>
          </a:p>
        </p:txBody>
      </p:sp>
      <p:sp>
        <p:nvSpPr>
          <p:cNvPr id="13" name="Rounded Rectangle 12"/>
          <p:cNvSpPr/>
          <p:nvPr/>
        </p:nvSpPr>
        <p:spPr>
          <a:xfrm>
            <a:off x="411480" y="2880360"/>
            <a:ext cx="3721608" cy="22860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80360"/>
            <a:ext cx="372160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3063240"/>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ins.png"/>
          <p:cNvPicPr>
            <a:picLocks noChangeAspect="1"/>
          </p:cNvPicPr>
          <p:nvPr/>
        </p:nvPicPr>
        <p:blipFill>
          <a:blip r:embed="rId2"/>
          <a:stretch>
            <a:fillRect/>
          </a:stretch>
        </p:blipFill>
        <p:spPr>
          <a:xfrm>
            <a:off x="810158" y="3205886"/>
            <a:ext cx="263348" cy="263348"/>
          </a:xfrm>
          <a:prstGeom prst="rect">
            <a:avLst/>
          </a:prstGeom>
        </p:spPr>
      </p:pic>
      <p:sp>
        <p:nvSpPr>
          <p:cNvPr id="17" name="TextBox 16"/>
          <p:cNvSpPr txBox="1"/>
          <p:nvPr/>
        </p:nvSpPr>
        <p:spPr>
          <a:xfrm>
            <a:off x="1371600" y="309067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Q1</a:t>
            </a:r>
          </a:p>
        </p:txBody>
      </p:sp>
      <p:sp>
        <p:nvSpPr>
          <p:cNvPr id="18" name="TextBox 17"/>
          <p:cNvSpPr txBox="1"/>
          <p:nvPr/>
        </p:nvSpPr>
        <p:spPr>
          <a:xfrm>
            <a:off x="1371600" y="331012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Do Option 2</a:t>
            </a:r>
          </a:p>
        </p:txBody>
      </p:sp>
      <p:sp>
        <p:nvSpPr>
          <p:cNvPr id="19" name="TextBox 18"/>
          <p:cNvSpPr txBox="1"/>
          <p:nvPr/>
        </p:nvSpPr>
        <p:spPr>
          <a:xfrm>
            <a:off x="667512" y="3794760"/>
            <a:ext cx="3200400" cy="82296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Install it. Load our rates. Check it against 30 to 50 parts we have really bought.</a:t>
            </a:r>
          </a:p>
        </p:txBody>
      </p:sp>
      <p:sp>
        <p:nvSpPr>
          <p:cNvPr id="20" name="TextBox 19"/>
          <p:cNvSpPr txBox="1"/>
          <p:nvPr/>
        </p:nvSpPr>
        <p:spPr>
          <a:xfrm>
            <a:off x="667512" y="4663440"/>
            <a:ext cx="3200400" cy="411480"/>
          </a:xfrm>
          <a:prstGeom prst="rect">
            <a:avLst/>
          </a:prstGeom>
          <a:noFill/>
        </p:spPr>
        <p:txBody>
          <a:bodyPr wrap="square" anchor="t" lIns="0" rIns="0" tIns="0" bIns="0">
            <a:spAutoFit/>
          </a:bodyPr>
          <a:lstStyle/>
          <a:p>
            <a:pPr algn="l">
              <a:lnSpc>
                <a:spcPct val="115000"/>
              </a:lnSpc>
              <a:spcAft>
                <a:spcPts val="400"/>
              </a:spcAft>
            </a:pPr>
            <a:r>
              <a:rPr sz="1050" b="1" i="0">
                <a:solidFill>
                  <a:srgbClr val="2E8B57"/>
                </a:solidFill>
                <a:latin typeface="Calibri"/>
              </a:rPr>
              <a:t>We end up knowing how accurate it is.</a:t>
            </a:r>
          </a:p>
        </p:txBody>
      </p:sp>
      <p:sp>
        <p:nvSpPr>
          <p:cNvPr id="21" name="Rounded Rectangle 20"/>
          <p:cNvSpPr/>
          <p:nvPr/>
        </p:nvSpPr>
        <p:spPr>
          <a:xfrm>
            <a:off x="4233671" y="2880360"/>
            <a:ext cx="3721608" cy="22860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33671" y="2880360"/>
            <a:ext cx="372160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89703" y="306324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ye.png"/>
          <p:cNvPicPr>
            <a:picLocks noChangeAspect="1"/>
          </p:cNvPicPr>
          <p:nvPr/>
        </p:nvPicPr>
        <p:blipFill>
          <a:blip r:embed="rId3"/>
          <a:stretch>
            <a:fillRect/>
          </a:stretch>
        </p:blipFill>
        <p:spPr>
          <a:xfrm>
            <a:off x="4632349" y="3205886"/>
            <a:ext cx="263348" cy="263348"/>
          </a:xfrm>
          <a:prstGeom prst="rect">
            <a:avLst/>
          </a:prstGeom>
        </p:spPr>
      </p:pic>
      <p:sp>
        <p:nvSpPr>
          <p:cNvPr id="25" name="TextBox 24"/>
          <p:cNvSpPr txBox="1"/>
          <p:nvPr/>
        </p:nvSpPr>
        <p:spPr>
          <a:xfrm>
            <a:off x="5193791" y="309067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Q2</a:t>
            </a:r>
          </a:p>
        </p:txBody>
      </p:sp>
      <p:sp>
        <p:nvSpPr>
          <p:cNvPr id="26" name="TextBox 25"/>
          <p:cNvSpPr txBox="1"/>
          <p:nvPr/>
        </p:nvSpPr>
        <p:spPr>
          <a:xfrm>
            <a:off x="5193791" y="331012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Decide</a:t>
            </a:r>
          </a:p>
        </p:txBody>
      </p:sp>
      <p:sp>
        <p:nvSpPr>
          <p:cNvPr id="27" name="TextBox 26"/>
          <p:cNvSpPr txBox="1"/>
          <p:nvPr/>
        </p:nvSpPr>
        <p:spPr>
          <a:xfrm>
            <a:off x="4489703" y="3794760"/>
            <a:ext cx="3200400" cy="82296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Look at the accuracy results. Get the answer from IT on how CAPEE is built.</a:t>
            </a:r>
          </a:p>
        </p:txBody>
      </p:sp>
      <p:sp>
        <p:nvSpPr>
          <p:cNvPr id="28" name="TextBox 27"/>
          <p:cNvSpPr txBox="1"/>
          <p:nvPr/>
        </p:nvSpPr>
        <p:spPr>
          <a:xfrm>
            <a:off x="4489703" y="4663440"/>
            <a:ext cx="3200400" cy="411480"/>
          </a:xfrm>
          <a:prstGeom prst="rect">
            <a:avLst/>
          </a:prstGeom>
          <a:noFill/>
        </p:spPr>
        <p:txBody>
          <a:bodyPr wrap="square" anchor="t" lIns="0" rIns="0" tIns="0" bIns="0">
            <a:spAutoFit/>
          </a:bodyPr>
          <a:lstStyle/>
          <a:p>
            <a:pPr algn="l">
              <a:lnSpc>
                <a:spcPct val="115000"/>
              </a:lnSpc>
              <a:spcAft>
                <a:spcPts val="400"/>
              </a:spcAft>
            </a:pPr>
            <a:r>
              <a:rPr sz="1050" b="1" i="0">
                <a:solidFill>
                  <a:srgbClr val="1D6FB8"/>
                </a:solidFill>
                <a:latin typeface="Calibri"/>
              </a:rPr>
              <a:t>We choose with evidence instead of hope.</a:t>
            </a:r>
          </a:p>
        </p:txBody>
      </p:sp>
      <p:sp>
        <p:nvSpPr>
          <p:cNvPr id="29" name="Rounded Rectangle 28"/>
          <p:cNvSpPr/>
          <p:nvPr/>
        </p:nvSpPr>
        <p:spPr>
          <a:xfrm>
            <a:off x="8055862" y="2880360"/>
            <a:ext cx="3721608" cy="22860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55862" y="2880360"/>
            <a:ext cx="372160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311894" y="3063240"/>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4"/>
          <a:stretch>
            <a:fillRect/>
          </a:stretch>
        </p:blipFill>
        <p:spPr>
          <a:xfrm>
            <a:off x="8454540" y="3205886"/>
            <a:ext cx="263348" cy="263348"/>
          </a:xfrm>
          <a:prstGeom prst="rect">
            <a:avLst/>
          </a:prstGeom>
        </p:spPr>
      </p:pic>
      <p:sp>
        <p:nvSpPr>
          <p:cNvPr id="33" name="TextBox 32"/>
          <p:cNvSpPr txBox="1"/>
          <p:nvPr/>
        </p:nvSpPr>
        <p:spPr>
          <a:xfrm>
            <a:off x="9015982" y="309067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Q3</a:t>
            </a:r>
          </a:p>
        </p:txBody>
      </p:sp>
      <p:sp>
        <p:nvSpPr>
          <p:cNvPr id="34" name="TextBox 33"/>
          <p:cNvSpPr txBox="1"/>
          <p:nvPr/>
        </p:nvSpPr>
        <p:spPr>
          <a:xfrm>
            <a:off x="9015982" y="331012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Do Option 1</a:t>
            </a:r>
          </a:p>
        </p:txBody>
      </p:sp>
      <p:sp>
        <p:nvSpPr>
          <p:cNvPr id="35" name="TextBox 34"/>
          <p:cNvSpPr txBox="1"/>
          <p:nvPr/>
        </p:nvSpPr>
        <p:spPr>
          <a:xfrm>
            <a:off x="8311894" y="3794760"/>
            <a:ext cx="3200400" cy="82296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Feed CAPEE automatically, starting with one part type.</a:t>
            </a:r>
          </a:p>
        </p:txBody>
      </p:sp>
      <p:sp>
        <p:nvSpPr>
          <p:cNvPr id="36" name="TextBox 35"/>
          <p:cNvSpPr txBox="1"/>
          <p:nvPr/>
        </p:nvSpPr>
        <p:spPr>
          <a:xfrm>
            <a:off x="8311894" y="4663440"/>
            <a:ext cx="3200400" cy="411480"/>
          </a:xfrm>
          <a:prstGeom prst="rect">
            <a:avLst/>
          </a:prstGeom>
          <a:noFill/>
        </p:spPr>
        <p:txBody>
          <a:bodyPr wrap="square" anchor="t" lIns="0" rIns="0" tIns="0" bIns="0">
            <a:spAutoFit/>
          </a:bodyPr>
          <a:lstStyle/>
          <a:p>
            <a:pPr algn="l">
              <a:lnSpc>
                <a:spcPct val="115000"/>
              </a:lnSpc>
              <a:spcAft>
                <a:spcPts val="400"/>
              </a:spcAft>
            </a:pPr>
            <a:r>
              <a:rPr sz="1050" b="1" i="0">
                <a:solidFill>
                  <a:srgbClr val="6B3FA0"/>
                </a:solidFill>
                <a:latin typeface="Calibri"/>
              </a:rPr>
              <a:t>We are scaling something proven, not taking a bet.</a:t>
            </a:r>
          </a:p>
        </p:txBody>
      </p:sp>
      <p:sp>
        <p:nvSpPr>
          <p:cNvPr id="37" name="Rounded Rectangle 3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34924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If we can only afford one, do Option 2</a:t>
            </a:r>
          </a:p>
        </p:txBody>
      </p:sp>
      <p:sp>
        <p:nvSpPr>
          <p:cNvPr id="40" name="TextBox 3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It is cheaper, faster, we can reverse it, it needs no answer from IT first, and it gives us the full costing engine and the cost-saving suggestions. Option 1 saves typing. Option 2 gives us a capability we do not have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BEING STRAIGHT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could go wrong — said plainly</a:t>
            </a:r>
          </a:p>
        </p:txBody>
      </p:sp>
      <p:sp>
        <p:nvSpPr>
          <p:cNvPr id="9" name="Rectangle 8"/>
          <p:cNvSpPr/>
          <p:nvPr/>
        </p:nvSpPr>
        <p:spPr>
          <a:xfrm>
            <a:off x="411480" y="182880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1109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11" name="Rectangle 10"/>
          <p:cNvSpPr/>
          <p:nvPr/>
        </p:nvSpPr>
        <p:spPr>
          <a:xfrm>
            <a:off x="3429000" y="182880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1296" y="191109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Affects</a:t>
            </a:r>
          </a:p>
        </p:txBody>
      </p:sp>
      <p:sp>
        <p:nvSpPr>
          <p:cNvPr id="13" name="Rectangle 12"/>
          <p:cNvSpPr/>
          <p:nvPr/>
        </p:nvSpPr>
        <p:spPr>
          <a:xfrm>
            <a:off x="4480560" y="1828800"/>
            <a:ext cx="61081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1911096"/>
            <a:ext cx="59618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and what we do about it</a:t>
            </a:r>
          </a:p>
        </p:txBody>
      </p:sp>
      <p:sp>
        <p:nvSpPr>
          <p:cNvPr id="15" name="Rectangle 14"/>
          <p:cNvSpPr/>
          <p:nvPr/>
        </p:nvSpPr>
        <p:spPr>
          <a:xfrm>
            <a:off x="10588752" y="182880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91109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serious</a:t>
            </a:r>
          </a:p>
        </p:txBody>
      </p:sp>
      <p:sp>
        <p:nvSpPr>
          <p:cNvPr id="17" name="Rectangle 16"/>
          <p:cNvSpPr/>
          <p:nvPr/>
        </p:nvSpPr>
        <p:spPr>
          <a:xfrm>
            <a:off x="411480" y="2157984"/>
            <a:ext cx="30175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221992"/>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We do not know how accurate it is</a:t>
            </a:r>
          </a:p>
        </p:txBody>
      </p:sp>
      <p:sp>
        <p:nvSpPr>
          <p:cNvPr id="19" name="Rectangle 18"/>
          <p:cNvSpPr/>
          <p:nvPr/>
        </p:nvSpPr>
        <p:spPr>
          <a:xfrm>
            <a:off x="3429000" y="2157984"/>
            <a:ext cx="105156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1296" y="2221992"/>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Both</a:t>
            </a:r>
          </a:p>
        </p:txBody>
      </p:sp>
      <p:sp>
        <p:nvSpPr>
          <p:cNvPr id="21" name="Rectangle 20"/>
          <p:cNvSpPr/>
          <p:nvPr/>
        </p:nvSpPr>
        <p:spPr>
          <a:xfrm>
            <a:off x="4480560" y="2157984"/>
            <a:ext cx="6108192"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221992"/>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We have never compared it against a real price we paid. Fixed by step 4 of Option 2.</a:t>
            </a:r>
          </a:p>
        </p:txBody>
      </p:sp>
      <p:sp>
        <p:nvSpPr>
          <p:cNvPr id="23" name="Rectangle 22"/>
          <p:cNvSpPr/>
          <p:nvPr/>
        </p:nvSpPr>
        <p:spPr>
          <a:xfrm>
            <a:off x="10588752" y="2157984"/>
            <a:ext cx="11887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221992"/>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03A2E"/>
                </a:solidFill>
                <a:latin typeface="Calibri"/>
              </a:rPr>
              <a:t>Biggest</a:t>
            </a:r>
          </a:p>
        </p:txBody>
      </p:sp>
      <p:sp>
        <p:nvSpPr>
          <p:cNvPr id="25" name="Rectangle 24"/>
          <p:cNvSpPr/>
          <p:nvPr/>
        </p:nvSpPr>
        <p:spPr>
          <a:xfrm>
            <a:off x="411480" y="2779776"/>
            <a:ext cx="30175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843784"/>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It cannot reproduce an old costing</a:t>
            </a:r>
          </a:p>
        </p:txBody>
      </p:sp>
      <p:sp>
        <p:nvSpPr>
          <p:cNvPr id="27" name="Rectangle 26"/>
          <p:cNvSpPr/>
          <p:nvPr/>
        </p:nvSpPr>
        <p:spPr>
          <a:xfrm>
            <a:off x="3429000" y="2779776"/>
            <a:ext cx="105156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1296" y="2843784"/>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Option 2</a:t>
            </a:r>
          </a:p>
        </p:txBody>
      </p:sp>
      <p:sp>
        <p:nvSpPr>
          <p:cNvPr id="29" name="Rectangle 28"/>
          <p:cNvSpPr/>
          <p:nvPr/>
        </p:nvSpPr>
        <p:spPr>
          <a:xfrm>
            <a:off x="4480560" y="2779776"/>
            <a:ext cx="6108192"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2856" y="2843784"/>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 history of rate changes, no saved costings. Needs fixing before we rely on it for audit.</a:t>
            </a:r>
          </a:p>
        </p:txBody>
      </p:sp>
      <p:sp>
        <p:nvSpPr>
          <p:cNvPr id="31" name="Rectangle 30"/>
          <p:cNvSpPr/>
          <p:nvPr/>
        </p:nvSpPr>
        <p:spPr>
          <a:xfrm>
            <a:off x="10588752" y="2779776"/>
            <a:ext cx="11887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843784"/>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03A2E"/>
                </a:solidFill>
                <a:latin typeface="Calibri"/>
              </a:rPr>
              <a:t>Big</a:t>
            </a:r>
          </a:p>
        </p:txBody>
      </p:sp>
      <p:sp>
        <p:nvSpPr>
          <p:cNvPr id="33" name="Rectangle 32"/>
          <p:cNvSpPr/>
          <p:nvPr/>
        </p:nvSpPr>
        <p:spPr>
          <a:xfrm>
            <a:off x="411480" y="3401568"/>
            <a:ext cx="30175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65576"/>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We do not know how CAPEE is built</a:t>
            </a:r>
          </a:p>
        </p:txBody>
      </p:sp>
      <p:sp>
        <p:nvSpPr>
          <p:cNvPr id="35" name="Rectangle 34"/>
          <p:cNvSpPr/>
          <p:nvPr/>
        </p:nvSpPr>
        <p:spPr>
          <a:xfrm>
            <a:off x="3429000" y="3401568"/>
            <a:ext cx="105156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11296" y="3465576"/>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Option 1</a:t>
            </a:r>
          </a:p>
        </p:txBody>
      </p:sp>
      <p:sp>
        <p:nvSpPr>
          <p:cNvPr id="37" name="Rectangle 36"/>
          <p:cNvSpPr/>
          <p:nvPr/>
        </p:nvSpPr>
        <p:spPr>
          <a:xfrm>
            <a:off x="4480560" y="3401568"/>
            <a:ext cx="6108192"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62856" y="3465576"/>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Holds up the timing, not the feasibility. One answer from IT unblocks it.</a:t>
            </a:r>
          </a:p>
        </p:txBody>
      </p:sp>
      <p:sp>
        <p:nvSpPr>
          <p:cNvPr id="39" name="Rectangle 38"/>
          <p:cNvSpPr/>
          <p:nvPr/>
        </p:nvSpPr>
        <p:spPr>
          <a:xfrm>
            <a:off x="10588752" y="3401568"/>
            <a:ext cx="11887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465576"/>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7791F"/>
                </a:solidFill>
                <a:latin typeface="Calibri"/>
              </a:rPr>
              <a:t>Big</a:t>
            </a:r>
          </a:p>
        </p:txBody>
      </p:sp>
      <p:sp>
        <p:nvSpPr>
          <p:cNvPr id="41" name="Rectangle 40"/>
          <p:cNvSpPr/>
          <p:nvPr/>
        </p:nvSpPr>
        <p:spPr>
          <a:xfrm>
            <a:off x="411480" y="4023360"/>
            <a:ext cx="30175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4087368"/>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The built-in numbers are our estimates</a:t>
            </a:r>
          </a:p>
        </p:txBody>
      </p:sp>
      <p:sp>
        <p:nvSpPr>
          <p:cNvPr id="43" name="Rectangle 42"/>
          <p:cNvSpPr/>
          <p:nvPr/>
        </p:nvSpPr>
        <p:spPr>
          <a:xfrm>
            <a:off x="3429000" y="4023360"/>
            <a:ext cx="105156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11296" y="4087368"/>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Both</a:t>
            </a:r>
          </a:p>
        </p:txBody>
      </p:sp>
      <p:sp>
        <p:nvSpPr>
          <p:cNvPr id="45" name="Rectangle 44"/>
          <p:cNvSpPr/>
          <p:nvPr/>
        </p:nvSpPr>
        <p:spPr>
          <a:xfrm>
            <a:off x="4480560" y="4023360"/>
            <a:ext cx="6108192"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62856" y="4087368"/>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Sensible starting points, not JLR plant measurements. Replaced as we load our own data.</a:t>
            </a:r>
          </a:p>
        </p:txBody>
      </p:sp>
      <p:sp>
        <p:nvSpPr>
          <p:cNvPr id="47" name="Rectangle 46"/>
          <p:cNvSpPr/>
          <p:nvPr/>
        </p:nvSpPr>
        <p:spPr>
          <a:xfrm>
            <a:off x="10588752" y="4023360"/>
            <a:ext cx="11887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4087368"/>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7791F"/>
                </a:solidFill>
                <a:latin typeface="Calibri"/>
              </a:rPr>
              <a:t>Medium</a:t>
            </a:r>
          </a:p>
        </p:txBody>
      </p:sp>
      <p:sp>
        <p:nvSpPr>
          <p:cNvPr id="49" name="Rectangle 48"/>
          <p:cNvSpPr/>
          <p:nvPr/>
        </p:nvSpPr>
        <p:spPr>
          <a:xfrm>
            <a:off x="411480" y="4645152"/>
            <a:ext cx="30175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709160"/>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Server type</a:t>
            </a:r>
          </a:p>
        </p:txBody>
      </p:sp>
      <p:sp>
        <p:nvSpPr>
          <p:cNvPr id="51" name="Rectangle 50"/>
          <p:cNvSpPr/>
          <p:nvPr/>
        </p:nvSpPr>
        <p:spPr>
          <a:xfrm>
            <a:off x="3429000" y="4645152"/>
            <a:ext cx="105156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11296" y="4709160"/>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Option 1</a:t>
            </a:r>
          </a:p>
        </p:txBody>
      </p:sp>
      <p:sp>
        <p:nvSpPr>
          <p:cNvPr id="53" name="Rectangle 52"/>
          <p:cNvSpPr/>
          <p:nvPr/>
        </p:nvSpPr>
        <p:spPr>
          <a:xfrm>
            <a:off x="4480560" y="4645152"/>
            <a:ext cx="6108192"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62856" y="4709160"/>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measuring software needs an ordinary Linux server. Easy to confirm, awkward if missed.</a:t>
            </a:r>
          </a:p>
        </p:txBody>
      </p:sp>
      <p:sp>
        <p:nvSpPr>
          <p:cNvPr id="55" name="Rectangle 54"/>
          <p:cNvSpPr/>
          <p:nvPr/>
        </p:nvSpPr>
        <p:spPr>
          <a:xfrm>
            <a:off x="10588752" y="4645152"/>
            <a:ext cx="1188720" cy="62179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709160"/>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7791F"/>
                </a:solidFill>
                <a:latin typeface="Calibri"/>
              </a:rPr>
              <a:t>Medium</a:t>
            </a:r>
          </a:p>
        </p:txBody>
      </p:sp>
      <p:sp>
        <p:nvSpPr>
          <p:cNvPr id="57" name="Rectangle 56"/>
          <p:cNvSpPr/>
          <p:nvPr/>
        </p:nvSpPr>
        <p:spPr>
          <a:xfrm>
            <a:off x="411480" y="5266944"/>
            <a:ext cx="30175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330952"/>
            <a:ext cx="28712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16325C"/>
                </a:solidFill>
                <a:latin typeface="Calibri"/>
              </a:rPr>
              <a:t>Drawing text goes to an AI</a:t>
            </a:r>
          </a:p>
        </p:txBody>
      </p:sp>
      <p:sp>
        <p:nvSpPr>
          <p:cNvPr id="59" name="Rectangle 58"/>
          <p:cNvSpPr/>
          <p:nvPr/>
        </p:nvSpPr>
        <p:spPr>
          <a:xfrm>
            <a:off x="3429000" y="5266944"/>
            <a:ext cx="105156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11296" y="5330952"/>
            <a:ext cx="905256"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Both</a:t>
            </a:r>
          </a:p>
        </p:txBody>
      </p:sp>
      <p:sp>
        <p:nvSpPr>
          <p:cNvPr id="61" name="Rectangle 60"/>
          <p:cNvSpPr/>
          <p:nvPr/>
        </p:nvSpPr>
        <p:spPr>
          <a:xfrm>
            <a:off x="4480560" y="5266944"/>
            <a:ext cx="6108192"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62856" y="5330952"/>
            <a:ext cx="5961888" cy="53035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Only short pieces of text, and it can go via JLR's own AI service. The CAD file never leaves.</a:t>
            </a:r>
          </a:p>
        </p:txBody>
      </p:sp>
      <p:sp>
        <p:nvSpPr>
          <p:cNvPr id="63" name="Rectangle 62"/>
          <p:cNvSpPr/>
          <p:nvPr/>
        </p:nvSpPr>
        <p:spPr>
          <a:xfrm>
            <a:off x="10588752" y="5266944"/>
            <a:ext cx="1188720" cy="62179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5330952"/>
            <a:ext cx="1042416" cy="530352"/>
          </a:xfrm>
          <a:prstGeom prst="rect">
            <a:avLst/>
          </a:prstGeom>
          <a:noFill/>
        </p:spPr>
        <p:txBody>
          <a:bodyPr wrap="square" anchor="t" lIns="0" rIns="0" tIns="0" bIns="0">
            <a:spAutoFit/>
          </a:bodyPr>
          <a:lstStyle/>
          <a:p>
            <a:pPr algn="l">
              <a:lnSpc>
                <a:spcPct val="100000"/>
              </a:lnSpc>
              <a:spcAft>
                <a:spcPts val="400"/>
              </a:spcAft>
            </a:pPr>
            <a:r>
              <a:rPr sz="1000" b="1" i="0">
                <a:solidFill>
                  <a:srgbClr val="B7791F"/>
                </a:solidFill>
                <a:latin typeface="Calibri"/>
              </a:rPr>
              <a:t>Medium</a:t>
            </a:r>
          </a:p>
        </p:txBody>
      </p:sp>
      <p:sp>
        <p:nvSpPr>
          <p:cNvPr id="65" name="Rounded Rectangle 64"/>
          <p:cNvSpPr/>
          <p:nvPr/>
        </p:nvSpPr>
        <p:spPr>
          <a:xfrm>
            <a:off x="411480" y="580644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11480" y="580644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30936" y="59253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I am showing you this rather than hiding it</a:t>
            </a:r>
          </a:p>
        </p:txBody>
      </p:sp>
      <p:sp>
        <p:nvSpPr>
          <p:cNvPr id="68" name="TextBox 67"/>
          <p:cNvSpPr txBox="1"/>
          <p:nvPr/>
        </p:nvSpPr>
        <p:spPr>
          <a:xfrm>
            <a:off x="630936" y="62087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costing tool earns trust by being honest about what it does not know. Every one of these is fixable, and the top two are both fixed by doing Option 2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78308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1097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9844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417320" y="2039112"/>
            <a:ext cx="219456" cy="219456"/>
          </a:xfrm>
          <a:prstGeom prst="rect">
            <a:avLst/>
          </a:prstGeom>
        </p:spPr>
      </p:pic>
      <p:sp>
        <p:nvSpPr>
          <p:cNvPr id="14" name="TextBox 13"/>
          <p:cNvSpPr txBox="1"/>
          <p:nvPr/>
        </p:nvSpPr>
        <p:spPr>
          <a:xfrm>
            <a:off x="1965960" y="193852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30 to 50 parts with the price we actually paid</a:t>
            </a:r>
          </a:p>
        </p:txBody>
      </p:sp>
      <p:sp>
        <p:nvSpPr>
          <p:cNvPr id="15" name="TextBox 14"/>
          <p:cNvSpPr txBox="1"/>
          <p:nvPr/>
        </p:nvSpPr>
        <p:spPr>
          <a:xfrm>
            <a:off x="1965960" y="228600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Part, what it is, how many a year, where it was made, and the real price. Old purchase records are fine. This is the most valuable thing on the list and it unlocks both options.</a:t>
            </a:r>
          </a:p>
        </p:txBody>
      </p:sp>
      <p:sp>
        <p:nvSpPr>
          <p:cNvPr id="16" name="Rounded Rectangle 15"/>
          <p:cNvSpPr/>
          <p:nvPr/>
        </p:nvSpPr>
        <p:spPr>
          <a:xfrm>
            <a:off x="411480" y="297180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971800"/>
            <a:ext cx="68580"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9844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417320" y="3227832"/>
            <a:ext cx="219456" cy="219456"/>
          </a:xfrm>
          <a:prstGeom prst="rect">
            <a:avLst/>
          </a:prstGeom>
        </p:spPr>
      </p:pic>
      <p:sp>
        <p:nvSpPr>
          <p:cNvPr id="21" name="TextBox 20"/>
          <p:cNvSpPr txBox="1"/>
          <p:nvPr/>
        </p:nvSpPr>
        <p:spPr>
          <a:xfrm>
            <a:off x="1965960" y="312724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own rates</a:t>
            </a:r>
          </a:p>
        </p:txBody>
      </p:sp>
      <p:sp>
        <p:nvSpPr>
          <p:cNvPr id="22" name="TextBox 21"/>
          <p:cNvSpPr txBox="1"/>
          <p:nvPr/>
        </p:nvSpPr>
        <p:spPr>
          <a:xfrm>
            <a:off x="1965960" y="347472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Material prices, machine rates per hour, labour by grade, electricity and gas. This is the long pole on Option 2 and worth starting immediately.</a:t>
            </a:r>
          </a:p>
        </p:txBody>
      </p:sp>
      <p:sp>
        <p:nvSpPr>
          <p:cNvPr id="23" name="Rounded Rectangle 22"/>
          <p:cNvSpPr/>
          <p:nvPr/>
        </p:nvSpPr>
        <p:spPr>
          <a:xfrm>
            <a:off x="411480" y="416052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1605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9844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417320" y="4416552"/>
            <a:ext cx="219456" cy="219456"/>
          </a:xfrm>
          <a:prstGeom prst="rect">
            <a:avLst/>
          </a:prstGeom>
        </p:spPr>
      </p:pic>
      <p:sp>
        <p:nvSpPr>
          <p:cNvPr id="28" name="TextBox 27"/>
          <p:cNvSpPr txBox="1"/>
          <p:nvPr/>
        </p:nvSpPr>
        <p:spPr>
          <a:xfrm>
            <a:off x="1965960" y="431596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How CAPEE is built</a:t>
            </a:r>
          </a:p>
        </p:txBody>
      </p:sp>
      <p:sp>
        <p:nvSpPr>
          <p:cNvPr id="29" name="TextBox 28"/>
          <p:cNvSpPr txBox="1"/>
          <p:nvPr/>
        </p:nvSpPr>
        <p:spPr>
          <a:xfrm>
            <a:off x="1965960" y="466344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What it is written in, whether it can call another program on the network, and what kind of server it runs on. Three questions to IT. Unblocks Option 1.</a:t>
            </a:r>
          </a:p>
        </p:txBody>
      </p:sp>
      <p:sp>
        <p:nvSpPr>
          <p:cNvPr id="30" name="Rounded Rectangle 29"/>
          <p:cNvSpPr/>
          <p:nvPr/>
        </p:nvSpPr>
        <p:spPr>
          <a:xfrm>
            <a:off x="411480" y="534924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5349240"/>
            <a:ext cx="68580"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9844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417320" y="5605272"/>
            <a:ext cx="219456" cy="219456"/>
          </a:xfrm>
          <a:prstGeom prst="rect">
            <a:avLst/>
          </a:prstGeom>
        </p:spPr>
      </p:pic>
      <p:sp>
        <p:nvSpPr>
          <p:cNvPr id="35" name="TextBox 34"/>
          <p:cNvSpPr txBox="1"/>
          <p:nvPr/>
        </p:nvSpPr>
        <p:spPr>
          <a:xfrm>
            <a:off x="1965960" y="550468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 decision on the AI part</a:t>
            </a:r>
          </a:p>
        </p:txBody>
      </p:sp>
      <p:sp>
        <p:nvSpPr>
          <p:cNvPr id="36" name="TextBox 35"/>
          <p:cNvSpPr txBox="1"/>
          <p:nvPr/>
        </p:nvSpPr>
        <p:spPr>
          <a:xfrm>
            <a:off x="1965960" y="585216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Either turn the AI reading off entirely and keep the measuring, or route it through JLR's own approved AI service. IT security decides — we have the paperwork ready either way.</a:t>
            </a:r>
          </a:p>
        </p:txBody>
      </p:sp>
      <p:sp>
        <p:nvSpPr>
          <p:cNvPr id="37" name="Rounded Rectangle 36"/>
          <p:cNvSpPr/>
          <p:nvPr/>
        </p:nvSpPr>
        <p:spPr>
          <a:xfrm>
            <a:off x="411480" y="6016752"/>
            <a:ext cx="11365992" cy="5029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6016752"/>
            <a:ext cx="68580"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61356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one to push on is number 1</a:t>
            </a:r>
          </a:p>
        </p:txBody>
      </p:sp>
      <p:sp>
        <p:nvSpPr>
          <p:cNvPr id="40" name="TextBox 39"/>
          <p:cNvSpPr txBox="1"/>
          <p:nvPr/>
        </p:nvSpPr>
        <p:spPr>
          <a:xfrm>
            <a:off x="630936" y="6419088"/>
            <a:ext cx="10954512" cy="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Everything else can run in parallel. Without real prices to compare against, neither option can be signed off as accurate — and that is the question we will be asked.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TIMELINE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Both options on one timeline</a:t>
            </a:r>
          </a:p>
        </p:txBody>
      </p:sp>
      <p:sp>
        <p:nvSpPr>
          <p:cNvPr id="9" name="TextBox 8"/>
          <p:cNvSpPr txBox="1"/>
          <p:nvPr/>
        </p:nvSpPr>
        <p:spPr>
          <a:xfrm>
            <a:off x="411480" y="1600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If we do them in the order we recommend</a:t>
            </a:r>
          </a:p>
        </p:txBody>
      </p:sp>
      <p:sp>
        <p:nvSpPr>
          <p:cNvPr id="10" name="Rectangle 9"/>
          <p:cNvSpPr/>
          <p:nvPr/>
        </p:nvSpPr>
        <p:spPr>
          <a:xfrm>
            <a:off x="411480" y="2057400"/>
            <a:ext cx="11365992" cy="310896"/>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65176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FFFFFF"/>
                </a:solidFill>
                <a:latin typeface="Calibri"/>
              </a:rPr>
              <a:t>QUARTER 1</a:t>
            </a:r>
          </a:p>
        </p:txBody>
      </p:sp>
      <p:sp>
        <p:nvSpPr>
          <p:cNvPr id="12" name="TextBox 11"/>
          <p:cNvSpPr txBox="1"/>
          <p:nvPr/>
        </p:nvSpPr>
        <p:spPr>
          <a:xfrm>
            <a:off x="3383280" y="2121408"/>
            <a:ext cx="265176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FFFFFF"/>
                </a:solidFill>
                <a:latin typeface="Calibri"/>
              </a:rPr>
              <a:t>QUARTER 2</a:t>
            </a:r>
          </a:p>
        </p:txBody>
      </p:sp>
      <p:sp>
        <p:nvSpPr>
          <p:cNvPr id="13" name="TextBox 12"/>
          <p:cNvSpPr txBox="1"/>
          <p:nvPr/>
        </p:nvSpPr>
        <p:spPr>
          <a:xfrm>
            <a:off x="6217920" y="2121408"/>
            <a:ext cx="265176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FFFFFF"/>
                </a:solidFill>
                <a:latin typeface="Calibri"/>
              </a:rPr>
              <a:t>QUARTER 3</a:t>
            </a:r>
          </a:p>
        </p:txBody>
      </p:sp>
      <p:sp>
        <p:nvSpPr>
          <p:cNvPr id="14" name="TextBox 13"/>
          <p:cNvSpPr txBox="1"/>
          <p:nvPr/>
        </p:nvSpPr>
        <p:spPr>
          <a:xfrm>
            <a:off x="9052560" y="2121408"/>
            <a:ext cx="265176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FFFFFF"/>
                </a:solidFill>
                <a:latin typeface="Calibri"/>
              </a:rPr>
              <a:t>QUARTER 4</a:t>
            </a:r>
          </a:p>
        </p:txBody>
      </p:sp>
      <p:sp>
        <p:nvSpPr>
          <p:cNvPr id="15" name="Rounded Rectangle 14"/>
          <p:cNvSpPr/>
          <p:nvPr/>
        </p:nvSpPr>
        <p:spPr>
          <a:xfrm>
            <a:off x="411480" y="2514600"/>
            <a:ext cx="2834640" cy="384048"/>
          </a:xfrm>
          <a:prstGeom prst="roundRect">
            <a:avLst>
              <a:gd name="adj" fmla="val 2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950" b="1">
                <a:solidFill>
                  <a:srgbClr val="FFFFFF"/>
                </a:solidFill>
                <a:latin typeface="Calibri"/>
              </a:rPr>
              <a:t>Option 2 — install, load rates, check accuracy</a:t>
            </a:r>
          </a:p>
        </p:txBody>
      </p:sp>
      <p:sp>
        <p:nvSpPr>
          <p:cNvPr id="16" name="Rounded Rectangle 15"/>
          <p:cNvSpPr/>
          <p:nvPr/>
        </p:nvSpPr>
        <p:spPr>
          <a:xfrm>
            <a:off x="2891790" y="3017520"/>
            <a:ext cx="1417320" cy="384048"/>
          </a:xfrm>
          <a:prstGeom prst="roundRect">
            <a:avLst>
              <a:gd name="adj" fmla="val 2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950" b="1">
                <a:solidFill>
                  <a:srgbClr val="FFFFFF"/>
                </a:solidFill>
                <a:latin typeface="Calibri"/>
              </a:rPr>
              <a:t>Trial with one team</a:t>
            </a:r>
          </a:p>
        </p:txBody>
      </p:sp>
      <p:sp>
        <p:nvSpPr>
          <p:cNvPr id="17" name="Rounded Rectangle 16"/>
          <p:cNvSpPr/>
          <p:nvPr/>
        </p:nvSpPr>
        <p:spPr>
          <a:xfrm>
            <a:off x="4096512" y="3520440"/>
            <a:ext cx="1133856" cy="384048"/>
          </a:xfrm>
          <a:prstGeom prst="roundRect">
            <a:avLst>
              <a:gd name="adj" fmla="val 2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950" b="1">
                <a:solidFill>
                  <a:srgbClr val="FFFFFF"/>
                </a:solidFill>
                <a:latin typeface="Calibri"/>
              </a:rPr>
              <a:t>Decide, using the accuracy results</a:t>
            </a:r>
          </a:p>
        </p:txBody>
      </p:sp>
      <p:sp>
        <p:nvSpPr>
          <p:cNvPr id="18" name="Rounded Rectangle 17"/>
          <p:cNvSpPr/>
          <p:nvPr/>
        </p:nvSpPr>
        <p:spPr>
          <a:xfrm>
            <a:off x="4946904" y="4023360"/>
            <a:ext cx="3118104" cy="384048"/>
          </a:xfrm>
          <a:prstGeom prst="roundRect">
            <a:avLst>
              <a:gd name="adj" fmla="val 2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950" b="1">
                <a:solidFill>
                  <a:srgbClr val="FFFFFF"/>
                </a:solidFill>
                <a:latin typeface="Calibri"/>
              </a:rPr>
              <a:t>Option 1 — feed CAPEE, one part type</a:t>
            </a:r>
          </a:p>
        </p:txBody>
      </p:sp>
      <p:sp>
        <p:nvSpPr>
          <p:cNvPr id="19" name="Rounded Rectangle 18"/>
          <p:cNvSpPr/>
          <p:nvPr/>
        </p:nvSpPr>
        <p:spPr>
          <a:xfrm>
            <a:off x="7781544" y="4526280"/>
            <a:ext cx="2267712" cy="384048"/>
          </a:xfrm>
          <a:prstGeom prst="roundRect">
            <a:avLst>
              <a:gd name="adj" fmla="val 2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950" b="1">
                <a:solidFill>
                  <a:srgbClr val="FFFFFF"/>
                </a:solidFill>
                <a:latin typeface="Calibri"/>
              </a:rPr>
              <a:t>Widen to more part types</a:t>
            </a:r>
          </a:p>
        </p:txBody>
      </p:sp>
      <p:sp>
        <p:nvSpPr>
          <p:cNvPr id="20" name="Rectangle 19"/>
          <p:cNvSpPr/>
          <p:nvPr/>
        </p:nvSpPr>
        <p:spPr>
          <a:xfrm>
            <a:off x="3246120" y="2368296"/>
            <a:ext cx="12700" cy="265176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2368296"/>
            <a:ext cx="12700" cy="265176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15400" y="2368296"/>
            <a:ext cx="12700" cy="265176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11480" y="5166360"/>
            <a:ext cx="5577840" cy="9601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166360"/>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2852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First real value: about month 3</a:t>
            </a:r>
          </a:p>
        </p:txBody>
      </p:sp>
      <p:sp>
        <p:nvSpPr>
          <p:cNvPr id="26" name="TextBox 25"/>
          <p:cNvSpPr txBox="1"/>
          <p:nvPr/>
        </p:nvSpPr>
        <p:spPr>
          <a:xfrm>
            <a:off x="630936" y="5568696"/>
            <a:ext cx="5166360"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working tool on JLR rates, and for the first time a proper answer on how accurate it is.</a:t>
            </a:r>
          </a:p>
        </p:txBody>
      </p:sp>
      <p:sp>
        <p:nvSpPr>
          <p:cNvPr id="27" name="Rounded Rectangle 26"/>
          <p:cNvSpPr/>
          <p:nvPr/>
        </p:nvSpPr>
        <p:spPr>
          <a:xfrm>
            <a:off x="6199632" y="5166360"/>
            <a:ext cx="5577840" cy="96012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9632" y="5166360"/>
            <a:ext cx="68580" cy="960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52852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Automatic input into CAPEE: about month 9</a:t>
            </a:r>
          </a:p>
        </p:txBody>
      </p:sp>
      <p:sp>
        <p:nvSpPr>
          <p:cNvPr id="30" name="TextBox 29"/>
          <p:cNvSpPr txBox="1"/>
          <p:nvPr/>
        </p:nvSpPr>
        <p:spPr>
          <a:xfrm>
            <a:off x="6419088" y="5568696"/>
            <a:ext cx="5166360"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Later than doing Option 1 on its own — but starting from proof rather than hope, and with the settings already reviewed.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these numbers come from</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Everything in this deck was checked against the software itself in August 2026, not estimated from memory.</a:t>
            </a:r>
          </a:p>
        </p:txBody>
      </p:sp>
      <p:sp>
        <p:nvSpPr>
          <p:cNvPr id="10" name="Rectangle 9"/>
          <p:cNvSpPr/>
          <p:nvPr/>
        </p:nvSpPr>
        <p:spPr>
          <a:xfrm>
            <a:off x="411480" y="2057400"/>
            <a:ext cx="51206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49743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we say</a:t>
            </a:r>
          </a:p>
        </p:txBody>
      </p:sp>
      <p:sp>
        <p:nvSpPr>
          <p:cNvPr id="12" name="Rectangle 11"/>
          <p:cNvSpPr/>
          <p:nvPr/>
        </p:nvSpPr>
        <p:spPr>
          <a:xfrm>
            <a:off x="5532120" y="2057400"/>
            <a:ext cx="62453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2139696"/>
            <a:ext cx="60990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we checked it</a:t>
            </a:r>
          </a:p>
        </p:txBody>
      </p:sp>
      <p:sp>
        <p:nvSpPr>
          <p:cNvPr id="14" name="Rectangle 13"/>
          <p:cNvSpPr/>
          <p:nvPr/>
        </p:nvSpPr>
        <p:spPr>
          <a:xfrm>
            <a:off x="411480" y="2386584"/>
            <a:ext cx="51206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450592"/>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costing maths gives the same answer every time</a:t>
            </a:r>
          </a:p>
        </p:txBody>
      </p:sp>
      <p:sp>
        <p:nvSpPr>
          <p:cNvPr id="16" name="Rectangle 15"/>
          <p:cNvSpPr/>
          <p:nvPr/>
        </p:nvSpPr>
        <p:spPr>
          <a:xfrm>
            <a:off x="5532120" y="2386584"/>
            <a:ext cx="62453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2450592"/>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Ran the same part five times — identical to the last decimal</a:t>
            </a:r>
          </a:p>
        </p:txBody>
      </p:sp>
      <p:sp>
        <p:nvSpPr>
          <p:cNvPr id="18" name="Rectangle 17"/>
          <p:cNvSpPr/>
          <p:nvPr/>
        </p:nvSpPr>
        <p:spPr>
          <a:xfrm>
            <a:off x="411480" y="2788920"/>
            <a:ext cx="51206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852928"/>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All 18 part types use the same costing engine</a:t>
            </a:r>
          </a:p>
        </p:txBody>
      </p:sp>
      <p:sp>
        <p:nvSpPr>
          <p:cNvPr id="20" name="Rectangle 19"/>
          <p:cNvSpPr/>
          <p:nvPr/>
        </p:nvSpPr>
        <p:spPr>
          <a:xfrm>
            <a:off x="5532120" y="2788920"/>
            <a:ext cx="62453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2852928"/>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Traced every one through the software</a:t>
            </a:r>
          </a:p>
        </p:txBody>
      </p:sp>
      <p:sp>
        <p:nvSpPr>
          <p:cNvPr id="22" name="Rectangle 21"/>
          <p:cNvSpPr/>
          <p:nvPr/>
        </p:nvSpPr>
        <p:spPr>
          <a:xfrm>
            <a:off x="411480" y="3191256"/>
            <a:ext cx="51206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3255264"/>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engine invents nothing when a value is missing</a:t>
            </a:r>
          </a:p>
        </p:txBody>
      </p:sp>
      <p:sp>
        <p:nvSpPr>
          <p:cNvPr id="24" name="Rectangle 23"/>
          <p:cNvSpPr/>
          <p:nvPr/>
        </p:nvSpPr>
        <p:spPr>
          <a:xfrm>
            <a:off x="5532120" y="3191256"/>
            <a:ext cx="62453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3255264"/>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has no hidden defaults — every figure must be supplied</a:t>
            </a:r>
          </a:p>
        </p:txBody>
      </p:sp>
      <p:sp>
        <p:nvSpPr>
          <p:cNvPr id="26" name="Rectangle 25"/>
          <p:cNvSpPr/>
          <p:nvPr/>
        </p:nvSpPr>
        <p:spPr>
          <a:xfrm>
            <a:off x="411480" y="3593592"/>
            <a:ext cx="51206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657600"/>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measuring software has no internet connection</a:t>
            </a:r>
          </a:p>
        </p:txBody>
      </p:sp>
      <p:sp>
        <p:nvSpPr>
          <p:cNvPr id="28" name="Rectangle 27"/>
          <p:cNvSpPr/>
          <p:nvPr/>
        </p:nvSpPr>
        <p:spPr>
          <a:xfrm>
            <a:off x="5532120" y="3593592"/>
            <a:ext cx="62453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14416" y="3657600"/>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Checked every line for outbound calls — there are none</a:t>
            </a:r>
          </a:p>
        </p:txBody>
      </p:sp>
      <p:sp>
        <p:nvSpPr>
          <p:cNvPr id="30" name="Rectangle 29"/>
          <p:cNvSpPr/>
          <p:nvPr/>
        </p:nvSpPr>
        <p:spPr>
          <a:xfrm>
            <a:off x="411480" y="3995928"/>
            <a:ext cx="51206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4059936"/>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measuring software repeats exactly</a:t>
            </a:r>
          </a:p>
        </p:txBody>
      </p:sp>
      <p:sp>
        <p:nvSpPr>
          <p:cNvPr id="32" name="Rectangle 31"/>
          <p:cNvSpPr/>
          <p:nvPr/>
        </p:nvSpPr>
        <p:spPr>
          <a:xfrm>
            <a:off x="5532120" y="3995928"/>
            <a:ext cx="62453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4059936"/>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Its one random step is fixed to a set value</a:t>
            </a:r>
          </a:p>
        </p:txBody>
      </p:sp>
      <p:sp>
        <p:nvSpPr>
          <p:cNvPr id="34" name="Rectangle 33"/>
          <p:cNvSpPr/>
          <p:nvPr/>
        </p:nvSpPr>
        <p:spPr>
          <a:xfrm>
            <a:off x="411480" y="4398264"/>
            <a:ext cx="51206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462272"/>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CAD file never leaves the server</a:t>
            </a:r>
          </a:p>
        </p:txBody>
      </p:sp>
      <p:sp>
        <p:nvSpPr>
          <p:cNvPr id="36" name="Rectangle 35"/>
          <p:cNvSpPr/>
          <p:nvPr/>
        </p:nvSpPr>
        <p:spPr>
          <a:xfrm>
            <a:off x="5532120" y="4398264"/>
            <a:ext cx="62453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4462272"/>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Measuring is local; only drawing text goes to the AI</a:t>
            </a:r>
          </a:p>
        </p:txBody>
      </p:sp>
      <p:sp>
        <p:nvSpPr>
          <p:cNvPr id="38" name="Rectangle 37"/>
          <p:cNvSpPr/>
          <p:nvPr/>
        </p:nvSpPr>
        <p:spPr>
          <a:xfrm>
            <a:off x="411480" y="4800600"/>
            <a:ext cx="51206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4864608"/>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Rates are handed in, not built in</a:t>
            </a:r>
          </a:p>
        </p:txBody>
      </p:sp>
      <p:sp>
        <p:nvSpPr>
          <p:cNvPr id="40" name="Rectangle 39"/>
          <p:cNvSpPr/>
          <p:nvPr/>
        </p:nvSpPr>
        <p:spPr>
          <a:xfrm>
            <a:off x="5532120" y="4800600"/>
            <a:ext cx="62453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4864608"/>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The costing function takes the rate book as an input</a:t>
            </a:r>
          </a:p>
        </p:txBody>
      </p:sp>
      <p:sp>
        <p:nvSpPr>
          <p:cNvPr id="42" name="Rectangle 41"/>
          <p:cNvSpPr/>
          <p:nvPr/>
        </p:nvSpPr>
        <p:spPr>
          <a:xfrm>
            <a:off x="411480" y="5202936"/>
            <a:ext cx="512064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5266944"/>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Three faults found and fixed in August</a:t>
            </a:r>
          </a:p>
        </p:txBody>
      </p:sp>
      <p:sp>
        <p:nvSpPr>
          <p:cNvPr id="44" name="Rectangle 43"/>
          <p:cNvSpPr/>
          <p:nvPr/>
        </p:nvSpPr>
        <p:spPr>
          <a:xfrm>
            <a:off x="5532120" y="5202936"/>
            <a:ext cx="6245352"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14416" y="5266944"/>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A wrong-number result, an unrepeatable range, unreadable report text</a:t>
            </a:r>
          </a:p>
        </p:txBody>
      </p:sp>
      <p:sp>
        <p:nvSpPr>
          <p:cNvPr id="46" name="Rectangle 45"/>
          <p:cNvSpPr/>
          <p:nvPr/>
        </p:nvSpPr>
        <p:spPr>
          <a:xfrm>
            <a:off x="411480" y="5605272"/>
            <a:ext cx="512064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5669280"/>
            <a:ext cx="4974336"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Automatic checks on the software</a:t>
            </a:r>
          </a:p>
        </p:txBody>
      </p:sp>
      <p:sp>
        <p:nvSpPr>
          <p:cNvPr id="48" name="Rectangle 47"/>
          <p:cNvSpPr/>
          <p:nvPr/>
        </p:nvSpPr>
        <p:spPr>
          <a:xfrm>
            <a:off x="5532120" y="5605272"/>
            <a:ext cx="624535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5669280"/>
            <a:ext cx="6099048" cy="310896"/>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2,022 automatic tests, all passing</a:t>
            </a:r>
          </a:p>
        </p:txBody>
      </p:sp>
      <p:sp>
        <p:nvSpPr>
          <p:cNvPr id="50" name="Rounded Rectangle 49"/>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Supporting documents, if anyone wants the detail</a:t>
            </a:r>
          </a:p>
        </p:txBody>
      </p:sp>
      <p:sp>
        <p:nvSpPr>
          <p:cNvPr id="53" name="TextBox 52"/>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security and data-flow review for IT.  A technical readiness report.  A full independent review of the tool including how it compares with what is on the market.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