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the time. I want to walk you through two ways a tool we have built, CostVision, could work with CAPEE, and ask for a decision on the first one. The first option is simple. CAPEE keeps doing the costing. CostVision measures the 3D model and fills in the numbers CAPEE needs, and we prove that on our own parts. The second option comes later. It is costing a whole basket of parts in one run, unattended. Neither option needs AI. In the build we have given JLR, there is no API key yet. I will be straight about what the tool does today and what it does not. The biggest gap is that it has never been checked against a price JLR actually paid. There are also no dates in this pack. Nobody has sized this work yet, so any timeline I showed you would be made up. What I can show is the order the work has to happen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ask, so I will put it first. I would like approval to run a proof of concept inside CAPEE, on one part type, using parts we have already bought. The table says what that involves. What we need from JLR is on the second row, and I will come back to it at the end. What it costs is our own time. There is no licence, and nobody has to learn a new tool, because CAPEE still does the costing on the same screens. CAPEE does have to be changed to accept the numbers, and that is JLR's side of the work. The amber box is the honest bit, and I would rather say it now than have it come out in questions. We have never compared this tool with a price we actually paid. We know the arithmetic is right, because it matches a hand calculation to under 0.01 percent. But right arithmetic on the wrong inputs is still wrong. That is what the trial finds 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problem we are trying to fix. Today an engineer opens the model, reads the drawing and types the numbers in. How many depends on the part. On CostVision's own forms it runs from about twelve values to about seventy. I have not counted CAPEE's screens, so take that as a guide. The time matters, but the second point matters more. Two engineers costing the same part will not type the same numbers. So we get two answers for one part and no way to say which is right. On the right is what the tool does. It measures the model. Fixed rules turn the measurements into the values the form needs. Where the shape cannot decide something, such as the material, it asks the engineer rather than guessing. The blue box is the point I would like people to hold on to. Measuring is ordinary geometry software, not AI. The JLR build has no API key yet. Everything on this slide works without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options, this is honestly where the tool is. I checked every line on this slide against the software this week. On the left is what works today. It covers nineteen manufacturing processes, and thirteen of them can be costed straight from a CAD file. Same inputs always give the same answer. It measures models with no internet, which is the first thing IT security will ask about. It has a proper test net: 2,438 automated tests, and six real production parts pinned so that a change which moves any of them fails the build. On the right is what is not done. The top line is the important one and I will keep coming back to it. There is no link into CAPEE yet, and no JLR single sign-on. The bulk run works, but only from the command line. The blue box is what has changed since I last showed you this. Most of the gaps I listed for Option two then are now closed. I will show you which on slide fifteen.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of the whole thing. We do Option one first, prove it on our own parts, look at the number, and then decide about Option two. Option one is the smaller change. CAPEE does not move. The engineer stops typing and starts checking. What we hand over is the measuring engine, the rules that fill the form, and the checks, and slide seven lists them. Option two is a different capability. Instead of costing the parts we have time for, we cost the whole basket. The run for that is already built, and it uses no AI. What is left is loading our own rates, trying it on a real basket, and maybe a screen for it. The reason for this order is on the green strip. Option one is cheap to try and it gives us the accuracy figure. There is no sense costing five hundred parts until we know the tool gets one part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Option one on a single slide. The top row is what happens each time somebody costs a part. The engineer hands over the 3D model from inside CAPEE. The software measures it. Fixed rules turn the measurements into the values CAPEE needs. The checks look for contradictions, and a serious one stops the costing until someone accepts it. The engineer confirms what a model cannot show, like material and heat treatment. Then CAPEE costs the part exactly as it does now. There is no AI anywhere in that row. Underneath is the build order and who does what. We package the software, write out the settings and bring the checks across. JLR tells us how CAPEE is built, provides a server or a laptop, and changes CAPEE to take the numbers. I have deliberately not put weeks against any of this. Nobody has sized it, and the connection step waits on an answer we do not have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asked last time what would actually be handed over. Here it is, and the sizes come from counting the source files this week, rounded. The measuring engine is Python, the normal choice for measurement work. The rules and checks are TypeScript, which is common in business software. Neither is unusual, and neither ties JLR to us. The rules are the biggest piece. They turn the measurements into cost inputs and decide what to ask the engineer. The bulk run is there for Option two. The settings list does not exist yet as a separate file, and writing it is a step in the plan. The Rate Converter is an Excel workbook with no macros, which turns JLR's own rate card into the tool's format. The amber box is the practical point for IT. The measuring engine needs a standard Linux server or our Windows package. The cut-down Linux image cannot run it. That decides where this can live, so it is worth settling early.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job like this it is tempting to take the measuring and leave what looks like plumbing until later. These four checks are what make the rest safe. The price is always plain arithmetic, but a wrong input still gives a wrong price. The first check is the one to remember. The measured model is the ground truth. If anything fed to the cost contradicts the measured weight, it is flagged, and a big gap stops the costing. The second stops a thick, chunky part being costed as a pressing or a moulding. The third caps machining time on castings and forgings. The fourth is about honesty. Where the tool cannot know something, it asks rather than guessing. The red box is a lesson we learned the hard way. A steering knuckle once came out at five pounds forty-three while every test passed, because our tests used clean made-up shapes. Now six real production parts are pinned, and if a change moves any of them, the build fails.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Hardcoded values means nothing on its own, so here are six real ones, read off the software this month. The first two decide what counts as a machined face and what counts as a pocket. Look at the third row. Stripping and re-plating a rejected part is costed as its own stage: two dollars twenty of chemistry and one dollar eighty of effluent per square metre, on top of plating the part again. The note against it says the rework runs four to five times a first-pass part. That is why a three percent reject rate is nearer twelve to fifteen percent on cost. That is an engineering judgement, and exactly the sort of thing you would challenge in a review. So it should not be buried in code. We will pull every one of these into a single list you can read and change. The amber box is the caveat. These are our estimates, not measurements from one of our plants.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cannot give you one answer here, because nobody has told us how CAPEE is built. Rather than hold everything up, here are all three routes. Any of them could work. What changes is the effort, and I have shown that against each other rather than in weeks, because none of it has been sized. Route A puts our code inside CAPEE, which is easiest if CAPEE is built in JavaScript. Route B runs CostVision alongside as its own service, and CAPEE asks it for numbers. Route C just passes a file across, which is simple but needs someone to move the file. If you made me pick blind, I would take route B. It works whatever CAPEE is, and we can improve our side without touching CAPEE. The three questions in the amber box are what I need from IT to choose properly.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would get out of the trial. I want to be concrete, because none of these four numbers exists today. First, how close is it. We cost the parts, compare with what we paid, and report the error. Every result in the tool comes with a range, a low and a high. The test I would use is whether the real price falls inside that range. A tool that is wrong and says so is usable. One that is wrong and confident is not. Second, how often the engineer steps in. Every part will ask for the material, because a solid model cannot tell steel from aluminium. In a bulk run that answer can come from the part list. The rest we need to count on JLR parts. Third, the time saving, measured by doing the same parts both ways. Fourth, what it refused and whether it was right to. The green strip is why it is worth doing even if the answer disappoints 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in the order they have to happen. Two are worth pulling out. Step three is the settings list. JLR reviews it and signs it off before anything is costed with it, so the judgements inside the tool are ours, not just mine. Step four is the safety checks. I have given them a step of their own so they do not get folded into the connection work and squeezed. Step five says AI stays off, which matches the build we have already given JLR. Nothing in Option one needs it. The blue box helps with planning. Steps one and two can run at the same time, because standing up the measuring software does not depend on knowing how CAPEE is built. Only step five does. The amber box is my suggestion for where to start: machined parts or pressings, because that is where most of our volume is and where we understand the shapes best.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 two is a different thing from Option one, and I want to be clear about that. Option one saves the engineer typing. Option two gives us something we do not have at all. Today we cost the parts we have time to cost. A basket of several hundred gets sampled or estimated by analogy, because there are not enough engineer-hours. Option two costs the whole basket in one run. The blue box says how. The part type comes from the list or from the shape. The material comes from the list. Where the tool cannot decide, it stops and asks, and one answer covers every part with the same question. There is no AI in it, so it runs in the JLR build as it is. The amber box is the honest position. The run is built, but only as a command-line tool, and it has never been run on our parts or our rates.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a run does, start to finish. A list goes in, with part numbers, CAD files, volumes and the region each part is made in. Each part is measured by the same engine as a single part. The rules fill the form. Anything the tool cannot decide becomes a question, and each question appears once, naming every part it blocks. Then the engine costs them, in the same eight buckets as the screens. Three files come out: the results, the open questions, and a run record. The table is about trust. The run record names the rate book it used, and every rate book is kept. So a run from last quarter can be redone on last quarter's rates. A region it does not know is refused rather than quietly costed as the UK. The blue strip is the honest point. The hard part is gathering our data. I have not timed a basket of JLR size, so I will not quote a run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I showed you this slide it was a list of gaps. I would rather show you honestly where each one stands now. The first four are built. Every rate book is kept rather than overwritten, so a costing can name the book it used and be redone on it. Every bulk run writes a record of its inputs, answers and versions. One limit there: a costing done on the screen is still only kept if someone saves it. Region and volume now reach the bulk route, and so does gear, and the same geometry checks run on it. What is left is ours to do. The run has to be given JLR rates, loaded through the Rate Converter. Until then it uses the built-in book from June. And it needs a trial on a real basket. A screen is optional. The green strip is the reassurance. The bulk run is not a second costing engine. It calls the same one the screens 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business case for Option two. I have deliberately not put a pound figure on it. An honest one needs two things we do not have yet: our own rate data loaded, and the accuracy number from Option one. What I can show is what changes in kind. Today we cost the parts we have hours for and scale up from a sample. With bulk costing, every part in the list is costed from its own geometry, with the same rules and the same rates. What we can say to a supplier changes too. Instead of this is our estimate, it becomes here is the build-up, part by part. The row I would draw your eye to is the last one. Today it is one engineer per part. With this it is one answer per question, applied to every part it affects. The amber box is the limit on all of it. Every row assumes the tool is accurate enough to leave running, and that is exactly what Option one measures.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for Option two. Step one is loading our own rates, and it is worth starting whatever we decide, because both options need it. The Rate Converter takes JLR's rate card as it is exported and needs no macros. Steps two and three used to be software gaps. They are not any more. The tool keeps every rate book and writes a record of every run. What is left is a decision for JLR: who may change rates, who signs them off, and whether the run record is enough for audit. Step four is a check, not a build. Region, volume, gear and the geometry checks are wired on, and we should confirm them on a few of our own parts. Step five is a choice. The run works from the command line, so a screen is only worth building if the team wants one. Step six is a trial on a real basket, run beside how we cost today so we can compare.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puts the two side by side. The top half is fairly even, and each option wins some rows. One row has changed since last time. Option two used to be the bigger software job. Now the run is built, so most of its remaining work is data, not code. Option one still needs the link into CAPEE, and that waits on IT. The two rows I would look at are the last two. Option one produces the accuracy figure that Option two leans on. And Option one is audit-ready today, because CAPEE keeps the record exactly as it does now. Option two does keep its own records now, with the rate book each run used. But nobody at JLR has reviewed them against what audit needs. Those two rows are the whole argument for doing them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items. The top one is the one that would stop me putting this in front of a supplier today, and approving the trial is what fixes it. The second is waiting on IT. The third is new. The software gap on records is closed, but JLR audit has not looked at them, so we should ask them early. The fourth matters more than it looks. Until our own rate card is loaded, every cost uses the built-in rates from June, and those are not our rates. The sixth is about AI, because it always comes up. There is no API key in the build we gave JLR, nothing is sent out, and neither option needs it. But turning it on is only a setting, so someone should own that switch. The last row is worth saying plainly. The tool is still being worked on, so for any trial we pin one version and stay on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The first is the one I will keep coming back to: thirty to fifty parts where we know what we paid. Purchase records are fine. I do not need anything new created. Without them I cannot tell anyone how accurate this is, and that is the first question we will be asked. The second is our own rates. The Rate Converter can take our rate card as it is exported today, with no macros, so this is mostly gathering, not building. It is worth starting whatever you decide, because both options need it. The third is three questions to IT. The fourth is a simple agreement. AI stays off. Neither option needs it, and the build JLR has already runs without it. If we ever want the AI features, that is a separate conversation and a separate approval. The fifth is a person and a part type for the trial. And the green strip: the first two do not wait on anything decided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for anyone who wants to know how we know. Every claim in the pack was checked against the software this week rather than assumed. A few are worth pointing at. The engine's arithmetic matches a hand calculation to under 0.01 percent on a reference part. That proves the sums are right. It does not prove the price is right. Six real production parts are pinned, so we notice if a change moves them. The measuring makes no internet connection, and the Windows package only listens on the laptop itself. That is the answer to the first question IT security will ask. There is no API key in that build. The amber box is the one number I have deliberately left off every slide: accuracy against real prices. The tool can learn from actual prices once they are logged, but none from JLR are in it yet. That is why ask number one is what it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457200"/>
            <a:ext cx="441655" cy="441655"/>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54" b="1">
                <a:solidFill>
                  <a:srgbClr val="16325C"/>
                </a:solidFill>
                <a:latin typeface="Calibri"/>
              </a:rPr>
              <a:t>cv</a:t>
            </a:r>
          </a:p>
        </p:txBody>
      </p:sp>
      <p:sp>
        <p:nvSpPr>
          <p:cNvPr id="5" name="TextBox 4"/>
          <p:cNvSpPr txBox="1"/>
          <p:nvPr/>
        </p:nvSpPr>
        <p:spPr>
          <a:xfrm>
            <a:off x="1049731" y="425654"/>
            <a:ext cx="2377440" cy="292608"/>
          </a:xfrm>
          <a:prstGeom prst="rect">
            <a:avLst/>
          </a:prstGeom>
          <a:noFill/>
        </p:spPr>
        <p:txBody>
          <a:bodyPr wrap="square" anchor="t" lIns="0" rIns="0" tIns="0" bIns="0">
            <a:spAutoFit/>
          </a:bodyPr>
          <a:lstStyle/>
          <a:p>
            <a:pPr algn="l">
              <a:lnSpc>
                <a:spcPct val="100000"/>
              </a:lnSpc>
              <a:spcAft>
                <a:spcPts val="400"/>
              </a:spcAft>
            </a:pPr>
            <a:r>
              <a:rPr sz="2070" b="1" i="0">
                <a:solidFill>
                  <a:srgbClr val="FFFFFF"/>
                </a:solidFill>
                <a:latin typeface="Calibri"/>
              </a:rPr>
              <a:t>CostVision</a:t>
            </a:r>
          </a:p>
        </p:txBody>
      </p:sp>
      <p:sp>
        <p:nvSpPr>
          <p:cNvPr id="6" name="TextBox 5"/>
          <p:cNvSpPr txBox="1"/>
          <p:nvPr/>
        </p:nvSpPr>
        <p:spPr>
          <a:xfrm>
            <a:off x="1049731" y="709574"/>
            <a:ext cx="2560320" cy="201168"/>
          </a:xfrm>
          <a:prstGeom prst="rect">
            <a:avLst/>
          </a:prstGeom>
          <a:noFill/>
        </p:spPr>
        <p:txBody>
          <a:bodyPr wrap="square" anchor="t" lIns="0" rIns="0" tIns="0" bIns="0">
            <a:spAutoFit/>
          </a:bodyPr>
          <a:lstStyle/>
          <a:p>
            <a:pPr algn="l">
              <a:lnSpc>
                <a:spcPct val="100000"/>
              </a:lnSpc>
              <a:spcAft>
                <a:spcPts val="400"/>
              </a:spcAft>
            </a:pPr>
            <a:r>
              <a:rPr sz="862" b="0" i="0">
                <a:solidFill>
                  <a:srgbClr val="8FA3CC"/>
                </a:solidFill>
                <a:latin typeface="Calibri"/>
              </a:rPr>
              <a:t>SHOULD-COST  ENGINEERING</a:t>
            </a:r>
          </a:p>
        </p:txBody>
      </p:sp>
      <p:sp>
        <p:nvSpPr>
          <p:cNvPr id="7" name="TextBox 6"/>
          <p:cNvSpPr txBox="1"/>
          <p:nvPr/>
        </p:nvSpPr>
        <p:spPr>
          <a:xfrm>
            <a:off x="548640" y="1783080"/>
            <a:ext cx="10607040" cy="1188720"/>
          </a:xfrm>
          <a:prstGeom prst="rect">
            <a:avLst/>
          </a:prstGeom>
          <a:noFill/>
        </p:spPr>
        <p:txBody>
          <a:bodyPr wrap="square" anchor="t" lIns="0" rIns="0" tIns="0" bIns="0">
            <a:spAutoFit/>
          </a:bodyPr>
          <a:lstStyle/>
          <a:p>
            <a:pPr algn="l">
              <a:lnSpc>
                <a:spcPct val="100000"/>
              </a:lnSpc>
              <a:spcAft>
                <a:spcPts val="400"/>
              </a:spcAft>
            </a:pPr>
            <a:r>
              <a:rPr sz="4000" b="1" i="0">
                <a:solidFill>
                  <a:srgbClr val="FFFFFF"/>
                </a:solidFill>
                <a:latin typeface="Cambria"/>
              </a:rPr>
              <a:t>CostVision and CAPEE</a:t>
            </a:r>
          </a:p>
        </p:txBody>
      </p:sp>
      <p:sp>
        <p:nvSpPr>
          <p:cNvPr id="8" name="TextBox 7"/>
          <p:cNvSpPr txBox="1"/>
          <p:nvPr/>
        </p:nvSpPr>
        <p:spPr>
          <a:xfrm>
            <a:off x="548640" y="2697480"/>
            <a:ext cx="10424160" cy="548640"/>
          </a:xfrm>
          <a:prstGeom prst="rect">
            <a:avLst/>
          </a:prstGeom>
          <a:noFill/>
        </p:spPr>
        <p:txBody>
          <a:bodyPr wrap="square" anchor="t" lIns="0" rIns="0" tIns="0" bIns="0">
            <a:spAutoFit/>
          </a:bodyPr>
          <a:lstStyle/>
          <a:p>
            <a:pPr algn="l">
              <a:lnSpc>
                <a:spcPct val="100000"/>
              </a:lnSpc>
              <a:spcAft>
                <a:spcPts val="400"/>
              </a:spcAft>
            </a:pPr>
            <a:r>
              <a:rPr sz="1600" b="0" i="0">
                <a:solidFill>
                  <a:srgbClr val="CADCFC"/>
                </a:solidFill>
                <a:latin typeface="Calibri"/>
              </a:rPr>
              <a:t>The case for automating cost input, and then costing in bulk</a:t>
            </a:r>
          </a:p>
        </p:txBody>
      </p:sp>
      <p:sp>
        <p:nvSpPr>
          <p:cNvPr id="9" name="Rectangle 8"/>
          <p:cNvSpPr/>
          <p:nvPr/>
        </p:nvSpPr>
        <p:spPr>
          <a:xfrm>
            <a:off x="548640" y="3474720"/>
            <a:ext cx="3017520" cy="3175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6928" y="3794760"/>
            <a:ext cx="502920" cy="502920"/>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1</a:t>
            </a:r>
          </a:p>
        </p:txBody>
      </p:sp>
      <p:sp>
        <p:nvSpPr>
          <p:cNvPr id="11" name="TextBox 10"/>
          <p:cNvSpPr txBox="1"/>
          <p:nvPr/>
        </p:nvSpPr>
        <p:spPr>
          <a:xfrm>
            <a:off x="1280160" y="3813048"/>
            <a:ext cx="9875520" cy="274320"/>
          </a:xfrm>
          <a:prstGeom prst="rect">
            <a:avLst/>
          </a:prstGeom>
          <a:noFill/>
        </p:spPr>
        <p:txBody>
          <a:bodyPr wrap="square" anchor="t" lIns="0" rIns="0" tIns="0" bIns="0">
            <a:spAutoFit/>
          </a:bodyPr>
          <a:lstStyle/>
          <a:p>
            <a:pPr algn="l">
              <a:lnSpc>
                <a:spcPct val="100000"/>
              </a:lnSpc>
              <a:spcAft>
                <a:spcPts val="400"/>
              </a:spcAft>
            </a:pPr>
            <a:r>
              <a:rPr sz="1500" b="1" i="0">
                <a:solidFill>
                  <a:srgbClr val="FFFFFF"/>
                </a:solidFill>
                <a:latin typeface="Calibri"/>
              </a:rPr>
              <a:t>Feed CAPEE automatically, and prove it</a:t>
            </a:r>
          </a:p>
        </p:txBody>
      </p:sp>
      <p:sp>
        <p:nvSpPr>
          <p:cNvPr id="12" name="TextBox 11"/>
          <p:cNvSpPr txBox="1"/>
          <p:nvPr/>
        </p:nvSpPr>
        <p:spPr>
          <a:xfrm>
            <a:off x="1280160" y="4114800"/>
            <a:ext cx="9875520" cy="457200"/>
          </a:xfrm>
          <a:prstGeom prst="rect">
            <a:avLst/>
          </a:prstGeom>
          <a:noFill/>
        </p:spPr>
        <p:txBody>
          <a:bodyPr wrap="square" anchor="t" lIns="0" rIns="0" tIns="0" bIns="0">
            <a:spAutoFit/>
          </a:bodyPr>
          <a:lstStyle/>
          <a:p>
            <a:pPr algn="l">
              <a:lnSpc>
                <a:spcPct val="115000"/>
              </a:lnSpc>
              <a:spcAft>
                <a:spcPts val="400"/>
              </a:spcAft>
            </a:pPr>
            <a:r>
              <a:rPr sz="1100" b="0" i="0">
                <a:solidFill>
                  <a:srgbClr val="CADCFC"/>
                </a:solidFill>
                <a:latin typeface="Calibri"/>
              </a:rPr>
              <a:t>CAPEE keeps doing the costing. CostVision measures the 3D model and fills in the numbers. We prove it on real JLR parts first.</a:t>
            </a:r>
          </a:p>
        </p:txBody>
      </p:sp>
      <p:sp>
        <p:nvSpPr>
          <p:cNvPr id="13" name="Oval 12"/>
          <p:cNvSpPr/>
          <p:nvPr/>
        </p:nvSpPr>
        <p:spPr>
          <a:xfrm>
            <a:off x="566928" y="4709160"/>
            <a:ext cx="502920" cy="502920"/>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2</a:t>
            </a:r>
          </a:p>
        </p:txBody>
      </p:sp>
      <p:sp>
        <p:nvSpPr>
          <p:cNvPr id="14" name="TextBox 13"/>
          <p:cNvSpPr txBox="1"/>
          <p:nvPr/>
        </p:nvSpPr>
        <p:spPr>
          <a:xfrm>
            <a:off x="1280160" y="4727448"/>
            <a:ext cx="9875520" cy="274320"/>
          </a:xfrm>
          <a:prstGeom prst="rect">
            <a:avLst/>
          </a:prstGeom>
          <a:noFill/>
        </p:spPr>
        <p:txBody>
          <a:bodyPr wrap="square" anchor="t" lIns="0" rIns="0" tIns="0" bIns="0">
            <a:spAutoFit/>
          </a:bodyPr>
          <a:lstStyle/>
          <a:p>
            <a:pPr algn="l">
              <a:lnSpc>
                <a:spcPct val="100000"/>
              </a:lnSpc>
              <a:spcAft>
                <a:spcPts val="400"/>
              </a:spcAft>
            </a:pPr>
            <a:r>
              <a:rPr sz="1500" b="1" i="0">
                <a:solidFill>
                  <a:srgbClr val="FFFFFF"/>
                </a:solidFill>
                <a:latin typeface="Calibri"/>
              </a:rPr>
              <a:t>Cost in bulk, unattended</a:t>
            </a:r>
          </a:p>
        </p:txBody>
      </p:sp>
      <p:sp>
        <p:nvSpPr>
          <p:cNvPr id="15" name="TextBox 14"/>
          <p:cNvSpPr txBox="1"/>
          <p:nvPr/>
        </p:nvSpPr>
        <p:spPr>
          <a:xfrm>
            <a:off x="1280160" y="5029200"/>
            <a:ext cx="9875520" cy="457200"/>
          </a:xfrm>
          <a:prstGeom prst="rect">
            <a:avLst/>
          </a:prstGeom>
          <a:noFill/>
        </p:spPr>
        <p:txBody>
          <a:bodyPr wrap="square" anchor="t" lIns="0" rIns="0" tIns="0" bIns="0">
            <a:spAutoFit/>
          </a:bodyPr>
          <a:lstStyle/>
          <a:p>
            <a:pPr algn="l">
              <a:lnSpc>
                <a:spcPct val="115000"/>
              </a:lnSpc>
              <a:spcAft>
                <a:spcPts val="400"/>
              </a:spcAft>
            </a:pPr>
            <a:r>
              <a:rPr sz="1100" b="0" i="0">
                <a:solidFill>
                  <a:srgbClr val="CADCFC"/>
                </a:solidFill>
                <a:latin typeface="Calibri"/>
              </a:rPr>
              <a:t>A whole basket of parts costed in one run, with no AI. A person is asked only where the geometry cannot decide.</a:t>
            </a:r>
          </a:p>
        </p:txBody>
      </p:sp>
      <p:sp>
        <p:nvSpPr>
          <p:cNvPr id="16" name="TextBox 15"/>
          <p:cNvSpPr txBox="1"/>
          <p:nvPr/>
        </p:nvSpPr>
        <p:spPr>
          <a:xfrm>
            <a:off x="548640" y="5989320"/>
            <a:ext cx="10607040" cy="365760"/>
          </a:xfrm>
          <a:prstGeom prst="rect">
            <a:avLst/>
          </a:prstGeom>
          <a:noFill/>
        </p:spPr>
        <p:txBody>
          <a:bodyPr wrap="square" anchor="t" lIns="0" rIns="0" tIns="0" bIns="0">
            <a:spAutoFit/>
          </a:bodyPr>
          <a:lstStyle/>
          <a:p>
            <a:pPr algn="l">
              <a:lnSpc>
                <a:spcPct val="100000"/>
              </a:lnSpc>
              <a:spcAft>
                <a:spcPts val="400"/>
              </a:spcAft>
            </a:pPr>
            <a:r>
              <a:rPr sz="1000" b="0" i="0">
                <a:solidFill>
                  <a:srgbClr val="8FA3CC"/>
                </a:solidFill>
                <a:latin typeface="Calibri"/>
              </a:rPr>
              <a:t>JLR Cost Engineering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DECISION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we are asking for</a:t>
            </a:r>
          </a:p>
        </p:txBody>
      </p:sp>
      <p:sp>
        <p:nvSpPr>
          <p:cNvPr id="9" name="Rounded Rectangle 8"/>
          <p:cNvSpPr/>
          <p:nvPr/>
        </p:nvSpPr>
        <p:spPr>
          <a:xfrm>
            <a:off x="411480" y="1600200"/>
            <a:ext cx="11365992" cy="1051560"/>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00200"/>
            <a:ext cx="68580" cy="105156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171907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Approve a proof of concept: Option 1, inside CAPEE, on our own parts</a:t>
            </a:r>
          </a:p>
        </p:txBody>
      </p:sp>
      <p:sp>
        <p:nvSpPr>
          <p:cNvPr id="12" name="TextBox 11"/>
          <p:cNvSpPr txBox="1"/>
          <p:nvPr/>
        </p:nvSpPr>
        <p:spPr>
          <a:xfrm>
            <a:off x="630936" y="2002536"/>
            <a:ext cx="10954512" cy="5486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Let CostVision fill CAPEE's cost input for one part type, on 30 to 50 parts we have already bought. At the end we will know how close it gets, how often an engineer has to correct it, and how much time it saves. Option 2 follows once that is known.</a:t>
            </a:r>
          </a:p>
        </p:txBody>
      </p:sp>
      <p:sp>
        <p:nvSpPr>
          <p:cNvPr id="13" name="Rectangle 12"/>
          <p:cNvSpPr/>
          <p:nvPr/>
        </p:nvSpPr>
        <p:spPr>
          <a:xfrm>
            <a:off x="411480" y="2788920"/>
            <a:ext cx="320040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2871216"/>
            <a:ext cx="3054096" cy="219456"/>
          </a:xfrm>
          <a:prstGeom prst="rect">
            <a:avLst/>
          </a:prstGeom>
          <a:noFill/>
        </p:spPr>
        <p:txBody>
          <a:bodyPr wrap="square" anchor="t" lIns="0" rIns="0" tIns="0" bIns="0">
            <a:spAutoFit/>
          </a:bodyPr>
          <a:lstStyle/>
          <a:p>
            <a:pPr algn="l">
              <a:lnSpc>
                <a:spcPct val="100000"/>
              </a:lnSpc>
              <a:spcAft>
                <a:spcPts val="400"/>
              </a:spcAft>
            </a:pPr>
          </a:p>
        </p:txBody>
      </p:sp>
      <p:sp>
        <p:nvSpPr>
          <p:cNvPr id="15" name="Rectangle 14"/>
          <p:cNvSpPr/>
          <p:nvPr/>
        </p:nvSpPr>
        <p:spPr>
          <a:xfrm>
            <a:off x="3611880" y="2788920"/>
            <a:ext cx="816559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4176" y="2871216"/>
            <a:ext cx="801928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Detail</a:t>
            </a:r>
          </a:p>
        </p:txBody>
      </p:sp>
      <p:sp>
        <p:nvSpPr>
          <p:cNvPr id="17" name="Rectangle 16"/>
          <p:cNvSpPr/>
          <p:nvPr/>
        </p:nvSpPr>
        <p:spPr>
          <a:xfrm>
            <a:off x="411480" y="3118104"/>
            <a:ext cx="320040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3182112"/>
            <a:ext cx="3054096" cy="384048"/>
          </a:xfrm>
          <a:prstGeom prst="rect">
            <a:avLst/>
          </a:prstGeom>
          <a:noFill/>
        </p:spPr>
        <p:txBody>
          <a:bodyPr wrap="square" anchor="t" lIns="0" rIns="0" tIns="0" bIns="0">
            <a:spAutoFit/>
          </a:bodyPr>
          <a:lstStyle/>
          <a:p>
            <a:pPr algn="l">
              <a:lnSpc>
                <a:spcPct val="100000"/>
              </a:lnSpc>
              <a:spcAft>
                <a:spcPts val="400"/>
              </a:spcAft>
            </a:pPr>
            <a:r>
              <a:rPr sz="1080" b="1" i="0">
                <a:solidFill>
                  <a:srgbClr val="16325C"/>
                </a:solidFill>
                <a:latin typeface="Calibri"/>
              </a:rPr>
              <a:t>What we want to do</a:t>
            </a:r>
          </a:p>
        </p:txBody>
      </p:sp>
      <p:sp>
        <p:nvSpPr>
          <p:cNvPr id="19" name="Rectangle 18"/>
          <p:cNvSpPr/>
          <p:nvPr/>
        </p:nvSpPr>
        <p:spPr>
          <a:xfrm>
            <a:off x="3611880" y="3118104"/>
            <a:ext cx="816559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94176" y="3182112"/>
            <a:ext cx="8019288" cy="384048"/>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Fill CAPEE's cost input from the 3D model, for one part type</a:t>
            </a:r>
          </a:p>
        </p:txBody>
      </p:sp>
      <p:sp>
        <p:nvSpPr>
          <p:cNvPr id="21" name="Rectangle 20"/>
          <p:cNvSpPr/>
          <p:nvPr/>
        </p:nvSpPr>
        <p:spPr>
          <a:xfrm>
            <a:off x="411480" y="3593592"/>
            <a:ext cx="320040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3657600"/>
            <a:ext cx="3054096" cy="384048"/>
          </a:xfrm>
          <a:prstGeom prst="rect">
            <a:avLst/>
          </a:prstGeom>
          <a:noFill/>
        </p:spPr>
        <p:txBody>
          <a:bodyPr wrap="square" anchor="t" lIns="0" rIns="0" tIns="0" bIns="0">
            <a:spAutoFit/>
          </a:bodyPr>
          <a:lstStyle/>
          <a:p>
            <a:pPr algn="l">
              <a:lnSpc>
                <a:spcPct val="100000"/>
              </a:lnSpc>
              <a:spcAft>
                <a:spcPts val="400"/>
              </a:spcAft>
            </a:pPr>
            <a:r>
              <a:rPr sz="1080" b="1" i="0">
                <a:solidFill>
                  <a:srgbClr val="16325C"/>
                </a:solidFill>
                <a:latin typeface="Calibri"/>
              </a:rPr>
              <a:t>What we need from JLR</a:t>
            </a:r>
          </a:p>
        </p:txBody>
      </p:sp>
      <p:sp>
        <p:nvSpPr>
          <p:cNvPr id="23" name="Rectangle 22"/>
          <p:cNvSpPr/>
          <p:nvPr/>
        </p:nvSpPr>
        <p:spPr>
          <a:xfrm>
            <a:off x="3611880" y="3593592"/>
            <a:ext cx="8165592"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94176" y="3657600"/>
            <a:ext cx="8019288" cy="384048"/>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30 to 50 parts with the price we paid, our own rate data, three answers from IT, and a team for the trial</a:t>
            </a:r>
          </a:p>
        </p:txBody>
      </p:sp>
      <p:sp>
        <p:nvSpPr>
          <p:cNvPr id="25" name="Rectangle 24"/>
          <p:cNvSpPr/>
          <p:nvPr/>
        </p:nvSpPr>
        <p:spPr>
          <a:xfrm>
            <a:off x="411480" y="4069080"/>
            <a:ext cx="320040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 y="4133088"/>
            <a:ext cx="3054096" cy="384048"/>
          </a:xfrm>
          <a:prstGeom prst="rect">
            <a:avLst/>
          </a:prstGeom>
          <a:noFill/>
        </p:spPr>
        <p:txBody>
          <a:bodyPr wrap="square" anchor="t" lIns="0" rIns="0" tIns="0" bIns="0">
            <a:spAutoFit/>
          </a:bodyPr>
          <a:lstStyle/>
          <a:p>
            <a:pPr algn="l">
              <a:lnSpc>
                <a:spcPct val="100000"/>
              </a:lnSpc>
              <a:spcAft>
                <a:spcPts val="400"/>
              </a:spcAft>
            </a:pPr>
            <a:r>
              <a:rPr sz="1080" b="1" i="0">
                <a:solidFill>
                  <a:srgbClr val="16325C"/>
                </a:solidFill>
                <a:latin typeface="Calibri"/>
              </a:rPr>
              <a:t>What it costs to try</a:t>
            </a:r>
          </a:p>
        </p:txBody>
      </p:sp>
      <p:sp>
        <p:nvSpPr>
          <p:cNvPr id="27" name="Rectangle 26"/>
          <p:cNvSpPr/>
          <p:nvPr/>
        </p:nvSpPr>
        <p:spPr>
          <a:xfrm>
            <a:off x="3611880" y="4069080"/>
            <a:ext cx="816559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94176" y="4133088"/>
            <a:ext cx="8019288" cy="384048"/>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Our own engineering time. No licence and no new tool to learn. CAPEE still does the costing, but it has to be changed to take the numbers</a:t>
            </a:r>
          </a:p>
        </p:txBody>
      </p:sp>
      <p:sp>
        <p:nvSpPr>
          <p:cNvPr id="29" name="Rectangle 28"/>
          <p:cNvSpPr/>
          <p:nvPr/>
        </p:nvSpPr>
        <p:spPr>
          <a:xfrm>
            <a:off x="411480" y="4544568"/>
            <a:ext cx="320040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 y="4608576"/>
            <a:ext cx="3054096" cy="384048"/>
          </a:xfrm>
          <a:prstGeom prst="rect">
            <a:avLst/>
          </a:prstGeom>
          <a:noFill/>
        </p:spPr>
        <p:txBody>
          <a:bodyPr wrap="square" anchor="t" lIns="0" rIns="0" tIns="0" bIns="0">
            <a:spAutoFit/>
          </a:bodyPr>
          <a:lstStyle/>
          <a:p>
            <a:pPr algn="l">
              <a:lnSpc>
                <a:spcPct val="100000"/>
              </a:lnSpc>
              <a:spcAft>
                <a:spcPts val="400"/>
              </a:spcAft>
            </a:pPr>
            <a:r>
              <a:rPr sz="1080" b="1" i="0">
                <a:solidFill>
                  <a:srgbClr val="16325C"/>
                </a:solidFill>
                <a:latin typeface="Calibri"/>
              </a:rPr>
              <a:t>What we will know at the end</a:t>
            </a:r>
          </a:p>
        </p:txBody>
      </p:sp>
      <p:sp>
        <p:nvSpPr>
          <p:cNvPr id="31" name="Rectangle 30"/>
          <p:cNvSpPr/>
          <p:nvPr/>
        </p:nvSpPr>
        <p:spPr>
          <a:xfrm>
            <a:off x="3611880" y="4544568"/>
            <a:ext cx="8165592"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94176" y="4608576"/>
            <a:ext cx="8019288" cy="384048"/>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A measured accuracy figure against real JLR prices, and a measured time per part</a:t>
            </a:r>
          </a:p>
        </p:txBody>
      </p:sp>
      <p:sp>
        <p:nvSpPr>
          <p:cNvPr id="33" name="Rectangle 32"/>
          <p:cNvSpPr/>
          <p:nvPr/>
        </p:nvSpPr>
        <p:spPr>
          <a:xfrm>
            <a:off x="411480" y="5020056"/>
            <a:ext cx="320040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 y="5084064"/>
            <a:ext cx="3054096" cy="384048"/>
          </a:xfrm>
          <a:prstGeom prst="rect">
            <a:avLst/>
          </a:prstGeom>
          <a:noFill/>
        </p:spPr>
        <p:txBody>
          <a:bodyPr wrap="square" anchor="t" lIns="0" rIns="0" tIns="0" bIns="0">
            <a:spAutoFit/>
          </a:bodyPr>
          <a:lstStyle/>
          <a:p>
            <a:pPr algn="l">
              <a:lnSpc>
                <a:spcPct val="100000"/>
              </a:lnSpc>
              <a:spcAft>
                <a:spcPts val="400"/>
              </a:spcAft>
            </a:pPr>
            <a:r>
              <a:rPr sz="1080" b="1" i="0">
                <a:solidFill>
                  <a:srgbClr val="16325C"/>
                </a:solidFill>
                <a:latin typeface="Calibri"/>
              </a:rPr>
              <a:t>What we are NOT asking for</a:t>
            </a:r>
          </a:p>
        </p:txBody>
      </p:sp>
      <p:sp>
        <p:nvSpPr>
          <p:cNvPr id="35" name="Rectangle 34"/>
          <p:cNvSpPr/>
          <p:nvPr/>
        </p:nvSpPr>
        <p:spPr>
          <a:xfrm>
            <a:off x="3611880" y="5020056"/>
            <a:ext cx="816559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94176" y="5084064"/>
            <a:ext cx="8019288" cy="384048"/>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A decision on Option 2 today. It needs the accuracy answer first</a:t>
            </a:r>
          </a:p>
        </p:txBody>
      </p:sp>
      <p:sp>
        <p:nvSpPr>
          <p:cNvPr id="37" name="Rounded Rectangle 36"/>
          <p:cNvSpPr/>
          <p:nvPr/>
        </p:nvSpPr>
        <p:spPr>
          <a:xfrm>
            <a:off x="411480" y="5623560"/>
            <a:ext cx="11365992" cy="868680"/>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11480" y="5623560"/>
            <a:ext cx="68580" cy="86868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 y="574243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The one thing to know before you decide</a:t>
            </a:r>
          </a:p>
        </p:txBody>
      </p:sp>
      <p:sp>
        <p:nvSpPr>
          <p:cNvPr id="40" name="TextBox 39"/>
          <p:cNvSpPr txBox="1"/>
          <p:nvPr/>
        </p:nvSpPr>
        <p:spPr>
          <a:xfrm>
            <a:off x="630936" y="6025896"/>
            <a:ext cx="10954512" cy="36576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CostVision has never been checked against a price JLR has actually paid. Its arithmetic matches a hand calculation, but that is not the same thing. The proof of concept is what tells us how close it gets.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PROBLEM</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costing a part looks like today</a:t>
            </a:r>
          </a:p>
        </p:txBody>
      </p:sp>
      <p:sp>
        <p:nvSpPr>
          <p:cNvPr id="9" name="Rounded Rectangle 8"/>
          <p:cNvSpPr/>
          <p:nvPr/>
        </p:nvSpPr>
        <p:spPr>
          <a:xfrm>
            <a:off x="411480" y="1627632"/>
            <a:ext cx="5577840" cy="3383280"/>
          </a:xfrm>
          <a:prstGeom prst="roundRect">
            <a:avLst>
              <a:gd name="adj" fmla="val 12000"/>
            </a:avLst>
          </a:prstGeom>
          <a:solidFill>
            <a:srgbClr val="FBECEA"/>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27632"/>
            <a:ext cx="68580" cy="33832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755648"/>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TODAY, BY HAND</a:t>
            </a:r>
          </a:p>
        </p:txBody>
      </p:sp>
      <p:sp>
        <p:nvSpPr>
          <p:cNvPr id="12" name="TextBox 11"/>
          <p:cNvSpPr txBox="1"/>
          <p:nvPr/>
        </p:nvSpPr>
        <p:spPr>
          <a:xfrm>
            <a:off x="612648" y="2066544"/>
            <a:ext cx="5212080" cy="283464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The engineer opens the part in CAD, reads the drawing,</a:t>
            </a:r>
          </a:p>
          <a:p>
            <a:pPr algn="l">
              <a:lnSpc>
                <a:spcPct val="112000"/>
              </a:lnSpc>
              <a:spcAft>
                <a:spcPts val="300"/>
              </a:spcAft>
            </a:pPr>
            <a:r>
              <a:rPr sz="1050" b="0" i="0">
                <a:solidFill>
                  <a:srgbClr val="3A4356"/>
                </a:solidFill>
                <a:latin typeface="Calibri"/>
              </a:rPr>
              <a:t>and types the numbers into CAPEE.</a:t>
            </a:r>
          </a:p>
          <a:p>
            <a:pPr algn="l">
              <a:lnSpc>
                <a:spcPct val="112000"/>
              </a:lnSpc>
              <a:spcAft>
                <a:spcPts val="300"/>
              </a:spcAft>
            </a:pPr>
            <a:r>
              <a:rPr sz="1050" b="1" i="0">
                <a:solidFill>
                  <a:srgbClr val="16325C"/>
                </a:solidFill>
                <a:latin typeface="Calibri"/>
              </a:rPr>
              <a:t>Boxes to fill, depending on the part type:</a:t>
            </a:r>
          </a:p>
          <a:p>
            <a:pPr algn="l">
              <a:lnSpc>
                <a:spcPct val="112000"/>
              </a:lnSpc>
              <a:spcAft>
                <a:spcPts val="300"/>
              </a:spcAft>
            </a:pPr>
            <a:r>
              <a:rPr sz="1050" b="0" i="0">
                <a:solidFill>
                  <a:srgbClr val="3A4356"/>
                </a:solidFill>
                <a:latin typeface="Calibri"/>
              </a:rPr>
              <a:t>about 12 to about 70 on CostVision's own forms</a:t>
            </a:r>
          </a:p>
          <a:p>
            <a:pPr algn="l">
              <a:lnSpc>
                <a:spcPct val="112000"/>
              </a:lnSpc>
              <a:spcAft>
                <a:spcPts val="300"/>
              </a:spcAft>
            </a:pPr>
          </a:p>
          <a:p>
            <a:pPr algn="l">
              <a:lnSpc>
                <a:spcPct val="112000"/>
              </a:lnSpc>
              <a:spcAft>
                <a:spcPts val="300"/>
              </a:spcAft>
            </a:pPr>
            <a:r>
              <a:rPr sz="1050" b="0" i="0">
                <a:solidFill>
                  <a:srgbClr val="3A4356"/>
                </a:solidFill>
                <a:latin typeface="Calibri"/>
              </a:rPr>
              <a:t>Part weight, starting material weight, wall thickness,</a:t>
            </a:r>
          </a:p>
          <a:p>
            <a:pPr algn="l">
              <a:lnSpc>
                <a:spcPct val="112000"/>
              </a:lnSpc>
              <a:spcAft>
                <a:spcPts val="300"/>
              </a:spcAft>
            </a:pPr>
            <a:r>
              <a:rPr sz="1050" b="0" i="0">
                <a:solidFill>
                  <a:srgbClr val="3A4356"/>
                </a:solidFill>
                <a:latin typeface="Calibri"/>
              </a:rPr>
              <a:t>hole and pocket counts, machine times, surface area,</a:t>
            </a:r>
          </a:p>
          <a:p>
            <a:pPr algn="l">
              <a:lnSpc>
                <a:spcPct val="112000"/>
              </a:lnSpc>
              <a:spcAft>
                <a:spcPts val="300"/>
              </a:spcAft>
            </a:pPr>
            <a:r>
              <a:rPr sz="1050" b="0" i="0">
                <a:solidFill>
                  <a:srgbClr val="3A4356"/>
                </a:solidFill>
                <a:latin typeface="Calibri"/>
              </a:rPr>
              <a:t>tolerances, finish, heat treatment.</a:t>
            </a:r>
          </a:p>
          <a:p>
            <a:pPr algn="l">
              <a:lnSpc>
                <a:spcPct val="112000"/>
              </a:lnSpc>
              <a:spcAft>
                <a:spcPts val="300"/>
              </a:spcAft>
            </a:pPr>
          </a:p>
          <a:p>
            <a:pPr algn="l">
              <a:lnSpc>
                <a:spcPct val="112000"/>
              </a:lnSpc>
              <a:spcAft>
                <a:spcPts val="300"/>
              </a:spcAft>
            </a:pPr>
            <a:r>
              <a:rPr sz="1050" b="1" i="0">
                <a:solidFill>
                  <a:srgbClr val="16325C"/>
                </a:solidFill>
                <a:latin typeface="Calibri"/>
              </a:rPr>
              <a:t>Two engineers costing the same part will not type the</a:t>
            </a:r>
          </a:p>
          <a:p>
            <a:pPr algn="l">
              <a:lnSpc>
                <a:spcPct val="112000"/>
              </a:lnSpc>
              <a:spcAft>
                <a:spcPts val="300"/>
              </a:spcAft>
            </a:pPr>
            <a:r>
              <a:rPr sz="1050" b="1" i="0">
                <a:solidFill>
                  <a:srgbClr val="16325C"/>
                </a:solidFill>
                <a:latin typeface="Calibri"/>
              </a:rPr>
              <a:t>same numbers. So one part gets two answers.</a:t>
            </a:r>
          </a:p>
        </p:txBody>
      </p:sp>
      <p:sp>
        <p:nvSpPr>
          <p:cNvPr id="13" name="Rounded Rectangle 12"/>
          <p:cNvSpPr/>
          <p:nvPr/>
        </p:nvSpPr>
        <p:spPr>
          <a:xfrm>
            <a:off x="6199632" y="1627632"/>
            <a:ext cx="5577840" cy="3383280"/>
          </a:xfrm>
          <a:prstGeom prst="roundRect">
            <a:avLst>
              <a:gd name="adj" fmla="val 12000"/>
            </a:avLst>
          </a:prstGeom>
          <a:solidFill>
            <a:srgbClr val="EAF6E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627632"/>
            <a:ext cx="68580" cy="33832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55648"/>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WITH COSTVISION</a:t>
            </a:r>
          </a:p>
        </p:txBody>
      </p:sp>
      <p:sp>
        <p:nvSpPr>
          <p:cNvPr id="16" name="TextBox 15"/>
          <p:cNvSpPr txBox="1"/>
          <p:nvPr/>
        </p:nvSpPr>
        <p:spPr>
          <a:xfrm>
            <a:off x="6400800" y="2066544"/>
            <a:ext cx="5212080" cy="283464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The engineer hands over the 3D model: STEP, IGES or STL.</a:t>
            </a:r>
          </a:p>
          <a:p>
            <a:pPr algn="l">
              <a:lnSpc>
                <a:spcPct val="112000"/>
              </a:lnSpc>
              <a:spcAft>
                <a:spcPts val="300"/>
              </a:spcAft>
            </a:pPr>
            <a:r>
              <a:rPr sz="1050" b="1" i="0">
                <a:solidFill>
                  <a:srgbClr val="16325C"/>
                </a:solidFill>
                <a:latin typeface="Calibri"/>
              </a:rPr>
              <a:t>Measured off the model:</a:t>
            </a:r>
          </a:p>
          <a:p>
            <a:pPr algn="l">
              <a:lnSpc>
                <a:spcPct val="112000"/>
              </a:lnSpc>
              <a:spcAft>
                <a:spcPts val="300"/>
              </a:spcAft>
            </a:pPr>
            <a:r>
              <a:rPr sz="1050" b="0" i="0">
                <a:solidFill>
                  <a:srgbClr val="3A4356"/>
                </a:solidFill>
                <a:latin typeface="Calibri"/>
              </a:rPr>
              <a:t>volume, weight, size, surface area, walls, holes,</a:t>
            </a:r>
          </a:p>
          <a:p>
            <a:pPr algn="l">
              <a:lnSpc>
                <a:spcPct val="112000"/>
              </a:lnSpc>
              <a:spcAft>
                <a:spcPts val="300"/>
              </a:spcAft>
            </a:pPr>
            <a:r>
              <a:rPr sz="1050" b="0" i="0">
                <a:solidFill>
                  <a:srgbClr val="3A4356"/>
                </a:solidFill>
                <a:latin typeface="Calibri"/>
              </a:rPr>
              <a:t>pockets, bosses, gear teeth, bends.</a:t>
            </a:r>
          </a:p>
          <a:p>
            <a:pPr algn="l">
              <a:lnSpc>
                <a:spcPct val="112000"/>
              </a:lnSpc>
              <a:spcAft>
                <a:spcPts val="300"/>
              </a:spcAft>
            </a:pPr>
          </a:p>
          <a:p>
            <a:pPr algn="l">
              <a:lnSpc>
                <a:spcPct val="112000"/>
              </a:lnSpc>
              <a:spcAft>
                <a:spcPts val="300"/>
              </a:spcAft>
            </a:pPr>
            <a:r>
              <a:rPr sz="1050" b="1" i="0">
                <a:solidFill>
                  <a:srgbClr val="16325C"/>
                </a:solidFill>
                <a:latin typeface="Calibri"/>
              </a:rPr>
              <a:t>Asked of the engineer:</a:t>
            </a:r>
          </a:p>
          <a:p>
            <a:pPr algn="l">
              <a:lnSpc>
                <a:spcPct val="112000"/>
              </a:lnSpc>
              <a:spcAft>
                <a:spcPts val="300"/>
              </a:spcAft>
            </a:pPr>
            <a:r>
              <a:rPr sz="1050" b="0" i="0">
                <a:solidFill>
                  <a:srgbClr val="3A4356"/>
                </a:solidFill>
                <a:latin typeface="Calibri"/>
              </a:rPr>
              <a:t>material family, tolerances, finish, heat treatment,</a:t>
            </a:r>
          </a:p>
          <a:p>
            <a:pPr algn="l">
              <a:lnSpc>
                <a:spcPct val="112000"/>
              </a:lnSpc>
              <a:spcAft>
                <a:spcPts val="300"/>
              </a:spcAft>
            </a:pPr>
            <a:r>
              <a:rPr sz="1050" b="0" i="0">
                <a:solidFill>
                  <a:srgbClr val="3A4356"/>
                </a:solidFill>
                <a:latin typeface="Calibri"/>
              </a:rPr>
              <a:t>and anything else the shape cannot decide.</a:t>
            </a:r>
          </a:p>
          <a:p>
            <a:pPr algn="l">
              <a:lnSpc>
                <a:spcPct val="112000"/>
              </a:lnSpc>
              <a:spcAft>
                <a:spcPts val="300"/>
              </a:spcAft>
            </a:pPr>
          </a:p>
          <a:p>
            <a:pPr algn="l">
              <a:lnSpc>
                <a:spcPct val="112000"/>
              </a:lnSpc>
              <a:spcAft>
                <a:spcPts val="300"/>
              </a:spcAft>
            </a:pPr>
            <a:r>
              <a:rPr sz="1050" b="1" i="0">
                <a:solidFill>
                  <a:srgbClr val="16325C"/>
                </a:solidFill>
                <a:latin typeface="Calibri"/>
              </a:rPr>
              <a:t>Fixed rules fill the form. Same part, same numbers,</a:t>
            </a:r>
          </a:p>
          <a:p>
            <a:pPr algn="l">
              <a:lnSpc>
                <a:spcPct val="112000"/>
              </a:lnSpc>
              <a:spcAft>
                <a:spcPts val="300"/>
              </a:spcAft>
            </a:pPr>
            <a:r>
              <a:rPr sz="1050" b="1" i="0">
                <a:solidFill>
                  <a:srgbClr val="2A7F50"/>
                </a:solidFill>
                <a:latin typeface="Calibri"/>
              </a:rPr>
              <a:t>every time.</a:t>
            </a:r>
          </a:p>
        </p:txBody>
      </p:sp>
      <p:sp>
        <p:nvSpPr>
          <p:cNvPr id="17" name="Rounded Rectangle 16"/>
          <p:cNvSpPr/>
          <p:nvPr/>
        </p:nvSpPr>
        <p:spPr>
          <a:xfrm>
            <a:off x="411480" y="5074920"/>
            <a:ext cx="11365992" cy="114300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074920"/>
            <a:ext cx="68580" cy="1143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 y="519379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Measuring is not AI</a:t>
            </a:r>
          </a:p>
        </p:txBody>
      </p:sp>
      <p:sp>
        <p:nvSpPr>
          <p:cNvPr id="20" name="TextBox 19"/>
          <p:cNvSpPr txBox="1"/>
          <p:nvPr/>
        </p:nvSpPr>
        <p:spPr>
          <a:xfrm>
            <a:off x="630936" y="5477256"/>
            <a:ext cx="10954512" cy="64008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3D model is measured by software, the way a CMM measures a part. Fixed rules turn the measurements into cost inputs. The JLR build has no API key yet. There is an optional AI mode that can read drawings, but it needs a key, and even when it is on it never sets a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CURRENT STATUS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Where CostVision is today</a:t>
            </a:r>
          </a:p>
        </p:txBody>
      </p:sp>
      <p:sp>
        <p:nvSpPr>
          <p:cNvPr id="9" name="TextBox 8"/>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Checked against the software on 28 September 2026.</a:t>
            </a:r>
          </a:p>
        </p:txBody>
      </p:sp>
      <p:sp>
        <p:nvSpPr>
          <p:cNvPr id="10" name="Rounded Rectangle 9"/>
          <p:cNvSpPr/>
          <p:nvPr/>
        </p:nvSpPr>
        <p:spPr>
          <a:xfrm>
            <a:off x="411480" y="1920240"/>
            <a:ext cx="5577840" cy="3291840"/>
          </a:xfrm>
          <a:prstGeom prst="roundRect">
            <a:avLst>
              <a:gd name="adj" fmla="val 12000"/>
            </a:avLst>
          </a:prstGeom>
          <a:solidFill>
            <a:srgbClr val="EAF6E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920240"/>
            <a:ext cx="68580" cy="329184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048256"/>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WORKING NOW</a:t>
            </a:r>
          </a:p>
        </p:txBody>
      </p:sp>
      <p:sp>
        <p:nvSpPr>
          <p:cNvPr id="13" name="TextBox 12"/>
          <p:cNvSpPr txBox="1"/>
          <p:nvPr/>
        </p:nvSpPr>
        <p:spPr>
          <a:xfrm>
            <a:off x="612648" y="2359152"/>
            <a:ext cx="5212080" cy="274320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19 manufacturing processes, an assembly roll-up and a</a:t>
            </a:r>
          </a:p>
          <a:p>
            <a:pPr algn="l">
              <a:lnSpc>
                <a:spcPct val="112000"/>
              </a:lnSpc>
              <a:spcAft>
                <a:spcPts val="300"/>
              </a:spcAft>
            </a:pPr>
            <a:r>
              <a:rPr sz="1050" b="0" i="0">
                <a:solidFill>
                  <a:srgbClr val="3A4356"/>
                </a:solidFill>
                <a:latin typeface="Calibri"/>
              </a:rPr>
              <a:t>49-module software cost model</a:t>
            </a:r>
          </a:p>
          <a:p>
            <a:pPr algn="l">
              <a:lnSpc>
                <a:spcPct val="112000"/>
              </a:lnSpc>
              <a:spcAft>
                <a:spcPts val="300"/>
              </a:spcAft>
            </a:pPr>
            <a:r>
              <a:rPr sz="1050" b="0" i="0">
                <a:solidFill>
                  <a:srgbClr val="3A4356"/>
                </a:solidFill>
                <a:latin typeface="Calibri"/>
              </a:rPr>
              <a:t>13 of those costed straight from a CAD file</a:t>
            </a:r>
          </a:p>
          <a:p>
            <a:pPr algn="l">
              <a:lnSpc>
                <a:spcPct val="112000"/>
              </a:lnSpc>
              <a:spcAft>
                <a:spcPts val="300"/>
              </a:spcAft>
            </a:pPr>
            <a:r>
              <a:rPr sz="1050" b="0" i="0">
                <a:solidFill>
                  <a:srgbClr val="3A4356"/>
                </a:solidFill>
                <a:latin typeface="Calibri"/>
              </a:rPr>
              <a:t>Same inputs, same answer, every time</a:t>
            </a:r>
          </a:p>
          <a:p>
            <a:pPr algn="l">
              <a:lnSpc>
                <a:spcPct val="112000"/>
              </a:lnSpc>
              <a:spcAft>
                <a:spcPts val="300"/>
              </a:spcAft>
            </a:pPr>
            <a:r>
              <a:rPr sz="1050" b="0" i="0">
                <a:solidFill>
                  <a:srgbClr val="3A4356"/>
                </a:solidFill>
                <a:latin typeface="Calibri"/>
              </a:rPr>
              <a:t>Measures STEP, IGES and STL with no internet</a:t>
            </a:r>
          </a:p>
          <a:p>
            <a:pPr algn="l">
              <a:lnSpc>
                <a:spcPct val="112000"/>
              </a:lnSpc>
              <a:spcAft>
                <a:spcPts val="300"/>
              </a:spcAft>
            </a:pPr>
            <a:r>
              <a:rPr sz="1050" b="0" i="0">
                <a:solidFill>
                  <a:srgbClr val="3A4356"/>
                </a:solidFill>
                <a:latin typeface="Calibri"/>
              </a:rPr>
              <a:t>Asks the engineer where the geometry cannot decide</a:t>
            </a:r>
          </a:p>
          <a:p>
            <a:pPr algn="l">
              <a:lnSpc>
                <a:spcPct val="112000"/>
              </a:lnSpc>
              <a:spcAft>
                <a:spcPts val="300"/>
              </a:spcAft>
            </a:pPr>
            <a:r>
              <a:rPr sz="1050" b="0" i="0">
                <a:solidFill>
                  <a:srgbClr val="3A4356"/>
                </a:solidFill>
                <a:latin typeface="Calibri"/>
              </a:rPr>
              <a:t>Blocks the costing when the checks find a contradiction</a:t>
            </a:r>
          </a:p>
          <a:p>
            <a:pPr algn="l">
              <a:lnSpc>
                <a:spcPct val="112000"/>
              </a:lnSpc>
              <a:spcAft>
                <a:spcPts val="300"/>
              </a:spcAft>
            </a:pPr>
            <a:r>
              <a:rPr sz="1050" b="0" i="0">
                <a:solidFill>
                  <a:srgbClr val="3A4356"/>
                </a:solidFill>
                <a:latin typeface="Calibri"/>
              </a:rPr>
              <a:t>Bulk run from a parts list, with no AI</a:t>
            </a:r>
          </a:p>
          <a:p>
            <a:pPr algn="l">
              <a:lnSpc>
                <a:spcPct val="112000"/>
              </a:lnSpc>
              <a:spcAft>
                <a:spcPts val="300"/>
              </a:spcAft>
            </a:pPr>
            <a:r>
              <a:rPr sz="1050" b="0" i="0">
                <a:solidFill>
                  <a:srgbClr val="3A4356"/>
                </a:solidFill>
                <a:latin typeface="Calibri"/>
              </a:rPr>
              <a:t>Keeps every rate book, so a costing can be redone</a:t>
            </a:r>
          </a:p>
          <a:p>
            <a:pPr algn="l">
              <a:lnSpc>
                <a:spcPct val="112000"/>
              </a:lnSpc>
              <a:spcAft>
                <a:spcPts val="300"/>
              </a:spcAft>
            </a:pPr>
            <a:r>
              <a:rPr sz="1050" b="0" i="0">
                <a:solidFill>
                  <a:srgbClr val="3A4356"/>
                </a:solidFill>
                <a:latin typeface="Calibri"/>
              </a:rPr>
              <a:t>Rate library of 16 June 2026: 328 materials, 178</a:t>
            </a:r>
          </a:p>
          <a:p>
            <a:pPr algn="l">
              <a:lnSpc>
                <a:spcPct val="112000"/>
              </a:lnSpc>
              <a:spcAft>
                <a:spcPts val="300"/>
              </a:spcAft>
            </a:pPr>
            <a:r>
              <a:rPr sz="1050" b="0" i="0">
                <a:solidFill>
                  <a:srgbClr val="3A4356"/>
                </a:solidFill>
                <a:latin typeface="Calibri"/>
              </a:rPr>
              <a:t>machines, 42 labour grades, 20 regions</a:t>
            </a:r>
          </a:p>
          <a:p>
            <a:pPr algn="l">
              <a:lnSpc>
                <a:spcPct val="112000"/>
              </a:lnSpc>
              <a:spcAft>
                <a:spcPts val="300"/>
              </a:spcAft>
            </a:pPr>
            <a:r>
              <a:rPr sz="1050" b="0" i="0">
                <a:solidFill>
                  <a:srgbClr val="3A4356"/>
                </a:solidFill>
                <a:latin typeface="Calibri"/>
              </a:rPr>
              <a:t>Windows package: no installer, admin rights or internet</a:t>
            </a:r>
          </a:p>
          <a:p>
            <a:pPr algn="l">
              <a:lnSpc>
                <a:spcPct val="112000"/>
              </a:lnSpc>
              <a:spcAft>
                <a:spcPts val="300"/>
              </a:spcAft>
            </a:pPr>
            <a:r>
              <a:rPr sz="1050" b="0" i="0">
                <a:solidFill>
                  <a:srgbClr val="3A4356"/>
                </a:solidFill>
                <a:latin typeface="Calibri"/>
              </a:rPr>
              <a:t>2,438 automated tests; 6 real parts pinned</a:t>
            </a:r>
          </a:p>
        </p:txBody>
      </p:sp>
      <p:sp>
        <p:nvSpPr>
          <p:cNvPr id="14" name="Rounded Rectangle 13"/>
          <p:cNvSpPr/>
          <p:nvPr/>
        </p:nvSpPr>
        <p:spPr>
          <a:xfrm>
            <a:off x="6199632" y="1920240"/>
            <a:ext cx="5577840" cy="3291840"/>
          </a:xfrm>
          <a:prstGeom prst="roundRect">
            <a:avLst>
              <a:gd name="adj" fmla="val 12000"/>
            </a:avLst>
          </a:prstGeom>
          <a:solidFill>
            <a:srgbClr val="FCF3E3"/>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920240"/>
            <a:ext cx="68580" cy="329184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048256"/>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NOT THERE YET</a:t>
            </a:r>
          </a:p>
        </p:txBody>
      </p:sp>
      <p:sp>
        <p:nvSpPr>
          <p:cNvPr id="17" name="TextBox 16"/>
          <p:cNvSpPr txBox="1"/>
          <p:nvPr/>
        </p:nvSpPr>
        <p:spPr>
          <a:xfrm>
            <a:off x="6400800" y="2359152"/>
            <a:ext cx="5212080" cy="274320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Never compared against a price JLR has paid</a:t>
            </a:r>
          </a:p>
          <a:p>
            <a:pPr algn="l">
              <a:lnSpc>
                <a:spcPct val="112000"/>
              </a:lnSpc>
              <a:spcAft>
                <a:spcPts val="300"/>
              </a:spcAft>
            </a:pPr>
            <a:r>
              <a:rPr sz="1050" b="0" i="0">
                <a:solidFill>
                  <a:srgbClr val="3A4356"/>
                </a:solidFill>
                <a:latin typeface="Calibri"/>
              </a:rPr>
              <a:t>No link into CAPEE yet</a:t>
            </a:r>
          </a:p>
          <a:p>
            <a:pPr algn="l">
              <a:lnSpc>
                <a:spcPct val="112000"/>
              </a:lnSpc>
              <a:spcAft>
                <a:spcPts val="300"/>
              </a:spcAft>
            </a:pPr>
            <a:r>
              <a:rPr sz="1050" b="0" i="0">
                <a:solidFill>
                  <a:srgbClr val="3A4356"/>
                </a:solidFill>
                <a:latin typeface="Calibri"/>
              </a:rPr>
              <a:t>No JLR single sign-on; it has its own sign-in</a:t>
            </a:r>
          </a:p>
          <a:p>
            <a:pPr algn="l">
              <a:lnSpc>
                <a:spcPct val="112000"/>
              </a:lnSpc>
              <a:spcAft>
                <a:spcPts val="300"/>
              </a:spcAft>
            </a:pPr>
            <a:r>
              <a:rPr sz="1050" b="0" i="0">
                <a:solidFill>
                  <a:srgbClr val="3A4356"/>
                </a:solidFill>
                <a:latin typeface="Calibri"/>
              </a:rPr>
              <a:t>The bulk run is a command-line tool, not a screen</a:t>
            </a:r>
          </a:p>
          <a:p>
            <a:pPr algn="l">
              <a:lnSpc>
                <a:spcPct val="112000"/>
              </a:lnSpc>
              <a:spcAft>
                <a:spcPts val="300"/>
              </a:spcAft>
            </a:pPr>
            <a:r>
              <a:rPr sz="1050" b="0" i="0">
                <a:solidFill>
                  <a:srgbClr val="3A4356"/>
                </a:solidFill>
                <a:latin typeface="Calibri"/>
              </a:rPr>
              <a:t>A costing done on screen is kept only if it is saved</a:t>
            </a:r>
          </a:p>
          <a:p>
            <a:pPr algn="l">
              <a:lnSpc>
                <a:spcPct val="112000"/>
              </a:lnSpc>
              <a:spcAft>
                <a:spcPts val="300"/>
              </a:spcAft>
            </a:pPr>
            <a:r>
              <a:rPr sz="1050" b="0" i="0">
                <a:solidFill>
                  <a:srgbClr val="3A4356"/>
                </a:solidFill>
                <a:latin typeface="Calibri"/>
              </a:rPr>
              <a:t>Extrusion has no CAD rules yet (its form still costs it)</a:t>
            </a:r>
          </a:p>
          <a:p>
            <a:pPr algn="l">
              <a:lnSpc>
                <a:spcPct val="112000"/>
              </a:lnSpc>
              <a:spcAft>
                <a:spcPts val="300"/>
              </a:spcAft>
            </a:pPr>
            <a:r>
              <a:rPr sz="1050" b="0" i="0">
                <a:solidFill>
                  <a:srgbClr val="3A4356"/>
                </a:solidFill>
                <a:latin typeface="Calibri"/>
              </a:rPr>
              <a:t>An STL has no feature table, so a machined STL needs</a:t>
            </a:r>
          </a:p>
          <a:p>
            <a:pPr algn="l">
              <a:lnSpc>
                <a:spcPct val="112000"/>
              </a:lnSpc>
              <a:spcAft>
                <a:spcPts val="300"/>
              </a:spcAft>
            </a:pPr>
            <a:r>
              <a:rPr sz="1050" b="0" i="0">
                <a:solidFill>
                  <a:srgbClr val="3A4356"/>
                </a:solidFill>
                <a:latin typeface="Calibri"/>
              </a:rPr>
              <a:t>its cycle time typed in</a:t>
            </a:r>
          </a:p>
          <a:p>
            <a:pPr algn="l">
              <a:lnSpc>
                <a:spcPct val="112000"/>
              </a:lnSpc>
              <a:spcAft>
                <a:spcPts val="300"/>
              </a:spcAft>
            </a:pPr>
            <a:r>
              <a:rPr sz="1050" b="0" i="0">
                <a:solidFill>
                  <a:srgbClr val="3A4356"/>
                </a:solidFill>
                <a:latin typeface="Calibri"/>
              </a:rPr>
              <a:t>The built-in rates are not JLR rates until we load ours</a:t>
            </a:r>
          </a:p>
          <a:p>
            <a:pPr algn="l">
              <a:lnSpc>
                <a:spcPct val="112000"/>
              </a:lnSpc>
              <a:spcAft>
                <a:spcPts val="300"/>
              </a:spcAft>
            </a:pPr>
            <a:r>
              <a:rPr sz="1050" b="0" i="0">
                <a:solidFill>
                  <a:srgbClr val="3A4356"/>
                </a:solidFill>
                <a:latin typeface="Calibri"/>
              </a:rPr>
              <a:t>AI features need an API key; none added yet</a:t>
            </a:r>
          </a:p>
          <a:p>
            <a:pPr algn="l">
              <a:lnSpc>
                <a:spcPct val="112000"/>
              </a:lnSpc>
              <a:spcAft>
                <a:spcPts val="300"/>
              </a:spcAft>
            </a:pPr>
            <a:r>
              <a:rPr sz="1050" b="0" i="0">
                <a:solidFill>
                  <a:srgbClr val="3A4356"/>
                </a:solidFill>
                <a:latin typeface="Calibri"/>
              </a:rPr>
              <a:t>Still under active development</a:t>
            </a:r>
          </a:p>
        </p:txBody>
      </p:sp>
      <p:sp>
        <p:nvSpPr>
          <p:cNvPr id="18" name="Rounded Rectangle 17"/>
          <p:cNvSpPr/>
          <p:nvPr/>
        </p:nvSpPr>
        <p:spPr>
          <a:xfrm>
            <a:off x="411480" y="5394960"/>
            <a:ext cx="11365992" cy="91440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5394960"/>
            <a:ext cx="68580" cy="9144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551383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What changed since the last time I showed you this</a:t>
            </a:r>
          </a:p>
        </p:txBody>
      </p:sp>
      <p:sp>
        <p:nvSpPr>
          <p:cNvPr id="21" name="TextBox 20"/>
          <p:cNvSpPr txBox="1"/>
          <p:nvPr/>
        </p:nvSpPr>
        <p:spPr>
          <a:xfrm>
            <a:off x="630936" y="5797296"/>
            <a:ext cx="10954512" cy="41148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bulk run now exists, with no AI. Every rate book is kept, so a past costing can be redone. The bulk run uses the same geometry checks as a single part, takes a region and a volume, and covers gear. And a Windows package now runs on a locked-down laptop.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SEQUENCE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plan: prove it small, then scale it</a:t>
            </a:r>
          </a:p>
        </p:txBody>
      </p:sp>
      <p:sp>
        <p:nvSpPr>
          <p:cNvPr id="9" name="Rounded Rectangle 8"/>
          <p:cNvSpPr/>
          <p:nvPr/>
        </p:nvSpPr>
        <p:spPr>
          <a:xfrm>
            <a:off x="548640" y="1664208"/>
            <a:ext cx="2651760" cy="169164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64208"/>
            <a:ext cx="2651760"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91056" y="1828800"/>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ip.png"/>
          <p:cNvPicPr>
            <a:picLocks noChangeAspect="1"/>
          </p:cNvPicPr>
          <p:nvPr/>
        </p:nvPicPr>
        <p:blipFill>
          <a:blip r:embed="rId2"/>
          <a:stretch>
            <a:fillRect/>
          </a:stretch>
        </p:blipFill>
        <p:spPr>
          <a:xfrm>
            <a:off x="1738457" y="1976201"/>
            <a:ext cx="272126" cy="272126"/>
          </a:xfrm>
          <a:prstGeom prst="rect">
            <a:avLst/>
          </a:prstGeom>
        </p:spPr>
      </p:pic>
      <p:sp>
        <p:nvSpPr>
          <p:cNvPr id="13" name="TextBox 12"/>
          <p:cNvSpPr txBox="1"/>
          <p:nvPr/>
        </p:nvSpPr>
        <p:spPr>
          <a:xfrm>
            <a:off x="621792" y="2505456"/>
            <a:ext cx="2505456"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Option 1</a:t>
            </a:r>
          </a:p>
        </p:txBody>
      </p:sp>
      <p:sp>
        <p:nvSpPr>
          <p:cNvPr id="14" name="TextBox 13"/>
          <p:cNvSpPr txBox="1"/>
          <p:nvPr/>
        </p:nvSpPr>
        <p:spPr>
          <a:xfrm>
            <a:off x="621792" y="2834640"/>
            <a:ext cx="2505456" cy="46634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Fill CAPEE automatically</a:t>
            </a:r>
          </a:p>
        </p:txBody>
      </p:sp>
      <p:sp>
        <p:nvSpPr>
          <p:cNvPr id="15" name="Right Arrow 14"/>
          <p:cNvSpPr/>
          <p:nvPr/>
        </p:nvSpPr>
        <p:spPr>
          <a:xfrm>
            <a:off x="3227832" y="2395728"/>
            <a:ext cx="219456"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74720" y="1664208"/>
            <a:ext cx="2651760" cy="169164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0" y="1664208"/>
            <a:ext cx="2651760"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eck.png"/>
          <p:cNvPicPr>
            <a:picLocks noChangeAspect="1"/>
          </p:cNvPicPr>
          <p:nvPr/>
        </p:nvPicPr>
        <p:blipFill>
          <a:blip r:embed="rId3"/>
          <a:stretch>
            <a:fillRect/>
          </a:stretch>
        </p:blipFill>
        <p:spPr>
          <a:xfrm>
            <a:off x="4664537" y="1976201"/>
            <a:ext cx="272126" cy="272126"/>
          </a:xfrm>
          <a:prstGeom prst="rect">
            <a:avLst/>
          </a:prstGeom>
        </p:spPr>
      </p:pic>
      <p:sp>
        <p:nvSpPr>
          <p:cNvPr id="19" name="TextBox 18"/>
          <p:cNvSpPr txBox="1"/>
          <p:nvPr/>
        </p:nvSpPr>
        <p:spPr>
          <a:xfrm>
            <a:off x="3547872" y="2505456"/>
            <a:ext cx="2505456"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Prove it</a:t>
            </a:r>
          </a:p>
        </p:txBody>
      </p:sp>
      <p:sp>
        <p:nvSpPr>
          <p:cNvPr id="20" name="TextBox 19"/>
          <p:cNvSpPr txBox="1"/>
          <p:nvPr/>
        </p:nvSpPr>
        <p:spPr>
          <a:xfrm>
            <a:off x="3547872" y="2834640"/>
            <a:ext cx="2505456" cy="46634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On 30 to 50 real JLR parts</a:t>
            </a:r>
          </a:p>
        </p:txBody>
      </p:sp>
      <p:sp>
        <p:nvSpPr>
          <p:cNvPr id="21" name="Right Arrow 20"/>
          <p:cNvSpPr/>
          <p:nvPr/>
        </p:nvSpPr>
        <p:spPr>
          <a:xfrm>
            <a:off x="6153912" y="2395728"/>
            <a:ext cx="219456"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0" y="1664208"/>
            <a:ext cx="2651760" cy="169164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1664208"/>
            <a:ext cx="2651760" cy="54864"/>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43216" y="1828800"/>
            <a:ext cx="566928" cy="566928"/>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eye.png"/>
          <p:cNvPicPr>
            <a:picLocks noChangeAspect="1"/>
          </p:cNvPicPr>
          <p:nvPr/>
        </p:nvPicPr>
        <p:blipFill>
          <a:blip r:embed="rId4"/>
          <a:stretch>
            <a:fillRect/>
          </a:stretch>
        </p:blipFill>
        <p:spPr>
          <a:xfrm>
            <a:off x="7590617" y="1976201"/>
            <a:ext cx="272126" cy="272126"/>
          </a:xfrm>
          <a:prstGeom prst="rect">
            <a:avLst/>
          </a:prstGeom>
        </p:spPr>
      </p:pic>
      <p:sp>
        <p:nvSpPr>
          <p:cNvPr id="26" name="TextBox 25"/>
          <p:cNvSpPr txBox="1"/>
          <p:nvPr/>
        </p:nvSpPr>
        <p:spPr>
          <a:xfrm>
            <a:off x="6473952" y="2505456"/>
            <a:ext cx="2505456"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Decide</a:t>
            </a:r>
          </a:p>
        </p:txBody>
      </p:sp>
      <p:sp>
        <p:nvSpPr>
          <p:cNvPr id="27" name="TextBox 26"/>
          <p:cNvSpPr txBox="1"/>
          <p:nvPr/>
        </p:nvSpPr>
        <p:spPr>
          <a:xfrm>
            <a:off x="6473952" y="2834640"/>
            <a:ext cx="2505456" cy="46634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With an accuracy figure in hand</a:t>
            </a:r>
          </a:p>
        </p:txBody>
      </p:sp>
      <p:sp>
        <p:nvSpPr>
          <p:cNvPr id="28" name="Right Arrow 27"/>
          <p:cNvSpPr/>
          <p:nvPr/>
        </p:nvSpPr>
        <p:spPr>
          <a:xfrm>
            <a:off x="9079992" y="2395728"/>
            <a:ext cx="219456"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326880" y="1664208"/>
            <a:ext cx="2651760" cy="169164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326880" y="1664208"/>
            <a:ext cx="2651760"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69296" y="1828800"/>
            <a:ext cx="566928" cy="566928"/>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cog.png"/>
          <p:cNvPicPr>
            <a:picLocks noChangeAspect="1"/>
          </p:cNvPicPr>
          <p:nvPr/>
        </p:nvPicPr>
        <p:blipFill>
          <a:blip r:embed="rId5"/>
          <a:stretch>
            <a:fillRect/>
          </a:stretch>
        </p:blipFill>
        <p:spPr>
          <a:xfrm>
            <a:off x="10516697" y="1976201"/>
            <a:ext cx="272126" cy="272126"/>
          </a:xfrm>
          <a:prstGeom prst="rect">
            <a:avLst/>
          </a:prstGeom>
        </p:spPr>
      </p:pic>
      <p:sp>
        <p:nvSpPr>
          <p:cNvPr id="33" name="TextBox 32"/>
          <p:cNvSpPr txBox="1"/>
          <p:nvPr/>
        </p:nvSpPr>
        <p:spPr>
          <a:xfrm>
            <a:off x="9400032" y="2505456"/>
            <a:ext cx="2505456"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Option 2</a:t>
            </a:r>
          </a:p>
        </p:txBody>
      </p:sp>
      <p:sp>
        <p:nvSpPr>
          <p:cNvPr id="34" name="TextBox 33"/>
          <p:cNvSpPr txBox="1"/>
          <p:nvPr/>
        </p:nvSpPr>
        <p:spPr>
          <a:xfrm>
            <a:off x="9400032" y="2834640"/>
            <a:ext cx="2505456" cy="46634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Cost the whole basket in bulk</a:t>
            </a:r>
          </a:p>
        </p:txBody>
      </p:sp>
      <p:sp>
        <p:nvSpPr>
          <p:cNvPr id="35" name="Rounded Rectangle 34"/>
          <p:cNvSpPr/>
          <p:nvPr/>
        </p:nvSpPr>
        <p:spPr>
          <a:xfrm>
            <a:off x="411480" y="3529584"/>
            <a:ext cx="5577840" cy="210312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1480" y="3529584"/>
            <a:ext cx="68580" cy="21031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 y="3657600"/>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1 · feed CAPEE automatically</a:t>
            </a:r>
          </a:p>
        </p:txBody>
      </p:sp>
      <p:sp>
        <p:nvSpPr>
          <p:cNvPr id="38" name="TextBox 37"/>
          <p:cNvSpPr txBox="1"/>
          <p:nvPr/>
        </p:nvSpPr>
        <p:spPr>
          <a:xfrm>
            <a:off x="612648" y="3968496"/>
            <a:ext cx="5212080" cy="155448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CAPEE stays as it is and still does the costing.</a:t>
            </a:r>
          </a:p>
          <a:p>
            <a:pPr algn="l">
              <a:lnSpc>
                <a:spcPct val="112000"/>
              </a:lnSpc>
              <a:spcAft>
                <a:spcPts val="300"/>
              </a:spcAft>
            </a:pPr>
            <a:r>
              <a:rPr sz="1050" b="0" i="0">
                <a:solidFill>
                  <a:srgbClr val="3A4356"/>
                </a:solidFill>
                <a:latin typeface="Calibri"/>
              </a:rPr>
              <a:t>Instead of typing a dozen to seventy boxes, the</a:t>
            </a:r>
          </a:p>
          <a:p>
            <a:pPr algn="l">
              <a:lnSpc>
                <a:spcPct val="112000"/>
              </a:lnSpc>
              <a:spcAft>
                <a:spcPts val="300"/>
              </a:spcAft>
            </a:pPr>
            <a:r>
              <a:rPr sz="1050" b="0" i="0">
                <a:solidFill>
                  <a:srgbClr val="3A4356"/>
                </a:solidFill>
                <a:latin typeface="Calibri"/>
              </a:rPr>
              <a:t>engineer hands over the 3D model and checks what</a:t>
            </a:r>
          </a:p>
          <a:p>
            <a:pPr algn="l">
              <a:lnSpc>
                <a:spcPct val="112000"/>
              </a:lnSpc>
              <a:spcAft>
                <a:spcPts val="300"/>
              </a:spcAft>
            </a:pPr>
            <a:r>
              <a:rPr sz="1050" b="0" i="0">
                <a:solidFill>
                  <a:srgbClr val="3A4356"/>
                </a:solidFill>
                <a:latin typeface="Calibri"/>
              </a:rPr>
              <a:t>fills in.</a:t>
            </a:r>
          </a:p>
          <a:p>
            <a:pPr algn="l">
              <a:lnSpc>
                <a:spcPct val="112000"/>
              </a:lnSpc>
              <a:spcAft>
                <a:spcPts val="300"/>
              </a:spcAft>
            </a:pPr>
          </a:p>
          <a:p>
            <a:pPr algn="l">
              <a:lnSpc>
                <a:spcPct val="112000"/>
              </a:lnSpc>
              <a:spcAft>
                <a:spcPts val="300"/>
              </a:spcAft>
            </a:pPr>
            <a:r>
              <a:rPr sz="1050" b="1" i="0">
                <a:solidFill>
                  <a:srgbClr val="16325C"/>
                </a:solidFill>
                <a:latin typeface="Calibri"/>
              </a:rPr>
              <a:t>We hand over the measuring engine, the rules and</a:t>
            </a:r>
          </a:p>
          <a:p>
            <a:pPr algn="l">
              <a:lnSpc>
                <a:spcPct val="112000"/>
              </a:lnSpc>
              <a:spcAft>
                <a:spcPts val="300"/>
              </a:spcAft>
            </a:pPr>
            <a:r>
              <a:rPr sz="1050" b="1" i="0">
                <a:solidFill>
                  <a:srgbClr val="16325C"/>
                </a:solidFill>
                <a:latin typeface="Calibri"/>
              </a:rPr>
              <a:t>the checks. Slide 7 lists them.</a:t>
            </a:r>
          </a:p>
        </p:txBody>
      </p:sp>
      <p:sp>
        <p:nvSpPr>
          <p:cNvPr id="39" name="Rounded Rectangle 38"/>
          <p:cNvSpPr/>
          <p:nvPr/>
        </p:nvSpPr>
        <p:spPr>
          <a:xfrm>
            <a:off x="6199632" y="3529584"/>
            <a:ext cx="5577840" cy="210312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99632" y="3529584"/>
            <a:ext cx="68580" cy="210312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0" y="3657600"/>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2 · cost in bulk, unattended</a:t>
            </a:r>
          </a:p>
        </p:txBody>
      </p:sp>
      <p:sp>
        <p:nvSpPr>
          <p:cNvPr id="42" name="TextBox 41"/>
          <p:cNvSpPr txBox="1"/>
          <p:nvPr/>
        </p:nvSpPr>
        <p:spPr>
          <a:xfrm>
            <a:off x="6400800" y="3968496"/>
            <a:ext cx="5212080" cy="155448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A list of parts goes in. Every one is measured, costed</a:t>
            </a:r>
          </a:p>
          <a:p>
            <a:pPr algn="l">
              <a:lnSpc>
                <a:spcPct val="112000"/>
              </a:lnSpc>
              <a:spcAft>
                <a:spcPts val="300"/>
              </a:spcAft>
            </a:pPr>
            <a:r>
              <a:rPr sz="1050" b="0" i="0">
                <a:solidFill>
                  <a:srgbClr val="3A4356"/>
                </a:solidFill>
                <a:latin typeface="Calibri"/>
              </a:rPr>
              <a:t>and reported without anyone sitting there.</a:t>
            </a:r>
          </a:p>
          <a:p>
            <a:pPr algn="l">
              <a:lnSpc>
                <a:spcPct val="112000"/>
              </a:lnSpc>
              <a:spcAft>
                <a:spcPts val="300"/>
              </a:spcAft>
            </a:pPr>
            <a:r>
              <a:rPr sz="1050" b="0" i="0">
                <a:solidFill>
                  <a:srgbClr val="3A4356"/>
                </a:solidFill>
                <a:latin typeface="Calibri"/>
              </a:rPr>
              <a:t>An engineer is asked only where the geometry</a:t>
            </a:r>
          </a:p>
          <a:p>
            <a:pPr algn="l">
              <a:lnSpc>
                <a:spcPct val="112000"/>
              </a:lnSpc>
              <a:spcAft>
                <a:spcPts val="300"/>
              </a:spcAft>
            </a:pPr>
            <a:r>
              <a:rPr sz="1050" b="0" i="0">
                <a:solidFill>
                  <a:srgbClr val="3A4356"/>
                </a:solidFill>
                <a:latin typeface="Calibri"/>
              </a:rPr>
              <a:t>cannot decide.</a:t>
            </a:r>
          </a:p>
          <a:p>
            <a:pPr algn="l">
              <a:lnSpc>
                <a:spcPct val="112000"/>
              </a:lnSpc>
              <a:spcAft>
                <a:spcPts val="300"/>
              </a:spcAft>
            </a:pPr>
          </a:p>
          <a:p>
            <a:pPr algn="l">
              <a:lnSpc>
                <a:spcPct val="112000"/>
              </a:lnSpc>
              <a:spcAft>
                <a:spcPts val="300"/>
              </a:spcAft>
            </a:pPr>
            <a:r>
              <a:rPr sz="1050" b="1" i="0">
                <a:solidFill>
                  <a:srgbClr val="16325C"/>
                </a:solidFill>
                <a:latin typeface="Calibri"/>
              </a:rPr>
              <a:t>The run is built. What is left is our rates, a trial,</a:t>
            </a:r>
          </a:p>
          <a:p>
            <a:pPr algn="l">
              <a:lnSpc>
                <a:spcPct val="112000"/>
              </a:lnSpc>
              <a:spcAft>
                <a:spcPts val="300"/>
              </a:spcAft>
            </a:pPr>
            <a:r>
              <a:rPr sz="1050" b="1" i="0">
                <a:solidFill>
                  <a:srgbClr val="16325C"/>
                </a:solidFill>
                <a:latin typeface="Calibri"/>
              </a:rPr>
              <a:t>and a screen for it if we want one.</a:t>
            </a:r>
          </a:p>
        </p:txBody>
      </p:sp>
      <p:sp>
        <p:nvSpPr>
          <p:cNvPr id="43" name="Rounded Rectangle 42"/>
          <p:cNvSpPr/>
          <p:nvPr/>
        </p:nvSpPr>
        <p:spPr>
          <a:xfrm>
            <a:off x="411480" y="5669280"/>
            <a:ext cx="11365992" cy="749808"/>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69280"/>
            <a:ext cx="68580" cy="74980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 y="578815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Why this order</a:t>
            </a:r>
          </a:p>
        </p:txBody>
      </p:sp>
      <p:sp>
        <p:nvSpPr>
          <p:cNvPr id="46" name="TextBox 45"/>
          <p:cNvSpPr txBox="1"/>
          <p:nvPr/>
        </p:nvSpPr>
        <p:spPr>
          <a:xfrm>
            <a:off x="630936" y="6071616"/>
            <a:ext cx="10954512" cy="24688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Option 1 is cheaper to try and gives the accuracy figure Option 2 needs. No sense costing 500 parts until one part is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what happens to one part</a:t>
            </a:r>
          </a:p>
        </p:txBody>
      </p:sp>
      <p:sp>
        <p:nvSpPr>
          <p:cNvPr id="9" name="TextBox 8"/>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686F7D"/>
                </a:solidFill>
                <a:latin typeface="Calibri"/>
              </a:rPr>
              <a:t>What an engineer does each time they cost a part</a:t>
            </a:r>
          </a:p>
        </p:txBody>
      </p:sp>
      <p:sp>
        <p:nvSpPr>
          <p:cNvPr id="10" name="Rounded Rectangle 9"/>
          <p:cNvSpPr/>
          <p:nvPr/>
        </p:nvSpPr>
        <p:spPr>
          <a:xfrm>
            <a:off x="411480"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828800"/>
            <a:ext cx="1709928"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2980" y="1993392"/>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pload.png"/>
          <p:cNvPicPr>
            <a:picLocks noChangeAspect="1"/>
          </p:cNvPicPr>
          <p:nvPr/>
        </p:nvPicPr>
        <p:blipFill>
          <a:blip r:embed="rId2"/>
          <a:stretch>
            <a:fillRect/>
          </a:stretch>
        </p:blipFill>
        <p:spPr>
          <a:xfrm>
            <a:off x="1130381" y="2140793"/>
            <a:ext cx="272126" cy="272126"/>
          </a:xfrm>
          <a:prstGeom prst="rect">
            <a:avLst/>
          </a:prstGeom>
        </p:spPr>
      </p:pic>
      <p:sp>
        <p:nvSpPr>
          <p:cNvPr id="14" name="TextBox 13"/>
          <p:cNvSpPr txBox="1"/>
          <p:nvPr/>
        </p:nvSpPr>
        <p:spPr>
          <a:xfrm>
            <a:off x="484632"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Hands over the model</a:t>
            </a:r>
          </a:p>
        </p:txBody>
      </p:sp>
      <p:sp>
        <p:nvSpPr>
          <p:cNvPr id="15" name="TextBox 14"/>
          <p:cNvSpPr txBox="1"/>
          <p:nvPr/>
        </p:nvSpPr>
        <p:spPr>
          <a:xfrm>
            <a:off x="484632"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STEP, IGES or STL, from the CAPEE screen</a:t>
            </a:r>
          </a:p>
        </p:txBody>
      </p:sp>
      <p:sp>
        <p:nvSpPr>
          <p:cNvPr id="16" name="Right Arrow 15"/>
          <p:cNvSpPr/>
          <p:nvPr/>
        </p:nvSpPr>
        <p:spPr>
          <a:xfrm>
            <a:off x="2139696"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95144"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95144" y="1828800"/>
            <a:ext cx="1709928"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866644" y="1993392"/>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uler.png"/>
          <p:cNvPicPr>
            <a:picLocks noChangeAspect="1"/>
          </p:cNvPicPr>
          <p:nvPr/>
        </p:nvPicPr>
        <p:blipFill>
          <a:blip r:embed="rId3"/>
          <a:stretch>
            <a:fillRect/>
          </a:stretch>
        </p:blipFill>
        <p:spPr>
          <a:xfrm>
            <a:off x="3014045" y="2140793"/>
            <a:ext cx="272126" cy="272126"/>
          </a:xfrm>
          <a:prstGeom prst="rect">
            <a:avLst/>
          </a:prstGeom>
        </p:spPr>
      </p:pic>
      <p:sp>
        <p:nvSpPr>
          <p:cNvPr id="21" name="TextBox 20"/>
          <p:cNvSpPr txBox="1"/>
          <p:nvPr/>
        </p:nvSpPr>
        <p:spPr>
          <a:xfrm>
            <a:off x="2368296"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Software measures</a:t>
            </a:r>
          </a:p>
        </p:txBody>
      </p:sp>
      <p:sp>
        <p:nvSpPr>
          <p:cNvPr id="22" name="TextBox 21"/>
          <p:cNvSpPr txBox="1"/>
          <p:nvPr/>
        </p:nvSpPr>
        <p:spPr>
          <a:xfrm>
            <a:off x="2368296"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Size, weight, surface area, holes, pockets</a:t>
            </a:r>
          </a:p>
        </p:txBody>
      </p:sp>
      <p:sp>
        <p:nvSpPr>
          <p:cNvPr id="23" name="Right Arrow 22"/>
          <p:cNvSpPr/>
          <p:nvPr/>
        </p:nvSpPr>
        <p:spPr>
          <a:xfrm>
            <a:off x="4023360"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78808"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78808" y="1828800"/>
            <a:ext cx="1709928"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0308" y="1993392"/>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og.png"/>
          <p:cNvPicPr>
            <a:picLocks noChangeAspect="1"/>
          </p:cNvPicPr>
          <p:nvPr/>
        </p:nvPicPr>
        <p:blipFill>
          <a:blip r:embed="rId4"/>
          <a:stretch>
            <a:fillRect/>
          </a:stretch>
        </p:blipFill>
        <p:spPr>
          <a:xfrm>
            <a:off x="4897709" y="2140793"/>
            <a:ext cx="272126" cy="272126"/>
          </a:xfrm>
          <a:prstGeom prst="rect">
            <a:avLst/>
          </a:prstGeom>
        </p:spPr>
      </p:pic>
      <p:sp>
        <p:nvSpPr>
          <p:cNvPr id="28" name="TextBox 27"/>
          <p:cNvSpPr txBox="1"/>
          <p:nvPr/>
        </p:nvSpPr>
        <p:spPr>
          <a:xfrm>
            <a:off x="4251960"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Rules fill the form</a:t>
            </a:r>
          </a:p>
        </p:txBody>
      </p:sp>
      <p:sp>
        <p:nvSpPr>
          <p:cNvPr id="29" name="TextBox 28"/>
          <p:cNvSpPr txBox="1"/>
          <p:nvPr/>
        </p:nvSpPr>
        <p:spPr>
          <a:xfrm>
            <a:off x="4251960"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Fixed rules turn measurements into values</a:t>
            </a:r>
          </a:p>
        </p:txBody>
      </p:sp>
      <p:sp>
        <p:nvSpPr>
          <p:cNvPr id="30" name="Right Arrow 29"/>
          <p:cNvSpPr/>
          <p:nvPr/>
        </p:nvSpPr>
        <p:spPr>
          <a:xfrm>
            <a:off x="5907024"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62472"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62472" y="1828800"/>
            <a:ext cx="1709928"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33972" y="1993392"/>
            <a:ext cx="566928" cy="566928"/>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hield.png"/>
          <p:cNvPicPr>
            <a:picLocks noChangeAspect="1"/>
          </p:cNvPicPr>
          <p:nvPr/>
        </p:nvPicPr>
        <p:blipFill>
          <a:blip r:embed="rId5"/>
          <a:stretch>
            <a:fillRect/>
          </a:stretch>
        </p:blipFill>
        <p:spPr>
          <a:xfrm>
            <a:off x="6781373" y="2140793"/>
            <a:ext cx="272126" cy="272126"/>
          </a:xfrm>
          <a:prstGeom prst="rect">
            <a:avLst/>
          </a:prstGeom>
        </p:spPr>
      </p:pic>
      <p:sp>
        <p:nvSpPr>
          <p:cNvPr id="35" name="TextBox 34"/>
          <p:cNvSpPr txBox="1"/>
          <p:nvPr/>
        </p:nvSpPr>
        <p:spPr>
          <a:xfrm>
            <a:off x="6135624"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Checks run</a:t>
            </a:r>
          </a:p>
        </p:txBody>
      </p:sp>
      <p:sp>
        <p:nvSpPr>
          <p:cNvPr id="36" name="TextBox 35"/>
          <p:cNvSpPr txBox="1"/>
          <p:nvPr/>
        </p:nvSpPr>
        <p:spPr>
          <a:xfrm>
            <a:off x="6135624"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Contradictions are flagged or stop the cost</a:t>
            </a:r>
          </a:p>
        </p:txBody>
      </p:sp>
      <p:sp>
        <p:nvSpPr>
          <p:cNvPr id="37" name="Right Arrow 36"/>
          <p:cNvSpPr/>
          <p:nvPr/>
        </p:nvSpPr>
        <p:spPr>
          <a:xfrm>
            <a:off x="7790688"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946136"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46136" y="1828800"/>
            <a:ext cx="1709928" cy="54864"/>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517636" y="1993392"/>
            <a:ext cx="566928" cy="566928"/>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erson.png"/>
          <p:cNvPicPr>
            <a:picLocks noChangeAspect="1"/>
          </p:cNvPicPr>
          <p:nvPr/>
        </p:nvPicPr>
        <p:blipFill>
          <a:blip r:embed="rId6"/>
          <a:stretch>
            <a:fillRect/>
          </a:stretch>
        </p:blipFill>
        <p:spPr>
          <a:xfrm>
            <a:off x="8665037" y="2140793"/>
            <a:ext cx="272126" cy="272126"/>
          </a:xfrm>
          <a:prstGeom prst="rect">
            <a:avLst/>
          </a:prstGeom>
        </p:spPr>
      </p:pic>
      <p:sp>
        <p:nvSpPr>
          <p:cNvPr id="42" name="TextBox 41"/>
          <p:cNvSpPr txBox="1"/>
          <p:nvPr/>
        </p:nvSpPr>
        <p:spPr>
          <a:xfrm>
            <a:off x="8019288"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Engineer confirms</a:t>
            </a:r>
          </a:p>
        </p:txBody>
      </p:sp>
      <p:sp>
        <p:nvSpPr>
          <p:cNvPr id="43" name="TextBox 42"/>
          <p:cNvSpPr txBox="1"/>
          <p:nvPr/>
        </p:nvSpPr>
        <p:spPr>
          <a:xfrm>
            <a:off x="8019288"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Material, tolerance, finish, heat treatment</a:t>
            </a:r>
          </a:p>
        </p:txBody>
      </p:sp>
      <p:sp>
        <p:nvSpPr>
          <p:cNvPr id="44" name="Right Arrow 43"/>
          <p:cNvSpPr/>
          <p:nvPr/>
        </p:nvSpPr>
        <p:spPr>
          <a:xfrm>
            <a:off x="9674352"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829800"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828800"/>
            <a:ext cx="1709928"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401300" y="1993392"/>
            <a:ext cx="566928" cy="566928"/>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calc.png"/>
          <p:cNvPicPr>
            <a:picLocks noChangeAspect="1"/>
          </p:cNvPicPr>
          <p:nvPr/>
        </p:nvPicPr>
        <p:blipFill>
          <a:blip r:embed="rId7"/>
          <a:stretch>
            <a:fillRect/>
          </a:stretch>
        </p:blipFill>
        <p:spPr>
          <a:xfrm>
            <a:off x="10548701" y="2140793"/>
            <a:ext cx="272126" cy="272126"/>
          </a:xfrm>
          <a:prstGeom prst="rect">
            <a:avLst/>
          </a:prstGeom>
        </p:spPr>
      </p:pic>
      <p:sp>
        <p:nvSpPr>
          <p:cNvPr id="49" name="TextBox 48"/>
          <p:cNvSpPr txBox="1"/>
          <p:nvPr/>
        </p:nvSpPr>
        <p:spPr>
          <a:xfrm>
            <a:off x="9902952"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CAPEE costs the part</a:t>
            </a:r>
          </a:p>
        </p:txBody>
      </p:sp>
      <p:sp>
        <p:nvSpPr>
          <p:cNvPr id="50" name="TextBox 49"/>
          <p:cNvSpPr txBox="1"/>
          <p:nvPr/>
        </p:nvSpPr>
        <p:spPr>
          <a:xfrm>
            <a:off x="9902952"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CAPEE gets the numbers and calculates</a:t>
            </a:r>
          </a:p>
        </p:txBody>
      </p:sp>
      <p:sp>
        <p:nvSpPr>
          <p:cNvPr id="51" name="TextBox 50"/>
          <p:cNvSpPr txBox="1"/>
          <p:nvPr/>
        </p:nvSpPr>
        <p:spPr>
          <a:xfrm>
            <a:off x="411480" y="3886200"/>
            <a:ext cx="1133856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686F7D"/>
                </a:solidFill>
                <a:latin typeface="Calibri"/>
              </a:rPr>
              <a:t>What order the build has to happen in</a:t>
            </a:r>
          </a:p>
        </p:txBody>
      </p:sp>
      <p:sp>
        <p:nvSpPr>
          <p:cNvPr id="52" name="Chevron 51"/>
          <p:cNvSpPr/>
          <p:nvPr/>
        </p:nvSpPr>
        <p:spPr>
          <a:xfrm>
            <a:off x="411480" y="4187952"/>
            <a:ext cx="1874519" cy="548640"/>
          </a:xfrm>
          <a:prstGeom prst="chevron">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ctr"/>
            <a:r>
              <a:rPr sz="1100" b="1">
                <a:solidFill>
                  <a:srgbClr val="FFFFFF"/>
                </a:solidFill>
                <a:latin typeface="Calibri"/>
              </a:rPr>
              <a:t>Agree the connection</a:t>
            </a:r>
          </a:p>
        </p:txBody>
      </p:sp>
      <p:sp>
        <p:nvSpPr>
          <p:cNvPr id="53" name="Chevron 52"/>
          <p:cNvSpPr/>
          <p:nvPr/>
        </p:nvSpPr>
        <p:spPr>
          <a:xfrm>
            <a:off x="2249423" y="4187952"/>
            <a:ext cx="1874519" cy="548640"/>
          </a:xfrm>
          <a:prstGeom prst="chevron">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ctr"/>
            <a:r>
              <a:rPr sz="1100" b="1">
                <a:solidFill>
                  <a:srgbClr val="FFFFFF"/>
                </a:solidFill>
                <a:latin typeface="Calibri"/>
              </a:rPr>
              <a:t>Stand up measuring</a:t>
            </a:r>
          </a:p>
        </p:txBody>
      </p:sp>
      <p:sp>
        <p:nvSpPr>
          <p:cNvPr id="54" name="Chevron 53"/>
          <p:cNvSpPr/>
          <p:nvPr/>
        </p:nvSpPr>
        <p:spPr>
          <a:xfrm>
            <a:off x="4087366" y="4187952"/>
            <a:ext cx="1874519" cy="548640"/>
          </a:xfrm>
          <a:prstGeom prst="chevron">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ctr"/>
            <a:r>
              <a:rPr sz="1100" b="1">
                <a:solidFill>
                  <a:srgbClr val="FFFFFF"/>
                </a:solidFill>
                <a:latin typeface="Calibri"/>
              </a:rPr>
              <a:t>Hand over settings</a:t>
            </a:r>
          </a:p>
        </p:txBody>
      </p:sp>
      <p:sp>
        <p:nvSpPr>
          <p:cNvPr id="55" name="Chevron 54"/>
          <p:cNvSpPr/>
          <p:nvPr/>
        </p:nvSpPr>
        <p:spPr>
          <a:xfrm>
            <a:off x="5925309" y="4187952"/>
            <a:ext cx="1874519" cy="548640"/>
          </a:xfrm>
          <a:prstGeom prst="chevron">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ctr"/>
            <a:r>
              <a:rPr sz="1100" b="1">
                <a:solidFill>
                  <a:srgbClr val="FFFFFF"/>
                </a:solidFill>
                <a:latin typeface="Calibri"/>
              </a:rPr>
              <a:t>Add safety checks</a:t>
            </a:r>
          </a:p>
        </p:txBody>
      </p:sp>
      <p:sp>
        <p:nvSpPr>
          <p:cNvPr id="56" name="Chevron 55"/>
          <p:cNvSpPr/>
          <p:nvPr/>
        </p:nvSpPr>
        <p:spPr>
          <a:xfrm>
            <a:off x="7763252" y="4187952"/>
            <a:ext cx="1874519" cy="548640"/>
          </a:xfrm>
          <a:prstGeom prst="chevron">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ctr"/>
            <a:r>
              <a:rPr sz="1100" b="1">
                <a:solidFill>
                  <a:srgbClr val="FFFFFF"/>
                </a:solidFill>
                <a:latin typeface="Calibri"/>
              </a:rPr>
              <a:t>Connect into CAPEE</a:t>
            </a:r>
          </a:p>
        </p:txBody>
      </p:sp>
      <p:sp>
        <p:nvSpPr>
          <p:cNvPr id="57" name="Chevron 56"/>
          <p:cNvSpPr/>
          <p:nvPr/>
        </p:nvSpPr>
        <p:spPr>
          <a:xfrm>
            <a:off x="9601195" y="4187952"/>
            <a:ext cx="1874519" cy="548640"/>
          </a:xfrm>
          <a:prstGeom prst="chevron">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ctr"/>
            <a:r>
              <a:rPr sz="1100" b="1">
                <a:solidFill>
                  <a:srgbClr val="FFFFFF"/>
                </a:solidFill>
                <a:latin typeface="Calibri"/>
              </a:rPr>
              <a:t>Trial on one part type</a:t>
            </a:r>
          </a:p>
        </p:txBody>
      </p:sp>
      <p:sp>
        <p:nvSpPr>
          <p:cNvPr id="58" name="Rectangle 57"/>
          <p:cNvSpPr/>
          <p:nvPr/>
        </p:nvSpPr>
        <p:spPr>
          <a:xfrm>
            <a:off x="411480" y="4919472"/>
            <a:ext cx="11365992" cy="5486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11480" y="4919472"/>
            <a:ext cx="1371600" cy="54864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11480" y="4919472"/>
            <a:ext cx="13716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a:lstStyle/>
          <a:p>
            <a:pPr algn="l"/>
            <a:r>
              <a:rPr sz="1050" b="1">
                <a:solidFill>
                  <a:srgbClr val="FFFFFF"/>
                </a:solidFill>
                <a:latin typeface="Calibri"/>
              </a:rPr>
              <a:t>WE DO</a:t>
            </a:r>
          </a:p>
        </p:txBody>
      </p:sp>
      <p:sp>
        <p:nvSpPr>
          <p:cNvPr id="61" name="TextBox 60"/>
          <p:cNvSpPr txBox="1"/>
          <p:nvPr/>
        </p:nvSpPr>
        <p:spPr>
          <a:xfrm>
            <a:off x="1892808" y="5038344"/>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Package the measuring software</a:t>
            </a:r>
          </a:p>
        </p:txBody>
      </p:sp>
      <p:sp>
        <p:nvSpPr>
          <p:cNvPr id="62" name="Rectangle 61"/>
          <p:cNvSpPr/>
          <p:nvPr/>
        </p:nvSpPr>
        <p:spPr>
          <a:xfrm>
            <a:off x="4281678" y="4974336"/>
            <a:ext cx="9525" cy="438912"/>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91406" y="5038344"/>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Write out every setting</a:t>
            </a:r>
          </a:p>
        </p:txBody>
      </p:sp>
      <p:sp>
        <p:nvSpPr>
          <p:cNvPr id="64" name="Rectangle 63"/>
          <p:cNvSpPr/>
          <p:nvPr/>
        </p:nvSpPr>
        <p:spPr>
          <a:xfrm>
            <a:off x="6780276" y="4974336"/>
            <a:ext cx="9525" cy="438912"/>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90004" y="5038344"/>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Move the safety checks across</a:t>
            </a:r>
          </a:p>
        </p:txBody>
      </p:sp>
      <p:sp>
        <p:nvSpPr>
          <p:cNvPr id="66" name="Rectangle 65"/>
          <p:cNvSpPr/>
          <p:nvPr/>
        </p:nvSpPr>
        <p:spPr>
          <a:xfrm>
            <a:off x="9278874" y="4974336"/>
            <a:ext cx="9525" cy="438912"/>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88602" y="5038344"/>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Help with the CAPEE connection</a:t>
            </a:r>
          </a:p>
        </p:txBody>
      </p:sp>
      <p:sp>
        <p:nvSpPr>
          <p:cNvPr id="68" name="Rectangle 67"/>
          <p:cNvSpPr/>
          <p:nvPr/>
        </p:nvSpPr>
        <p:spPr>
          <a:xfrm>
            <a:off x="411480" y="5504688"/>
            <a:ext cx="11365992" cy="5486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11480" y="5504688"/>
            <a:ext cx="1371600" cy="54864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11480" y="5504688"/>
            <a:ext cx="13716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a:lstStyle/>
          <a:p>
            <a:pPr algn="l"/>
            <a:r>
              <a:rPr sz="1050" b="1">
                <a:solidFill>
                  <a:srgbClr val="FFFFFF"/>
                </a:solidFill>
                <a:latin typeface="Calibri"/>
              </a:rPr>
              <a:t>JLR DOES</a:t>
            </a:r>
          </a:p>
        </p:txBody>
      </p:sp>
      <p:sp>
        <p:nvSpPr>
          <p:cNvPr id="71" name="TextBox 70"/>
          <p:cNvSpPr txBox="1"/>
          <p:nvPr/>
        </p:nvSpPr>
        <p:spPr>
          <a:xfrm>
            <a:off x="1892808" y="5623560"/>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Tell us how CAPEE is built</a:t>
            </a:r>
          </a:p>
        </p:txBody>
      </p:sp>
      <p:sp>
        <p:nvSpPr>
          <p:cNvPr id="72" name="Rectangle 71"/>
          <p:cNvSpPr/>
          <p:nvPr/>
        </p:nvSpPr>
        <p:spPr>
          <a:xfrm>
            <a:off x="4281678" y="5559552"/>
            <a:ext cx="9525" cy="438912"/>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391406" y="5623560"/>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Provide a server or laptop</a:t>
            </a:r>
          </a:p>
        </p:txBody>
      </p:sp>
      <p:sp>
        <p:nvSpPr>
          <p:cNvPr id="74" name="Rectangle 73"/>
          <p:cNvSpPr/>
          <p:nvPr/>
        </p:nvSpPr>
        <p:spPr>
          <a:xfrm>
            <a:off x="6780276" y="5559552"/>
            <a:ext cx="9525" cy="438912"/>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890004" y="5623560"/>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Change CAPEE to take the numbers</a:t>
            </a:r>
          </a:p>
        </p:txBody>
      </p:sp>
      <p:sp>
        <p:nvSpPr>
          <p:cNvPr id="76" name="Rectangle 75"/>
          <p:cNvSpPr/>
          <p:nvPr/>
        </p:nvSpPr>
        <p:spPr>
          <a:xfrm>
            <a:off x="9278874" y="5559552"/>
            <a:ext cx="9525" cy="438912"/>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388602" y="5623560"/>
            <a:ext cx="2279142" cy="310896"/>
          </a:xfrm>
          <a:prstGeom prst="rect">
            <a:avLst/>
          </a:prstGeom>
          <a:noFill/>
        </p:spPr>
        <p:txBody>
          <a:bodyPr wrap="square" anchor="ctr" lIns="0" rIns="0" tIns="0" bIns="0">
            <a:spAutoFit/>
          </a:bodyPr>
          <a:lstStyle/>
          <a:p>
            <a:pPr algn="l">
              <a:lnSpc>
                <a:spcPct val="112000"/>
              </a:lnSpc>
              <a:spcAft>
                <a:spcPts val="400"/>
              </a:spcAft>
            </a:pPr>
            <a:r>
              <a:rPr sz="919" b="0" i="0">
                <a:solidFill>
                  <a:srgbClr val="3A4356"/>
                </a:solidFill>
                <a:latin typeface="Calibri"/>
              </a:rPr>
              <a:t>Free up a team for the trial</a:t>
            </a:r>
          </a:p>
        </p:txBody>
      </p:sp>
      <p:sp>
        <p:nvSpPr>
          <p:cNvPr id="78" name="Rounded Rectangle 77"/>
          <p:cNvSpPr/>
          <p:nvPr/>
        </p:nvSpPr>
        <p:spPr>
          <a:xfrm>
            <a:off x="411480" y="6144768"/>
            <a:ext cx="11365992" cy="621792"/>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11480" y="6144768"/>
            <a:ext cx="68580" cy="621792"/>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30936" y="6263640"/>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One step we cannot size yet</a:t>
            </a:r>
          </a:p>
        </p:txBody>
      </p:sp>
      <p:sp>
        <p:nvSpPr>
          <p:cNvPr id="81" name="TextBox 80"/>
          <p:cNvSpPr txBox="1"/>
          <p:nvPr/>
        </p:nvSpPr>
        <p:spPr>
          <a:xfrm>
            <a:off x="630936" y="6547104"/>
            <a:ext cx="10954512" cy="118872"/>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Connecting into CAPEE depends on how CAPEE is built, and we do not know that yet. Slide 10 sets out the three ways of doing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HANDOVER</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what we hand over</a:t>
            </a:r>
          </a:p>
        </p:txBody>
      </p:sp>
      <p:sp>
        <p:nvSpPr>
          <p:cNvPr id="9" name="TextBox 8"/>
          <p:cNvSpPr txBox="1"/>
          <p:nvPr/>
        </p:nvSpPr>
        <p:spPr>
          <a:xfrm>
            <a:off x="411480" y="1554480"/>
            <a:ext cx="11338560" cy="32004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Sizes counted in the source files on 28 September 2026, rounded. Both languages are in common use and JLR IT will have people who know them.</a:t>
            </a:r>
          </a:p>
        </p:txBody>
      </p:sp>
      <p:sp>
        <p:nvSpPr>
          <p:cNvPr id="10" name="Rectangle 9"/>
          <p:cNvSpPr/>
          <p:nvPr/>
        </p:nvSpPr>
        <p:spPr>
          <a:xfrm>
            <a:off x="411480" y="2103120"/>
            <a:ext cx="301752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185416"/>
            <a:ext cx="287121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Part</a:t>
            </a:r>
          </a:p>
        </p:txBody>
      </p:sp>
      <p:sp>
        <p:nvSpPr>
          <p:cNvPr id="12" name="Rectangle 11"/>
          <p:cNvSpPr/>
          <p:nvPr/>
        </p:nvSpPr>
        <p:spPr>
          <a:xfrm>
            <a:off x="3429000" y="2103120"/>
            <a:ext cx="155448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2185416"/>
            <a:ext cx="140817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Language</a:t>
            </a:r>
          </a:p>
        </p:txBody>
      </p:sp>
      <p:sp>
        <p:nvSpPr>
          <p:cNvPr id="14" name="Rectangle 13"/>
          <p:cNvSpPr/>
          <p:nvPr/>
        </p:nvSpPr>
        <p:spPr>
          <a:xfrm>
            <a:off x="4983480" y="2103120"/>
            <a:ext cx="137160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65776" y="2185416"/>
            <a:ext cx="122529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Size</a:t>
            </a:r>
          </a:p>
        </p:txBody>
      </p:sp>
      <p:sp>
        <p:nvSpPr>
          <p:cNvPr id="16" name="Rectangle 15"/>
          <p:cNvSpPr/>
          <p:nvPr/>
        </p:nvSpPr>
        <p:spPr>
          <a:xfrm>
            <a:off x="6355080" y="2103120"/>
            <a:ext cx="542239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185416"/>
            <a:ext cx="527608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What it does</a:t>
            </a:r>
          </a:p>
        </p:txBody>
      </p:sp>
      <p:sp>
        <p:nvSpPr>
          <p:cNvPr id="18" name="Rectangle 17"/>
          <p:cNvSpPr/>
          <p:nvPr/>
        </p:nvSpPr>
        <p:spPr>
          <a:xfrm>
            <a:off x="411480" y="2432304"/>
            <a:ext cx="30175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2496312"/>
            <a:ext cx="28712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Measuring engine</a:t>
            </a:r>
          </a:p>
        </p:txBody>
      </p:sp>
      <p:sp>
        <p:nvSpPr>
          <p:cNvPr id="20" name="Rectangle 19"/>
          <p:cNvSpPr/>
          <p:nvPr/>
        </p:nvSpPr>
        <p:spPr>
          <a:xfrm>
            <a:off x="3429000" y="2432304"/>
            <a:ext cx="15544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1296" y="2496312"/>
            <a:ext cx="140817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Python</a:t>
            </a:r>
          </a:p>
        </p:txBody>
      </p:sp>
      <p:sp>
        <p:nvSpPr>
          <p:cNvPr id="22" name="Rectangle 21"/>
          <p:cNvSpPr/>
          <p:nvPr/>
        </p:nvSpPr>
        <p:spPr>
          <a:xfrm>
            <a:off x="4983480" y="2432304"/>
            <a:ext cx="137160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5776" y="2496312"/>
            <a:ext cx="122529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about 2,500 lines</a:t>
            </a:r>
          </a:p>
        </p:txBody>
      </p:sp>
      <p:sp>
        <p:nvSpPr>
          <p:cNvPr id="24" name="Rectangle 23"/>
          <p:cNvSpPr/>
          <p:nvPr/>
        </p:nvSpPr>
        <p:spPr>
          <a:xfrm>
            <a:off x="6355080" y="2432304"/>
            <a:ext cx="542239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2496312"/>
            <a:ext cx="527608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Opens the 3D model and measures it. Makes no internet connection.</a:t>
            </a:r>
          </a:p>
        </p:txBody>
      </p:sp>
      <p:sp>
        <p:nvSpPr>
          <p:cNvPr id="26" name="Rectangle 25"/>
          <p:cNvSpPr/>
          <p:nvPr/>
        </p:nvSpPr>
        <p:spPr>
          <a:xfrm>
            <a:off x="411480" y="2889504"/>
            <a:ext cx="30175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2953512"/>
            <a:ext cx="28712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Rules that fill the form</a:t>
            </a:r>
          </a:p>
        </p:txBody>
      </p:sp>
      <p:sp>
        <p:nvSpPr>
          <p:cNvPr id="28" name="Rectangle 27"/>
          <p:cNvSpPr/>
          <p:nvPr/>
        </p:nvSpPr>
        <p:spPr>
          <a:xfrm>
            <a:off x="3429000" y="2889504"/>
            <a:ext cx="155448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11296" y="2953512"/>
            <a:ext cx="140817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TypeScript</a:t>
            </a:r>
          </a:p>
        </p:txBody>
      </p:sp>
      <p:sp>
        <p:nvSpPr>
          <p:cNvPr id="30" name="Rectangle 29"/>
          <p:cNvSpPr/>
          <p:nvPr/>
        </p:nvSpPr>
        <p:spPr>
          <a:xfrm>
            <a:off x="4983480" y="2889504"/>
            <a:ext cx="137160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65776" y="2953512"/>
            <a:ext cx="122529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about 8,900 lines</a:t>
            </a:r>
          </a:p>
        </p:txBody>
      </p:sp>
      <p:sp>
        <p:nvSpPr>
          <p:cNvPr id="32" name="Rectangle 31"/>
          <p:cNvSpPr/>
          <p:nvPr/>
        </p:nvSpPr>
        <p:spPr>
          <a:xfrm>
            <a:off x="6355080" y="2889504"/>
            <a:ext cx="542239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2953512"/>
            <a:ext cx="527608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Turn measurements into cost inputs and decide what the engineer is asked.</a:t>
            </a:r>
          </a:p>
        </p:txBody>
      </p:sp>
      <p:sp>
        <p:nvSpPr>
          <p:cNvPr id="34" name="Rectangle 33"/>
          <p:cNvSpPr/>
          <p:nvPr/>
        </p:nvSpPr>
        <p:spPr>
          <a:xfrm>
            <a:off x="411480" y="3346704"/>
            <a:ext cx="30175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3410712"/>
            <a:ext cx="28712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Geometry checks</a:t>
            </a:r>
          </a:p>
        </p:txBody>
      </p:sp>
      <p:sp>
        <p:nvSpPr>
          <p:cNvPr id="36" name="Rectangle 35"/>
          <p:cNvSpPr/>
          <p:nvPr/>
        </p:nvSpPr>
        <p:spPr>
          <a:xfrm>
            <a:off x="3429000" y="3346704"/>
            <a:ext cx="15544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11296" y="3410712"/>
            <a:ext cx="140817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TypeScript</a:t>
            </a:r>
          </a:p>
        </p:txBody>
      </p:sp>
      <p:sp>
        <p:nvSpPr>
          <p:cNvPr id="38" name="Rectangle 37"/>
          <p:cNvSpPr/>
          <p:nvPr/>
        </p:nvSpPr>
        <p:spPr>
          <a:xfrm>
            <a:off x="4983480" y="3346704"/>
            <a:ext cx="137160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65776" y="3410712"/>
            <a:ext cx="122529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about 400 lines</a:t>
            </a:r>
          </a:p>
        </p:txBody>
      </p:sp>
      <p:sp>
        <p:nvSpPr>
          <p:cNvPr id="40" name="Rectangle 39"/>
          <p:cNvSpPr/>
          <p:nvPr/>
        </p:nvSpPr>
        <p:spPr>
          <a:xfrm>
            <a:off x="6355080" y="3346704"/>
            <a:ext cx="542239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7376" y="3410712"/>
            <a:ext cx="527608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The checks on the next slide.</a:t>
            </a:r>
          </a:p>
        </p:txBody>
      </p:sp>
      <p:sp>
        <p:nvSpPr>
          <p:cNvPr id="42" name="Rectangle 41"/>
          <p:cNvSpPr/>
          <p:nvPr/>
        </p:nvSpPr>
        <p:spPr>
          <a:xfrm>
            <a:off x="411480" y="3803904"/>
            <a:ext cx="30175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 y="3867912"/>
            <a:ext cx="28712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Bulk run</a:t>
            </a:r>
          </a:p>
        </p:txBody>
      </p:sp>
      <p:sp>
        <p:nvSpPr>
          <p:cNvPr id="44" name="Rectangle 43"/>
          <p:cNvSpPr/>
          <p:nvPr/>
        </p:nvSpPr>
        <p:spPr>
          <a:xfrm>
            <a:off x="3429000" y="3803904"/>
            <a:ext cx="155448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11296" y="3867912"/>
            <a:ext cx="140817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TypeScript</a:t>
            </a:r>
          </a:p>
        </p:txBody>
      </p:sp>
      <p:sp>
        <p:nvSpPr>
          <p:cNvPr id="46" name="Rectangle 45"/>
          <p:cNvSpPr/>
          <p:nvPr/>
        </p:nvSpPr>
        <p:spPr>
          <a:xfrm>
            <a:off x="4983480" y="3803904"/>
            <a:ext cx="137160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65776" y="3867912"/>
            <a:ext cx="122529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about 850 lines</a:t>
            </a:r>
          </a:p>
        </p:txBody>
      </p:sp>
      <p:sp>
        <p:nvSpPr>
          <p:cNvPr id="48" name="Rectangle 47"/>
          <p:cNvSpPr/>
          <p:nvPr/>
        </p:nvSpPr>
        <p:spPr>
          <a:xfrm>
            <a:off x="6355080" y="3803904"/>
            <a:ext cx="542239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7376" y="3867912"/>
            <a:ext cx="527608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A parts list in; results, open questions and a run record out. Option 2.</a:t>
            </a:r>
          </a:p>
        </p:txBody>
      </p:sp>
      <p:sp>
        <p:nvSpPr>
          <p:cNvPr id="50" name="Rectangle 49"/>
          <p:cNvSpPr/>
          <p:nvPr/>
        </p:nvSpPr>
        <p:spPr>
          <a:xfrm>
            <a:off x="411480" y="4261104"/>
            <a:ext cx="30175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3776" y="4325112"/>
            <a:ext cx="28712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Settings list</a:t>
            </a:r>
          </a:p>
        </p:txBody>
      </p:sp>
      <p:sp>
        <p:nvSpPr>
          <p:cNvPr id="52" name="Rectangle 51"/>
          <p:cNvSpPr/>
          <p:nvPr/>
        </p:nvSpPr>
        <p:spPr>
          <a:xfrm>
            <a:off x="3429000" y="4261104"/>
            <a:ext cx="15544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11296" y="4325112"/>
            <a:ext cx="140817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Plain list</a:t>
            </a:r>
          </a:p>
        </p:txBody>
      </p:sp>
      <p:sp>
        <p:nvSpPr>
          <p:cNvPr id="54" name="Rectangle 53"/>
          <p:cNvSpPr/>
          <p:nvPr/>
        </p:nvSpPr>
        <p:spPr>
          <a:xfrm>
            <a:off x="4983480" y="4261104"/>
            <a:ext cx="137160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65776" y="4325112"/>
            <a:ext cx="122529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to be written</a:t>
            </a:r>
          </a:p>
        </p:txBody>
      </p:sp>
      <p:sp>
        <p:nvSpPr>
          <p:cNvPr id="56" name="Rectangle 55"/>
          <p:cNvSpPr/>
          <p:nvPr/>
        </p:nvSpPr>
        <p:spPr>
          <a:xfrm>
            <a:off x="6355080" y="4261104"/>
            <a:ext cx="542239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37376" y="4325112"/>
            <a:ext cx="527608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Every fixed number pulled together in one place. Slide 9.</a:t>
            </a:r>
          </a:p>
        </p:txBody>
      </p:sp>
      <p:sp>
        <p:nvSpPr>
          <p:cNvPr id="58" name="Rectangle 57"/>
          <p:cNvSpPr/>
          <p:nvPr/>
        </p:nvSpPr>
        <p:spPr>
          <a:xfrm>
            <a:off x="411480" y="4718304"/>
            <a:ext cx="30175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93776" y="4782312"/>
            <a:ext cx="28712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JLR Rate Converter</a:t>
            </a:r>
          </a:p>
        </p:txBody>
      </p:sp>
      <p:sp>
        <p:nvSpPr>
          <p:cNvPr id="60" name="Rectangle 59"/>
          <p:cNvSpPr/>
          <p:nvPr/>
        </p:nvSpPr>
        <p:spPr>
          <a:xfrm>
            <a:off x="3429000" y="4718304"/>
            <a:ext cx="155448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11296" y="4782312"/>
            <a:ext cx="140817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Excel</a:t>
            </a:r>
          </a:p>
        </p:txBody>
      </p:sp>
      <p:sp>
        <p:nvSpPr>
          <p:cNvPr id="62" name="Rectangle 61"/>
          <p:cNvSpPr/>
          <p:nvPr/>
        </p:nvSpPr>
        <p:spPr>
          <a:xfrm>
            <a:off x="4983480" y="4718304"/>
            <a:ext cx="137160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65776" y="4782312"/>
            <a:ext cx="122529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no macros</a:t>
            </a:r>
          </a:p>
        </p:txBody>
      </p:sp>
      <p:sp>
        <p:nvSpPr>
          <p:cNvPr id="64" name="Rectangle 63"/>
          <p:cNvSpPr/>
          <p:nvPr/>
        </p:nvSpPr>
        <p:spPr>
          <a:xfrm>
            <a:off x="6355080" y="4718304"/>
            <a:ext cx="542239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37376" y="4782312"/>
            <a:ext cx="527608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Turns JLR's own rate card into the tool's format.</a:t>
            </a:r>
          </a:p>
        </p:txBody>
      </p:sp>
      <p:sp>
        <p:nvSpPr>
          <p:cNvPr id="66" name="Rounded Rectangle 65"/>
          <p:cNvSpPr/>
          <p:nvPr/>
        </p:nvSpPr>
        <p:spPr>
          <a:xfrm>
            <a:off x="411480" y="5321808"/>
            <a:ext cx="5577840" cy="105156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11480" y="5321808"/>
            <a:ext cx="68580" cy="105156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0936" y="5440680"/>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About the two languages</a:t>
            </a:r>
          </a:p>
        </p:txBody>
      </p:sp>
      <p:sp>
        <p:nvSpPr>
          <p:cNvPr id="69" name="TextBox 68"/>
          <p:cNvSpPr txBox="1"/>
          <p:nvPr/>
        </p:nvSpPr>
        <p:spPr>
          <a:xfrm>
            <a:off x="630936" y="5724144"/>
            <a:ext cx="5166360" cy="5486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Python is the normal choice for engineering and measurement work. TypeScript is widely used for business software. Neither is unusual and neither ties JLR to one supplier.</a:t>
            </a:r>
          </a:p>
        </p:txBody>
      </p:sp>
      <p:sp>
        <p:nvSpPr>
          <p:cNvPr id="70" name="Rounded Rectangle 69"/>
          <p:cNvSpPr/>
          <p:nvPr/>
        </p:nvSpPr>
        <p:spPr>
          <a:xfrm>
            <a:off x="6199632" y="5321808"/>
            <a:ext cx="5577840" cy="1051560"/>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99632" y="5321808"/>
            <a:ext cx="68580" cy="105156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19088" y="5440680"/>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One thing for IT to confirm</a:t>
            </a:r>
          </a:p>
        </p:txBody>
      </p:sp>
      <p:sp>
        <p:nvSpPr>
          <p:cNvPr id="73" name="TextBox 72"/>
          <p:cNvSpPr txBox="1"/>
          <p:nvPr/>
        </p:nvSpPr>
        <p:spPr>
          <a:xfrm>
            <a:off x="6419088" y="5724144"/>
            <a:ext cx="5166360" cy="5486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measuring engine runs on a standard Linux server or from our Windows package. The cut-down Linux kind used for small services cannot run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REQUIRED</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the checks that have to come with it</a:t>
            </a:r>
          </a:p>
        </p:txBody>
      </p:sp>
      <p:sp>
        <p:nvSpPr>
          <p:cNvPr id="9" name="TextBox 8"/>
          <p:cNvSpPr txBox="1"/>
          <p:nvPr/>
        </p:nvSpPr>
        <p:spPr>
          <a:xfrm>
            <a:off x="411480" y="1554480"/>
            <a:ext cx="11338560" cy="32004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The price is always plain arithmetic. But a wrong input still gives a wrong cost. These four checks stop that, and they have to come across with everything else.</a:t>
            </a:r>
          </a:p>
        </p:txBody>
      </p:sp>
      <p:sp>
        <p:nvSpPr>
          <p:cNvPr id="10" name="Rounded Rectangle 9"/>
          <p:cNvSpPr/>
          <p:nvPr/>
        </p:nvSpPr>
        <p:spPr>
          <a:xfrm>
            <a:off x="411480" y="2240280"/>
            <a:ext cx="11365992" cy="84124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240280"/>
            <a:ext cx="68580" cy="84124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386584"/>
            <a:ext cx="548640" cy="548640"/>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ube.png"/>
          <p:cNvPicPr>
            <a:picLocks noChangeAspect="1"/>
          </p:cNvPicPr>
          <p:nvPr/>
        </p:nvPicPr>
        <p:blipFill>
          <a:blip r:embed="rId2"/>
          <a:stretch>
            <a:fillRect/>
          </a:stretch>
        </p:blipFill>
        <p:spPr>
          <a:xfrm>
            <a:off x="801014" y="2529230"/>
            <a:ext cx="263348" cy="263348"/>
          </a:xfrm>
          <a:prstGeom prst="rect">
            <a:avLst/>
          </a:prstGeom>
        </p:spPr>
      </p:pic>
      <p:sp>
        <p:nvSpPr>
          <p:cNvPr id="14" name="TextBox 13"/>
          <p:cNvSpPr txBox="1"/>
          <p:nvPr/>
        </p:nvSpPr>
        <p:spPr>
          <a:xfrm>
            <a:off x="1417320" y="2368296"/>
            <a:ext cx="10149840" cy="256032"/>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The measured model is the ground truth</a:t>
            </a:r>
          </a:p>
        </p:txBody>
      </p:sp>
      <p:sp>
        <p:nvSpPr>
          <p:cNvPr id="15" name="TextBox 14"/>
          <p:cNvSpPr txBox="1"/>
          <p:nvPr/>
        </p:nvSpPr>
        <p:spPr>
          <a:xfrm>
            <a:off x="1417320" y="2651760"/>
            <a:ext cx="10149840" cy="384048"/>
          </a:xfrm>
          <a:prstGeom prst="rect">
            <a:avLst/>
          </a:prstGeom>
          <a:noFill/>
        </p:spPr>
        <p:txBody>
          <a:bodyPr wrap="square" anchor="t" lIns="0" rIns="0" tIns="0" bIns="0">
            <a:spAutoFit/>
          </a:bodyPr>
          <a:lstStyle/>
          <a:p>
            <a:pPr algn="l">
              <a:lnSpc>
                <a:spcPct val="112000"/>
              </a:lnSpc>
              <a:spcAft>
                <a:spcPts val="400"/>
              </a:spcAft>
            </a:pPr>
            <a:r>
              <a:rPr sz="1019" b="0" i="0">
                <a:solidFill>
                  <a:srgbClr val="3A4356"/>
                </a:solidFill>
                <a:latin typeface="Calibri"/>
              </a:rPr>
              <a:t>Weight and size come from the model. Any figure fed to the cost that contradicts them is flagged. A weight gap of more than half stops the costing until an engineer accepts it.</a:t>
            </a:r>
          </a:p>
        </p:txBody>
      </p:sp>
      <p:sp>
        <p:nvSpPr>
          <p:cNvPr id="16" name="Rounded Rectangle 15"/>
          <p:cNvSpPr/>
          <p:nvPr/>
        </p:nvSpPr>
        <p:spPr>
          <a:xfrm>
            <a:off x="411480" y="3172968"/>
            <a:ext cx="11365992" cy="84124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72968"/>
            <a:ext cx="68580" cy="84124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319272"/>
            <a:ext cx="548640" cy="548640"/>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ye.png"/>
          <p:cNvPicPr>
            <a:picLocks noChangeAspect="1"/>
          </p:cNvPicPr>
          <p:nvPr/>
        </p:nvPicPr>
        <p:blipFill>
          <a:blip r:embed="rId3"/>
          <a:stretch>
            <a:fillRect/>
          </a:stretch>
        </p:blipFill>
        <p:spPr>
          <a:xfrm>
            <a:off x="801014" y="3461918"/>
            <a:ext cx="263348" cy="263348"/>
          </a:xfrm>
          <a:prstGeom prst="rect">
            <a:avLst/>
          </a:prstGeom>
        </p:spPr>
      </p:pic>
      <p:sp>
        <p:nvSpPr>
          <p:cNvPr id="20" name="TextBox 19"/>
          <p:cNvSpPr txBox="1"/>
          <p:nvPr/>
        </p:nvSpPr>
        <p:spPr>
          <a:xfrm>
            <a:off x="1417320" y="3300984"/>
            <a:ext cx="10149840" cy="256032"/>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The route has to fit the shape</a:t>
            </a:r>
          </a:p>
        </p:txBody>
      </p:sp>
      <p:sp>
        <p:nvSpPr>
          <p:cNvPr id="21" name="TextBox 20"/>
          <p:cNvSpPr txBox="1"/>
          <p:nvPr/>
        </p:nvSpPr>
        <p:spPr>
          <a:xfrm>
            <a:off x="1417320" y="3584448"/>
            <a:ext cx="10149840" cy="384048"/>
          </a:xfrm>
          <a:prstGeom prst="rect">
            <a:avLst/>
          </a:prstGeom>
          <a:noFill/>
        </p:spPr>
        <p:txBody>
          <a:bodyPr wrap="square" anchor="t" lIns="0" rIns="0" tIns="0" bIns="0">
            <a:spAutoFit/>
          </a:bodyPr>
          <a:lstStyle/>
          <a:p>
            <a:pPr algn="l">
              <a:lnSpc>
                <a:spcPct val="112000"/>
              </a:lnSpc>
              <a:spcAft>
                <a:spcPts val="400"/>
              </a:spcAft>
            </a:pPr>
            <a:r>
              <a:rPr sz="1019" b="0" i="0">
                <a:solidFill>
                  <a:srgbClr val="3A4356"/>
                </a:solidFill>
                <a:latin typeface="Calibri"/>
              </a:rPr>
              <a:t>A thick-walled part, walls over about 6 mm, is offered casting, forging, cast and machine, or machining. Never sheet metal or moulding.</a:t>
            </a:r>
          </a:p>
        </p:txBody>
      </p:sp>
      <p:sp>
        <p:nvSpPr>
          <p:cNvPr id="22" name="Rounded Rectangle 21"/>
          <p:cNvSpPr/>
          <p:nvPr/>
        </p:nvSpPr>
        <p:spPr>
          <a:xfrm>
            <a:off x="411480" y="4105656"/>
            <a:ext cx="11365992" cy="84124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4105656"/>
            <a:ext cx="68580" cy="84124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251960"/>
            <a:ext cx="548640" cy="548640"/>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ress.png"/>
          <p:cNvPicPr>
            <a:picLocks noChangeAspect="1"/>
          </p:cNvPicPr>
          <p:nvPr/>
        </p:nvPicPr>
        <p:blipFill>
          <a:blip r:embed="rId4"/>
          <a:stretch>
            <a:fillRect/>
          </a:stretch>
        </p:blipFill>
        <p:spPr>
          <a:xfrm>
            <a:off x="801014" y="4394606"/>
            <a:ext cx="263348" cy="263348"/>
          </a:xfrm>
          <a:prstGeom prst="rect">
            <a:avLst/>
          </a:prstGeom>
        </p:spPr>
      </p:pic>
      <p:sp>
        <p:nvSpPr>
          <p:cNvPr id="26" name="TextBox 25"/>
          <p:cNvSpPr txBox="1"/>
          <p:nvPr/>
        </p:nvSpPr>
        <p:spPr>
          <a:xfrm>
            <a:off x="1417320" y="4233672"/>
            <a:ext cx="10149840" cy="256032"/>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Machining time has a ceiling</a:t>
            </a:r>
          </a:p>
        </p:txBody>
      </p:sp>
      <p:sp>
        <p:nvSpPr>
          <p:cNvPr id="27" name="TextBox 26"/>
          <p:cNvSpPr txBox="1"/>
          <p:nvPr/>
        </p:nvSpPr>
        <p:spPr>
          <a:xfrm>
            <a:off x="1417320" y="4517136"/>
            <a:ext cx="10149840" cy="384048"/>
          </a:xfrm>
          <a:prstGeom prst="rect">
            <a:avLst/>
          </a:prstGeom>
          <a:noFill/>
        </p:spPr>
        <p:txBody>
          <a:bodyPr wrap="square" anchor="t" lIns="0" rIns="0" tIns="0" bIns="0">
            <a:spAutoFit/>
          </a:bodyPr>
          <a:lstStyle/>
          <a:p>
            <a:pPr algn="l">
              <a:lnSpc>
                <a:spcPct val="112000"/>
              </a:lnSpc>
              <a:spcAft>
                <a:spcPts val="400"/>
              </a:spcAft>
            </a:pPr>
            <a:r>
              <a:rPr sz="1019" b="0" i="0">
                <a:solidFill>
                  <a:srgbClr val="3A4356"/>
                </a:solidFill>
                <a:latin typeface="Calibri"/>
              </a:rPr>
              <a:t>On a casting or forging, machining is capped at what finishing that part could realistically take, so a bad estimate cannot run the cost up.</a:t>
            </a:r>
          </a:p>
        </p:txBody>
      </p:sp>
      <p:sp>
        <p:nvSpPr>
          <p:cNvPr id="28" name="Rounded Rectangle 27"/>
          <p:cNvSpPr/>
          <p:nvPr/>
        </p:nvSpPr>
        <p:spPr>
          <a:xfrm>
            <a:off x="411480" y="5038344"/>
            <a:ext cx="11365992" cy="84124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5038344"/>
            <a:ext cx="68580" cy="84124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184648"/>
            <a:ext cx="548640" cy="54864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person.png"/>
          <p:cNvPicPr>
            <a:picLocks noChangeAspect="1"/>
          </p:cNvPicPr>
          <p:nvPr/>
        </p:nvPicPr>
        <p:blipFill>
          <a:blip r:embed="rId5"/>
          <a:stretch>
            <a:fillRect/>
          </a:stretch>
        </p:blipFill>
        <p:spPr>
          <a:xfrm>
            <a:off x="801014" y="5327294"/>
            <a:ext cx="263348" cy="263348"/>
          </a:xfrm>
          <a:prstGeom prst="rect">
            <a:avLst/>
          </a:prstGeom>
        </p:spPr>
      </p:pic>
      <p:sp>
        <p:nvSpPr>
          <p:cNvPr id="32" name="TextBox 31"/>
          <p:cNvSpPr txBox="1"/>
          <p:nvPr/>
        </p:nvSpPr>
        <p:spPr>
          <a:xfrm>
            <a:off x="1417320" y="5166360"/>
            <a:ext cx="10149840" cy="256032"/>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Unknowns get asked, not guessed</a:t>
            </a:r>
          </a:p>
        </p:txBody>
      </p:sp>
      <p:sp>
        <p:nvSpPr>
          <p:cNvPr id="33" name="TextBox 32"/>
          <p:cNvSpPr txBox="1"/>
          <p:nvPr/>
        </p:nvSpPr>
        <p:spPr>
          <a:xfrm>
            <a:off x="1417320" y="5449824"/>
            <a:ext cx="10149840" cy="384048"/>
          </a:xfrm>
          <a:prstGeom prst="rect">
            <a:avLst/>
          </a:prstGeom>
          <a:noFill/>
        </p:spPr>
        <p:txBody>
          <a:bodyPr wrap="square" anchor="t" lIns="0" rIns="0" tIns="0" bIns="0">
            <a:spAutoFit/>
          </a:bodyPr>
          <a:lstStyle/>
          <a:p>
            <a:pPr algn="l">
              <a:lnSpc>
                <a:spcPct val="112000"/>
              </a:lnSpc>
              <a:spcAft>
                <a:spcPts val="400"/>
              </a:spcAft>
            </a:pPr>
            <a:r>
              <a:rPr sz="1019" b="0" i="0">
                <a:solidFill>
                  <a:srgbClr val="3A4356"/>
                </a:solidFill>
                <a:latin typeface="Calibri"/>
              </a:rPr>
              <a:t>Material family, heat treatment and tolerance class cannot be read off a solid model, so the engineer is asked. A machined STL is blocked until someone types the cycle time.</a:t>
            </a:r>
          </a:p>
        </p:txBody>
      </p:sp>
      <p:sp>
        <p:nvSpPr>
          <p:cNvPr id="34" name="Rounded Rectangle 33"/>
          <p:cNvSpPr/>
          <p:nvPr/>
        </p:nvSpPr>
        <p:spPr>
          <a:xfrm>
            <a:off x="411480" y="6035040"/>
            <a:ext cx="11365992" cy="749808"/>
          </a:xfrm>
          <a:prstGeom prst="roundRect">
            <a:avLst>
              <a:gd name="adj" fmla="val 12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6035040"/>
            <a:ext cx="68580" cy="74980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 y="615391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B03A2E"/>
                </a:solidFill>
                <a:latin typeface="Calibri"/>
              </a:rPr>
              <a:t>Why we test on real parts, not only test blocks</a:t>
            </a:r>
          </a:p>
        </p:txBody>
      </p:sp>
      <p:sp>
        <p:nvSpPr>
          <p:cNvPr id="37" name="TextBox 36"/>
          <p:cNvSpPr txBox="1"/>
          <p:nvPr/>
        </p:nvSpPr>
        <p:spPr>
          <a:xfrm>
            <a:off x="630936" y="6437376"/>
            <a:ext cx="10954512" cy="24688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A steering knuckle once costed at £5.43 while every test passed. Six real production parts are now pinned, and a change that moves any of them fails the build.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SETTINGS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the fixed numbers inside the software</a:t>
            </a:r>
          </a:p>
        </p:txBody>
      </p:sp>
      <p:sp>
        <p:nvSpPr>
          <p:cNvPr id="9" name="TextBox 8"/>
          <p:cNvSpPr txBox="1"/>
          <p:nvPr/>
        </p:nvSpPr>
        <p:spPr>
          <a:xfrm>
            <a:off x="411480" y="1554480"/>
            <a:ext cx="11338560" cy="32004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You asked what the hardcoded values actually are. These are engineering judgements written into the code. Six real ones, read off the software this month:</a:t>
            </a:r>
          </a:p>
        </p:txBody>
      </p:sp>
      <p:sp>
        <p:nvSpPr>
          <p:cNvPr id="10" name="Rectangle 9"/>
          <p:cNvSpPr/>
          <p:nvPr/>
        </p:nvSpPr>
        <p:spPr>
          <a:xfrm>
            <a:off x="411480" y="2148840"/>
            <a:ext cx="393192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231136"/>
            <a:ext cx="378561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What it controls</a:t>
            </a:r>
          </a:p>
        </p:txBody>
      </p:sp>
      <p:sp>
        <p:nvSpPr>
          <p:cNvPr id="12" name="Rectangle 11"/>
          <p:cNvSpPr/>
          <p:nvPr/>
        </p:nvSpPr>
        <p:spPr>
          <a:xfrm>
            <a:off x="4343400" y="2148840"/>
            <a:ext cx="210312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5696" y="2231136"/>
            <a:ext cx="195681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Value</a:t>
            </a:r>
          </a:p>
        </p:txBody>
      </p:sp>
      <p:sp>
        <p:nvSpPr>
          <p:cNvPr id="14" name="Rectangle 13"/>
          <p:cNvSpPr/>
          <p:nvPr/>
        </p:nvSpPr>
        <p:spPr>
          <a:xfrm>
            <a:off x="6446520" y="2148840"/>
            <a:ext cx="533095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2231136"/>
            <a:ext cx="518464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Why</a:t>
            </a:r>
          </a:p>
        </p:txBody>
      </p:sp>
      <p:sp>
        <p:nvSpPr>
          <p:cNvPr id="16" name="Rectangle 15"/>
          <p:cNvSpPr/>
          <p:nvPr/>
        </p:nvSpPr>
        <p:spPr>
          <a:xfrm>
            <a:off x="411480" y="2478024"/>
            <a:ext cx="39319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2542032"/>
            <a:ext cx="37856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Smallest face counted as machined</a:t>
            </a:r>
          </a:p>
        </p:txBody>
      </p:sp>
      <p:sp>
        <p:nvSpPr>
          <p:cNvPr id="18" name="Rectangle 17"/>
          <p:cNvSpPr/>
          <p:nvPr/>
        </p:nvSpPr>
        <p:spPr>
          <a:xfrm>
            <a:off x="4343400" y="2478024"/>
            <a:ext cx="21031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25696" y="2542032"/>
            <a:ext cx="195681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400 mm²</a:t>
            </a:r>
          </a:p>
        </p:txBody>
      </p:sp>
      <p:sp>
        <p:nvSpPr>
          <p:cNvPr id="20" name="Rectangle 19"/>
          <p:cNvSpPr/>
          <p:nvPr/>
        </p:nvSpPr>
        <p:spPr>
          <a:xfrm>
            <a:off x="6446520" y="2478024"/>
            <a:ext cx="533095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28816" y="2542032"/>
            <a:ext cx="518464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Below this we treat it as an edge, not a face to machine</a:t>
            </a:r>
          </a:p>
        </p:txBody>
      </p:sp>
      <p:sp>
        <p:nvSpPr>
          <p:cNvPr id="22" name="Rectangle 21"/>
          <p:cNvSpPr/>
          <p:nvPr/>
        </p:nvSpPr>
        <p:spPr>
          <a:xfrm>
            <a:off x="411480" y="2935224"/>
            <a:ext cx="39319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2999232"/>
            <a:ext cx="37856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Smallest pocket counted</a:t>
            </a:r>
          </a:p>
        </p:txBody>
      </p:sp>
      <p:sp>
        <p:nvSpPr>
          <p:cNvPr id="24" name="Rectangle 23"/>
          <p:cNvSpPr/>
          <p:nvPr/>
        </p:nvSpPr>
        <p:spPr>
          <a:xfrm>
            <a:off x="4343400" y="2935224"/>
            <a:ext cx="21031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25696" y="2999232"/>
            <a:ext cx="195681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80 mm²</a:t>
            </a:r>
          </a:p>
        </p:txBody>
      </p:sp>
      <p:sp>
        <p:nvSpPr>
          <p:cNvPr id="26" name="Rectangle 25"/>
          <p:cNvSpPr/>
          <p:nvPr/>
        </p:nvSpPr>
        <p:spPr>
          <a:xfrm>
            <a:off x="6446520" y="2935224"/>
            <a:ext cx="533095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2999232"/>
            <a:ext cx="518464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Stops small recesses getting costed as pockets</a:t>
            </a:r>
          </a:p>
        </p:txBody>
      </p:sp>
      <p:sp>
        <p:nvSpPr>
          <p:cNvPr id="28" name="Rectangle 27"/>
          <p:cNvSpPr/>
          <p:nvPr/>
        </p:nvSpPr>
        <p:spPr>
          <a:xfrm>
            <a:off x="411480" y="3392424"/>
            <a:ext cx="39319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 y="3456432"/>
            <a:ext cx="37856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Rework of a rejected plated part</a:t>
            </a:r>
          </a:p>
        </p:txBody>
      </p:sp>
      <p:sp>
        <p:nvSpPr>
          <p:cNvPr id="30" name="Rectangle 29"/>
          <p:cNvSpPr/>
          <p:nvPr/>
        </p:nvSpPr>
        <p:spPr>
          <a:xfrm>
            <a:off x="4343400" y="3392424"/>
            <a:ext cx="21031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25696" y="3456432"/>
            <a:ext cx="195681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USD 2.20 + 1.80 / m²</a:t>
            </a:r>
          </a:p>
        </p:txBody>
      </p:sp>
      <p:sp>
        <p:nvSpPr>
          <p:cNvPr id="32" name="Rectangle 31"/>
          <p:cNvSpPr/>
          <p:nvPr/>
        </p:nvSpPr>
        <p:spPr>
          <a:xfrm>
            <a:off x="6446520" y="3392424"/>
            <a:ext cx="533095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28816" y="3456432"/>
            <a:ext cx="518464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Strip-and-re-plate chemistry and effluent, on top of plating it again. The note on the stage reads 4-5x a first-pass part</a:t>
            </a:r>
          </a:p>
        </p:txBody>
      </p:sp>
      <p:sp>
        <p:nvSpPr>
          <p:cNvPr id="34" name="Rectangle 33"/>
          <p:cNvSpPr/>
          <p:nvPr/>
        </p:nvSpPr>
        <p:spPr>
          <a:xfrm>
            <a:off x="411480" y="3849624"/>
            <a:ext cx="39319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3913632"/>
            <a:ext cx="37856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Zinc price used for plating</a:t>
            </a:r>
          </a:p>
        </p:txBody>
      </p:sp>
      <p:sp>
        <p:nvSpPr>
          <p:cNvPr id="36" name="Rectangle 35"/>
          <p:cNvSpPr/>
          <p:nvPr/>
        </p:nvSpPr>
        <p:spPr>
          <a:xfrm>
            <a:off x="4343400" y="3849624"/>
            <a:ext cx="21031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25696" y="3913632"/>
            <a:ext cx="195681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USD 3.67 / kg</a:t>
            </a:r>
          </a:p>
        </p:txBody>
      </p:sp>
      <p:sp>
        <p:nvSpPr>
          <p:cNvPr id="38" name="Rectangle 37"/>
          <p:cNvSpPr/>
          <p:nvPr/>
        </p:nvSpPr>
        <p:spPr>
          <a:xfrm>
            <a:off x="6446520" y="3849624"/>
            <a:ext cx="533095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28816" y="3913632"/>
            <a:ext cx="518464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Market reference, August 2026. Moves monthly and is meant to get updated</a:t>
            </a:r>
          </a:p>
        </p:txBody>
      </p:sp>
      <p:sp>
        <p:nvSpPr>
          <p:cNvPr id="40" name="Rectangle 39"/>
          <p:cNvSpPr/>
          <p:nvPr/>
        </p:nvSpPr>
        <p:spPr>
          <a:xfrm>
            <a:off x="411480" y="4306824"/>
            <a:ext cx="39319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 y="4370832"/>
            <a:ext cx="37856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Shape allowance, pressing</a:t>
            </a:r>
          </a:p>
        </p:txBody>
      </p:sp>
      <p:sp>
        <p:nvSpPr>
          <p:cNvPr id="42" name="Rectangle 41"/>
          <p:cNvSpPr/>
          <p:nvPr/>
        </p:nvSpPr>
        <p:spPr>
          <a:xfrm>
            <a:off x="4343400" y="4306824"/>
            <a:ext cx="210312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25696" y="4370832"/>
            <a:ext cx="195681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1.15</a:t>
            </a:r>
          </a:p>
        </p:txBody>
      </p:sp>
      <p:sp>
        <p:nvSpPr>
          <p:cNvPr id="44" name="Rectangle 43"/>
          <p:cNvSpPr/>
          <p:nvPr/>
        </p:nvSpPr>
        <p:spPr>
          <a:xfrm>
            <a:off x="6446520" y="4306824"/>
            <a:ext cx="533095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28816" y="4370832"/>
            <a:ext cx="518464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A real pressing has more surface than a flat plate: edges, flanges, bends</a:t>
            </a:r>
          </a:p>
        </p:txBody>
      </p:sp>
      <p:sp>
        <p:nvSpPr>
          <p:cNvPr id="46" name="Rectangle 45"/>
          <p:cNvSpPr/>
          <p:nvPr/>
        </p:nvSpPr>
        <p:spPr>
          <a:xfrm>
            <a:off x="411480" y="4764024"/>
            <a:ext cx="39319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 y="4828032"/>
            <a:ext cx="3785616"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Shape allowance, casting and forging</a:t>
            </a:r>
          </a:p>
        </p:txBody>
      </p:sp>
      <p:sp>
        <p:nvSpPr>
          <p:cNvPr id="48" name="Rectangle 47"/>
          <p:cNvSpPr/>
          <p:nvPr/>
        </p:nvSpPr>
        <p:spPr>
          <a:xfrm>
            <a:off x="4343400" y="4764024"/>
            <a:ext cx="210312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25696" y="4828032"/>
            <a:ext cx="1956816"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1.25 / 1.10</a:t>
            </a:r>
          </a:p>
        </p:txBody>
      </p:sp>
      <p:sp>
        <p:nvSpPr>
          <p:cNvPr id="50" name="Rectangle 49"/>
          <p:cNvSpPr/>
          <p:nvPr/>
        </p:nvSpPr>
        <p:spPr>
          <a:xfrm>
            <a:off x="6446520" y="4764024"/>
            <a:ext cx="533095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28816" y="4828032"/>
            <a:ext cx="5184648" cy="365760"/>
          </a:xfrm>
          <a:prstGeom prst="rect">
            <a:avLst/>
          </a:prstGeom>
          <a:noFill/>
        </p:spPr>
        <p:txBody>
          <a:bodyPr wrap="square" anchor="t" lIns="0" rIns="0" tIns="0" bIns="0">
            <a:spAutoFit/>
          </a:bodyPr>
          <a:lstStyle/>
          <a:p>
            <a:pPr algn="l">
              <a:lnSpc>
                <a:spcPct val="100000"/>
              </a:lnSpc>
              <a:spcAft>
                <a:spcPts val="400"/>
              </a:spcAft>
            </a:pPr>
            <a:r>
              <a:rPr sz="1050" b="0" i="0">
                <a:solidFill>
                  <a:srgbClr val="3A4356"/>
                </a:solidFill>
                <a:latin typeface="Calibri"/>
              </a:rPr>
              <a:t>Castings carry ribs and bosses; forgings are simpler on the outside</a:t>
            </a:r>
          </a:p>
        </p:txBody>
      </p:sp>
      <p:sp>
        <p:nvSpPr>
          <p:cNvPr id="52" name="Rounded Rectangle 51"/>
          <p:cNvSpPr/>
          <p:nvPr/>
        </p:nvSpPr>
        <p:spPr>
          <a:xfrm>
            <a:off x="411480" y="5367528"/>
            <a:ext cx="5577840" cy="105156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11480" y="5367528"/>
            <a:ext cx="68580" cy="105156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 y="5486400"/>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How they get handed over</a:t>
            </a:r>
          </a:p>
        </p:txBody>
      </p:sp>
      <p:sp>
        <p:nvSpPr>
          <p:cNvPr id="55" name="TextBox 54"/>
          <p:cNvSpPr txBox="1"/>
          <p:nvPr/>
        </p:nvSpPr>
        <p:spPr>
          <a:xfrm>
            <a:off x="630936" y="5769864"/>
            <a:ext cx="5166360" cy="5486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Pulled out of the code into one list you can read and change without a developer. That list is a deliverable in its own right and it is a step in the Option 1 sequence.</a:t>
            </a:r>
          </a:p>
        </p:txBody>
      </p:sp>
      <p:sp>
        <p:nvSpPr>
          <p:cNvPr id="56" name="Rounded Rectangle 55"/>
          <p:cNvSpPr/>
          <p:nvPr/>
        </p:nvSpPr>
        <p:spPr>
          <a:xfrm>
            <a:off x="6199632" y="5367528"/>
            <a:ext cx="5577840" cy="1051560"/>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99632" y="5367528"/>
            <a:ext cx="68580" cy="105156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19088" y="5486400"/>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Where these came from</a:t>
            </a:r>
          </a:p>
        </p:txBody>
      </p:sp>
      <p:sp>
        <p:nvSpPr>
          <p:cNvPr id="59" name="TextBox 58"/>
          <p:cNvSpPr txBox="1"/>
          <p:nvPr/>
        </p:nvSpPr>
        <p:spPr>
          <a:xfrm>
            <a:off x="6419088" y="5769864"/>
            <a:ext cx="5166360" cy="5486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They are our engineering estimates. They are not measurements from a JLR plant. Treat them as a starting point and expect to replace them as real data comes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DECISION FOR IT</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three ways to connect it to CAPEE</a:t>
            </a:r>
          </a:p>
        </p:txBody>
      </p:sp>
      <p:sp>
        <p:nvSpPr>
          <p:cNvPr id="9" name="TextBox 8"/>
          <p:cNvSpPr txBox="1"/>
          <p:nvPr/>
        </p:nvSpPr>
        <p:spPr>
          <a:xfrm>
            <a:off x="411480" y="1554480"/>
            <a:ext cx="11338560" cy="32004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We do not know yet how CAPEE is built. Any of the three routes could work. The answer decides which one we use and how much effort it takes.</a:t>
            </a:r>
          </a:p>
        </p:txBody>
      </p:sp>
      <p:sp>
        <p:nvSpPr>
          <p:cNvPr id="10" name="Rectangle 9"/>
          <p:cNvSpPr/>
          <p:nvPr/>
        </p:nvSpPr>
        <p:spPr>
          <a:xfrm>
            <a:off x="411480" y="2103120"/>
            <a:ext cx="26517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185416"/>
            <a:ext cx="25054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Route</a:t>
            </a:r>
          </a:p>
        </p:txBody>
      </p:sp>
      <p:sp>
        <p:nvSpPr>
          <p:cNvPr id="12" name="Rectangle 11"/>
          <p:cNvSpPr/>
          <p:nvPr/>
        </p:nvSpPr>
        <p:spPr>
          <a:xfrm>
            <a:off x="3063240" y="2103120"/>
            <a:ext cx="26517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45536" y="2185416"/>
            <a:ext cx="25054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Use when</a:t>
            </a:r>
          </a:p>
        </p:txBody>
      </p:sp>
      <p:sp>
        <p:nvSpPr>
          <p:cNvPr id="14" name="Rectangle 13"/>
          <p:cNvSpPr/>
          <p:nvPr/>
        </p:nvSpPr>
        <p:spPr>
          <a:xfrm>
            <a:off x="5715000" y="2103120"/>
            <a:ext cx="469087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97296" y="2185416"/>
            <a:ext cx="454456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What it means day to day</a:t>
            </a:r>
          </a:p>
        </p:txBody>
      </p:sp>
      <p:sp>
        <p:nvSpPr>
          <p:cNvPr id="16" name="Rectangle 15"/>
          <p:cNvSpPr/>
          <p:nvPr/>
        </p:nvSpPr>
        <p:spPr>
          <a:xfrm>
            <a:off x="10405872" y="2103120"/>
            <a:ext cx="137160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88168" y="2185416"/>
            <a:ext cx="122529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Relative effort</a:t>
            </a:r>
          </a:p>
        </p:txBody>
      </p:sp>
      <p:sp>
        <p:nvSpPr>
          <p:cNvPr id="18" name="Rectangle 17"/>
          <p:cNvSpPr/>
          <p:nvPr/>
        </p:nvSpPr>
        <p:spPr>
          <a:xfrm>
            <a:off x="411480" y="2432304"/>
            <a:ext cx="2651760"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2496312"/>
            <a:ext cx="2505456" cy="685800"/>
          </a:xfrm>
          <a:prstGeom prst="rect">
            <a:avLst/>
          </a:prstGeom>
          <a:noFill/>
        </p:spPr>
        <p:txBody>
          <a:bodyPr wrap="square" anchor="t" lIns="0" rIns="0" tIns="0" bIns="0">
            <a:spAutoFit/>
          </a:bodyPr>
          <a:lstStyle/>
          <a:p>
            <a:pPr algn="l">
              <a:lnSpc>
                <a:spcPct val="100000"/>
              </a:lnSpc>
              <a:spcAft>
                <a:spcPts val="400"/>
              </a:spcAft>
            </a:pPr>
            <a:r>
              <a:rPr sz="1030" b="1" i="0">
                <a:solidFill>
                  <a:srgbClr val="16325C"/>
                </a:solidFill>
                <a:latin typeface="Calibri"/>
              </a:rPr>
              <a:t>A · Put it inside CAPEE</a:t>
            </a:r>
          </a:p>
        </p:txBody>
      </p:sp>
      <p:sp>
        <p:nvSpPr>
          <p:cNvPr id="20" name="Rectangle 19"/>
          <p:cNvSpPr/>
          <p:nvPr/>
        </p:nvSpPr>
        <p:spPr>
          <a:xfrm>
            <a:off x="3063240" y="2432304"/>
            <a:ext cx="2651760"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45536" y="2496312"/>
            <a:ext cx="2505456" cy="685800"/>
          </a:xfrm>
          <a:prstGeom prst="rect">
            <a:avLst/>
          </a:prstGeom>
          <a:noFill/>
        </p:spPr>
        <p:txBody>
          <a:bodyPr wrap="square" anchor="t" lIns="0" rIns="0" tIns="0" bIns="0">
            <a:spAutoFit/>
          </a:bodyPr>
          <a:lstStyle/>
          <a:p>
            <a:pPr algn="l">
              <a:lnSpc>
                <a:spcPct val="100000"/>
              </a:lnSpc>
              <a:spcAft>
                <a:spcPts val="400"/>
              </a:spcAft>
            </a:pPr>
            <a:r>
              <a:rPr sz="1030" b="0" i="0">
                <a:solidFill>
                  <a:srgbClr val="3A4356"/>
                </a:solidFill>
                <a:latin typeface="Calibri"/>
              </a:rPr>
              <a:t>CAPEE is built in JavaScript</a:t>
            </a:r>
          </a:p>
        </p:txBody>
      </p:sp>
      <p:sp>
        <p:nvSpPr>
          <p:cNvPr id="22" name="Rectangle 21"/>
          <p:cNvSpPr/>
          <p:nvPr/>
        </p:nvSpPr>
        <p:spPr>
          <a:xfrm>
            <a:off x="5715000" y="2432304"/>
            <a:ext cx="4690872"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97296" y="2496312"/>
            <a:ext cx="4544568" cy="685800"/>
          </a:xfrm>
          <a:prstGeom prst="rect">
            <a:avLst/>
          </a:prstGeom>
          <a:noFill/>
        </p:spPr>
        <p:txBody>
          <a:bodyPr wrap="square" anchor="t" lIns="0" rIns="0" tIns="0" bIns="0">
            <a:spAutoFit/>
          </a:bodyPr>
          <a:lstStyle/>
          <a:p>
            <a:pPr algn="l">
              <a:lnSpc>
                <a:spcPct val="100000"/>
              </a:lnSpc>
              <a:spcAft>
                <a:spcPts val="400"/>
              </a:spcAft>
            </a:pPr>
            <a:r>
              <a:rPr sz="1030" b="0" i="0">
                <a:solidFill>
                  <a:srgbClr val="3A4356"/>
                </a:solidFill>
                <a:latin typeface="Calibri"/>
              </a:rPr>
              <a:t>Our code goes straight in. Only the measuring engine sits separately.</a:t>
            </a:r>
          </a:p>
        </p:txBody>
      </p:sp>
      <p:sp>
        <p:nvSpPr>
          <p:cNvPr id="24" name="Rectangle 23"/>
          <p:cNvSpPr/>
          <p:nvPr/>
        </p:nvSpPr>
        <p:spPr>
          <a:xfrm>
            <a:off x="10405872" y="2432304"/>
            <a:ext cx="1371600"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88168" y="2496312"/>
            <a:ext cx="1225296" cy="685800"/>
          </a:xfrm>
          <a:prstGeom prst="rect">
            <a:avLst/>
          </a:prstGeom>
          <a:noFill/>
        </p:spPr>
        <p:txBody>
          <a:bodyPr wrap="square" anchor="t" lIns="0" rIns="0" tIns="0" bIns="0">
            <a:spAutoFit/>
          </a:bodyPr>
          <a:lstStyle/>
          <a:p>
            <a:pPr algn="l">
              <a:lnSpc>
                <a:spcPct val="100000"/>
              </a:lnSpc>
              <a:spcAft>
                <a:spcPts val="400"/>
              </a:spcAft>
            </a:pPr>
            <a:r>
              <a:rPr sz="1030" b="1" i="0">
                <a:solidFill>
                  <a:srgbClr val="2A7F50"/>
                </a:solidFill>
                <a:latin typeface="Calibri"/>
              </a:rPr>
              <a:t>Least effort</a:t>
            </a:r>
          </a:p>
        </p:txBody>
      </p:sp>
      <p:sp>
        <p:nvSpPr>
          <p:cNvPr id="26" name="Rectangle 25"/>
          <p:cNvSpPr/>
          <p:nvPr/>
        </p:nvSpPr>
        <p:spPr>
          <a:xfrm>
            <a:off x="411480" y="3209544"/>
            <a:ext cx="2651760" cy="77724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3273552"/>
            <a:ext cx="2505456" cy="685800"/>
          </a:xfrm>
          <a:prstGeom prst="rect">
            <a:avLst/>
          </a:prstGeom>
          <a:noFill/>
        </p:spPr>
        <p:txBody>
          <a:bodyPr wrap="square" anchor="t" lIns="0" rIns="0" tIns="0" bIns="0">
            <a:spAutoFit/>
          </a:bodyPr>
          <a:lstStyle/>
          <a:p>
            <a:pPr algn="l">
              <a:lnSpc>
                <a:spcPct val="100000"/>
              </a:lnSpc>
              <a:spcAft>
                <a:spcPts val="400"/>
              </a:spcAft>
            </a:pPr>
            <a:r>
              <a:rPr sz="1030" b="1" i="0">
                <a:solidFill>
                  <a:srgbClr val="16325C"/>
                </a:solidFill>
                <a:latin typeface="Calibri"/>
              </a:rPr>
              <a:t>B · Run it alongside</a:t>
            </a:r>
          </a:p>
        </p:txBody>
      </p:sp>
      <p:sp>
        <p:nvSpPr>
          <p:cNvPr id="28" name="Rectangle 27"/>
          <p:cNvSpPr/>
          <p:nvPr/>
        </p:nvSpPr>
        <p:spPr>
          <a:xfrm>
            <a:off x="3063240" y="3209544"/>
            <a:ext cx="2651760" cy="77724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5536" y="3273552"/>
            <a:ext cx="2505456" cy="685800"/>
          </a:xfrm>
          <a:prstGeom prst="rect">
            <a:avLst/>
          </a:prstGeom>
          <a:noFill/>
        </p:spPr>
        <p:txBody>
          <a:bodyPr wrap="square" anchor="t" lIns="0" rIns="0" tIns="0" bIns="0">
            <a:spAutoFit/>
          </a:bodyPr>
          <a:lstStyle/>
          <a:p>
            <a:pPr algn="l">
              <a:lnSpc>
                <a:spcPct val="100000"/>
              </a:lnSpc>
              <a:spcAft>
                <a:spcPts val="400"/>
              </a:spcAft>
            </a:pPr>
            <a:r>
              <a:rPr sz="1030" b="0" i="0">
                <a:solidFill>
                  <a:srgbClr val="3A4356"/>
                </a:solidFill>
                <a:latin typeface="Calibri"/>
              </a:rPr>
              <a:t>CAPEE is Java, .NET or anything else</a:t>
            </a:r>
          </a:p>
        </p:txBody>
      </p:sp>
      <p:sp>
        <p:nvSpPr>
          <p:cNvPr id="30" name="Rectangle 29"/>
          <p:cNvSpPr/>
          <p:nvPr/>
        </p:nvSpPr>
        <p:spPr>
          <a:xfrm>
            <a:off x="5715000" y="3209544"/>
            <a:ext cx="4690872" cy="77724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97296" y="3273552"/>
            <a:ext cx="4544568" cy="685800"/>
          </a:xfrm>
          <a:prstGeom prst="rect">
            <a:avLst/>
          </a:prstGeom>
          <a:noFill/>
        </p:spPr>
        <p:txBody>
          <a:bodyPr wrap="square" anchor="t" lIns="0" rIns="0" tIns="0" bIns="0">
            <a:spAutoFit/>
          </a:bodyPr>
          <a:lstStyle/>
          <a:p>
            <a:pPr algn="l">
              <a:lnSpc>
                <a:spcPct val="100000"/>
              </a:lnSpc>
              <a:spcAft>
                <a:spcPts val="400"/>
              </a:spcAft>
            </a:pPr>
            <a:r>
              <a:rPr sz="1030" b="0" i="0">
                <a:solidFill>
                  <a:srgbClr val="3A4356"/>
                </a:solidFill>
                <a:latin typeface="Calibri"/>
              </a:rPr>
              <a:t>It runs as its own service on a JLR server and CAPEE asks it for numbers over a secure link.</a:t>
            </a:r>
          </a:p>
        </p:txBody>
      </p:sp>
      <p:sp>
        <p:nvSpPr>
          <p:cNvPr id="32" name="Rectangle 31"/>
          <p:cNvSpPr/>
          <p:nvPr/>
        </p:nvSpPr>
        <p:spPr>
          <a:xfrm>
            <a:off x="10405872" y="3209544"/>
            <a:ext cx="1371600" cy="77724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88168" y="3273552"/>
            <a:ext cx="1225296" cy="685800"/>
          </a:xfrm>
          <a:prstGeom prst="rect">
            <a:avLst/>
          </a:prstGeom>
          <a:noFill/>
        </p:spPr>
        <p:txBody>
          <a:bodyPr wrap="square" anchor="t" lIns="0" rIns="0" tIns="0" bIns="0">
            <a:spAutoFit/>
          </a:bodyPr>
          <a:lstStyle/>
          <a:p>
            <a:pPr algn="l">
              <a:lnSpc>
                <a:spcPct val="100000"/>
              </a:lnSpc>
              <a:spcAft>
                <a:spcPts val="400"/>
              </a:spcAft>
            </a:pPr>
            <a:r>
              <a:rPr sz="1030" b="1" i="0">
                <a:solidFill>
                  <a:srgbClr val="99651A"/>
                </a:solidFill>
                <a:latin typeface="Calibri"/>
              </a:rPr>
              <a:t>Most effort</a:t>
            </a:r>
          </a:p>
        </p:txBody>
      </p:sp>
      <p:sp>
        <p:nvSpPr>
          <p:cNvPr id="34" name="Rectangle 33"/>
          <p:cNvSpPr/>
          <p:nvPr/>
        </p:nvSpPr>
        <p:spPr>
          <a:xfrm>
            <a:off x="411480" y="3986784"/>
            <a:ext cx="2651760"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4050792"/>
            <a:ext cx="2505456" cy="685800"/>
          </a:xfrm>
          <a:prstGeom prst="rect">
            <a:avLst/>
          </a:prstGeom>
          <a:noFill/>
        </p:spPr>
        <p:txBody>
          <a:bodyPr wrap="square" anchor="t" lIns="0" rIns="0" tIns="0" bIns="0">
            <a:spAutoFit/>
          </a:bodyPr>
          <a:lstStyle/>
          <a:p>
            <a:pPr algn="l">
              <a:lnSpc>
                <a:spcPct val="100000"/>
              </a:lnSpc>
              <a:spcAft>
                <a:spcPts val="400"/>
              </a:spcAft>
            </a:pPr>
            <a:r>
              <a:rPr sz="1030" b="1" i="0">
                <a:solidFill>
                  <a:srgbClr val="16325C"/>
                </a:solidFill>
                <a:latin typeface="Calibri"/>
              </a:rPr>
              <a:t>C · Pass a file</a:t>
            </a:r>
          </a:p>
        </p:txBody>
      </p:sp>
      <p:sp>
        <p:nvSpPr>
          <p:cNvPr id="36" name="Rectangle 35"/>
          <p:cNvSpPr/>
          <p:nvPr/>
        </p:nvSpPr>
        <p:spPr>
          <a:xfrm>
            <a:off x="3063240" y="3986784"/>
            <a:ext cx="2651760"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45536" y="4050792"/>
            <a:ext cx="2505456" cy="685800"/>
          </a:xfrm>
          <a:prstGeom prst="rect">
            <a:avLst/>
          </a:prstGeom>
          <a:noFill/>
        </p:spPr>
        <p:txBody>
          <a:bodyPr wrap="square" anchor="t" lIns="0" rIns="0" tIns="0" bIns="0">
            <a:spAutoFit/>
          </a:bodyPr>
          <a:lstStyle/>
          <a:p>
            <a:pPr algn="l">
              <a:lnSpc>
                <a:spcPct val="100000"/>
              </a:lnSpc>
              <a:spcAft>
                <a:spcPts val="400"/>
              </a:spcAft>
            </a:pPr>
            <a:r>
              <a:rPr sz="1030" b="0" i="0">
                <a:solidFill>
                  <a:srgbClr val="3A4356"/>
                </a:solidFill>
                <a:latin typeface="Calibri"/>
              </a:rPr>
              <a:t>CAPEE is a desktop or spreadsheet tool</a:t>
            </a:r>
          </a:p>
        </p:txBody>
      </p:sp>
      <p:sp>
        <p:nvSpPr>
          <p:cNvPr id="38" name="Rectangle 37"/>
          <p:cNvSpPr/>
          <p:nvPr/>
        </p:nvSpPr>
        <p:spPr>
          <a:xfrm>
            <a:off x="5715000" y="3986784"/>
            <a:ext cx="4690872"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97296" y="4050792"/>
            <a:ext cx="4544568" cy="685800"/>
          </a:xfrm>
          <a:prstGeom prst="rect">
            <a:avLst/>
          </a:prstGeom>
          <a:noFill/>
        </p:spPr>
        <p:txBody>
          <a:bodyPr wrap="square" anchor="t" lIns="0" rIns="0" tIns="0" bIns="0">
            <a:spAutoFit/>
          </a:bodyPr>
          <a:lstStyle/>
          <a:p>
            <a:pPr algn="l">
              <a:lnSpc>
                <a:spcPct val="100000"/>
              </a:lnSpc>
              <a:spcAft>
                <a:spcPts val="400"/>
              </a:spcAft>
            </a:pPr>
            <a:r>
              <a:rPr sz="1030" b="0" i="0">
                <a:solidFill>
                  <a:srgbClr val="3A4356"/>
                </a:solidFill>
                <a:latin typeface="Calibri"/>
              </a:rPr>
              <a:t>It writes a file that CAPEE imports. Simplest to build, but somebody has to move the file.</a:t>
            </a:r>
          </a:p>
        </p:txBody>
      </p:sp>
      <p:sp>
        <p:nvSpPr>
          <p:cNvPr id="40" name="Rectangle 39"/>
          <p:cNvSpPr/>
          <p:nvPr/>
        </p:nvSpPr>
        <p:spPr>
          <a:xfrm>
            <a:off x="10405872" y="3986784"/>
            <a:ext cx="1371600" cy="77724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88168" y="4050792"/>
            <a:ext cx="1225296" cy="685800"/>
          </a:xfrm>
          <a:prstGeom prst="rect">
            <a:avLst/>
          </a:prstGeom>
          <a:noFill/>
        </p:spPr>
        <p:txBody>
          <a:bodyPr wrap="square" anchor="t" lIns="0" rIns="0" tIns="0" bIns="0">
            <a:spAutoFit/>
          </a:bodyPr>
          <a:lstStyle/>
          <a:p>
            <a:pPr algn="l">
              <a:lnSpc>
                <a:spcPct val="100000"/>
              </a:lnSpc>
              <a:spcAft>
                <a:spcPts val="400"/>
              </a:spcAft>
            </a:pPr>
            <a:r>
              <a:rPr sz="1030" b="1" i="0">
                <a:solidFill>
                  <a:srgbClr val="2A7F50"/>
                </a:solidFill>
                <a:latin typeface="Calibri"/>
              </a:rPr>
              <a:t>Least effort</a:t>
            </a:r>
          </a:p>
        </p:txBody>
      </p:sp>
      <p:sp>
        <p:nvSpPr>
          <p:cNvPr id="42" name="Rounded Rectangle 41"/>
          <p:cNvSpPr/>
          <p:nvPr/>
        </p:nvSpPr>
        <p:spPr>
          <a:xfrm>
            <a:off x="411480" y="4937760"/>
            <a:ext cx="5577840" cy="91440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1480" y="4937760"/>
            <a:ext cx="68580" cy="9144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 y="5056632"/>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If we had to pick blind</a:t>
            </a:r>
          </a:p>
        </p:txBody>
      </p:sp>
      <p:sp>
        <p:nvSpPr>
          <p:cNvPr id="45" name="TextBox 44"/>
          <p:cNvSpPr txBox="1"/>
          <p:nvPr/>
        </p:nvSpPr>
        <p:spPr>
          <a:xfrm>
            <a:off x="630936" y="5340096"/>
            <a:ext cx="5166360" cy="41148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Route B. It works whatever CAPEE turns out to be, and we can update CostVision without touching CAPEE every time.</a:t>
            </a:r>
          </a:p>
        </p:txBody>
      </p:sp>
      <p:sp>
        <p:nvSpPr>
          <p:cNvPr id="46" name="Rounded Rectangle 45"/>
          <p:cNvSpPr/>
          <p:nvPr/>
        </p:nvSpPr>
        <p:spPr>
          <a:xfrm>
            <a:off x="6199632" y="4937760"/>
            <a:ext cx="5577840" cy="914400"/>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99632" y="4937760"/>
            <a:ext cx="68580" cy="91440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19088" y="5056632"/>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Three questions for IT</a:t>
            </a:r>
          </a:p>
        </p:txBody>
      </p:sp>
      <p:sp>
        <p:nvSpPr>
          <p:cNvPr id="49" name="TextBox 48"/>
          <p:cNvSpPr txBox="1"/>
          <p:nvPr/>
        </p:nvSpPr>
        <p:spPr>
          <a:xfrm>
            <a:off x="6419088" y="5340096"/>
            <a:ext cx="5166360" cy="41148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What is CAPEE written in. Can it call another service on the network. Where can the measuring engine run: a server, or a laptop.</a:t>
            </a:r>
          </a:p>
        </p:txBody>
      </p:sp>
      <p:sp>
        <p:nvSpPr>
          <p:cNvPr id="50" name="TextBox 49"/>
          <p:cNvSpPr txBox="1"/>
          <p:nvPr/>
        </p:nvSpPr>
        <p:spPr>
          <a:xfrm>
            <a:off x="411480" y="6419088"/>
            <a:ext cx="11338560" cy="219456"/>
          </a:xfrm>
          <a:prstGeom prst="rect">
            <a:avLst/>
          </a:prstGeom>
          <a:noFill/>
        </p:spPr>
        <p:txBody>
          <a:bodyPr wrap="square" anchor="t" lIns="0" rIns="0" tIns="0" bIns="0">
            <a:spAutoFit/>
          </a:bodyPr>
          <a:lstStyle/>
          <a:p>
            <a:pPr algn="l">
              <a:lnSpc>
                <a:spcPct val="100000"/>
              </a:lnSpc>
              <a:spcAft>
                <a:spcPts val="400"/>
              </a:spcAft>
            </a:pPr>
            <a:r>
              <a:rPr sz="800" b="0" i="0">
                <a:solidFill>
                  <a:srgbClr val="686F7D"/>
                </a:solidFill>
                <a:latin typeface="Calibri"/>
              </a:rPr>
              <a:t>Effort is shown against the other two routes. None of the three has been sized by JLR.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THE TRIAL</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what the proof of concept proves</a:t>
            </a:r>
          </a:p>
        </p:txBody>
      </p:sp>
      <p:sp>
        <p:nvSpPr>
          <p:cNvPr id="9" name="TextBox 8"/>
          <p:cNvSpPr txBox="1"/>
          <p:nvPr/>
        </p:nvSpPr>
        <p:spPr>
          <a:xfrm>
            <a:off x="411480" y="1536192"/>
            <a:ext cx="11338560" cy="292608"/>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One part type, one team, 30 to 50 parts we have already bought. Four numbers come out of it, and none of them exist today.</a:t>
            </a:r>
          </a:p>
        </p:txBody>
      </p:sp>
      <p:sp>
        <p:nvSpPr>
          <p:cNvPr id="10" name="Rounded Rectangle 9"/>
          <p:cNvSpPr/>
          <p:nvPr/>
        </p:nvSpPr>
        <p:spPr>
          <a:xfrm>
            <a:off x="411480" y="2103120"/>
            <a:ext cx="11365992" cy="9326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103120"/>
            <a:ext cx="68580" cy="93268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267712"/>
            <a:ext cx="438912" cy="438912"/>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1</a:t>
            </a:r>
          </a:p>
        </p:txBody>
      </p:sp>
      <p:sp>
        <p:nvSpPr>
          <p:cNvPr id="13" name="TextBox 12"/>
          <p:cNvSpPr txBox="1"/>
          <p:nvPr/>
        </p:nvSpPr>
        <p:spPr>
          <a:xfrm>
            <a:off x="1325880" y="2212848"/>
            <a:ext cx="10241280" cy="256032"/>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How close is it?</a:t>
            </a:r>
          </a:p>
        </p:txBody>
      </p:sp>
      <p:sp>
        <p:nvSpPr>
          <p:cNvPr id="14" name="TextBox 13"/>
          <p:cNvSpPr txBox="1"/>
          <p:nvPr/>
        </p:nvSpPr>
        <p:spPr>
          <a:xfrm>
            <a:off x="1325880" y="2496312"/>
            <a:ext cx="10241280" cy="438912"/>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Cost every part with the tool, compare against the price we actually paid, and report the average error. The test is whether the real price lands inside the range the tool itself gave for each part. A tool that is wrong and says so is usable. One that is wrong and confident is not.</a:t>
            </a:r>
          </a:p>
        </p:txBody>
      </p:sp>
      <p:sp>
        <p:nvSpPr>
          <p:cNvPr id="15" name="Rounded Rectangle 14"/>
          <p:cNvSpPr/>
          <p:nvPr/>
        </p:nvSpPr>
        <p:spPr>
          <a:xfrm>
            <a:off x="411480" y="3090672"/>
            <a:ext cx="11365992" cy="9326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090672"/>
            <a:ext cx="68580" cy="9326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255264"/>
            <a:ext cx="438912" cy="438912"/>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2</a:t>
            </a:r>
          </a:p>
        </p:txBody>
      </p:sp>
      <p:sp>
        <p:nvSpPr>
          <p:cNvPr id="18" name="TextBox 17"/>
          <p:cNvSpPr txBox="1"/>
          <p:nvPr/>
        </p:nvSpPr>
        <p:spPr>
          <a:xfrm>
            <a:off x="1325880" y="3200400"/>
            <a:ext cx="10241280" cy="256032"/>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How often does the engineer have to step in?</a:t>
            </a:r>
          </a:p>
        </p:txBody>
      </p:sp>
      <p:sp>
        <p:nvSpPr>
          <p:cNvPr id="19" name="TextBox 18"/>
          <p:cNvSpPr txBox="1"/>
          <p:nvPr/>
        </p:nvSpPr>
        <p:spPr>
          <a:xfrm>
            <a:off x="1325880" y="3483864"/>
            <a:ext cx="10241280" cy="438912"/>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Count the values the engineer changed after the tool filled them, and the parts where the tool stopped and asked. Every part will ask for the material family, because a solid model cannot tell steel from aluminium. The rest we need to measure on JLR parts.</a:t>
            </a:r>
          </a:p>
        </p:txBody>
      </p:sp>
      <p:sp>
        <p:nvSpPr>
          <p:cNvPr id="20" name="Rounded Rectangle 19"/>
          <p:cNvSpPr/>
          <p:nvPr/>
        </p:nvSpPr>
        <p:spPr>
          <a:xfrm>
            <a:off x="411480" y="4078224"/>
            <a:ext cx="11365992" cy="9326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4078224"/>
            <a:ext cx="68580" cy="93268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4242816"/>
            <a:ext cx="438912" cy="438912"/>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3</a:t>
            </a:r>
          </a:p>
        </p:txBody>
      </p:sp>
      <p:sp>
        <p:nvSpPr>
          <p:cNvPr id="23" name="TextBox 22"/>
          <p:cNvSpPr txBox="1"/>
          <p:nvPr/>
        </p:nvSpPr>
        <p:spPr>
          <a:xfrm>
            <a:off x="1325880" y="4187952"/>
            <a:ext cx="10241280" cy="256032"/>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How much time does it save?</a:t>
            </a:r>
          </a:p>
        </p:txBody>
      </p:sp>
      <p:sp>
        <p:nvSpPr>
          <p:cNvPr id="24" name="TextBox 23"/>
          <p:cNvSpPr txBox="1"/>
          <p:nvPr/>
        </p:nvSpPr>
        <p:spPr>
          <a:xfrm>
            <a:off x="1325880" y="4471416"/>
            <a:ext cx="10241280" cy="438912"/>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Time the same parts both ways: typed by hand into CAPEE, and filled by the tool with the engineer checking. The difference is the saving, measured rather than claimed.</a:t>
            </a:r>
          </a:p>
        </p:txBody>
      </p:sp>
      <p:sp>
        <p:nvSpPr>
          <p:cNvPr id="25" name="Rounded Rectangle 24"/>
          <p:cNvSpPr/>
          <p:nvPr/>
        </p:nvSpPr>
        <p:spPr>
          <a:xfrm>
            <a:off x="411480" y="5065776"/>
            <a:ext cx="11365992" cy="9326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5065776"/>
            <a:ext cx="68580" cy="932688"/>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230368"/>
            <a:ext cx="438912" cy="438912"/>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4</a:t>
            </a:r>
          </a:p>
        </p:txBody>
      </p:sp>
      <p:sp>
        <p:nvSpPr>
          <p:cNvPr id="28" name="TextBox 27"/>
          <p:cNvSpPr txBox="1"/>
          <p:nvPr/>
        </p:nvSpPr>
        <p:spPr>
          <a:xfrm>
            <a:off x="1325880" y="5175504"/>
            <a:ext cx="10241280" cy="256032"/>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What does it refuse, and was it right to?</a:t>
            </a:r>
          </a:p>
        </p:txBody>
      </p:sp>
      <p:sp>
        <p:nvSpPr>
          <p:cNvPr id="29" name="TextBox 28"/>
          <p:cNvSpPr txBox="1"/>
          <p:nvPr/>
        </p:nvSpPr>
        <p:spPr>
          <a:xfrm>
            <a:off x="1325880" y="5458968"/>
            <a:ext cx="10241280" cy="438912"/>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Every part the tool turned down, with the reason. If it refuses parts it should have costed, that is a fault we need to see early.</a:t>
            </a:r>
          </a:p>
        </p:txBody>
      </p:sp>
      <p:sp>
        <p:nvSpPr>
          <p:cNvPr id="30" name="Rounded Rectangle 29"/>
          <p:cNvSpPr/>
          <p:nvPr/>
        </p:nvSpPr>
        <p:spPr>
          <a:xfrm>
            <a:off x="411480" y="6035040"/>
            <a:ext cx="11365992" cy="768096"/>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1480" y="6035040"/>
            <a:ext cx="68580" cy="7680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 y="615391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Why it is worth doing even if the answer is disappointing</a:t>
            </a:r>
          </a:p>
        </p:txBody>
      </p:sp>
      <p:sp>
        <p:nvSpPr>
          <p:cNvPr id="33" name="TextBox 32"/>
          <p:cNvSpPr txBox="1"/>
          <p:nvPr/>
        </p:nvSpPr>
        <p:spPr>
          <a:xfrm>
            <a:off x="630936" y="6437376"/>
            <a:ext cx="10954512" cy="265176"/>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A measured accuracy figure is worth having either way. Today nobody can state one, so every conversation about this tool stalls in the same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SEQUENCE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order of work</a:t>
            </a:r>
          </a:p>
        </p:txBody>
      </p:sp>
      <p:sp>
        <p:nvSpPr>
          <p:cNvPr id="9" name="Rounded Rectangle 8"/>
          <p:cNvSpPr/>
          <p:nvPr/>
        </p:nvSpPr>
        <p:spPr>
          <a:xfrm>
            <a:off x="411480" y="1737360"/>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37360"/>
            <a:ext cx="6858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1837944"/>
            <a:ext cx="420624" cy="420624"/>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1</a:t>
            </a:r>
          </a:p>
        </p:txBody>
      </p:sp>
      <p:sp>
        <p:nvSpPr>
          <p:cNvPr id="12" name="TextBox 11"/>
          <p:cNvSpPr txBox="1"/>
          <p:nvPr/>
        </p:nvSpPr>
        <p:spPr>
          <a:xfrm>
            <a:off x="1298448" y="1810512"/>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Agree the connection</a:t>
            </a:r>
          </a:p>
        </p:txBody>
      </p:sp>
      <p:sp>
        <p:nvSpPr>
          <p:cNvPr id="13" name="TextBox 12"/>
          <p:cNvSpPr txBox="1"/>
          <p:nvPr/>
        </p:nvSpPr>
        <p:spPr>
          <a:xfrm>
            <a:off x="1298448" y="2084832"/>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Find out how CAPEE is built, pick one of the three routes, agree exactly which numbers CAPEE expects.</a:t>
            </a:r>
          </a:p>
        </p:txBody>
      </p:sp>
      <p:sp>
        <p:nvSpPr>
          <p:cNvPr id="14" name="Rounded Rectangle 13"/>
          <p:cNvSpPr/>
          <p:nvPr/>
        </p:nvSpPr>
        <p:spPr>
          <a:xfrm>
            <a:off x="411480" y="2450592"/>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450592"/>
            <a:ext cx="6858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551176"/>
            <a:ext cx="420624" cy="420624"/>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2</a:t>
            </a:r>
          </a:p>
        </p:txBody>
      </p:sp>
      <p:sp>
        <p:nvSpPr>
          <p:cNvPr id="17" name="TextBox 16"/>
          <p:cNvSpPr txBox="1"/>
          <p:nvPr/>
        </p:nvSpPr>
        <p:spPr>
          <a:xfrm>
            <a:off x="1298448" y="2523744"/>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Stand up the measuring software</a:t>
            </a:r>
          </a:p>
        </p:txBody>
      </p:sp>
      <p:sp>
        <p:nvSpPr>
          <p:cNvPr id="18" name="TextBox 17"/>
          <p:cNvSpPr txBox="1"/>
          <p:nvPr/>
        </p:nvSpPr>
        <p:spPr>
          <a:xfrm>
            <a:off x="1298448" y="2798064"/>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Install it on a JLR server or laptop. Measure 20 real JLR parts and check the results against their drawings.</a:t>
            </a:r>
          </a:p>
        </p:txBody>
      </p:sp>
      <p:sp>
        <p:nvSpPr>
          <p:cNvPr id="19" name="Rounded Rectangle 18"/>
          <p:cNvSpPr/>
          <p:nvPr/>
        </p:nvSpPr>
        <p:spPr>
          <a:xfrm>
            <a:off x="411480" y="3163824"/>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3163824"/>
            <a:ext cx="68580"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264408"/>
            <a:ext cx="420624" cy="420624"/>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3</a:t>
            </a:r>
          </a:p>
        </p:txBody>
      </p:sp>
      <p:sp>
        <p:nvSpPr>
          <p:cNvPr id="22" name="TextBox 21"/>
          <p:cNvSpPr txBox="1"/>
          <p:nvPr/>
        </p:nvSpPr>
        <p:spPr>
          <a:xfrm>
            <a:off x="1298448" y="3236976"/>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Hand over the settings list</a:t>
            </a:r>
          </a:p>
        </p:txBody>
      </p:sp>
      <p:sp>
        <p:nvSpPr>
          <p:cNvPr id="23" name="TextBox 22"/>
          <p:cNvSpPr txBox="1"/>
          <p:nvPr/>
        </p:nvSpPr>
        <p:spPr>
          <a:xfrm>
            <a:off x="1298448" y="3511296"/>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Pull every fixed number into one list. JLR review it and sign it off before anything gets costed with it.</a:t>
            </a:r>
          </a:p>
        </p:txBody>
      </p:sp>
      <p:sp>
        <p:nvSpPr>
          <p:cNvPr id="24" name="Rounded Rectangle 23"/>
          <p:cNvSpPr/>
          <p:nvPr/>
        </p:nvSpPr>
        <p:spPr>
          <a:xfrm>
            <a:off x="411480" y="3877056"/>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3877056"/>
            <a:ext cx="68580" cy="6400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977640"/>
            <a:ext cx="420624" cy="420624"/>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4</a:t>
            </a:r>
          </a:p>
        </p:txBody>
      </p:sp>
      <p:sp>
        <p:nvSpPr>
          <p:cNvPr id="27" name="TextBox 26"/>
          <p:cNvSpPr txBox="1"/>
          <p:nvPr/>
        </p:nvSpPr>
        <p:spPr>
          <a:xfrm>
            <a:off x="1298448" y="3950208"/>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Move the safety checks across</a:t>
            </a:r>
          </a:p>
        </p:txBody>
      </p:sp>
      <p:sp>
        <p:nvSpPr>
          <p:cNvPr id="28" name="TextBox 27"/>
          <p:cNvSpPr txBox="1"/>
          <p:nvPr/>
        </p:nvSpPr>
        <p:spPr>
          <a:xfrm>
            <a:off x="1298448" y="4224528"/>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The geometry checks and the questions the engineer confirms. In the scope from the start.</a:t>
            </a:r>
          </a:p>
        </p:txBody>
      </p:sp>
      <p:sp>
        <p:nvSpPr>
          <p:cNvPr id="29" name="Rounded Rectangle 28"/>
          <p:cNvSpPr/>
          <p:nvPr/>
        </p:nvSpPr>
        <p:spPr>
          <a:xfrm>
            <a:off x="411480" y="4590288"/>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4590288"/>
            <a:ext cx="6858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58368" y="4690872"/>
            <a:ext cx="420624" cy="420624"/>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5</a:t>
            </a:r>
          </a:p>
        </p:txBody>
      </p:sp>
      <p:sp>
        <p:nvSpPr>
          <p:cNvPr id="32" name="TextBox 31"/>
          <p:cNvSpPr txBox="1"/>
          <p:nvPr/>
        </p:nvSpPr>
        <p:spPr>
          <a:xfrm>
            <a:off x="1298448" y="4663440"/>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Connect into CAPEE</a:t>
            </a:r>
          </a:p>
        </p:txBody>
      </p:sp>
      <p:sp>
        <p:nvSpPr>
          <p:cNvPr id="33" name="TextBox 32"/>
          <p:cNvSpPr txBox="1"/>
          <p:nvPr/>
        </p:nvSpPr>
        <p:spPr>
          <a:xfrm>
            <a:off x="1298448" y="4937760"/>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Wire it in, with AI left off. Cost one real part end to end.</a:t>
            </a:r>
          </a:p>
        </p:txBody>
      </p:sp>
      <p:sp>
        <p:nvSpPr>
          <p:cNvPr id="34" name="Rounded Rectangle 33"/>
          <p:cNvSpPr/>
          <p:nvPr/>
        </p:nvSpPr>
        <p:spPr>
          <a:xfrm>
            <a:off x="411480" y="5303520"/>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5303520"/>
            <a:ext cx="68580" cy="6400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58368" y="5404104"/>
            <a:ext cx="420624" cy="420624"/>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6</a:t>
            </a:r>
          </a:p>
        </p:txBody>
      </p:sp>
      <p:sp>
        <p:nvSpPr>
          <p:cNvPr id="37" name="TextBox 36"/>
          <p:cNvSpPr txBox="1"/>
          <p:nvPr/>
        </p:nvSpPr>
        <p:spPr>
          <a:xfrm>
            <a:off x="1298448" y="5376672"/>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Run the trial</a:t>
            </a:r>
          </a:p>
        </p:txBody>
      </p:sp>
      <p:sp>
        <p:nvSpPr>
          <p:cNvPr id="38" name="TextBox 37"/>
          <p:cNvSpPr txBox="1"/>
          <p:nvPr/>
        </p:nvSpPr>
        <p:spPr>
          <a:xfrm>
            <a:off x="1298448" y="5650992"/>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One team, one part type, 30 to 50 parts with prices we paid. Produce the four numbers from the last slide.</a:t>
            </a:r>
          </a:p>
        </p:txBody>
      </p:sp>
      <p:sp>
        <p:nvSpPr>
          <p:cNvPr id="39" name="Rounded Rectangle 38"/>
          <p:cNvSpPr/>
          <p:nvPr/>
        </p:nvSpPr>
        <p:spPr>
          <a:xfrm>
            <a:off x="411480" y="6053328"/>
            <a:ext cx="5577840" cy="768096"/>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1480" y="6053328"/>
            <a:ext cx="68580" cy="7680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 y="6172200"/>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Steps 1 and 2 can start together</a:t>
            </a:r>
          </a:p>
        </p:txBody>
      </p:sp>
      <p:sp>
        <p:nvSpPr>
          <p:cNvPr id="42" name="TextBox 41"/>
          <p:cNvSpPr txBox="1"/>
          <p:nvPr/>
        </p:nvSpPr>
        <p:spPr>
          <a:xfrm>
            <a:off x="630936" y="6455664"/>
            <a:ext cx="5166360" cy="265176"/>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Measuring does not depend on how CAPEE is built. Only step 5 does.</a:t>
            </a:r>
          </a:p>
        </p:txBody>
      </p:sp>
      <p:sp>
        <p:nvSpPr>
          <p:cNvPr id="43" name="Rounded Rectangle 42"/>
          <p:cNvSpPr/>
          <p:nvPr/>
        </p:nvSpPr>
        <p:spPr>
          <a:xfrm>
            <a:off x="6199632" y="6053328"/>
            <a:ext cx="5577840" cy="768096"/>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99632" y="6053328"/>
            <a:ext cx="68580" cy="768096"/>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19088" y="6172200"/>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Start with one part type</a:t>
            </a:r>
          </a:p>
        </p:txBody>
      </p:sp>
      <p:sp>
        <p:nvSpPr>
          <p:cNvPr id="46" name="TextBox 45"/>
          <p:cNvSpPr txBox="1"/>
          <p:nvPr/>
        </p:nvSpPr>
        <p:spPr>
          <a:xfrm>
            <a:off x="6419088" y="6455664"/>
            <a:ext cx="5166360" cy="265176"/>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Machined parts or pressings first. Widen it once it holds 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2</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2: costing in bulk, unattended</a:t>
            </a:r>
          </a:p>
        </p:txBody>
      </p:sp>
      <p:sp>
        <p:nvSpPr>
          <p:cNvPr id="9" name="Rounded Rectangle 8"/>
          <p:cNvSpPr/>
          <p:nvPr/>
        </p:nvSpPr>
        <p:spPr>
          <a:xfrm>
            <a:off x="411480" y="1572768"/>
            <a:ext cx="5577840" cy="2514600"/>
          </a:xfrm>
          <a:prstGeom prst="roundRect">
            <a:avLst>
              <a:gd name="adj" fmla="val 12000"/>
            </a:avLst>
          </a:prstGeom>
          <a:solidFill>
            <a:srgbClr val="FBECEA"/>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572768"/>
            <a:ext cx="68580" cy="25146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700784"/>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WHAT WE DO TODAY</a:t>
            </a:r>
          </a:p>
        </p:txBody>
      </p:sp>
      <p:sp>
        <p:nvSpPr>
          <p:cNvPr id="12" name="TextBox 11"/>
          <p:cNvSpPr txBox="1"/>
          <p:nvPr/>
        </p:nvSpPr>
        <p:spPr>
          <a:xfrm>
            <a:off x="612648" y="2011680"/>
            <a:ext cx="5212080" cy="196596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We cost the parts we have time to cost.</a:t>
            </a:r>
          </a:p>
          <a:p>
            <a:pPr algn="l">
              <a:lnSpc>
                <a:spcPct val="112000"/>
              </a:lnSpc>
              <a:spcAft>
                <a:spcPts val="300"/>
              </a:spcAft>
            </a:pPr>
          </a:p>
          <a:p>
            <a:pPr algn="l">
              <a:lnSpc>
                <a:spcPct val="112000"/>
              </a:lnSpc>
              <a:spcAft>
                <a:spcPts val="300"/>
              </a:spcAft>
            </a:pPr>
            <a:r>
              <a:rPr sz="1050" b="0" i="0">
                <a:solidFill>
                  <a:srgbClr val="3A4356"/>
                </a:solidFill>
                <a:latin typeface="Calibri"/>
              </a:rPr>
              <a:t>A basket of several hundred parts gets sampled, or</a:t>
            </a:r>
          </a:p>
          <a:p>
            <a:pPr algn="l">
              <a:lnSpc>
                <a:spcPct val="112000"/>
              </a:lnSpc>
              <a:spcAft>
                <a:spcPts val="300"/>
              </a:spcAft>
            </a:pPr>
            <a:r>
              <a:rPr sz="1050" b="0" i="0">
                <a:solidFill>
                  <a:srgbClr val="3A4356"/>
                </a:solidFill>
                <a:latin typeface="Calibri"/>
              </a:rPr>
              <a:t>estimated by analogy against something similar, or</a:t>
            </a:r>
          </a:p>
          <a:p>
            <a:pPr algn="l">
              <a:lnSpc>
                <a:spcPct val="112000"/>
              </a:lnSpc>
              <a:spcAft>
                <a:spcPts val="300"/>
              </a:spcAft>
            </a:pPr>
            <a:r>
              <a:rPr sz="1050" b="0" i="0">
                <a:solidFill>
                  <a:srgbClr val="3A4356"/>
                </a:solidFill>
                <a:latin typeface="Calibri"/>
              </a:rPr>
              <a:t>taken from what the supplier last quoted.</a:t>
            </a:r>
          </a:p>
          <a:p>
            <a:pPr algn="l">
              <a:lnSpc>
                <a:spcPct val="112000"/>
              </a:lnSpc>
              <a:spcAft>
                <a:spcPts val="300"/>
              </a:spcAft>
            </a:pPr>
          </a:p>
          <a:p>
            <a:pPr algn="l">
              <a:lnSpc>
                <a:spcPct val="112000"/>
              </a:lnSpc>
              <a:spcAft>
                <a:spcPts val="300"/>
              </a:spcAft>
            </a:pPr>
            <a:r>
              <a:rPr sz="1050" b="1" i="0">
                <a:solidFill>
                  <a:srgbClr val="16325C"/>
                </a:solidFill>
                <a:latin typeface="Calibri"/>
              </a:rPr>
              <a:t>Nobody costs all of it from the geometry, because</a:t>
            </a:r>
          </a:p>
          <a:p>
            <a:pPr algn="l">
              <a:lnSpc>
                <a:spcPct val="112000"/>
              </a:lnSpc>
              <a:spcAft>
                <a:spcPts val="300"/>
              </a:spcAft>
            </a:pPr>
            <a:r>
              <a:rPr sz="1050" b="1" i="0">
                <a:solidFill>
                  <a:srgbClr val="16325C"/>
                </a:solidFill>
                <a:latin typeface="Calibri"/>
              </a:rPr>
              <a:t>there are not enough engineer-hours to do it.</a:t>
            </a:r>
          </a:p>
        </p:txBody>
      </p:sp>
      <p:sp>
        <p:nvSpPr>
          <p:cNvPr id="13" name="Rounded Rectangle 12"/>
          <p:cNvSpPr/>
          <p:nvPr/>
        </p:nvSpPr>
        <p:spPr>
          <a:xfrm>
            <a:off x="6199632" y="1572768"/>
            <a:ext cx="5577840" cy="2514600"/>
          </a:xfrm>
          <a:prstGeom prst="roundRect">
            <a:avLst>
              <a:gd name="adj" fmla="val 12000"/>
            </a:avLst>
          </a:prstGeom>
          <a:solidFill>
            <a:srgbClr val="EAF6E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572768"/>
            <a:ext cx="68580" cy="251460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00784"/>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WHAT OPTION 2 DOES</a:t>
            </a:r>
          </a:p>
        </p:txBody>
      </p:sp>
      <p:sp>
        <p:nvSpPr>
          <p:cNvPr id="16" name="TextBox 15"/>
          <p:cNvSpPr txBox="1"/>
          <p:nvPr/>
        </p:nvSpPr>
        <p:spPr>
          <a:xfrm>
            <a:off x="6400800" y="2011680"/>
            <a:ext cx="5212080" cy="196596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A list of parts goes in. Every one is measured,</a:t>
            </a:r>
          </a:p>
          <a:p>
            <a:pPr algn="l">
              <a:lnSpc>
                <a:spcPct val="112000"/>
              </a:lnSpc>
              <a:spcAft>
                <a:spcPts val="300"/>
              </a:spcAft>
            </a:pPr>
            <a:r>
              <a:rPr sz="1050" b="0" i="0">
                <a:solidFill>
                  <a:srgbClr val="3A4356"/>
                </a:solidFill>
                <a:latin typeface="Calibri"/>
              </a:rPr>
              <a:t>costed and reported in one run, unattended.</a:t>
            </a:r>
          </a:p>
          <a:p>
            <a:pPr algn="l">
              <a:lnSpc>
                <a:spcPct val="112000"/>
              </a:lnSpc>
              <a:spcAft>
                <a:spcPts val="300"/>
              </a:spcAft>
            </a:pPr>
          </a:p>
          <a:p>
            <a:pPr algn="l">
              <a:lnSpc>
                <a:spcPct val="112000"/>
              </a:lnSpc>
              <a:spcAft>
                <a:spcPts val="300"/>
              </a:spcAft>
            </a:pPr>
            <a:r>
              <a:rPr sz="1050" b="0" i="0">
                <a:solidFill>
                  <a:srgbClr val="3A4356"/>
                </a:solidFill>
                <a:latin typeface="Calibri"/>
              </a:rPr>
              <a:t>An engineer is asked only where the geometry</a:t>
            </a:r>
          </a:p>
          <a:p>
            <a:pPr algn="l">
              <a:lnSpc>
                <a:spcPct val="112000"/>
              </a:lnSpc>
              <a:spcAft>
                <a:spcPts val="300"/>
              </a:spcAft>
            </a:pPr>
            <a:r>
              <a:rPr sz="1050" b="0" i="0">
                <a:solidFill>
                  <a:srgbClr val="3A4356"/>
                </a:solidFill>
                <a:latin typeface="Calibri"/>
              </a:rPr>
              <a:t>cannot decide, and only once per question.</a:t>
            </a:r>
          </a:p>
          <a:p>
            <a:pPr algn="l">
              <a:lnSpc>
                <a:spcPct val="112000"/>
              </a:lnSpc>
              <a:spcAft>
                <a:spcPts val="300"/>
              </a:spcAft>
            </a:pPr>
          </a:p>
          <a:p>
            <a:pPr algn="l">
              <a:lnSpc>
                <a:spcPct val="112000"/>
              </a:lnSpc>
              <a:spcAft>
                <a:spcPts val="300"/>
              </a:spcAft>
            </a:pPr>
            <a:r>
              <a:rPr sz="1050" b="1" i="0">
                <a:solidFill>
                  <a:srgbClr val="16325C"/>
                </a:solidFill>
                <a:latin typeface="Calibri"/>
              </a:rPr>
              <a:t>Same engine, same rate book, same geometry checks.</a:t>
            </a:r>
          </a:p>
          <a:p>
            <a:pPr algn="l">
              <a:lnSpc>
                <a:spcPct val="112000"/>
              </a:lnSpc>
              <a:spcAft>
                <a:spcPts val="300"/>
              </a:spcAft>
            </a:pPr>
            <a:r>
              <a:rPr sz="1050" b="1" i="0">
                <a:solidFill>
                  <a:srgbClr val="16325C"/>
                </a:solidFill>
                <a:latin typeface="Calibri"/>
              </a:rPr>
              <a:t>No AI anywhere in it.</a:t>
            </a:r>
          </a:p>
        </p:txBody>
      </p:sp>
      <p:sp>
        <p:nvSpPr>
          <p:cNvPr id="17" name="Rounded Rectangle 16"/>
          <p:cNvSpPr/>
          <p:nvPr/>
        </p:nvSpPr>
        <p:spPr>
          <a:xfrm>
            <a:off x="411480" y="4160520"/>
            <a:ext cx="11365992" cy="100584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160520"/>
            <a:ext cx="68580" cy="100584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 y="427939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What the run does, and what it does not</a:t>
            </a:r>
          </a:p>
        </p:txBody>
      </p:sp>
      <p:sp>
        <p:nvSpPr>
          <p:cNvPr id="20" name="TextBox 19"/>
          <p:cNvSpPr txBox="1"/>
          <p:nvPr/>
        </p:nvSpPr>
        <p:spPr>
          <a:xfrm>
            <a:off x="630936" y="4562856"/>
            <a:ext cx="10954512" cy="50292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part type comes from the list or from the measured shape. The material comes from the list. Where it cannot decide, it stops and asks rather than guessing. It never sets a price: every number comes from the same engine at the same rates. There is no AI in it, so it works in the JLR build.</a:t>
            </a:r>
          </a:p>
        </p:txBody>
      </p:sp>
      <p:sp>
        <p:nvSpPr>
          <p:cNvPr id="21" name="Rounded Rectangle 20"/>
          <p:cNvSpPr/>
          <p:nvPr/>
        </p:nvSpPr>
        <p:spPr>
          <a:xfrm>
            <a:off x="411480" y="5303520"/>
            <a:ext cx="11365992" cy="1051560"/>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5303520"/>
            <a:ext cx="68580" cy="105156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 y="542239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Where this stands today</a:t>
            </a:r>
          </a:p>
        </p:txBody>
      </p:sp>
      <p:sp>
        <p:nvSpPr>
          <p:cNvPr id="24" name="TextBox 23"/>
          <p:cNvSpPr txBox="1"/>
          <p:nvPr/>
        </p:nvSpPr>
        <p:spPr>
          <a:xfrm>
            <a:off x="630936" y="5705856"/>
            <a:ext cx="10954512" cy="5486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run is built as a command-line tool. It writes the results, the open questions and a record naming the rate book it used. It has not yet been run on a JLR basket or on JLR rates, and there is no screen for it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2</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2: what a bulk run does</a:t>
            </a:r>
          </a:p>
        </p:txBody>
      </p:sp>
      <p:sp>
        <p:nvSpPr>
          <p:cNvPr id="9" name="TextBox 8"/>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686F7D"/>
                </a:solidFill>
                <a:latin typeface="Calibri"/>
              </a:rPr>
              <a:t>What happens to a basket of parts, start to finish</a:t>
            </a:r>
          </a:p>
        </p:txBody>
      </p:sp>
      <p:sp>
        <p:nvSpPr>
          <p:cNvPr id="10" name="Rounded Rectangle 9"/>
          <p:cNvSpPr/>
          <p:nvPr/>
        </p:nvSpPr>
        <p:spPr>
          <a:xfrm>
            <a:off x="411480"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828800"/>
            <a:ext cx="1709928"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2980" y="1993392"/>
            <a:ext cx="566928" cy="566928"/>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pload.png"/>
          <p:cNvPicPr>
            <a:picLocks noChangeAspect="1"/>
          </p:cNvPicPr>
          <p:nvPr/>
        </p:nvPicPr>
        <p:blipFill>
          <a:blip r:embed="rId2"/>
          <a:stretch>
            <a:fillRect/>
          </a:stretch>
        </p:blipFill>
        <p:spPr>
          <a:xfrm>
            <a:off x="1130381" y="2140793"/>
            <a:ext cx="272126" cy="272126"/>
          </a:xfrm>
          <a:prstGeom prst="rect">
            <a:avLst/>
          </a:prstGeom>
        </p:spPr>
      </p:pic>
      <p:sp>
        <p:nvSpPr>
          <p:cNvPr id="14" name="TextBox 13"/>
          <p:cNvSpPr txBox="1"/>
          <p:nvPr/>
        </p:nvSpPr>
        <p:spPr>
          <a:xfrm>
            <a:off x="484632"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A list goes in</a:t>
            </a:r>
          </a:p>
        </p:txBody>
      </p:sp>
      <p:sp>
        <p:nvSpPr>
          <p:cNvPr id="15" name="TextBox 14"/>
          <p:cNvSpPr txBox="1"/>
          <p:nvPr/>
        </p:nvSpPr>
        <p:spPr>
          <a:xfrm>
            <a:off x="484632"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Part numbers, CAD files, volumes, region</a:t>
            </a:r>
          </a:p>
        </p:txBody>
      </p:sp>
      <p:sp>
        <p:nvSpPr>
          <p:cNvPr id="16" name="Right Arrow 15"/>
          <p:cNvSpPr/>
          <p:nvPr/>
        </p:nvSpPr>
        <p:spPr>
          <a:xfrm>
            <a:off x="2139696"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95144"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95144" y="1828800"/>
            <a:ext cx="1709928"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866644" y="1993392"/>
            <a:ext cx="566928" cy="566928"/>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uler.png"/>
          <p:cNvPicPr>
            <a:picLocks noChangeAspect="1"/>
          </p:cNvPicPr>
          <p:nvPr/>
        </p:nvPicPr>
        <p:blipFill>
          <a:blip r:embed="rId3"/>
          <a:stretch>
            <a:fillRect/>
          </a:stretch>
        </p:blipFill>
        <p:spPr>
          <a:xfrm>
            <a:off x="3014045" y="2140793"/>
            <a:ext cx="272126" cy="272126"/>
          </a:xfrm>
          <a:prstGeom prst="rect">
            <a:avLst/>
          </a:prstGeom>
        </p:spPr>
      </p:pic>
      <p:sp>
        <p:nvSpPr>
          <p:cNvPr id="21" name="TextBox 20"/>
          <p:cNvSpPr txBox="1"/>
          <p:nvPr/>
        </p:nvSpPr>
        <p:spPr>
          <a:xfrm>
            <a:off x="2368296"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Each one measured</a:t>
            </a:r>
          </a:p>
        </p:txBody>
      </p:sp>
      <p:sp>
        <p:nvSpPr>
          <p:cNvPr id="22" name="TextBox 21"/>
          <p:cNvSpPr txBox="1"/>
          <p:nvPr/>
        </p:nvSpPr>
        <p:spPr>
          <a:xfrm>
            <a:off x="2368296"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Same engine as a single part, in parallel</a:t>
            </a:r>
          </a:p>
        </p:txBody>
      </p:sp>
      <p:sp>
        <p:nvSpPr>
          <p:cNvPr id="23" name="Right Arrow 22"/>
          <p:cNvSpPr/>
          <p:nvPr/>
        </p:nvSpPr>
        <p:spPr>
          <a:xfrm>
            <a:off x="4023360"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78808"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78808" y="1828800"/>
            <a:ext cx="1709928"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0308" y="1993392"/>
            <a:ext cx="566928" cy="566928"/>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og.png"/>
          <p:cNvPicPr>
            <a:picLocks noChangeAspect="1"/>
          </p:cNvPicPr>
          <p:nvPr/>
        </p:nvPicPr>
        <p:blipFill>
          <a:blip r:embed="rId4"/>
          <a:stretch>
            <a:fillRect/>
          </a:stretch>
        </p:blipFill>
        <p:spPr>
          <a:xfrm>
            <a:off x="4897709" y="2140793"/>
            <a:ext cx="272126" cy="272126"/>
          </a:xfrm>
          <a:prstGeom prst="rect">
            <a:avLst/>
          </a:prstGeom>
        </p:spPr>
      </p:pic>
      <p:sp>
        <p:nvSpPr>
          <p:cNvPr id="28" name="TextBox 27"/>
          <p:cNvSpPr txBox="1"/>
          <p:nvPr/>
        </p:nvSpPr>
        <p:spPr>
          <a:xfrm>
            <a:off x="4251960"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Rules fill the form</a:t>
            </a:r>
          </a:p>
        </p:txBody>
      </p:sp>
      <p:sp>
        <p:nvSpPr>
          <p:cNvPr id="29" name="TextBox 28"/>
          <p:cNvSpPr txBox="1"/>
          <p:nvPr/>
        </p:nvSpPr>
        <p:spPr>
          <a:xfrm>
            <a:off x="4251960"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The part type’s own rules run</a:t>
            </a:r>
          </a:p>
        </p:txBody>
      </p:sp>
      <p:sp>
        <p:nvSpPr>
          <p:cNvPr id="30" name="Right Arrow 29"/>
          <p:cNvSpPr/>
          <p:nvPr/>
        </p:nvSpPr>
        <p:spPr>
          <a:xfrm>
            <a:off x="5907024"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62472"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62472" y="1828800"/>
            <a:ext cx="1709928" cy="54864"/>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33972" y="1993392"/>
            <a:ext cx="566928" cy="566928"/>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person.png"/>
          <p:cNvPicPr>
            <a:picLocks noChangeAspect="1"/>
          </p:cNvPicPr>
          <p:nvPr/>
        </p:nvPicPr>
        <p:blipFill>
          <a:blip r:embed="rId5"/>
          <a:stretch>
            <a:fillRect/>
          </a:stretch>
        </p:blipFill>
        <p:spPr>
          <a:xfrm>
            <a:off x="6781373" y="2140793"/>
            <a:ext cx="272126" cy="272126"/>
          </a:xfrm>
          <a:prstGeom prst="rect">
            <a:avLst/>
          </a:prstGeom>
        </p:spPr>
      </p:pic>
      <p:sp>
        <p:nvSpPr>
          <p:cNvPr id="35" name="TextBox 34"/>
          <p:cNvSpPr txBox="1"/>
          <p:nvPr/>
        </p:nvSpPr>
        <p:spPr>
          <a:xfrm>
            <a:off x="6135624"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Only gaps escalate</a:t>
            </a:r>
          </a:p>
        </p:txBody>
      </p:sp>
      <p:sp>
        <p:nvSpPr>
          <p:cNvPr id="36" name="TextBox 35"/>
          <p:cNvSpPr txBox="1"/>
          <p:nvPr/>
        </p:nvSpPr>
        <p:spPr>
          <a:xfrm>
            <a:off x="6135624"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One question, answered once, applied to all</a:t>
            </a:r>
          </a:p>
        </p:txBody>
      </p:sp>
      <p:sp>
        <p:nvSpPr>
          <p:cNvPr id="37" name="Right Arrow 36"/>
          <p:cNvSpPr/>
          <p:nvPr/>
        </p:nvSpPr>
        <p:spPr>
          <a:xfrm>
            <a:off x="7790688"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946136"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46136" y="1828800"/>
            <a:ext cx="1709928"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517636" y="1993392"/>
            <a:ext cx="566928" cy="566928"/>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calc.png"/>
          <p:cNvPicPr>
            <a:picLocks noChangeAspect="1"/>
          </p:cNvPicPr>
          <p:nvPr/>
        </p:nvPicPr>
        <p:blipFill>
          <a:blip r:embed="rId6"/>
          <a:stretch>
            <a:fillRect/>
          </a:stretch>
        </p:blipFill>
        <p:spPr>
          <a:xfrm>
            <a:off x="8665037" y="2140793"/>
            <a:ext cx="272126" cy="272126"/>
          </a:xfrm>
          <a:prstGeom prst="rect">
            <a:avLst/>
          </a:prstGeom>
        </p:spPr>
      </p:pic>
      <p:sp>
        <p:nvSpPr>
          <p:cNvPr id="42" name="TextBox 41"/>
          <p:cNvSpPr txBox="1"/>
          <p:nvPr/>
        </p:nvSpPr>
        <p:spPr>
          <a:xfrm>
            <a:off x="8019288"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Engine costs them</a:t>
            </a:r>
          </a:p>
        </p:txBody>
      </p:sp>
      <p:sp>
        <p:nvSpPr>
          <p:cNvPr id="43" name="TextBox 42"/>
          <p:cNvSpPr txBox="1"/>
          <p:nvPr/>
        </p:nvSpPr>
        <p:spPr>
          <a:xfrm>
            <a:off x="8019288"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Eight buckets, every figure traceable</a:t>
            </a:r>
          </a:p>
        </p:txBody>
      </p:sp>
      <p:sp>
        <p:nvSpPr>
          <p:cNvPr id="44" name="Right Arrow 43"/>
          <p:cNvSpPr/>
          <p:nvPr/>
        </p:nvSpPr>
        <p:spPr>
          <a:xfrm>
            <a:off x="9674352" y="2651760"/>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829800" y="1828800"/>
            <a:ext cx="1709928"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828800"/>
            <a:ext cx="1709928"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401300" y="1993392"/>
            <a:ext cx="566928" cy="566928"/>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clip.png"/>
          <p:cNvPicPr>
            <a:picLocks noChangeAspect="1"/>
          </p:cNvPicPr>
          <p:nvPr/>
        </p:nvPicPr>
        <p:blipFill>
          <a:blip r:embed="rId7"/>
          <a:stretch>
            <a:fillRect/>
          </a:stretch>
        </p:blipFill>
        <p:spPr>
          <a:xfrm>
            <a:off x="10548701" y="2140793"/>
            <a:ext cx="272126" cy="272126"/>
          </a:xfrm>
          <a:prstGeom prst="rect">
            <a:avLst/>
          </a:prstGeom>
        </p:spPr>
      </p:pic>
      <p:sp>
        <p:nvSpPr>
          <p:cNvPr id="49" name="TextBox 48"/>
          <p:cNvSpPr txBox="1"/>
          <p:nvPr/>
        </p:nvSpPr>
        <p:spPr>
          <a:xfrm>
            <a:off x="9902952" y="2670048"/>
            <a:ext cx="1563624"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Three files out</a:t>
            </a:r>
          </a:p>
        </p:txBody>
      </p:sp>
      <p:sp>
        <p:nvSpPr>
          <p:cNvPr id="50" name="TextBox 49"/>
          <p:cNvSpPr txBox="1"/>
          <p:nvPr/>
        </p:nvSpPr>
        <p:spPr>
          <a:xfrm>
            <a:off x="9902952" y="2999232"/>
            <a:ext cx="1563624" cy="649223"/>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Results, open questions and a run record</a:t>
            </a:r>
          </a:p>
        </p:txBody>
      </p:sp>
      <p:sp>
        <p:nvSpPr>
          <p:cNvPr id="51" name="TextBox 50"/>
          <p:cNvSpPr txBox="1"/>
          <p:nvPr/>
        </p:nvSpPr>
        <p:spPr>
          <a:xfrm>
            <a:off x="411480" y="3886200"/>
            <a:ext cx="1133856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686F7D"/>
                </a:solidFill>
                <a:latin typeface="Calibri"/>
              </a:rPr>
              <a:t>What a run produces, and how it stays honest</a:t>
            </a:r>
          </a:p>
        </p:txBody>
      </p:sp>
      <p:sp>
        <p:nvSpPr>
          <p:cNvPr id="52" name="Rectangle 51"/>
          <p:cNvSpPr/>
          <p:nvPr/>
        </p:nvSpPr>
        <p:spPr>
          <a:xfrm>
            <a:off x="411480" y="4133087"/>
            <a:ext cx="393192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3776" y="4215383"/>
            <a:ext cx="378561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What</a:t>
            </a:r>
          </a:p>
        </p:txBody>
      </p:sp>
      <p:sp>
        <p:nvSpPr>
          <p:cNvPr id="54" name="Rectangle 53"/>
          <p:cNvSpPr/>
          <p:nvPr/>
        </p:nvSpPr>
        <p:spPr>
          <a:xfrm>
            <a:off x="4343400" y="4133087"/>
            <a:ext cx="237744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425696" y="4215383"/>
            <a:ext cx="223113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In short</a:t>
            </a:r>
          </a:p>
        </p:txBody>
      </p:sp>
      <p:sp>
        <p:nvSpPr>
          <p:cNvPr id="56" name="Rectangle 55"/>
          <p:cNvSpPr/>
          <p:nvPr/>
        </p:nvSpPr>
        <p:spPr>
          <a:xfrm>
            <a:off x="6720840" y="4133087"/>
            <a:ext cx="505663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03136" y="4215383"/>
            <a:ext cx="491032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Detail</a:t>
            </a:r>
          </a:p>
        </p:txBody>
      </p:sp>
      <p:sp>
        <p:nvSpPr>
          <p:cNvPr id="58" name="Rectangle 57"/>
          <p:cNvSpPr/>
          <p:nvPr/>
        </p:nvSpPr>
        <p:spPr>
          <a:xfrm>
            <a:off x="411480" y="4462271"/>
            <a:ext cx="3931920"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93776" y="4526279"/>
            <a:ext cx="3785616"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Results file</a:t>
            </a:r>
          </a:p>
        </p:txBody>
      </p:sp>
      <p:sp>
        <p:nvSpPr>
          <p:cNvPr id="60" name="Rectangle 59"/>
          <p:cNvSpPr/>
          <p:nvPr/>
        </p:nvSpPr>
        <p:spPr>
          <a:xfrm>
            <a:off x="4343400" y="4462271"/>
            <a:ext cx="2377440"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25696" y="4526279"/>
            <a:ext cx="2231136" cy="182880"/>
          </a:xfrm>
          <a:prstGeom prst="rect">
            <a:avLst/>
          </a:prstGeom>
          <a:noFill/>
        </p:spPr>
        <p:txBody>
          <a:bodyPr wrap="square" anchor="t" lIns="0" rIns="0" tIns="0" bIns="0">
            <a:spAutoFit/>
          </a:bodyPr>
          <a:lstStyle/>
          <a:p>
            <a:pPr algn="l">
              <a:lnSpc>
                <a:spcPct val="100000"/>
              </a:lnSpc>
              <a:spcAft>
                <a:spcPts val="400"/>
              </a:spcAft>
            </a:pPr>
            <a:r>
              <a:rPr sz="1019" b="1" i="0">
                <a:solidFill>
                  <a:srgbClr val="16325C"/>
                </a:solidFill>
                <a:latin typeface="Calibri"/>
              </a:rPr>
              <a:t>One row per part</a:t>
            </a:r>
          </a:p>
        </p:txBody>
      </p:sp>
      <p:sp>
        <p:nvSpPr>
          <p:cNvPr id="62" name="Rectangle 61"/>
          <p:cNvSpPr/>
          <p:nvPr/>
        </p:nvSpPr>
        <p:spPr>
          <a:xfrm>
            <a:off x="6720840" y="4462271"/>
            <a:ext cx="5056632"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03136" y="4526279"/>
            <a:ext cx="4910328"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The eight cost buckets and the total</a:t>
            </a:r>
          </a:p>
        </p:txBody>
      </p:sp>
      <p:sp>
        <p:nvSpPr>
          <p:cNvPr id="64" name="Rectangle 63"/>
          <p:cNvSpPr/>
          <p:nvPr/>
        </p:nvSpPr>
        <p:spPr>
          <a:xfrm>
            <a:off x="411480" y="4736591"/>
            <a:ext cx="3931920"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3776" y="4800599"/>
            <a:ext cx="3785616"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Questions file</a:t>
            </a:r>
          </a:p>
        </p:txBody>
      </p:sp>
      <p:sp>
        <p:nvSpPr>
          <p:cNvPr id="66" name="Rectangle 65"/>
          <p:cNvSpPr/>
          <p:nvPr/>
        </p:nvSpPr>
        <p:spPr>
          <a:xfrm>
            <a:off x="4343400" y="4736591"/>
            <a:ext cx="2377440"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25696" y="4800599"/>
            <a:ext cx="2231136" cy="182880"/>
          </a:xfrm>
          <a:prstGeom prst="rect">
            <a:avLst/>
          </a:prstGeom>
          <a:noFill/>
        </p:spPr>
        <p:txBody>
          <a:bodyPr wrap="square" anchor="t" lIns="0" rIns="0" tIns="0" bIns="0">
            <a:spAutoFit/>
          </a:bodyPr>
          <a:lstStyle/>
          <a:p>
            <a:pPr algn="l">
              <a:lnSpc>
                <a:spcPct val="100000"/>
              </a:lnSpc>
              <a:spcAft>
                <a:spcPts val="400"/>
              </a:spcAft>
            </a:pPr>
            <a:r>
              <a:rPr sz="1019" b="1" i="0">
                <a:solidFill>
                  <a:srgbClr val="16325C"/>
                </a:solidFill>
                <a:latin typeface="Calibri"/>
              </a:rPr>
              <a:t>Each open question once</a:t>
            </a:r>
          </a:p>
        </p:txBody>
      </p:sp>
      <p:sp>
        <p:nvSpPr>
          <p:cNvPr id="68" name="Rectangle 67"/>
          <p:cNvSpPr/>
          <p:nvPr/>
        </p:nvSpPr>
        <p:spPr>
          <a:xfrm>
            <a:off x="6720840" y="4736591"/>
            <a:ext cx="5056632"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03136" y="4800599"/>
            <a:ext cx="4910328"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Names every part it blocks, and the answer that clears them</a:t>
            </a:r>
          </a:p>
        </p:txBody>
      </p:sp>
      <p:sp>
        <p:nvSpPr>
          <p:cNvPr id="70" name="Rectangle 69"/>
          <p:cNvSpPr/>
          <p:nvPr/>
        </p:nvSpPr>
        <p:spPr>
          <a:xfrm>
            <a:off x="411480" y="5010911"/>
            <a:ext cx="3931920"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93776" y="5074919"/>
            <a:ext cx="3785616"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Run record</a:t>
            </a:r>
          </a:p>
        </p:txBody>
      </p:sp>
      <p:sp>
        <p:nvSpPr>
          <p:cNvPr id="72" name="Rectangle 71"/>
          <p:cNvSpPr/>
          <p:nvPr/>
        </p:nvSpPr>
        <p:spPr>
          <a:xfrm>
            <a:off x="4343400" y="5010911"/>
            <a:ext cx="2377440"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425696" y="5074919"/>
            <a:ext cx="2231136" cy="182880"/>
          </a:xfrm>
          <a:prstGeom prst="rect">
            <a:avLst/>
          </a:prstGeom>
          <a:noFill/>
        </p:spPr>
        <p:txBody>
          <a:bodyPr wrap="square" anchor="t" lIns="0" rIns="0" tIns="0" bIns="0">
            <a:spAutoFit/>
          </a:bodyPr>
          <a:lstStyle/>
          <a:p>
            <a:pPr algn="l">
              <a:lnSpc>
                <a:spcPct val="100000"/>
              </a:lnSpc>
              <a:spcAft>
                <a:spcPts val="400"/>
              </a:spcAft>
            </a:pPr>
            <a:r>
              <a:rPr sz="1019" b="1" i="0">
                <a:solidFill>
                  <a:srgbClr val="16325C"/>
                </a:solidFill>
                <a:latin typeface="Calibri"/>
              </a:rPr>
              <a:t>The durable record</a:t>
            </a:r>
          </a:p>
        </p:txBody>
      </p:sp>
      <p:sp>
        <p:nvSpPr>
          <p:cNvPr id="74" name="Rectangle 73"/>
          <p:cNvSpPr/>
          <p:nvPr/>
        </p:nvSpPr>
        <p:spPr>
          <a:xfrm>
            <a:off x="6720840" y="5010911"/>
            <a:ext cx="5056632"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803136" y="5074919"/>
            <a:ext cx="4910328"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Inputs, answers, and the rule and rate-book versions used</a:t>
            </a:r>
          </a:p>
        </p:txBody>
      </p:sp>
      <p:sp>
        <p:nvSpPr>
          <p:cNvPr id="76" name="Rectangle 75"/>
          <p:cNvSpPr/>
          <p:nvPr/>
        </p:nvSpPr>
        <p:spPr>
          <a:xfrm>
            <a:off x="411480" y="5285231"/>
            <a:ext cx="3931920"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93776" y="5349239"/>
            <a:ext cx="3785616"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Region</a:t>
            </a:r>
          </a:p>
        </p:txBody>
      </p:sp>
      <p:sp>
        <p:nvSpPr>
          <p:cNvPr id="78" name="Rectangle 77"/>
          <p:cNvSpPr/>
          <p:nvPr/>
        </p:nvSpPr>
        <p:spPr>
          <a:xfrm>
            <a:off x="4343400" y="5285231"/>
            <a:ext cx="2377440"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425696" y="5349239"/>
            <a:ext cx="2231136" cy="182880"/>
          </a:xfrm>
          <a:prstGeom prst="rect">
            <a:avLst/>
          </a:prstGeom>
          <a:noFill/>
        </p:spPr>
        <p:txBody>
          <a:bodyPr wrap="square" anchor="t" lIns="0" rIns="0" tIns="0" bIns="0">
            <a:spAutoFit/>
          </a:bodyPr>
          <a:lstStyle/>
          <a:p>
            <a:pPr algn="l">
              <a:lnSpc>
                <a:spcPct val="100000"/>
              </a:lnSpc>
              <a:spcAft>
                <a:spcPts val="400"/>
              </a:spcAft>
            </a:pPr>
            <a:r>
              <a:rPr sz="1019" b="1" i="0">
                <a:solidFill>
                  <a:srgbClr val="16325C"/>
                </a:solidFill>
                <a:latin typeface="Calibri"/>
              </a:rPr>
              <a:t>Rate book rebuilt for it</a:t>
            </a:r>
          </a:p>
        </p:txBody>
      </p:sp>
      <p:sp>
        <p:nvSpPr>
          <p:cNvPr id="80" name="Rectangle 79"/>
          <p:cNvSpPr/>
          <p:nvPr/>
        </p:nvSpPr>
        <p:spPr>
          <a:xfrm>
            <a:off x="6720840" y="5285231"/>
            <a:ext cx="5056632"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03136" y="5349239"/>
            <a:ext cx="4910328"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A region it does not know is refused, not guessed</a:t>
            </a:r>
          </a:p>
        </p:txBody>
      </p:sp>
      <p:sp>
        <p:nvSpPr>
          <p:cNvPr id="82" name="Rectangle 81"/>
          <p:cNvSpPr/>
          <p:nvPr/>
        </p:nvSpPr>
        <p:spPr>
          <a:xfrm>
            <a:off x="411480" y="5559551"/>
            <a:ext cx="3931920"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93776" y="5623559"/>
            <a:ext cx="3785616"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Geometry checks</a:t>
            </a:r>
          </a:p>
        </p:txBody>
      </p:sp>
      <p:sp>
        <p:nvSpPr>
          <p:cNvPr id="84" name="Rectangle 83"/>
          <p:cNvSpPr/>
          <p:nvPr/>
        </p:nvSpPr>
        <p:spPr>
          <a:xfrm>
            <a:off x="4343400" y="5559551"/>
            <a:ext cx="2377440"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25696" y="5623559"/>
            <a:ext cx="2231136" cy="182880"/>
          </a:xfrm>
          <a:prstGeom prst="rect">
            <a:avLst/>
          </a:prstGeom>
          <a:noFill/>
        </p:spPr>
        <p:txBody>
          <a:bodyPr wrap="square" anchor="t" lIns="0" rIns="0" tIns="0" bIns="0">
            <a:spAutoFit/>
          </a:bodyPr>
          <a:lstStyle/>
          <a:p>
            <a:pPr algn="l">
              <a:lnSpc>
                <a:spcPct val="100000"/>
              </a:lnSpc>
              <a:spcAft>
                <a:spcPts val="400"/>
              </a:spcAft>
            </a:pPr>
            <a:r>
              <a:rPr sz="1019" b="1" i="0">
                <a:solidFill>
                  <a:srgbClr val="16325C"/>
                </a:solidFill>
                <a:latin typeface="Calibri"/>
              </a:rPr>
              <a:t>Same as a single part</a:t>
            </a:r>
          </a:p>
        </p:txBody>
      </p:sp>
      <p:sp>
        <p:nvSpPr>
          <p:cNvPr id="86" name="Rectangle 85"/>
          <p:cNvSpPr/>
          <p:nvPr/>
        </p:nvSpPr>
        <p:spPr>
          <a:xfrm>
            <a:off x="6720840" y="5559551"/>
            <a:ext cx="5056632" cy="27432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803136" y="5623559"/>
            <a:ext cx="4910328"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A part that fails one is refused unless someone accepts it</a:t>
            </a:r>
          </a:p>
        </p:txBody>
      </p:sp>
      <p:sp>
        <p:nvSpPr>
          <p:cNvPr id="88" name="Rectangle 87"/>
          <p:cNvSpPr/>
          <p:nvPr/>
        </p:nvSpPr>
        <p:spPr>
          <a:xfrm>
            <a:off x="411480" y="5833871"/>
            <a:ext cx="3931920"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93776" y="5897879"/>
            <a:ext cx="3785616"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Past rate books</a:t>
            </a:r>
          </a:p>
        </p:txBody>
      </p:sp>
      <p:sp>
        <p:nvSpPr>
          <p:cNvPr id="90" name="Rectangle 89"/>
          <p:cNvSpPr/>
          <p:nvPr/>
        </p:nvSpPr>
        <p:spPr>
          <a:xfrm>
            <a:off x="4343400" y="5833871"/>
            <a:ext cx="2377440"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425696" y="5897879"/>
            <a:ext cx="2231136" cy="182880"/>
          </a:xfrm>
          <a:prstGeom prst="rect">
            <a:avLst/>
          </a:prstGeom>
          <a:noFill/>
        </p:spPr>
        <p:txBody>
          <a:bodyPr wrap="square" anchor="t" lIns="0" rIns="0" tIns="0" bIns="0">
            <a:spAutoFit/>
          </a:bodyPr>
          <a:lstStyle/>
          <a:p>
            <a:pPr algn="l">
              <a:lnSpc>
                <a:spcPct val="100000"/>
              </a:lnSpc>
              <a:spcAft>
                <a:spcPts val="400"/>
              </a:spcAft>
            </a:pPr>
            <a:r>
              <a:rPr sz="1019" b="1" i="0">
                <a:solidFill>
                  <a:srgbClr val="16325C"/>
                </a:solidFill>
                <a:latin typeface="Calibri"/>
              </a:rPr>
              <a:t>All kept</a:t>
            </a:r>
          </a:p>
        </p:txBody>
      </p:sp>
      <p:sp>
        <p:nvSpPr>
          <p:cNvPr id="92" name="Rectangle 91"/>
          <p:cNvSpPr/>
          <p:nvPr/>
        </p:nvSpPr>
        <p:spPr>
          <a:xfrm>
            <a:off x="6720840" y="5833871"/>
            <a:ext cx="5056632" cy="27432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803136" y="5897879"/>
            <a:ext cx="4910328" cy="182880"/>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Last quarter’s run can be redone on last quarter’s rates</a:t>
            </a:r>
          </a:p>
        </p:txBody>
      </p:sp>
      <p:sp>
        <p:nvSpPr>
          <p:cNvPr id="94" name="Rounded Rectangle 93"/>
          <p:cNvSpPr/>
          <p:nvPr/>
        </p:nvSpPr>
        <p:spPr>
          <a:xfrm>
            <a:off x="411480" y="6144768"/>
            <a:ext cx="11365992" cy="603504"/>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11480" y="6144768"/>
            <a:ext cx="68580" cy="6035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30936" y="6263640"/>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The data is the work</a:t>
            </a:r>
          </a:p>
        </p:txBody>
      </p:sp>
      <p:sp>
        <p:nvSpPr>
          <p:cNvPr id="97" name="TextBox 96"/>
          <p:cNvSpPr txBox="1"/>
          <p:nvPr/>
        </p:nvSpPr>
        <p:spPr>
          <a:xfrm>
            <a:off x="630936" y="6547104"/>
            <a:ext cx="10954512" cy="10972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Getting the part list, the CAD files and our own rates together is the real effort. We have not yet timed a JLR-sized basket.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2 · PREREQUISITES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2: what is built, and what is left</a:t>
            </a:r>
          </a:p>
        </p:txBody>
      </p:sp>
      <p:sp>
        <p:nvSpPr>
          <p:cNvPr id="9" name="TextBox 8"/>
          <p:cNvSpPr txBox="1"/>
          <p:nvPr/>
        </p:nvSpPr>
        <p:spPr>
          <a:xfrm>
            <a:off x="411480" y="1536192"/>
            <a:ext cx="11338560" cy="292608"/>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Most of the gaps on this list last time are now closed. This is where each one stands.</a:t>
            </a:r>
          </a:p>
        </p:txBody>
      </p:sp>
      <p:sp>
        <p:nvSpPr>
          <p:cNvPr id="10" name="Rectangle 9"/>
          <p:cNvSpPr/>
          <p:nvPr/>
        </p:nvSpPr>
        <p:spPr>
          <a:xfrm>
            <a:off x="411480" y="1965960"/>
            <a:ext cx="274320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048256"/>
            <a:ext cx="259689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Item</a:t>
            </a:r>
          </a:p>
        </p:txBody>
      </p:sp>
      <p:sp>
        <p:nvSpPr>
          <p:cNvPr id="12" name="Rectangle 11"/>
          <p:cNvSpPr/>
          <p:nvPr/>
        </p:nvSpPr>
        <p:spPr>
          <a:xfrm>
            <a:off x="3154680" y="1965960"/>
            <a:ext cx="137160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36976" y="2048256"/>
            <a:ext cx="122529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Status</a:t>
            </a:r>
          </a:p>
        </p:txBody>
      </p:sp>
      <p:sp>
        <p:nvSpPr>
          <p:cNvPr id="14" name="Rectangle 13"/>
          <p:cNvSpPr/>
          <p:nvPr/>
        </p:nvSpPr>
        <p:spPr>
          <a:xfrm>
            <a:off x="4526280" y="1965960"/>
            <a:ext cx="606247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2048256"/>
            <a:ext cx="591616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Detail</a:t>
            </a:r>
          </a:p>
        </p:txBody>
      </p:sp>
      <p:sp>
        <p:nvSpPr>
          <p:cNvPr id="16" name="Rectangle 15"/>
          <p:cNvSpPr/>
          <p:nvPr/>
        </p:nvSpPr>
        <p:spPr>
          <a:xfrm>
            <a:off x="10588752" y="1965960"/>
            <a:ext cx="118872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71048" y="2048256"/>
            <a:ext cx="104241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Type</a:t>
            </a:r>
          </a:p>
        </p:txBody>
      </p:sp>
      <p:sp>
        <p:nvSpPr>
          <p:cNvPr id="18" name="Rectangle 17"/>
          <p:cNvSpPr/>
          <p:nvPr/>
        </p:nvSpPr>
        <p:spPr>
          <a:xfrm>
            <a:off x="411480" y="2295144"/>
            <a:ext cx="274320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2359152"/>
            <a:ext cx="259689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A history of rate changes</a:t>
            </a:r>
          </a:p>
        </p:txBody>
      </p:sp>
      <p:sp>
        <p:nvSpPr>
          <p:cNvPr id="20" name="Rectangle 19"/>
          <p:cNvSpPr/>
          <p:nvPr/>
        </p:nvSpPr>
        <p:spPr>
          <a:xfrm>
            <a:off x="3154680" y="2295144"/>
            <a:ext cx="137160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36976" y="2359152"/>
            <a:ext cx="1225296"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Built</a:t>
            </a:r>
          </a:p>
        </p:txBody>
      </p:sp>
      <p:sp>
        <p:nvSpPr>
          <p:cNvPr id="22" name="Rectangle 21"/>
          <p:cNvSpPr/>
          <p:nvPr/>
        </p:nvSpPr>
        <p:spPr>
          <a:xfrm>
            <a:off x="4526280" y="2295144"/>
            <a:ext cx="6062472"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08576" y="2359152"/>
            <a:ext cx="5916168"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Every rate book is kept, not overwritten. A costing can name the book it used and be redone on it.</a:t>
            </a:r>
          </a:p>
        </p:txBody>
      </p:sp>
      <p:sp>
        <p:nvSpPr>
          <p:cNvPr id="24" name="Rectangle 23"/>
          <p:cNvSpPr/>
          <p:nvPr/>
        </p:nvSpPr>
        <p:spPr>
          <a:xfrm>
            <a:off x="10588752" y="2295144"/>
            <a:ext cx="118872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71048" y="2359152"/>
            <a:ext cx="104241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2A7F50"/>
                </a:solidFill>
                <a:latin typeface="Calibri"/>
              </a:rPr>
              <a:t>Done</a:t>
            </a:r>
          </a:p>
        </p:txBody>
      </p:sp>
      <p:sp>
        <p:nvSpPr>
          <p:cNvPr id="26" name="Rectangle 25"/>
          <p:cNvSpPr/>
          <p:nvPr/>
        </p:nvSpPr>
        <p:spPr>
          <a:xfrm>
            <a:off x="411480" y="2935224"/>
            <a:ext cx="274320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2999232"/>
            <a:ext cx="259689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A record of every bulk run</a:t>
            </a:r>
          </a:p>
        </p:txBody>
      </p:sp>
      <p:sp>
        <p:nvSpPr>
          <p:cNvPr id="28" name="Rectangle 27"/>
          <p:cNvSpPr/>
          <p:nvPr/>
        </p:nvSpPr>
        <p:spPr>
          <a:xfrm>
            <a:off x="3154680" y="2935224"/>
            <a:ext cx="137160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36976" y="2999232"/>
            <a:ext cx="1225296"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Built</a:t>
            </a:r>
          </a:p>
        </p:txBody>
      </p:sp>
      <p:sp>
        <p:nvSpPr>
          <p:cNvPr id="30" name="Rectangle 29"/>
          <p:cNvSpPr/>
          <p:nvPr/>
        </p:nvSpPr>
        <p:spPr>
          <a:xfrm>
            <a:off x="4526280" y="2935224"/>
            <a:ext cx="6062472"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08576" y="2999232"/>
            <a:ext cx="5916168"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Each run writes a record: inputs, answers, rule and rate-book versions. A costing done on screen is still kept only if someone saves it.</a:t>
            </a:r>
          </a:p>
        </p:txBody>
      </p:sp>
      <p:sp>
        <p:nvSpPr>
          <p:cNvPr id="32" name="Rectangle 31"/>
          <p:cNvSpPr/>
          <p:nvPr/>
        </p:nvSpPr>
        <p:spPr>
          <a:xfrm>
            <a:off x="10588752" y="2935224"/>
            <a:ext cx="118872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71048" y="2999232"/>
            <a:ext cx="104241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2A7F50"/>
                </a:solidFill>
                <a:latin typeface="Calibri"/>
              </a:rPr>
              <a:t>Done</a:t>
            </a:r>
          </a:p>
        </p:txBody>
      </p:sp>
      <p:sp>
        <p:nvSpPr>
          <p:cNvPr id="34" name="Rectangle 33"/>
          <p:cNvSpPr/>
          <p:nvPr/>
        </p:nvSpPr>
        <p:spPr>
          <a:xfrm>
            <a:off x="411480" y="3575304"/>
            <a:ext cx="274320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3639312"/>
            <a:ext cx="259689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Region and volume on the bulk route</a:t>
            </a:r>
          </a:p>
        </p:txBody>
      </p:sp>
      <p:sp>
        <p:nvSpPr>
          <p:cNvPr id="36" name="Rectangle 35"/>
          <p:cNvSpPr/>
          <p:nvPr/>
        </p:nvSpPr>
        <p:spPr>
          <a:xfrm>
            <a:off x="3154680" y="3575304"/>
            <a:ext cx="137160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36976" y="3639312"/>
            <a:ext cx="1225296"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Built</a:t>
            </a:r>
          </a:p>
        </p:txBody>
      </p:sp>
      <p:sp>
        <p:nvSpPr>
          <p:cNvPr id="38" name="Rectangle 37"/>
          <p:cNvSpPr/>
          <p:nvPr/>
        </p:nvSpPr>
        <p:spPr>
          <a:xfrm>
            <a:off x="4526280" y="3575304"/>
            <a:ext cx="6062472"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08576" y="3639312"/>
            <a:ext cx="5916168"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A region rebuilds the whole rate book for that country. Volume can be set per part or for the whole run.</a:t>
            </a:r>
          </a:p>
        </p:txBody>
      </p:sp>
      <p:sp>
        <p:nvSpPr>
          <p:cNvPr id="40" name="Rectangle 39"/>
          <p:cNvSpPr/>
          <p:nvPr/>
        </p:nvSpPr>
        <p:spPr>
          <a:xfrm>
            <a:off x="10588752" y="3575304"/>
            <a:ext cx="118872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71048" y="3639312"/>
            <a:ext cx="104241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2A7F50"/>
                </a:solidFill>
                <a:latin typeface="Calibri"/>
              </a:rPr>
              <a:t>Done</a:t>
            </a:r>
          </a:p>
        </p:txBody>
      </p:sp>
      <p:sp>
        <p:nvSpPr>
          <p:cNvPr id="42" name="Rectangle 41"/>
          <p:cNvSpPr/>
          <p:nvPr/>
        </p:nvSpPr>
        <p:spPr>
          <a:xfrm>
            <a:off x="411480" y="4215384"/>
            <a:ext cx="274320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 y="4279392"/>
            <a:ext cx="259689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Gear and the geometry checks on the bulk route</a:t>
            </a:r>
          </a:p>
        </p:txBody>
      </p:sp>
      <p:sp>
        <p:nvSpPr>
          <p:cNvPr id="44" name="Rectangle 43"/>
          <p:cNvSpPr/>
          <p:nvPr/>
        </p:nvSpPr>
        <p:spPr>
          <a:xfrm>
            <a:off x="3154680" y="4215384"/>
            <a:ext cx="137160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36976" y="4279392"/>
            <a:ext cx="1225296"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Built</a:t>
            </a:r>
          </a:p>
        </p:txBody>
      </p:sp>
      <p:sp>
        <p:nvSpPr>
          <p:cNvPr id="46" name="Rectangle 45"/>
          <p:cNvSpPr/>
          <p:nvPr/>
        </p:nvSpPr>
        <p:spPr>
          <a:xfrm>
            <a:off x="4526280" y="4215384"/>
            <a:ext cx="6062472"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08576" y="4279392"/>
            <a:ext cx="5916168"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Gear is costed the same way on both routes. The same checks run, and a part that fails one is refused.</a:t>
            </a:r>
          </a:p>
        </p:txBody>
      </p:sp>
      <p:sp>
        <p:nvSpPr>
          <p:cNvPr id="48" name="Rectangle 47"/>
          <p:cNvSpPr/>
          <p:nvPr/>
        </p:nvSpPr>
        <p:spPr>
          <a:xfrm>
            <a:off x="10588752" y="4215384"/>
            <a:ext cx="118872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71048" y="4279392"/>
            <a:ext cx="104241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2A7F50"/>
                </a:solidFill>
                <a:latin typeface="Calibri"/>
              </a:rPr>
              <a:t>Done</a:t>
            </a:r>
          </a:p>
        </p:txBody>
      </p:sp>
      <p:sp>
        <p:nvSpPr>
          <p:cNvPr id="50" name="Rectangle 49"/>
          <p:cNvSpPr/>
          <p:nvPr/>
        </p:nvSpPr>
        <p:spPr>
          <a:xfrm>
            <a:off x="411480" y="4855464"/>
            <a:ext cx="274320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3776" y="4919472"/>
            <a:ext cx="259689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JLR rates loaded</a:t>
            </a:r>
          </a:p>
        </p:txBody>
      </p:sp>
      <p:sp>
        <p:nvSpPr>
          <p:cNvPr id="52" name="Rectangle 51"/>
          <p:cNvSpPr/>
          <p:nvPr/>
        </p:nvSpPr>
        <p:spPr>
          <a:xfrm>
            <a:off x="3154680" y="4855464"/>
            <a:ext cx="137160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36976" y="4919472"/>
            <a:ext cx="1225296"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Not started</a:t>
            </a:r>
          </a:p>
        </p:txBody>
      </p:sp>
      <p:sp>
        <p:nvSpPr>
          <p:cNvPr id="54" name="Rectangle 53"/>
          <p:cNvSpPr/>
          <p:nvPr/>
        </p:nvSpPr>
        <p:spPr>
          <a:xfrm>
            <a:off x="4526280" y="4855464"/>
            <a:ext cx="6062472"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08576" y="4919472"/>
            <a:ext cx="5916168"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Until JLR's rate card is loaded through the Rate Converter, a run uses the built-in rate book of 16 June 2026.</a:t>
            </a:r>
          </a:p>
        </p:txBody>
      </p:sp>
      <p:sp>
        <p:nvSpPr>
          <p:cNvPr id="56" name="Rectangle 55"/>
          <p:cNvSpPr/>
          <p:nvPr/>
        </p:nvSpPr>
        <p:spPr>
          <a:xfrm>
            <a:off x="10588752" y="4855464"/>
            <a:ext cx="1188720" cy="64008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671048" y="4919472"/>
            <a:ext cx="104241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B03A2E"/>
                </a:solidFill>
                <a:latin typeface="Calibri"/>
              </a:rPr>
              <a:t>Must have</a:t>
            </a:r>
          </a:p>
        </p:txBody>
      </p:sp>
      <p:sp>
        <p:nvSpPr>
          <p:cNvPr id="58" name="Rectangle 57"/>
          <p:cNvSpPr/>
          <p:nvPr/>
        </p:nvSpPr>
        <p:spPr>
          <a:xfrm>
            <a:off x="411480" y="5495544"/>
            <a:ext cx="274320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93776" y="5559552"/>
            <a:ext cx="259689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A trial on a real basket, and maybe a screen</a:t>
            </a:r>
          </a:p>
        </p:txBody>
      </p:sp>
      <p:sp>
        <p:nvSpPr>
          <p:cNvPr id="60" name="Rectangle 59"/>
          <p:cNvSpPr/>
          <p:nvPr/>
        </p:nvSpPr>
        <p:spPr>
          <a:xfrm>
            <a:off x="3154680" y="5495544"/>
            <a:ext cx="137160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36976" y="5559552"/>
            <a:ext cx="1225296"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Not started</a:t>
            </a:r>
          </a:p>
        </p:txBody>
      </p:sp>
      <p:sp>
        <p:nvSpPr>
          <p:cNvPr id="62" name="Rectangle 61"/>
          <p:cNvSpPr/>
          <p:nvPr/>
        </p:nvSpPr>
        <p:spPr>
          <a:xfrm>
            <a:off x="4526280" y="5495544"/>
            <a:ext cx="6062472"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08576" y="5559552"/>
            <a:ext cx="5916168" cy="548640"/>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The run is a command-line tool today. A screen is optional. A trial on real JLR parts is not.</a:t>
            </a:r>
          </a:p>
        </p:txBody>
      </p:sp>
      <p:sp>
        <p:nvSpPr>
          <p:cNvPr id="64" name="Rectangle 63"/>
          <p:cNvSpPr/>
          <p:nvPr/>
        </p:nvSpPr>
        <p:spPr>
          <a:xfrm>
            <a:off x="10588752" y="5495544"/>
            <a:ext cx="1188720" cy="64008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671048" y="5559552"/>
            <a:ext cx="1042416" cy="548640"/>
          </a:xfrm>
          <a:prstGeom prst="rect">
            <a:avLst/>
          </a:prstGeom>
          <a:noFill/>
        </p:spPr>
        <p:txBody>
          <a:bodyPr wrap="square" anchor="t" lIns="0" rIns="0" tIns="0" bIns="0">
            <a:spAutoFit/>
          </a:bodyPr>
          <a:lstStyle/>
          <a:p>
            <a:pPr algn="l">
              <a:lnSpc>
                <a:spcPct val="100000"/>
              </a:lnSpc>
              <a:spcAft>
                <a:spcPts val="400"/>
              </a:spcAft>
            </a:pPr>
            <a:r>
              <a:rPr sz="980" b="1" i="0">
                <a:solidFill>
                  <a:srgbClr val="1D6FB8"/>
                </a:solidFill>
                <a:latin typeface="Calibri"/>
              </a:rPr>
              <a:t>Next</a:t>
            </a:r>
          </a:p>
        </p:txBody>
      </p:sp>
      <p:sp>
        <p:nvSpPr>
          <p:cNvPr id="66" name="Rounded Rectangle 65"/>
          <p:cNvSpPr/>
          <p:nvPr/>
        </p:nvSpPr>
        <p:spPr>
          <a:xfrm>
            <a:off x="411480" y="6163056"/>
            <a:ext cx="11365992" cy="603504"/>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11480" y="6163056"/>
            <a:ext cx="68580" cy="60350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0936" y="6281928"/>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The costing engine is the same one</a:t>
            </a:r>
          </a:p>
        </p:txBody>
      </p:sp>
      <p:sp>
        <p:nvSpPr>
          <p:cNvPr id="69" name="TextBox 68"/>
          <p:cNvSpPr txBox="1"/>
          <p:nvPr/>
        </p:nvSpPr>
        <p:spPr>
          <a:xfrm>
            <a:off x="630936" y="6565392"/>
            <a:ext cx="10954512" cy="10972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bulk run calls the same costing engine as the screens, with the same rate book and the same geometry checks.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2 · THE CASE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2: what it changes for the business</a:t>
            </a:r>
          </a:p>
        </p:txBody>
      </p:sp>
      <p:sp>
        <p:nvSpPr>
          <p:cNvPr id="9" name="Rectangle 8"/>
          <p:cNvSpPr/>
          <p:nvPr/>
        </p:nvSpPr>
        <p:spPr>
          <a:xfrm>
            <a:off x="411480" y="1737360"/>
            <a:ext cx="377647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819656"/>
            <a:ext cx="3630168" cy="219456"/>
          </a:xfrm>
          <a:prstGeom prst="rect">
            <a:avLst/>
          </a:prstGeom>
          <a:noFill/>
        </p:spPr>
        <p:txBody>
          <a:bodyPr wrap="square" anchor="t" lIns="0" rIns="0" tIns="0" bIns="0">
            <a:spAutoFit/>
          </a:bodyPr>
          <a:lstStyle/>
          <a:p>
            <a:pPr algn="l">
              <a:lnSpc>
                <a:spcPct val="100000"/>
              </a:lnSpc>
              <a:spcAft>
                <a:spcPts val="400"/>
              </a:spcAft>
            </a:pPr>
          </a:p>
        </p:txBody>
      </p:sp>
      <p:sp>
        <p:nvSpPr>
          <p:cNvPr id="11" name="Rectangle 10"/>
          <p:cNvSpPr/>
          <p:nvPr/>
        </p:nvSpPr>
        <p:spPr>
          <a:xfrm>
            <a:off x="4187952" y="1737360"/>
            <a:ext cx="338328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0248" y="1819656"/>
            <a:ext cx="323697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Today</a:t>
            </a:r>
          </a:p>
        </p:txBody>
      </p:sp>
      <p:sp>
        <p:nvSpPr>
          <p:cNvPr id="13" name="Rectangle 12"/>
          <p:cNvSpPr/>
          <p:nvPr/>
        </p:nvSpPr>
        <p:spPr>
          <a:xfrm>
            <a:off x="7571232" y="1737360"/>
            <a:ext cx="420624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53528" y="1819656"/>
            <a:ext cx="405993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With bulk costing</a:t>
            </a:r>
          </a:p>
        </p:txBody>
      </p:sp>
      <p:sp>
        <p:nvSpPr>
          <p:cNvPr id="15" name="Rectangle 14"/>
          <p:cNvSpPr/>
          <p:nvPr/>
        </p:nvSpPr>
        <p:spPr>
          <a:xfrm>
            <a:off x="411480" y="2066544"/>
            <a:ext cx="377647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 y="21305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How many parts get a proper cost</a:t>
            </a:r>
          </a:p>
        </p:txBody>
      </p:sp>
      <p:sp>
        <p:nvSpPr>
          <p:cNvPr id="17" name="Rectangle 16"/>
          <p:cNvSpPr/>
          <p:nvPr/>
        </p:nvSpPr>
        <p:spPr>
          <a:xfrm>
            <a:off x="4187952" y="2066544"/>
            <a:ext cx="33832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21305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B03A2E"/>
                </a:solidFill>
                <a:latin typeface="Calibri"/>
              </a:rPr>
              <a:t>The ones we have hours for</a:t>
            </a:r>
          </a:p>
        </p:txBody>
      </p:sp>
      <p:sp>
        <p:nvSpPr>
          <p:cNvPr id="19" name="Rectangle 18"/>
          <p:cNvSpPr/>
          <p:nvPr/>
        </p:nvSpPr>
        <p:spPr>
          <a:xfrm>
            <a:off x="7571232" y="2066544"/>
            <a:ext cx="420624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528" y="21305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Every part in the list</a:t>
            </a:r>
          </a:p>
        </p:txBody>
      </p:sp>
      <p:sp>
        <p:nvSpPr>
          <p:cNvPr id="21" name="Rectangle 20"/>
          <p:cNvSpPr/>
          <p:nvPr/>
        </p:nvSpPr>
        <p:spPr>
          <a:xfrm>
            <a:off x="411480" y="2523744"/>
            <a:ext cx="377647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5877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How a basket gets priced</a:t>
            </a:r>
          </a:p>
        </p:txBody>
      </p:sp>
      <p:sp>
        <p:nvSpPr>
          <p:cNvPr id="23" name="Rectangle 22"/>
          <p:cNvSpPr/>
          <p:nvPr/>
        </p:nvSpPr>
        <p:spPr>
          <a:xfrm>
            <a:off x="4187952" y="2523744"/>
            <a:ext cx="338328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0248" y="25877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B03A2E"/>
                </a:solidFill>
                <a:latin typeface="Calibri"/>
              </a:rPr>
              <a:t>Sample and scale up</a:t>
            </a:r>
          </a:p>
        </p:txBody>
      </p:sp>
      <p:sp>
        <p:nvSpPr>
          <p:cNvPr id="25" name="Rectangle 24"/>
          <p:cNvSpPr/>
          <p:nvPr/>
        </p:nvSpPr>
        <p:spPr>
          <a:xfrm>
            <a:off x="7571232" y="2523744"/>
            <a:ext cx="420624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53528" y="25877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Every part costed from its own geometry</a:t>
            </a:r>
          </a:p>
        </p:txBody>
      </p:sp>
      <p:sp>
        <p:nvSpPr>
          <p:cNvPr id="27" name="Rectangle 26"/>
          <p:cNvSpPr/>
          <p:nvPr/>
        </p:nvSpPr>
        <p:spPr>
          <a:xfrm>
            <a:off x="411480" y="2980944"/>
            <a:ext cx="377647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 y="30449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Turnaround on a new basket</a:t>
            </a:r>
          </a:p>
        </p:txBody>
      </p:sp>
      <p:sp>
        <p:nvSpPr>
          <p:cNvPr id="29" name="Rectangle 28"/>
          <p:cNvSpPr/>
          <p:nvPr/>
        </p:nvSpPr>
        <p:spPr>
          <a:xfrm>
            <a:off x="4187952" y="2980944"/>
            <a:ext cx="33832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0248" y="30449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B03A2E"/>
                </a:solidFill>
                <a:latin typeface="Calibri"/>
              </a:rPr>
              <a:t>Days of engineer time</a:t>
            </a:r>
          </a:p>
        </p:txBody>
      </p:sp>
      <p:sp>
        <p:nvSpPr>
          <p:cNvPr id="31" name="Rectangle 30"/>
          <p:cNvSpPr/>
          <p:nvPr/>
        </p:nvSpPr>
        <p:spPr>
          <a:xfrm>
            <a:off x="7571232" y="2980944"/>
            <a:ext cx="420624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53528" y="30449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Machine time, plus the data gathering</a:t>
            </a:r>
          </a:p>
        </p:txBody>
      </p:sp>
      <p:sp>
        <p:nvSpPr>
          <p:cNvPr id="33" name="Rectangle 32"/>
          <p:cNvSpPr/>
          <p:nvPr/>
        </p:nvSpPr>
        <p:spPr>
          <a:xfrm>
            <a:off x="411480" y="3438144"/>
            <a:ext cx="377647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 y="35021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Consistency across a basket</a:t>
            </a:r>
          </a:p>
        </p:txBody>
      </p:sp>
      <p:sp>
        <p:nvSpPr>
          <p:cNvPr id="35" name="Rectangle 34"/>
          <p:cNvSpPr/>
          <p:nvPr/>
        </p:nvSpPr>
        <p:spPr>
          <a:xfrm>
            <a:off x="4187952" y="3438144"/>
            <a:ext cx="338328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70248" y="35021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B03A2E"/>
                </a:solidFill>
                <a:latin typeface="Calibri"/>
              </a:rPr>
              <a:t>Depends who costed it</a:t>
            </a:r>
          </a:p>
        </p:txBody>
      </p:sp>
      <p:sp>
        <p:nvSpPr>
          <p:cNvPr id="37" name="Rectangle 36"/>
          <p:cNvSpPr/>
          <p:nvPr/>
        </p:nvSpPr>
        <p:spPr>
          <a:xfrm>
            <a:off x="7571232" y="3438144"/>
            <a:ext cx="420624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53528" y="35021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Same rules and rates for every part</a:t>
            </a:r>
          </a:p>
        </p:txBody>
      </p:sp>
      <p:sp>
        <p:nvSpPr>
          <p:cNvPr id="39" name="Rectangle 38"/>
          <p:cNvSpPr/>
          <p:nvPr/>
        </p:nvSpPr>
        <p:spPr>
          <a:xfrm>
            <a:off x="411480" y="3895344"/>
            <a:ext cx="377647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 y="39593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What we can say to a supplier</a:t>
            </a:r>
          </a:p>
        </p:txBody>
      </p:sp>
      <p:sp>
        <p:nvSpPr>
          <p:cNvPr id="41" name="Rectangle 40"/>
          <p:cNvSpPr/>
          <p:nvPr/>
        </p:nvSpPr>
        <p:spPr>
          <a:xfrm>
            <a:off x="4187952" y="3895344"/>
            <a:ext cx="33832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0248" y="39593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99651A"/>
                </a:solidFill>
                <a:latin typeface="Calibri"/>
              </a:rPr>
              <a:t>This is our estimate</a:t>
            </a:r>
          </a:p>
        </p:txBody>
      </p:sp>
      <p:sp>
        <p:nvSpPr>
          <p:cNvPr id="43" name="Rectangle 42"/>
          <p:cNvSpPr/>
          <p:nvPr/>
        </p:nvSpPr>
        <p:spPr>
          <a:xfrm>
            <a:off x="7571232" y="3895344"/>
            <a:ext cx="420624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53528" y="39593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Here is the build-up, per part, with the rates</a:t>
            </a:r>
          </a:p>
        </p:txBody>
      </p:sp>
      <p:sp>
        <p:nvSpPr>
          <p:cNvPr id="45" name="Rectangle 44"/>
          <p:cNvSpPr/>
          <p:nvPr/>
        </p:nvSpPr>
        <p:spPr>
          <a:xfrm>
            <a:off x="411480" y="4352544"/>
            <a:ext cx="3776472"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 y="44165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Where an engineer spends the time</a:t>
            </a:r>
          </a:p>
        </p:txBody>
      </p:sp>
      <p:sp>
        <p:nvSpPr>
          <p:cNvPr id="47" name="Rectangle 46"/>
          <p:cNvSpPr/>
          <p:nvPr/>
        </p:nvSpPr>
        <p:spPr>
          <a:xfrm>
            <a:off x="4187952" y="4352544"/>
            <a:ext cx="338328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70248" y="44165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B03A2E"/>
                </a:solidFill>
                <a:latin typeface="Calibri"/>
              </a:rPr>
              <a:t>Typing numbers in</a:t>
            </a:r>
          </a:p>
        </p:txBody>
      </p:sp>
      <p:sp>
        <p:nvSpPr>
          <p:cNvPr id="49" name="Rectangle 48"/>
          <p:cNvSpPr/>
          <p:nvPr/>
        </p:nvSpPr>
        <p:spPr>
          <a:xfrm>
            <a:off x="7571232" y="4352544"/>
            <a:ext cx="4206240" cy="457200"/>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53528" y="44165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Answering the questions only a person can</a:t>
            </a:r>
          </a:p>
        </p:txBody>
      </p:sp>
      <p:sp>
        <p:nvSpPr>
          <p:cNvPr id="51" name="Rectangle 50"/>
          <p:cNvSpPr/>
          <p:nvPr/>
        </p:nvSpPr>
        <p:spPr>
          <a:xfrm>
            <a:off x="411480" y="4809744"/>
            <a:ext cx="3776472"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3776" y="4873752"/>
            <a:ext cx="3630168"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3A4356"/>
                </a:solidFill>
                <a:latin typeface="Calibri"/>
              </a:rPr>
              <a:t>What it needs from a person</a:t>
            </a:r>
          </a:p>
        </p:txBody>
      </p:sp>
      <p:sp>
        <p:nvSpPr>
          <p:cNvPr id="53" name="Rectangle 52"/>
          <p:cNvSpPr/>
          <p:nvPr/>
        </p:nvSpPr>
        <p:spPr>
          <a:xfrm>
            <a:off x="4187952" y="4809744"/>
            <a:ext cx="338328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70248" y="4873752"/>
            <a:ext cx="3236976" cy="365760"/>
          </a:xfrm>
          <a:prstGeom prst="rect">
            <a:avLst/>
          </a:prstGeom>
          <a:noFill/>
        </p:spPr>
        <p:txBody>
          <a:bodyPr wrap="square" anchor="t" lIns="0" rIns="0" tIns="0" bIns="0">
            <a:spAutoFit/>
          </a:bodyPr>
          <a:lstStyle/>
          <a:p>
            <a:pPr algn="l">
              <a:lnSpc>
                <a:spcPct val="100000"/>
              </a:lnSpc>
              <a:spcAft>
                <a:spcPts val="400"/>
              </a:spcAft>
            </a:pPr>
            <a:r>
              <a:rPr sz="1080" b="0" i="0">
                <a:solidFill>
                  <a:srgbClr val="B03A2E"/>
                </a:solidFill>
                <a:latin typeface="Calibri"/>
              </a:rPr>
              <a:t>One engineer per part</a:t>
            </a:r>
          </a:p>
        </p:txBody>
      </p:sp>
      <p:sp>
        <p:nvSpPr>
          <p:cNvPr id="55" name="Rectangle 54"/>
          <p:cNvSpPr/>
          <p:nvPr/>
        </p:nvSpPr>
        <p:spPr>
          <a:xfrm>
            <a:off x="7571232" y="4809744"/>
            <a:ext cx="4206240" cy="457200"/>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53528" y="4873752"/>
            <a:ext cx="4059936" cy="365760"/>
          </a:xfrm>
          <a:prstGeom prst="rect">
            <a:avLst/>
          </a:prstGeom>
          <a:noFill/>
        </p:spPr>
        <p:txBody>
          <a:bodyPr wrap="square" anchor="t" lIns="0" rIns="0" tIns="0" bIns="0">
            <a:spAutoFit/>
          </a:bodyPr>
          <a:lstStyle/>
          <a:p>
            <a:pPr algn="l">
              <a:lnSpc>
                <a:spcPct val="100000"/>
              </a:lnSpc>
              <a:spcAft>
                <a:spcPts val="400"/>
              </a:spcAft>
            </a:pPr>
            <a:r>
              <a:rPr sz="1080" b="1" i="0">
                <a:solidFill>
                  <a:srgbClr val="2A7F50"/>
                </a:solidFill>
                <a:latin typeface="Calibri"/>
              </a:rPr>
              <a:t>One answer per question, applied to every part</a:t>
            </a:r>
          </a:p>
        </p:txBody>
      </p:sp>
      <p:sp>
        <p:nvSpPr>
          <p:cNvPr id="57" name="Rounded Rectangle 56"/>
          <p:cNvSpPr/>
          <p:nvPr/>
        </p:nvSpPr>
        <p:spPr>
          <a:xfrm>
            <a:off x="411480" y="5349240"/>
            <a:ext cx="11365992" cy="914400"/>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11480" y="5349240"/>
            <a:ext cx="68580" cy="91440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46811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The honest limit on all of this</a:t>
            </a:r>
          </a:p>
        </p:txBody>
      </p:sp>
      <p:sp>
        <p:nvSpPr>
          <p:cNvPr id="60" name="TextBox 59"/>
          <p:cNvSpPr txBox="1"/>
          <p:nvPr/>
        </p:nvSpPr>
        <p:spPr>
          <a:xfrm>
            <a:off x="630936" y="5751576"/>
            <a:ext cx="10954512" cy="41148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Every row assumes the tool is accurate enough to trust unattended, and today nobody can say whether it is. That is precisely what Option 1 measures, which is why it comes first.</a:t>
            </a:r>
          </a:p>
        </p:txBody>
      </p:sp>
      <p:sp>
        <p:nvSpPr>
          <p:cNvPr id="61" name="TextBox 60"/>
          <p:cNvSpPr txBox="1"/>
          <p:nvPr/>
        </p:nvSpPr>
        <p:spPr>
          <a:xfrm>
            <a:off x="411480" y="6419088"/>
            <a:ext cx="11338560" cy="219456"/>
          </a:xfrm>
          <a:prstGeom prst="rect">
            <a:avLst/>
          </a:prstGeom>
          <a:noFill/>
        </p:spPr>
        <p:txBody>
          <a:bodyPr wrap="square" anchor="t" lIns="0" rIns="0" tIns="0" bIns="0">
            <a:spAutoFit/>
          </a:bodyPr>
          <a:lstStyle/>
          <a:p>
            <a:pPr algn="l">
              <a:lnSpc>
                <a:spcPct val="100000"/>
              </a:lnSpc>
              <a:spcAft>
                <a:spcPts val="400"/>
              </a:spcAft>
            </a:pPr>
            <a:r>
              <a:rPr sz="800" b="0" i="0">
                <a:solidFill>
                  <a:srgbClr val="686F7D"/>
                </a:solidFill>
                <a:latin typeface="Calibri"/>
              </a:rPr>
              <a:t>No cost saving is claimed on this slide. The saving depends on our own rate data and on the accuracy figure Option 1 produces.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2 · SEQUENCE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2: order of work</a:t>
            </a:r>
          </a:p>
        </p:txBody>
      </p:sp>
      <p:sp>
        <p:nvSpPr>
          <p:cNvPr id="9" name="Rounded Rectangle 8"/>
          <p:cNvSpPr/>
          <p:nvPr/>
        </p:nvSpPr>
        <p:spPr>
          <a:xfrm>
            <a:off x="411480" y="1719072"/>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19072"/>
            <a:ext cx="68580"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1819656"/>
            <a:ext cx="420624" cy="420624"/>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1</a:t>
            </a:r>
          </a:p>
        </p:txBody>
      </p:sp>
      <p:sp>
        <p:nvSpPr>
          <p:cNvPr id="12" name="TextBox 11"/>
          <p:cNvSpPr txBox="1"/>
          <p:nvPr/>
        </p:nvSpPr>
        <p:spPr>
          <a:xfrm>
            <a:off x="1298448" y="1792224"/>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Load JLR rates</a:t>
            </a:r>
          </a:p>
        </p:txBody>
      </p:sp>
      <p:sp>
        <p:nvSpPr>
          <p:cNvPr id="13" name="TextBox 12"/>
          <p:cNvSpPr txBox="1"/>
          <p:nvPr/>
        </p:nvSpPr>
        <p:spPr>
          <a:xfrm>
            <a:off x="1298448" y="2066544"/>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Materials, machine rates, labour, energy, country factors, through the JLR Rate Converter. Ours to do.</a:t>
            </a:r>
          </a:p>
        </p:txBody>
      </p:sp>
      <p:sp>
        <p:nvSpPr>
          <p:cNvPr id="14" name="Rounded Rectangle 13"/>
          <p:cNvSpPr/>
          <p:nvPr/>
        </p:nvSpPr>
        <p:spPr>
          <a:xfrm>
            <a:off x="411480" y="2432304"/>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432304"/>
            <a:ext cx="68580" cy="6400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532888"/>
            <a:ext cx="420624" cy="420624"/>
          </a:xfrm>
          <a:prstGeom prst="ellipse">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2</a:t>
            </a:r>
          </a:p>
        </p:txBody>
      </p:sp>
      <p:sp>
        <p:nvSpPr>
          <p:cNvPr id="17" name="TextBox 16"/>
          <p:cNvSpPr txBox="1"/>
          <p:nvPr/>
        </p:nvSpPr>
        <p:spPr>
          <a:xfrm>
            <a:off x="1298448" y="2505456"/>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Agree who controls the rate book</a:t>
            </a:r>
          </a:p>
        </p:txBody>
      </p:sp>
      <p:sp>
        <p:nvSpPr>
          <p:cNvPr id="18" name="TextBox 17"/>
          <p:cNvSpPr txBox="1"/>
          <p:nvPr/>
        </p:nvSpPr>
        <p:spPr>
          <a:xfrm>
            <a:off x="1298448" y="2779776"/>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Every rate book is already kept. JLR decides who may change rates and who signs them off.</a:t>
            </a:r>
          </a:p>
        </p:txBody>
      </p:sp>
      <p:sp>
        <p:nvSpPr>
          <p:cNvPr id="19" name="Rounded Rectangle 18"/>
          <p:cNvSpPr/>
          <p:nvPr/>
        </p:nvSpPr>
        <p:spPr>
          <a:xfrm>
            <a:off x="411480" y="3145536"/>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3145536"/>
            <a:ext cx="68580" cy="6400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246120"/>
            <a:ext cx="420624" cy="420624"/>
          </a:xfrm>
          <a:prstGeom prst="ellipse">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3</a:t>
            </a:r>
          </a:p>
        </p:txBody>
      </p:sp>
      <p:sp>
        <p:nvSpPr>
          <p:cNvPr id="22" name="TextBox 21"/>
          <p:cNvSpPr txBox="1"/>
          <p:nvPr/>
        </p:nvSpPr>
        <p:spPr>
          <a:xfrm>
            <a:off x="1298448" y="3218688"/>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Agree what a run record must hold</a:t>
            </a:r>
          </a:p>
        </p:txBody>
      </p:sp>
      <p:sp>
        <p:nvSpPr>
          <p:cNvPr id="23" name="TextBox 22"/>
          <p:cNvSpPr txBox="1"/>
          <p:nvPr/>
        </p:nvSpPr>
        <p:spPr>
          <a:xfrm>
            <a:off x="1298448" y="3493008"/>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Each run already writes a record. JLR audit says whether it is enough, and where it is stored.</a:t>
            </a:r>
          </a:p>
        </p:txBody>
      </p:sp>
      <p:sp>
        <p:nvSpPr>
          <p:cNvPr id="24" name="Rounded Rectangle 23"/>
          <p:cNvSpPr/>
          <p:nvPr/>
        </p:nvSpPr>
        <p:spPr>
          <a:xfrm>
            <a:off x="411480" y="3858768"/>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3858768"/>
            <a:ext cx="68580" cy="64008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959352"/>
            <a:ext cx="420624" cy="420624"/>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4</a:t>
            </a:r>
          </a:p>
        </p:txBody>
      </p:sp>
      <p:sp>
        <p:nvSpPr>
          <p:cNvPr id="27" name="TextBox 26"/>
          <p:cNvSpPr txBox="1"/>
          <p:nvPr/>
        </p:nvSpPr>
        <p:spPr>
          <a:xfrm>
            <a:off x="1298448" y="3931920"/>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Check the bulk route on our parts</a:t>
            </a:r>
          </a:p>
        </p:txBody>
      </p:sp>
      <p:sp>
        <p:nvSpPr>
          <p:cNvPr id="28" name="TextBox 27"/>
          <p:cNvSpPr txBox="1"/>
          <p:nvPr/>
        </p:nvSpPr>
        <p:spPr>
          <a:xfrm>
            <a:off x="1298448" y="4206240"/>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Region, volume, gear and the geometry checks are wired on. Confirm them on a handful of JLR parts.</a:t>
            </a:r>
          </a:p>
        </p:txBody>
      </p:sp>
      <p:sp>
        <p:nvSpPr>
          <p:cNvPr id="29" name="Rounded Rectangle 28"/>
          <p:cNvSpPr/>
          <p:nvPr/>
        </p:nvSpPr>
        <p:spPr>
          <a:xfrm>
            <a:off x="411480" y="4572000"/>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4572000"/>
            <a:ext cx="6858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58368" y="4672584"/>
            <a:ext cx="420624" cy="420624"/>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5</a:t>
            </a:r>
          </a:p>
        </p:txBody>
      </p:sp>
      <p:sp>
        <p:nvSpPr>
          <p:cNvPr id="32" name="TextBox 31"/>
          <p:cNvSpPr txBox="1"/>
          <p:nvPr/>
        </p:nvSpPr>
        <p:spPr>
          <a:xfrm>
            <a:off x="1298448" y="4645152"/>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Decide on a screen</a:t>
            </a:r>
          </a:p>
        </p:txBody>
      </p:sp>
      <p:sp>
        <p:nvSpPr>
          <p:cNvPr id="33" name="TextBox 32"/>
          <p:cNvSpPr txBox="1"/>
          <p:nvPr/>
        </p:nvSpPr>
        <p:spPr>
          <a:xfrm>
            <a:off x="1298448" y="4919472"/>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The run is a command-line tool today. Add a screen only if the team needs one.</a:t>
            </a:r>
          </a:p>
        </p:txBody>
      </p:sp>
      <p:sp>
        <p:nvSpPr>
          <p:cNvPr id="34" name="Rounded Rectangle 33"/>
          <p:cNvSpPr/>
          <p:nvPr/>
        </p:nvSpPr>
        <p:spPr>
          <a:xfrm>
            <a:off x="411480" y="5285232"/>
            <a:ext cx="11365992" cy="6400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5285232"/>
            <a:ext cx="68580" cy="6400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58368" y="5385816"/>
            <a:ext cx="420624" cy="420624"/>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6</a:t>
            </a:r>
          </a:p>
        </p:txBody>
      </p:sp>
      <p:sp>
        <p:nvSpPr>
          <p:cNvPr id="37" name="TextBox 36"/>
          <p:cNvSpPr txBox="1"/>
          <p:nvPr/>
        </p:nvSpPr>
        <p:spPr>
          <a:xfrm>
            <a:off x="1298448" y="5358384"/>
            <a:ext cx="10241280" cy="246888"/>
          </a:xfrm>
          <a:prstGeom prst="rect">
            <a:avLst/>
          </a:prstGeom>
          <a:noFill/>
        </p:spPr>
        <p:txBody>
          <a:bodyPr wrap="square" anchor="t" lIns="0" rIns="0" tIns="0" bIns="0">
            <a:spAutoFit/>
          </a:bodyPr>
          <a:lstStyle/>
          <a:p>
            <a:pPr algn="l">
              <a:lnSpc>
                <a:spcPct val="100000"/>
              </a:lnSpc>
              <a:spcAft>
                <a:spcPts val="400"/>
              </a:spcAft>
            </a:pPr>
            <a:r>
              <a:rPr sz="1220" b="1" i="0">
                <a:solidFill>
                  <a:srgbClr val="16325C"/>
                </a:solidFill>
                <a:latin typeface="Calibri"/>
              </a:rPr>
              <a:t>Trial on a real basket</a:t>
            </a:r>
          </a:p>
        </p:txBody>
      </p:sp>
      <p:sp>
        <p:nvSpPr>
          <p:cNvPr id="38" name="TextBox 37"/>
          <p:cNvSpPr txBox="1"/>
          <p:nvPr/>
        </p:nvSpPr>
        <p:spPr>
          <a:xfrm>
            <a:off x="1298448" y="5632704"/>
            <a:ext cx="10241280" cy="256032"/>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One programme, one commodity family, run beside the way we cost today and compare.</a:t>
            </a:r>
          </a:p>
        </p:txBody>
      </p:sp>
      <p:sp>
        <p:nvSpPr>
          <p:cNvPr id="39" name="Rounded Rectangle 38"/>
          <p:cNvSpPr/>
          <p:nvPr/>
        </p:nvSpPr>
        <p:spPr>
          <a:xfrm>
            <a:off x="411480" y="6035040"/>
            <a:ext cx="5577840" cy="768096"/>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1480" y="6035040"/>
            <a:ext cx="68580" cy="7680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 y="6153912"/>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Steps 2 and 3 are about control, not code</a:t>
            </a:r>
          </a:p>
        </p:txBody>
      </p:sp>
      <p:sp>
        <p:nvSpPr>
          <p:cNvPr id="42" name="TextBox 41"/>
          <p:cNvSpPr txBox="1"/>
          <p:nvPr/>
        </p:nvSpPr>
        <p:spPr>
          <a:xfrm>
            <a:off x="630936" y="6437376"/>
            <a:ext cx="5166360" cy="265176"/>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tools exist. JLR decides who owns the rates and the records.</a:t>
            </a:r>
          </a:p>
        </p:txBody>
      </p:sp>
      <p:sp>
        <p:nvSpPr>
          <p:cNvPr id="43" name="Rounded Rectangle 42"/>
          <p:cNvSpPr/>
          <p:nvPr/>
        </p:nvSpPr>
        <p:spPr>
          <a:xfrm>
            <a:off x="6199632" y="6035040"/>
            <a:ext cx="5577840" cy="768096"/>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99632" y="6035040"/>
            <a:ext cx="68580" cy="7680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19088" y="6153912"/>
            <a:ext cx="5166360"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Step 1 can start now</a:t>
            </a:r>
          </a:p>
        </p:txBody>
      </p:sp>
      <p:sp>
        <p:nvSpPr>
          <p:cNvPr id="46" name="TextBox 45"/>
          <p:cNvSpPr txBox="1"/>
          <p:nvPr/>
        </p:nvSpPr>
        <p:spPr>
          <a:xfrm>
            <a:off x="6419088" y="6437376"/>
            <a:ext cx="5166360" cy="265176"/>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Our own rate data helps both options, whatever is decided.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COMPARISON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two options together</a:t>
            </a:r>
          </a:p>
        </p:txBody>
      </p:sp>
      <p:sp>
        <p:nvSpPr>
          <p:cNvPr id="9" name="Rectangle 8"/>
          <p:cNvSpPr/>
          <p:nvPr/>
        </p:nvSpPr>
        <p:spPr>
          <a:xfrm>
            <a:off x="411480" y="1737360"/>
            <a:ext cx="377647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819656"/>
            <a:ext cx="3630168" cy="219456"/>
          </a:xfrm>
          <a:prstGeom prst="rect">
            <a:avLst/>
          </a:prstGeom>
          <a:noFill/>
        </p:spPr>
        <p:txBody>
          <a:bodyPr wrap="square" anchor="t" lIns="0" rIns="0" tIns="0" bIns="0">
            <a:spAutoFit/>
          </a:bodyPr>
          <a:lstStyle/>
          <a:p>
            <a:pPr algn="l">
              <a:lnSpc>
                <a:spcPct val="100000"/>
              </a:lnSpc>
              <a:spcAft>
                <a:spcPts val="400"/>
              </a:spcAft>
            </a:pPr>
          </a:p>
        </p:txBody>
      </p:sp>
      <p:sp>
        <p:nvSpPr>
          <p:cNvPr id="11" name="Rectangle 10"/>
          <p:cNvSpPr/>
          <p:nvPr/>
        </p:nvSpPr>
        <p:spPr>
          <a:xfrm>
            <a:off x="4187952" y="1737360"/>
            <a:ext cx="37947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0248" y="1819656"/>
            <a:ext cx="36484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OPTION 1 · feed CAPEE</a:t>
            </a:r>
          </a:p>
        </p:txBody>
      </p:sp>
      <p:sp>
        <p:nvSpPr>
          <p:cNvPr id="13" name="Rectangle 12"/>
          <p:cNvSpPr/>
          <p:nvPr/>
        </p:nvSpPr>
        <p:spPr>
          <a:xfrm>
            <a:off x="7982712" y="1737360"/>
            <a:ext cx="37947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65008" y="1819656"/>
            <a:ext cx="36484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OPTION 2 · bulk costing</a:t>
            </a:r>
          </a:p>
        </p:txBody>
      </p:sp>
      <p:sp>
        <p:nvSpPr>
          <p:cNvPr id="15" name="Rectangle 14"/>
          <p:cNvSpPr/>
          <p:nvPr/>
        </p:nvSpPr>
        <p:spPr>
          <a:xfrm>
            <a:off x="411480" y="2066544"/>
            <a:ext cx="3776472"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 y="2130552"/>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What it gives us</a:t>
            </a:r>
          </a:p>
        </p:txBody>
      </p:sp>
      <p:sp>
        <p:nvSpPr>
          <p:cNvPr id="17" name="Rectangle 16"/>
          <p:cNvSpPr/>
          <p:nvPr/>
        </p:nvSpPr>
        <p:spPr>
          <a:xfrm>
            <a:off x="4187952" y="2066544"/>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2130552"/>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16325C"/>
                </a:solidFill>
                <a:latin typeface="Calibri"/>
              </a:rPr>
              <a:t>The engineer stops typing</a:t>
            </a:r>
          </a:p>
        </p:txBody>
      </p:sp>
      <p:sp>
        <p:nvSpPr>
          <p:cNvPr id="19" name="Rectangle 18"/>
          <p:cNvSpPr/>
          <p:nvPr/>
        </p:nvSpPr>
        <p:spPr>
          <a:xfrm>
            <a:off x="7982712" y="2066544"/>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65008" y="2130552"/>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16325C"/>
                </a:solidFill>
                <a:latin typeface="Calibri"/>
              </a:rPr>
              <a:t>We can cost a whole basket</a:t>
            </a:r>
          </a:p>
        </p:txBody>
      </p:sp>
      <p:sp>
        <p:nvSpPr>
          <p:cNvPr id="21" name="Rectangle 20"/>
          <p:cNvSpPr/>
          <p:nvPr/>
        </p:nvSpPr>
        <p:spPr>
          <a:xfrm>
            <a:off x="411480" y="2441448"/>
            <a:ext cx="3776472"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505456"/>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Which system does the costing</a:t>
            </a:r>
          </a:p>
        </p:txBody>
      </p:sp>
      <p:sp>
        <p:nvSpPr>
          <p:cNvPr id="23" name="Rectangle 22"/>
          <p:cNvSpPr/>
          <p:nvPr/>
        </p:nvSpPr>
        <p:spPr>
          <a:xfrm>
            <a:off x="4187952" y="2441448"/>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0248" y="2505456"/>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CAPEE, same as now</a:t>
            </a:r>
          </a:p>
        </p:txBody>
      </p:sp>
      <p:sp>
        <p:nvSpPr>
          <p:cNvPr id="25" name="Rectangle 24"/>
          <p:cNvSpPr/>
          <p:nvPr/>
        </p:nvSpPr>
        <p:spPr>
          <a:xfrm>
            <a:off x="7982712" y="2441448"/>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5008" y="2505456"/>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CostVision engine, beside CAPEE</a:t>
            </a:r>
          </a:p>
        </p:txBody>
      </p:sp>
      <p:sp>
        <p:nvSpPr>
          <p:cNvPr id="27" name="Rectangle 26"/>
          <p:cNvSpPr/>
          <p:nvPr/>
        </p:nvSpPr>
        <p:spPr>
          <a:xfrm>
            <a:off x="411480" y="2816352"/>
            <a:ext cx="3776472"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 y="2880360"/>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Does anyone learn a new tool</a:t>
            </a:r>
          </a:p>
        </p:txBody>
      </p:sp>
      <p:sp>
        <p:nvSpPr>
          <p:cNvPr id="29" name="Rectangle 28"/>
          <p:cNvSpPr/>
          <p:nvPr/>
        </p:nvSpPr>
        <p:spPr>
          <a:xfrm>
            <a:off x="4187952" y="2816352"/>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0248" y="2880360"/>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No, same CAPEE screens</a:t>
            </a:r>
          </a:p>
        </p:txBody>
      </p:sp>
      <p:sp>
        <p:nvSpPr>
          <p:cNvPr id="31" name="Rectangle 30"/>
          <p:cNvSpPr/>
          <p:nvPr/>
        </p:nvSpPr>
        <p:spPr>
          <a:xfrm>
            <a:off x="7982712" y="2816352"/>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2880360"/>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A reviewer does, for the results</a:t>
            </a:r>
          </a:p>
        </p:txBody>
      </p:sp>
      <p:sp>
        <p:nvSpPr>
          <p:cNvPr id="33" name="Rectangle 32"/>
          <p:cNvSpPr/>
          <p:nvPr/>
        </p:nvSpPr>
        <p:spPr>
          <a:xfrm>
            <a:off x="411480" y="3191256"/>
            <a:ext cx="3776472"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 y="3255264"/>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How much software work</a:t>
            </a:r>
          </a:p>
        </p:txBody>
      </p:sp>
      <p:sp>
        <p:nvSpPr>
          <p:cNvPr id="35" name="Rectangle 34"/>
          <p:cNvSpPr/>
          <p:nvPr/>
        </p:nvSpPr>
        <p:spPr>
          <a:xfrm>
            <a:off x="4187952" y="3191256"/>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70248" y="3255264"/>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Moderate: the CAPEE link</a:t>
            </a:r>
          </a:p>
        </p:txBody>
      </p:sp>
      <p:sp>
        <p:nvSpPr>
          <p:cNvPr id="37" name="Rectangle 36"/>
          <p:cNvSpPr/>
          <p:nvPr/>
        </p:nvSpPr>
        <p:spPr>
          <a:xfrm>
            <a:off x="7982712" y="3191256"/>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3255264"/>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Less: the run is built</a:t>
            </a:r>
          </a:p>
        </p:txBody>
      </p:sp>
      <p:sp>
        <p:nvSpPr>
          <p:cNvPr id="39" name="Rectangle 38"/>
          <p:cNvSpPr/>
          <p:nvPr/>
        </p:nvSpPr>
        <p:spPr>
          <a:xfrm>
            <a:off x="411480" y="3566160"/>
            <a:ext cx="3776472"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 y="3630168"/>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How much JLR data work</a:t>
            </a:r>
          </a:p>
        </p:txBody>
      </p:sp>
      <p:sp>
        <p:nvSpPr>
          <p:cNvPr id="41" name="Rectangle 40"/>
          <p:cNvSpPr/>
          <p:nvPr/>
        </p:nvSpPr>
        <p:spPr>
          <a:xfrm>
            <a:off x="4187952" y="3566160"/>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0248" y="3630168"/>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Parts with prices we paid</a:t>
            </a:r>
          </a:p>
        </p:txBody>
      </p:sp>
      <p:sp>
        <p:nvSpPr>
          <p:cNvPr id="43" name="Rectangle 42"/>
          <p:cNvSpPr/>
          <p:nvPr/>
        </p:nvSpPr>
        <p:spPr>
          <a:xfrm>
            <a:off x="7982712" y="3566160"/>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65008" y="3630168"/>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B03A2E"/>
                </a:solidFill>
                <a:latin typeface="Calibri"/>
              </a:rPr>
              <a:t>Our full rate book</a:t>
            </a:r>
          </a:p>
        </p:txBody>
      </p:sp>
      <p:sp>
        <p:nvSpPr>
          <p:cNvPr id="45" name="Rectangle 44"/>
          <p:cNvSpPr/>
          <p:nvPr/>
        </p:nvSpPr>
        <p:spPr>
          <a:xfrm>
            <a:off x="411480" y="3941064"/>
            <a:ext cx="3776472"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 y="4005072"/>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Does it tell us how accurate we are</a:t>
            </a:r>
          </a:p>
        </p:txBody>
      </p:sp>
      <p:sp>
        <p:nvSpPr>
          <p:cNvPr id="47" name="Rectangle 46"/>
          <p:cNvSpPr/>
          <p:nvPr/>
        </p:nvSpPr>
        <p:spPr>
          <a:xfrm>
            <a:off x="4187952" y="3941064"/>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70248" y="4005072"/>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Yes, that is the point of it</a:t>
            </a:r>
          </a:p>
        </p:txBody>
      </p:sp>
      <p:sp>
        <p:nvSpPr>
          <p:cNvPr id="49" name="Rectangle 48"/>
          <p:cNvSpPr/>
          <p:nvPr/>
        </p:nvSpPr>
        <p:spPr>
          <a:xfrm>
            <a:off x="7982712" y="3941064"/>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005072"/>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It relies on that answer</a:t>
            </a:r>
          </a:p>
        </p:txBody>
      </p:sp>
      <p:sp>
        <p:nvSpPr>
          <p:cNvPr id="51" name="Rectangle 50"/>
          <p:cNvSpPr/>
          <p:nvPr/>
        </p:nvSpPr>
        <p:spPr>
          <a:xfrm>
            <a:off x="411480" y="4315968"/>
            <a:ext cx="3776472"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3776" y="4379976"/>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Can we stop part way</a:t>
            </a:r>
          </a:p>
        </p:txBody>
      </p:sp>
      <p:sp>
        <p:nvSpPr>
          <p:cNvPr id="53" name="Rectangle 52"/>
          <p:cNvSpPr/>
          <p:nvPr/>
        </p:nvSpPr>
        <p:spPr>
          <a:xfrm>
            <a:off x="4187952" y="4315968"/>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70248" y="4379976"/>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Yes, CAPEE costs the same way either way</a:t>
            </a:r>
          </a:p>
        </p:txBody>
      </p:sp>
      <p:sp>
        <p:nvSpPr>
          <p:cNvPr id="55" name="Rectangle 54"/>
          <p:cNvSpPr/>
          <p:nvPr/>
        </p:nvSpPr>
        <p:spPr>
          <a:xfrm>
            <a:off x="7982712" y="4315968"/>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65008" y="4379976"/>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Yes, it runs alongside</a:t>
            </a:r>
          </a:p>
        </p:txBody>
      </p:sp>
      <p:sp>
        <p:nvSpPr>
          <p:cNvPr id="57" name="Rectangle 56"/>
          <p:cNvSpPr/>
          <p:nvPr/>
        </p:nvSpPr>
        <p:spPr>
          <a:xfrm>
            <a:off x="411480" y="4690872"/>
            <a:ext cx="3776472"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 y="4754880"/>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Is it waiting on an unknown</a:t>
            </a:r>
          </a:p>
        </p:txBody>
      </p:sp>
      <p:sp>
        <p:nvSpPr>
          <p:cNvPr id="59" name="Rectangle 58"/>
          <p:cNvSpPr/>
          <p:nvPr/>
        </p:nvSpPr>
        <p:spPr>
          <a:xfrm>
            <a:off x="4187952" y="4690872"/>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270248" y="4754880"/>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Yes, how CAPEE is built</a:t>
            </a:r>
          </a:p>
        </p:txBody>
      </p:sp>
      <p:sp>
        <p:nvSpPr>
          <p:cNvPr id="61" name="Rectangle 60"/>
          <p:cNvSpPr/>
          <p:nvPr/>
        </p:nvSpPr>
        <p:spPr>
          <a:xfrm>
            <a:off x="7982712" y="4690872"/>
            <a:ext cx="3794760" cy="374904"/>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65008" y="4754880"/>
            <a:ext cx="3648456"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99651A"/>
                </a:solidFill>
                <a:latin typeface="Calibri"/>
              </a:rPr>
              <a:t>Yes, the accuracy figure</a:t>
            </a:r>
          </a:p>
        </p:txBody>
      </p:sp>
      <p:sp>
        <p:nvSpPr>
          <p:cNvPr id="63" name="Rectangle 62"/>
          <p:cNvSpPr/>
          <p:nvPr/>
        </p:nvSpPr>
        <p:spPr>
          <a:xfrm>
            <a:off x="411480" y="5065776"/>
            <a:ext cx="3776472"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93776" y="5129784"/>
            <a:ext cx="3630168" cy="283464"/>
          </a:xfrm>
          <a:prstGeom prst="rect">
            <a:avLst/>
          </a:prstGeom>
          <a:noFill/>
        </p:spPr>
        <p:txBody>
          <a:bodyPr wrap="square" anchor="t" lIns="0" rIns="0" tIns="0" bIns="0">
            <a:spAutoFit/>
          </a:bodyPr>
          <a:lstStyle/>
          <a:p>
            <a:pPr algn="l">
              <a:lnSpc>
                <a:spcPct val="100000"/>
              </a:lnSpc>
              <a:spcAft>
                <a:spcPts val="400"/>
              </a:spcAft>
            </a:pPr>
            <a:r>
              <a:rPr sz="1040" b="0" i="0">
                <a:solidFill>
                  <a:srgbClr val="3A4356"/>
                </a:solidFill>
                <a:latin typeface="Calibri"/>
              </a:rPr>
              <a:t>Is it audit-ready today</a:t>
            </a:r>
          </a:p>
        </p:txBody>
      </p:sp>
      <p:sp>
        <p:nvSpPr>
          <p:cNvPr id="65" name="Rectangle 64"/>
          <p:cNvSpPr/>
          <p:nvPr/>
        </p:nvSpPr>
        <p:spPr>
          <a:xfrm>
            <a:off x="4187952" y="5065776"/>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270248" y="5129784"/>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2A7F50"/>
                </a:solidFill>
                <a:latin typeface="Calibri"/>
              </a:rPr>
              <a:t>Yes, CAPEE keeps the record</a:t>
            </a:r>
          </a:p>
        </p:txBody>
      </p:sp>
      <p:sp>
        <p:nvSpPr>
          <p:cNvPr id="67" name="Rectangle 66"/>
          <p:cNvSpPr/>
          <p:nvPr/>
        </p:nvSpPr>
        <p:spPr>
          <a:xfrm>
            <a:off x="7982712" y="5065776"/>
            <a:ext cx="3794760" cy="37490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65008" y="5129784"/>
            <a:ext cx="3648456" cy="283464"/>
          </a:xfrm>
          <a:prstGeom prst="rect">
            <a:avLst/>
          </a:prstGeom>
          <a:noFill/>
        </p:spPr>
        <p:txBody>
          <a:bodyPr wrap="square" anchor="t" lIns="0" rIns="0" tIns="0" bIns="0">
            <a:spAutoFit/>
          </a:bodyPr>
          <a:lstStyle/>
          <a:p>
            <a:pPr algn="l">
              <a:lnSpc>
                <a:spcPct val="100000"/>
              </a:lnSpc>
              <a:spcAft>
                <a:spcPts val="400"/>
              </a:spcAft>
            </a:pPr>
            <a:r>
              <a:rPr sz="1040" b="1" i="0">
                <a:solidFill>
                  <a:srgbClr val="99651A"/>
                </a:solidFill>
                <a:latin typeface="Calibri"/>
              </a:rPr>
              <a:t>Records exist; JLR has not reviewed them</a:t>
            </a:r>
          </a:p>
        </p:txBody>
      </p:sp>
      <p:sp>
        <p:nvSpPr>
          <p:cNvPr id="69" name="Rounded Rectangle 68"/>
          <p:cNvSpPr/>
          <p:nvPr/>
        </p:nvSpPr>
        <p:spPr>
          <a:xfrm>
            <a:off x="411480" y="5577840"/>
            <a:ext cx="11365992" cy="749808"/>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11480" y="5577840"/>
            <a:ext cx="68580" cy="74980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0936" y="569671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Read the last two rows together</a:t>
            </a:r>
          </a:p>
        </p:txBody>
      </p:sp>
      <p:sp>
        <p:nvSpPr>
          <p:cNvPr id="72" name="TextBox 71"/>
          <p:cNvSpPr txBox="1"/>
          <p:nvPr/>
        </p:nvSpPr>
        <p:spPr>
          <a:xfrm>
            <a:off x="630936" y="5980176"/>
            <a:ext cx="10954512" cy="24688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Option 1 gives the accuracy figure Option 2 leans on, and CAPEE keeps its record. Option 2 keeps records too, but JLR has not reviewed them. Hence this order.</a:t>
            </a:r>
          </a:p>
        </p:txBody>
      </p:sp>
      <p:sp>
        <p:nvSpPr>
          <p:cNvPr id="73" name="TextBox 72"/>
          <p:cNvSpPr txBox="1"/>
          <p:nvPr/>
        </p:nvSpPr>
        <p:spPr>
          <a:xfrm>
            <a:off x="411480" y="6419088"/>
            <a:ext cx="11338560" cy="219456"/>
          </a:xfrm>
          <a:prstGeom prst="rect">
            <a:avLst/>
          </a:prstGeom>
          <a:noFill/>
        </p:spPr>
        <p:txBody>
          <a:bodyPr wrap="square" anchor="t" lIns="0" rIns="0" tIns="0" bIns="0">
            <a:spAutoFit/>
          </a:bodyPr>
          <a:lstStyle/>
          <a:p>
            <a:pPr algn="l">
              <a:lnSpc>
                <a:spcPct val="100000"/>
              </a:lnSpc>
              <a:spcAft>
                <a:spcPts val="400"/>
              </a:spcAft>
            </a:pPr>
            <a:r>
              <a:rPr sz="800" b="0" i="0">
                <a:solidFill>
                  <a:srgbClr val="686F7D"/>
                </a:solidFill>
                <a:latin typeface="Calibri"/>
              </a:rPr>
              <a:t>No durations shown. Nothing in either option has been sized by JLR.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RISKS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Risks and open items</a:t>
            </a:r>
          </a:p>
        </p:txBody>
      </p:sp>
      <p:sp>
        <p:nvSpPr>
          <p:cNvPr id="9" name="Rectangle 8"/>
          <p:cNvSpPr/>
          <p:nvPr/>
        </p:nvSpPr>
        <p:spPr>
          <a:xfrm>
            <a:off x="411480" y="1737360"/>
            <a:ext cx="31089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819656"/>
            <a:ext cx="29626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Item</a:t>
            </a:r>
          </a:p>
        </p:txBody>
      </p:sp>
      <p:sp>
        <p:nvSpPr>
          <p:cNvPr id="11" name="Rectangle 10"/>
          <p:cNvSpPr/>
          <p:nvPr/>
        </p:nvSpPr>
        <p:spPr>
          <a:xfrm>
            <a:off x="3520440" y="1737360"/>
            <a:ext cx="10515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2736" y="1819656"/>
            <a:ext cx="9052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Applies to</a:t>
            </a:r>
          </a:p>
        </p:txBody>
      </p:sp>
      <p:sp>
        <p:nvSpPr>
          <p:cNvPr id="13" name="Rectangle 12"/>
          <p:cNvSpPr/>
          <p:nvPr/>
        </p:nvSpPr>
        <p:spPr>
          <a:xfrm>
            <a:off x="4572000" y="1737360"/>
            <a:ext cx="601675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1819656"/>
            <a:ext cx="587044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Detail and what sorts it</a:t>
            </a:r>
          </a:p>
        </p:txBody>
      </p:sp>
      <p:sp>
        <p:nvSpPr>
          <p:cNvPr id="15" name="Rectangle 14"/>
          <p:cNvSpPr/>
          <p:nvPr/>
        </p:nvSpPr>
        <p:spPr>
          <a:xfrm>
            <a:off x="10588752" y="1737360"/>
            <a:ext cx="118872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71048" y="1819656"/>
            <a:ext cx="104241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Rating</a:t>
            </a:r>
          </a:p>
        </p:txBody>
      </p:sp>
      <p:sp>
        <p:nvSpPr>
          <p:cNvPr id="17" name="Rectangle 16"/>
          <p:cNvSpPr/>
          <p:nvPr/>
        </p:nvSpPr>
        <p:spPr>
          <a:xfrm>
            <a:off x="411480" y="2066544"/>
            <a:ext cx="31089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2130552"/>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We do not know how accurate it is</a:t>
            </a:r>
          </a:p>
        </p:txBody>
      </p:sp>
      <p:sp>
        <p:nvSpPr>
          <p:cNvPr id="19" name="Rectangle 18"/>
          <p:cNvSpPr/>
          <p:nvPr/>
        </p:nvSpPr>
        <p:spPr>
          <a:xfrm>
            <a:off x="3520440" y="2066544"/>
            <a:ext cx="10515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2736" y="2130552"/>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Both</a:t>
            </a:r>
          </a:p>
        </p:txBody>
      </p:sp>
      <p:sp>
        <p:nvSpPr>
          <p:cNvPr id="21" name="Rectangle 20"/>
          <p:cNvSpPr/>
          <p:nvPr/>
        </p:nvSpPr>
        <p:spPr>
          <a:xfrm>
            <a:off x="4572000" y="2066544"/>
            <a:ext cx="601675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2130552"/>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Never compared against a price JLR has paid. The Option 1 trial is what settles it.</a:t>
            </a:r>
          </a:p>
        </p:txBody>
      </p:sp>
      <p:sp>
        <p:nvSpPr>
          <p:cNvPr id="23" name="Rectangle 22"/>
          <p:cNvSpPr/>
          <p:nvPr/>
        </p:nvSpPr>
        <p:spPr>
          <a:xfrm>
            <a:off x="10588752" y="2066544"/>
            <a:ext cx="118872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71048" y="2130552"/>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B03A2E"/>
                </a:solidFill>
                <a:latin typeface="Calibri"/>
              </a:rPr>
              <a:t>High</a:t>
            </a:r>
          </a:p>
        </p:txBody>
      </p:sp>
      <p:sp>
        <p:nvSpPr>
          <p:cNvPr id="25" name="Rectangle 24"/>
          <p:cNvSpPr/>
          <p:nvPr/>
        </p:nvSpPr>
        <p:spPr>
          <a:xfrm>
            <a:off x="411480" y="2542032"/>
            <a:ext cx="31089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 y="2606040"/>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We do not know how CAPEE is built</a:t>
            </a:r>
          </a:p>
        </p:txBody>
      </p:sp>
      <p:sp>
        <p:nvSpPr>
          <p:cNvPr id="27" name="Rectangle 26"/>
          <p:cNvSpPr/>
          <p:nvPr/>
        </p:nvSpPr>
        <p:spPr>
          <a:xfrm>
            <a:off x="3520440" y="2542032"/>
            <a:ext cx="10515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2606040"/>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Option 1</a:t>
            </a:r>
          </a:p>
        </p:txBody>
      </p:sp>
      <p:sp>
        <p:nvSpPr>
          <p:cNvPr id="29" name="Rectangle 28"/>
          <p:cNvSpPr/>
          <p:nvPr/>
        </p:nvSpPr>
        <p:spPr>
          <a:xfrm>
            <a:off x="4572000" y="2542032"/>
            <a:ext cx="6016752"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4296" y="2606040"/>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Holds up the choice of connection route. One answer from IT sorts it.</a:t>
            </a:r>
          </a:p>
        </p:txBody>
      </p:sp>
      <p:sp>
        <p:nvSpPr>
          <p:cNvPr id="31" name="Rectangle 30"/>
          <p:cNvSpPr/>
          <p:nvPr/>
        </p:nvSpPr>
        <p:spPr>
          <a:xfrm>
            <a:off x="10588752" y="2542032"/>
            <a:ext cx="118872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71048" y="2606040"/>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High</a:t>
            </a:r>
          </a:p>
        </p:txBody>
      </p:sp>
      <p:sp>
        <p:nvSpPr>
          <p:cNvPr id="33" name="Rectangle 32"/>
          <p:cNvSpPr/>
          <p:nvPr/>
        </p:nvSpPr>
        <p:spPr>
          <a:xfrm>
            <a:off x="411480" y="3017520"/>
            <a:ext cx="31089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 y="3081528"/>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Run records not yet reviewed by JLR</a:t>
            </a:r>
          </a:p>
        </p:txBody>
      </p:sp>
      <p:sp>
        <p:nvSpPr>
          <p:cNvPr id="35" name="Rectangle 34"/>
          <p:cNvSpPr/>
          <p:nvPr/>
        </p:nvSpPr>
        <p:spPr>
          <a:xfrm>
            <a:off x="3520440" y="3017520"/>
            <a:ext cx="10515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02736" y="3081528"/>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Option 2</a:t>
            </a:r>
          </a:p>
        </p:txBody>
      </p:sp>
      <p:sp>
        <p:nvSpPr>
          <p:cNvPr id="37" name="Rectangle 36"/>
          <p:cNvSpPr/>
          <p:nvPr/>
        </p:nvSpPr>
        <p:spPr>
          <a:xfrm>
            <a:off x="4572000" y="3017520"/>
            <a:ext cx="601675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54296" y="3081528"/>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Rate books and run records are kept now. JLR audit has not said whether they are enough.</a:t>
            </a:r>
          </a:p>
        </p:txBody>
      </p:sp>
      <p:sp>
        <p:nvSpPr>
          <p:cNvPr id="39" name="Rectangle 38"/>
          <p:cNvSpPr/>
          <p:nvPr/>
        </p:nvSpPr>
        <p:spPr>
          <a:xfrm>
            <a:off x="10588752" y="3017520"/>
            <a:ext cx="118872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71048" y="3081528"/>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Medium</a:t>
            </a:r>
          </a:p>
        </p:txBody>
      </p:sp>
      <p:sp>
        <p:nvSpPr>
          <p:cNvPr id="41" name="Rectangle 40"/>
          <p:cNvSpPr/>
          <p:nvPr/>
        </p:nvSpPr>
        <p:spPr>
          <a:xfrm>
            <a:off x="411480" y="3493008"/>
            <a:ext cx="31089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3776" y="3557016"/>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The built-in rates are not JLR rates</a:t>
            </a:r>
          </a:p>
        </p:txBody>
      </p:sp>
      <p:sp>
        <p:nvSpPr>
          <p:cNvPr id="43" name="Rectangle 42"/>
          <p:cNvSpPr/>
          <p:nvPr/>
        </p:nvSpPr>
        <p:spPr>
          <a:xfrm>
            <a:off x="3520440" y="3493008"/>
            <a:ext cx="10515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2736" y="3557016"/>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Both</a:t>
            </a:r>
          </a:p>
        </p:txBody>
      </p:sp>
      <p:sp>
        <p:nvSpPr>
          <p:cNvPr id="45" name="Rectangle 44"/>
          <p:cNvSpPr/>
          <p:nvPr/>
        </p:nvSpPr>
        <p:spPr>
          <a:xfrm>
            <a:off x="4572000" y="3493008"/>
            <a:ext cx="6016752"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54296" y="3557016"/>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The rate library is dated 16 June 2026. Until our card is loaded, costs use those rates.</a:t>
            </a:r>
          </a:p>
        </p:txBody>
      </p:sp>
      <p:sp>
        <p:nvSpPr>
          <p:cNvPr id="47" name="Rectangle 46"/>
          <p:cNvSpPr/>
          <p:nvPr/>
        </p:nvSpPr>
        <p:spPr>
          <a:xfrm>
            <a:off x="10588752" y="3493008"/>
            <a:ext cx="118872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71048" y="3557016"/>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Medium</a:t>
            </a:r>
          </a:p>
        </p:txBody>
      </p:sp>
      <p:sp>
        <p:nvSpPr>
          <p:cNvPr id="49" name="Rectangle 48"/>
          <p:cNvSpPr/>
          <p:nvPr/>
        </p:nvSpPr>
        <p:spPr>
          <a:xfrm>
            <a:off x="411480" y="3968496"/>
            <a:ext cx="31089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 y="4032504"/>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The built-in numbers are our estimates</a:t>
            </a:r>
          </a:p>
        </p:txBody>
      </p:sp>
      <p:sp>
        <p:nvSpPr>
          <p:cNvPr id="51" name="Rectangle 50"/>
          <p:cNvSpPr/>
          <p:nvPr/>
        </p:nvSpPr>
        <p:spPr>
          <a:xfrm>
            <a:off x="3520440" y="3968496"/>
            <a:ext cx="10515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02736" y="4032504"/>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Both</a:t>
            </a:r>
          </a:p>
        </p:txBody>
      </p:sp>
      <p:sp>
        <p:nvSpPr>
          <p:cNvPr id="53" name="Rectangle 52"/>
          <p:cNvSpPr/>
          <p:nvPr/>
        </p:nvSpPr>
        <p:spPr>
          <a:xfrm>
            <a:off x="4572000" y="3968496"/>
            <a:ext cx="601675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54296" y="4032504"/>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Starting points, not JLR plant measurements. They get replaced as real data comes in.</a:t>
            </a:r>
          </a:p>
        </p:txBody>
      </p:sp>
      <p:sp>
        <p:nvSpPr>
          <p:cNvPr id="55" name="Rectangle 54"/>
          <p:cNvSpPr/>
          <p:nvPr/>
        </p:nvSpPr>
        <p:spPr>
          <a:xfrm>
            <a:off x="10588752" y="3968496"/>
            <a:ext cx="118872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671048" y="4032504"/>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Medium</a:t>
            </a:r>
          </a:p>
        </p:txBody>
      </p:sp>
      <p:sp>
        <p:nvSpPr>
          <p:cNvPr id="57" name="Rectangle 56"/>
          <p:cNvSpPr/>
          <p:nvPr/>
        </p:nvSpPr>
        <p:spPr>
          <a:xfrm>
            <a:off x="411480" y="4443984"/>
            <a:ext cx="31089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 y="4507992"/>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The AI mode could be switched on</a:t>
            </a:r>
          </a:p>
        </p:txBody>
      </p:sp>
      <p:sp>
        <p:nvSpPr>
          <p:cNvPr id="59" name="Rectangle 58"/>
          <p:cNvSpPr/>
          <p:nvPr/>
        </p:nvSpPr>
        <p:spPr>
          <a:xfrm>
            <a:off x="3520440" y="4443984"/>
            <a:ext cx="10515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02736" y="4507992"/>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Both</a:t>
            </a:r>
          </a:p>
        </p:txBody>
      </p:sp>
      <p:sp>
        <p:nvSpPr>
          <p:cNvPr id="61" name="Rectangle 60"/>
          <p:cNvSpPr/>
          <p:nvPr/>
        </p:nvSpPr>
        <p:spPr>
          <a:xfrm>
            <a:off x="4572000" y="4443984"/>
            <a:ext cx="6016752"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54296" y="4507992"/>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The JLR build has no API key and neither option needs one. Adding a key turns AI on, so it needs an owner and approval first.</a:t>
            </a:r>
          </a:p>
        </p:txBody>
      </p:sp>
      <p:sp>
        <p:nvSpPr>
          <p:cNvPr id="63" name="Rectangle 62"/>
          <p:cNvSpPr/>
          <p:nvPr/>
        </p:nvSpPr>
        <p:spPr>
          <a:xfrm>
            <a:off x="10588752" y="4443984"/>
            <a:ext cx="118872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671048" y="4507992"/>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Low</a:t>
            </a:r>
          </a:p>
        </p:txBody>
      </p:sp>
      <p:sp>
        <p:nvSpPr>
          <p:cNvPr id="65" name="Rectangle 64"/>
          <p:cNvSpPr/>
          <p:nvPr/>
        </p:nvSpPr>
        <p:spPr>
          <a:xfrm>
            <a:off x="411480" y="4919472"/>
            <a:ext cx="31089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3776" y="4983480"/>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Where the measuring engine runs</a:t>
            </a:r>
          </a:p>
        </p:txBody>
      </p:sp>
      <p:sp>
        <p:nvSpPr>
          <p:cNvPr id="67" name="Rectangle 66"/>
          <p:cNvSpPr/>
          <p:nvPr/>
        </p:nvSpPr>
        <p:spPr>
          <a:xfrm>
            <a:off x="3520440" y="4919472"/>
            <a:ext cx="105156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02736" y="4983480"/>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Option 1</a:t>
            </a:r>
          </a:p>
        </p:txBody>
      </p:sp>
      <p:sp>
        <p:nvSpPr>
          <p:cNvPr id="69" name="Rectangle 68"/>
          <p:cNvSpPr/>
          <p:nvPr/>
        </p:nvSpPr>
        <p:spPr>
          <a:xfrm>
            <a:off x="4572000" y="4919472"/>
            <a:ext cx="6016752"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54296" y="4983480"/>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Needs a standard Linux server or the Windows package. The cut-down Linux kind cannot run it.</a:t>
            </a:r>
          </a:p>
        </p:txBody>
      </p:sp>
      <p:sp>
        <p:nvSpPr>
          <p:cNvPr id="71" name="Rectangle 70"/>
          <p:cNvSpPr/>
          <p:nvPr/>
        </p:nvSpPr>
        <p:spPr>
          <a:xfrm>
            <a:off x="10588752" y="4919472"/>
            <a:ext cx="1188720" cy="47548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671048" y="4983480"/>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Low</a:t>
            </a:r>
          </a:p>
        </p:txBody>
      </p:sp>
      <p:sp>
        <p:nvSpPr>
          <p:cNvPr id="73" name="Rectangle 72"/>
          <p:cNvSpPr/>
          <p:nvPr/>
        </p:nvSpPr>
        <p:spPr>
          <a:xfrm>
            <a:off x="411480" y="5394960"/>
            <a:ext cx="31089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93776" y="5458968"/>
            <a:ext cx="296265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16325C"/>
                </a:solidFill>
                <a:latin typeface="Calibri"/>
              </a:rPr>
              <a:t>The tool is still changing</a:t>
            </a:r>
          </a:p>
        </p:txBody>
      </p:sp>
      <p:sp>
        <p:nvSpPr>
          <p:cNvPr id="75" name="Rectangle 74"/>
          <p:cNvSpPr/>
          <p:nvPr/>
        </p:nvSpPr>
        <p:spPr>
          <a:xfrm>
            <a:off x="3520440" y="5394960"/>
            <a:ext cx="105156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02736" y="5458968"/>
            <a:ext cx="905256"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Both</a:t>
            </a:r>
          </a:p>
        </p:txBody>
      </p:sp>
      <p:sp>
        <p:nvSpPr>
          <p:cNvPr id="77" name="Rectangle 76"/>
          <p:cNvSpPr/>
          <p:nvPr/>
        </p:nvSpPr>
        <p:spPr>
          <a:xfrm>
            <a:off x="4572000" y="5394960"/>
            <a:ext cx="6016752"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654296" y="5458968"/>
            <a:ext cx="5870448" cy="384048"/>
          </a:xfrm>
          <a:prstGeom prst="rect">
            <a:avLst/>
          </a:prstGeom>
          <a:noFill/>
        </p:spPr>
        <p:txBody>
          <a:bodyPr wrap="square" anchor="t" lIns="0" rIns="0" tIns="0" bIns="0">
            <a:spAutoFit/>
          </a:bodyPr>
          <a:lstStyle/>
          <a:p>
            <a:pPr algn="l">
              <a:lnSpc>
                <a:spcPct val="100000"/>
              </a:lnSpc>
              <a:spcAft>
                <a:spcPts val="400"/>
              </a:spcAft>
            </a:pPr>
            <a:r>
              <a:rPr sz="960" b="0" i="0">
                <a:solidFill>
                  <a:srgbClr val="3A4356"/>
                </a:solidFill>
                <a:latin typeface="Calibri"/>
              </a:rPr>
              <a:t>It is under active development. For any trial we pin a version and stay on it.</a:t>
            </a:r>
          </a:p>
        </p:txBody>
      </p:sp>
      <p:sp>
        <p:nvSpPr>
          <p:cNvPr id="79" name="Rectangle 78"/>
          <p:cNvSpPr/>
          <p:nvPr/>
        </p:nvSpPr>
        <p:spPr>
          <a:xfrm>
            <a:off x="10588752" y="5394960"/>
            <a:ext cx="1188720" cy="475488"/>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671048" y="5458968"/>
            <a:ext cx="1042416" cy="384048"/>
          </a:xfrm>
          <a:prstGeom prst="rect">
            <a:avLst/>
          </a:prstGeom>
          <a:noFill/>
        </p:spPr>
        <p:txBody>
          <a:bodyPr wrap="square" anchor="t" lIns="0" rIns="0" tIns="0" bIns="0">
            <a:spAutoFit/>
          </a:bodyPr>
          <a:lstStyle/>
          <a:p>
            <a:pPr algn="l">
              <a:lnSpc>
                <a:spcPct val="100000"/>
              </a:lnSpc>
              <a:spcAft>
                <a:spcPts val="400"/>
              </a:spcAft>
            </a:pPr>
            <a:r>
              <a:rPr sz="960" b="1" i="0">
                <a:solidFill>
                  <a:srgbClr val="99651A"/>
                </a:solidFill>
                <a:latin typeface="Calibri"/>
              </a:rPr>
              <a:t>Low</a:t>
            </a:r>
          </a:p>
        </p:txBody>
      </p:sp>
      <p:sp>
        <p:nvSpPr>
          <p:cNvPr id="81" name="Rounded Rectangle 80"/>
          <p:cNvSpPr/>
          <p:nvPr/>
        </p:nvSpPr>
        <p:spPr>
          <a:xfrm>
            <a:off x="411480" y="6035040"/>
            <a:ext cx="11365992" cy="768096"/>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11480" y="6035040"/>
            <a:ext cx="68580" cy="7680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0936" y="615391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One decision deals with the top item</a:t>
            </a:r>
          </a:p>
        </p:txBody>
      </p:sp>
      <p:sp>
        <p:nvSpPr>
          <p:cNvPr id="84" name="TextBox 83"/>
          <p:cNvSpPr txBox="1"/>
          <p:nvPr/>
        </p:nvSpPr>
        <p:spPr>
          <a:xfrm>
            <a:off x="630936" y="6437376"/>
            <a:ext cx="10954512" cy="265176"/>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Approving the Option 1 trial turns "we do not know how accurate it is" into a number. Everything else on this list is smaller and has a known fix.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NEXT STEPS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we need to get going</a:t>
            </a:r>
          </a:p>
        </p:txBody>
      </p:sp>
      <p:sp>
        <p:nvSpPr>
          <p:cNvPr id="9" name="Rounded Rectangle 8"/>
          <p:cNvSpPr/>
          <p:nvPr/>
        </p:nvSpPr>
        <p:spPr>
          <a:xfrm>
            <a:off x="411480" y="1664208"/>
            <a:ext cx="11365992" cy="8229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64208"/>
            <a:ext cx="68580" cy="82296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1755648"/>
            <a:ext cx="420624" cy="420624"/>
          </a:xfrm>
          <a:prstGeom prst="ellipse">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1</a:t>
            </a:r>
          </a:p>
        </p:txBody>
      </p:sp>
      <p:sp>
        <p:nvSpPr>
          <p:cNvPr id="12" name="Oval 11"/>
          <p:cNvSpPr/>
          <p:nvPr/>
        </p:nvSpPr>
        <p:spPr>
          <a:xfrm>
            <a:off x="1261872" y="1755648"/>
            <a:ext cx="420624" cy="420624"/>
          </a:xfrm>
          <a:prstGeom prst="ellipse">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ip.png"/>
          <p:cNvPicPr>
            <a:picLocks noChangeAspect="1"/>
          </p:cNvPicPr>
          <p:nvPr/>
        </p:nvPicPr>
        <p:blipFill>
          <a:blip r:embed="rId2"/>
          <a:stretch>
            <a:fillRect/>
          </a:stretch>
        </p:blipFill>
        <p:spPr>
          <a:xfrm>
            <a:off x="1371234" y="1865010"/>
            <a:ext cx="201900" cy="201900"/>
          </a:xfrm>
          <a:prstGeom prst="rect">
            <a:avLst/>
          </a:prstGeom>
        </p:spPr>
      </p:pic>
      <p:sp>
        <p:nvSpPr>
          <p:cNvPr id="14" name="TextBox 13"/>
          <p:cNvSpPr txBox="1"/>
          <p:nvPr/>
        </p:nvSpPr>
        <p:spPr>
          <a:xfrm>
            <a:off x="1883664" y="1746504"/>
            <a:ext cx="9601200" cy="256032"/>
          </a:xfrm>
          <a:prstGeom prst="rect">
            <a:avLst/>
          </a:prstGeom>
          <a:noFill/>
        </p:spPr>
        <p:txBody>
          <a:bodyPr wrap="square" anchor="t" lIns="0" rIns="0" tIns="0" bIns="0">
            <a:spAutoFit/>
          </a:bodyPr>
          <a:lstStyle/>
          <a:p>
            <a:pPr algn="l">
              <a:lnSpc>
                <a:spcPct val="100000"/>
              </a:lnSpc>
              <a:spcAft>
                <a:spcPts val="400"/>
              </a:spcAft>
            </a:pPr>
            <a:r>
              <a:rPr sz="1240" b="1" i="0">
                <a:solidFill>
                  <a:srgbClr val="16325C"/>
                </a:solidFill>
                <a:latin typeface="Calibri"/>
              </a:rPr>
              <a:t>30 to 50 parts with the price we actually paid</a:t>
            </a:r>
          </a:p>
        </p:txBody>
      </p:sp>
      <p:sp>
        <p:nvSpPr>
          <p:cNvPr id="15" name="TextBox 14"/>
          <p:cNvSpPr txBox="1"/>
          <p:nvPr/>
        </p:nvSpPr>
        <p:spPr>
          <a:xfrm>
            <a:off x="1883664" y="2029968"/>
            <a:ext cx="9509760" cy="402336"/>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Part, description, annual volume, where it was made, and the price paid. Existing purchase records will do. This is what turns "we think it is about right" into a number, and both options rest on it.</a:t>
            </a:r>
          </a:p>
        </p:txBody>
      </p:sp>
      <p:sp>
        <p:nvSpPr>
          <p:cNvPr id="16" name="Rounded Rectangle 15"/>
          <p:cNvSpPr/>
          <p:nvPr/>
        </p:nvSpPr>
        <p:spPr>
          <a:xfrm>
            <a:off x="411480" y="2560320"/>
            <a:ext cx="11365992" cy="8229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60320"/>
            <a:ext cx="68580" cy="8229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651760"/>
            <a:ext cx="420624" cy="420624"/>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2</a:t>
            </a:r>
          </a:p>
        </p:txBody>
      </p:sp>
      <p:sp>
        <p:nvSpPr>
          <p:cNvPr id="19" name="Oval 18"/>
          <p:cNvSpPr/>
          <p:nvPr/>
        </p:nvSpPr>
        <p:spPr>
          <a:xfrm>
            <a:off x="1261872" y="2651760"/>
            <a:ext cx="420624" cy="420624"/>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ins.png"/>
          <p:cNvPicPr>
            <a:picLocks noChangeAspect="1"/>
          </p:cNvPicPr>
          <p:nvPr/>
        </p:nvPicPr>
        <p:blipFill>
          <a:blip r:embed="rId3"/>
          <a:stretch>
            <a:fillRect/>
          </a:stretch>
        </p:blipFill>
        <p:spPr>
          <a:xfrm>
            <a:off x="1371234" y="2761122"/>
            <a:ext cx="201900" cy="201900"/>
          </a:xfrm>
          <a:prstGeom prst="rect">
            <a:avLst/>
          </a:prstGeom>
        </p:spPr>
      </p:pic>
      <p:sp>
        <p:nvSpPr>
          <p:cNvPr id="21" name="TextBox 20"/>
          <p:cNvSpPr txBox="1"/>
          <p:nvPr/>
        </p:nvSpPr>
        <p:spPr>
          <a:xfrm>
            <a:off x="1883664" y="2642616"/>
            <a:ext cx="9601200" cy="256032"/>
          </a:xfrm>
          <a:prstGeom prst="rect">
            <a:avLst/>
          </a:prstGeom>
          <a:noFill/>
        </p:spPr>
        <p:txBody>
          <a:bodyPr wrap="square" anchor="t" lIns="0" rIns="0" tIns="0" bIns="0">
            <a:spAutoFit/>
          </a:bodyPr>
          <a:lstStyle/>
          <a:p>
            <a:pPr algn="l">
              <a:lnSpc>
                <a:spcPct val="100000"/>
              </a:lnSpc>
              <a:spcAft>
                <a:spcPts val="400"/>
              </a:spcAft>
            </a:pPr>
            <a:r>
              <a:rPr sz="1240" b="1" i="0">
                <a:solidFill>
                  <a:srgbClr val="16325C"/>
                </a:solidFill>
                <a:latin typeface="Calibri"/>
              </a:rPr>
              <a:t>Our own rate data</a:t>
            </a:r>
          </a:p>
        </p:txBody>
      </p:sp>
      <p:sp>
        <p:nvSpPr>
          <p:cNvPr id="22" name="TextBox 21"/>
          <p:cNvSpPr txBox="1"/>
          <p:nvPr/>
        </p:nvSpPr>
        <p:spPr>
          <a:xfrm>
            <a:off x="1883664" y="2926080"/>
            <a:ext cx="9509760" cy="402336"/>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Material prices, machine rates per hour, labour by grade, electricity and gas. The Rate Converter loads JLR's rate card as exported, with no macros. Worth starting now.</a:t>
            </a:r>
          </a:p>
        </p:txBody>
      </p:sp>
      <p:sp>
        <p:nvSpPr>
          <p:cNvPr id="23" name="Rounded Rectangle 22"/>
          <p:cNvSpPr/>
          <p:nvPr/>
        </p:nvSpPr>
        <p:spPr>
          <a:xfrm>
            <a:off x="411480" y="3456432"/>
            <a:ext cx="11365992" cy="8229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456432"/>
            <a:ext cx="68580" cy="82296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547872"/>
            <a:ext cx="420624" cy="420624"/>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3</a:t>
            </a:r>
          </a:p>
        </p:txBody>
      </p:sp>
      <p:sp>
        <p:nvSpPr>
          <p:cNvPr id="26" name="Oval 25"/>
          <p:cNvSpPr/>
          <p:nvPr/>
        </p:nvSpPr>
        <p:spPr>
          <a:xfrm>
            <a:off x="1261872" y="3547872"/>
            <a:ext cx="420624" cy="420624"/>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og.png"/>
          <p:cNvPicPr>
            <a:picLocks noChangeAspect="1"/>
          </p:cNvPicPr>
          <p:nvPr/>
        </p:nvPicPr>
        <p:blipFill>
          <a:blip r:embed="rId4"/>
          <a:stretch>
            <a:fillRect/>
          </a:stretch>
        </p:blipFill>
        <p:spPr>
          <a:xfrm>
            <a:off x="1371234" y="3657234"/>
            <a:ext cx="201900" cy="201900"/>
          </a:xfrm>
          <a:prstGeom prst="rect">
            <a:avLst/>
          </a:prstGeom>
        </p:spPr>
      </p:pic>
      <p:sp>
        <p:nvSpPr>
          <p:cNvPr id="28" name="TextBox 27"/>
          <p:cNvSpPr txBox="1"/>
          <p:nvPr/>
        </p:nvSpPr>
        <p:spPr>
          <a:xfrm>
            <a:off x="1883664" y="3538728"/>
            <a:ext cx="9601200" cy="256032"/>
          </a:xfrm>
          <a:prstGeom prst="rect">
            <a:avLst/>
          </a:prstGeom>
          <a:noFill/>
        </p:spPr>
        <p:txBody>
          <a:bodyPr wrap="square" anchor="t" lIns="0" rIns="0" tIns="0" bIns="0">
            <a:spAutoFit/>
          </a:bodyPr>
          <a:lstStyle/>
          <a:p>
            <a:pPr algn="l">
              <a:lnSpc>
                <a:spcPct val="100000"/>
              </a:lnSpc>
              <a:spcAft>
                <a:spcPts val="400"/>
              </a:spcAft>
            </a:pPr>
            <a:r>
              <a:rPr sz="1240" b="1" i="0">
                <a:solidFill>
                  <a:srgbClr val="16325C"/>
                </a:solidFill>
                <a:latin typeface="Calibri"/>
              </a:rPr>
              <a:t>How CAPEE is built</a:t>
            </a:r>
          </a:p>
        </p:txBody>
      </p:sp>
      <p:sp>
        <p:nvSpPr>
          <p:cNvPr id="29" name="TextBox 28"/>
          <p:cNvSpPr txBox="1"/>
          <p:nvPr/>
        </p:nvSpPr>
        <p:spPr>
          <a:xfrm>
            <a:off x="1883664" y="3822192"/>
            <a:ext cx="9509760" cy="402336"/>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What it is written in, whether it can call another service on the network, and what kind of server it runs on. Three questions to IT. Unblocks Option 1.</a:t>
            </a:r>
          </a:p>
        </p:txBody>
      </p:sp>
      <p:sp>
        <p:nvSpPr>
          <p:cNvPr id="30" name="Rounded Rectangle 29"/>
          <p:cNvSpPr/>
          <p:nvPr/>
        </p:nvSpPr>
        <p:spPr>
          <a:xfrm>
            <a:off x="411480" y="4352544"/>
            <a:ext cx="11365992" cy="8229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1480" y="4352544"/>
            <a:ext cx="68580" cy="82296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8368" y="4443984"/>
            <a:ext cx="420624" cy="420624"/>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4</a:t>
            </a:r>
          </a:p>
        </p:txBody>
      </p:sp>
      <p:sp>
        <p:nvSpPr>
          <p:cNvPr id="33" name="Oval 32"/>
          <p:cNvSpPr/>
          <p:nvPr/>
        </p:nvSpPr>
        <p:spPr>
          <a:xfrm>
            <a:off x="1261872" y="4443984"/>
            <a:ext cx="420624" cy="420624"/>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hield.png"/>
          <p:cNvPicPr>
            <a:picLocks noChangeAspect="1"/>
          </p:cNvPicPr>
          <p:nvPr/>
        </p:nvPicPr>
        <p:blipFill>
          <a:blip r:embed="rId5"/>
          <a:stretch>
            <a:fillRect/>
          </a:stretch>
        </p:blipFill>
        <p:spPr>
          <a:xfrm>
            <a:off x="1371234" y="4553346"/>
            <a:ext cx="201900" cy="201900"/>
          </a:xfrm>
          <a:prstGeom prst="rect">
            <a:avLst/>
          </a:prstGeom>
        </p:spPr>
      </p:pic>
      <p:sp>
        <p:nvSpPr>
          <p:cNvPr id="35" name="TextBox 34"/>
          <p:cNvSpPr txBox="1"/>
          <p:nvPr/>
        </p:nvSpPr>
        <p:spPr>
          <a:xfrm>
            <a:off x="1883664" y="4434840"/>
            <a:ext cx="9601200" cy="256032"/>
          </a:xfrm>
          <a:prstGeom prst="rect">
            <a:avLst/>
          </a:prstGeom>
          <a:noFill/>
        </p:spPr>
        <p:txBody>
          <a:bodyPr wrap="square" anchor="t" lIns="0" rIns="0" tIns="0" bIns="0">
            <a:spAutoFit/>
          </a:bodyPr>
          <a:lstStyle/>
          <a:p>
            <a:pPr algn="l">
              <a:lnSpc>
                <a:spcPct val="100000"/>
              </a:lnSpc>
              <a:spcAft>
                <a:spcPts val="400"/>
              </a:spcAft>
            </a:pPr>
            <a:r>
              <a:rPr sz="1240" b="1" i="0">
                <a:solidFill>
                  <a:srgbClr val="16325C"/>
                </a:solidFill>
                <a:latin typeface="Calibri"/>
              </a:rPr>
              <a:t>Agreement that AI stays off</a:t>
            </a:r>
          </a:p>
        </p:txBody>
      </p:sp>
      <p:sp>
        <p:nvSpPr>
          <p:cNvPr id="36" name="TextBox 35"/>
          <p:cNvSpPr txBox="1"/>
          <p:nvPr/>
        </p:nvSpPr>
        <p:spPr>
          <a:xfrm>
            <a:off x="1883664" y="4718304"/>
            <a:ext cx="9509760" cy="402336"/>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Neither option needs AI, and the JLR build has no API key. If we want the AI features later, that is a separate approval.</a:t>
            </a:r>
          </a:p>
        </p:txBody>
      </p:sp>
      <p:sp>
        <p:nvSpPr>
          <p:cNvPr id="37" name="Rounded Rectangle 36"/>
          <p:cNvSpPr/>
          <p:nvPr/>
        </p:nvSpPr>
        <p:spPr>
          <a:xfrm>
            <a:off x="411480" y="5248656"/>
            <a:ext cx="11365992" cy="8229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11480" y="5248656"/>
            <a:ext cx="68580" cy="82296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8368" y="5340096"/>
            <a:ext cx="420624" cy="420624"/>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700" b="1">
                <a:solidFill>
                  <a:srgbClr val="FFFFFF"/>
                </a:solidFill>
                <a:latin typeface="Calibri"/>
              </a:rPr>
              <a:t>5</a:t>
            </a:r>
          </a:p>
        </p:txBody>
      </p:sp>
      <p:sp>
        <p:nvSpPr>
          <p:cNvPr id="40" name="Oval 39"/>
          <p:cNvSpPr/>
          <p:nvPr/>
        </p:nvSpPr>
        <p:spPr>
          <a:xfrm>
            <a:off x="1261872" y="5340096"/>
            <a:ext cx="420624" cy="420624"/>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erson.png"/>
          <p:cNvPicPr>
            <a:picLocks noChangeAspect="1"/>
          </p:cNvPicPr>
          <p:nvPr/>
        </p:nvPicPr>
        <p:blipFill>
          <a:blip r:embed="rId6"/>
          <a:stretch>
            <a:fillRect/>
          </a:stretch>
        </p:blipFill>
        <p:spPr>
          <a:xfrm>
            <a:off x="1371234" y="5449458"/>
            <a:ext cx="201900" cy="201900"/>
          </a:xfrm>
          <a:prstGeom prst="rect">
            <a:avLst/>
          </a:prstGeom>
        </p:spPr>
      </p:pic>
      <p:sp>
        <p:nvSpPr>
          <p:cNvPr id="42" name="TextBox 41"/>
          <p:cNvSpPr txBox="1"/>
          <p:nvPr/>
        </p:nvSpPr>
        <p:spPr>
          <a:xfrm>
            <a:off x="1883664" y="5330952"/>
            <a:ext cx="9601200" cy="256032"/>
          </a:xfrm>
          <a:prstGeom prst="rect">
            <a:avLst/>
          </a:prstGeom>
          <a:noFill/>
        </p:spPr>
        <p:txBody>
          <a:bodyPr wrap="square" anchor="t" lIns="0" rIns="0" tIns="0" bIns="0">
            <a:spAutoFit/>
          </a:bodyPr>
          <a:lstStyle/>
          <a:p>
            <a:pPr algn="l">
              <a:lnSpc>
                <a:spcPct val="100000"/>
              </a:lnSpc>
              <a:spcAft>
                <a:spcPts val="400"/>
              </a:spcAft>
            </a:pPr>
            <a:r>
              <a:rPr sz="1240" b="1" i="0">
                <a:solidFill>
                  <a:srgbClr val="16325C"/>
                </a:solidFill>
                <a:latin typeface="Calibri"/>
              </a:rPr>
              <a:t>A team and one part type for the trial</a:t>
            </a:r>
          </a:p>
        </p:txBody>
      </p:sp>
      <p:sp>
        <p:nvSpPr>
          <p:cNvPr id="43" name="TextBox 42"/>
          <p:cNvSpPr txBox="1"/>
          <p:nvPr/>
        </p:nvSpPr>
        <p:spPr>
          <a:xfrm>
            <a:off x="1883664" y="5614416"/>
            <a:ext cx="9509760" cy="402336"/>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One cost engineer and one commodity family for the duration. Machined parts or pressings would be my choice.</a:t>
            </a:r>
          </a:p>
        </p:txBody>
      </p:sp>
      <p:sp>
        <p:nvSpPr>
          <p:cNvPr id="44" name="Rounded Rectangle 43"/>
          <p:cNvSpPr/>
          <p:nvPr/>
        </p:nvSpPr>
        <p:spPr>
          <a:xfrm>
            <a:off x="411480" y="6217920"/>
            <a:ext cx="11365992" cy="603504"/>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1480" y="6217920"/>
            <a:ext cx="68580" cy="60350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 y="6336792"/>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The first two do not wait on any decision made today</a:t>
            </a:r>
          </a:p>
        </p:txBody>
      </p:sp>
      <p:sp>
        <p:nvSpPr>
          <p:cNvPr id="47" name="TextBox 46"/>
          <p:cNvSpPr txBox="1"/>
          <p:nvPr/>
        </p:nvSpPr>
        <p:spPr>
          <a:xfrm>
            <a:off x="630936" y="6620256"/>
            <a:ext cx="10954512" cy="10972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Purchase records and our own rates are useful whichever way this goes.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SHOULD-COST  ENGINEERING</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APPENDIX</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Where the numbers come from</a:t>
            </a:r>
          </a:p>
        </p:txBody>
      </p:sp>
      <p:sp>
        <p:nvSpPr>
          <p:cNvPr id="9" name="TextBox 8"/>
          <p:cNvSpPr txBox="1"/>
          <p:nvPr/>
        </p:nvSpPr>
        <p:spPr>
          <a:xfrm>
            <a:off x="411480" y="1536192"/>
            <a:ext cx="11338560" cy="292608"/>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Every count in this pack was checked against the software on 28 September 2026.</a:t>
            </a:r>
          </a:p>
        </p:txBody>
      </p:sp>
      <p:sp>
        <p:nvSpPr>
          <p:cNvPr id="10" name="Rectangle 9"/>
          <p:cNvSpPr/>
          <p:nvPr/>
        </p:nvSpPr>
        <p:spPr>
          <a:xfrm>
            <a:off x="411480" y="1965960"/>
            <a:ext cx="539496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048256"/>
            <a:ext cx="524865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Statement</a:t>
            </a:r>
          </a:p>
        </p:txBody>
      </p:sp>
      <p:sp>
        <p:nvSpPr>
          <p:cNvPr id="12" name="Rectangle 11"/>
          <p:cNvSpPr/>
          <p:nvPr/>
        </p:nvSpPr>
        <p:spPr>
          <a:xfrm>
            <a:off x="5806440" y="1965960"/>
            <a:ext cx="5971032"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88736" y="2048256"/>
            <a:ext cx="5824728"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How it was checked</a:t>
            </a:r>
          </a:p>
        </p:txBody>
      </p:sp>
      <p:sp>
        <p:nvSpPr>
          <p:cNvPr id="14" name="Rectangle 13"/>
          <p:cNvSpPr/>
          <p:nvPr/>
        </p:nvSpPr>
        <p:spPr>
          <a:xfrm>
            <a:off x="411480" y="2295144"/>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 y="2359152"/>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19 manufacturing processes; 13 costed from CAD</a:t>
            </a:r>
          </a:p>
        </p:txBody>
      </p:sp>
      <p:sp>
        <p:nvSpPr>
          <p:cNvPr id="16" name="Rectangle 15"/>
          <p:cNvSpPr/>
          <p:nvPr/>
        </p:nvSpPr>
        <p:spPr>
          <a:xfrm>
            <a:off x="5806440" y="2295144"/>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88736" y="2359152"/>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Commodity modules and CAD rule packs in the code</a:t>
            </a:r>
          </a:p>
        </p:txBody>
      </p:sp>
      <p:sp>
        <p:nvSpPr>
          <p:cNvPr id="18" name="Rectangle 17"/>
          <p:cNvSpPr/>
          <p:nvPr/>
        </p:nvSpPr>
        <p:spPr>
          <a:xfrm>
            <a:off x="411480" y="2560320"/>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2624328"/>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About 12 to 70 values typed per part</a:t>
            </a:r>
          </a:p>
        </p:txBody>
      </p:sp>
      <p:sp>
        <p:nvSpPr>
          <p:cNvPr id="20" name="Rectangle 19"/>
          <p:cNvSpPr/>
          <p:nvPr/>
        </p:nvSpPr>
        <p:spPr>
          <a:xfrm>
            <a:off x="5806440" y="2560320"/>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88736" y="2624328"/>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Rough count of the input fields on CostVision's own forms, by commodity</a:t>
            </a:r>
          </a:p>
        </p:txBody>
      </p:sp>
      <p:sp>
        <p:nvSpPr>
          <p:cNvPr id="22" name="Rectangle 21"/>
          <p:cNvSpPr/>
          <p:nvPr/>
        </p:nvSpPr>
        <p:spPr>
          <a:xfrm>
            <a:off x="411480" y="2825496"/>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2889504"/>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Engine matches a hand calculation to under 0.01%</a:t>
            </a:r>
          </a:p>
        </p:txBody>
      </p:sp>
      <p:sp>
        <p:nvSpPr>
          <p:cNvPr id="24" name="Rectangle 23"/>
          <p:cNvSpPr/>
          <p:nvPr/>
        </p:nvSpPr>
        <p:spPr>
          <a:xfrm>
            <a:off x="5806440" y="2825496"/>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2889504"/>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Reference machined bracket, £24.34, pinned in an automated test</a:t>
            </a:r>
          </a:p>
        </p:txBody>
      </p:sp>
      <p:sp>
        <p:nvSpPr>
          <p:cNvPr id="26" name="Rectangle 25"/>
          <p:cNvSpPr/>
          <p:nvPr/>
        </p:nvSpPr>
        <p:spPr>
          <a:xfrm>
            <a:off x="411480" y="3090672"/>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3154680"/>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6 real production parts pinned</a:t>
            </a:r>
          </a:p>
        </p:txBody>
      </p:sp>
      <p:sp>
        <p:nvSpPr>
          <p:cNvPr id="28" name="Rectangle 27"/>
          <p:cNvSpPr/>
          <p:nvPr/>
        </p:nvSpPr>
        <p:spPr>
          <a:xfrm>
            <a:off x="5806440" y="3090672"/>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8736" y="3154680"/>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A change that moves any of them fails the build</a:t>
            </a:r>
          </a:p>
        </p:txBody>
      </p:sp>
      <p:sp>
        <p:nvSpPr>
          <p:cNvPr id="30" name="Rectangle 29"/>
          <p:cNvSpPr/>
          <p:nvPr/>
        </p:nvSpPr>
        <p:spPr>
          <a:xfrm>
            <a:off x="411480" y="3355848"/>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 y="3419856"/>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2,438 automated tests</a:t>
            </a:r>
          </a:p>
        </p:txBody>
      </p:sp>
      <p:sp>
        <p:nvSpPr>
          <p:cNvPr id="32" name="Rectangle 31"/>
          <p:cNvSpPr/>
          <p:nvPr/>
        </p:nvSpPr>
        <p:spPr>
          <a:xfrm>
            <a:off x="5806440" y="3355848"/>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88736" y="3419856"/>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Plus browser tests that cost every commodity and export Excel and PDF</a:t>
            </a:r>
          </a:p>
        </p:txBody>
      </p:sp>
      <p:sp>
        <p:nvSpPr>
          <p:cNvPr id="34" name="Rectangle 33"/>
          <p:cNvSpPr/>
          <p:nvPr/>
        </p:nvSpPr>
        <p:spPr>
          <a:xfrm>
            <a:off x="411480" y="3621024"/>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 y="3685032"/>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Measuring makes no internet connection</a:t>
            </a:r>
          </a:p>
        </p:txBody>
      </p:sp>
      <p:sp>
        <p:nvSpPr>
          <p:cNvPr id="36" name="Rectangle 35"/>
          <p:cNvSpPr/>
          <p:nvPr/>
        </p:nvSpPr>
        <p:spPr>
          <a:xfrm>
            <a:off x="5806440" y="3621024"/>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88736" y="3685032"/>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Windows package runs offline and listens on this laptop only (127.0.0.1)</a:t>
            </a:r>
          </a:p>
        </p:txBody>
      </p:sp>
      <p:sp>
        <p:nvSpPr>
          <p:cNvPr id="38" name="Rectangle 37"/>
          <p:cNvSpPr/>
          <p:nvPr/>
        </p:nvSpPr>
        <p:spPr>
          <a:xfrm>
            <a:off x="411480" y="3886200"/>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 y="3950208"/>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AI needs an API key in the JLR build</a:t>
            </a:r>
          </a:p>
        </p:txBody>
      </p:sp>
      <p:sp>
        <p:nvSpPr>
          <p:cNvPr id="40" name="Rectangle 39"/>
          <p:cNvSpPr/>
          <p:nvPr/>
        </p:nvSpPr>
        <p:spPr>
          <a:xfrm>
            <a:off x="5806440" y="3886200"/>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88736" y="3950208"/>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No key in the package; AI screens are hidden until one is added</a:t>
            </a:r>
          </a:p>
        </p:txBody>
      </p:sp>
      <p:sp>
        <p:nvSpPr>
          <p:cNvPr id="42" name="Rectangle 41"/>
          <p:cNvSpPr/>
          <p:nvPr/>
        </p:nvSpPr>
        <p:spPr>
          <a:xfrm>
            <a:off x="411480" y="4151376"/>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 y="4215384"/>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A bulk run exists, with no AI</a:t>
            </a:r>
          </a:p>
        </p:txBody>
      </p:sp>
      <p:sp>
        <p:nvSpPr>
          <p:cNvPr id="44" name="Rectangle 43"/>
          <p:cNvSpPr/>
          <p:nvPr/>
        </p:nvSpPr>
        <p:spPr>
          <a:xfrm>
            <a:off x="5806440" y="4151376"/>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88736" y="4215384"/>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Command-line run: results, open questions and a run record</a:t>
            </a:r>
          </a:p>
        </p:txBody>
      </p:sp>
      <p:sp>
        <p:nvSpPr>
          <p:cNvPr id="46" name="Rectangle 45"/>
          <p:cNvSpPr/>
          <p:nvPr/>
        </p:nvSpPr>
        <p:spPr>
          <a:xfrm>
            <a:off x="411480" y="4416552"/>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 y="4480560"/>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Every rate book is kept</a:t>
            </a:r>
          </a:p>
        </p:txBody>
      </p:sp>
      <p:sp>
        <p:nvSpPr>
          <p:cNvPr id="48" name="Rectangle 47"/>
          <p:cNvSpPr/>
          <p:nvPr/>
        </p:nvSpPr>
        <p:spPr>
          <a:xfrm>
            <a:off x="5806440" y="4416552"/>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88736" y="4480560"/>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Stored by a content fingerprint, so a past costing can be redone</a:t>
            </a:r>
          </a:p>
        </p:txBody>
      </p:sp>
      <p:sp>
        <p:nvSpPr>
          <p:cNvPr id="50" name="Rectangle 49"/>
          <p:cNvSpPr/>
          <p:nvPr/>
        </p:nvSpPr>
        <p:spPr>
          <a:xfrm>
            <a:off x="411480" y="4681728"/>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3776" y="4745736"/>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Line counts on slide 7</a:t>
            </a:r>
          </a:p>
        </p:txBody>
      </p:sp>
      <p:sp>
        <p:nvSpPr>
          <p:cNvPr id="52" name="Rectangle 51"/>
          <p:cNvSpPr/>
          <p:nvPr/>
        </p:nvSpPr>
        <p:spPr>
          <a:xfrm>
            <a:off x="5806440" y="4681728"/>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88736" y="4745736"/>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Counted in the source files on 28 September 2026, rounded</a:t>
            </a:r>
          </a:p>
        </p:txBody>
      </p:sp>
      <p:sp>
        <p:nvSpPr>
          <p:cNvPr id="54" name="Rectangle 53"/>
          <p:cNvSpPr/>
          <p:nvPr/>
        </p:nvSpPr>
        <p:spPr>
          <a:xfrm>
            <a:off x="411480" y="4946904"/>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93776" y="5010912"/>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Settings values on slide 9</a:t>
            </a:r>
          </a:p>
        </p:txBody>
      </p:sp>
      <p:sp>
        <p:nvSpPr>
          <p:cNvPr id="56" name="Rectangle 55"/>
          <p:cNvSpPr/>
          <p:nvPr/>
        </p:nvSpPr>
        <p:spPr>
          <a:xfrm>
            <a:off x="5806440" y="4946904"/>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88736" y="5010912"/>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Read off the software; each is a single defined value</a:t>
            </a:r>
          </a:p>
        </p:txBody>
      </p:sp>
      <p:sp>
        <p:nvSpPr>
          <p:cNvPr id="58" name="Rectangle 57"/>
          <p:cNvSpPr/>
          <p:nvPr/>
        </p:nvSpPr>
        <p:spPr>
          <a:xfrm>
            <a:off x="411480" y="5212080"/>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93776" y="5276088"/>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328 materials, 178 machines, 42 labour grades</a:t>
            </a:r>
          </a:p>
        </p:txBody>
      </p:sp>
      <p:sp>
        <p:nvSpPr>
          <p:cNvPr id="60" name="Rectangle 59"/>
          <p:cNvSpPr/>
          <p:nvPr/>
        </p:nvSpPr>
        <p:spPr>
          <a:xfrm>
            <a:off x="5806440" y="5212080"/>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888736" y="5276088"/>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Rate library 2.1.0, dated 16 June 2026</a:t>
            </a:r>
          </a:p>
        </p:txBody>
      </p:sp>
      <p:sp>
        <p:nvSpPr>
          <p:cNvPr id="62" name="Rectangle 61"/>
          <p:cNvSpPr/>
          <p:nvPr/>
        </p:nvSpPr>
        <p:spPr>
          <a:xfrm>
            <a:off x="411480" y="5477256"/>
            <a:ext cx="5394960"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93776" y="5541264"/>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20 manufacturing regions</a:t>
            </a:r>
          </a:p>
        </p:txBody>
      </p:sp>
      <p:sp>
        <p:nvSpPr>
          <p:cNvPr id="64" name="Rectangle 63"/>
          <p:cNvSpPr/>
          <p:nvPr/>
        </p:nvSpPr>
        <p:spPr>
          <a:xfrm>
            <a:off x="5806440" y="5477256"/>
            <a:ext cx="5971032" cy="26517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88736" y="5541264"/>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Europe, UK, Turkey, the Americas and Asia, in the rate model</a:t>
            </a:r>
          </a:p>
        </p:txBody>
      </p:sp>
      <p:sp>
        <p:nvSpPr>
          <p:cNvPr id="66" name="Rectangle 65"/>
          <p:cNvSpPr/>
          <p:nvPr/>
        </p:nvSpPr>
        <p:spPr>
          <a:xfrm>
            <a:off x="411480" y="5742432"/>
            <a:ext cx="5394960"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93776" y="5806440"/>
            <a:ext cx="5248656"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Sign-in and per-user data</a:t>
            </a:r>
          </a:p>
        </p:txBody>
      </p:sp>
      <p:sp>
        <p:nvSpPr>
          <p:cNvPr id="68" name="Rectangle 67"/>
          <p:cNvSpPr/>
          <p:nvPr/>
        </p:nvSpPr>
        <p:spPr>
          <a:xfrm>
            <a:off x="5806440" y="5742432"/>
            <a:ext cx="5971032" cy="26517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88736" y="5806440"/>
            <a:ext cx="5824728" cy="173736"/>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Users see only their own saved work; a reset ends every old session</a:t>
            </a:r>
          </a:p>
        </p:txBody>
      </p:sp>
      <p:sp>
        <p:nvSpPr>
          <p:cNvPr id="70" name="Rounded Rectangle 69"/>
          <p:cNvSpPr/>
          <p:nvPr/>
        </p:nvSpPr>
        <p:spPr>
          <a:xfrm>
            <a:off x="411480" y="6199632"/>
            <a:ext cx="11365992" cy="603504"/>
          </a:xfrm>
          <a:prstGeom prst="roundRect">
            <a:avLst>
              <a:gd name="adj" fmla="val 12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11480" y="6199632"/>
            <a:ext cx="68580" cy="603504"/>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0936" y="6318504"/>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99651A"/>
                </a:solidFill>
                <a:latin typeface="Calibri"/>
              </a:rPr>
              <a:t>One number we deliberately do not show</a:t>
            </a:r>
          </a:p>
        </p:txBody>
      </p:sp>
      <p:sp>
        <p:nvSpPr>
          <p:cNvPr id="73" name="TextBox 72"/>
          <p:cNvSpPr txBox="1"/>
          <p:nvPr/>
        </p:nvSpPr>
        <p:spPr>
          <a:xfrm>
            <a:off x="630936" y="6601968"/>
            <a:ext cx="10954512" cy="10972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Accuracy against real prices. The tool learns from logged actual prices, but none from JLR are loaded yet. That is ask number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