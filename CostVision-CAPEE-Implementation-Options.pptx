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built a tool called CostVision. The question today is how we get it working inside JLR. There are two sensible ways to do it and I will take you through both. I will also be straight about where the tool is not finished. One thing to say up front: there are no dates in this deck. Nobody in IT or the business has sized any of this yet, so any timeline I put up would be made up. What I can show you is what order the work has to happen in and what has to wait on what.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options. On the left, CAPEE keeps doing the costing and we feed it the input numbers automatically. On the right, we put CostVision in as it is and load our own rates. I would do the second one first. It is smaller, we can stop it if it is not working, and it tells us whether the tool is actually right on our parts. That is also why the deck goes through Option 2 first. The amber box I want on the record now. This tool has never been compared against a price we have paid. Until we do that I cannot tell you how accurate it is and I would not put it in front of a supplier.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get into the options, here is where the tool honestly is. Left side is working today and I checked every line of it against the software this month. Nineteen part types cost properly. The maths repeats. It measures models with no internet connection, which is the first thing IT security will ask about. Right side is what is not done. The top one is the big one and I will keep coming back to it. Below that, it does not keep a history when someone changes a rate and it does not save finished costings. So today you could not go back and reproduce a costing from three months ago. For anything audited we have to fix that. And we are still working on it. Three faults last month.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case for doing anything at all. Everything on the left is typed in by hand today. The time it takes matters. The second point matters more. Two of our engineers costing the same part will not type the same numbers, so we end up with two answers for one part. On the right is what the tool does instead. The blue box is the bit I want people to hold on to. Measuring the model is ordinary software doing geometry. The AI only reads the writing on the drawing, and we check everything it reads.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 2 on one slide. Top row is what an engineer actually does. Sign in with a JLR login, put in a model or fill the form, pick the part type, and out comes a costed answer with a report. Underneath is the setup order and who does what. Look at the two bands. The top one is us and it is fairly straightforward. The bottom one is JLR and the third box is the real work: gathering our own rates. I want to be clear that the software side of this is the easy bit. What sets the pace is how quickly we can pull our numbers together.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columns. Left, what stays exactly as it is, and note that is nineteen part types in the tool itself. Middle, the numbers we swap for ours. Right, what still has to be built, and I have labelled that honestly because none of it exists today. The blue box is the reassuring engineering point. The rate book gets handed to the tool from outside rather than being built in, and there is already a screen for uploading one, so putting our numbers in is a setup job. The amber box is the one to take seriously. Until the rate history and saved costings are built you could not reproduce a costing from three months ago, and that rules it out for anything audited.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steps. Step three sets the pace, and it is our work rather than software work, so I would rather flag it now than have it catch us out later. Step four is the most valuable step in either option. Thirty to fifty parts we have actually bought, compared against what the tool says. That is what lets me come back and tell you how accurate it is instead of saying we think it is about right.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Option 1, on one slide. Top row is what happens each time somebody costs a part. The engineer hands over the model and drawing from inside CAPEE. Software measures the model, the AI reads the drawing, the safety checks compare the two. A few things no model can show, like heat treatment, the engineer confirms. Then CAPEE gets the numbers and costs the part exactly as it does now. Underneath is the build order and who does what. I have deliberately not put weeks against these. Nobody has sized this yet, and the connection step in particular waits on an answer we do not have.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 job like this the temptation is to take the measuring and the AI and leave what looks like plumbing till later. These four checks are what make the rest safe. The first one is the one to remember. If the AI and the measured model disagree, the model wins. The last one matters for a different reason. Where the tool cannot know something it asks rather than guessing, and it never pre-ticks its own answer. The red box is from our own review last month. We found a route with no checks that gave back a nonsense figure while saying it had worked. We fixed it, and it is why I am putting the checks in the scope.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asked what would actually get handed over. Six things, and the sizes come straight out of the software. The measuring engine is Python, which is the normal choice for measurement work. The rest is TypeScript, common in business software. Neither is odd and neither ties us to one supplier. The bottom row is the settings list, which is the next slide. The amber box is the one practical thing worth raising with IT now, because it decides where this can live.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Hardcoded values is a phrase that means nothing on its own, so here are six real ones. Look at the third row. A rejected plated part costs about four and a half times a good one, because you strip it and start again. That is why a three percent reject rate is closer to thirteen percent on cost. That is an engineering judgement and exactly the sort of thing you would challenge in a review, so it should not be buried in code. We pull every one of them into a single list you can read and change. The amber box is the caveat. These are our estimates, not measurements from one of our plants.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cannot give you one answer because nobody has told us how CAPEE is built. Rather than hold everything up, here are all three routes. All of them work. What changes is how much effort each takes, and I have shown that against each other rather than in weeks, because none of this has been sized. If you made me pick blind I would take route B, running it alongside, because it works whatever CAPEE is and we can improve our side without disturbing it. The three questions in amber are what I need from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steps in the order they have to happen. Two worth pulling out. Step three is the settings list, signed off before anything gets costed with it. Step four is the safety checks, and I have given them a step of their own so they do not get folded into the connection work and squeezed. The blue box is useful for planning. Steps one and two can run at the same time, because standing up the measuring software does not depend on knowing how CAPEE is built. Only step five does.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half is fairly even and each option wins a few rows. The last three are the ones that matter. Option 2 tells us how accurate the tool is. Option 1 cannot, because CAPEE does the costing. Option 2 we can stop. Option 1 is wired into CAPEE and much harder to unpick. And Option 2 is not waiting on anybody, whereas Option 1 is stuck until IT tell us how CAPEE is built.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would treat these as a sequence rather than a straight choice. First Option 2. Install it, load our rates, compare it against parts we have already bought. Then we decide, with an accuracy figure in hand and IT's answer on CAPEE. Then Option 1, scaling up something we know works. If we can only fund one, take Option 2. Option 1 saves typing on a process we already have. Option 2 gives us something we do not have at all.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items. The top two are what would stop me putting this in front of a supplier today. We have never compared it against a price we paid, and it cannot reproduce a costing from three months ago. Doing Option 2 deals with both. The third one is waiting on IT. The last row I want to say plainly. The tool is still being worked on, we found and fixed three faults last month, so for any trial we pin a version and stay on it. And note the CAD file itself never leaves the server.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The first is the one I will keep coming back to. Thirty to fifty parts where we know what we paid. Purchase records are fine. Without it I cannot tell anyone how accurate this is, and that is the first question we will get asked. The second is our own rates, worth starting whichever option we pick. The third is three questions to IT. The fourth is a security decision, and either answer works for us.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instead of a timeline, because putting dates up would mean making them up. What is real is the order. Rate data has to come before we can check accuracy. We have to know how accurate it is before I would commit to Option 1. The amber strip is work that can run alongside and holds nothing up: the security review, the answer from IT, standing up the measuring software, writing out the settings. The four lines at the bottom are the hard ones. The last one is the one to watch, because it decides whether we can use this for anything that gets audited.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for anyone who wants to know how we know. Every claim was checked against the software rather than assumed. Two worth pointing at. The costing gives the same answer every time, which sounds obvious but is not true of every tool. And the fourth row is the answer to the first question IT security will ask. We checked every line of the measuring software for internet connections and there are none.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5.png"/><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9.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0.png"/><Relationship Id="rId4" Type="http://schemas.openxmlformats.org/officeDocument/2006/relationships/image" Target="../media/image3.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8.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12.png"/><Relationship Id="rId6" Type="http://schemas.openxmlformats.org/officeDocument/2006/relationships/image" Target="../media/image9.png"/><Relationship Id="rId7" Type="http://schemas.openxmlformats.org/officeDocument/2006/relationships/image" Target="../media/image5.png"/><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457200"/>
            <a:ext cx="441655" cy="441655"/>
          </a:xfrm>
          <a:prstGeom prst="roundRect">
            <a:avLst>
              <a:gd name="adj" fmla="val 2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54" b="1">
                <a:solidFill>
                  <a:srgbClr val="16325C"/>
                </a:solidFill>
                <a:latin typeface="Calibri"/>
              </a:rPr>
              <a:t>cv</a:t>
            </a:r>
          </a:p>
        </p:txBody>
      </p:sp>
      <p:sp>
        <p:nvSpPr>
          <p:cNvPr id="5" name="TextBox 4"/>
          <p:cNvSpPr txBox="1"/>
          <p:nvPr/>
        </p:nvSpPr>
        <p:spPr>
          <a:xfrm>
            <a:off x="1049731" y="425654"/>
            <a:ext cx="2377440" cy="292608"/>
          </a:xfrm>
          <a:prstGeom prst="rect">
            <a:avLst/>
          </a:prstGeom>
          <a:noFill/>
        </p:spPr>
        <p:txBody>
          <a:bodyPr wrap="square" anchor="t" lIns="0" rIns="0" tIns="0" bIns="0">
            <a:spAutoFit/>
          </a:bodyPr>
          <a:lstStyle/>
          <a:p>
            <a:pPr algn="l">
              <a:lnSpc>
                <a:spcPct val="100000"/>
              </a:lnSpc>
              <a:spcAft>
                <a:spcPts val="400"/>
              </a:spcAft>
            </a:pPr>
            <a:r>
              <a:rPr sz="2070" b="1" i="0">
                <a:solidFill>
                  <a:srgbClr val="FFFFFF"/>
                </a:solidFill>
                <a:latin typeface="Calibri"/>
              </a:rPr>
              <a:t>CostVision</a:t>
            </a:r>
          </a:p>
        </p:txBody>
      </p:sp>
      <p:sp>
        <p:nvSpPr>
          <p:cNvPr id="6" name="TextBox 5"/>
          <p:cNvSpPr txBox="1"/>
          <p:nvPr/>
        </p:nvSpPr>
        <p:spPr>
          <a:xfrm>
            <a:off x="1049731" y="709574"/>
            <a:ext cx="2560320" cy="201168"/>
          </a:xfrm>
          <a:prstGeom prst="rect">
            <a:avLst/>
          </a:prstGeom>
          <a:noFill/>
        </p:spPr>
        <p:txBody>
          <a:bodyPr wrap="square" anchor="t" lIns="0" rIns="0" tIns="0" bIns="0">
            <a:spAutoFit/>
          </a:bodyPr>
          <a:lstStyle/>
          <a:p>
            <a:pPr algn="l">
              <a:lnSpc>
                <a:spcPct val="100000"/>
              </a:lnSpc>
              <a:spcAft>
                <a:spcPts val="400"/>
              </a:spcAft>
            </a:pPr>
            <a:r>
              <a:rPr sz="862" b="0" i="0">
                <a:solidFill>
                  <a:srgbClr val="8FA3CC"/>
                </a:solidFill>
                <a:latin typeface="Calibri"/>
              </a:rPr>
              <a:t>AI  COST  INTELLIGENCE</a:t>
            </a:r>
          </a:p>
        </p:txBody>
      </p:sp>
      <p:sp>
        <p:nvSpPr>
          <p:cNvPr id="7" name="TextBox 6"/>
          <p:cNvSpPr txBox="1"/>
          <p:nvPr/>
        </p:nvSpPr>
        <p:spPr>
          <a:xfrm>
            <a:off x="548640" y="1874519"/>
            <a:ext cx="10607040" cy="1280160"/>
          </a:xfrm>
          <a:prstGeom prst="rect">
            <a:avLst/>
          </a:prstGeom>
          <a:noFill/>
        </p:spPr>
        <p:txBody>
          <a:bodyPr wrap="square" anchor="t" lIns="0" rIns="0" tIns="0" bIns="0">
            <a:spAutoFit/>
          </a:bodyPr>
          <a:lstStyle/>
          <a:p>
            <a:pPr algn="l">
              <a:lnSpc>
                <a:spcPct val="100000"/>
              </a:lnSpc>
              <a:spcAft>
                <a:spcPts val="400"/>
              </a:spcAft>
            </a:pPr>
            <a:r>
              <a:rPr sz="4000" b="1" i="0">
                <a:solidFill>
                  <a:srgbClr val="FFFFFF"/>
                </a:solidFill>
                <a:latin typeface="Cambria"/>
              </a:rPr>
              <a:t>CostVision and CAPEE</a:t>
            </a:r>
          </a:p>
        </p:txBody>
      </p:sp>
      <p:sp>
        <p:nvSpPr>
          <p:cNvPr id="8" name="TextBox 7"/>
          <p:cNvSpPr txBox="1"/>
          <p:nvPr/>
        </p:nvSpPr>
        <p:spPr>
          <a:xfrm>
            <a:off x="548640" y="2788920"/>
            <a:ext cx="10424160" cy="548640"/>
          </a:xfrm>
          <a:prstGeom prst="rect">
            <a:avLst/>
          </a:prstGeom>
          <a:noFill/>
        </p:spPr>
        <p:txBody>
          <a:bodyPr wrap="square" anchor="t" lIns="0" rIns="0" tIns="0" bIns="0">
            <a:spAutoFit/>
          </a:bodyPr>
          <a:lstStyle/>
          <a:p>
            <a:pPr algn="l">
              <a:lnSpc>
                <a:spcPct val="100000"/>
              </a:lnSpc>
              <a:spcAft>
                <a:spcPts val="400"/>
              </a:spcAft>
            </a:pPr>
            <a:r>
              <a:rPr sz="1600" b="0" i="0">
                <a:solidFill>
                  <a:srgbClr val="CADCFC"/>
                </a:solidFill>
                <a:latin typeface="Calibri"/>
              </a:rPr>
              <a:t>Two ways we could use the tool, what each one needs from us, and which one I would do first</a:t>
            </a:r>
          </a:p>
        </p:txBody>
      </p:sp>
      <p:sp>
        <p:nvSpPr>
          <p:cNvPr id="9" name="Rectangle 8"/>
          <p:cNvSpPr/>
          <p:nvPr/>
        </p:nvSpPr>
        <p:spPr>
          <a:xfrm>
            <a:off x="548640" y="3611880"/>
            <a:ext cx="3017520" cy="3175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66928" y="3931920"/>
            <a:ext cx="502920" cy="50292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1" name="TextBox 10"/>
          <p:cNvSpPr txBox="1"/>
          <p:nvPr/>
        </p:nvSpPr>
        <p:spPr>
          <a:xfrm>
            <a:off x="1280160" y="3950208"/>
            <a:ext cx="9875520" cy="274320"/>
          </a:xfrm>
          <a:prstGeom prst="rect">
            <a:avLst/>
          </a:prstGeom>
          <a:noFill/>
        </p:spPr>
        <p:txBody>
          <a:bodyPr wrap="square" anchor="t" lIns="0" rIns="0" tIns="0" bIns="0">
            <a:spAutoFit/>
          </a:bodyPr>
          <a:lstStyle/>
          <a:p>
            <a:pPr algn="l">
              <a:lnSpc>
                <a:spcPct val="100000"/>
              </a:lnSpc>
              <a:spcAft>
                <a:spcPts val="400"/>
              </a:spcAft>
            </a:pPr>
            <a:r>
              <a:rPr sz="1500" b="1" i="0">
                <a:solidFill>
                  <a:srgbClr val="FFFFFF"/>
                </a:solidFill>
                <a:latin typeface="Calibri"/>
              </a:rPr>
              <a:t>Feed CAPEE automatically</a:t>
            </a:r>
          </a:p>
        </p:txBody>
      </p:sp>
      <p:sp>
        <p:nvSpPr>
          <p:cNvPr id="12" name="TextBox 11"/>
          <p:cNvSpPr txBox="1"/>
          <p:nvPr/>
        </p:nvSpPr>
        <p:spPr>
          <a:xfrm>
            <a:off x="1280160" y="4251960"/>
            <a:ext cx="9875520" cy="292608"/>
          </a:xfrm>
          <a:prstGeom prst="rect">
            <a:avLst/>
          </a:prstGeom>
          <a:noFill/>
        </p:spPr>
        <p:txBody>
          <a:bodyPr wrap="square" anchor="t" lIns="0" rIns="0" tIns="0" bIns="0">
            <a:spAutoFit/>
          </a:bodyPr>
          <a:lstStyle/>
          <a:p>
            <a:pPr algn="l">
              <a:lnSpc>
                <a:spcPct val="100000"/>
              </a:lnSpc>
              <a:spcAft>
                <a:spcPts val="400"/>
              </a:spcAft>
            </a:pPr>
            <a:r>
              <a:rPr sz="1100" b="0" i="0">
                <a:solidFill>
                  <a:srgbClr val="CADCFC"/>
                </a:solidFill>
                <a:latin typeface="Calibri"/>
              </a:rPr>
              <a:t>CAPEE carries on doing the costing. CostVision reads the numbers off the 3D model and the drawing and puts them in.</a:t>
            </a:r>
          </a:p>
        </p:txBody>
      </p:sp>
      <p:sp>
        <p:nvSpPr>
          <p:cNvPr id="13" name="Oval 12"/>
          <p:cNvSpPr/>
          <p:nvPr/>
        </p:nvSpPr>
        <p:spPr>
          <a:xfrm>
            <a:off x="566928" y="4800600"/>
            <a:ext cx="502920" cy="50292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4" name="TextBox 13"/>
          <p:cNvSpPr txBox="1"/>
          <p:nvPr/>
        </p:nvSpPr>
        <p:spPr>
          <a:xfrm>
            <a:off x="1280160" y="4818888"/>
            <a:ext cx="9875520" cy="274320"/>
          </a:xfrm>
          <a:prstGeom prst="rect">
            <a:avLst/>
          </a:prstGeom>
          <a:noFill/>
        </p:spPr>
        <p:txBody>
          <a:bodyPr wrap="square" anchor="t" lIns="0" rIns="0" tIns="0" bIns="0">
            <a:spAutoFit/>
          </a:bodyPr>
          <a:lstStyle/>
          <a:p>
            <a:pPr algn="l">
              <a:lnSpc>
                <a:spcPct val="100000"/>
              </a:lnSpc>
              <a:spcAft>
                <a:spcPts val="400"/>
              </a:spcAft>
            </a:pPr>
            <a:r>
              <a:rPr sz="1500" b="1" i="0">
                <a:solidFill>
                  <a:srgbClr val="FFFFFF"/>
                </a:solidFill>
                <a:latin typeface="Calibri"/>
              </a:rPr>
              <a:t>Run CostVision on JLR rates</a:t>
            </a:r>
          </a:p>
        </p:txBody>
      </p:sp>
      <p:sp>
        <p:nvSpPr>
          <p:cNvPr id="15" name="TextBox 14"/>
          <p:cNvSpPr txBox="1"/>
          <p:nvPr/>
        </p:nvSpPr>
        <p:spPr>
          <a:xfrm>
            <a:off x="1280160" y="5120640"/>
            <a:ext cx="9875520" cy="292608"/>
          </a:xfrm>
          <a:prstGeom prst="rect">
            <a:avLst/>
          </a:prstGeom>
          <a:noFill/>
        </p:spPr>
        <p:txBody>
          <a:bodyPr wrap="square" anchor="t" lIns="0" rIns="0" tIns="0" bIns="0">
            <a:spAutoFit/>
          </a:bodyPr>
          <a:lstStyle/>
          <a:p>
            <a:pPr algn="l">
              <a:lnSpc>
                <a:spcPct val="100000"/>
              </a:lnSpc>
              <a:spcAft>
                <a:spcPts val="400"/>
              </a:spcAft>
            </a:pPr>
            <a:r>
              <a:rPr sz="1100" b="0" i="0">
                <a:solidFill>
                  <a:srgbClr val="CADCFC"/>
                </a:solidFill>
                <a:latin typeface="Calibri"/>
              </a:rPr>
              <a:t>Install CostVision as it is. Take out the rates it comes with and put our own material, machine, labour and energy costs in.</a:t>
            </a:r>
          </a:p>
        </p:txBody>
      </p:sp>
      <p:sp>
        <p:nvSpPr>
          <p:cNvPr id="16" name="TextBox 15"/>
          <p:cNvSpPr txBox="1"/>
          <p:nvPr/>
        </p:nvSpPr>
        <p:spPr>
          <a:xfrm>
            <a:off x="548640" y="5943600"/>
            <a:ext cx="10607040" cy="365760"/>
          </a:xfrm>
          <a:prstGeom prst="rect">
            <a:avLst/>
          </a:prstGeom>
          <a:noFill/>
        </p:spPr>
        <p:txBody>
          <a:bodyPr wrap="square" anchor="t" lIns="0" rIns="0" tIns="0" bIns="0">
            <a:spAutoFit/>
          </a:bodyPr>
          <a:lstStyle/>
          <a:p>
            <a:pPr algn="l">
              <a:lnSpc>
                <a:spcPct val="100000"/>
              </a:lnSpc>
              <a:spcAft>
                <a:spcPts val="400"/>
              </a:spcAft>
            </a:pPr>
            <a:r>
              <a:rPr sz="1000" b="0" i="0">
                <a:solidFill>
                  <a:srgbClr val="8FA3CC"/>
                </a:solidFill>
                <a:latin typeface="Calibri"/>
              </a:rPr>
              <a:t>JLR Cost Engineering  ·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SUMMARY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two options</a:t>
            </a:r>
          </a:p>
        </p:txBody>
      </p:sp>
      <p:sp>
        <p:nvSpPr>
          <p:cNvPr id="9" name="Rounded Rectangle 8"/>
          <p:cNvSpPr/>
          <p:nvPr/>
        </p:nvSpPr>
        <p:spPr>
          <a:xfrm>
            <a:off x="411480" y="1645920"/>
            <a:ext cx="5577840" cy="21488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45920"/>
            <a:ext cx="68580" cy="21488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77393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 Feed CAPEE automatically</a:t>
            </a:r>
          </a:p>
        </p:txBody>
      </p:sp>
      <p:sp>
        <p:nvSpPr>
          <p:cNvPr id="12" name="TextBox 11"/>
          <p:cNvSpPr txBox="1"/>
          <p:nvPr/>
        </p:nvSpPr>
        <p:spPr>
          <a:xfrm>
            <a:off x="612648" y="2084832"/>
            <a:ext cx="5212080" cy="160020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CAPEE stays as it is and still does the costing.</a:t>
            </a:r>
          </a:p>
          <a:p>
            <a:pPr algn="l">
              <a:lnSpc>
                <a:spcPct val="112000"/>
              </a:lnSpc>
              <a:spcAft>
                <a:spcPts val="300"/>
              </a:spcAft>
            </a:pPr>
            <a:r>
              <a:rPr sz="1050" b="0" i="0">
                <a:solidFill>
                  <a:srgbClr val="3A4356"/>
                </a:solidFill>
                <a:latin typeface="Calibri"/>
              </a:rPr>
              <a:t>Instead of typing thirty boxes, the engineer hands over</a:t>
            </a:r>
          </a:p>
          <a:p>
            <a:pPr algn="l">
              <a:lnSpc>
                <a:spcPct val="112000"/>
              </a:lnSpc>
              <a:spcAft>
                <a:spcPts val="300"/>
              </a:spcAft>
            </a:pPr>
            <a:r>
              <a:rPr sz="1050" b="0" i="0">
                <a:solidFill>
                  <a:srgbClr val="3A4356"/>
                </a:solidFill>
                <a:latin typeface="Calibri"/>
              </a:rPr>
              <a:t>the 3D model and the drawing and the boxes fill in.</a:t>
            </a:r>
          </a:p>
          <a:p>
            <a:pPr algn="l">
              <a:lnSpc>
                <a:spcPct val="112000"/>
              </a:lnSpc>
              <a:spcAft>
                <a:spcPts val="300"/>
              </a:spcAft>
            </a:pPr>
          </a:p>
          <a:p>
            <a:pPr algn="l">
              <a:lnSpc>
                <a:spcPct val="112000"/>
              </a:lnSpc>
              <a:spcAft>
                <a:spcPts val="300"/>
              </a:spcAft>
            </a:pPr>
            <a:r>
              <a:rPr sz="1050" b="1" i="0">
                <a:solidFill>
                  <a:srgbClr val="16325C"/>
                </a:solidFill>
                <a:latin typeface="Calibri"/>
              </a:rPr>
              <a:t>Moves about 5,700 lines of measuring and reading code,</a:t>
            </a:r>
          </a:p>
          <a:p>
            <a:pPr algn="l">
              <a:lnSpc>
                <a:spcPct val="112000"/>
              </a:lnSpc>
              <a:spcAft>
                <a:spcPts val="300"/>
              </a:spcAft>
            </a:pPr>
            <a:r>
              <a:rPr sz="1050" b="1" i="0">
                <a:solidFill>
                  <a:srgbClr val="16325C"/>
                </a:solidFill>
                <a:latin typeface="Calibri"/>
              </a:rPr>
              <a:t>plus the safety checks that go with it.</a:t>
            </a:r>
          </a:p>
        </p:txBody>
      </p:sp>
      <p:sp>
        <p:nvSpPr>
          <p:cNvPr id="13" name="Rounded Rectangle 12"/>
          <p:cNvSpPr/>
          <p:nvPr/>
        </p:nvSpPr>
        <p:spPr>
          <a:xfrm>
            <a:off x="6199632" y="1645920"/>
            <a:ext cx="5577840" cy="21488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9632" y="1645920"/>
            <a:ext cx="68580" cy="214884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77393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 Run CostVision on JLR rates</a:t>
            </a:r>
          </a:p>
        </p:txBody>
      </p:sp>
      <p:sp>
        <p:nvSpPr>
          <p:cNvPr id="16" name="TextBox 15"/>
          <p:cNvSpPr txBox="1"/>
          <p:nvPr/>
        </p:nvSpPr>
        <p:spPr>
          <a:xfrm>
            <a:off x="6400800" y="2084832"/>
            <a:ext cx="5212080" cy="160020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CostVision goes in as it is. Nothing gets rebuilt.</a:t>
            </a:r>
          </a:p>
          <a:p>
            <a:pPr algn="l">
              <a:lnSpc>
                <a:spcPct val="112000"/>
              </a:lnSpc>
              <a:spcAft>
                <a:spcPts val="300"/>
              </a:spcAft>
            </a:pPr>
            <a:r>
              <a:rPr sz="1050" b="0" i="0">
                <a:solidFill>
                  <a:srgbClr val="3A4356"/>
                </a:solidFill>
                <a:latin typeface="Calibri"/>
              </a:rPr>
              <a:t>We load our own material prices, machine rates, labour</a:t>
            </a:r>
          </a:p>
          <a:p>
            <a:pPr algn="l">
              <a:lnSpc>
                <a:spcPct val="112000"/>
              </a:lnSpc>
              <a:spcAft>
                <a:spcPts val="300"/>
              </a:spcAft>
            </a:pPr>
            <a:r>
              <a:rPr sz="1050" b="0" i="0">
                <a:solidFill>
                  <a:srgbClr val="3A4356"/>
                </a:solidFill>
                <a:latin typeface="Calibri"/>
              </a:rPr>
              <a:t>and energy costs over the ones it ships with.</a:t>
            </a:r>
          </a:p>
          <a:p>
            <a:pPr algn="l">
              <a:lnSpc>
                <a:spcPct val="112000"/>
              </a:lnSpc>
              <a:spcAft>
                <a:spcPts val="300"/>
              </a:spcAft>
            </a:pPr>
          </a:p>
          <a:p>
            <a:pPr algn="l">
              <a:lnSpc>
                <a:spcPct val="112000"/>
              </a:lnSpc>
              <a:spcAft>
                <a:spcPts val="300"/>
              </a:spcAft>
            </a:pPr>
            <a:r>
              <a:rPr sz="1050" b="1" i="0">
                <a:solidFill>
                  <a:srgbClr val="16325C"/>
                </a:solidFill>
                <a:latin typeface="Calibri"/>
              </a:rPr>
              <a:t>The way it calculates does not change. The work is</a:t>
            </a:r>
          </a:p>
          <a:p>
            <a:pPr algn="l">
              <a:lnSpc>
                <a:spcPct val="112000"/>
              </a:lnSpc>
              <a:spcAft>
                <a:spcPts val="300"/>
              </a:spcAft>
            </a:pPr>
            <a:r>
              <a:rPr sz="1050" b="1" i="0">
                <a:solidFill>
                  <a:srgbClr val="16325C"/>
                </a:solidFill>
                <a:latin typeface="Calibri"/>
              </a:rPr>
              <a:t>gathering our rates and putting it on a JLR server.</a:t>
            </a:r>
          </a:p>
        </p:txBody>
      </p:sp>
      <p:sp>
        <p:nvSpPr>
          <p:cNvPr id="17" name="Rounded Rectangle 16"/>
          <p:cNvSpPr/>
          <p:nvPr/>
        </p:nvSpPr>
        <p:spPr>
          <a:xfrm>
            <a:off x="411480" y="3977639"/>
            <a:ext cx="11365992" cy="91440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977639"/>
            <a:ext cx="68580" cy="9144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4096511"/>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WHAT I WOULD DO · Option 2 first, then Option 1</a:t>
            </a:r>
          </a:p>
        </p:txBody>
      </p:sp>
      <p:sp>
        <p:nvSpPr>
          <p:cNvPr id="20" name="TextBox 19"/>
          <p:cNvSpPr txBox="1"/>
          <p:nvPr/>
        </p:nvSpPr>
        <p:spPr>
          <a:xfrm>
            <a:off x="630936" y="4379975"/>
            <a:ext cx="10954512"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2 is the smaller job and we can stop it whenever we want. It also tells us something Option 1 never will: whether the tool gets the right answer on JLR parts. So the rest of this deck goes through Option 2 first, then Option 1.</a:t>
            </a:r>
          </a:p>
        </p:txBody>
      </p:sp>
      <p:sp>
        <p:nvSpPr>
          <p:cNvPr id="21" name="Rounded Rectangle 20"/>
          <p:cNvSpPr/>
          <p:nvPr/>
        </p:nvSpPr>
        <p:spPr>
          <a:xfrm>
            <a:off x="411480" y="5029200"/>
            <a:ext cx="11365992" cy="123444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5029200"/>
            <a:ext cx="68580" cy="123444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 y="514807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BEFORE WE DO EITHER</a:t>
            </a:r>
          </a:p>
        </p:txBody>
      </p:sp>
      <p:sp>
        <p:nvSpPr>
          <p:cNvPr id="24" name="TextBox 23"/>
          <p:cNvSpPr txBox="1"/>
          <p:nvPr/>
        </p:nvSpPr>
        <p:spPr>
          <a:xfrm>
            <a:off x="630936" y="5431536"/>
            <a:ext cx="10954512" cy="73152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CostVision has never been checked against a price JLR has actually paid. Not one part. Until we load 30 to 50 real purchases and compare, nobody can say how accurate it is, and I would not sign either option off as ready for a supplier meeting. That job is ours, not the software.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CURRENT STATUS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Where CostVision is today</a:t>
            </a:r>
          </a:p>
        </p:txBody>
      </p:sp>
      <p:sp>
        <p:nvSpPr>
          <p:cNvPr id="9" name="TextBox 8"/>
          <p:cNvSpPr txBox="1"/>
          <p:nvPr/>
        </p:nvSpPr>
        <p:spPr>
          <a:xfrm>
            <a:off x="411480" y="1536192"/>
            <a:ext cx="11338560" cy="292608"/>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Taken from the software in August 2026. This is what the tool does today.</a:t>
            </a:r>
          </a:p>
        </p:txBody>
      </p:sp>
      <p:sp>
        <p:nvSpPr>
          <p:cNvPr id="10" name="Rounded Rectangle 9"/>
          <p:cNvSpPr/>
          <p:nvPr/>
        </p:nvSpPr>
        <p:spPr>
          <a:xfrm>
            <a:off x="411480" y="1965960"/>
            <a:ext cx="5577840" cy="3200400"/>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65960"/>
            <a:ext cx="68580" cy="32004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209397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WORKING NOW</a:t>
            </a:r>
          </a:p>
        </p:txBody>
      </p:sp>
      <p:sp>
        <p:nvSpPr>
          <p:cNvPr id="13" name="TextBox 12"/>
          <p:cNvSpPr txBox="1"/>
          <p:nvPr/>
        </p:nvSpPr>
        <p:spPr>
          <a:xfrm>
            <a:off x="612648" y="2404872"/>
            <a:ext cx="5212080" cy="265176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19 part types can be costed</a:t>
            </a:r>
          </a:p>
          <a:p>
            <a:pPr algn="l">
              <a:lnSpc>
                <a:spcPct val="112000"/>
              </a:lnSpc>
              <a:spcAft>
                <a:spcPts val="300"/>
              </a:spcAft>
            </a:pPr>
            <a:r>
              <a:rPr sz="1050" b="0" i="0">
                <a:solidFill>
                  <a:srgbClr val="3A4356"/>
                </a:solidFill>
                <a:latin typeface="Calibri"/>
              </a:rPr>
              <a:t>The costing gives the same answer every run</a:t>
            </a:r>
          </a:p>
          <a:p>
            <a:pPr algn="l">
              <a:lnSpc>
                <a:spcPct val="112000"/>
              </a:lnSpc>
              <a:spcAft>
                <a:spcPts val="300"/>
              </a:spcAft>
            </a:pPr>
            <a:r>
              <a:rPr sz="1050" b="0" i="0">
                <a:solidFill>
                  <a:srgbClr val="3A4356"/>
                </a:solidFill>
                <a:latin typeface="Calibri"/>
              </a:rPr>
              <a:t>Measures 3D models with no internet connection</a:t>
            </a:r>
          </a:p>
          <a:p>
            <a:pPr algn="l">
              <a:lnSpc>
                <a:spcPct val="112000"/>
              </a:lnSpc>
              <a:spcAft>
                <a:spcPts val="300"/>
              </a:spcAft>
            </a:pPr>
            <a:r>
              <a:rPr sz="1050" b="0" i="0">
                <a:solidFill>
                  <a:srgbClr val="3A4356"/>
                </a:solidFill>
                <a:latin typeface="Calibri"/>
              </a:rPr>
              <a:t>Reads drawings for tolerances, finish, heat treatment</a:t>
            </a:r>
          </a:p>
          <a:p>
            <a:pPr algn="l">
              <a:lnSpc>
                <a:spcPct val="112000"/>
              </a:lnSpc>
              <a:spcAft>
                <a:spcPts val="300"/>
              </a:spcAft>
            </a:pPr>
            <a:r>
              <a:rPr sz="1050" b="0" i="0">
                <a:solidFill>
                  <a:srgbClr val="3A4356"/>
                </a:solidFill>
                <a:latin typeface="Calibri"/>
              </a:rPr>
              <a:t>Safety checks on everything read off a drawing</a:t>
            </a:r>
          </a:p>
          <a:p>
            <a:pPr algn="l">
              <a:lnSpc>
                <a:spcPct val="112000"/>
              </a:lnSpc>
              <a:spcAft>
                <a:spcPts val="300"/>
              </a:spcAft>
            </a:pPr>
            <a:r>
              <a:rPr sz="1050" b="0" i="0">
                <a:solidFill>
                  <a:srgbClr val="3A4356"/>
                </a:solidFill>
                <a:latin typeface="Calibri"/>
              </a:rPr>
              <a:t>PDF and Excel reports; PowerPoint for the negotiation pack</a:t>
            </a:r>
          </a:p>
          <a:p>
            <a:pPr algn="l">
              <a:lnSpc>
                <a:spcPct val="112000"/>
              </a:lnSpc>
              <a:spcAft>
                <a:spcPts val="300"/>
              </a:spcAft>
            </a:pPr>
            <a:r>
              <a:rPr sz="1050" b="0" i="0">
                <a:solidFill>
                  <a:srgbClr val="3A4356"/>
                </a:solidFill>
                <a:latin typeface="Calibri"/>
              </a:rPr>
              <a:t>An administrator can upload a rate workbook</a:t>
            </a:r>
          </a:p>
          <a:p>
            <a:pPr algn="l">
              <a:lnSpc>
                <a:spcPct val="112000"/>
              </a:lnSpc>
              <a:spcAft>
                <a:spcPts val="300"/>
              </a:spcAft>
            </a:pPr>
            <a:r>
              <a:rPr sz="1050" b="0" i="0">
                <a:solidFill>
                  <a:srgbClr val="3A4356"/>
                </a:solidFill>
                <a:latin typeface="Calibri"/>
              </a:rPr>
              <a:t>2,022 automatic software tests, all passing</a:t>
            </a:r>
          </a:p>
        </p:txBody>
      </p:sp>
      <p:sp>
        <p:nvSpPr>
          <p:cNvPr id="14" name="Rounded Rectangle 13"/>
          <p:cNvSpPr/>
          <p:nvPr/>
        </p:nvSpPr>
        <p:spPr>
          <a:xfrm>
            <a:off x="6199632" y="1965960"/>
            <a:ext cx="5577840" cy="3200400"/>
          </a:xfrm>
          <a:prstGeom prst="roundRect">
            <a:avLst>
              <a:gd name="adj" fmla="val 12000"/>
            </a:avLst>
          </a:prstGeom>
          <a:solidFill>
            <a:srgbClr val="FCF3E3"/>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99632" y="1965960"/>
            <a:ext cx="68580" cy="32004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209397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NOT THERE YET</a:t>
            </a:r>
          </a:p>
        </p:txBody>
      </p:sp>
      <p:sp>
        <p:nvSpPr>
          <p:cNvPr id="17" name="TextBox 16"/>
          <p:cNvSpPr txBox="1"/>
          <p:nvPr/>
        </p:nvSpPr>
        <p:spPr>
          <a:xfrm>
            <a:off x="6400800" y="2404872"/>
            <a:ext cx="5212080" cy="265176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Never compared against a price JLR has paid</a:t>
            </a:r>
          </a:p>
          <a:p>
            <a:pPr algn="l">
              <a:lnSpc>
                <a:spcPct val="112000"/>
              </a:lnSpc>
              <a:spcAft>
                <a:spcPts val="300"/>
              </a:spcAft>
            </a:pPr>
            <a:r>
              <a:rPr sz="1050" b="0" i="0">
                <a:solidFill>
                  <a:srgbClr val="3A4356"/>
                </a:solidFill>
                <a:latin typeface="Calibri"/>
              </a:rPr>
              <a:t>No history kept when someone changes a rate</a:t>
            </a:r>
          </a:p>
          <a:p>
            <a:pPr algn="l">
              <a:lnSpc>
                <a:spcPct val="112000"/>
              </a:lnSpc>
              <a:spcAft>
                <a:spcPts val="300"/>
              </a:spcAft>
            </a:pPr>
            <a:r>
              <a:rPr sz="1050" b="0" i="0">
                <a:solidFill>
                  <a:srgbClr val="3A4356"/>
                </a:solidFill>
                <a:latin typeface="Calibri"/>
              </a:rPr>
              <a:t>Finished costings are not saved, so you cannot</a:t>
            </a:r>
          </a:p>
          <a:p>
            <a:pPr algn="l">
              <a:lnSpc>
                <a:spcPct val="112000"/>
              </a:lnSpc>
              <a:spcAft>
                <a:spcPts val="300"/>
              </a:spcAft>
            </a:pPr>
            <a:r>
              <a:rPr sz="1050" b="0" i="0">
                <a:solidFill>
                  <a:srgbClr val="3A4356"/>
                </a:solidFill>
                <a:latin typeface="Calibri"/>
              </a:rPr>
              <a:t>go back and reproduce an old one</a:t>
            </a:r>
          </a:p>
          <a:p>
            <a:pPr algn="l">
              <a:lnSpc>
                <a:spcPct val="112000"/>
              </a:lnSpc>
              <a:spcAft>
                <a:spcPts val="300"/>
              </a:spcAft>
            </a:pPr>
            <a:r>
              <a:rPr sz="1050" b="0" i="0">
                <a:solidFill>
                  <a:srgbClr val="3A4356"/>
                </a:solidFill>
                <a:latin typeface="Calibri"/>
              </a:rPr>
              <a:t>No JLR sign-on; it has its own logins today</a:t>
            </a:r>
          </a:p>
          <a:p>
            <a:pPr algn="l">
              <a:lnSpc>
                <a:spcPct val="112000"/>
              </a:lnSpc>
              <a:spcAft>
                <a:spcPts val="300"/>
              </a:spcAft>
            </a:pPr>
            <a:r>
              <a:rPr sz="1050" b="0" i="0">
                <a:solidFill>
                  <a:srgbClr val="3A4356"/>
                </a:solidFill>
                <a:latin typeface="Calibri"/>
              </a:rPr>
              <a:t>Gear costing works on screen but the automated</a:t>
            </a:r>
          </a:p>
          <a:p>
            <a:pPr algn="l">
              <a:lnSpc>
                <a:spcPct val="112000"/>
              </a:lnSpc>
              <a:spcAft>
                <a:spcPts val="300"/>
              </a:spcAft>
            </a:pPr>
            <a:r>
              <a:rPr sz="1050" b="0" i="0">
                <a:solidFill>
                  <a:srgbClr val="3A4356"/>
                </a:solidFill>
                <a:latin typeface="Calibri"/>
              </a:rPr>
              <a:t>route cannot reach it</a:t>
            </a:r>
          </a:p>
          <a:p>
            <a:pPr algn="l">
              <a:lnSpc>
                <a:spcPct val="112000"/>
              </a:lnSpc>
              <a:spcAft>
                <a:spcPts val="300"/>
              </a:spcAft>
            </a:pPr>
            <a:r>
              <a:rPr sz="1050" b="0" i="0">
                <a:solidFill>
                  <a:srgbClr val="3A4356"/>
                </a:solidFill>
                <a:latin typeface="Calibri"/>
              </a:rPr>
              <a:t>Three faults found and fixed in August; we are</a:t>
            </a:r>
          </a:p>
          <a:p>
            <a:pPr algn="l">
              <a:lnSpc>
                <a:spcPct val="112000"/>
              </a:lnSpc>
              <a:spcAft>
                <a:spcPts val="300"/>
              </a:spcAft>
            </a:pPr>
            <a:r>
              <a:rPr sz="1050" b="0" i="0">
                <a:solidFill>
                  <a:srgbClr val="3A4356"/>
                </a:solidFill>
                <a:latin typeface="Calibri"/>
              </a:rPr>
              <a:t>still working on it</a:t>
            </a:r>
          </a:p>
        </p:txBody>
      </p:sp>
      <p:sp>
        <p:nvSpPr>
          <p:cNvPr id="18" name="Rounded Rectangle 17"/>
          <p:cNvSpPr/>
          <p:nvPr/>
        </p:nvSpPr>
        <p:spPr>
          <a:xfrm>
            <a:off x="411480" y="5349240"/>
            <a:ext cx="11365992" cy="86868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5349240"/>
            <a:ext cx="68580" cy="8686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 y="54681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Why this is up front</a:t>
            </a:r>
          </a:p>
        </p:txBody>
      </p:sp>
      <p:sp>
        <p:nvSpPr>
          <p:cNvPr id="21" name="TextBox 20"/>
          <p:cNvSpPr txBox="1"/>
          <p:nvPr/>
        </p:nvSpPr>
        <p:spPr>
          <a:xfrm>
            <a:off x="630936" y="5751576"/>
            <a:ext cx="10954512" cy="3657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Both options build on the left column and have to sort out the right one. I would rather you saw the right column now than found it later. Neither option gets to skip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WHY BOTHER AT ALL</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changes for the engineer</a:t>
            </a:r>
          </a:p>
        </p:txBody>
      </p:sp>
      <p:sp>
        <p:nvSpPr>
          <p:cNvPr id="9" name="Rounded Rectangle 8"/>
          <p:cNvSpPr/>
          <p:nvPr/>
        </p:nvSpPr>
        <p:spPr>
          <a:xfrm>
            <a:off x="411480" y="1691640"/>
            <a:ext cx="5577840" cy="3154680"/>
          </a:xfrm>
          <a:prstGeom prst="roundRect">
            <a:avLst>
              <a:gd name="adj" fmla="val 12000"/>
            </a:avLst>
          </a:prstGeom>
          <a:solidFill>
            <a:srgbClr val="FBECEA"/>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91640"/>
            <a:ext cx="68580" cy="31546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81965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TODAY · typed in by hand</a:t>
            </a:r>
          </a:p>
        </p:txBody>
      </p:sp>
      <p:sp>
        <p:nvSpPr>
          <p:cNvPr id="12" name="TextBox 11"/>
          <p:cNvSpPr txBox="1"/>
          <p:nvPr/>
        </p:nvSpPr>
        <p:spPr>
          <a:xfrm>
            <a:off x="612648" y="2130552"/>
            <a:ext cx="5212080" cy="260604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Part weight and starting material weight</a:t>
            </a:r>
          </a:p>
          <a:p>
            <a:pPr algn="l">
              <a:lnSpc>
                <a:spcPct val="112000"/>
              </a:lnSpc>
              <a:spcAft>
                <a:spcPts val="300"/>
              </a:spcAft>
            </a:pPr>
            <a:r>
              <a:rPr sz="1050" b="0" i="0">
                <a:solidFill>
                  <a:srgbClr val="3A4356"/>
                </a:solidFill>
                <a:latin typeface="Calibri"/>
              </a:rPr>
              <a:t>Wall thickness and overall size</a:t>
            </a:r>
          </a:p>
          <a:p>
            <a:pPr algn="l">
              <a:lnSpc>
                <a:spcPct val="112000"/>
              </a:lnSpc>
              <a:spcAft>
                <a:spcPts val="300"/>
              </a:spcAft>
            </a:pPr>
            <a:r>
              <a:rPr sz="1050" b="0" i="0">
                <a:solidFill>
                  <a:srgbClr val="3A4356"/>
                </a:solidFill>
                <a:latin typeface="Calibri"/>
              </a:rPr>
              <a:t>Counts of holes, pockets and bosses</a:t>
            </a:r>
          </a:p>
          <a:p>
            <a:pPr algn="l">
              <a:lnSpc>
                <a:spcPct val="112000"/>
              </a:lnSpc>
              <a:spcAft>
                <a:spcPts val="300"/>
              </a:spcAft>
            </a:pPr>
            <a:r>
              <a:rPr sz="1050" b="0" i="0">
                <a:solidFill>
                  <a:srgbClr val="3A4356"/>
                </a:solidFill>
                <a:latin typeface="Calibri"/>
              </a:rPr>
              <a:t>Machine times for each operation</a:t>
            </a:r>
          </a:p>
          <a:p>
            <a:pPr algn="l">
              <a:lnSpc>
                <a:spcPct val="112000"/>
              </a:lnSpc>
              <a:spcAft>
                <a:spcPts val="300"/>
              </a:spcAft>
            </a:pPr>
            <a:r>
              <a:rPr sz="1050" b="0" i="0">
                <a:solidFill>
                  <a:srgbClr val="3A4356"/>
                </a:solidFill>
                <a:latin typeface="Calibri"/>
              </a:rPr>
              <a:t>Surface area for painting or plating</a:t>
            </a:r>
          </a:p>
          <a:p>
            <a:pPr algn="l">
              <a:lnSpc>
                <a:spcPct val="112000"/>
              </a:lnSpc>
              <a:spcAft>
                <a:spcPts val="300"/>
              </a:spcAft>
            </a:pPr>
            <a:r>
              <a:rPr sz="1050" b="0" i="0">
                <a:solidFill>
                  <a:srgbClr val="3A4356"/>
                </a:solidFill>
                <a:latin typeface="Calibri"/>
              </a:rPr>
              <a:t>Tolerances, finish, heat treatment</a:t>
            </a:r>
          </a:p>
          <a:p>
            <a:pPr algn="l">
              <a:lnSpc>
                <a:spcPct val="112000"/>
              </a:lnSpc>
              <a:spcAft>
                <a:spcPts val="300"/>
              </a:spcAft>
            </a:pPr>
          </a:p>
          <a:p>
            <a:pPr algn="l">
              <a:lnSpc>
                <a:spcPct val="112000"/>
              </a:lnSpc>
              <a:spcAft>
                <a:spcPts val="300"/>
              </a:spcAft>
            </a:pPr>
            <a:r>
              <a:rPr sz="1050" b="0" i="0">
                <a:solidFill>
                  <a:srgbClr val="3A4356"/>
                </a:solidFill>
                <a:latin typeface="Calibri"/>
              </a:rPr>
              <a:t>Two engineers costing the same part will not type</a:t>
            </a:r>
          </a:p>
          <a:p>
            <a:pPr algn="l">
              <a:lnSpc>
                <a:spcPct val="112000"/>
              </a:lnSpc>
              <a:spcAft>
                <a:spcPts val="300"/>
              </a:spcAft>
            </a:pPr>
            <a:r>
              <a:rPr sz="1050" b="1" i="0">
                <a:solidFill>
                  <a:srgbClr val="16325C"/>
                </a:solidFill>
                <a:latin typeface="Calibri"/>
              </a:rPr>
              <a:t>the same numbers. So we get two different answers.</a:t>
            </a:r>
          </a:p>
        </p:txBody>
      </p:sp>
      <p:sp>
        <p:nvSpPr>
          <p:cNvPr id="13" name="Rounded Rectangle 12"/>
          <p:cNvSpPr/>
          <p:nvPr/>
        </p:nvSpPr>
        <p:spPr>
          <a:xfrm>
            <a:off x="6199632" y="1691640"/>
            <a:ext cx="5577840" cy="3154680"/>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9632" y="1691640"/>
            <a:ext cx="68580" cy="31546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81965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WITH COSTVISION · read off the model</a:t>
            </a:r>
          </a:p>
        </p:txBody>
      </p:sp>
      <p:sp>
        <p:nvSpPr>
          <p:cNvPr id="16" name="TextBox 15"/>
          <p:cNvSpPr txBox="1"/>
          <p:nvPr/>
        </p:nvSpPr>
        <p:spPr>
          <a:xfrm>
            <a:off x="6400800" y="2130552"/>
            <a:ext cx="5212080" cy="260604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Hand over the 3D model and the drawing.</a:t>
            </a:r>
          </a:p>
          <a:p>
            <a:pPr algn="l">
              <a:lnSpc>
                <a:spcPct val="112000"/>
              </a:lnSpc>
              <a:spcAft>
                <a:spcPts val="300"/>
              </a:spcAft>
            </a:pPr>
          </a:p>
          <a:p>
            <a:pPr algn="l">
              <a:lnSpc>
                <a:spcPct val="112000"/>
              </a:lnSpc>
              <a:spcAft>
                <a:spcPts val="300"/>
              </a:spcAft>
            </a:pPr>
            <a:r>
              <a:rPr sz="1050" b="1" i="0">
                <a:solidFill>
                  <a:srgbClr val="16325C"/>
                </a:solidFill>
                <a:latin typeface="Calibri"/>
              </a:rPr>
              <a:t>Measured off the model:</a:t>
            </a:r>
          </a:p>
          <a:p>
            <a:pPr algn="l">
              <a:lnSpc>
                <a:spcPct val="112000"/>
              </a:lnSpc>
              <a:spcAft>
                <a:spcPts val="300"/>
              </a:spcAft>
            </a:pPr>
            <a:r>
              <a:rPr sz="1050" b="0" i="0">
                <a:solidFill>
                  <a:srgbClr val="3A4356"/>
                </a:solidFill>
                <a:latin typeface="Calibri"/>
              </a:rPr>
              <a:t>volume, size, surface area, wall thickness, holes,</a:t>
            </a:r>
          </a:p>
          <a:p>
            <a:pPr algn="l">
              <a:lnSpc>
                <a:spcPct val="112000"/>
              </a:lnSpc>
              <a:spcAft>
                <a:spcPts val="300"/>
              </a:spcAft>
            </a:pPr>
            <a:r>
              <a:rPr sz="1050" b="0" i="0">
                <a:solidFill>
                  <a:srgbClr val="3A4356"/>
                </a:solidFill>
                <a:latin typeface="Calibri"/>
              </a:rPr>
              <a:t>pockets, bosses, gear teeth.</a:t>
            </a:r>
          </a:p>
          <a:p>
            <a:pPr algn="l">
              <a:lnSpc>
                <a:spcPct val="112000"/>
              </a:lnSpc>
              <a:spcAft>
                <a:spcPts val="300"/>
              </a:spcAft>
            </a:pPr>
          </a:p>
          <a:p>
            <a:pPr algn="l">
              <a:lnSpc>
                <a:spcPct val="112000"/>
              </a:lnSpc>
              <a:spcAft>
                <a:spcPts val="300"/>
              </a:spcAft>
            </a:pPr>
            <a:r>
              <a:rPr sz="1050" b="1" i="0">
                <a:solidFill>
                  <a:srgbClr val="16325C"/>
                </a:solidFill>
                <a:latin typeface="Calibri"/>
              </a:rPr>
              <a:t>Read off the drawing:</a:t>
            </a:r>
          </a:p>
          <a:p>
            <a:pPr algn="l">
              <a:lnSpc>
                <a:spcPct val="112000"/>
              </a:lnSpc>
              <a:spcAft>
                <a:spcPts val="300"/>
              </a:spcAft>
            </a:pPr>
            <a:r>
              <a:rPr sz="1050" b="0" i="0">
                <a:solidFill>
                  <a:srgbClr val="3A4356"/>
                </a:solidFill>
                <a:latin typeface="Calibri"/>
              </a:rPr>
              <a:t>tolerances, surface finish, heat treatment, coating,</a:t>
            </a:r>
          </a:p>
          <a:p>
            <a:pPr algn="l">
              <a:lnSpc>
                <a:spcPct val="112000"/>
              </a:lnSpc>
              <a:spcAft>
                <a:spcPts val="300"/>
              </a:spcAft>
            </a:pPr>
            <a:r>
              <a:rPr sz="1050" b="0" i="0">
                <a:solidFill>
                  <a:srgbClr val="3A4356"/>
                </a:solidFill>
                <a:latin typeface="Calibri"/>
              </a:rPr>
              <a:t>masked features.</a:t>
            </a:r>
          </a:p>
          <a:p>
            <a:pPr algn="l">
              <a:lnSpc>
                <a:spcPct val="112000"/>
              </a:lnSpc>
              <a:spcAft>
                <a:spcPts val="300"/>
              </a:spcAft>
            </a:pPr>
          </a:p>
          <a:p>
            <a:pPr algn="l">
              <a:lnSpc>
                <a:spcPct val="112000"/>
              </a:lnSpc>
              <a:spcAft>
                <a:spcPts val="300"/>
              </a:spcAft>
            </a:pPr>
            <a:r>
              <a:rPr sz="1050" b="1" i="0">
                <a:solidFill>
                  <a:srgbClr val="2E8B57"/>
                </a:solidFill>
                <a:latin typeface="Calibri"/>
              </a:rPr>
              <a:t>The same part gives the same numbers every time.</a:t>
            </a:r>
          </a:p>
        </p:txBody>
      </p:sp>
      <p:sp>
        <p:nvSpPr>
          <p:cNvPr id="17" name="Rounded Rectangle 16"/>
          <p:cNvSpPr/>
          <p:nvPr/>
        </p:nvSpPr>
        <p:spPr>
          <a:xfrm>
            <a:off x="411480" y="5074920"/>
            <a:ext cx="11365992" cy="109728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5074920"/>
            <a:ext cx="68580" cy="10972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519379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Measuring and reading are different things</a:t>
            </a:r>
          </a:p>
        </p:txBody>
      </p:sp>
      <p:sp>
        <p:nvSpPr>
          <p:cNvPr id="20" name="TextBox 19"/>
          <p:cNvSpPr txBox="1"/>
          <p:nvPr/>
        </p:nvSpPr>
        <p:spPr>
          <a:xfrm>
            <a:off x="630936" y="5477256"/>
            <a:ext cx="10954512" cy="5943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3D model gets measured by software, much like a CMM measures a part. That is not AI. The AI only reads the words written on the drawing, and whatever it reads gets checked against the measured model before it can move a cost. Slide 9 covers those checks.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CostVision on JLR rates</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What an engineer does each time they cost a part</a:t>
            </a:r>
          </a:p>
        </p:txBody>
      </p:sp>
      <p:sp>
        <p:nvSpPr>
          <p:cNvPr id="10" name="Rounded Rectangle 9"/>
          <p:cNvSpPr/>
          <p:nvPr/>
        </p:nvSpPr>
        <p:spPr>
          <a:xfrm>
            <a:off x="41148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82980"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pload.png"/>
          <p:cNvPicPr>
            <a:picLocks noChangeAspect="1"/>
          </p:cNvPicPr>
          <p:nvPr/>
        </p:nvPicPr>
        <p:blipFill>
          <a:blip r:embed="rId2"/>
          <a:stretch>
            <a:fillRect/>
          </a:stretch>
        </p:blipFill>
        <p:spPr>
          <a:xfrm>
            <a:off x="1130381" y="2140793"/>
            <a:ext cx="272126" cy="272126"/>
          </a:xfrm>
          <a:prstGeom prst="rect">
            <a:avLst/>
          </a:prstGeom>
        </p:spPr>
      </p:pic>
      <p:sp>
        <p:nvSpPr>
          <p:cNvPr id="14" name="TextBox 13"/>
          <p:cNvSpPr txBox="1"/>
          <p:nvPr/>
        </p:nvSpPr>
        <p:spPr>
          <a:xfrm>
            <a:off x="48463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Opens CostVision</a:t>
            </a:r>
          </a:p>
        </p:txBody>
      </p:sp>
      <p:sp>
        <p:nvSpPr>
          <p:cNvPr id="15" name="TextBox 14"/>
          <p:cNvSpPr txBox="1"/>
          <p:nvPr/>
        </p:nvSpPr>
        <p:spPr>
          <a:xfrm>
            <a:off x="48463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Signs in with a JLR login</a:t>
            </a:r>
          </a:p>
        </p:txBody>
      </p:sp>
      <p:sp>
        <p:nvSpPr>
          <p:cNvPr id="16" name="Right Arrow 15"/>
          <p:cNvSpPr/>
          <p:nvPr/>
        </p:nvSpPr>
        <p:spPr>
          <a:xfrm>
            <a:off x="2139696"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95144"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295144"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866644"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ube.png"/>
          <p:cNvPicPr>
            <a:picLocks noChangeAspect="1"/>
          </p:cNvPicPr>
          <p:nvPr/>
        </p:nvPicPr>
        <p:blipFill>
          <a:blip r:embed="rId3"/>
          <a:stretch>
            <a:fillRect/>
          </a:stretch>
        </p:blipFill>
        <p:spPr>
          <a:xfrm>
            <a:off x="3014045" y="2140793"/>
            <a:ext cx="272126" cy="272126"/>
          </a:xfrm>
          <a:prstGeom prst="rect">
            <a:avLst/>
          </a:prstGeom>
        </p:spPr>
      </p:pic>
      <p:sp>
        <p:nvSpPr>
          <p:cNvPr id="21" name="TextBox 20"/>
          <p:cNvSpPr txBox="1"/>
          <p:nvPr/>
        </p:nvSpPr>
        <p:spPr>
          <a:xfrm>
            <a:off x="2368296"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Hands over the part</a:t>
            </a:r>
          </a:p>
        </p:txBody>
      </p:sp>
      <p:sp>
        <p:nvSpPr>
          <p:cNvPr id="22" name="TextBox 21"/>
          <p:cNvSpPr txBox="1"/>
          <p:nvPr/>
        </p:nvSpPr>
        <p:spPr>
          <a:xfrm>
            <a:off x="2368296"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3D model if there is one, otherwise fills the form</a:t>
            </a:r>
          </a:p>
        </p:txBody>
      </p:sp>
      <p:sp>
        <p:nvSpPr>
          <p:cNvPr id="23" name="Right Arrow 22"/>
          <p:cNvSpPr/>
          <p:nvPr/>
        </p:nvSpPr>
        <p:spPr>
          <a:xfrm>
            <a:off x="4023360"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78808"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78808"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750308"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og.png"/>
          <p:cNvPicPr>
            <a:picLocks noChangeAspect="1"/>
          </p:cNvPicPr>
          <p:nvPr/>
        </p:nvPicPr>
        <p:blipFill>
          <a:blip r:embed="rId4"/>
          <a:stretch>
            <a:fillRect/>
          </a:stretch>
        </p:blipFill>
        <p:spPr>
          <a:xfrm>
            <a:off x="4897709" y="2140793"/>
            <a:ext cx="272126" cy="272126"/>
          </a:xfrm>
          <a:prstGeom prst="rect">
            <a:avLst/>
          </a:prstGeom>
        </p:spPr>
      </p:pic>
      <p:sp>
        <p:nvSpPr>
          <p:cNvPr id="28" name="TextBox 27"/>
          <p:cNvSpPr txBox="1"/>
          <p:nvPr/>
        </p:nvSpPr>
        <p:spPr>
          <a:xfrm>
            <a:off x="4251960"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Picks the part type</a:t>
            </a:r>
          </a:p>
        </p:txBody>
      </p:sp>
      <p:sp>
        <p:nvSpPr>
          <p:cNvPr id="29" name="TextBox 28"/>
          <p:cNvSpPr txBox="1"/>
          <p:nvPr/>
        </p:nvSpPr>
        <p:spPr>
          <a:xfrm>
            <a:off x="4251960"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Machined, pressed, cast, forged, moulded</a:t>
            </a:r>
          </a:p>
        </p:txBody>
      </p:sp>
      <p:sp>
        <p:nvSpPr>
          <p:cNvPr id="30" name="Right Arrow 29"/>
          <p:cNvSpPr/>
          <p:nvPr/>
        </p:nvSpPr>
        <p:spPr>
          <a:xfrm>
            <a:off x="5907024"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062472"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62472" y="182880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33972" y="1993392"/>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coins.png"/>
          <p:cNvPicPr>
            <a:picLocks noChangeAspect="1"/>
          </p:cNvPicPr>
          <p:nvPr/>
        </p:nvPicPr>
        <p:blipFill>
          <a:blip r:embed="rId5"/>
          <a:stretch>
            <a:fillRect/>
          </a:stretch>
        </p:blipFill>
        <p:spPr>
          <a:xfrm>
            <a:off x="6781373" y="2140793"/>
            <a:ext cx="272126" cy="272126"/>
          </a:xfrm>
          <a:prstGeom prst="rect">
            <a:avLst/>
          </a:prstGeom>
        </p:spPr>
      </p:pic>
      <p:sp>
        <p:nvSpPr>
          <p:cNvPr id="35" name="TextBox 34"/>
          <p:cNvSpPr txBox="1"/>
          <p:nvPr/>
        </p:nvSpPr>
        <p:spPr>
          <a:xfrm>
            <a:off x="6135624"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JLR rates go in</a:t>
            </a:r>
          </a:p>
        </p:txBody>
      </p:sp>
      <p:sp>
        <p:nvSpPr>
          <p:cNvPr id="36" name="TextBox 35"/>
          <p:cNvSpPr txBox="1"/>
          <p:nvPr/>
        </p:nvSpPr>
        <p:spPr>
          <a:xfrm>
            <a:off x="6135624"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Our own material, machine, labour and energy costs</a:t>
            </a:r>
          </a:p>
        </p:txBody>
      </p:sp>
      <p:sp>
        <p:nvSpPr>
          <p:cNvPr id="37" name="Right Arrow 36"/>
          <p:cNvSpPr/>
          <p:nvPr/>
        </p:nvSpPr>
        <p:spPr>
          <a:xfrm>
            <a:off x="7790688"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946136"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946136" y="182880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517636" y="1993392"/>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calc.png"/>
          <p:cNvPicPr>
            <a:picLocks noChangeAspect="1"/>
          </p:cNvPicPr>
          <p:nvPr/>
        </p:nvPicPr>
        <p:blipFill>
          <a:blip r:embed="rId6"/>
          <a:stretch>
            <a:fillRect/>
          </a:stretch>
        </p:blipFill>
        <p:spPr>
          <a:xfrm>
            <a:off x="8665037" y="2140793"/>
            <a:ext cx="272126" cy="272126"/>
          </a:xfrm>
          <a:prstGeom prst="rect">
            <a:avLst/>
          </a:prstGeom>
        </p:spPr>
      </p:pic>
      <p:sp>
        <p:nvSpPr>
          <p:cNvPr id="42" name="TextBox 41"/>
          <p:cNvSpPr txBox="1"/>
          <p:nvPr/>
        </p:nvSpPr>
        <p:spPr>
          <a:xfrm>
            <a:off x="8019288"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Cost comes out</a:t>
            </a:r>
          </a:p>
        </p:txBody>
      </p:sp>
      <p:sp>
        <p:nvSpPr>
          <p:cNvPr id="43" name="TextBox 42"/>
          <p:cNvSpPr txBox="1"/>
          <p:nvPr/>
        </p:nvSpPr>
        <p:spPr>
          <a:xfrm>
            <a:off x="8019288"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Eight cost buckets, every figure traceable</a:t>
            </a:r>
          </a:p>
        </p:txBody>
      </p:sp>
      <p:sp>
        <p:nvSpPr>
          <p:cNvPr id="44" name="Right Arrow 43"/>
          <p:cNvSpPr/>
          <p:nvPr/>
        </p:nvSpPr>
        <p:spPr>
          <a:xfrm>
            <a:off x="9674352"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82980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829800" y="182880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401300" y="1993392"/>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clip.png"/>
          <p:cNvPicPr>
            <a:picLocks noChangeAspect="1"/>
          </p:cNvPicPr>
          <p:nvPr/>
        </p:nvPicPr>
        <p:blipFill>
          <a:blip r:embed="rId7"/>
          <a:stretch>
            <a:fillRect/>
          </a:stretch>
        </p:blipFill>
        <p:spPr>
          <a:xfrm>
            <a:off x="10548701" y="2140793"/>
            <a:ext cx="272126" cy="272126"/>
          </a:xfrm>
          <a:prstGeom prst="rect">
            <a:avLst/>
          </a:prstGeom>
        </p:spPr>
      </p:pic>
      <p:sp>
        <p:nvSpPr>
          <p:cNvPr id="49" name="TextBox 48"/>
          <p:cNvSpPr txBox="1"/>
          <p:nvPr/>
        </p:nvSpPr>
        <p:spPr>
          <a:xfrm>
            <a:off x="990295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Report is produced</a:t>
            </a:r>
          </a:p>
        </p:txBody>
      </p:sp>
      <p:sp>
        <p:nvSpPr>
          <p:cNvPr id="50" name="TextBox 49"/>
          <p:cNvSpPr txBox="1"/>
          <p:nvPr/>
        </p:nvSpPr>
        <p:spPr>
          <a:xfrm>
            <a:off x="990295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PDF or Excel for a supplier meeting</a:t>
            </a:r>
          </a:p>
        </p:txBody>
      </p:sp>
      <p:sp>
        <p:nvSpPr>
          <p:cNvPr id="51" name="TextBox 50"/>
          <p:cNvSpPr txBox="1"/>
          <p:nvPr/>
        </p:nvSpPr>
        <p:spPr>
          <a:xfrm>
            <a:off x="411480" y="3886200"/>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What order the setup has to happen in</a:t>
            </a:r>
          </a:p>
        </p:txBody>
      </p:sp>
      <p:sp>
        <p:nvSpPr>
          <p:cNvPr id="52" name="Chevron 51"/>
          <p:cNvSpPr/>
          <p:nvPr/>
        </p:nvSpPr>
        <p:spPr>
          <a:xfrm>
            <a:off x="411480" y="4187952"/>
            <a:ext cx="2258568" cy="548640"/>
          </a:xfrm>
          <a:prstGeom prst="chevron">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IT security review</a:t>
            </a:r>
          </a:p>
        </p:txBody>
      </p:sp>
      <p:sp>
        <p:nvSpPr>
          <p:cNvPr id="53" name="Chevron 52"/>
          <p:cNvSpPr/>
          <p:nvPr/>
        </p:nvSpPr>
        <p:spPr>
          <a:xfrm>
            <a:off x="2633472" y="4187952"/>
            <a:ext cx="2258568" cy="548640"/>
          </a:xfrm>
          <a:prstGeom prst="chevron">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Install and connect logins</a:t>
            </a:r>
          </a:p>
        </p:txBody>
      </p:sp>
      <p:sp>
        <p:nvSpPr>
          <p:cNvPr id="54" name="Chevron 53"/>
          <p:cNvSpPr/>
          <p:nvPr/>
        </p:nvSpPr>
        <p:spPr>
          <a:xfrm>
            <a:off x="4855464" y="4187952"/>
            <a:ext cx="2258568" cy="548640"/>
          </a:xfrm>
          <a:prstGeom prst="chevron">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Load JLR rates</a:t>
            </a:r>
          </a:p>
        </p:txBody>
      </p:sp>
      <p:sp>
        <p:nvSpPr>
          <p:cNvPr id="55" name="Chevron 54"/>
          <p:cNvSpPr/>
          <p:nvPr/>
        </p:nvSpPr>
        <p:spPr>
          <a:xfrm>
            <a:off x="7077456" y="4187952"/>
            <a:ext cx="2258568" cy="548640"/>
          </a:xfrm>
          <a:prstGeom prst="chevron">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Check against real parts</a:t>
            </a:r>
          </a:p>
        </p:txBody>
      </p:sp>
      <p:sp>
        <p:nvSpPr>
          <p:cNvPr id="56" name="Chevron 55"/>
          <p:cNvSpPr/>
          <p:nvPr/>
        </p:nvSpPr>
        <p:spPr>
          <a:xfrm>
            <a:off x="9299448" y="4187952"/>
            <a:ext cx="2258568" cy="548640"/>
          </a:xfrm>
          <a:prstGeom prst="chevron">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Trial with one team</a:t>
            </a:r>
          </a:p>
        </p:txBody>
      </p:sp>
      <p:sp>
        <p:nvSpPr>
          <p:cNvPr id="57" name="Rectangle 56"/>
          <p:cNvSpPr/>
          <p:nvPr/>
        </p:nvSpPr>
        <p:spPr>
          <a:xfrm>
            <a:off x="411480" y="4919472"/>
            <a:ext cx="11365992" cy="5486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11480" y="4919472"/>
            <a:ext cx="1371600" cy="5486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11480" y="4919472"/>
            <a:ext cx="13716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54864"/>
          <a:lstStyle/>
          <a:p>
            <a:pPr algn="l"/>
            <a:r>
              <a:rPr sz="1050" b="1">
                <a:solidFill>
                  <a:srgbClr val="FFFFFF"/>
                </a:solidFill>
                <a:latin typeface="Calibri"/>
              </a:rPr>
              <a:t>WE DO</a:t>
            </a:r>
          </a:p>
        </p:txBody>
      </p:sp>
      <p:sp>
        <p:nvSpPr>
          <p:cNvPr id="60" name="TextBox 59"/>
          <p:cNvSpPr txBox="1"/>
          <p:nvPr/>
        </p:nvSpPr>
        <p:spPr>
          <a:xfrm>
            <a:off x="1892808"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Install on a JLR server</a:t>
            </a:r>
          </a:p>
        </p:txBody>
      </p:sp>
      <p:sp>
        <p:nvSpPr>
          <p:cNvPr id="61" name="Rectangle 60"/>
          <p:cNvSpPr/>
          <p:nvPr/>
        </p:nvSpPr>
        <p:spPr>
          <a:xfrm>
            <a:off x="4281678"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391406"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Connect JLR sign-on</a:t>
            </a:r>
          </a:p>
        </p:txBody>
      </p:sp>
      <p:sp>
        <p:nvSpPr>
          <p:cNvPr id="63" name="Rectangle 62"/>
          <p:cNvSpPr/>
          <p:nvPr/>
        </p:nvSpPr>
        <p:spPr>
          <a:xfrm>
            <a:off x="6780276"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90004"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Load the rates we are given</a:t>
            </a:r>
          </a:p>
        </p:txBody>
      </p:sp>
      <p:sp>
        <p:nvSpPr>
          <p:cNvPr id="65" name="Rectangle 64"/>
          <p:cNvSpPr/>
          <p:nvPr/>
        </p:nvSpPr>
        <p:spPr>
          <a:xfrm>
            <a:off x="9278874"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388602"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Run the accuracy comparison</a:t>
            </a:r>
          </a:p>
        </p:txBody>
      </p:sp>
      <p:sp>
        <p:nvSpPr>
          <p:cNvPr id="67" name="Rectangle 66"/>
          <p:cNvSpPr/>
          <p:nvPr/>
        </p:nvSpPr>
        <p:spPr>
          <a:xfrm>
            <a:off x="411480" y="5504688"/>
            <a:ext cx="11365992" cy="5486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11480" y="5504688"/>
            <a:ext cx="1371600" cy="54864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11480" y="5504688"/>
            <a:ext cx="13716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54864"/>
          <a:lstStyle/>
          <a:p>
            <a:pPr algn="l"/>
            <a:r>
              <a:rPr sz="1050" b="1">
                <a:solidFill>
                  <a:srgbClr val="FFFFFF"/>
                </a:solidFill>
                <a:latin typeface="Calibri"/>
              </a:rPr>
              <a:t>JLR DOES</a:t>
            </a:r>
          </a:p>
        </p:txBody>
      </p:sp>
      <p:sp>
        <p:nvSpPr>
          <p:cNvPr id="70" name="TextBox 69"/>
          <p:cNvSpPr txBox="1"/>
          <p:nvPr/>
        </p:nvSpPr>
        <p:spPr>
          <a:xfrm>
            <a:off x="1892808"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Security sign-off</a:t>
            </a:r>
          </a:p>
        </p:txBody>
      </p:sp>
      <p:sp>
        <p:nvSpPr>
          <p:cNvPr id="71" name="Rectangle 70"/>
          <p:cNvSpPr/>
          <p:nvPr/>
        </p:nvSpPr>
        <p:spPr>
          <a:xfrm>
            <a:off x="4281678"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391406"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Provide a server</a:t>
            </a:r>
          </a:p>
        </p:txBody>
      </p:sp>
      <p:sp>
        <p:nvSpPr>
          <p:cNvPr id="73" name="Rectangle 72"/>
          <p:cNvSpPr/>
          <p:nvPr/>
        </p:nvSpPr>
        <p:spPr>
          <a:xfrm>
            <a:off x="6780276"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890004"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Gather the rate data</a:t>
            </a:r>
          </a:p>
        </p:txBody>
      </p:sp>
      <p:sp>
        <p:nvSpPr>
          <p:cNvPr id="75" name="Rectangle 74"/>
          <p:cNvSpPr/>
          <p:nvPr/>
        </p:nvSpPr>
        <p:spPr>
          <a:xfrm>
            <a:off x="9278874"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388602"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Supply parts with real prices</a:t>
            </a:r>
          </a:p>
        </p:txBody>
      </p:sp>
      <p:sp>
        <p:nvSpPr>
          <p:cNvPr id="77" name="Rounded Rectangle 76"/>
          <p:cNvSpPr/>
          <p:nvPr/>
        </p:nvSpPr>
        <p:spPr>
          <a:xfrm>
            <a:off x="411480" y="6144768"/>
            <a:ext cx="11365992" cy="54864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411480" y="6144768"/>
            <a:ext cx="68580" cy="54864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30936" y="626364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The software is the easy bit</a:t>
            </a:r>
          </a:p>
        </p:txBody>
      </p:sp>
      <p:sp>
        <p:nvSpPr>
          <p:cNvPr id="80" name="TextBox 79"/>
          <p:cNvSpPr txBox="1"/>
          <p:nvPr/>
        </p:nvSpPr>
        <p:spPr>
          <a:xfrm>
            <a:off x="630936" y="6547104"/>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Gathering our own rate data sets the pace for everything else, and that work sits with us rather than with the tool.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DETAIL</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gets swapped for JLR numbers</a:t>
            </a:r>
          </a:p>
        </p:txBody>
      </p:sp>
      <p:sp>
        <p:nvSpPr>
          <p:cNvPr id="9" name="Rounded Rectangle 8"/>
          <p:cNvSpPr/>
          <p:nvPr/>
        </p:nvSpPr>
        <p:spPr>
          <a:xfrm>
            <a:off x="411480" y="1737360"/>
            <a:ext cx="3657600" cy="2468880"/>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37360"/>
            <a:ext cx="68580" cy="24688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865376"/>
            <a:ext cx="329184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STAYS THE SAME</a:t>
            </a:r>
          </a:p>
        </p:txBody>
      </p:sp>
      <p:sp>
        <p:nvSpPr>
          <p:cNvPr id="12" name="TextBox 11"/>
          <p:cNvSpPr txBox="1"/>
          <p:nvPr/>
        </p:nvSpPr>
        <p:spPr>
          <a:xfrm>
            <a:off x="612648" y="2176272"/>
            <a:ext cx="3291840" cy="192024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All 19 part types</a:t>
            </a:r>
          </a:p>
          <a:p>
            <a:pPr algn="l">
              <a:lnSpc>
                <a:spcPct val="112000"/>
              </a:lnSpc>
              <a:spcAft>
                <a:spcPts val="300"/>
              </a:spcAft>
            </a:pPr>
            <a:r>
              <a:rPr sz="1050" b="0" i="0">
                <a:solidFill>
                  <a:srgbClr val="3A4356"/>
                </a:solidFill>
                <a:latin typeface="Calibri"/>
              </a:rPr>
              <a:t>The costing maths</a:t>
            </a:r>
          </a:p>
          <a:p>
            <a:pPr algn="l">
              <a:lnSpc>
                <a:spcPct val="112000"/>
              </a:lnSpc>
              <a:spcAft>
                <a:spcPts val="300"/>
              </a:spcAft>
            </a:pPr>
            <a:r>
              <a:rPr sz="1050" b="0" i="0">
                <a:solidFill>
                  <a:srgbClr val="3A4356"/>
                </a:solidFill>
                <a:latin typeface="Calibri"/>
              </a:rPr>
              <a:t>Reading 3D models and drawings</a:t>
            </a:r>
          </a:p>
          <a:p>
            <a:pPr algn="l">
              <a:lnSpc>
                <a:spcPct val="112000"/>
              </a:lnSpc>
              <a:spcAft>
                <a:spcPts val="300"/>
              </a:spcAft>
            </a:pPr>
            <a:r>
              <a:rPr sz="1050" b="0" i="0">
                <a:solidFill>
                  <a:srgbClr val="3A4356"/>
                </a:solidFill>
                <a:latin typeface="Calibri"/>
              </a:rPr>
              <a:t>The safety checks</a:t>
            </a:r>
          </a:p>
          <a:p>
            <a:pPr algn="l">
              <a:lnSpc>
                <a:spcPct val="112000"/>
              </a:lnSpc>
              <a:spcAft>
                <a:spcPts val="300"/>
              </a:spcAft>
            </a:pPr>
            <a:r>
              <a:rPr sz="1050" b="0" i="0">
                <a:solidFill>
                  <a:srgbClr val="3A4356"/>
                </a:solidFill>
                <a:latin typeface="Calibri"/>
              </a:rPr>
              <a:t>PDF and Excel reports</a:t>
            </a:r>
          </a:p>
          <a:p>
            <a:pPr algn="l">
              <a:lnSpc>
                <a:spcPct val="112000"/>
              </a:lnSpc>
              <a:spcAft>
                <a:spcPts val="300"/>
              </a:spcAft>
            </a:pPr>
            <a:r>
              <a:rPr sz="1050" b="0" i="0">
                <a:solidFill>
                  <a:srgbClr val="3A4356"/>
                </a:solidFill>
                <a:latin typeface="Calibri"/>
              </a:rPr>
              <a:t>Design-for-cost findings</a:t>
            </a:r>
          </a:p>
        </p:txBody>
      </p:sp>
      <p:sp>
        <p:nvSpPr>
          <p:cNvPr id="13" name="Rounded Rectangle 12"/>
          <p:cNvSpPr/>
          <p:nvPr/>
        </p:nvSpPr>
        <p:spPr>
          <a:xfrm>
            <a:off x="4233672" y="1737360"/>
            <a:ext cx="3657600" cy="24688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33672" y="1737360"/>
            <a:ext cx="68580" cy="24688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4840" y="1865376"/>
            <a:ext cx="329184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SWAPPED FOR JLR NUMBERS</a:t>
            </a:r>
          </a:p>
        </p:txBody>
      </p:sp>
      <p:sp>
        <p:nvSpPr>
          <p:cNvPr id="16" name="TextBox 15"/>
          <p:cNvSpPr txBox="1"/>
          <p:nvPr/>
        </p:nvSpPr>
        <p:spPr>
          <a:xfrm>
            <a:off x="4434840" y="2176272"/>
            <a:ext cx="3291840" cy="192024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Material prices</a:t>
            </a:r>
          </a:p>
          <a:p>
            <a:pPr algn="l">
              <a:lnSpc>
                <a:spcPct val="112000"/>
              </a:lnSpc>
              <a:spcAft>
                <a:spcPts val="300"/>
              </a:spcAft>
            </a:pPr>
            <a:r>
              <a:rPr sz="1050" b="0" i="0">
                <a:solidFill>
                  <a:srgbClr val="3A4356"/>
                </a:solidFill>
                <a:latin typeface="Calibri"/>
              </a:rPr>
              <a:t>Machine rates per hour</a:t>
            </a:r>
          </a:p>
          <a:p>
            <a:pPr algn="l">
              <a:lnSpc>
                <a:spcPct val="112000"/>
              </a:lnSpc>
              <a:spcAft>
                <a:spcPts val="300"/>
              </a:spcAft>
            </a:pPr>
            <a:r>
              <a:rPr sz="1050" b="0" i="0">
                <a:solidFill>
                  <a:srgbClr val="3A4356"/>
                </a:solidFill>
                <a:latin typeface="Calibri"/>
              </a:rPr>
              <a:t>Labour rates by grade</a:t>
            </a:r>
          </a:p>
          <a:p>
            <a:pPr algn="l">
              <a:lnSpc>
                <a:spcPct val="112000"/>
              </a:lnSpc>
              <a:spcAft>
                <a:spcPts val="300"/>
              </a:spcAft>
            </a:pPr>
            <a:r>
              <a:rPr sz="1050" b="0" i="0">
                <a:solidFill>
                  <a:srgbClr val="3A4356"/>
                </a:solidFill>
                <a:latin typeface="Calibri"/>
              </a:rPr>
              <a:t>Electricity and gas prices</a:t>
            </a:r>
          </a:p>
          <a:p>
            <a:pPr algn="l">
              <a:lnSpc>
                <a:spcPct val="112000"/>
              </a:lnSpc>
              <a:spcAft>
                <a:spcPts val="300"/>
              </a:spcAft>
            </a:pPr>
            <a:r>
              <a:rPr sz="1050" b="0" i="0">
                <a:solidFill>
                  <a:srgbClr val="3A4356"/>
                </a:solidFill>
                <a:latin typeface="Calibri"/>
              </a:rPr>
              <a:t>Overhead and margin policy</a:t>
            </a:r>
          </a:p>
          <a:p>
            <a:pPr algn="l">
              <a:lnSpc>
                <a:spcPct val="112000"/>
              </a:lnSpc>
              <a:spcAft>
                <a:spcPts val="300"/>
              </a:spcAft>
            </a:pPr>
            <a:r>
              <a:rPr sz="1050" b="0" i="0">
                <a:solidFill>
                  <a:srgbClr val="3A4356"/>
                </a:solidFill>
                <a:latin typeface="Calibri"/>
              </a:rPr>
              <a:t>Rates for the countries we buy from</a:t>
            </a:r>
          </a:p>
        </p:txBody>
      </p:sp>
      <p:sp>
        <p:nvSpPr>
          <p:cNvPr id="17" name="Rounded Rectangle 16"/>
          <p:cNvSpPr/>
          <p:nvPr/>
        </p:nvSpPr>
        <p:spPr>
          <a:xfrm>
            <a:off x="8055864" y="1737360"/>
            <a:ext cx="3721608" cy="24688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55864" y="1737360"/>
            <a:ext cx="68580" cy="24688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2" y="1865376"/>
            <a:ext cx="3355848"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STILL TO BUILD · none of this exists yet</a:t>
            </a:r>
          </a:p>
        </p:txBody>
      </p:sp>
      <p:sp>
        <p:nvSpPr>
          <p:cNvPr id="20" name="TextBox 19"/>
          <p:cNvSpPr txBox="1"/>
          <p:nvPr/>
        </p:nvSpPr>
        <p:spPr>
          <a:xfrm>
            <a:off x="8257032" y="2176272"/>
            <a:ext cx="3355848" cy="192024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JLR single sign-on</a:t>
            </a:r>
          </a:p>
          <a:p>
            <a:pPr algn="l">
              <a:lnSpc>
                <a:spcPct val="112000"/>
              </a:lnSpc>
              <a:spcAft>
                <a:spcPts val="300"/>
              </a:spcAft>
            </a:pPr>
            <a:r>
              <a:rPr sz="1050" b="0" i="0">
                <a:solidFill>
                  <a:srgbClr val="3A4356"/>
                </a:solidFill>
                <a:latin typeface="Calibri"/>
              </a:rPr>
              <a:t>A shared database</a:t>
            </a:r>
          </a:p>
          <a:p>
            <a:pPr algn="l">
              <a:lnSpc>
                <a:spcPct val="112000"/>
              </a:lnSpc>
              <a:spcAft>
                <a:spcPts val="300"/>
              </a:spcAft>
            </a:pPr>
            <a:r>
              <a:rPr sz="1050" b="0" i="0">
                <a:solidFill>
                  <a:srgbClr val="3A4356"/>
                </a:solidFill>
                <a:latin typeface="Calibri"/>
              </a:rPr>
              <a:t>AI routed through a JLR service</a:t>
            </a:r>
          </a:p>
          <a:p>
            <a:pPr algn="l">
              <a:lnSpc>
                <a:spcPct val="112000"/>
              </a:lnSpc>
              <a:spcAft>
                <a:spcPts val="300"/>
              </a:spcAft>
            </a:pPr>
            <a:r>
              <a:rPr sz="1050" b="0" i="0">
                <a:solidFill>
                  <a:srgbClr val="3A4356"/>
                </a:solidFill>
                <a:latin typeface="Calibri"/>
              </a:rPr>
              <a:t>History of every rate change</a:t>
            </a:r>
          </a:p>
          <a:p>
            <a:pPr algn="l">
              <a:lnSpc>
                <a:spcPct val="112000"/>
              </a:lnSpc>
              <a:spcAft>
                <a:spcPts val="300"/>
              </a:spcAft>
            </a:pPr>
            <a:r>
              <a:rPr sz="1050" b="0" i="0">
                <a:solidFill>
                  <a:srgbClr val="3A4356"/>
                </a:solidFill>
                <a:latin typeface="Calibri"/>
              </a:rPr>
              <a:t>Costings saved and auditable</a:t>
            </a:r>
          </a:p>
          <a:p>
            <a:pPr algn="l">
              <a:lnSpc>
                <a:spcPct val="112000"/>
              </a:lnSpc>
              <a:spcAft>
                <a:spcPts val="300"/>
              </a:spcAft>
            </a:pPr>
            <a:r>
              <a:rPr sz="1050" b="0" i="0">
                <a:solidFill>
                  <a:srgbClr val="3A4356"/>
                </a:solidFill>
                <a:latin typeface="Calibri"/>
              </a:rPr>
              <a:t>Backups to JLR standard</a:t>
            </a:r>
          </a:p>
        </p:txBody>
      </p:sp>
      <p:sp>
        <p:nvSpPr>
          <p:cNvPr id="21" name="Rounded Rectangle 20"/>
          <p:cNvSpPr/>
          <p:nvPr/>
        </p:nvSpPr>
        <p:spPr>
          <a:xfrm>
            <a:off x="411480" y="4389120"/>
            <a:ext cx="11365992" cy="91440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4389120"/>
            <a:ext cx="68580" cy="9144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 y="450799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Changing the rates is a setup job</a:t>
            </a:r>
          </a:p>
        </p:txBody>
      </p:sp>
      <p:sp>
        <p:nvSpPr>
          <p:cNvPr id="24" name="TextBox 23"/>
          <p:cNvSpPr txBox="1"/>
          <p:nvPr/>
        </p:nvSpPr>
        <p:spPr>
          <a:xfrm>
            <a:off x="630936" y="4791456"/>
            <a:ext cx="10954512"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tool was built so the rate book gets handed to it from outside rather than baked in, and there is already a screen for uploading one. Putting our numbers in does not change how anything is calculated.</a:t>
            </a:r>
          </a:p>
        </p:txBody>
      </p:sp>
      <p:sp>
        <p:nvSpPr>
          <p:cNvPr id="25" name="Rounded Rectangle 24"/>
          <p:cNvSpPr/>
          <p:nvPr/>
        </p:nvSpPr>
        <p:spPr>
          <a:xfrm>
            <a:off x="411480" y="5440680"/>
            <a:ext cx="11365992" cy="86868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5440680"/>
            <a:ext cx="68580" cy="86868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936" y="555955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Take the third column seriously</a:t>
            </a:r>
          </a:p>
        </p:txBody>
      </p:sp>
      <p:sp>
        <p:nvSpPr>
          <p:cNvPr id="28" name="TextBox 27"/>
          <p:cNvSpPr txBox="1"/>
          <p:nvPr/>
        </p:nvSpPr>
        <p:spPr>
          <a:xfrm>
            <a:off x="630936" y="5843016"/>
            <a:ext cx="10954512" cy="3657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None of it exists today. Without the rate history and saved costings you cannot reproduce a costing from three months ago, and that rules the tool out for anything audited until it is built.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SEQUENCE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order of work</a:t>
            </a:r>
          </a:p>
        </p:txBody>
      </p:sp>
      <p:sp>
        <p:nvSpPr>
          <p:cNvPr id="9" name="Rounded Rectangle 8"/>
          <p:cNvSpPr/>
          <p:nvPr/>
        </p:nvSpPr>
        <p:spPr>
          <a:xfrm>
            <a:off x="411480" y="1828800"/>
            <a:ext cx="11365992" cy="786384"/>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68580" cy="78638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8368" y="1993392"/>
            <a:ext cx="457200" cy="45720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2" name="TextBox 11"/>
          <p:cNvSpPr txBox="1"/>
          <p:nvPr/>
        </p:nvSpPr>
        <p:spPr>
          <a:xfrm>
            <a:off x="1325880" y="1956816"/>
            <a:ext cx="1024128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IT security review</a:t>
            </a:r>
          </a:p>
        </p:txBody>
      </p:sp>
      <p:sp>
        <p:nvSpPr>
          <p:cNvPr id="13" name="TextBox 12"/>
          <p:cNvSpPr txBox="1"/>
          <p:nvPr/>
        </p:nvSpPr>
        <p:spPr>
          <a:xfrm>
            <a:off x="1325880" y="2258568"/>
            <a:ext cx="10241280" cy="29260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The data-flow document is already written. IT decide how they want the drawing-reading step handled.</a:t>
            </a:r>
          </a:p>
        </p:txBody>
      </p:sp>
      <p:sp>
        <p:nvSpPr>
          <p:cNvPr id="14" name="Rounded Rectangle 13"/>
          <p:cNvSpPr/>
          <p:nvPr/>
        </p:nvSpPr>
        <p:spPr>
          <a:xfrm>
            <a:off x="411480" y="2706624"/>
            <a:ext cx="11365992" cy="786384"/>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706624"/>
            <a:ext cx="68580" cy="78638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8368" y="2871216"/>
            <a:ext cx="457200" cy="45720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7" name="TextBox 16"/>
          <p:cNvSpPr txBox="1"/>
          <p:nvPr/>
        </p:nvSpPr>
        <p:spPr>
          <a:xfrm>
            <a:off x="1325880" y="2834640"/>
            <a:ext cx="1024128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Install and connect</a:t>
            </a:r>
          </a:p>
        </p:txBody>
      </p:sp>
      <p:sp>
        <p:nvSpPr>
          <p:cNvPr id="18" name="TextBox 17"/>
          <p:cNvSpPr txBox="1"/>
          <p:nvPr/>
        </p:nvSpPr>
        <p:spPr>
          <a:xfrm>
            <a:off x="1325880" y="3136392"/>
            <a:ext cx="10241280" cy="29260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Put it on a JLR server, connect JLR logins, move it onto a shared database.</a:t>
            </a:r>
          </a:p>
        </p:txBody>
      </p:sp>
      <p:sp>
        <p:nvSpPr>
          <p:cNvPr id="19" name="Rounded Rectangle 18"/>
          <p:cNvSpPr/>
          <p:nvPr/>
        </p:nvSpPr>
        <p:spPr>
          <a:xfrm>
            <a:off x="411480" y="3584448"/>
            <a:ext cx="11365992" cy="786384"/>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584448"/>
            <a:ext cx="68580" cy="78638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58368" y="3749040"/>
            <a:ext cx="457200" cy="45720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2" name="TextBox 21"/>
          <p:cNvSpPr txBox="1"/>
          <p:nvPr/>
        </p:nvSpPr>
        <p:spPr>
          <a:xfrm>
            <a:off x="1325880" y="3712464"/>
            <a:ext cx="1024128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Load JLR rates</a:t>
            </a:r>
          </a:p>
        </p:txBody>
      </p:sp>
      <p:sp>
        <p:nvSpPr>
          <p:cNvPr id="23" name="TextBox 22"/>
          <p:cNvSpPr txBox="1"/>
          <p:nvPr/>
        </p:nvSpPr>
        <p:spPr>
          <a:xfrm>
            <a:off x="1325880" y="4014216"/>
            <a:ext cx="10241280" cy="29260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Materials, machine rates, labour, energy, country factors. This one sets the pace and it is ours to do.</a:t>
            </a:r>
          </a:p>
        </p:txBody>
      </p:sp>
      <p:sp>
        <p:nvSpPr>
          <p:cNvPr id="24" name="Rounded Rectangle 23"/>
          <p:cNvSpPr/>
          <p:nvPr/>
        </p:nvSpPr>
        <p:spPr>
          <a:xfrm>
            <a:off x="411480" y="4462272"/>
            <a:ext cx="11365992" cy="786384"/>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68580" cy="78638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4626864"/>
            <a:ext cx="457200" cy="45720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27" name="TextBox 26"/>
          <p:cNvSpPr txBox="1"/>
          <p:nvPr/>
        </p:nvSpPr>
        <p:spPr>
          <a:xfrm>
            <a:off x="1325880" y="4590288"/>
            <a:ext cx="1024128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Check against real parts</a:t>
            </a:r>
          </a:p>
        </p:txBody>
      </p:sp>
      <p:sp>
        <p:nvSpPr>
          <p:cNvPr id="28" name="TextBox 27"/>
          <p:cNvSpPr txBox="1"/>
          <p:nvPr/>
        </p:nvSpPr>
        <p:spPr>
          <a:xfrm>
            <a:off x="1325880" y="4892040"/>
            <a:ext cx="10241280" cy="29260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Take 30 to 50 parts we have already bought and compare. This is how we find out how accurate it is.</a:t>
            </a:r>
          </a:p>
        </p:txBody>
      </p:sp>
      <p:sp>
        <p:nvSpPr>
          <p:cNvPr id="29" name="Rounded Rectangle 28"/>
          <p:cNvSpPr/>
          <p:nvPr/>
        </p:nvSpPr>
        <p:spPr>
          <a:xfrm>
            <a:off x="411480" y="5340096"/>
            <a:ext cx="11365992" cy="786384"/>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340096"/>
            <a:ext cx="68580" cy="78638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58368" y="5504688"/>
            <a:ext cx="457200" cy="45720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5</a:t>
            </a:r>
          </a:p>
        </p:txBody>
      </p:sp>
      <p:sp>
        <p:nvSpPr>
          <p:cNvPr id="32" name="TextBox 31"/>
          <p:cNvSpPr txBox="1"/>
          <p:nvPr/>
        </p:nvSpPr>
        <p:spPr>
          <a:xfrm>
            <a:off x="1325880" y="5468112"/>
            <a:ext cx="1024128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Trial with one team</a:t>
            </a:r>
          </a:p>
        </p:txBody>
      </p:sp>
      <p:sp>
        <p:nvSpPr>
          <p:cNvPr id="33" name="TextBox 32"/>
          <p:cNvSpPr txBox="1"/>
          <p:nvPr/>
        </p:nvSpPr>
        <p:spPr>
          <a:xfrm>
            <a:off x="1325880" y="5769864"/>
            <a:ext cx="10241280" cy="292608"/>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Real parts, run alongside CAPEE. Where the two disagree, work out why before going wider.</a:t>
            </a:r>
          </a:p>
        </p:txBody>
      </p:sp>
      <p:sp>
        <p:nvSpPr>
          <p:cNvPr id="34" name="Rounded Rectangle 33"/>
          <p:cNvSpPr/>
          <p:nvPr/>
        </p:nvSpPr>
        <p:spPr>
          <a:xfrm>
            <a:off x="411480" y="6263640"/>
            <a:ext cx="5577840" cy="45720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6263640"/>
            <a:ext cx="68580" cy="4572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0936" y="638251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Step 3 sets the pace</a:t>
            </a:r>
          </a:p>
        </p:txBody>
      </p:sp>
      <p:sp>
        <p:nvSpPr>
          <p:cNvPr id="37" name="TextBox 36"/>
          <p:cNvSpPr txBox="1"/>
          <p:nvPr/>
        </p:nvSpPr>
        <p:spPr>
          <a:xfrm>
            <a:off x="630936" y="6665976"/>
            <a:ext cx="5166360"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Everything after it waits on our rate data.</a:t>
            </a:r>
          </a:p>
        </p:txBody>
      </p:sp>
      <p:sp>
        <p:nvSpPr>
          <p:cNvPr id="38" name="Rounded Rectangle 37"/>
          <p:cNvSpPr/>
          <p:nvPr/>
        </p:nvSpPr>
        <p:spPr>
          <a:xfrm>
            <a:off x="6199632" y="6263640"/>
            <a:ext cx="5577840" cy="45720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9632" y="6263640"/>
            <a:ext cx="68580" cy="4572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19088" y="638251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Step 4 answers the accuracy question</a:t>
            </a:r>
          </a:p>
        </p:txBody>
      </p:sp>
      <p:sp>
        <p:nvSpPr>
          <p:cNvPr id="41" name="TextBox 40"/>
          <p:cNvSpPr txBox="1"/>
          <p:nvPr/>
        </p:nvSpPr>
        <p:spPr>
          <a:xfrm>
            <a:off x="6419088" y="6665976"/>
            <a:ext cx="5166360"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We get a measured number instead of a view.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automatic data into CAPEE</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What happens each time an engineer costs a part</a:t>
            </a:r>
          </a:p>
        </p:txBody>
      </p:sp>
      <p:sp>
        <p:nvSpPr>
          <p:cNvPr id="10" name="Rounded Rectangle 9"/>
          <p:cNvSpPr/>
          <p:nvPr/>
        </p:nvSpPr>
        <p:spPr>
          <a:xfrm>
            <a:off x="41148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828800"/>
            <a:ext cx="1709928"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82980" y="1993392"/>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pload.png"/>
          <p:cNvPicPr>
            <a:picLocks noChangeAspect="1"/>
          </p:cNvPicPr>
          <p:nvPr/>
        </p:nvPicPr>
        <p:blipFill>
          <a:blip r:embed="rId2"/>
          <a:stretch>
            <a:fillRect/>
          </a:stretch>
        </p:blipFill>
        <p:spPr>
          <a:xfrm>
            <a:off x="1130381" y="2140793"/>
            <a:ext cx="272126" cy="272126"/>
          </a:xfrm>
          <a:prstGeom prst="rect">
            <a:avLst/>
          </a:prstGeom>
        </p:spPr>
      </p:pic>
      <p:sp>
        <p:nvSpPr>
          <p:cNvPr id="14" name="TextBox 13"/>
          <p:cNvSpPr txBox="1"/>
          <p:nvPr/>
        </p:nvSpPr>
        <p:spPr>
          <a:xfrm>
            <a:off x="48463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Engineer hands over files</a:t>
            </a:r>
          </a:p>
        </p:txBody>
      </p:sp>
      <p:sp>
        <p:nvSpPr>
          <p:cNvPr id="15" name="TextBox 14"/>
          <p:cNvSpPr txBox="1"/>
          <p:nvPr/>
        </p:nvSpPr>
        <p:spPr>
          <a:xfrm>
            <a:off x="48463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3D model and drawing, from the CAPEE screen</a:t>
            </a:r>
          </a:p>
        </p:txBody>
      </p:sp>
      <p:sp>
        <p:nvSpPr>
          <p:cNvPr id="16" name="Right Arrow 15"/>
          <p:cNvSpPr/>
          <p:nvPr/>
        </p:nvSpPr>
        <p:spPr>
          <a:xfrm>
            <a:off x="2139696"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95144"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295144" y="1828800"/>
            <a:ext cx="1709928"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866644" y="1993392"/>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uler.png"/>
          <p:cNvPicPr>
            <a:picLocks noChangeAspect="1"/>
          </p:cNvPicPr>
          <p:nvPr/>
        </p:nvPicPr>
        <p:blipFill>
          <a:blip r:embed="rId3"/>
          <a:stretch>
            <a:fillRect/>
          </a:stretch>
        </p:blipFill>
        <p:spPr>
          <a:xfrm>
            <a:off x="3014045" y="2140793"/>
            <a:ext cx="272126" cy="272126"/>
          </a:xfrm>
          <a:prstGeom prst="rect">
            <a:avLst/>
          </a:prstGeom>
        </p:spPr>
      </p:pic>
      <p:sp>
        <p:nvSpPr>
          <p:cNvPr id="21" name="TextBox 20"/>
          <p:cNvSpPr txBox="1"/>
          <p:nvPr/>
        </p:nvSpPr>
        <p:spPr>
          <a:xfrm>
            <a:off x="2368296"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Software measures</a:t>
            </a:r>
          </a:p>
        </p:txBody>
      </p:sp>
      <p:sp>
        <p:nvSpPr>
          <p:cNvPr id="22" name="TextBox 21"/>
          <p:cNvSpPr txBox="1"/>
          <p:nvPr/>
        </p:nvSpPr>
        <p:spPr>
          <a:xfrm>
            <a:off x="2368296"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Size, weight, surface area, holes, pockets</a:t>
            </a:r>
          </a:p>
        </p:txBody>
      </p:sp>
      <p:sp>
        <p:nvSpPr>
          <p:cNvPr id="23" name="Right Arrow 22"/>
          <p:cNvSpPr/>
          <p:nvPr/>
        </p:nvSpPr>
        <p:spPr>
          <a:xfrm>
            <a:off x="4023360"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78808"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78808"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750308"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lip.png"/>
          <p:cNvPicPr>
            <a:picLocks noChangeAspect="1"/>
          </p:cNvPicPr>
          <p:nvPr/>
        </p:nvPicPr>
        <p:blipFill>
          <a:blip r:embed="rId4"/>
          <a:stretch>
            <a:fillRect/>
          </a:stretch>
        </p:blipFill>
        <p:spPr>
          <a:xfrm>
            <a:off x="4897709" y="2140793"/>
            <a:ext cx="272126" cy="272126"/>
          </a:xfrm>
          <a:prstGeom prst="rect">
            <a:avLst/>
          </a:prstGeom>
        </p:spPr>
      </p:pic>
      <p:sp>
        <p:nvSpPr>
          <p:cNvPr id="28" name="TextBox 27"/>
          <p:cNvSpPr txBox="1"/>
          <p:nvPr/>
        </p:nvSpPr>
        <p:spPr>
          <a:xfrm>
            <a:off x="4251960"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AI reads the drawing</a:t>
            </a:r>
          </a:p>
        </p:txBody>
      </p:sp>
      <p:sp>
        <p:nvSpPr>
          <p:cNvPr id="29" name="TextBox 28"/>
          <p:cNvSpPr txBox="1"/>
          <p:nvPr/>
        </p:nvSpPr>
        <p:spPr>
          <a:xfrm>
            <a:off x="4251960"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Tolerances, finish, coating, heat treatment</a:t>
            </a:r>
          </a:p>
        </p:txBody>
      </p:sp>
      <p:sp>
        <p:nvSpPr>
          <p:cNvPr id="30" name="Right Arrow 29"/>
          <p:cNvSpPr/>
          <p:nvPr/>
        </p:nvSpPr>
        <p:spPr>
          <a:xfrm>
            <a:off x="5907024"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062472"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62472" y="182880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33972" y="1993392"/>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shield.png"/>
          <p:cNvPicPr>
            <a:picLocks noChangeAspect="1"/>
          </p:cNvPicPr>
          <p:nvPr/>
        </p:nvPicPr>
        <p:blipFill>
          <a:blip r:embed="rId5"/>
          <a:stretch>
            <a:fillRect/>
          </a:stretch>
        </p:blipFill>
        <p:spPr>
          <a:xfrm>
            <a:off x="6781373" y="2140793"/>
            <a:ext cx="272126" cy="272126"/>
          </a:xfrm>
          <a:prstGeom prst="rect">
            <a:avLst/>
          </a:prstGeom>
        </p:spPr>
      </p:pic>
      <p:sp>
        <p:nvSpPr>
          <p:cNvPr id="35" name="TextBox 34"/>
          <p:cNvSpPr txBox="1"/>
          <p:nvPr/>
        </p:nvSpPr>
        <p:spPr>
          <a:xfrm>
            <a:off x="6135624"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Safety checks run</a:t>
            </a:r>
          </a:p>
        </p:txBody>
      </p:sp>
      <p:sp>
        <p:nvSpPr>
          <p:cNvPr id="36" name="TextBox 35"/>
          <p:cNvSpPr txBox="1"/>
          <p:nvPr/>
        </p:nvSpPr>
        <p:spPr>
          <a:xfrm>
            <a:off x="6135624"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What the AI read gets compared with the model</a:t>
            </a:r>
          </a:p>
        </p:txBody>
      </p:sp>
      <p:sp>
        <p:nvSpPr>
          <p:cNvPr id="37" name="Right Arrow 36"/>
          <p:cNvSpPr/>
          <p:nvPr/>
        </p:nvSpPr>
        <p:spPr>
          <a:xfrm>
            <a:off x="7790688"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946136"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946136" y="1828800"/>
            <a:ext cx="1709928" cy="5486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517636" y="1993392"/>
            <a:ext cx="566928" cy="566928"/>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erson.png"/>
          <p:cNvPicPr>
            <a:picLocks noChangeAspect="1"/>
          </p:cNvPicPr>
          <p:nvPr/>
        </p:nvPicPr>
        <p:blipFill>
          <a:blip r:embed="rId6"/>
          <a:stretch>
            <a:fillRect/>
          </a:stretch>
        </p:blipFill>
        <p:spPr>
          <a:xfrm>
            <a:off x="8665037" y="2140793"/>
            <a:ext cx="272126" cy="272126"/>
          </a:xfrm>
          <a:prstGeom prst="rect">
            <a:avLst/>
          </a:prstGeom>
        </p:spPr>
      </p:pic>
      <p:sp>
        <p:nvSpPr>
          <p:cNvPr id="42" name="TextBox 41"/>
          <p:cNvSpPr txBox="1"/>
          <p:nvPr/>
        </p:nvSpPr>
        <p:spPr>
          <a:xfrm>
            <a:off x="8019288"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Engineer confirms</a:t>
            </a:r>
          </a:p>
        </p:txBody>
      </p:sp>
      <p:sp>
        <p:nvSpPr>
          <p:cNvPr id="43" name="TextBox 42"/>
          <p:cNvSpPr txBox="1"/>
          <p:nvPr/>
        </p:nvSpPr>
        <p:spPr>
          <a:xfrm>
            <a:off x="8019288"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Only the things a 3D model cannot show</a:t>
            </a:r>
          </a:p>
        </p:txBody>
      </p:sp>
      <p:sp>
        <p:nvSpPr>
          <p:cNvPr id="44" name="Right Arrow 43"/>
          <p:cNvSpPr/>
          <p:nvPr/>
        </p:nvSpPr>
        <p:spPr>
          <a:xfrm>
            <a:off x="9674352"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82980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829800" y="182880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401300" y="1993392"/>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calc.png"/>
          <p:cNvPicPr>
            <a:picLocks noChangeAspect="1"/>
          </p:cNvPicPr>
          <p:nvPr/>
        </p:nvPicPr>
        <p:blipFill>
          <a:blip r:embed="rId7"/>
          <a:stretch>
            <a:fillRect/>
          </a:stretch>
        </p:blipFill>
        <p:spPr>
          <a:xfrm>
            <a:off x="10548701" y="2140793"/>
            <a:ext cx="272126" cy="272126"/>
          </a:xfrm>
          <a:prstGeom prst="rect">
            <a:avLst/>
          </a:prstGeom>
        </p:spPr>
      </p:pic>
      <p:sp>
        <p:nvSpPr>
          <p:cNvPr id="49" name="TextBox 48"/>
          <p:cNvSpPr txBox="1"/>
          <p:nvPr/>
        </p:nvSpPr>
        <p:spPr>
          <a:xfrm>
            <a:off x="990295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CAPEE costs the part</a:t>
            </a:r>
          </a:p>
        </p:txBody>
      </p:sp>
      <p:sp>
        <p:nvSpPr>
          <p:cNvPr id="50" name="TextBox 49"/>
          <p:cNvSpPr txBox="1"/>
          <p:nvPr/>
        </p:nvSpPr>
        <p:spPr>
          <a:xfrm>
            <a:off x="990295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CAPEE gets the numbers and calculates</a:t>
            </a:r>
          </a:p>
        </p:txBody>
      </p:sp>
      <p:sp>
        <p:nvSpPr>
          <p:cNvPr id="51" name="TextBox 50"/>
          <p:cNvSpPr txBox="1"/>
          <p:nvPr/>
        </p:nvSpPr>
        <p:spPr>
          <a:xfrm>
            <a:off x="411480" y="3886200"/>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What order the build has to happen in</a:t>
            </a:r>
          </a:p>
        </p:txBody>
      </p:sp>
      <p:sp>
        <p:nvSpPr>
          <p:cNvPr id="52" name="Chevron 51"/>
          <p:cNvSpPr/>
          <p:nvPr/>
        </p:nvSpPr>
        <p:spPr>
          <a:xfrm>
            <a:off x="411480"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Agree the connection</a:t>
            </a:r>
          </a:p>
        </p:txBody>
      </p:sp>
      <p:sp>
        <p:nvSpPr>
          <p:cNvPr id="53" name="Chevron 52"/>
          <p:cNvSpPr/>
          <p:nvPr/>
        </p:nvSpPr>
        <p:spPr>
          <a:xfrm>
            <a:off x="2249423"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Stand up measuring</a:t>
            </a:r>
          </a:p>
        </p:txBody>
      </p:sp>
      <p:sp>
        <p:nvSpPr>
          <p:cNvPr id="54" name="Chevron 53"/>
          <p:cNvSpPr/>
          <p:nvPr/>
        </p:nvSpPr>
        <p:spPr>
          <a:xfrm>
            <a:off x="4087366"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Hand over settings</a:t>
            </a:r>
          </a:p>
        </p:txBody>
      </p:sp>
      <p:sp>
        <p:nvSpPr>
          <p:cNvPr id="55" name="Chevron 54"/>
          <p:cNvSpPr/>
          <p:nvPr/>
        </p:nvSpPr>
        <p:spPr>
          <a:xfrm>
            <a:off x="5925309"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Add safety checks</a:t>
            </a:r>
          </a:p>
        </p:txBody>
      </p:sp>
      <p:sp>
        <p:nvSpPr>
          <p:cNvPr id="56" name="Chevron 55"/>
          <p:cNvSpPr/>
          <p:nvPr/>
        </p:nvSpPr>
        <p:spPr>
          <a:xfrm>
            <a:off x="7763252"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Connect into CAPEE</a:t>
            </a:r>
          </a:p>
        </p:txBody>
      </p:sp>
      <p:sp>
        <p:nvSpPr>
          <p:cNvPr id="57" name="Chevron 56"/>
          <p:cNvSpPr/>
          <p:nvPr/>
        </p:nvSpPr>
        <p:spPr>
          <a:xfrm>
            <a:off x="9601195" y="4187952"/>
            <a:ext cx="1874519" cy="548640"/>
          </a:xfrm>
          <a:prstGeom prst="chevron">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Trial on one part type</a:t>
            </a:r>
          </a:p>
        </p:txBody>
      </p:sp>
      <p:sp>
        <p:nvSpPr>
          <p:cNvPr id="58" name="Rectangle 57"/>
          <p:cNvSpPr/>
          <p:nvPr/>
        </p:nvSpPr>
        <p:spPr>
          <a:xfrm>
            <a:off x="411480" y="4919472"/>
            <a:ext cx="11365992" cy="5486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11480" y="4919472"/>
            <a:ext cx="1371600" cy="5486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11480" y="4919472"/>
            <a:ext cx="13716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54864"/>
          <a:lstStyle/>
          <a:p>
            <a:pPr algn="l"/>
            <a:r>
              <a:rPr sz="1050" b="1">
                <a:solidFill>
                  <a:srgbClr val="FFFFFF"/>
                </a:solidFill>
                <a:latin typeface="Calibri"/>
              </a:rPr>
              <a:t>WE DO</a:t>
            </a:r>
          </a:p>
        </p:txBody>
      </p:sp>
      <p:sp>
        <p:nvSpPr>
          <p:cNvPr id="61" name="TextBox 60"/>
          <p:cNvSpPr txBox="1"/>
          <p:nvPr/>
        </p:nvSpPr>
        <p:spPr>
          <a:xfrm>
            <a:off x="1892808"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Package the measuring software</a:t>
            </a:r>
          </a:p>
        </p:txBody>
      </p:sp>
      <p:sp>
        <p:nvSpPr>
          <p:cNvPr id="62" name="Rectangle 61"/>
          <p:cNvSpPr/>
          <p:nvPr/>
        </p:nvSpPr>
        <p:spPr>
          <a:xfrm>
            <a:off x="4281678"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391406"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Write out every setting</a:t>
            </a:r>
          </a:p>
        </p:txBody>
      </p:sp>
      <p:sp>
        <p:nvSpPr>
          <p:cNvPr id="64" name="Rectangle 63"/>
          <p:cNvSpPr/>
          <p:nvPr/>
        </p:nvSpPr>
        <p:spPr>
          <a:xfrm>
            <a:off x="6780276"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890004"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Move the safety checks across</a:t>
            </a:r>
          </a:p>
        </p:txBody>
      </p:sp>
      <p:sp>
        <p:nvSpPr>
          <p:cNvPr id="66" name="Rectangle 65"/>
          <p:cNvSpPr/>
          <p:nvPr/>
        </p:nvSpPr>
        <p:spPr>
          <a:xfrm>
            <a:off x="9278874"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388602"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Help with the CAPEE connection</a:t>
            </a:r>
          </a:p>
        </p:txBody>
      </p:sp>
      <p:sp>
        <p:nvSpPr>
          <p:cNvPr id="68" name="Rectangle 67"/>
          <p:cNvSpPr/>
          <p:nvPr/>
        </p:nvSpPr>
        <p:spPr>
          <a:xfrm>
            <a:off x="411480" y="5504688"/>
            <a:ext cx="11365992" cy="5486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11480" y="5504688"/>
            <a:ext cx="1371600" cy="54864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11480" y="5504688"/>
            <a:ext cx="13716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54864"/>
          <a:lstStyle/>
          <a:p>
            <a:pPr algn="l"/>
            <a:r>
              <a:rPr sz="1050" b="1">
                <a:solidFill>
                  <a:srgbClr val="FFFFFF"/>
                </a:solidFill>
                <a:latin typeface="Calibri"/>
              </a:rPr>
              <a:t>JLR DOES</a:t>
            </a:r>
          </a:p>
        </p:txBody>
      </p:sp>
      <p:sp>
        <p:nvSpPr>
          <p:cNvPr id="71" name="TextBox 70"/>
          <p:cNvSpPr txBox="1"/>
          <p:nvPr/>
        </p:nvSpPr>
        <p:spPr>
          <a:xfrm>
            <a:off x="1892808"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Tell us how CAPEE is built</a:t>
            </a:r>
          </a:p>
        </p:txBody>
      </p:sp>
      <p:sp>
        <p:nvSpPr>
          <p:cNvPr id="72" name="Rectangle 71"/>
          <p:cNvSpPr/>
          <p:nvPr/>
        </p:nvSpPr>
        <p:spPr>
          <a:xfrm>
            <a:off x="4281678"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391406"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Provide a server</a:t>
            </a:r>
          </a:p>
        </p:txBody>
      </p:sp>
      <p:sp>
        <p:nvSpPr>
          <p:cNvPr id="74" name="Rectangle 73"/>
          <p:cNvSpPr/>
          <p:nvPr/>
        </p:nvSpPr>
        <p:spPr>
          <a:xfrm>
            <a:off x="6780276"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890004"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Change CAPEE to take the numbers</a:t>
            </a:r>
          </a:p>
        </p:txBody>
      </p:sp>
      <p:sp>
        <p:nvSpPr>
          <p:cNvPr id="76" name="Rectangle 75"/>
          <p:cNvSpPr/>
          <p:nvPr/>
        </p:nvSpPr>
        <p:spPr>
          <a:xfrm>
            <a:off x="9278874"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388602"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Free up a team for the trial</a:t>
            </a:r>
          </a:p>
        </p:txBody>
      </p:sp>
      <p:sp>
        <p:nvSpPr>
          <p:cNvPr id="78" name="Rounded Rectangle 77"/>
          <p:cNvSpPr/>
          <p:nvPr/>
        </p:nvSpPr>
        <p:spPr>
          <a:xfrm>
            <a:off x="411480" y="6144768"/>
            <a:ext cx="11365992" cy="54864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11480" y="6144768"/>
            <a:ext cx="68580" cy="54864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30936" y="626364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One step we cannot size yet</a:t>
            </a:r>
          </a:p>
        </p:txBody>
      </p:sp>
      <p:sp>
        <p:nvSpPr>
          <p:cNvPr id="81" name="TextBox 80"/>
          <p:cNvSpPr txBox="1"/>
          <p:nvPr/>
        </p:nvSpPr>
        <p:spPr>
          <a:xfrm>
            <a:off x="630936" y="6547104"/>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Connecting into CAPEE depends on how CAPEE is built, and we do not know that yet. Slide 12 sets out the three ways of doing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REQUIRED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Safety checks</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The AI does not set a price. It does hand over numbers that feed into one, so a bad reading turns into a bad cost. These four checks are what stop that happening, and they have to come across with everything else.</a:t>
            </a:r>
          </a:p>
        </p:txBody>
      </p:sp>
      <p:sp>
        <p:nvSpPr>
          <p:cNvPr id="10" name="Rounded Rectangle 9"/>
          <p:cNvSpPr/>
          <p:nvPr/>
        </p:nvSpPr>
        <p:spPr>
          <a:xfrm>
            <a:off x="411480" y="2212848"/>
            <a:ext cx="11365992" cy="8686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12848"/>
            <a:ext cx="68580" cy="8686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8368" y="2368296"/>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ube.png"/>
          <p:cNvPicPr>
            <a:picLocks noChangeAspect="1"/>
          </p:cNvPicPr>
          <p:nvPr/>
        </p:nvPicPr>
        <p:blipFill>
          <a:blip r:embed="rId2"/>
          <a:stretch>
            <a:fillRect/>
          </a:stretch>
        </p:blipFill>
        <p:spPr>
          <a:xfrm>
            <a:off x="801014" y="2510942"/>
            <a:ext cx="263348" cy="263348"/>
          </a:xfrm>
          <a:prstGeom prst="rect">
            <a:avLst/>
          </a:prstGeom>
        </p:spPr>
      </p:pic>
      <p:sp>
        <p:nvSpPr>
          <p:cNvPr id="14" name="TextBox 13"/>
          <p:cNvSpPr txBox="1"/>
          <p:nvPr/>
        </p:nvSpPr>
        <p:spPr>
          <a:xfrm>
            <a:off x="1417320" y="2350008"/>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The measured model beats the AI</a:t>
            </a:r>
          </a:p>
        </p:txBody>
      </p:sp>
      <p:sp>
        <p:nvSpPr>
          <p:cNvPr id="15" name="TextBox 14"/>
          <p:cNvSpPr txBox="1"/>
          <p:nvPr/>
        </p:nvSpPr>
        <p:spPr>
          <a:xfrm>
            <a:off x="1417320" y="2633472"/>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If the AI reads 2 kg off the drawing and the model measures 1.4 kg, we use the measured figure. The geometry wins.</a:t>
            </a:r>
          </a:p>
        </p:txBody>
      </p:sp>
      <p:sp>
        <p:nvSpPr>
          <p:cNvPr id="16" name="Rounded Rectangle 15"/>
          <p:cNvSpPr/>
          <p:nvPr/>
        </p:nvSpPr>
        <p:spPr>
          <a:xfrm>
            <a:off x="411480" y="3182112"/>
            <a:ext cx="11365992" cy="8686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82112"/>
            <a:ext cx="68580" cy="8686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8368" y="3337560"/>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ye.png"/>
          <p:cNvPicPr>
            <a:picLocks noChangeAspect="1"/>
          </p:cNvPicPr>
          <p:nvPr/>
        </p:nvPicPr>
        <p:blipFill>
          <a:blip r:embed="rId3"/>
          <a:stretch>
            <a:fillRect/>
          </a:stretch>
        </p:blipFill>
        <p:spPr>
          <a:xfrm>
            <a:off x="801014" y="3480206"/>
            <a:ext cx="263348" cy="263348"/>
          </a:xfrm>
          <a:prstGeom prst="rect">
            <a:avLst/>
          </a:prstGeom>
        </p:spPr>
      </p:pic>
      <p:sp>
        <p:nvSpPr>
          <p:cNvPr id="20" name="TextBox 19"/>
          <p:cNvSpPr txBox="1"/>
          <p:nvPr/>
        </p:nvSpPr>
        <p:spPr>
          <a:xfrm>
            <a:off x="1417320" y="3319272"/>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Everything read gets cross-checked</a:t>
            </a:r>
          </a:p>
        </p:txBody>
      </p:sp>
      <p:sp>
        <p:nvSpPr>
          <p:cNvPr id="21" name="TextBox 20"/>
          <p:cNvSpPr txBox="1"/>
          <p:nvPr/>
        </p:nvSpPr>
        <p:spPr>
          <a:xfrm>
            <a:off x="1417320" y="3602736"/>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Numbers taken off the drawing get compared against the measured model. Where they disagree, the engineer is told rather than the tool picking one.</a:t>
            </a:r>
          </a:p>
        </p:txBody>
      </p:sp>
      <p:sp>
        <p:nvSpPr>
          <p:cNvPr id="22" name="Rounded Rectangle 21"/>
          <p:cNvSpPr/>
          <p:nvPr/>
        </p:nvSpPr>
        <p:spPr>
          <a:xfrm>
            <a:off x="411480" y="4151376"/>
            <a:ext cx="11365992" cy="8686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4151376"/>
            <a:ext cx="68580" cy="8686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58368" y="4306824"/>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ress.png"/>
          <p:cNvPicPr>
            <a:picLocks noChangeAspect="1"/>
          </p:cNvPicPr>
          <p:nvPr/>
        </p:nvPicPr>
        <p:blipFill>
          <a:blip r:embed="rId4"/>
          <a:stretch>
            <a:fillRect/>
          </a:stretch>
        </p:blipFill>
        <p:spPr>
          <a:xfrm>
            <a:off x="801014" y="4449470"/>
            <a:ext cx="263348" cy="263348"/>
          </a:xfrm>
          <a:prstGeom prst="rect">
            <a:avLst/>
          </a:prstGeom>
        </p:spPr>
      </p:pic>
      <p:sp>
        <p:nvSpPr>
          <p:cNvPr id="26" name="TextBox 25"/>
          <p:cNvSpPr txBox="1"/>
          <p:nvPr/>
        </p:nvSpPr>
        <p:spPr>
          <a:xfrm>
            <a:off x="1417320" y="4288536"/>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Machining time has a ceiling</a:t>
            </a:r>
          </a:p>
        </p:txBody>
      </p:sp>
      <p:sp>
        <p:nvSpPr>
          <p:cNvPr id="27" name="TextBox 26"/>
          <p:cNvSpPr txBox="1"/>
          <p:nvPr/>
        </p:nvSpPr>
        <p:spPr>
          <a:xfrm>
            <a:off x="1417320" y="4572000"/>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On a casting or forging, machining is capped at what finishing that part could realistically take, so a bad estimate cannot run the cost up.</a:t>
            </a:r>
          </a:p>
        </p:txBody>
      </p:sp>
      <p:sp>
        <p:nvSpPr>
          <p:cNvPr id="28" name="Rounded Rectangle 27"/>
          <p:cNvSpPr/>
          <p:nvPr/>
        </p:nvSpPr>
        <p:spPr>
          <a:xfrm>
            <a:off x="411480" y="5120640"/>
            <a:ext cx="11365992" cy="8686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1480" y="5120640"/>
            <a:ext cx="68580" cy="8686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58368" y="5276088"/>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person.png"/>
          <p:cNvPicPr>
            <a:picLocks noChangeAspect="1"/>
          </p:cNvPicPr>
          <p:nvPr/>
        </p:nvPicPr>
        <p:blipFill>
          <a:blip r:embed="rId5"/>
          <a:stretch>
            <a:fillRect/>
          </a:stretch>
        </p:blipFill>
        <p:spPr>
          <a:xfrm>
            <a:off x="801014" y="5418734"/>
            <a:ext cx="263348" cy="263348"/>
          </a:xfrm>
          <a:prstGeom prst="rect">
            <a:avLst/>
          </a:prstGeom>
        </p:spPr>
      </p:pic>
      <p:sp>
        <p:nvSpPr>
          <p:cNvPr id="32" name="TextBox 31"/>
          <p:cNvSpPr txBox="1"/>
          <p:nvPr/>
        </p:nvSpPr>
        <p:spPr>
          <a:xfrm>
            <a:off x="1417320" y="5257800"/>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Unknowns get asked, not guessed</a:t>
            </a:r>
          </a:p>
        </p:txBody>
      </p:sp>
      <p:sp>
        <p:nvSpPr>
          <p:cNvPr id="33" name="TextBox 32"/>
          <p:cNvSpPr txBox="1"/>
          <p:nvPr/>
        </p:nvSpPr>
        <p:spPr>
          <a:xfrm>
            <a:off x="1417320" y="5541264"/>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Heat treatment, tolerance class and material grade cannot be read off a solid model, so the engineer is asked. The AI suggestion is labelled as a suggestion and never comes pre-ticked.</a:t>
            </a:r>
          </a:p>
        </p:txBody>
      </p:sp>
      <p:sp>
        <p:nvSpPr>
          <p:cNvPr id="34" name="Rounded Rectangle 33"/>
          <p:cNvSpPr/>
          <p:nvPr/>
        </p:nvSpPr>
        <p:spPr>
          <a:xfrm>
            <a:off x="411480" y="6126480"/>
            <a:ext cx="11365992" cy="566928"/>
          </a:xfrm>
          <a:prstGeom prst="roundRect">
            <a:avLst>
              <a:gd name="adj" fmla="val 12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6126480"/>
            <a:ext cx="68580" cy="566928"/>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0936" y="624535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03A2E"/>
                </a:solidFill>
                <a:latin typeface="Calibri"/>
              </a:rPr>
              <a:t>We hit this ourselves in August</a:t>
            </a:r>
          </a:p>
        </p:txBody>
      </p:sp>
      <p:sp>
        <p:nvSpPr>
          <p:cNvPr id="37" name="TextBox 36"/>
          <p:cNvSpPr txBox="1"/>
          <p:nvPr/>
        </p:nvSpPr>
        <p:spPr>
          <a:xfrm>
            <a:off x="630936" y="6528816"/>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Our review found a route through the tool with no checks on it. One missing input produced a cost of "not a number" while the software said it had worked fine. We have fixed it. It is also why I have put these checks in the scope.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HANDOVER</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hand over</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Sizes counted straight out of the software. Both languages are in common use and JLR IT will have people who know them.</a:t>
            </a:r>
          </a:p>
        </p:txBody>
      </p:sp>
      <p:sp>
        <p:nvSpPr>
          <p:cNvPr id="10" name="Rectangle 9"/>
          <p:cNvSpPr/>
          <p:nvPr/>
        </p:nvSpPr>
        <p:spPr>
          <a:xfrm>
            <a:off x="411480" y="2057400"/>
            <a:ext cx="30175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139696"/>
            <a:ext cx="28712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Part</a:t>
            </a:r>
          </a:p>
        </p:txBody>
      </p:sp>
      <p:sp>
        <p:nvSpPr>
          <p:cNvPr id="12" name="Rectangle 11"/>
          <p:cNvSpPr/>
          <p:nvPr/>
        </p:nvSpPr>
        <p:spPr>
          <a:xfrm>
            <a:off x="3429000" y="2057400"/>
            <a:ext cx="15544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2139696"/>
            <a:ext cx="14081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Language</a:t>
            </a:r>
          </a:p>
        </p:txBody>
      </p:sp>
      <p:sp>
        <p:nvSpPr>
          <p:cNvPr id="14" name="Rectangle 13"/>
          <p:cNvSpPr/>
          <p:nvPr/>
        </p:nvSpPr>
        <p:spPr>
          <a:xfrm>
            <a:off x="4983480" y="2057400"/>
            <a:ext cx="1371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65776" y="2139696"/>
            <a:ext cx="1225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Size</a:t>
            </a:r>
          </a:p>
        </p:txBody>
      </p:sp>
      <p:sp>
        <p:nvSpPr>
          <p:cNvPr id="16" name="Rectangle 15"/>
          <p:cNvSpPr/>
          <p:nvPr/>
        </p:nvSpPr>
        <p:spPr>
          <a:xfrm>
            <a:off x="6355080" y="2057400"/>
            <a:ext cx="542239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37376" y="2139696"/>
            <a:ext cx="527608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does</a:t>
            </a:r>
          </a:p>
        </p:txBody>
      </p:sp>
      <p:sp>
        <p:nvSpPr>
          <p:cNvPr id="18" name="Rectangle 17"/>
          <p:cNvSpPr/>
          <p:nvPr/>
        </p:nvSpPr>
        <p:spPr>
          <a:xfrm>
            <a:off x="411480" y="2386584"/>
            <a:ext cx="30175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450592"/>
            <a:ext cx="287121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Measuring engine</a:t>
            </a:r>
          </a:p>
        </p:txBody>
      </p:sp>
      <p:sp>
        <p:nvSpPr>
          <p:cNvPr id="20" name="Rectangle 19"/>
          <p:cNvSpPr/>
          <p:nvPr/>
        </p:nvSpPr>
        <p:spPr>
          <a:xfrm>
            <a:off x="3429000" y="2386584"/>
            <a:ext cx="155448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11296" y="2450592"/>
            <a:ext cx="1408176" cy="384048"/>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Python</a:t>
            </a:r>
          </a:p>
        </p:txBody>
      </p:sp>
      <p:sp>
        <p:nvSpPr>
          <p:cNvPr id="22" name="Rectangle 21"/>
          <p:cNvSpPr/>
          <p:nvPr/>
        </p:nvSpPr>
        <p:spPr>
          <a:xfrm>
            <a:off x="4983480" y="2386584"/>
            <a:ext cx="137160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65776" y="2450592"/>
            <a:ext cx="122529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2,039 lines</a:t>
            </a:r>
          </a:p>
        </p:txBody>
      </p:sp>
      <p:sp>
        <p:nvSpPr>
          <p:cNvPr id="24" name="Rectangle 23"/>
          <p:cNvSpPr/>
          <p:nvPr/>
        </p:nvSpPr>
        <p:spPr>
          <a:xfrm>
            <a:off x="6355080" y="2386584"/>
            <a:ext cx="542239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37376" y="2450592"/>
            <a:ext cx="5276088"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Opens the 3D model and measures it. Makes no internet connection.</a:t>
            </a:r>
          </a:p>
        </p:txBody>
      </p:sp>
      <p:sp>
        <p:nvSpPr>
          <p:cNvPr id="26" name="Rectangle 25"/>
          <p:cNvSpPr/>
          <p:nvPr/>
        </p:nvSpPr>
        <p:spPr>
          <a:xfrm>
            <a:off x="411480" y="2862072"/>
            <a:ext cx="30175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2926080"/>
            <a:ext cx="287121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Reading the drawing</a:t>
            </a:r>
          </a:p>
        </p:txBody>
      </p:sp>
      <p:sp>
        <p:nvSpPr>
          <p:cNvPr id="28" name="Rectangle 27"/>
          <p:cNvSpPr/>
          <p:nvPr/>
        </p:nvSpPr>
        <p:spPr>
          <a:xfrm>
            <a:off x="3429000" y="2862072"/>
            <a:ext cx="155448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511296" y="2926080"/>
            <a:ext cx="1408176" cy="384048"/>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30" name="Rectangle 29"/>
          <p:cNvSpPr/>
          <p:nvPr/>
        </p:nvSpPr>
        <p:spPr>
          <a:xfrm>
            <a:off x="4983480" y="2862072"/>
            <a:ext cx="137160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65776" y="2926080"/>
            <a:ext cx="122529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2,443 lines</a:t>
            </a:r>
          </a:p>
        </p:txBody>
      </p:sp>
      <p:sp>
        <p:nvSpPr>
          <p:cNvPr id="32" name="Rectangle 31"/>
          <p:cNvSpPr/>
          <p:nvPr/>
        </p:nvSpPr>
        <p:spPr>
          <a:xfrm>
            <a:off x="6355080" y="2862072"/>
            <a:ext cx="542239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2926080"/>
            <a:ext cx="5276088"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Sends the drawing to the AI and sorts out what comes back.</a:t>
            </a:r>
          </a:p>
        </p:txBody>
      </p:sp>
      <p:sp>
        <p:nvSpPr>
          <p:cNvPr id="34" name="Rectangle 33"/>
          <p:cNvSpPr/>
          <p:nvPr/>
        </p:nvSpPr>
        <p:spPr>
          <a:xfrm>
            <a:off x="411480" y="3337560"/>
            <a:ext cx="30175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401568"/>
            <a:ext cx="287121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Safety checks</a:t>
            </a:r>
          </a:p>
        </p:txBody>
      </p:sp>
      <p:sp>
        <p:nvSpPr>
          <p:cNvPr id="36" name="Rectangle 35"/>
          <p:cNvSpPr/>
          <p:nvPr/>
        </p:nvSpPr>
        <p:spPr>
          <a:xfrm>
            <a:off x="3429000" y="3337560"/>
            <a:ext cx="155448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11296" y="3401568"/>
            <a:ext cx="1408176" cy="384048"/>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38" name="Rectangle 37"/>
          <p:cNvSpPr/>
          <p:nvPr/>
        </p:nvSpPr>
        <p:spPr>
          <a:xfrm>
            <a:off x="4983480" y="3337560"/>
            <a:ext cx="137160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65776" y="3401568"/>
            <a:ext cx="122529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536 lines</a:t>
            </a:r>
          </a:p>
        </p:txBody>
      </p:sp>
      <p:sp>
        <p:nvSpPr>
          <p:cNvPr id="40" name="Rectangle 39"/>
          <p:cNvSpPr/>
          <p:nvPr/>
        </p:nvSpPr>
        <p:spPr>
          <a:xfrm>
            <a:off x="6355080" y="3337560"/>
            <a:ext cx="542239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7376" y="3401568"/>
            <a:ext cx="5276088"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The four checks on the previous slide.</a:t>
            </a:r>
          </a:p>
        </p:txBody>
      </p:sp>
      <p:sp>
        <p:nvSpPr>
          <p:cNvPr id="42" name="Rectangle 41"/>
          <p:cNvSpPr/>
          <p:nvPr/>
        </p:nvSpPr>
        <p:spPr>
          <a:xfrm>
            <a:off x="411480" y="3813048"/>
            <a:ext cx="30175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3776" y="3877056"/>
            <a:ext cx="287121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Questions per part type</a:t>
            </a:r>
          </a:p>
        </p:txBody>
      </p:sp>
      <p:sp>
        <p:nvSpPr>
          <p:cNvPr id="44" name="Rectangle 43"/>
          <p:cNvSpPr/>
          <p:nvPr/>
        </p:nvSpPr>
        <p:spPr>
          <a:xfrm>
            <a:off x="3429000" y="3813048"/>
            <a:ext cx="155448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511296" y="3877056"/>
            <a:ext cx="1408176" cy="384048"/>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46" name="Rectangle 45"/>
          <p:cNvSpPr/>
          <p:nvPr/>
        </p:nvSpPr>
        <p:spPr>
          <a:xfrm>
            <a:off x="4983480" y="3813048"/>
            <a:ext cx="137160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065776" y="3877056"/>
            <a:ext cx="122529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7,037 lines</a:t>
            </a:r>
          </a:p>
        </p:txBody>
      </p:sp>
      <p:sp>
        <p:nvSpPr>
          <p:cNvPr id="48" name="Rectangle 47"/>
          <p:cNvSpPr/>
          <p:nvPr/>
        </p:nvSpPr>
        <p:spPr>
          <a:xfrm>
            <a:off x="6355080" y="3813048"/>
            <a:ext cx="542239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37376" y="3877056"/>
            <a:ext cx="5276088"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Works out what the engineer gets asked for each kind of part.</a:t>
            </a:r>
          </a:p>
        </p:txBody>
      </p:sp>
      <p:sp>
        <p:nvSpPr>
          <p:cNvPr id="50" name="Rectangle 49"/>
          <p:cNvSpPr/>
          <p:nvPr/>
        </p:nvSpPr>
        <p:spPr>
          <a:xfrm>
            <a:off x="411480" y="4288536"/>
            <a:ext cx="30175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3776" y="4352544"/>
            <a:ext cx="287121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Design-for-cost findings</a:t>
            </a:r>
          </a:p>
        </p:txBody>
      </p:sp>
      <p:sp>
        <p:nvSpPr>
          <p:cNvPr id="52" name="Rectangle 51"/>
          <p:cNvSpPr/>
          <p:nvPr/>
        </p:nvSpPr>
        <p:spPr>
          <a:xfrm>
            <a:off x="3429000" y="4288536"/>
            <a:ext cx="155448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511296" y="4352544"/>
            <a:ext cx="1408176" cy="384048"/>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54" name="Rectangle 53"/>
          <p:cNvSpPr/>
          <p:nvPr/>
        </p:nvSpPr>
        <p:spPr>
          <a:xfrm>
            <a:off x="4983480" y="4288536"/>
            <a:ext cx="137160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065776" y="4352544"/>
            <a:ext cx="122529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1,930 lines</a:t>
            </a:r>
          </a:p>
        </p:txBody>
      </p:sp>
      <p:sp>
        <p:nvSpPr>
          <p:cNvPr id="56" name="Rectangle 55"/>
          <p:cNvSpPr/>
          <p:nvPr/>
        </p:nvSpPr>
        <p:spPr>
          <a:xfrm>
            <a:off x="6355080" y="4288536"/>
            <a:ext cx="542239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37376" y="4352544"/>
            <a:ext cx="5276088"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Flags features that are expensive to make and says why.</a:t>
            </a:r>
          </a:p>
        </p:txBody>
      </p:sp>
      <p:sp>
        <p:nvSpPr>
          <p:cNvPr id="58" name="Rectangle 57"/>
          <p:cNvSpPr/>
          <p:nvPr/>
        </p:nvSpPr>
        <p:spPr>
          <a:xfrm>
            <a:off x="411480" y="4764024"/>
            <a:ext cx="30175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3776" y="4828032"/>
            <a:ext cx="287121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Settings list</a:t>
            </a:r>
          </a:p>
        </p:txBody>
      </p:sp>
      <p:sp>
        <p:nvSpPr>
          <p:cNvPr id="60" name="Rectangle 59"/>
          <p:cNvSpPr/>
          <p:nvPr/>
        </p:nvSpPr>
        <p:spPr>
          <a:xfrm>
            <a:off x="3429000" y="4764024"/>
            <a:ext cx="155448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511296" y="4828032"/>
            <a:ext cx="1408176" cy="384048"/>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Plain list</a:t>
            </a:r>
          </a:p>
        </p:txBody>
      </p:sp>
      <p:sp>
        <p:nvSpPr>
          <p:cNvPr id="62" name="Rectangle 61"/>
          <p:cNvSpPr/>
          <p:nvPr/>
        </p:nvSpPr>
        <p:spPr>
          <a:xfrm>
            <a:off x="4983480" y="4764024"/>
            <a:ext cx="137160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065776" y="4828032"/>
            <a:ext cx="1225296"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one file</a:t>
            </a:r>
          </a:p>
        </p:txBody>
      </p:sp>
      <p:sp>
        <p:nvSpPr>
          <p:cNvPr id="64" name="Rectangle 63"/>
          <p:cNvSpPr/>
          <p:nvPr/>
        </p:nvSpPr>
        <p:spPr>
          <a:xfrm>
            <a:off x="6355080" y="4764024"/>
            <a:ext cx="542239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437376" y="4828032"/>
            <a:ext cx="5276088" cy="384048"/>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Every fixed number pulled together in one place. Next slide.</a:t>
            </a:r>
          </a:p>
        </p:txBody>
      </p:sp>
      <p:sp>
        <p:nvSpPr>
          <p:cNvPr id="66" name="Rounded Rectangle 65"/>
          <p:cNvSpPr/>
          <p:nvPr/>
        </p:nvSpPr>
        <p:spPr>
          <a:xfrm>
            <a:off x="411480" y="5120640"/>
            <a:ext cx="5577840" cy="105156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11480" y="5120640"/>
            <a:ext cx="68580" cy="105156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30936" y="523951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About the two languages</a:t>
            </a:r>
          </a:p>
        </p:txBody>
      </p:sp>
      <p:sp>
        <p:nvSpPr>
          <p:cNvPr id="69" name="TextBox 68"/>
          <p:cNvSpPr txBox="1"/>
          <p:nvPr/>
        </p:nvSpPr>
        <p:spPr>
          <a:xfrm>
            <a:off x="630936" y="5522976"/>
            <a:ext cx="5166360"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Python is the normal choice for engineering and measurement work. TypeScript is widely used for business software. Neither is unusual and neither ties JLR to one supplier.</a:t>
            </a:r>
          </a:p>
        </p:txBody>
      </p:sp>
      <p:sp>
        <p:nvSpPr>
          <p:cNvPr id="70" name="Rounded Rectangle 69"/>
          <p:cNvSpPr/>
          <p:nvPr/>
        </p:nvSpPr>
        <p:spPr>
          <a:xfrm>
            <a:off x="6199632" y="5120640"/>
            <a:ext cx="5577840" cy="105156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6199632" y="5120640"/>
            <a:ext cx="68580" cy="105156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419088" y="523951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One thing for IT to confirm</a:t>
            </a:r>
          </a:p>
        </p:txBody>
      </p:sp>
      <p:sp>
        <p:nvSpPr>
          <p:cNvPr id="73" name="TextBox 72"/>
          <p:cNvSpPr txBox="1"/>
          <p:nvPr/>
        </p:nvSpPr>
        <p:spPr>
          <a:xfrm>
            <a:off x="6419088" y="5522976"/>
            <a:ext cx="5166360"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measuring engine needs a normal Linux server, not the cut-down kind used for small services. It decides where this can go, so worth settling early.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SETTINGS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fixed numbers in the code</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These are engineering judgements written into the code. Six real ones, taken from the software as it stands:</a:t>
            </a:r>
          </a:p>
        </p:txBody>
      </p:sp>
      <p:sp>
        <p:nvSpPr>
          <p:cNvPr id="10" name="Rectangle 9"/>
          <p:cNvSpPr/>
          <p:nvPr/>
        </p:nvSpPr>
        <p:spPr>
          <a:xfrm>
            <a:off x="411480" y="2057400"/>
            <a:ext cx="39319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139696"/>
            <a:ext cx="37856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controls</a:t>
            </a:r>
          </a:p>
        </p:txBody>
      </p:sp>
      <p:sp>
        <p:nvSpPr>
          <p:cNvPr id="12" name="Rectangle 11"/>
          <p:cNvSpPr/>
          <p:nvPr/>
        </p:nvSpPr>
        <p:spPr>
          <a:xfrm>
            <a:off x="4343400" y="2057400"/>
            <a:ext cx="21031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25696" y="2139696"/>
            <a:ext cx="19568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Value</a:t>
            </a:r>
          </a:p>
        </p:txBody>
      </p:sp>
      <p:sp>
        <p:nvSpPr>
          <p:cNvPr id="14" name="Rectangle 13"/>
          <p:cNvSpPr/>
          <p:nvPr/>
        </p:nvSpPr>
        <p:spPr>
          <a:xfrm>
            <a:off x="6446520" y="2057400"/>
            <a:ext cx="533095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2139696"/>
            <a:ext cx="518464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Why</a:t>
            </a:r>
          </a:p>
        </p:txBody>
      </p:sp>
      <p:sp>
        <p:nvSpPr>
          <p:cNvPr id="16" name="Rectangle 15"/>
          <p:cNvSpPr/>
          <p:nvPr/>
        </p:nvSpPr>
        <p:spPr>
          <a:xfrm>
            <a:off x="411480" y="2386584"/>
            <a:ext cx="39319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 y="245059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Smallest face counted as machined</a:t>
            </a:r>
          </a:p>
        </p:txBody>
      </p:sp>
      <p:sp>
        <p:nvSpPr>
          <p:cNvPr id="18" name="Rectangle 17"/>
          <p:cNvSpPr/>
          <p:nvPr/>
        </p:nvSpPr>
        <p:spPr>
          <a:xfrm>
            <a:off x="4343400" y="2386584"/>
            <a:ext cx="21031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25696" y="245059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400 mm²</a:t>
            </a:r>
          </a:p>
        </p:txBody>
      </p:sp>
      <p:sp>
        <p:nvSpPr>
          <p:cNvPr id="20" name="Rectangle 19"/>
          <p:cNvSpPr/>
          <p:nvPr/>
        </p:nvSpPr>
        <p:spPr>
          <a:xfrm>
            <a:off x="6446520" y="2386584"/>
            <a:ext cx="533095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28816" y="245059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Below this we treat it as an edge, not a face to machine</a:t>
            </a:r>
          </a:p>
        </p:txBody>
      </p:sp>
      <p:sp>
        <p:nvSpPr>
          <p:cNvPr id="22" name="Rectangle 21"/>
          <p:cNvSpPr/>
          <p:nvPr/>
        </p:nvSpPr>
        <p:spPr>
          <a:xfrm>
            <a:off x="411480" y="2843784"/>
            <a:ext cx="39319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 y="290779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Smallest pocket counted</a:t>
            </a:r>
          </a:p>
        </p:txBody>
      </p:sp>
      <p:sp>
        <p:nvSpPr>
          <p:cNvPr id="24" name="Rectangle 23"/>
          <p:cNvSpPr/>
          <p:nvPr/>
        </p:nvSpPr>
        <p:spPr>
          <a:xfrm>
            <a:off x="4343400" y="2843784"/>
            <a:ext cx="21031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25696" y="290779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80 mm²</a:t>
            </a:r>
          </a:p>
        </p:txBody>
      </p:sp>
      <p:sp>
        <p:nvSpPr>
          <p:cNvPr id="26" name="Rectangle 25"/>
          <p:cNvSpPr/>
          <p:nvPr/>
        </p:nvSpPr>
        <p:spPr>
          <a:xfrm>
            <a:off x="6446520" y="2843784"/>
            <a:ext cx="533095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28816" y="290779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Stops small recesses getting costed as pockets</a:t>
            </a:r>
          </a:p>
        </p:txBody>
      </p:sp>
      <p:sp>
        <p:nvSpPr>
          <p:cNvPr id="28" name="Rectangle 27"/>
          <p:cNvSpPr/>
          <p:nvPr/>
        </p:nvSpPr>
        <p:spPr>
          <a:xfrm>
            <a:off x="411480" y="3300984"/>
            <a:ext cx="39319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3776" y="336499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Cost of a rejected plated part</a:t>
            </a:r>
          </a:p>
        </p:txBody>
      </p:sp>
      <p:sp>
        <p:nvSpPr>
          <p:cNvPr id="30" name="Rectangle 29"/>
          <p:cNvSpPr/>
          <p:nvPr/>
        </p:nvSpPr>
        <p:spPr>
          <a:xfrm>
            <a:off x="4343400" y="3300984"/>
            <a:ext cx="21031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25696" y="336499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4.5x a good one</a:t>
            </a:r>
          </a:p>
        </p:txBody>
      </p:sp>
      <p:sp>
        <p:nvSpPr>
          <p:cNvPr id="32" name="Rectangle 31"/>
          <p:cNvSpPr/>
          <p:nvPr/>
        </p:nvSpPr>
        <p:spPr>
          <a:xfrm>
            <a:off x="6446520" y="3300984"/>
            <a:ext cx="533095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28816" y="336499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You strip it and plate it again, so a 3% reject rate is nearer 13% on cost</a:t>
            </a:r>
          </a:p>
        </p:txBody>
      </p:sp>
      <p:sp>
        <p:nvSpPr>
          <p:cNvPr id="34" name="Rectangle 33"/>
          <p:cNvSpPr/>
          <p:nvPr/>
        </p:nvSpPr>
        <p:spPr>
          <a:xfrm>
            <a:off x="411480" y="3758184"/>
            <a:ext cx="39319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82219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Zinc price used for plating</a:t>
            </a:r>
          </a:p>
        </p:txBody>
      </p:sp>
      <p:sp>
        <p:nvSpPr>
          <p:cNvPr id="36" name="Rectangle 35"/>
          <p:cNvSpPr/>
          <p:nvPr/>
        </p:nvSpPr>
        <p:spPr>
          <a:xfrm>
            <a:off x="4343400" y="3758184"/>
            <a:ext cx="21031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25696" y="382219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USD 3.67 / kg</a:t>
            </a:r>
          </a:p>
        </p:txBody>
      </p:sp>
      <p:sp>
        <p:nvSpPr>
          <p:cNvPr id="38" name="Rectangle 37"/>
          <p:cNvSpPr/>
          <p:nvPr/>
        </p:nvSpPr>
        <p:spPr>
          <a:xfrm>
            <a:off x="6446520" y="3758184"/>
            <a:ext cx="533095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28816" y="382219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Market reference, August 2026. Moves monthly and is meant to get updated</a:t>
            </a:r>
          </a:p>
        </p:txBody>
      </p:sp>
      <p:sp>
        <p:nvSpPr>
          <p:cNvPr id="40" name="Rectangle 39"/>
          <p:cNvSpPr/>
          <p:nvPr/>
        </p:nvSpPr>
        <p:spPr>
          <a:xfrm>
            <a:off x="411480" y="4215384"/>
            <a:ext cx="39319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93776" y="427939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Shape allowance, pressing</a:t>
            </a:r>
          </a:p>
        </p:txBody>
      </p:sp>
      <p:sp>
        <p:nvSpPr>
          <p:cNvPr id="42" name="Rectangle 41"/>
          <p:cNvSpPr/>
          <p:nvPr/>
        </p:nvSpPr>
        <p:spPr>
          <a:xfrm>
            <a:off x="4343400" y="4215384"/>
            <a:ext cx="21031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25696" y="427939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1.15</a:t>
            </a:r>
          </a:p>
        </p:txBody>
      </p:sp>
      <p:sp>
        <p:nvSpPr>
          <p:cNvPr id="44" name="Rectangle 43"/>
          <p:cNvSpPr/>
          <p:nvPr/>
        </p:nvSpPr>
        <p:spPr>
          <a:xfrm>
            <a:off x="6446520" y="4215384"/>
            <a:ext cx="533095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28816" y="427939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A real pressing has more surface than a flat plate: edges, flanges, bends</a:t>
            </a:r>
          </a:p>
        </p:txBody>
      </p:sp>
      <p:sp>
        <p:nvSpPr>
          <p:cNvPr id="46" name="Rectangle 45"/>
          <p:cNvSpPr/>
          <p:nvPr/>
        </p:nvSpPr>
        <p:spPr>
          <a:xfrm>
            <a:off x="411480" y="4672584"/>
            <a:ext cx="39319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3776" y="473659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Shape allowance, casting and forging</a:t>
            </a:r>
          </a:p>
        </p:txBody>
      </p:sp>
      <p:sp>
        <p:nvSpPr>
          <p:cNvPr id="48" name="Rectangle 47"/>
          <p:cNvSpPr/>
          <p:nvPr/>
        </p:nvSpPr>
        <p:spPr>
          <a:xfrm>
            <a:off x="4343400" y="4672584"/>
            <a:ext cx="21031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425696" y="473659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1.25 / 1.10</a:t>
            </a:r>
          </a:p>
        </p:txBody>
      </p:sp>
      <p:sp>
        <p:nvSpPr>
          <p:cNvPr id="50" name="Rectangle 49"/>
          <p:cNvSpPr/>
          <p:nvPr/>
        </p:nvSpPr>
        <p:spPr>
          <a:xfrm>
            <a:off x="6446520" y="4672584"/>
            <a:ext cx="533095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528816" y="473659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Castings carry ribs and bosses; forgings are simpler on the outside</a:t>
            </a:r>
          </a:p>
        </p:txBody>
      </p:sp>
      <p:sp>
        <p:nvSpPr>
          <p:cNvPr id="52" name="Rounded Rectangle 51"/>
          <p:cNvSpPr/>
          <p:nvPr/>
        </p:nvSpPr>
        <p:spPr>
          <a:xfrm>
            <a:off x="411480" y="5029200"/>
            <a:ext cx="5577840" cy="109728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11480" y="5029200"/>
            <a:ext cx="68580" cy="10972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0936" y="514807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How they get handed over</a:t>
            </a:r>
          </a:p>
        </p:txBody>
      </p:sp>
      <p:sp>
        <p:nvSpPr>
          <p:cNvPr id="55" name="TextBox 54"/>
          <p:cNvSpPr txBox="1"/>
          <p:nvPr/>
        </p:nvSpPr>
        <p:spPr>
          <a:xfrm>
            <a:off x="630936" y="5431536"/>
            <a:ext cx="5166360" cy="5943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Pulled out of the code into one list you can read and change without a developer. That list is a deliverable in its own right and it is a step in the Option 1 sequence.</a:t>
            </a:r>
          </a:p>
        </p:txBody>
      </p:sp>
      <p:sp>
        <p:nvSpPr>
          <p:cNvPr id="56" name="Rounded Rectangle 55"/>
          <p:cNvSpPr/>
          <p:nvPr/>
        </p:nvSpPr>
        <p:spPr>
          <a:xfrm>
            <a:off x="6199632" y="5029200"/>
            <a:ext cx="5577840" cy="109728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199632" y="5029200"/>
            <a:ext cx="68580" cy="109728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19088" y="514807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Where these came from</a:t>
            </a:r>
          </a:p>
        </p:txBody>
      </p:sp>
      <p:sp>
        <p:nvSpPr>
          <p:cNvPr id="59" name="TextBox 58"/>
          <p:cNvSpPr txBox="1"/>
          <p:nvPr/>
        </p:nvSpPr>
        <p:spPr>
          <a:xfrm>
            <a:off x="6419088" y="5431536"/>
            <a:ext cx="5166360" cy="5943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They are our engineering estimates. They are not measurements from a JLR plant. Treat them as a starting point and expect to replace them as real data comes 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DECISION FOR IT</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Three ways to connect it to CAPEE</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We do not know yet how CAPEE is built. All three routes work. The answer decides which one we use and how much effort it takes.</a:t>
            </a:r>
          </a:p>
        </p:txBody>
      </p:sp>
      <p:sp>
        <p:nvSpPr>
          <p:cNvPr id="10" name="Rectangle 9"/>
          <p:cNvSpPr/>
          <p:nvPr/>
        </p:nvSpPr>
        <p:spPr>
          <a:xfrm>
            <a:off x="411480" y="2103120"/>
            <a:ext cx="2651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185416"/>
            <a:ext cx="2505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Route</a:t>
            </a:r>
          </a:p>
        </p:txBody>
      </p:sp>
      <p:sp>
        <p:nvSpPr>
          <p:cNvPr id="12" name="Rectangle 11"/>
          <p:cNvSpPr/>
          <p:nvPr/>
        </p:nvSpPr>
        <p:spPr>
          <a:xfrm>
            <a:off x="3063240" y="2103120"/>
            <a:ext cx="2651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45536" y="2185416"/>
            <a:ext cx="2505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Use when</a:t>
            </a:r>
          </a:p>
        </p:txBody>
      </p:sp>
      <p:sp>
        <p:nvSpPr>
          <p:cNvPr id="14" name="Rectangle 13"/>
          <p:cNvSpPr/>
          <p:nvPr/>
        </p:nvSpPr>
        <p:spPr>
          <a:xfrm>
            <a:off x="5715000" y="2103120"/>
            <a:ext cx="469087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97296" y="2185416"/>
            <a:ext cx="454456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means day to day</a:t>
            </a:r>
          </a:p>
        </p:txBody>
      </p:sp>
      <p:sp>
        <p:nvSpPr>
          <p:cNvPr id="16" name="Rectangle 15"/>
          <p:cNvSpPr/>
          <p:nvPr/>
        </p:nvSpPr>
        <p:spPr>
          <a:xfrm>
            <a:off x="10405872" y="2103120"/>
            <a:ext cx="1371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88168" y="2185416"/>
            <a:ext cx="1225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Relative effort</a:t>
            </a:r>
          </a:p>
        </p:txBody>
      </p:sp>
      <p:sp>
        <p:nvSpPr>
          <p:cNvPr id="18" name="Rectangle 17"/>
          <p:cNvSpPr/>
          <p:nvPr/>
        </p:nvSpPr>
        <p:spPr>
          <a:xfrm>
            <a:off x="411480" y="243230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496312"/>
            <a:ext cx="250545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16325C"/>
                </a:solidFill>
                <a:latin typeface="Calibri"/>
              </a:rPr>
              <a:t>A · Put it inside CAPEE</a:t>
            </a:r>
          </a:p>
        </p:txBody>
      </p:sp>
      <p:sp>
        <p:nvSpPr>
          <p:cNvPr id="20" name="Rectangle 19"/>
          <p:cNvSpPr/>
          <p:nvPr/>
        </p:nvSpPr>
        <p:spPr>
          <a:xfrm>
            <a:off x="3063240" y="243230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45536" y="2496312"/>
            <a:ext cx="2505456"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CAPEE is built in JavaScript</a:t>
            </a:r>
          </a:p>
        </p:txBody>
      </p:sp>
      <p:sp>
        <p:nvSpPr>
          <p:cNvPr id="22" name="Rectangle 21"/>
          <p:cNvSpPr/>
          <p:nvPr/>
        </p:nvSpPr>
        <p:spPr>
          <a:xfrm>
            <a:off x="5715000" y="2432304"/>
            <a:ext cx="4690872"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97296" y="2496312"/>
            <a:ext cx="4544568"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Our code goes straight in. Only the measuring engine sits separately.</a:t>
            </a:r>
          </a:p>
        </p:txBody>
      </p:sp>
      <p:sp>
        <p:nvSpPr>
          <p:cNvPr id="24" name="Rectangle 23"/>
          <p:cNvSpPr/>
          <p:nvPr/>
        </p:nvSpPr>
        <p:spPr>
          <a:xfrm>
            <a:off x="10405872" y="2432304"/>
            <a:ext cx="137160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488168" y="2496312"/>
            <a:ext cx="122529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2E8B57"/>
                </a:solidFill>
                <a:latin typeface="Calibri"/>
              </a:rPr>
              <a:t>Least effort</a:t>
            </a:r>
          </a:p>
        </p:txBody>
      </p:sp>
      <p:sp>
        <p:nvSpPr>
          <p:cNvPr id="26" name="Rectangle 25"/>
          <p:cNvSpPr/>
          <p:nvPr/>
        </p:nvSpPr>
        <p:spPr>
          <a:xfrm>
            <a:off x="411480" y="3209544"/>
            <a:ext cx="2651760"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3273552"/>
            <a:ext cx="250545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16325C"/>
                </a:solidFill>
                <a:latin typeface="Calibri"/>
              </a:rPr>
              <a:t>B · Run it alongside</a:t>
            </a:r>
          </a:p>
        </p:txBody>
      </p:sp>
      <p:sp>
        <p:nvSpPr>
          <p:cNvPr id="28" name="Rectangle 27"/>
          <p:cNvSpPr/>
          <p:nvPr/>
        </p:nvSpPr>
        <p:spPr>
          <a:xfrm>
            <a:off x="3063240" y="3209544"/>
            <a:ext cx="2651760"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145536" y="3273552"/>
            <a:ext cx="2505456"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CAPEE is Java, .NET or anything else</a:t>
            </a:r>
          </a:p>
        </p:txBody>
      </p:sp>
      <p:sp>
        <p:nvSpPr>
          <p:cNvPr id="30" name="Rectangle 29"/>
          <p:cNvSpPr/>
          <p:nvPr/>
        </p:nvSpPr>
        <p:spPr>
          <a:xfrm>
            <a:off x="5715000" y="3209544"/>
            <a:ext cx="4690872"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97296" y="3273552"/>
            <a:ext cx="4544568"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It runs as its own service on a JLR server and CAPEE asks it for numbers over a secure link.</a:t>
            </a:r>
          </a:p>
        </p:txBody>
      </p:sp>
      <p:sp>
        <p:nvSpPr>
          <p:cNvPr id="32" name="Rectangle 31"/>
          <p:cNvSpPr/>
          <p:nvPr/>
        </p:nvSpPr>
        <p:spPr>
          <a:xfrm>
            <a:off x="10405872" y="3209544"/>
            <a:ext cx="1371600"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488168" y="3273552"/>
            <a:ext cx="122529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B7791F"/>
                </a:solidFill>
                <a:latin typeface="Calibri"/>
              </a:rPr>
              <a:t>Most effort</a:t>
            </a:r>
          </a:p>
        </p:txBody>
      </p:sp>
      <p:sp>
        <p:nvSpPr>
          <p:cNvPr id="34" name="Rectangle 33"/>
          <p:cNvSpPr/>
          <p:nvPr/>
        </p:nvSpPr>
        <p:spPr>
          <a:xfrm>
            <a:off x="411480" y="398678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4050792"/>
            <a:ext cx="250545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16325C"/>
                </a:solidFill>
                <a:latin typeface="Calibri"/>
              </a:rPr>
              <a:t>C · Pass a file</a:t>
            </a:r>
          </a:p>
        </p:txBody>
      </p:sp>
      <p:sp>
        <p:nvSpPr>
          <p:cNvPr id="36" name="Rectangle 35"/>
          <p:cNvSpPr/>
          <p:nvPr/>
        </p:nvSpPr>
        <p:spPr>
          <a:xfrm>
            <a:off x="3063240" y="398678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45536" y="4050792"/>
            <a:ext cx="2505456"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CAPEE is a desktop or spreadsheet tool</a:t>
            </a:r>
          </a:p>
        </p:txBody>
      </p:sp>
      <p:sp>
        <p:nvSpPr>
          <p:cNvPr id="38" name="Rectangle 37"/>
          <p:cNvSpPr/>
          <p:nvPr/>
        </p:nvSpPr>
        <p:spPr>
          <a:xfrm>
            <a:off x="5715000" y="3986784"/>
            <a:ext cx="4690872"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97296" y="4050792"/>
            <a:ext cx="4544568"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It writes a file that CAPEE imports. Simplest to build, but somebody has to move the file.</a:t>
            </a:r>
          </a:p>
        </p:txBody>
      </p:sp>
      <p:sp>
        <p:nvSpPr>
          <p:cNvPr id="40" name="Rectangle 39"/>
          <p:cNvSpPr/>
          <p:nvPr/>
        </p:nvSpPr>
        <p:spPr>
          <a:xfrm>
            <a:off x="10405872" y="3986784"/>
            <a:ext cx="137160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488168" y="4050792"/>
            <a:ext cx="122529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2E8B57"/>
                </a:solidFill>
                <a:latin typeface="Calibri"/>
              </a:rPr>
              <a:t>Least effort</a:t>
            </a:r>
          </a:p>
        </p:txBody>
      </p:sp>
      <p:sp>
        <p:nvSpPr>
          <p:cNvPr id="42" name="Rounded Rectangle 41"/>
          <p:cNvSpPr/>
          <p:nvPr/>
        </p:nvSpPr>
        <p:spPr>
          <a:xfrm>
            <a:off x="411480" y="4937760"/>
            <a:ext cx="5577840" cy="91440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11480" y="4937760"/>
            <a:ext cx="68580" cy="9144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30936" y="505663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If we had to pick blind</a:t>
            </a:r>
          </a:p>
        </p:txBody>
      </p:sp>
      <p:sp>
        <p:nvSpPr>
          <p:cNvPr id="45" name="TextBox 44"/>
          <p:cNvSpPr txBox="1"/>
          <p:nvPr/>
        </p:nvSpPr>
        <p:spPr>
          <a:xfrm>
            <a:off x="630936" y="5340096"/>
            <a:ext cx="5166360"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Route B. It works whatever CAPEE turns out to be, and we can update CostVision without touching CAPEE every time.</a:t>
            </a:r>
          </a:p>
        </p:txBody>
      </p:sp>
      <p:sp>
        <p:nvSpPr>
          <p:cNvPr id="46" name="Rounded Rectangle 45"/>
          <p:cNvSpPr/>
          <p:nvPr/>
        </p:nvSpPr>
        <p:spPr>
          <a:xfrm>
            <a:off x="6199632" y="4937760"/>
            <a:ext cx="5577840" cy="91440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99632" y="4937760"/>
            <a:ext cx="68580" cy="9144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19088" y="505663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Three questions for IT</a:t>
            </a:r>
          </a:p>
        </p:txBody>
      </p:sp>
      <p:sp>
        <p:nvSpPr>
          <p:cNvPr id="49" name="TextBox 48"/>
          <p:cNvSpPr txBox="1"/>
          <p:nvPr/>
        </p:nvSpPr>
        <p:spPr>
          <a:xfrm>
            <a:off x="6419088" y="5340096"/>
            <a:ext cx="5166360"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What is CAPEE written in. Can it call another service on the network. Can it run on a normal Linux server.</a:t>
            </a:r>
          </a:p>
        </p:txBody>
      </p:sp>
      <p:sp>
        <p:nvSpPr>
          <p:cNvPr id="50" name="TextBox 49"/>
          <p:cNvSpPr txBox="1"/>
          <p:nvPr/>
        </p:nvSpPr>
        <p:spPr>
          <a:xfrm>
            <a:off x="411480" y="6419088"/>
            <a:ext cx="11338560" cy="219456"/>
          </a:xfrm>
          <a:prstGeom prst="rect">
            <a:avLst/>
          </a:prstGeom>
          <a:noFill/>
        </p:spPr>
        <p:txBody>
          <a:bodyPr wrap="square" anchor="t" lIns="0" rIns="0" tIns="0" bIns="0">
            <a:spAutoFit/>
          </a:bodyPr>
          <a:lstStyle/>
          <a:p>
            <a:pPr algn="l">
              <a:lnSpc>
                <a:spcPct val="100000"/>
              </a:lnSpc>
              <a:spcAft>
                <a:spcPts val="400"/>
              </a:spcAft>
            </a:pPr>
            <a:r>
              <a:rPr sz="800" b="0" i="0">
                <a:solidFill>
                  <a:srgbClr val="6B7280"/>
                </a:solidFill>
                <a:latin typeface="Calibri"/>
              </a:rPr>
              <a:t>Effort is shown against the other two routes. None of the three has been sized by JLR.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SEQUENCE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order of work</a:t>
            </a:r>
          </a:p>
        </p:txBody>
      </p:sp>
      <p:sp>
        <p:nvSpPr>
          <p:cNvPr id="9" name="Rounded Rectangle 8"/>
          <p:cNvSpPr/>
          <p:nvPr/>
        </p:nvSpPr>
        <p:spPr>
          <a:xfrm>
            <a:off x="411480" y="1783080"/>
            <a:ext cx="11365992" cy="722376"/>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83080"/>
            <a:ext cx="68580" cy="72237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8368" y="1920240"/>
            <a:ext cx="438912" cy="438912"/>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2" name="TextBox 11"/>
          <p:cNvSpPr txBox="1"/>
          <p:nvPr/>
        </p:nvSpPr>
        <p:spPr>
          <a:xfrm>
            <a:off x="1298448" y="1883664"/>
            <a:ext cx="1024128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Agree the connection</a:t>
            </a:r>
          </a:p>
        </p:txBody>
      </p:sp>
      <p:sp>
        <p:nvSpPr>
          <p:cNvPr id="13" name="TextBox 12"/>
          <p:cNvSpPr txBox="1"/>
          <p:nvPr/>
        </p:nvSpPr>
        <p:spPr>
          <a:xfrm>
            <a:off x="1298448" y="2176272"/>
            <a:ext cx="10241280" cy="274320"/>
          </a:xfrm>
          <a:prstGeom prst="rect">
            <a:avLst/>
          </a:prstGeom>
          <a:noFill/>
        </p:spPr>
        <p:txBody>
          <a:bodyPr wrap="square" anchor="t" lIns="0" rIns="0" tIns="0" bIns="0">
            <a:spAutoFit/>
          </a:bodyPr>
          <a:lstStyle/>
          <a:p>
            <a:pPr algn="l">
              <a:lnSpc>
                <a:spcPct val="100000"/>
              </a:lnSpc>
              <a:spcAft>
                <a:spcPts val="400"/>
              </a:spcAft>
            </a:pPr>
            <a:r>
              <a:rPr sz="990" b="0" i="0">
                <a:solidFill>
                  <a:srgbClr val="3A4356"/>
                </a:solidFill>
                <a:latin typeface="Calibri"/>
              </a:rPr>
              <a:t>Find out how CAPEE is built, pick one of the three routes, agree exactly which numbers CAPEE expects.</a:t>
            </a:r>
          </a:p>
        </p:txBody>
      </p:sp>
      <p:sp>
        <p:nvSpPr>
          <p:cNvPr id="14" name="Rounded Rectangle 13"/>
          <p:cNvSpPr/>
          <p:nvPr/>
        </p:nvSpPr>
        <p:spPr>
          <a:xfrm>
            <a:off x="411480" y="2587752"/>
            <a:ext cx="11365992" cy="722376"/>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587752"/>
            <a:ext cx="68580" cy="72237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8368" y="2724912"/>
            <a:ext cx="438912" cy="438912"/>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7" name="TextBox 16"/>
          <p:cNvSpPr txBox="1"/>
          <p:nvPr/>
        </p:nvSpPr>
        <p:spPr>
          <a:xfrm>
            <a:off x="1298448" y="2688336"/>
            <a:ext cx="1024128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Stand up the measuring software</a:t>
            </a:r>
          </a:p>
        </p:txBody>
      </p:sp>
      <p:sp>
        <p:nvSpPr>
          <p:cNvPr id="18" name="TextBox 17"/>
          <p:cNvSpPr txBox="1"/>
          <p:nvPr/>
        </p:nvSpPr>
        <p:spPr>
          <a:xfrm>
            <a:off x="1298448" y="2980944"/>
            <a:ext cx="10241280" cy="274320"/>
          </a:xfrm>
          <a:prstGeom prst="rect">
            <a:avLst/>
          </a:prstGeom>
          <a:noFill/>
        </p:spPr>
        <p:txBody>
          <a:bodyPr wrap="square" anchor="t" lIns="0" rIns="0" tIns="0" bIns="0">
            <a:spAutoFit/>
          </a:bodyPr>
          <a:lstStyle/>
          <a:p>
            <a:pPr algn="l">
              <a:lnSpc>
                <a:spcPct val="100000"/>
              </a:lnSpc>
              <a:spcAft>
                <a:spcPts val="400"/>
              </a:spcAft>
            </a:pPr>
            <a:r>
              <a:rPr sz="990" b="0" i="0">
                <a:solidFill>
                  <a:srgbClr val="3A4356"/>
                </a:solidFill>
                <a:latin typeface="Calibri"/>
              </a:rPr>
              <a:t>Install it on a JLR server. Measure 20 real JLR parts and check the results against their drawings.</a:t>
            </a:r>
          </a:p>
        </p:txBody>
      </p:sp>
      <p:sp>
        <p:nvSpPr>
          <p:cNvPr id="19" name="Rounded Rectangle 18"/>
          <p:cNvSpPr/>
          <p:nvPr/>
        </p:nvSpPr>
        <p:spPr>
          <a:xfrm>
            <a:off x="411480" y="3392424"/>
            <a:ext cx="11365992" cy="722376"/>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392424"/>
            <a:ext cx="68580" cy="72237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58368" y="3529584"/>
            <a:ext cx="438912" cy="438912"/>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2" name="TextBox 21"/>
          <p:cNvSpPr txBox="1"/>
          <p:nvPr/>
        </p:nvSpPr>
        <p:spPr>
          <a:xfrm>
            <a:off x="1298448" y="3493008"/>
            <a:ext cx="1024128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Hand over the settings list</a:t>
            </a:r>
          </a:p>
        </p:txBody>
      </p:sp>
      <p:sp>
        <p:nvSpPr>
          <p:cNvPr id="23" name="TextBox 22"/>
          <p:cNvSpPr txBox="1"/>
          <p:nvPr/>
        </p:nvSpPr>
        <p:spPr>
          <a:xfrm>
            <a:off x="1298448" y="3785616"/>
            <a:ext cx="10241280" cy="274320"/>
          </a:xfrm>
          <a:prstGeom prst="rect">
            <a:avLst/>
          </a:prstGeom>
          <a:noFill/>
        </p:spPr>
        <p:txBody>
          <a:bodyPr wrap="square" anchor="t" lIns="0" rIns="0" tIns="0" bIns="0">
            <a:spAutoFit/>
          </a:bodyPr>
          <a:lstStyle/>
          <a:p>
            <a:pPr algn="l">
              <a:lnSpc>
                <a:spcPct val="100000"/>
              </a:lnSpc>
              <a:spcAft>
                <a:spcPts val="400"/>
              </a:spcAft>
            </a:pPr>
            <a:r>
              <a:rPr sz="990" b="0" i="0">
                <a:solidFill>
                  <a:srgbClr val="3A4356"/>
                </a:solidFill>
                <a:latin typeface="Calibri"/>
              </a:rPr>
              <a:t>Pull every fixed number into one list. JLR review it and sign it off before anything gets costed with it.</a:t>
            </a:r>
          </a:p>
        </p:txBody>
      </p:sp>
      <p:sp>
        <p:nvSpPr>
          <p:cNvPr id="24" name="Rounded Rectangle 23"/>
          <p:cNvSpPr/>
          <p:nvPr/>
        </p:nvSpPr>
        <p:spPr>
          <a:xfrm>
            <a:off x="411480" y="4197096"/>
            <a:ext cx="11365992" cy="722376"/>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197096"/>
            <a:ext cx="68580" cy="72237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4334256"/>
            <a:ext cx="438912" cy="438912"/>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27" name="TextBox 26"/>
          <p:cNvSpPr txBox="1"/>
          <p:nvPr/>
        </p:nvSpPr>
        <p:spPr>
          <a:xfrm>
            <a:off x="1298448" y="4297680"/>
            <a:ext cx="1024128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Move the safety checks across</a:t>
            </a:r>
          </a:p>
        </p:txBody>
      </p:sp>
      <p:sp>
        <p:nvSpPr>
          <p:cNvPr id="28" name="TextBox 27"/>
          <p:cNvSpPr txBox="1"/>
          <p:nvPr/>
        </p:nvSpPr>
        <p:spPr>
          <a:xfrm>
            <a:off x="1298448" y="4590288"/>
            <a:ext cx="10241280" cy="274320"/>
          </a:xfrm>
          <a:prstGeom prst="rect">
            <a:avLst/>
          </a:prstGeom>
          <a:noFill/>
        </p:spPr>
        <p:txBody>
          <a:bodyPr wrap="square" anchor="t" lIns="0" rIns="0" tIns="0" bIns="0">
            <a:spAutoFit/>
          </a:bodyPr>
          <a:lstStyle/>
          <a:p>
            <a:pPr algn="l">
              <a:lnSpc>
                <a:spcPct val="100000"/>
              </a:lnSpc>
              <a:spcAft>
                <a:spcPts val="400"/>
              </a:spcAft>
            </a:pPr>
            <a:r>
              <a:rPr sz="990" b="0" i="0">
                <a:solidFill>
                  <a:srgbClr val="3A4356"/>
                </a:solidFill>
                <a:latin typeface="Calibri"/>
              </a:rPr>
              <a:t>The four checks and the questions the engineer confirms. In the scope from the start.</a:t>
            </a:r>
          </a:p>
        </p:txBody>
      </p:sp>
      <p:sp>
        <p:nvSpPr>
          <p:cNvPr id="29" name="Rounded Rectangle 28"/>
          <p:cNvSpPr/>
          <p:nvPr/>
        </p:nvSpPr>
        <p:spPr>
          <a:xfrm>
            <a:off x="411480" y="5001768"/>
            <a:ext cx="11365992" cy="722376"/>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001768"/>
            <a:ext cx="68580" cy="72237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58368" y="5138928"/>
            <a:ext cx="438912" cy="438912"/>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5</a:t>
            </a:r>
          </a:p>
        </p:txBody>
      </p:sp>
      <p:sp>
        <p:nvSpPr>
          <p:cNvPr id="32" name="TextBox 31"/>
          <p:cNvSpPr txBox="1"/>
          <p:nvPr/>
        </p:nvSpPr>
        <p:spPr>
          <a:xfrm>
            <a:off x="1298448" y="5102352"/>
            <a:ext cx="1024128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Connect into CAPEE</a:t>
            </a:r>
          </a:p>
        </p:txBody>
      </p:sp>
      <p:sp>
        <p:nvSpPr>
          <p:cNvPr id="33" name="TextBox 32"/>
          <p:cNvSpPr txBox="1"/>
          <p:nvPr/>
        </p:nvSpPr>
        <p:spPr>
          <a:xfrm>
            <a:off x="1298448" y="5394960"/>
            <a:ext cx="10241280" cy="274320"/>
          </a:xfrm>
          <a:prstGeom prst="rect">
            <a:avLst/>
          </a:prstGeom>
          <a:noFill/>
        </p:spPr>
        <p:txBody>
          <a:bodyPr wrap="square" anchor="t" lIns="0" rIns="0" tIns="0" bIns="0">
            <a:spAutoFit/>
          </a:bodyPr>
          <a:lstStyle/>
          <a:p>
            <a:pPr algn="l">
              <a:lnSpc>
                <a:spcPct val="100000"/>
              </a:lnSpc>
              <a:spcAft>
                <a:spcPts val="400"/>
              </a:spcAft>
            </a:pPr>
            <a:r>
              <a:rPr sz="990" b="0" i="0">
                <a:solidFill>
                  <a:srgbClr val="3A4356"/>
                </a:solidFill>
                <a:latin typeface="Calibri"/>
              </a:rPr>
              <a:t>Wire it in. Route the drawing reading through a JLR-approved AI service. Cost one real part end to end.</a:t>
            </a:r>
          </a:p>
        </p:txBody>
      </p:sp>
      <p:sp>
        <p:nvSpPr>
          <p:cNvPr id="34" name="Rounded Rectangle 33"/>
          <p:cNvSpPr/>
          <p:nvPr/>
        </p:nvSpPr>
        <p:spPr>
          <a:xfrm>
            <a:off x="411480" y="5806440"/>
            <a:ext cx="11365992" cy="722376"/>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5806440"/>
            <a:ext cx="68580" cy="72237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58368" y="5943600"/>
            <a:ext cx="438912" cy="438912"/>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6</a:t>
            </a:r>
          </a:p>
        </p:txBody>
      </p:sp>
      <p:sp>
        <p:nvSpPr>
          <p:cNvPr id="37" name="TextBox 36"/>
          <p:cNvSpPr txBox="1"/>
          <p:nvPr/>
        </p:nvSpPr>
        <p:spPr>
          <a:xfrm>
            <a:off x="1298448" y="5907024"/>
            <a:ext cx="1024128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Trial on one part type</a:t>
            </a:r>
          </a:p>
        </p:txBody>
      </p:sp>
      <p:sp>
        <p:nvSpPr>
          <p:cNvPr id="38" name="TextBox 37"/>
          <p:cNvSpPr txBox="1"/>
          <p:nvPr/>
        </p:nvSpPr>
        <p:spPr>
          <a:xfrm>
            <a:off x="1298448" y="6199632"/>
            <a:ext cx="10241280" cy="274320"/>
          </a:xfrm>
          <a:prstGeom prst="rect">
            <a:avLst/>
          </a:prstGeom>
          <a:noFill/>
        </p:spPr>
        <p:txBody>
          <a:bodyPr wrap="square" anchor="t" lIns="0" rIns="0" tIns="0" bIns="0">
            <a:spAutoFit/>
          </a:bodyPr>
          <a:lstStyle/>
          <a:p>
            <a:pPr algn="l">
              <a:lnSpc>
                <a:spcPct val="100000"/>
              </a:lnSpc>
              <a:spcAft>
                <a:spcPts val="400"/>
              </a:spcAft>
            </a:pPr>
            <a:r>
              <a:rPr sz="990" b="0" i="0">
                <a:solidFill>
                  <a:srgbClr val="3A4356"/>
                </a:solidFill>
                <a:latin typeface="Calibri"/>
              </a:rPr>
              <a:t>One team, one part type, 30 parts or more. See how well the measuring actually does.</a:t>
            </a:r>
          </a:p>
        </p:txBody>
      </p:sp>
      <p:sp>
        <p:nvSpPr>
          <p:cNvPr id="39" name="Rounded Rectangle 38"/>
          <p:cNvSpPr/>
          <p:nvPr/>
        </p:nvSpPr>
        <p:spPr>
          <a:xfrm>
            <a:off x="411480" y="5815584"/>
            <a:ext cx="5577840" cy="749808"/>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11480" y="5815584"/>
            <a:ext cx="68580" cy="74980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0936" y="5934456"/>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Steps 1 and 2 can start together</a:t>
            </a:r>
          </a:p>
        </p:txBody>
      </p:sp>
      <p:sp>
        <p:nvSpPr>
          <p:cNvPr id="42" name="TextBox 41"/>
          <p:cNvSpPr txBox="1"/>
          <p:nvPr/>
        </p:nvSpPr>
        <p:spPr>
          <a:xfrm>
            <a:off x="630936" y="6217920"/>
            <a:ext cx="5166360"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Standing up the measuring software does not depend on knowing how CAPEE is built. Only step 5 does.</a:t>
            </a:r>
          </a:p>
        </p:txBody>
      </p:sp>
      <p:sp>
        <p:nvSpPr>
          <p:cNvPr id="43" name="Rounded Rectangle 42"/>
          <p:cNvSpPr/>
          <p:nvPr/>
        </p:nvSpPr>
        <p:spPr>
          <a:xfrm>
            <a:off x="6199632" y="5815584"/>
            <a:ext cx="5577840" cy="749808"/>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199632" y="5815584"/>
            <a:ext cx="68580" cy="749808"/>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19088" y="5934456"/>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Start with one part type</a:t>
            </a:r>
          </a:p>
        </p:txBody>
      </p:sp>
      <p:sp>
        <p:nvSpPr>
          <p:cNvPr id="46" name="TextBox 45"/>
          <p:cNvSpPr txBox="1"/>
          <p:nvPr/>
        </p:nvSpPr>
        <p:spPr>
          <a:xfrm>
            <a:off x="6419088" y="6217920"/>
            <a:ext cx="5166360"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Machined parts or pressings first. Most of our volume and the shapes we understand best. Widen it once it holds up.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COMPARISON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two options side by side</a:t>
            </a:r>
          </a:p>
        </p:txBody>
      </p:sp>
      <p:sp>
        <p:nvSpPr>
          <p:cNvPr id="9" name="Rectangle 8"/>
          <p:cNvSpPr/>
          <p:nvPr/>
        </p:nvSpPr>
        <p:spPr>
          <a:xfrm>
            <a:off x="411480" y="1828800"/>
            <a:ext cx="4050791"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911096"/>
            <a:ext cx="3904487" cy="219456"/>
          </a:xfrm>
          <a:prstGeom prst="rect">
            <a:avLst/>
          </a:prstGeom>
          <a:noFill/>
        </p:spPr>
        <p:txBody>
          <a:bodyPr wrap="square" anchor="t" lIns="0" rIns="0" tIns="0" bIns="0">
            <a:spAutoFit/>
          </a:bodyPr>
          <a:lstStyle/>
          <a:p>
            <a:pPr algn="l">
              <a:lnSpc>
                <a:spcPct val="100000"/>
              </a:lnSpc>
              <a:spcAft>
                <a:spcPts val="400"/>
              </a:spcAft>
            </a:pPr>
          </a:p>
        </p:txBody>
      </p:sp>
      <p:sp>
        <p:nvSpPr>
          <p:cNvPr id="11" name="Rectangle 10"/>
          <p:cNvSpPr/>
          <p:nvPr/>
        </p:nvSpPr>
        <p:spPr>
          <a:xfrm>
            <a:off x="4462271" y="1828800"/>
            <a:ext cx="3657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4567" y="1911096"/>
            <a:ext cx="3511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OPTION 1 · feed CAPEE</a:t>
            </a:r>
          </a:p>
        </p:txBody>
      </p:sp>
      <p:sp>
        <p:nvSpPr>
          <p:cNvPr id="13" name="Rectangle 12"/>
          <p:cNvSpPr/>
          <p:nvPr/>
        </p:nvSpPr>
        <p:spPr>
          <a:xfrm>
            <a:off x="8119871" y="1828800"/>
            <a:ext cx="3657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02167" y="1911096"/>
            <a:ext cx="3511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OPTION 2 · CostVision on JLR rates</a:t>
            </a:r>
          </a:p>
        </p:txBody>
      </p:sp>
      <p:sp>
        <p:nvSpPr>
          <p:cNvPr id="15" name="Rectangle 14"/>
          <p:cNvSpPr/>
          <p:nvPr/>
        </p:nvSpPr>
        <p:spPr>
          <a:xfrm>
            <a:off x="411480" y="2157984"/>
            <a:ext cx="4050791"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3776" y="2221992"/>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Which system does the costing</a:t>
            </a:r>
          </a:p>
        </p:txBody>
      </p:sp>
      <p:sp>
        <p:nvSpPr>
          <p:cNvPr id="17" name="Rectangle 16"/>
          <p:cNvSpPr/>
          <p:nvPr/>
        </p:nvSpPr>
        <p:spPr>
          <a:xfrm>
            <a:off x="4462271" y="2157984"/>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44567" y="2221992"/>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CAPEE, unchanged</a:t>
            </a:r>
          </a:p>
        </p:txBody>
      </p:sp>
      <p:sp>
        <p:nvSpPr>
          <p:cNvPr id="19" name="Rectangle 18"/>
          <p:cNvSpPr/>
          <p:nvPr/>
        </p:nvSpPr>
        <p:spPr>
          <a:xfrm>
            <a:off x="8119871" y="2157984"/>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02167" y="2221992"/>
            <a:ext cx="3511296"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B7791F"/>
                </a:solidFill>
                <a:latin typeface="Calibri"/>
              </a:rPr>
              <a:t>CostVision, beside CAPEE</a:t>
            </a:r>
          </a:p>
        </p:txBody>
      </p:sp>
      <p:sp>
        <p:nvSpPr>
          <p:cNvPr id="21" name="Rectangle 20"/>
          <p:cNvSpPr/>
          <p:nvPr/>
        </p:nvSpPr>
        <p:spPr>
          <a:xfrm>
            <a:off x="411480" y="2560320"/>
            <a:ext cx="4050791"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3776" y="2624328"/>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Does the engineer learn a new tool</a:t>
            </a:r>
          </a:p>
        </p:txBody>
      </p:sp>
      <p:sp>
        <p:nvSpPr>
          <p:cNvPr id="23" name="Rectangle 22"/>
          <p:cNvSpPr/>
          <p:nvPr/>
        </p:nvSpPr>
        <p:spPr>
          <a:xfrm>
            <a:off x="4462271" y="2560320"/>
            <a:ext cx="365760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44567" y="2624328"/>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No, same CAPEE screens</a:t>
            </a:r>
          </a:p>
        </p:txBody>
      </p:sp>
      <p:sp>
        <p:nvSpPr>
          <p:cNvPr id="25" name="Rectangle 24"/>
          <p:cNvSpPr/>
          <p:nvPr/>
        </p:nvSpPr>
        <p:spPr>
          <a:xfrm>
            <a:off x="8119871" y="2560320"/>
            <a:ext cx="365760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02167" y="2624328"/>
            <a:ext cx="3511296"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B7791F"/>
                </a:solidFill>
                <a:latin typeface="Calibri"/>
              </a:rPr>
              <a:t>Yes</a:t>
            </a:r>
          </a:p>
        </p:txBody>
      </p:sp>
      <p:sp>
        <p:nvSpPr>
          <p:cNvPr id="27" name="Rectangle 26"/>
          <p:cNvSpPr/>
          <p:nvPr/>
        </p:nvSpPr>
        <p:spPr>
          <a:xfrm>
            <a:off x="411480" y="2962656"/>
            <a:ext cx="4050791"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3776" y="3026664"/>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How much software work</a:t>
            </a:r>
          </a:p>
        </p:txBody>
      </p:sp>
      <p:sp>
        <p:nvSpPr>
          <p:cNvPr id="29" name="Rectangle 28"/>
          <p:cNvSpPr/>
          <p:nvPr/>
        </p:nvSpPr>
        <p:spPr>
          <a:xfrm>
            <a:off x="4462271" y="2962656"/>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44567" y="3026664"/>
            <a:ext cx="3511296"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B7791F"/>
                </a:solidFill>
                <a:latin typeface="Calibri"/>
              </a:rPr>
              <a:t>A lot</a:t>
            </a:r>
          </a:p>
        </p:txBody>
      </p:sp>
      <p:sp>
        <p:nvSpPr>
          <p:cNvPr id="31" name="Rectangle 30"/>
          <p:cNvSpPr/>
          <p:nvPr/>
        </p:nvSpPr>
        <p:spPr>
          <a:xfrm>
            <a:off x="8119871" y="2962656"/>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02167" y="3026664"/>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Not much</a:t>
            </a:r>
          </a:p>
        </p:txBody>
      </p:sp>
      <p:sp>
        <p:nvSpPr>
          <p:cNvPr id="33" name="Rectangle 32"/>
          <p:cNvSpPr/>
          <p:nvPr/>
        </p:nvSpPr>
        <p:spPr>
          <a:xfrm>
            <a:off x="411480" y="3364992"/>
            <a:ext cx="4050791"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429000"/>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How much JLR data work</a:t>
            </a:r>
          </a:p>
        </p:txBody>
      </p:sp>
      <p:sp>
        <p:nvSpPr>
          <p:cNvPr id="35" name="Rectangle 34"/>
          <p:cNvSpPr/>
          <p:nvPr/>
        </p:nvSpPr>
        <p:spPr>
          <a:xfrm>
            <a:off x="4462271" y="3364992"/>
            <a:ext cx="365760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44567" y="3429000"/>
            <a:ext cx="3511296"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2E8B57"/>
                </a:solidFill>
                <a:latin typeface="Calibri"/>
              </a:rPr>
              <a:t>Some</a:t>
            </a:r>
          </a:p>
        </p:txBody>
      </p:sp>
      <p:sp>
        <p:nvSpPr>
          <p:cNvPr id="37" name="Rectangle 36"/>
          <p:cNvSpPr/>
          <p:nvPr/>
        </p:nvSpPr>
        <p:spPr>
          <a:xfrm>
            <a:off x="8119871" y="3364992"/>
            <a:ext cx="365760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02167" y="3429000"/>
            <a:ext cx="3511296"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B7791F"/>
                </a:solidFill>
                <a:latin typeface="Calibri"/>
              </a:rPr>
              <a:t>A lot</a:t>
            </a:r>
          </a:p>
        </p:txBody>
      </p:sp>
      <p:sp>
        <p:nvSpPr>
          <p:cNvPr id="39" name="Rectangle 38"/>
          <p:cNvSpPr/>
          <p:nvPr/>
        </p:nvSpPr>
        <p:spPr>
          <a:xfrm>
            <a:off x="411480" y="3767328"/>
            <a:ext cx="4050791"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93776" y="3831336"/>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Do we get the costing engine</a:t>
            </a:r>
          </a:p>
        </p:txBody>
      </p:sp>
      <p:sp>
        <p:nvSpPr>
          <p:cNvPr id="41" name="Rectangle 40"/>
          <p:cNvSpPr/>
          <p:nvPr/>
        </p:nvSpPr>
        <p:spPr>
          <a:xfrm>
            <a:off x="4462271" y="3767328"/>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44567" y="3831336"/>
            <a:ext cx="3511296"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B7791F"/>
                </a:solidFill>
                <a:latin typeface="Calibri"/>
              </a:rPr>
              <a:t>No</a:t>
            </a:r>
          </a:p>
        </p:txBody>
      </p:sp>
      <p:sp>
        <p:nvSpPr>
          <p:cNvPr id="43" name="Rectangle 42"/>
          <p:cNvSpPr/>
          <p:nvPr/>
        </p:nvSpPr>
        <p:spPr>
          <a:xfrm>
            <a:off x="8119871" y="3767328"/>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02167" y="3831336"/>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Yes</a:t>
            </a:r>
          </a:p>
        </p:txBody>
      </p:sp>
      <p:sp>
        <p:nvSpPr>
          <p:cNvPr id="45" name="Rectangle 44"/>
          <p:cNvSpPr/>
          <p:nvPr/>
        </p:nvSpPr>
        <p:spPr>
          <a:xfrm>
            <a:off x="411480" y="4169664"/>
            <a:ext cx="4050791"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93776" y="4233672"/>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Do we get design-for-cost findings</a:t>
            </a:r>
          </a:p>
        </p:txBody>
      </p:sp>
      <p:sp>
        <p:nvSpPr>
          <p:cNvPr id="47" name="Rectangle 46"/>
          <p:cNvSpPr/>
          <p:nvPr/>
        </p:nvSpPr>
        <p:spPr>
          <a:xfrm>
            <a:off x="4462271" y="4169664"/>
            <a:ext cx="365760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544567" y="4233672"/>
            <a:ext cx="3511296"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B7791F"/>
                </a:solidFill>
                <a:latin typeface="Calibri"/>
              </a:rPr>
              <a:t>No</a:t>
            </a:r>
          </a:p>
        </p:txBody>
      </p:sp>
      <p:sp>
        <p:nvSpPr>
          <p:cNvPr id="49" name="Rectangle 48"/>
          <p:cNvSpPr/>
          <p:nvPr/>
        </p:nvSpPr>
        <p:spPr>
          <a:xfrm>
            <a:off x="8119871" y="4169664"/>
            <a:ext cx="365760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202167" y="4233672"/>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Yes</a:t>
            </a:r>
          </a:p>
        </p:txBody>
      </p:sp>
      <p:sp>
        <p:nvSpPr>
          <p:cNvPr id="51" name="Rectangle 50"/>
          <p:cNvSpPr/>
          <p:nvPr/>
        </p:nvSpPr>
        <p:spPr>
          <a:xfrm>
            <a:off x="411480" y="4572000"/>
            <a:ext cx="4050791"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93776" y="4636008"/>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Does it tell us how accurate it is</a:t>
            </a:r>
          </a:p>
        </p:txBody>
      </p:sp>
      <p:sp>
        <p:nvSpPr>
          <p:cNvPr id="53" name="Rectangle 52"/>
          <p:cNvSpPr/>
          <p:nvPr/>
        </p:nvSpPr>
        <p:spPr>
          <a:xfrm>
            <a:off x="4462271" y="4572000"/>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44567" y="4636008"/>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B03A2E"/>
                </a:solidFill>
                <a:latin typeface="Calibri"/>
              </a:rPr>
              <a:t>No</a:t>
            </a:r>
          </a:p>
        </p:txBody>
      </p:sp>
      <p:sp>
        <p:nvSpPr>
          <p:cNvPr id="55" name="Rectangle 54"/>
          <p:cNvSpPr/>
          <p:nvPr/>
        </p:nvSpPr>
        <p:spPr>
          <a:xfrm>
            <a:off x="8119871" y="4572000"/>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202167" y="4636008"/>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Yes, step 4</a:t>
            </a:r>
          </a:p>
        </p:txBody>
      </p:sp>
      <p:sp>
        <p:nvSpPr>
          <p:cNvPr id="57" name="Rectangle 56"/>
          <p:cNvSpPr/>
          <p:nvPr/>
        </p:nvSpPr>
        <p:spPr>
          <a:xfrm>
            <a:off x="411480" y="4974336"/>
            <a:ext cx="4050791"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93776" y="5038344"/>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Can we stop it part way</a:t>
            </a:r>
          </a:p>
        </p:txBody>
      </p:sp>
      <p:sp>
        <p:nvSpPr>
          <p:cNvPr id="59" name="Rectangle 58"/>
          <p:cNvSpPr/>
          <p:nvPr/>
        </p:nvSpPr>
        <p:spPr>
          <a:xfrm>
            <a:off x="4462271" y="4974336"/>
            <a:ext cx="365760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544567" y="5038344"/>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B03A2E"/>
                </a:solidFill>
                <a:latin typeface="Calibri"/>
              </a:rPr>
              <a:t>Hard, it sits inside CAPEE</a:t>
            </a:r>
          </a:p>
        </p:txBody>
      </p:sp>
      <p:sp>
        <p:nvSpPr>
          <p:cNvPr id="61" name="Rectangle 60"/>
          <p:cNvSpPr/>
          <p:nvPr/>
        </p:nvSpPr>
        <p:spPr>
          <a:xfrm>
            <a:off x="8119871" y="4974336"/>
            <a:ext cx="3657600" cy="40233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202167" y="5038344"/>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Yes</a:t>
            </a:r>
          </a:p>
        </p:txBody>
      </p:sp>
      <p:sp>
        <p:nvSpPr>
          <p:cNvPr id="63" name="Rectangle 62"/>
          <p:cNvSpPr/>
          <p:nvPr/>
        </p:nvSpPr>
        <p:spPr>
          <a:xfrm>
            <a:off x="411480" y="5376672"/>
            <a:ext cx="4050791"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93776" y="5440680"/>
            <a:ext cx="3904487" cy="310896"/>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Is it waiting on an unknown</a:t>
            </a:r>
          </a:p>
        </p:txBody>
      </p:sp>
      <p:sp>
        <p:nvSpPr>
          <p:cNvPr id="65" name="Rectangle 64"/>
          <p:cNvSpPr/>
          <p:nvPr/>
        </p:nvSpPr>
        <p:spPr>
          <a:xfrm>
            <a:off x="4462271" y="5376672"/>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544567" y="5440680"/>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B03A2E"/>
                </a:solidFill>
                <a:latin typeface="Calibri"/>
              </a:rPr>
              <a:t>Yes, how CAPEE is built</a:t>
            </a:r>
          </a:p>
        </p:txBody>
      </p:sp>
      <p:sp>
        <p:nvSpPr>
          <p:cNvPr id="67" name="Rectangle 66"/>
          <p:cNvSpPr/>
          <p:nvPr/>
        </p:nvSpPr>
        <p:spPr>
          <a:xfrm>
            <a:off x="8119871" y="5376672"/>
            <a:ext cx="3657600"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202167" y="5440680"/>
            <a:ext cx="3511296" cy="310896"/>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No</a:t>
            </a:r>
          </a:p>
        </p:txBody>
      </p:sp>
      <p:sp>
        <p:nvSpPr>
          <p:cNvPr id="69" name="Rounded Rectangle 68"/>
          <p:cNvSpPr/>
          <p:nvPr/>
        </p:nvSpPr>
        <p:spPr>
          <a:xfrm>
            <a:off x="411480" y="5806440"/>
            <a:ext cx="11365992" cy="77724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11480" y="5806440"/>
            <a:ext cx="68580" cy="7772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30936" y="59253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The last three rows are the important ones</a:t>
            </a:r>
          </a:p>
        </p:txBody>
      </p:sp>
      <p:sp>
        <p:nvSpPr>
          <p:cNvPr id="72" name="TextBox 71"/>
          <p:cNvSpPr txBox="1"/>
          <p:nvPr/>
        </p:nvSpPr>
        <p:spPr>
          <a:xfrm>
            <a:off x="630936" y="6208776"/>
            <a:ext cx="10954512" cy="27432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2 tells us how accurate the tool is, we can stop it, and it is not waiting on anyone. Option 1 does none of those three. That is why I would run Option 2 first.</a:t>
            </a:r>
          </a:p>
        </p:txBody>
      </p:sp>
      <p:sp>
        <p:nvSpPr>
          <p:cNvPr id="73" name="TextBox 72"/>
          <p:cNvSpPr txBox="1"/>
          <p:nvPr/>
        </p:nvSpPr>
        <p:spPr>
          <a:xfrm>
            <a:off x="411480" y="6419088"/>
            <a:ext cx="11338560" cy="219456"/>
          </a:xfrm>
          <a:prstGeom prst="rect">
            <a:avLst/>
          </a:prstGeom>
          <a:noFill/>
        </p:spPr>
        <p:txBody>
          <a:bodyPr wrap="square" anchor="t" lIns="0" rIns="0" tIns="0" bIns="0">
            <a:spAutoFit/>
          </a:bodyPr>
          <a:lstStyle/>
          <a:p>
            <a:pPr algn="l">
              <a:lnSpc>
                <a:spcPct val="100000"/>
              </a:lnSpc>
              <a:spcAft>
                <a:spcPts val="400"/>
              </a:spcAft>
            </a:pPr>
            <a:r>
              <a:rPr sz="800" b="0" i="0">
                <a:solidFill>
                  <a:srgbClr val="6B7280"/>
                </a:solidFill>
                <a:latin typeface="Calibri"/>
              </a:rPr>
              <a:t>No durations shown. Nothing in either option has been sized by JLR.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RECOMMENDATION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I would do</a:t>
            </a:r>
          </a:p>
        </p:txBody>
      </p:sp>
      <p:sp>
        <p:nvSpPr>
          <p:cNvPr id="9" name="Rounded Rectangle 8"/>
          <p:cNvSpPr/>
          <p:nvPr/>
        </p:nvSpPr>
        <p:spPr>
          <a:xfrm>
            <a:off x="411480" y="1691640"/>
            <a:ext cx="11365992" cy="91440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91640"/>
            <a:ext cx="68580" cy="9144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18105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Option 2 first, then Option 1</a:t>
            </a:r>
          </a:p>
        </p:txBody>
      </p:sp>
      <p:sp>
        <p:nvSpPr>
          <p:cNvPr id="12" name="TextBox 11"/>
          <p:cNvSpPr txBox="1"/>
          <p:nvPr/>
        </p:nvSpPr>
        <p:spPr>
          <a:xfrm>
            <a:off x="630936" y="2093976"/>
            <a:ext cx="10954512"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2 is the smaller job, we can stop it whenever we want, and it answers the question Option 1 depends on: does the tool get the right number on JLR parts.</a:t>
            </a:r>
          </a:p>
        </p:txBody>
      </p:sp>
      <p:sp>
        <p:nvSpPr>
          <p:cNvPr id="13" name="Rounded Rectangle 12"/>
          <p:cNvSpPr/>
          <p:nvPr/>
        </p:nvSpPr>
        <p:spPr>
          <a:xfrm>
            <a:off x="411480" y="2834640"/>
            <a:ext cx="3721608" cy="22402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834640"/>
            <a:ext cx="372160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67512" y="3017520"/>
            <a:ext cx="548640" cy="54864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oins.png"/>
          <p:cNvPicPr>
            <a:picLocks noChangeAspect="1"/>
          </p:cNvPicPr>
          <p:nvPr/>
        </p:nvPicPr>
        <p:blipFill>
          <a:blip r:embed="rId2"/>
          <a:stretch>
            <a:fillRect/>
          </a:stretch>
        </p:blipFill>
        <p:spPr>
          <a:xfrm>
            <a:off x="810158" y="3160166"/>
            <a:ext cx="263348" cy="263348"/>
          </a:xfrm>
          <a:prstGeom prst="rect">
            <a:avLst/>
          </a:prstGeom>
        </p:spPr>
      </p:pic>
      <p:sp>
        <p:nvSpPr>
          <p:cNvPr id="17" name="TextBox 16"/>
          <p:cNvSpPr txBox="1"/>
          <p:nvPr/>
        </p:nvSpPr>
        <p:spPr>
          <a:xfrm>
            <a:off x="1371600" y="3044952"/>
            <a:ext cx="2560320" cy="219456"/>
          </a:xfrm>
          <a:prstGeom prst="rect">
            <a:avLst/>
          </a:prstGeom>
          <a:noFill/>
        </p:spPr>
        <p:txBody>
          <a:bodyPr wrap="square" anchor="t" lIns="0" rIns="0" tIns="0" bIns="0">
            <a:spAutoFit/>
          </a:bodyPr>
          <a:lstStyle/>
          <a:p>
            <a:pPr algn="l">
              <a:lnSpc>
                <a:spcPct val="100000"/>
              </a:lnSpc>
              <a:spcAft>
                <a:spcPts val="400"/>
              </a:spcAft>
            </a:pPr>
            <a:r>
              <a:rPr sz="1000" b="1" i="0">
                <a:solidFill>
                  <a:srgbClr val="6B7280"/>
                </a:solidFill>
                <a:latin typeface="Calibri"/>
              </a:rPr>
              <a:t>FIRST</a:t>
            </a:r>
          </a:p>
        </p:txBody>
      </p:sp>
      <p:sp>
        <p:nvSpPr>
          <p:cNvPr id="18" name="TextBox 17"/>
          <p:cNvSpPr txBox="1"/>
          <p:nvPr/>
        </p:nvSpPr>
        <p:spPr>
          <a:xfrm>
            <a:off x="1371600" y="3264408"/>
            <a:ext cx="2560320" cy="274320"/>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Run Option 2</a:t>
            </a:r>
          </a:p>
        </p:txBody>
      </p:sp>
      <p:sp>
        <p:nvSpPr>
          <p:cNvPr id="19" name="TextBox 18"/>
          <p:cNvSpPr txBox="1"/>
          <p:nvPr/>
        </p:nvSpPr>
        <p:spPr>
          <a:xfrm>
            <a:off x="667512" y="3749039"/>
            <a:ext cx="3200400" cy="777240"/>
          </a:xfrm>
          <a:prstGeom prst="rect">
            <a:avLst/>
          </a:prstGeom>
          <a:noFill/>
        </p:spPr>
        <p:txBody>
          <a:bodyPr wrap="square" anchor="t" lIns="0" rIns="0" tIns="0" bIns="0">
            <a:spAutoFit/>
          </a:bodyPr>
          <a:lstStyle/>
          <a:p>
            <a:pPr algn="l">
              <a:lnSpc>
                <a:spcPct val="115000"/>
              </a:lnSpc>
              <a:spcAft>
                <a:spcPts val="400"/>
              </a:spcAft>
            </a:pPr>
            <a:r>
              <a:rPr sz="1050" b="0" i="0">
                <a:solidFill>
                  <a:srgbClr val="3A4356"/>
                </a:solidFill>
                <a:latin typeface="Calibri"/>
              </a:rPr>
              <a:t>Install it, load our rates, compare against 30 to 50 parts we have already bought.</a:t>
            </a:r>
          </a:p>
        </p:txBody>
      </p:sp>
      <p:sp>
        <p:nvSpPr>
          <p:cNvPr id="20" name="TextBox 19"/>
          <p:cNvSpPr txBox="1"/>
          <p:nvPr/>
        </p:nvSpPr>
        <p:spPr>
          <a:xfrm>
            <a:off x="667512" y="4572000"/>
            <a:ext cx="3200400" cy="384048"/>
          </a:xfrm>
          <a:prstGeom prst="rect">
            <a:avLst/>
          </a:prstGeom>
          <a:noFill/>
        </p:spPr>
        <p:txBody>
          <a:bodyPr wrap="square" anchor="t" lIns="0" rIns="0" tIns="0" bIns="0">
            <a:spAutoFit/>
          </a:bodyPr>
          <a:lstStyle/>
          <a:p>
            <a:pPr algn="l">
              <a:lnSpc>
                <a:spcPct val="115000"/>
              </a:lnSpc>
              <a:spcAft>
                <a:spcPts val="400"/>
              </a:spcAft>
            </a:pPr>
            <a:r>
              <a:rPr sz="1050" b="1" i="0">
                <a:solidFill>
                  <a:srgbClr val="2E8B57"/>
                </a:solidFill>
                <a:latin typeface="Calibri"/>
              </a:rPr>
              <a:t>What we get: a real accuracy figure.</a:t>
            </a:r>
          </a:p>
        </p:txBody>
      </p:sp>
      <p:sp>
        <p:nvSpPr>
          <p:cNvPr id="21" name="Rounded Rectangle 20"/>
          <p:cNvSpPr/>
          <p:nvPr/>
        </p:nvSpPr>
        <p:spPr>
          <a:xfrm>
            <a:off x="4233671" y="2834640"/>
            <a:ext cx="3721608" cy="22402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33671" y="2834640"/>
            <a:ext cx="3721608"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489703" y="3017520"/>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eye.png"/>
          <p:cNvPicPr>
            <a:picLocks noChangeAspect="1"/>
          </p:cNvPicPr>
          <p:nvPr/>
        </p:nvPicPr>
        <p:blipFill>
          <a:blip r:embed="rId3"/>
          <a:stretch>
            <a:fillRect/>
          </a:stretch>
        </p:blipFill>
        <p:spPr>
          <a:xfrm>
            <a:off x="4632349" y="3160166"/>
            <a:ext cx="263348" cy="263348"/>
          </a:xfrm>
          <a:prstGeom prst="rect">
            <a:avLst/>
          </a:prstGeom>
        </p:spPr>
      </p:pic>
      <p:sp>
        <p:nvSpPr>
          <p:cNvPr id="25" name="TextBox 24"/>
          <p:cNvSpPr txBox="1"/>
          <p:nvPr/>
        </p:nvSpPr>
        <p:spPr>
          <a:xfrm>
            <a:off x="5193791" y="3044952"/>
            <a:ext cx="2560320" cy="219456"/>
          </a:xfrm>
          <a:prstGeom prst="rect">
            <a:avLst/>
          </a:prstGeom>
          <a:noFill/>
        </p:spPr>
        <p:txBody>
          <a:bodyPr wrap="square" anchor="t" lIns="0" rIns="0" tIns="0" bIns="0">
            <a:spAutoFit/>
          </a:bodyPr>
          <a:lstStyle/>
          <a:p>
            <a:pPr algn="l">
              <a:lnSpc>
                <a:spcPct val="100000"/>
              </a:lnSpc>
              <a:spcAft>
                <a:spcPts val="400"/>
              </a:spcAft>
            </a:pPr>
            <a:r>
              <a:rPr sz="1000" b="1" i="0">
                <a:solidFill>
                  <a:srgbClr val="6B7280"/>
                </a:solidFill>
                <a:latin typeface="Calibri"/>
              </a:rPr>
              <a:t>THEN</a:t>
            </a:r>
          </a:p>
        </p:txBody>
      </p:sp>
      <p:sp>
        <p:nvSpPr>
          <p:cNvPr id="26" name="TextBox 25"/>
          <p:cNvSpPr txBox="1"/>
          <p:nvPr/>
        </p:nvSpPr>
        <p:spPr>
          <a:xfrm>
            <a:off x="5193791" y="3264408"/>
            <a:ext cx="2560320" cy="274320"/>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Decide</a:t>
            </a:r>
          </a:p>
        </p:txBody>
      </p:sp>
      <p:sp>
        <p:nvSpPr>
          <p:cNvPr id="27" name="TextBox 26"/>
          <p:cNvSpPr txBox="1"/>
          <p:nvPr/>
        </p:nvSpPr>
        <p:spPr>
          <a:xfrm>
            <a:off x="4489703" y="3749039"/>
            <a:ext cx="3200400" cy="777240"/>
          </a:xfrm>
          <a:prstGeom prst="rect">
            <a:avLst/>
          </a:prstGeom>
          <a:noFill/>
        </p:spPr>
        <p:txBody>
          <a:bodyPr wrap="square" anchor="t" lIns="0" rIns="0" tIns="0" bIns="0">
            <a:spAutoFit/>
          </a:bodyPr>
          <a:lstStyle/>
          <a:p>
            <a:pPr algn="l">
              <a:lnSpc>
                <a:spcPct val="115000"/>
              </a:lnSpc>
              <a:spcAft>
                <a:spcPts val="400"/>
              </a:spcAft>
            </a:pPr>
            <a:r>
              <a:rPr sz="1050" b="0" i="0">
                <a:solidFill>
                  <a:srgbClr val="3A4356"/>
                </a:solidFill>
                <a:latin typeface="Calibri"/>
              </a:rPr>
              <a:t>Look at the accuracy result and IT's answer on how CAPEE is built.</a:t>
            </a:r>
          </a:p>
        </p:txBody>
      </p:sp>
      <p:sp>
        <p:nvSpPr>
          <p:cNvPr id="28" name="TextBox 27"/>
          <p:cNvSpPr txBox="1"/>
          <p:nvPr/>
        </p:nvSpPr>
        <p:spPr>
          <a:xfrm>
            <a:off x="4489703" y="4572000"/>
            <a:ext cx="3200400" cy="384048"/>
          </a:xfrm>
          <a:prstGeom prst="rect">
            <a:avLst/>
          </a:prstGeom>
          <a:noFill/>
        </p:spPr>
        <p:txBody>
          <a:bodyPr wrap="square" anchor="t" lIns="0" rIns="0" tIns="0" bIns="0">
            <a:spAutoFit/>
          </a:bodyPr>
          <a:lstStyle/>
          <a:p>
            <a:pPr algn="l">
              <a:lnSpc>
                <a:spcPct val="115000"/>
              </a:lnSpc>
              <a:spcAft>
                <a:spcPts val="400"/>
              </a:spcAft>
            </a:pPr>
            <a:r>
              <a:rPr sz="1050" b="1" i="0">
                <a:solidFill>
                  <a:srgbClr val="1D6FB8"/>
                </a:solidFill>
                <a:latin typeface="Calibri"/>
              </a:rPr>
              <a:t>What we get: a decision based on evidence.</a:t>
            </a:r>
          </a:p>
        </p:txBody>
      </p:sp>
      <p:sp>
        <p:nvSpPr>
          <p:cNvPr id="29" name="Rounded Rectangle 28"/>
          <p:cNvSpPr/>
          <p:nvPr/>
        </p:nvSpPr>
        <p:spPr>
          <a:xfrm>
            <a:off x="8055862" y="2834640"/>
            <a:ext cx="3721608" cy="22402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055862" y="2834640"/>
            <a:ext cx="372160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311894" y="3017520"/>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cog.png"/>
          <p:cNvPicPr>
            <a:picLocks noChangeAspect="1"/>
          </p:cNvPicPr>
          <p:nvPr/>
        </p:nvPicPr>
        <p:blipFill>
          <a:blip r:embed="rId4"/>
          <a:stretch>
            <a:fillRect/>
          </a:stretch>
        </p:blipFill>
        <p:spPr>
          <a:xfrm>
            <a:off x="8454540" y="3160166"/>
            <a:ext cx="263348" cy="263348"/>
          </a:xfrm>
          <a:prstGeom prst="rect">
            <a:avLst/>
          </a:prstGeom>
        </p:spPr>
      </p:pic>
      <p:sp>
        <p:nvSpPr>
          <p:cNvPr id="33" name="TextBox 32"/>
          <p:cNvSpPr txBox="1"/>
          <p:nvPr/>
        </p:nvSpPr>
        <p:spPr>
          <a:xfrm>
            <a:off x="9015982" y="3044952"/>
            <a:ext cx="2560320" cy="219456"/>
          </a:xfrm>
          <a:prstGeom prst="rect">
            <a:avLst/>
          </a:prstGeom>
          <a:noFill/>
        </p:spPr>
        <p:txBody>
          <a:bodyPr wrap="square" anchor="t" lIns="0" rIns="0" tIns="0" bIns="0">
            <a:spAutoFit/>
          </a:bodyPr>
          <a:lstStyle/>
          <a:p>
            <a:pPr algn="l">
              <a:lnSpc>
                <a:spcPct val="100000"/>
              </a:lnSpc>
              <a:spcAft>
                <a:spcPts val="400"/>
              </a:spcAft>
            </a:pPr>
            <a:r>
              <a:rPr sz="1000" b="1" i="0">
                <a:solidFill>
                  <a:srgbClr val="6B7280"/>
                </a:solidFill>
                <a:latin typeface="Calibri"/>
              </a:rPr>
              <a:t>THEN</a:t>
            </a:r>
          </a:p>
        </p:txBody>
      </p:sp>
      <p:sp>
        <p:nvSpPr>
          <p:cNvPr id="34" name="TextBox 33"/>
          <p:cNvSpPr txBox="1"/>
          <p:nvPr/>
        </p:nvSpPr>
        <p:spPr>
          <a:xfrm>
            <a:off x="9015982" y="3264408"/>
            <a:ext cx="2560320" cy="274320"/>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Run Option 1</a:t>
            </a:r>
          </a:p>
        </p:txBody>
      </p:sp>
      <p:sp>
        <p:nvSpPr>
          <p:cNvPr id="35" name="TextBox 34"/>
          <p:cNvSpPr txBox="1"/>
          <p:nvPr/>
        </p:nvSpPr>
        <p:spPr>
          <a:xfrm>
            <a:off x="8311894" y="3749039"/>
            <a:ext cx="3200400" cy="777240"/>
          </a:xfrm>
          <a:prstGeom prst="rect">
            <a:avLst/>
          </a:prstGeom>
          <a:noFill/>
        </p:spPr>
        <p:txBody>
          <a:bodyPr wrap="square" anchor="t" lIns="0" rIns="0" tIns="0" bIns="0">
            <a:spAutoFit/>
          </a:bodyPr>
          <a:lstStyle/>
          <a:p>
            <a:pPr algn="l">
              <a:lnSpc>
                <a:spcPct val="115000"/>
              </a:lnSpc>
              <a:spcAft>
                <a:spcPts val="400"/>
              </a:spcAft>
            </a:pPr>
            <a:r>
              <a:rPr sz="1050" b="0" i="0">
                <a:solidFill>
                  <a:srgbClr val="3A4356"/>
                </a:solidFill>
                <a:latin typeface="Calibri"/>
              </a:rPr>
              <a:t>Feed CAPEE automatically, starting with one part type.</a:t>
            </a:r>
          </a:p>
        </p:txBody>
      </p:sp>
      <p:sp>
        <p:nvSpPr>
          <p:cNvPr id="36" name="TextBox 35"/>
          <p:cNvSpPr txBox="1"/>
          <p:nvPr/>
        </p:nvSpPr>
        <p:spPr>
          <a:xfrm>
            <a:off x="8311894" y="4572000"/>
            <a:ext cx="3200400" cy="384048"/>
          </a:xfrm>
          <a:prstGeom prst="rect">
            <a:avLst/>
          </a:prstGeom>
          <a:noFill/>
        </p:spPr>
        <p:txBody>
          <a:bodyPr wrap="square" anchor="t" lIns="0" rIns="0" tIns="0" bIns="0">
            <a:spAutoFit/>
          </a:bodyPr>
          <a:lstStyle/>
          <a:p>
            <a:pPr algn="l">
              <a:lnSpc>
                <a:spcPct val="115000"/>
              </a:lnSpc>
              <a:spcAft>
                <a:spcPts val="400"/>
              </a:spcAft>
            </a:pPr>
            <a:r>
              <a:rPr sz="1050" b="1" i="0">
                <a:solidFill>
                  <a:srgbClr val="6B3FA0"/>
                </a:solidFill>
                <a:latin typeface="Calibri"/>
              </a:rPr>
              <a:t>What we get: more of something that already works.</a:t>
            </a:r>
          </a:p>
        </p:txBody>
      </p:sp>
      <p:sp>
        <p:nvSpPr>
          <p:cNvPr id="37" name="Rounded Rectangle 36"/>
          <p:cNvSpPr/>
          <p:nvPr/>
        </p:nvSpPr>
        <p:spPr>
          <a:xfrm>
            <a:off x="411480" y="5257800"/>
            <a:ext cx="11365992" cy="96012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11480" y="5257800"/>
            <a:ext cx="68580" cy="96012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 y="537667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If we can only fund one</a:t>
            </a:r>
          </a:p>
        </p:txBody>
      </p:sp>
      <p:sp>
        <p:nvSpPr>
          <p:cNvPr id="40" name="TextBox 39"/>
          <p:cNvSpPr txBox="1"/>
          <p:nvPr/>
        </p:nvSpPr>
        <p:spPr>
          <a:xfrm>
            <a:off x="630936" y="5660136"/>
            <a:ext cx="10954512" cy="45720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2. It is the smaller job, we can reverse it, it is not waiting on anyone, and it brings the costing engine and the design-for-cost findings with it. Option 1 mainly saves the engineer typing. Option 2 gives us something we do not have at 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RISKS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Risks and open items</a:t>
            </a:r>
          </a:p>
        </p:txBody>
      </p:sp>
      <p:sp>
        <p:nvSpPr>
          <p:cNvPr id="9" name="Rectangle 8"/>
          <p:cNvSpPr/>
          <p:nvPr/>
        </p:nvSpPr>
        <p:spPr>
          <a:xfrm>
            <a:off x="411480" y="1783080"/>
            <a:ext cx="30175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865376"/>
            <a:ext cx="28712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Item</a:t>
            </a:r>
          </a:p>
        </p:txBody>
      </p:sp>
      <p:sp>
        <p:nvSpPr>
          <p:cNvPr id="11" name="Rectangle 10"/>
          <p:cNvSpPr/>
          <p:nvPr/>
        </p:nvSpPr>
        <p:spPr>
          <a:xfrm>
            <a:off x="3429000" y="1783080"/>
            <a:ext cx="10515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11296" y="1865376"/>
            <a:ext cx="9052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Applies to</a:t>
            </a:r>
          </a:p>
        </p:txBody>
      </p:sp>
      <p:sp>
        <p:nvSpPr>
          <p:cNvPr id="13" name="Rectangle 12"/>
          <p:cNvSpPr/>
          <p:nvPr/>
        </p:nvSpPr>
        <p:spPr>
          <a:xfrm>
            <a:off x="4480560" y="1783080"/>
            <a:ext cx="610819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62856" y="1865376"/>
            <a:ext cx="596188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Detail and what sorts it</a:t>
            </a:r>
          </a:p>
        </p:txBody>
      </p:sp>
      <p:sp>
        <p:nvSpPr>
          <p:cNvPr id="15" name="Rectangle 14"/>
          <p:cNvSpPr/>
          <p:nvPr/>
        </p:nvSpPr>
        <p:spPr>
          <a:xfrm>
            <a:off x="10588752" y="1783080"/>
            <a:ext cx="11887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71048" y="1865376"/>
            <a:ext cx="10424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Rating</a:t>
            </a:r>
          </a:p>
        </p:txBody>
      </p:sp>
      <p:sp>
        <p:nvSpPr>
          <p:cNvPr id="17" name="Rectangle 16"/>
          <p:cNvSpPr/>
          <p:nvPr/>
        </p:nvSpPr>
        <p:spPr>
          <a:xfrm>
            <a:off x="411480" y="2112264"/>
            <a:ext cx="301752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3776" y="2176272"/>
            <a:ext cx="28712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We do not know how accurate it is</a:t>
            </a:r>
          </a:p>
        </p:txBody>
      </p:sp>
      <p:sp>
        <p:nvSpPr>
          <p:cNvPr id="19" name="Rectangle 18"/>
          <p:cNvSpPr/>
          <p:nvPr/>
        </p:nvSpPr>
        <p:spPr>
          <a:xfrm>
            <a:off x="3429000" y="2112264"/>
            <a:ext cx="105156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11296" y="2176272"/>
            <a:ext cx="905256"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Both</a:t>
            </a:r>
          </a:p>
        </p:txBody>
      </p:sp>
      <p:sp>
        <p:nvSpPr>
          <p:cNvPr id="21" name="Rectangle 20"/>
          <p:cNvSpPr/>
          <p:nvPr/>
        </p:nvSpPr>
        <p:spPr>
          <a:xfrm>
            <a:off x="4480560" y="2112264"/>
            <a:ext cx="6108192"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62856" y="2176272"/>
            <a:ext cx="5961888"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Never compared against a price JLR has paid. Step 4 of Option 2 sorts this.</a:t>
            </a:r>
          </a:p>
        </p:txBody>
      </p:sp>
      <p:sp>
        <p:nvSpPr>
          <p:cNvPr id="23" name="Rectangle 22"/>
          <p:cNvSpPr/>
          <p:nvPr/>
        </p:nvSpPr>
        <p:spPr>
          <a:xfrm>
            <a:off x="10588752" y="2112264"/>
            <a:ext cx="118872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671048" y="2176272"/>
            <a:ext cx="10424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B03A2E"/>
                </a:solidFill>
                <a:latin typeface="Calibri"/>
              </a:rPr>
              <a:t>High</a:t>
            </a:r>
          </a:p>
        </p:txBody>
      </p:sp>
      <p:sp>
        <p:nvSpPr>
          <p:cNvPr id="25" name="Rectangle 24"/>
          <p:cNvSpPr/>
          <p:nvPr/>
        </p:nvSpPr>
        <p:spPr>
          <a:xfrm>
            <a:off x="411480" y="2679192"/>
            <a:ext cx="301752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3776" y="2743200"/>
            <a:ext cx="28712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Old costings cannot be reproduced</a:t>
            </a:r>
          </a:p>
        </p:txBody>
      </p:sp>
      <p:sp>
        <p:nvSpPr>
          <p:cNvPr id="27" name="Rectangle 26"/>
          <p:cNvSpPr/>
          <p:nvPr/>
        </p:nvSpPr>
        <p:spPr>
          <a:xfrm>
            <a:off x="3429000" y="2679192"/>
            <a:ext cx="105156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511296" y="2743200"/>
            <a:ext cx="905256"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Option 2</a:t>
            </a:r>
          </a:p>
        </p:txBody>
      </p:sp>
      <p:sp>
        <p:nvSpPr>
          <p:cNvPr id="29" name="Rectangle 28"/>
          <p:cNvSpPr/>
          <p:nvPr/>
        </p:nvSpPr>
        <p:spPr>
          <a:xfrm>
            <a:off x="4480560" y="2679192"/>
            <a:ext cx="6108192"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62856" y="2743200"/>
            <a:ext cx="5961888"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No rate history and no saved costings. Has to be built before we use it for anything audited.</a:t>
            </a:r>
          </a:p>
        </p:txBody>
      </p:sp>
      <p:sp>
        <p:nvSpPr>
          <p:cNvPr id="31" name="Rectangle 30"/>
          <p:cNvSpPr/>
          <p:nvPr/>
        </p:nvSpPr>
        <p:spPr>
          <a:xfrm>
            <a:off x="10588752" y="2679192"/>
            <a:ext cx="118872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71048" y="2743200"/>
            <a:ext cx="10424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B03A2E"/>
                </a:solidFill>
                <a:latin typeface="Calibri"/>
              </a:rPr>
              <a:t>High</a:t>
            </a:r>
          </a:p>
        </p:txBody>
      </p:sp>
      <p:sp>
        <p:nvSpPr>
          <p:cNvPr id="33" name="Rectangle 32"/>
          <p:cNvSpPr/>
          <p:nvPr/>
        </p:nvSpPr>
        <p:spPr>
          <a:xfrm>
            <a:off x="411480" y="3246120"/>
            <a:ext cx="301752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310128"/>
            <a:ext cx="28712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We do not know how CAPEE is built</a:t>
            </a:r>
          </a:p>
        </p:txBody>
      </p:sp>
      <p:sp>
        <p:nvSpPr>
          <p:cNvPr id="35" name="Rectangle 34"/>
          <p:cNvSpPr/>
          <p:nvPr/>
        </p:nvSpPr>
        <p:spPr>
          <a:xfrm>
            <a:off x="3429000" y="3246120"/>
            <a:ext cx="105156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511296" y="3310128"/>
            <a:ext cx="905256"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Option 1</a:t>
            </a:r>
          </a:p>
        </p:txBody>
      </p:sp>
      <p:sp>
        <p:nvSpPr>
          <p:cNvPr id="37" name="Rectangle 36"/>
          <p:cNvSpPr/>
          <p:nvPr/>
        </p:nvSpPr>
        <p:spPr>
          <a:xfrm>
            <a:off x="4480560" y="3246120"/>
            <a:ext cx="6108192"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62856" y="3310128"/>
            <a:ext cx="5961888"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Holds up the choice of connection route. One answer from IT sorts it.</a:t>
            </a:r>
          </a:p>
        </p:txBody>
      </p:sp>
      <p:sp>
        <p:nvSpPr>
          <p:cNvPr id="39" name="Rectangle 38"/>
          <p:cNvSpPr/>
          <p:nvPr/>
        </p:nvSpPr>
        <p:spPr>
          <a:xfrm>
            <a:off x="10588752" y="3246120"/>
            <a:ext cx="118872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671048" y="3310128"/>
            <a:ext cx="10424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B7791F"/>
                </a:solidFill>
                <a:latin typeface="Calibri"/>
              </a:rPr>
              <a:t>High</a:t>
            </a:r>
          </a:p>
        </p:txBody>
      </p:sp>
      <p:sp>
        <p:nvSpPr>
          <p:cNvPr id="41" name="Rectangle 40"/>
          <p:cNvSpPr/>
          <p:nvPr/>
        </p:nvSpPr>
        <p:spPr>
          <a:xfrm>
            <a:off x="411480" y="3813048"/>
            <a:ext cx="301752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93776" y="3877056"/>
            <a:ext cx="28712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The built-in numbers are estimates</a:t>
            </a:r>
          </a:p>
        </p:txBody>
      </p:sp>
      <p:sp>
        <p:nvSpPr>
          <p:cNvPr id="43" name="Rectangle 42"/>
          <p:cNvSpPr/>
          <p:nvPr/>
        </p:nvSpPr>
        <p:spPr>
          <a:xfrm>
            <a:off x="3429000" y="3813048"/>
            <a:ext cx="105156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511296" y="3877056"/>
            <a:ext cx="905256"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Both</a:t>
            </a:r>
          </a:p>
        </p:txBody>
      </p:sp>
      <p:sp>
        <p:nvSpPr>
          <p:cNvPr id="45" name="Rectangle 44"/>
          <p:cNvSpPr/>
          <p:nvPr/>
        </p:nvSpPr>
        <p:spPr>
          <a:xfrm>
            <a:off x="4480560" y="3813048"/>
            <a:ext cx="6108192"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62856" y="3877056"/>
            <a:ext cx="5961888"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Starting points rather than JLR plant measurements. They get replaced as real data comes in.</a:t>
            </a:r>
          </a:p>
        </p:txBody>
      </p:sp>
      <p:sp>
        <p:nvSpPr>
          <p:cNvPr id="47" name="Rectangle 46"/>
          <p:cNvSpPr/>
          <p:nvPr/>
        </p:nvSpPr>
        <p:spPr>
          <a:xfrm>
            <a:off x="10588752" y="3813048"/>
            <a:ext cx="118872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671048" y="3877056"/>
            <a:ext cx="10424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B7791F"/>
                </a:solidFill>
                <a:latin typeface="Calibri"/>
              </a:rPr>
              <a:t>Medium</a:t>
            </a:r>
          </a:p>
        </p:txBody>
      </p:sp>
      <p:sp>
        <p:nvSpPr>
          <p:cNvPr id="49" name="Rectangle 48"/>
          <p:cNvSpPr/>
          <p:nvPr/>
        </p:nvSpPr>
        <p:spPr>
          <a:xfrm>
            <a:off x="411480" y="4379976"/>
            <a:ext cx="301752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3776" y="4443984"/>
            <a:ext cx="28712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Server type</a:t>
            </a:r>
          </a:p>
        </p:txBody>
      </p:sp>
      <p:sp>
        <p:nvSpPr>
          <p:cNvPr id="51" name="Rectangle 50"/>
          <p:cNvSpPr/>
          <p:nvPr/>
        </p:nvSpPr>
        <p:spPr>
          <a:xfrm>
            <a:off x="3429000" y="4379976"/>
            <a:ext cx="105156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511296" y="4443984"/>
            <a:ext cx="905256"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Option 1</a:t>
            </a:r>
          </a:p>
        </p:txBody>
      </p:sp>
      <p:sp>
        <p:nvSpPr>
          <p:cNvPr id="53" name="Rectangle 52"/>
          <p:cNvSpPr/>
          <p:nvPr/>
        </p:nvSpPr>
        <p:spPr>
          <a:xfrm>
            <a:off x="4480560" y="4379976"/>
            <a:ext cx="6108192"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62856" y="4443984"/>
            <a:ext cx="5961888"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The measuring engine needs a normal Linux server. Easy to confirm now, awkward if we miss it.</a:t>
            </a:r>
          </a:p>
        </p:txBody>
      </p:sp>
      <p:sp>
        <p:nvSpPr>
          <p:cNvPr id="55" name="Rectangle 54"/>
          <p:cNvSpPr/>
          <p:nvPr/>
        </p:nvSpPr>
        <p:spPr>
          <a:xfrm>
            <a:off x="10588752" y="4379976"/>
            <a:ext cx="118872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671048" y="4443984"/>
            <a:ext cx="10424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B7791F"/>
                </a:solidFill>
                <a:latin typeface="Calibri"/>
              </a:rPr>
              <a:t>Medium</a:t>
            </a:r>
          </a:p>
        </p:txBody>
      </p:sp>
      <p:sp>
        <p:nvSpPr>
          <p:cNvPr id="57" name="Rectangle 56"/>
          <p:cNvSpPr/>
          <p:nvPr/>
        </p:nvSpPr>
        <p:spPr>
          <a:xfrm>
            <a:off x="411480" y="4946904"/>
            <a:ext cx="301752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93776" y="5010912"/>
            <a:ext cx="28712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Drawing text goes to an AI service</a:t>
            </a:r>
          </a:p>
        </p:txBody>
      </p:sp>
      <p:sp>
        <p:nvSpPr>
          <p:cNvPr id="59" name="Rectangle 58"/>
          <p:cNvSpPr/>
          <p:nvPr/>
        </p:nvSpPr>
        <p:spPr>
          <a:xfrm>
            <a:off x="3429000" y="4946904"/>
            <a:ext cx="105156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511296" y="5010912"/>
            <a:ext cx="905256"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Both</a:t>
            </a:r>
          </a:p>
        </p:txBody>
      </p:sp>
      <p:sp>
        <p:nvSpPr>
          <p:cNvPr id="61" name="Rectangle 60"/>
          <p:cNvSpPr/>
          <p:nvPr/>
        </p:nvSpPr>
        <p:spPr>
          <a:xfrm>
            <a:off x="4480560" y="4946904"/>
            <a:ext cx="6108192"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562856" y="5010912"/>
            <a:ext cx="5961888"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Short extracts only, and it can go through a JLR service. The CAD file itself stays on the server.</a:t>
            </a:r>
          </a:p>
        </p:txBody>
      </p:sp>
      <p:sp>
        <p:nvSpPr>
          <p:cNvPr id="63" name="Rectangle 62"/>
          <p:cNvSpPr/>
          <p:nvPr/>
        </p:nvSpPr>
        <p:spPr>
          <a:xfrm>
            <a:off x="10588752" y="4946904"/>
            <a:ext cx="1188720" cy="56692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671048" y="5010912"/>
            <a:ext cx="10424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B7791F"/>
                </a:solidFill>
                <a:latin typeface="Calibri"/>
              </a:rPr>
              <a:t>Medium</a:t>
            </a:r>
          </a:p>
        </p:txBody>
      </p:sp>
      <p:sp>
        <p:nvSpPr>
          <p:cNvPr id="65" name="Rectangle 64"/>
          <p:cNvSpPr/>
          <p:nvPr/>
        </p:nvSpPr>
        <p:spPr>
          <a:xfrm>
            <a:off x="411480" y="5513832"/>
            <a:ext cx="301752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93776" y="5577840"/>
            <a:ext cx="28712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The tool is still changing</a:t>
            </a:r>
          </a:p>
        </p:txBody>
      </p:sp>
      <p:sp>
        <p:nvSpPr>
          <p:cNvPr id="67" name="Rectangle 66"/>
          <p:cNvSpPr/>
          <p:nvPr/>
        </p:nvSpPr>
        <p:spPr>
          <a:xfrm>
            <a:off x="3429000" y="5513832"/>
            <a:ext cx="105156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511296" y="5577840"/>
            <a:ext cx="905256"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Both</a:t>
            </a:r>
          </a:p>
        </p:txBody>
      </p:sp>
      <p:sp>
        <p:nvSpPr>
          <p:cNvPr id="69" name="Rectangle 68"/>
          <p:cNvSpPr/>
          <p:nvPr/>
        </p:nvSpPr>
        <p:spPr>
          <a:xfrm>
            <a:off x="4480560" y="5513832"/>
            <a:ext cx="6108192"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562856" y="5577840"/>
            <a:ext cx="5961888" cy="475488"/>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Three faults found and fixed in August. Work is ongoing, so we pin a version for any trial.</a:t>
            </a:r>
          </a:p>
        </p:txBody>
      </p:sp>
      <p:sp>
        <p:nvSpPr>
          <p:cNvPr id="71" name="Rectangle 70"/>
          <p:cNvSpPr/>
          <p:nvPr/>
        </p:nvSpPr>
        <p:spPr>
          <a:xfrm>
            <a:off x="10588752" y="5513832"/>
            <a:ext cx="1188720"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0671048" y="5577840"/>
            <a:ext cx="1042416" cy="475488"/>
          </a:xfrm>
          <a:prstGeom prst="rect">
            <a:avLst/>
          </a:prstGeom>
          <a:noFill/>
        </p:spPr>
        <p:txBody>
          <a:bodyPr wrap="square" anchor="t" lIns="0" rIns="0" tIns="0" bIns="0">
            <a:spAutoFit/>
          </a:bodyPr>
          <a:lstStyle/>
          <a:p>
            <a:pPr algn="l">
              <a:lnSpc>
                <a:spcPct val="100000"/>
              </a:lnSpc>
              <a:spcAft>
                <a:spcPts val="400"/>
              </a:spcAft>
            </a:pPr>
            <a:r>
              <a:rPr sz="980" b="1" i="0">
                <a:solidFill>
                  <a:srgbClr val="B7791F"/>
                </a:solidFill>
                <a:latin typeface="Calibri"/>
              </a:rPr>
              <a:t>Medium</a:t>
            </a:r>
          </a:p>
        </p:txBody>
      </p:sp>
      <p:sp>
        <p:nvSpPr>
          <p:cNvPr id="73" name="Rounded Rectangle 72"/>
          <p:cNvSpPr/>
          <p:nvPr/>
        </p:nvSpPr>
        <p:spPr>
          <a:xfrm>
            <a:off x="411480" y="5943600"/>
            <a:ext cx="11365992" cy="658368"/>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411480" y="5943600"/>
            <a:ext cx="68580" cy="65836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30936" y="606247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One step deals with two of the three high items</a:t>
            </a:r>
          </a:p>
        </p:txBody>
      </p:sp>
      <p:sp>
        <p:nvSpPr>
          <p:cNvPr id="76" name="TextBox 75"/>
          <p:cNvSpPr txBox="1"/>
          <p:nvPr/>
        </p:nvSpPr>
        <p:spPr>
          <a:xfrm>
            <a:off x="630936" y="6345936"/>
            <a:ext cx="10954512" cy="15544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Running Option 2 tells us how accurate the tool is and forces the rate history and saved costings to get built. Another reason to do it first.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NEXT STEPS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need to get going</a:t>
            </a:r>
          </a:p>
        </p:txBody>
      </p:sp>
      <p:sp>
        <p:nvSpPr>
          <p:cNvPr id="9" name="Rounded Rectangle 8"/>
          <p:cNvSpPr/>
          <p:nvPr/>
        </p:nvSpPr>
        <p:spPr>
          <a:xfrm>
            <a:off x="411480" y="1783080"/>
            <a:ext cx="11365992" cy="10972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83080"/>
            <a:ext cx="68580" cy="10972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8368" y="1920240"/>
            <a:ext cx="457200" cy="457200"/>
          </a:xfrm>
          <a:prstGeom prst="ellipse">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2" name="Oval 11"/>
          <p:cNvSpPr/>
          <p:nvPr/>
        </p:nvSpPr>
        <p:spPr>
          <a:xfrm>
            <a:off x="1298448" y="1920240"/>
            <a:ext cx="457200" cy="457200"/>
          </a:xfrm>
          <a:prstGeom prst="ellipse">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ip.png"/>
          <p:cNvPicPr>
            <a:picLocks noChangeAspect="1"/>
          </p:cNvPicPr>
          <p:nvPr/>
        </p:nvPicPr>
        <p:blipFill>
          <a:blip r:embed="rId2"/>
          <a:stretch>
            <a:fillRect/>
          </a:stretch>
        </p:blipFill>
        <p:spPr>
          <a:xfrm>
            <a:off x="1417320" y="2039112"/>
            <a:ext cx="219456" cy="219456"/>
          </a:xfrm>
          <a:prstGeom prst="rect">
            <a:avLst/>
          </a:prstGeom>
        </p:spPr>
      </p:pic>
      <p:sp>
        <p:nvSpPr>
          <p:cNvPr id="14" name="TextBox 13"/>
          <p:cNvSpPr txBox="1"/>
          <p:nvPr/>
        </p:nvSpPr>
        <p:spPr>
          <a:xfrm>
            <a:off x="1965960" y="1938528"/>
            <a:ext cx="960120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30 to 50 parts with the price we actually paid</a:t>
            </a:r>
          </a:p>
        </p:txBody>
      </p:sp>
      <p:sp>
        <p:nvSpPr>
          <p:cNvPr id="15" name="TextBox 14"/>
          <p:cNvSpPr txBox="1"/>
          <p:nvPr/>
        </p:nvSpPr>
        <p:spPr>
          <a:xfrm>
            <a:off x="1965960" y="2286000"/>
            <a:ext cx="9509760" cy="502920"/>
          </a:xfrm>
          <a:prstGeom prst="rect">
            <a:avLst/>
          </a:prstGeom>
          <a:noFill/>
        </p:spPr>
        <p:txBody>
          <a:bodyPr wrap="square" anchor="t" lIns="0" rIns="0" tIns="0" bIns="0">
            <a:spAutoFit/>
          </a:bodyPr>
          <a:lstStyle/>
          <a:p>
            <a:pPr algn="l">
              <a:lnSpc>
                <a:spcPct val="115000"/>
              </a:lnSpc>
              <a:spcAft>
                <a:spcPts val="400"/>
              </a:spcAft>
            </a:pPr>
            <a:r>
              <a:rPr sz="1030" b="0" i="0">
                <a:solidFill>
                  <a:srgbClr val="3A4356"/>
                </a:solidFill>
                <a:latin typeface="Calibri"/>
              </a:rPr>
              <a:t>Part, description, annual volume, where it was made, and the price paid. Existing purchase records will do. This is how we find out how accurate it is, and both options need it.</a:t>
            </a:r>
          </a:p>
        </p:txBody>
      </p:sp>
      <p:sp>
        <p:nvSpPr>
          <p:cNvPr id="16" name="Rounded Rectangle 15"/>
          <p:cNvSpPr/>
          <p:nvPr/>
        </p:nvSpPr>
        <p:spPr>
          <a:xfrm>
            <a:off x="411480" y="2971800"/>
            <a:ext cx="11365992" cy="10972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971800"/>
            <a:ext cx="68580" cy="10972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8368" y="3108960"/>
            <a:ext cx="457200" cy="45720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9" name="Oval 18"/>
          <p:cNvSpPr/>
          <p:nvPr/>
        </p:nvSpPr>
        <p:spPr>
          <a:xfrm>
            <a:off x="1298448" y="3108960"/>
            <a:ext cx="457200" cy="45720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ins.png"/>
          <p:cNvPicPr>
            <a:picLocks noChangeAspect="1"/>
          </p:cNvPicPr>
          <p:nvPr/>
        </p:nvPicPr>
        <p:blipFill>
          <a:blip r:embed="rId3"/>
          <a:stretch>
            <a:fillRect/>
          </a:stretch>
        </p:blipFill>
        <p:spPr>
          <a:xfrm>
            <a:off x="1417320" y="3227832"/>
            <a:ext cx="219456" cy="219456"/>
          </a:xfrm>
          <a:prstGeom prst="rect">
            <a:avLst/>
          </a:prstGeom>
        </p:spPr>
      </p:pic>
      <p:sp>
        <p:nvSpPr>
          <p:cNvPr id="21" name="TextBox 20"/>
          <p:cNvSpPr txBox="1"/>
          <p:nvPr/>
        </p:nvSpPr>
        <p:spPr>
          <a:xfrm>
            <a:off x="1965960" y="3127248"/>
            <a:ext cx="960120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JLR rate data</a:t>
            </a:r>
          </a:p>
        </p:txBody>
      </p:sp>
      <p:sp>
        <p:nvSpPr>
          <p:cNvPr id="22" name="TextBox 21"/>
          <p:cNvSpPr txBox="1"/>
          <p:nvPr/>
        </p:nvSpPr>
        <p:spPr>
          <a:xfrm>
            <a:off x="1965960" y="3474720"/>
            <a:ext cx="9509760" cy="502920"/>
          </a:xfrm>
          <a:prstGeom prst="rect">
            <a:avLst/>
          </a:prstGeom>
          <a:noFill/>
        </p:spPr>
        <p:txBody>
          <a:bodyPr wrap="square" anchor="t" lIns="0" rIns="0" tIns="0" bIns="0">
            <a:spAutoFit/>
          </a:bodyPr>
          <a:lstStyle/>
          <a:p>
            <a:pPr algn="l">
              <a:lnSpc>
                <a:spcPct val="115000"/>
              </a:lnSpc>
              <a:spcAft>
                <a:spcPts val="400"/>
              </a:spcAft>
            </a:pPr>
            <a:r>
              <a:rPr sz="1030" b="0" i="0">
                <a:solidFill>
                  <a:srgbClr val="3A4356"/>
                </a:solidFill>
                <a:latin typeface="Calibri"/>
              </a:rPr>
              <a:t>Material prices, machine rates per hour, labour by grade, electricity and gas. This sets the pace for Option 2, so it is worth starting whichever option we pick.</a:t>
            </a:r>
          </a:p>
        </p:txBody>
      </p:sp>
      <p:sp>
        <p:nvSpPr>
          <p:cNvPr id="23" name="Rounded Rectangle 22"/>
          <p:cNvSpPr/>
          <p:nvPr/>
        </p:nvSpPr>
        <p:spPr>
          <a:xfrm>
            <a:off x="411480" y="4160520"/>
            <a:ext cx="11365992" cy="10972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160520"/>
            <a:ext cx="68580" cy="10972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58368" y="4297680"/>
            <a:ext cx="457200" cy="45720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6" name="Oval 25"/>
          <p:cNvSpPr/>
          <p:nvPr/>
        </p:nvSpPr>
        <p:spPr>
          <a:xfrm>
            <a:off x="1298448" y="4297680"/>
            <a:ext cx="457200" cy="45720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og.png"/>
          <p:cNvPicPr>
            <a:picLocks noChangeAspect="1"/>
          </p:cNvPicPr>
          <p:nvPr/>
        </p:nvPicPr>
        <p:blipFill>
          <a:blip r:embed="rId4"/>
          <a:stretch>
            <a:fillRect/>
          </a:stretch>
        </p:blipFill>
        <p:spPr>
          <a:xfrm>
            <a:off x="1417320" y="4416552"/>
            <a:ext cx="219456" cy="219456"/>
          </a:xfrm>
          <a:prstGeom prst="rect">
            <a:avLst/>
          </a:prstGeom>
        </p:spPr>
      </p:pic>
      <p:sp>
        <p:nvSpPr>
          <p:cNvPr id="28" name="TextBox 27"/>
          <p:cNvSpPr txBox="1"/>
          <p:nvPr/>
        </p:nvSpPr>
        <p:spPr>
          <a:xfrm>
            <a:off x="1965960" y="4315968"/>
            <a:ext cx="960120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How CAPEE is built</a:t>
            </a:r>
          </a:p>
        </p:txBody>
      </p:sp>
      <p:sp>
        <p:nvSpPr>
          <p:cNvPr id="29" name="TextBox 28"/>
          <p:cNvSpPr txBox="1"/>
          <p:nvPr/>
        </p:nvSpPr>
        <p:spPr>
          <a:xfrm>
            <a:off x="1965960" y="4663440"/>
            <a:ext cx="9509760" cy="502920"/>
          </a:xfrm>
          <a:prstGeom prst="rect">
            <a:avLst/>
          </a:prstGeom>
          <a:noFill/>
        </p:spPr>
        <p:txBody>
          <a:bodyPr wrap="square" anchor="t" lIns="0" rIns="0" tIns="0" bIns="0">
            <a:spAutoFit/>
          </a:bodyPr>
          <a:lstStyle/>
          <a:p>
            <a:pPr algn="l">
              <a:lnSpc>
                <a:spcPct val="115000"/>
              </a:lnSpc>
              <a:spcAft>
                <a:spcPts val="400"/>
              </a:spcAft>
            </a:pPr>
            <a:r>
              <a:rPr sz="1030" b="0" i="0">
                <a:solidFill>
                  <a:srgbClr val="3A4356"/>
                </a:solidFill>
                <a:latin typeface="Calibri"/>
              </a:rPr>
              <a:t>What it is written in, whether it can call another service on the network, and what kind of server it runs on. Three questions to IT. Unblocks Option 1.</a:t>
            </a:r>
          </a:p>
        </p:txBody>
      </p:sp>
      <p:sp>
        <p:nvSpPr>
          <p:cNvPr id="30" name="Rounded Rectangle 29"/>
          <p:cNvSpPr/>
          <p:nvPr/>
        </p:nvSpPr>
        <p:spPr>
          <a:xfrm>
            <a:off x="411480" y="5349240"/>
            <a:ext cx="11365992" cy="10972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11480" y="5349240"/>
            <a:ext cx="68580" cy="10972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8368" y="5486400"/>
            <a:ext cx="457200" cy="45720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33" name="Oval 32"/>
          <p:cNvSpPr/>
          <p:nvPr/>
        </p:nvSpPr>
        <p:spPr>
          <a:xfrm>
            <a:off x="1298448" y="5486400"/>
            <a:ext cx="457200" cy="45720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shield.png"/>
          <p:cNvPicPr>
            <a:picLocks noChangeAspect="1"/>
          </p:cNvPicPr>
          <p:nvPr/>
        </p:nvPicPr>
        <p:blipFill>
          <a:blip r:embed="rId5"/>
          <a:stretch>
            <a:fillRect/>
          </a:stretch>
        </p:blipFill>
        <p:spPr>
          <a:xfrm>
            <a:off x="1417320" y="5605272"/>
            <a:ext cx="219456" cy="219456"/>
          </a:xfrm>
          <a:prstGeom prst="rect">
            <a:avLst/>
          </a:prstGeom>
        </p:spPr>
      </p:pic>
      <p:sp>
        <p:nvSpPr>
          <p:cNvPr id="35" name="TextBox 34"/>
          <p:cNvSpPr txBox="1"/>
          <p:nvPr/>
        </p:nvSpPr>
        <p:spPr>
          <a:xfrm>
            <a:off x="1965960" y="5504688"/>
            <a:ext cx="960120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A decision on the drawing-reading step</a:t>
            </a:r>
          </a:p>
        </p:txBody>
      </p:sp>
      <p:sp>
        <p:nvSpPr>
          <p:cNvPr id="36" name="TextBox 35"/>
          <p:cNvSpPr txBox="1"/>
          <p:nvPr/>
        </p:nvSpPr>
        <p:spPr>
          <a:xfrm>
            <a:off x="1965960" y="5852160"/>
            <a:ext cx="9509760" cy="502920"/>
          </a:xfrm>
          <a:prstGeom prst="rect">
            <a:avLst/>
          </a:prstGeom>
          <a:noFill/>
        </p:spPr>
        <p:txBody>
          <a:bodyPr wrap="square" anchor="t" lIns="0" rIns="0" tIns="0" bIns="0">
            <a:spAutoFit/>
          </a:bodyPr>
          <a:lstStyle/>
          <a:p>
            <a:pPr algn="l">
              <a:lnSpc>
                <a:spcPct val="115000"/>
              </a:lnSpc>
              <a:spcAft>
                <a:spcPts val="400"/>
              </a:spcAft>
            </a:pPr>
            <a:r>
              <a:rPr sz="1030" b="0" i="0">
                <a:solidFill>
                  <a:srgbClr val="3A4356"/>
                </a:solidFill>
                <a:latin typeface="Calibri"/>
              </a:rPr>
              <a:t>Either switch off the AI reading and keep the measuring, or run it through a JLR-approved service. The data-flow document covers both.</a:t>
            </a:r>
          </a:p>
        </p:txBody>
      </p:sp>
      <p:sp>
        <p:nvSpPr>
          <p:cNvPr id="37" name="Rounded Rectangle 36"/>
          <p:cNvSpPr/>
          <p:nvPr/>
        </p:nvSpPr>
        <p:spPr>
          <a:xfrm>
            <a:off x="411480" y="6016752"/>
            <a:ext cx="11365992" cy="50292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11480" y="6016752"/>
            <a:ext cx="68580" cy="5029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 y="6135624"/>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The first one matters most</a:t>
            </a:r>
          </a:p>
        </p:txBody>
      </p:sp>
      <p:sp>
        <p:nvSpPr>
          <p:cNvPr id="40" name="TextBox 39"/>
          <p:cNvSpPr txBox="1"/>
          <p:nvPr/>
        </p:nvSpPr>
        <p:spPr>
          <a:xfrm>
            <a:off x="630936" y="6419088"/>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other three can run alongside it. Without real prices to compare against, we cannot sign either option off as accurate.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SEQUENCE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has to happen before what</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No dates. None of this has been sized by JLR. What is fixed is the order, because some steps cannot start until others finish.</a:t>
            </a:r>
          </a:p>
        </p:txBody>
      </p:sp>
      <p:sp>
        <p:nvSpPr>
          <p:cNvPr id="10" name="Rounded Rectangle 9"/>
          <p:cNvSpPr/>
          <p:nvPr/>
        </p:nvSpPr>
        <p:spPr>
          <a:xfrm>
            <a:off x="411480" y="2148840"/>
            <a:ext cx="1709928" cy="12344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14884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7844" y="2304288"/>
            <a:ext cx="457200" cy="45720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oins.png"/>
          <p:cNvPicPr>
            <a:picLocks noChangeAspect="1"/>
          </p:cNvPicPr>
          <p:nvPr/>
        </p:nvPicPr>
        <p:blipFill>
          <a:blip r:embed="rId2"/>
          <a:stretch>
            <a:fillRect/>
          </a:stretch>
        </p:blipFill>
        <p:spPr>
          <a:xfrm>
            <a:off x="1156716" y="2423160"/>
            <a:ext cx="219456" cy="219456"/>
          </a:xfrm>
          <a:prstGeom prst="rect">
            <a:avLst/>
          </a:prstGeom>
        </p:spPr>
      </p:pic>
      <p:sp>
        <p:nvSpPr>
          <p:cNvPr id="14" name="TextBox 13"/>
          <p:cNvSpPr txBox="1"/>
          <p:nvPr/>
        </p:nvSpPr>
        <p:spPr>
          <a:xfrm>
            <a:off x="502920" y="2852928"/>
            <a:ext cx="1527048" cy="457200"/>
          </a:xfrm>
          <a:prstGeom prst="rect">
            <a:avLst/>
          </a:prstGeom>
          <a:noFill/>
        </p:spPr>
        <p:txBody>
          <a:bodyPr wrap="square" anchor="t" lIns="0" rIns="0" tIns="0" bIns="0">
            <a:spAutoFit/>
          </a:bodyPr>
          <a:lstStyle/>
          <a:p>
            <a:pPr algn="ctr">
              <a:lnSpc>
                <a:spcPct val="110000"/>
              </a:lnSpc>
              <a:spcAft>
                <a:spcPts val="400"/>
              </a:spcAft>
            </a:pPr>
            <a:r>
              <a:rPr sz="980" b="1" i="0">
                <a:solidFill>
                  <a:srgbClr val="16325C"/>
                </a:solidFill>
                <a:latin typeface="Calibri"/>
              </a:rPr>
              <a:t>JLR supplies rate data</a:t>
            </a:r>
          </a:p>
        </p:txBody>
      </p:sp>
      <p:sp>
        <p:nvSpPr>
          <p:cNvPr id="15" name="Right Arrow 14"/>
          <p:cNvSpPr/>
          <p:nvPr/>
        </p:nvSpPr>
        <p:spPr>
          <a:xfrm>
            <a:off x="2139696" y="267004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295144" y="2148840"/>
            <a:ext cx="1709928" cy="12344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95144" y="214884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921508" y="2304288"/>
            <a:ext cx="457200" cy="45720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og.png"/>
          <p:cNvPicPr>
            <a:picLocks noChangeAspect="1"/>
          </p:cNvPicPr>
          <p:nvPr/>
        </p:nvPicPr>
        <p:blipFill>
          <a:blip r:embed="rId3"/>
          <a:stretch>
            <a:fillRect/>
          </a:stretch>
        </p:blipFill>
        <p:spPr>
          <a:xfrm>
            <a:off x="3040380" y="2423160"/>
            <a:ext cx="219456" cy="219456"/>
          </a:xfrm>
          <a:prstGeom prst="rect">
            <a:avLst/>
          </a:prstGeom>
        </p:spPr>
      </p:pic>
      <p:sp>
        <p:nvSpPr>
          <p:cNvPr id="20" name="TextBox 19"/>
          <p:cNvSpPr txBox="1"/>
          <p:nvPr/>
        </p:nvSpPr>
        <p:spPr>
          <a:xfrm>
            <a:off x="2386584" y="2852928"/>
            <a:ext cx="1527048" cy="457200"/>
          </a:xfrm>
          <a:prstGeom prst="rect">
            <a:avLst/>
          </a:prstGeom>
          <a:noFill/>
        </p:spPr>
        <p:txBody>
          <a:bodyPr wrap="square" anchor="t" lIns="0" rIns="0" tIns="0" bIns="0">
            <a:spAutoFit/>
          </a:bodyPr>
          <a:lstStyle/>
          <a:p>
            <a:pPr algn="ctr">
              <a:lnSpc>
                <a:spcPct val="110000"/>
              </a:lnSpc>
              <a:spcAft>
                <a:spcPts val="400"/>
              </a:spcAft>
            </a:pPr>
            <a:r>
              <a:rPr sz="980" b="1" i="0">
                <a:solidFill>
                  <a:srgbClr val="16325C"/>
                </a:solidFill>
                <a:latin typeface="Calibri"/>
              </a:rPr>
              <a:t>CostVision installed and loaded</a:t>
            </a:r>
          </a:p>
        </p:txBody>
      </p:sp>
      <p:sp>
        <p:nvSpPr>
          <p:cNvPr id="21" name="Right Arrow 20"/>
          <p:cNvSpPr/>
          <p:nvPr/>
        </p:nvSpPr>
        <p:spPr>
          <a:xfrm>
            <a:off x="4023360" y="267004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178808" y="2148840"/>
            <a:ext cx="1709928" cy="12344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78808" y="214884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805172" y="2304288"/>
            <a:ext cx="457200" cy="45720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eye.png"/>
          <p:cNvPicPr>
            <a:picLocks noChangeAspect="1"/>
          </p:cNvPicPr>
          <p:nvPr/>
        </p:nvPicPr>
        <p:blipFill>
          <a:blip r:embed="rId4"/>
          <a:stretch>
            <a:fillRect/>
          </a:stretch>
        </p:blipFill>
        <p:spPr>
          <a:xfrm>
            <a:off x="4924044" y="2423160"/>
            <a:ext cx="219456" cy="219456"/>
          </a:xfrm>
          <a:prstGeom prst="rect">
            <a:avLst/>
          </a:prstGeom>
        </p:spPr>
      </p:pic>
      <p:sp>
        <p:nvSpPr>
          <p:cNvPr id="26" name="TextBox 25"/>
          <p:cNvSpPr txBox="1"/>
          <p:nvPr/>
        </p:nvSpPr>
        <p:spPr>
          <a:xfrm>
            <a:off x="4270248" y="2852928"/>
            <a:ext cx="1527048" cy="457200"/>
          </a:xfrm>
          <a:prstGeom prst="rect">
            <a:avLst/>
          </a:prstGeom>
          <a:noFill/>
        </p:spPr>
        <p:txBody>
          <a:bodyPr wrap="square" anchor="t" lIns="0" rIns="0" tIns="0" bIns="0">
            <a:spAutoFit/>
          </a:bodyPr>
          <a:lstStyle/>
          <a:p>
            <a:pPr algn="ctr">
              <a:lnSpc>
                <a:spcPct val="110000"/>
              </a:lnSpc>
              <a:spcAft>
                <a:spcPts val="400"/>
              </a:spcAft>
            </a:pPr>
            <a:r>
              <a:rPr sz="980" b="1" i="0">
                <a:solidFill>
                  <a:srgbClr val="16325C"/>
                </a:solidFill>
                <a:latin typeface="Calibri"/>
              </a:rPr>
              <a:t>Compared against parts we bought</a:t>
            </a:r>
          </a:p>
        </p:txBody>
      </p:sp>
      <p:sp>
        <p:nvSpPr>
          <p:cNvPr id="27" name="Right Arrow 26"/>
          <p:cNvSpPr/>
          <p:nvPr/>
        </p:nvSpPr>
        <p:spPr>
          <a:xfrm>
            <a:off x="5907024" y="267004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062472" y="2148840"/>
            <a:ext cx="1709928" cy="12344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062472" y="214884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png"/>
          <p:cNvPicPr>
            <a:picLocks noChangeAspect="1"/>
          </p:cNvPicPr>
          <p:nvPr/>
        </p:nvPicPr>
        <p:blipFill>
          <a:blip r:embed="rId5"/>
          <a:stretch>
            <a:fillRect/>
          </a:stretch>
        </p:blipFill>
        <p:spPr>
          <a:xfrm>
            <a:off x="6807708" y="2423160"/>
            <a:ext cx="219456" cy="219456"/>
          </a:xfrm>
          <a:prstGeom prst="rect">
            <a:avLst/>
          </a:prstGeom>
        </p:spPr>
      </p:pic>
      <p:sp>
        <p:nvSpPr>
          <p:cNvPr id="31" name="TextBox 30"/>
          <p:cNvSpPr txBox="1"/>
          <p:nvPr/>
        </p:nvSpPr>
        <p:spPr>
          <a:xfrm>
            <a:off x="6153912" y="2852928"/>
            <a:ext cx="1527048" cy="457200"/>
          </a:xfrm>
          <a:prstGeom prst="rect">
            <a:avLst/>
          </a:prstGeom>
          <a:noFill/>
        </p:spPr>
        <p:txBody>
          <a:bodyPr wrap="square" anchor="t" lIns="0" rIns="0" tIns="0" bIns="0">
            <a:spAutoFit/>
          </a:bodyPr>
          <a:lstStyle/>
          <a:p>
            <a:pPr algn="ctr">
              <a:lnSpc>
                <a:spcPct val="110000"/>
              </a:lnSpc>
              <a:spcAft>
                <a:spcPts val="400"/>
              </a:spcAft>
            </a:pPr>
            <a:r>
              <a:rPr sz="980" b="1" i="0">
                <a:solidFill>
                  <a:srgbClr val="16325C"/>
                </a:solidFill>
                <a:latin typeface="Calibri"/>
              </a:rPr>
              <a:t>We know how accurate it is</a:t>
            </a:r>
          </a:p>
        </p:txBody>
      </p:sp>
      <p:sp>
        <p:nvSpPr>
          <p:cNvPr id="32" name="Right Arrow 31"/>
          <p:cNvSpPr/>
          <p:nvPr/>
        </p:nvSpPr>
        <p:spPr>
          <a:xfrm>
            <a:off x="7790688" y="267004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946136" y="2148840"/>
            <a:ext cx="1709928" cy="12344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946136" y="2148840"/>
            <a:ext cx="1709928"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8572500" y="2304288"/>
            <a:ext cx="457200" cy="45720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person.png"/>
          <p:cNvPicPr>
            <a:picLocks noChangeAspect="1"/>
          </p:cNvPicPr>
          <p:nvPr/>
        </p:nvPicPr>
        <p:blipFill>
          <a:blip r:embed="rId6"/>
          <a:stretch>
            <a:fillRect/>
          </a:stretch>
        </p:blipFill>
        <p:spPr>
          <a:xfrm>
            <a:off x="8691372" y="2423160"/>
            <a:ext cx="219456" cy="219456"/>
          </a:xfrm>
          <a:prstGeom prst="rect">
            <a:avLst/>
          </a:prstGeom>
        </p:spPr>
      </p:pic>
      <p:sp>
        <p:nvSpPr>
          <p:cNvPr id="37" name="TextBox 36"/>
          <p:cNvSpPr txBox="1"/>
          <p:nvPr/>
        </p:nvSpPr>
        <p:spPr>
          <a:xfrm>
            <a:off x="8037576" y="2852928"/>
            <a:ext cx="1527048" cy="457200"/>
          </a:xfrm>
          <a:prstGeom prst="rect">
            <a:avLst/>
          </a:prstGeom>
          <a:noFill/>
        </p:spPr>
        <p:txBody>
          <a:bodyPr wrap="square" anchor="t" lIns="0" rIns="0" tIns="0" bIns="0">
            <a:spAutoFit/>
          </a:bodyPr>
          <a:lstStyle/>
          <a:p>
            <a:pPr algn="ctr">
              <a:lnSpc>
                <a:spcPct val="110000"/>
              </a:lnSpc>
              <a:spcAft>
                <a:spcPts val="400"/>
              </a:spcAft>
            </a:pPr>
            <a:r>
              <a:rPr sz="980" b="1" i="0">
                <a:solidFill>
                  <a:srgbClr val="16325C"/>
                </a:solidFill>
                <a:latin typeface="Calibri"/>
              </a:rPr>
              <a:t>Decision on Option 1</a:t>
            </a:r>
          </a:p>
        </p:txBody>
      </p:sp>
      <p:sp>
        <p:nvSpPr>
          <p:cNvPr id="38" name="Right Arrow 37"/>
          <p:cNvSpPr/>
          <p:nvPr/>
        </p:nvSpPr>
        <p:spPr>
          <a:xfrm>
            <a:off x="9674352" y="267004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829800" y="2148840"/>
            <a:ext cx="1709928" cy="12344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829800" y="2148840"/>
            <a:ext cx="1709928"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0456164" y="2304288"/>
            <a:ext cx="457200" cy="45720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calc.png"/>
          <p:cNvPicPr>
            <a:picLocks noChangeAspect="1"/>
          </p:cNvPicPr>
          <p:nvPr/>
        </p:nvPicPr>
        <p:blipFill>
          <a:blip r:embed="rId7"/>
          <a:stretch>
            <a:fillRect/>
          </a:stretch>
        </p:blipFill>
        <p:spPr>
          <a:xfrm>
            <a:off x="10575036" y="2423160"/>
            <a:ext cx="219456" cy="219456"/>
          </a:xfrm>
          <a:prstGeom prst="rect">
            <a:avLst/>
          </a:prstGeom>
        </p:spPr>
      </p:pic>
      <p:sp>
        <p:nvSpPr>
          <p:cNvPr id="43" name="TextBox 42"/>
          <p:cNvSpPr txBox="1"/>
          <p:nvPr/>
        </p:nvSpPr>
        <p:spPr>
          <a:xfrm>
            <a:off x="9921240" y="2852928"/>
            <a:ext cx="1527048" cy="457200"/>
          </a:xfrm>
          <a:prstGeom prst="rect">
            <a:avLst/>
          </a:prstGeom>
          <a:noFill/>
        </p:spPr>
        <p:txBody>
          <a:bodyPr wrap="square" anchor="t" lIns="0" rIns="0" tIns="0" bIns="0">
            <a:spAutoFit/>
          </a:bodyPr>
          <a:lstStyle/>
          <a:p>
            <a:pPr algn="ctr">
              <a:lnSpc>
                <a:spcPct val="110000"/>
              </a:lnSpc>
              <a:spcAft>
                <a:spcPts val="400"/>
              </a:spcAft>
            </a:pPr>
            <a:r>
              <a:rPr sz="980" b="1" i="0">
                <a:solidFill>
                  <a:srgbClr val="16325C"/>
                </a:solidFill>
                <a:latin typeface="Calibri"/>
              </a:rPr>
              <a:t>Feed CAPEE automatically</a:t>
            </a:r>
          </a:p>
        </p:txBody>
      </p:sp>
      <p:sp>
        <p:nvSpPr>
          <p:cNvPr id="44" name="Rounded Rectangle 43"/>
          <p:cNvSpPr/>
          <p:nvPr/>
        </p:nvSpPr>
        <p:spPr>
          <a:xfrm>
            <a:off x="411480" y="3657600"/>
            <a:ext cx="11365992" cy="82296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11480" y="3657600"/>
            <a:ext cx="68580" cy="82296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368" y="3785615"/>
            <a:ext cx="10881360" cy="237744"/>
          </a:xfrm>
          <a:prstGeom prst="rect">
            <a:avLst/>
          </a:prstGeom>
          <a:noFill/>
        </p:spPr>
        <p:txBody>
          <a:bodyPr wrap="square" anchor="t" lIns="0" rIns="0" tIns="0" bIns="0">
            <a:spAutoFit/>
          </a:bodyPr>
          <a:lstStyle/>
          <a:p>
            <a:pPr algn="l">
              <a:lnSpc>
                <a:spcPct val="100000"/>
              </a:lnSpc>
              <a:spcAft>
                <a:spcPts val="400"/>
              </a:spcAft>
            </a:pPr>
            <a:r>
              <a:rPr sz="1150" b="1" i="0">
                <a:solidFill>
                  <a:srgbClr val="B7791F"/>
                </a:solidFill>
                <a:latin typeface="Calibri"/>
              </a:rPr>
              <a:t>Can run alongside, holds nothing up</a:t>
            </a:r>
          </a:p>
        </p:txBody>
      </p:sp>
      <p:sp>
        <p:nvSpPr>
          <p:cNvPr id="47" name="TextBox 46"/>
          <p:cNvSpPr txBox="1"/>
          <p:nvPr/>
        </p:nvSpPr>
        <p:spPr>
          <a:xfrm>
            <a:off x="658368" y="4059936"/>
            <a:ext cx="10881360"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IT security review  ·  Answer on how CAPEE is built  ·  Standing up the measuring software  ·  Writing out the settings list</a:t>
            </a:r>
          </a:p>
        </p:txBody>
      </p:sp>
      <p:sp>
        <p:nvSpPr>
          <p:cNvPr id="48" name="Rectangle 47"/>
          <p:cNvSpPr/>
          <p:nvPr/>
        </p:nvSpPr>
        <p:spPr>
          <a:xfrm>
            <a:off x="411480" y="4709160"/>
            <a:ext cx="11365992"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11480" y="4709160"/>
            <a:ext cx="54864" cy="402336"/>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4818888"/>
            <a:ext cx="10881360" cy="219456"/>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We cannot check accuracy until JLR rate data is loaded.</a:t>
            </a:r>
          </a:p>
        </p:txBody>
      </p:sp>
      <p:sp>
        <p:nvSpPr>
          <p:cNvPr id="51" name="Rectangle 50"/>
          <p:cNvSpPr/>
          <p:nvPr/>
        </p:nvSpPr>
        <p:spPr>
          <a:xfrm>
            <a:off x="411480" y="5166360"/>
            <a:ext cx="11365992"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11480" y="5166360"/>
            <a:ext cx="54864" cy="402336"/>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8368" y="5276088"/>
            <a:ext cx="10881360" cy="219456"/>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I would not commit to Option 1 until we know how accurate it is.</a:t>
            </a:r>
          </a:p>
        </p:txBody>
      </p:sp>
      <p:sp>
        <p:nvSpPr>
          <p:cNvPr id="54" name="Rectangle 53"/>
          <p:cNvSpPr/>
          <p:nvPr/>
        </p:nvSpPr>
        <p:spPr>
          <a:xfrm>
            <a:off x="411480" y="5623560"/>
            <a:ext cx="11365992"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11480" y="5623560"/>
            <a:ext cx="54864" cy="402336"/>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58368" y="5733288"/>
            <a:ext cx="10881360" cy="219456"/>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We cannot scope the CAPEE connection until IT say how CAPEE is built.</a:t>
            </a:r>
          </a:p>
        </p:txBody>
      </p:sp>
      <p:sp>
        <p:nvSpPr>
          <p:cNvPr id="57" name="Rectangle 56"/>
          <p:cNvSpPr/>
          <p:nvPr/>
        </p:nvSpPr>
        <p:spPr>
          <a:xfrm>
            <a:off x="411480" y="6080760"/>
            <a:ext cx="11365992" cy="40233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11480" y="6080760"/>
            <a:ext cx="54864" cy="402336"/>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58368" y="6190488"/>
            <a:ext cx="10881360" cy="219456"/>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Rate history and saved costings have to exist before we use it for anything audited.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APPENDIX</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Where the numbers come from</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Every count and value in this deck was read off the software in August 2026 and checked again when these slides were built.</a:t>
            </a:r>
          </a:p>
        </p:txBody>
      </p:sp>
      <p:sp>
        <p:nvSpPr>
          <p:cNvPr id="10" name="Rectangle 9"/>
          <p:cNvSpPr/>
          <p:nvPr/>
        </p:nvSpPr>
        <p:spPr>
          <a:xfrm>
            <a:off x="411480" y="2057400"/>
            <a:ext cx="512064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139696"/>
            <a:ext cx="497433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Statement</a:t>
            </a:r>
          </a:p>
        </p:txBody>
      </p:sp>
      <p:sp>
        <p:nvSpPr>
          <p:cNvPr id="12" name="Rectangle 11"/>
          <p:cNvSpPr/>
          <p:nvPr/>
        </p:nvSpPr>
        <p:spPr>
          <a:xfrm>
            <a:off x="5532120" y="2057400"/>
            <a:ext cx="624535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14416" y="2139696"/>
            <a:ext cx="609904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How we checked it</a:t>
            </a:r>
          </a:p>
        </p:txBody>
      </p:sp>
      <p:sp>
        <p:nvSpPr>
          <p:cNvPr id="14" name="Rectangle 13"/>
          <p:cNvSpPr/>
          <p:nvPr/>
        </p:nvSpPr>
        <p:spPr>
          <a:xfrm>
            <a:off x="411480" y="2386584"/>
            <a:ext cx="5120640"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 y="2450592"/>
            <a:ext cx="4974336"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19 part types can be costed</a:t>
            </a:r>
          </a:p>
        </p:txBody>
      </p:sp>
      <p:sp>
        <p:nvSpPr>
          <p:cNvPr id="16" name="Rectangle 15"/>
          <p:cNvSpPr/>
          <p:nvPr/>
        </p:nvSpPr>
        <p:spPr>
          <a:xfrm>
            <a:off x="5532120" y="2386584"/>
            <a:ext cx="6245352"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14416" y="2450592"/>
            <a:ext cx="6099048"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Traced each one from its screen through to the costing</a:t>
            </a:r>
          </a:p>
        </p:txBody>
      </p:sp>
      <p:sp>
        <p:nvSpPr>
          <p:cNvPr id="18" name="Rectangle 17"/>
          <p:cNvSpPr/>
          <p:nvPr/>
        </p:nvSpPr>
        <p:spPr>
          <a:xfrm>
            <a:off x="411480" y="2734056"/>
            <a:ext cx="5120640" cy="34747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798064"/>
            <a:ext cx="4974336"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The costing gives the same answer every run</a:t>
            </a:r>
          </a:p>
        </p:txBody>
      </p:sp>
      <p:sp>
        <p:nvSpPr>
          <p:cNvPr id="20" name="Rectangle 19"/>
          <p:cNvSpPr/>
          <p:nvPr/>
        </p:nvSpPr>
        <p:spPr>
          <a:xfrm>
            <a:off x="5532120" y="2734056"/>
            <a:ext cx="6245352" cy="34747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14416" y="2798064"/>
            <a:ext cx="6099048"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Ran one part five times, identical to the last decimal</a:t>
            </a:r>
          </a:p>
        </p:txBody>
      </p:sp>
      <p:sp>
        <p:nvSpPr>
          <p:cNvPr id="22" name="Rectangle 21"/>
          <p:cNvSpPr/>
          <p:nvPr/>
        </p:nvSpPr>
        <p:spPr>
          <a:xfrm>
            <a:off x="411480" y="3081528"/>
            <a:ext cx="5120640"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 y="3145536"/>
            <a:ext cx="4974336"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No hidden defaults in the costing</a:t>
            </a:r>
          </a:p>
        </p:txBody>
      </p:sp>
      <p:sp>
        <p:nvSpPr>
          <p:cNvPr id="24" name="Rectangle 23"/>
          <p:cNvSpPr/>
          <p:nvPr/>
        </p:nvSpPr>
        <p:spPr>
          <a:xfrm>
            <a:off x="5532120" y="3081528"/>
            <a:ext cx="6245352"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14416" y="3145536"/>
            <a:ext cx="6099048"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Every figure has to be supplied; nothing gets substituted</a:t>
            </a:r>
          </a:p>
        </p:txBody>
      </p:sp>
      <p:sp>
        <p:nvSpPr>
          <p:cNvPr id="26" name="Rectangle 25"/>
          <p:cNvSpPr/>
          <p:nvPr/>
        </p:nvSpPr>
        <p:spPr>
          <a:xfrm>
            <a:off x="411480" y="3429000"/>
            <a:ext cx="5120640" cy="34747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3493008"/>
            <a:ext cx="4974336"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Measuring engine makes no internet connection</a:t>
            </a:r>
          </a:p>
        </p:txBody>
      </p:sp>
      <p:sp>
        <p:nvSpPr>
          <p:cNvPr id="28" name="Rectangle 27"/>
          <p:cNvSpPr/>
          <p:nvPr/>
        </p:nvSpPr>
        <p:spPr>
          <a:xfrm>
            <a:off x="5532120" y="3429000"/>
            <a:ext cx="6245352" cy="34747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14416" y="3493008"/>
            <a:ext cx="6099048"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Checked every line for outbound calls; there are none</a:t>
            </a:r>
          </a:p>
        </p:txBody>
      </p:sp>
      <p:sp>
        <p:nvSpPr>
          <p:cNvPr id="30" name="Rectangle 29"/>
          <p:cNvSpPr/>
          <p:nvPr/>
        </p:nvSpPr>
        <p:spPr>
          <a:xfrm>
            <a:off x="411480" y="3776472"/>
            <a:ext cx="5120640"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93776" y="3840480"/>
            <a:ext cx="4974336"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Measuring engine repeats exactly</a:t>
            </a:r>
          </a:p>
        </p:txBody>
      </p:sp>
      <p:sp>
        <p:nvSpPr>
          <p:cNvPr id="32" name="Rectangle 31"/>
          <p:cNvSpPr/>
          <p:nvPr/>
        </p:nvSpPr>
        <p:spPr>
          <a:xfrm>
            <a:off x="5532120" y="3776472"/>
            <a:ext cx="6245352"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14416" y="3840480"/>
            <a:ext cx="6099048"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Its one sampling step is fixed to a set value</a:t>
            </a:r>
          </a:p>
        </p:txBody>
      </p:sp>
      <p:sp>
        <p:nvSpPr>
          <p:cNvPr id="34" name="Rectangle 33"/>
          <p:cNvSpPr/>
          <p:nvPr/>
        </p:nvSpPr>
        <p:spPr>
          <a:xfrm>
            <a:off x="411480" y="4123944"/>
            <a:ext cx="5120640" cy="34747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4187952"/>
            <a:ext cx="4974336"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CAD files stay on the server</a:t>
            </a:r>
          </a:p>
        </p:txBody>
      </p:sp>
      <p:sp>
        <p:nvSpPr>
          <p:cNvPr id="36" name="Rectangle 35"/>
          <p:cNvSpPr/>
          <p:nvPr/>
        </p:nvSpPr>
        <p:spPr>
          <a:xfrm>
            <a:off x="5532120" y="4123944"/>
            <a:ext cx="6245352" cy="34747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614416" y="4187952"/>
            <a:ext cx="6099048"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Measuring happens locally; only drawing text goes to an AI service</a:t>
            </a:r>
          </a:p>
        </p:txBody>
      </p:sp>
      <p:sp>
        <p:nvSpPr>
          <p:cNvPr id="38" name="Rectangle 37"/>
          <p:cNvSpPr/>
          <p:nvPr/>
        </p:nvSpPr>
        <p:spPr>
          <a:xfrm>
            <a:off x="411480" y="4471416"/>
            <a:ext cx="5120640"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93776" y="4535424"/>
            <a:ext cx="4974336"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Rates are given to the tool, not built in</a:t>
            </a:r>
          </a:p>
        </p:txBody>
      </p:sp>
      <p:sp>
        <p:nvSpPr>
          <p:cNvPr id="40" name="Rectangle 39"/>
          <p:cNvSpPr/>
          <p:nvPr/>
        </p:nvSpPr>
        <p:spPr>
          <a:xfrm>
            <a:off x="5532120" y="4471416"/>
            <a:ext cx="6245352"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14416" y="4535424"/>
            <a:ext cx="6099048"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The costing function takes the rate book as an input</a:t>
            </a:r>
          </a:p>
        </p:txBody>
      </p:sp>
      <p:sp>
        <p:nvSpPr>
          <p:cNvPr id="42" name="Rectangle 41"/>
          <p:cNvSpPr/>
          <p:nvPr/>
        </p:nvSpPr>
        <p:spPr>
          <a:xfrm>
            <a:off x="411480" y="4818888"/>
            <a:ext cx="5120640" cy="34747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3776" y="4882896"/>
            <a:ext cx="4974336"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Sizes on slide 10</a:t>
            </a:r>
          </a:p>
        </p:txBody>
      </p:sp>
      <p:sp>
        <p:nvSpPr>
          <p:cNvPr id="44" name="Rectangle 43"/>
          <p:cNvSpPr/>
          <p:nvPr/>
        </p:nvSpPr>
        <p:spPr>
          <a:xfrm>
            <a:off x="5532120" y="4818888"/>
            <a:ext cx="6245352" cy="34747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614416" y="4882896"/>
            <a:ext cx="6099048"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Counted directly in the source files</a:t>
            </a:r>
          </a:p>
        </p:txBody>
      </p:sp>
      <p:sp>
        <p:nvSpPr>
          <p:cNvPr id="46" name="Rectangle 45"/>
          <p:cNvSpPr/>
          <p:nvPr/>
        </p:nvSpPr>
        <p:spPr>
          <a:xfrm>
            <a:off x="411480" y="5166360"/>
            <a:ext cx="5120640"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3776" y="5230368"/>
            <a:ext cx="4974336"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Settings values on slide 11</a:t>
            </a:r>
          </a:p>
        </p:txBody>
      </p:sp>
      <p:sp>
        <p:nvSpPr>
          <p:cNvPr id="48" name="Rectangle 47"/>
          <p:cNvSpPr/>
          <p:nvPr/>
        </p:nvSpPr>
        <p:spPr>
          <a:xfrm>
            <a:off x="5532120" y="5166360"/>
            <a:ext cx="6245352"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14416" y="5230368"/>
            <a:ext cx="6099048"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Read off the software; each is a single defined value</a:t>
            </a:r>
          </a:p>
        </p:txBody>
      </p:sp>
      <p:sp>
        <p:nvSpPr>
          <p:cNvPr id="50" name="Rectangle 49"/>
          <p:cNvSpPr/>
          <p:nvPr/>
        </p:nvSpPr>
        <p:spPr>
          <a:xfrm>
            <a:off x="411480" y="5513832"/>
            <a:ext cx="5120640" cy="34747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3776" y="5577840"/>
            <a:ext cx="4974336"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Three faults found and fixed in August</a:t>
            </a:r>
          </a:p>
        </p:txBody>
      </p:sp>
      <p:sp>
        <p:nvSpPr>
          <p:cNvPr id="52" name="Rectangle 51"/>
          <p:cNvSpPr/>
          <p:nvPr/>
        </p:nvSpPr>
        <p:spPr>
          <a:xfrm>
            <a:off x="5532120" y="5513832"/>
            <a:ext cx="6245352" cy="347472"/>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14416" y="5577840"/>
            <a:ext cx="6099048"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A wrong-number result, a range that would not repeat, unreadable report text</a:t>
            </a:r>
          </a:p>
        </p:txBody>
      </p:sp>
      <p:sp>
        <p:nvSpPr>
          <p:cNvPr id="54" name="Rectangle 53"/>
          <p:cNvSpPr/>
          <p:nvPr/>
        </p:nvSpPr>
        <p:spPr>
          <a:xfrm>
            <a:off x="411480" y="5861304"/>
            <a:ext cx="5120640"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93776" y="5925312"/>
            <a:ext cx="4974336"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2,022 automatic tests passing</a:t>
            </a:r>
          </a:p>
        </p:txBody>
      </p:sp>
      <p:sp>
        <p:nvSpPr>
          <p:cNvPr id="56" name="Rectangle 55"/>
          <p:cNvSpPr/>
          <p:nvPr/>
        </p:nvSpPr>
        <p:spPr>
          <a:xfrm>
            <a:off x="5532120" y="5861304"/>
            <a:ext cx="6245352" cy="347472"/>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614416" y="5925312"/>
            <a:ext cx="6099048" cy="256032"/>
          </a:xfrm>
          <a:prstGeom prst="rect">
            <a:avLst/>
          </a:prstGeom>
          <a:noFill/>
        </p:spPr>
        <p:txBody>
          <a:bodyPr wrap="square" anchor="t" lIns="0" rIns="0" tIns="0" bIns="0">
            <a:spAutoFit/>
          </a:bodyPr>
          <a:lstStyle/>
          <a:p>
            <a:pPr algn="l">
              <a:lnSpc>
                <a:spcPct val="100000"/>
              </a:lnSpc>
              <a:spcAft>
                <a:spcPts val="400"/>
              </a:spcAft>
            </a:pPr>
            <a:r>
              <a:rPr sz="1000" b="0" i="0">
                <a:solidFill>
                  <a:srgbClr val="3A4356"/>
                </a:solidFill>
                <a:latin typeface="Calibri"/>
              </a:rPr>
              <a:t>Full test run at build time</a:t>
            </a:r>
          </a:p>
        </p:txBody>
      </p:sp>
      <p:sp>
        <p:nvSpPr>
          <p:cNvPr id="58" name="Rounded Rectangle 57"/>
          <p:cNvSpPr/>
          <p:nvPr/>
        </p:nvSpPr>
        <p:spPr>
          <a:xfrm>
            <a:off x="411480" y="6108192"/>
            <a:ext cx="11365992" cy="54864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11480" y="6108192"/>
            <a:ext cx="68580" cy="5486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30936" y="6227064"/>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Supporting documents</a:t>
            </a:r>
          </a:p>
        </p:txBody>
      </p:sp>
      <p:sp>
        <p:nvSpPr>
          <p:cNvPr id="61" name="TextBox 60"/>
          <p:cNvSpPr txBox="1"/>
          <p:nvPr/>
        </p:nvSpPr>
        <p:spPr>
          <a:xfrm>
            <a:off x="630936" y="6510528"/>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Security and data-flow review for IT  ·  Technical readiness assessment  ·  Independent review of the tool including a comparison against commercial alternatives.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