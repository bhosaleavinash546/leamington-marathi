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been building a tool called CostVision. The question is how we get the use of it into JLR. There are two sensible routes and I will take you through both. I will tell you what each needs from us and where the tool is genuinely not finished yet. There are no dates in this deck. Nothing here has been sized by our IT or by the business, so any timeline I put up would be a guess dressed as a plan. What I can show you is the order the work has to happen in and what depends on what.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options. On the left, CAPEE carries on costing and we feed it the input numbers automatically. On the right, we install CostVision as it is and put our own rates into it. My recommendation is to do the second one first, because it is smaller, we can stop it if it is not working, and it tells us whether the tool is actually accurate on our parts. The amber box is the thing I want on the record early. This tool has never been compared against a price we have actually paid. Until we do that, I cannot tell you how accurate it is and I would not put it in front of a supplier.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either option, this is honestly where the tool is. Left side is working now and I have checked every line of it against the software this month. Nineteen part types cost properly. The maths is repeatable. It measures models without any internet connection, which is the first thing IT security will ask. Right side is what is not finished. Top one is the important one and I will keep saying it. Below that, it does not keep a history when someone changes a rate and it does not save finished costings, so today you could not reproduce a costing from three months ago. For audit that has to be fixed. And we are still actively fixing things, three faults last month.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case for doing anything at all. Everything in the left column is typed in by hand today. The speed matters, but the second point matters more. Two of our engineers costing the same part will not type the same numbers, so we end up with two answers for one part. On the right is what the tool does instead. The blue box is the distinction I want people to hold on to. Measuring the model is ordinary software doing geometry. The AI only reads the writing on the drawing, and we check everything it reads.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of Option 1 on one slide. Top row is what happens each time somebody costs a part. The engineer supplies the model and drawing from inside CAPEE. Software measures the model, the AI reads the drawing, the safety checks compare the two. A few things no model can show, like heat treatment, the engineer confirms. Then CAPEE gets the numbers and costs the part exactly as it does now. Underneath is the order the build has to happen in and who does what. I have deliberately not put weeks against these. Nobody has sized this yet, and the connection step in particular depends on an answer we do not have.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project like this the temptation is to take the measuring and the AI and leave what looks like plumbing until later. These four checks are what make the rest safe. The first is the one to remember: if the AI and the measured model disagree, the model wins. The last one matters for a different reason. Where the tool cannot know something it asks rather than guessing, and it never pre-ticks its own answer. The red box is from our own review last month. We found a route with no checks that returned a nonsense figure while reporting success. We fixed it, and it is why I am treating the checks as scope.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asked what would actually be handed over. Six things, and the line counts come straight from the software. The measuring engine is Python, which is the normal choice for measurement work. The rest is TypeScript, common in business software. Neither is exotic and neither ties us to one supplier. The bottom row is the settings list, which is the next slide. The amber box is the one practical constraint worth raising with IT now, because it decides where this can live.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Hardcoded values is a phrase that means nothing on its own, so here are six real ones. Look at the third row. A rejected plated part costs about four and a half times a good one because you strip it and start again, which is why a three percent reject rate is closer to thirteen percent on cost. That is an engineering judgement and exactly the sort of thing you would challenge in a review, so it should not be buried in code. We gather every one of them into a single list you can read and change. The amber box is the caveat: these are our estimates, not measurements from one of our plants.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cannot give you one answer because nobody has told us how CAPEE is built. Rather than hold everything up, here are all three routes. All of them work. What changes is how much effort it takes, and I have shown that relative to each other rather than in weeks, because none of this has been sized. If you made me choose blind I would take route B, running it alongside, because it works whatever CAPEE is and we can improve our side without disturbing it. The three questions in amber are what I need from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steps in the order they have to happen. Two worth drawing out. Step three is the settings list, signed off before anything is costed with it. Step four is the safety checks, which I have given a step of their own so it does not get folded into the connection work and squeezed. The blue box is useful for planning: steps one and two can run at the same time, because standing up the measuring software does not depend on knowing how CAPEE is built. Only step five does.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treatment for Option 2. Top row is what an engineer does. Sign in with a JLR login, put in a model or fill the form, pick the part type, and out comes a costed answer with a report. Underneath is the setup order and who does what. Look at the two bands. The top one is us and it is straightforward. The bottom one is JLR and the third box is the real work: collecting our own rates. I want to be clear the software side of this is the small part. What governs the whole thing is how quickly we can pull our own numbers together.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columns. Left, what stays exactly as it is, and note it is nineteen part types in the tool itself. Middle, the numbers we swap for ours. Right, what has to be added, and I have labelled that column honestly because none of it exists today. The blue box is the reassuring engineering point: the rate book is handed to the tool from outside rather than built in, and there is already a screen for uploading one, so putting our numbers in is configuration. The amber box is the one to take seriously. Until the rate history and saved costings are built, you could not reproduce a costing from three months ago, and that rules it out for anything audited.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steps. Step three is the one that governs the sequence, and it is our work rather than software work, so I would rather flag it now than have it surprise us later. Step four is the most valuable step in either option. Thirty to fifty parts we have actually bought, compared against what the tool says. That is what lets me come back and tell you how accurate it is instead of saying we think it is about right.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half is fairly even and each option wins some rows. The bottom three are the ones that carry the decision. Option 2 establishes how accurate the tool is; Option 1 cannot, because CAPEE does the costing. Option 2 can be halted; Option 1 is wired into CAPEE and is much harder to unwind. And Option 2 waits on nothing, whereas Option 1 is blocked until IT tell us how CAPEE is built.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recommendation is to treat these as a sequence rather than a choice. First Option 2. Install it, load our rates, and compare it against parts we have already bought. Then we decide, with an accuracy figure in hand and IT's answer on CAPEE. Then Option 1, scaling something we know works. If only one can be funded, take Option 2. Option 1 takes typing out of a process we already have. Option 2 gives us something we do not have at all.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items. The top two are the ones that would stop me putting this in front of a supplier today. We have never compared it against a price we paid, and it cannot reproduce a costing from three months ago. Both are fixed by doing Option 2. The third is waiting on IT. The last row is worth saying plainly: the tool is still being worked on, we found and fixed three faults last month, so for any trial we fix a version and stay on it. And note the CAD file itself never leaves the server.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The first is the one I will keep coming back to: thirty to fifty parts where we know what we paid. Purchase records are fine. Without it I cannot tell anyone how accurate this is, and that is the first question we will be asked. The second is our own rates, worth starting whichever option is chosen. The third is three questions to IT. The fourth is a security decision, and either answer works.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replaces a timeline, because putting dates up would mean inventing them. What is real is the order. Rate data has to come before we can check accuracy. Accuracy has to be established before I would commit to Option 1. The amber strip is the work that can run alongside and does not block anything: the security review, the answer from IT, standing up the measuring software, writing out the settings. The four lines at the bottom are the hard dependencies. The last one is the one to watch, because it decides whether we can use this for anything that gets audited.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for anyone who wants to know how we know. Every claim was checked against the software rather than assumed. Two worth pointing at. The costing gives the same answer every time, which sounds obvious but is not true of every tool. And the fourth row is the answer to the first question IT security will ask: we checked every line of the measuring software for internet connections and there are none.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6.png"/><Relationship Id="rId7" Type="http://schemas.openxmlformats.org/officeDocument/2006/relationships/image" Target="../media/image3.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0.png"/><Relationship Id="rId4" Type="http://schemas.openxmlformats.org/officeDocument/2006/relationships/image" Target="../media/image8.png"/><Relationship Id="rId5" Type="http://schemas.openxmlformats.org/officeDocument/2006/relationships/image" Target="../media/image12.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457200"/>
            <a:ext cx="441655" cy="441655"/>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54" b="1">
                <a:solidFill>
                  <a:srgbClr val="16325C"/>
                </a:solidFill>
                <a:latin typeface="Calibri"/>
              </a:rPr>
              <a:t>cv</a:t>
            </a:r>
          </a:p>
        </p:txBody>
      </p:sp>
      <p:sp>
        <p:nvSpPr>
          <p:cNvPr id="5" name="TextBox 4"/>
          <p:cNvSpPr txBox="1"/>
          <p:nvPr/>
        </p:nvSpPr>
        <p:spPr>
          <a:xfrm>
            <a:off x="1049731" y="425654"/>
            <a:ext cx="2377440" cy="292608"/>
          </a:xfrm>
          <a:prstGeom prst="rect">
            <a:avLst/>
          </a:prstGeom>
          <a:noFill/>
        </p:spPr>
        <p:txBody>
          <a:bodyPr wrap="square" anchor="t" lIns="0" rIns="0" tIns="0" bIns="0">
            <a:spAutoFit/>
          </a:bodyPr>
          <a:lstStyle/>
          <a:p>
            <a:pPr algn="l">
              <a:lnSpc>
                <a:spcPct val="100000"/>
              </a:lnSpc>
              <a:spcAft>
                <a:spcPts val="400"/>
              </a:spcAft>
            </a:pPr>
            <a:r>
              <a:rPr sz="2070" b="1" i="0">
                <a:solidFill>
                  <a:srgbClr val="FFFFFF"/>
                </a:solidFill>
                <a:latin typeface="Calibri"/>
              </a:rPr>
              <a:t>CostVision</a:t>
            </a:r>
          </a:p>
        </p:txBody>
      </p:sp>
      <p:sp>
        <p:nvSpPr>
          <p:cNvPr id="6" name="TextBox 5"/>
          <p:cNvSpPr txBox="1"/>
          <p:nvPr/>
        </p:nvSpPr>
        <p:spPr>
          <a:xfrm>
            <a:off x="1049731" y="709574"/>
            <a:ext cx="2560320" cy="201168"/>
          </a:xfrm>
          <a:prstGeom prst="rect">
            <a:avLst/>
          </a:prstGeom>
          <a:noFill/>
        </p:spPr>
        <p:txBody>
          <a:bodyPr wrap="square" anchor="t" lIns="0" rIns="0" tIns="0" bIns="0">
            <a:spAutoFit/>
          </a:bodyPr>
          <a:lstStyle/>
          <a:p>
            <a:pPr algn="l">
              <a:lnSpc>
                <a:spcPct val="100000"/>
              </a:lnSpc>
              <a:spcAft>
                <a:spcPts val="400"/>
              </a:spcAft>
            </a:pPr>
            <a:r>
              <a:rPr sz="862" b="0" i="0">
                <a:solidFill>
                  <a:srgbClr val="8FA3CC"/>
                </a:solidFill>
                <a:latin typeface="Calibri"/>
              </a:rPr>
              <a:t>AI  COST  INTELLIGENCE</a:t>
            </a:r>
          </a:p>
        </p:txBody>
      </p:sp>
      <p:sp>
        <p:nvSpPr>
          <p:cNvPr id="7" name="TextBox 6"/>
          <p:cNvSpPr txBox="1"/>
          <p:nvPr/>
        </p:nvSpPr>
        <p:spPr>
          <a:xfrm>
            <a:off x="548640" y="1874519"/>
            <a:ext cx="10607040" cy="1280160"/>
          </a:xfrm>
          <a:prstGeom prst="rect">
            <a:avLst/>
          </a:prstGeom>
          <a:noFill/>
        </p:spPr>
        <p:txBody>
          <a:bodyPr wrap="square" anchor="t" lIns="0" rIns="0" tIns="0" bIns="0">
            <a:spAutoFit/>
          </a:bodyPr>
          <a:lstStyle/>
          <a:p>
            <a:pPr algn="l">
              <a:lnSpc>
                <a:spcPct val="100000"/>
              </a:lnSpc>
              <a:spcAft>
                <a:spcPts val="400"/>
              </a:spcAft>
            </a:pPr>
            <a:r>
              <a:rPr sz="4000" b="1" i="0">
                <a:solidFill>
                  <a:srgbClr val="FFFFFF"/>
                </a:solidFill>
                <a:latin typeface="Cambria"/>
              </a:rPr>
              <a:t>CostVision and CAPEE</a:t>
            </a:r>
          </a:p>
        </p:txBody>
      </p:sp>
      <p:sp>
        <p:nvSpPr>
          <p:cNvPr id="8" name="TextBox 7"/>
          <p:cNvSpPr txBox="1"/>
          <p:nvPr/>
        </p:nvSpPr>
        <p:spPr>
          <a:xfrm>
            <a:off x="548640" y="2788920"/>
            <a:ext cx="10424160" cy="548640"/>
          </a:xfrm>
          <a:prstGeom prst="rect">
            <a:avLst/>
          </a:prstGeom>
          <a:noFill/>
        </p:spPr>
        <p:txBody>
          <a:bodyPr wrap="square" anchor="t" lIns="0" rIns="0" tIns="0" bIns="0">
            <a:spAutoFit/>
          </a:bodyPr>
          <a:lstStyle/>
          <a:p>
            <a:pPr algn="l">
              <a:lnSpc>
                <a:spcPct val="100000"/>
              </a:lnSpc>
              <a:spcAft>
                <a:spcPts val="400"/>
              </a:spcAft>
            </a:pPr>
            <a:r>
              <a:rPr sz="1600" b="0" i="0">
                <a:solidFill>
                  <a:srgbClr val="CADCFC"/>
                </a:solidFill>
                <a:latin typeface="Calibri"/>
              </a:rPr>
              <a:t>Two options for putting the tool to work, what each one needs from us, and a recommendation</a:t>
            </a:r>
          </a:p>
        </p:txBody>
      </p:sp>
      <p:sp>
        <p:nvSpPr>
          <p:cNvPr id="9" name="Rectangle 8"/>
          <p:cNvSpPr/>
          <p:nvPr/>
        </p:nvSpPr>
        <p:spPr>
          <a:xfrm>
            <a:off x="548640" y="3611880"/>
            <a:ext cx="3017520" cy="3175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66928" y="3931920"/>
            <a:ext cx="502920" cy="50292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1" name="TextBox 10"/>
          <p:cNvSpPr txBox="1"/>
          <p:nvPr/>
        </p:nvSpPr>
        <p:spPr>
          <a:xfrm>
            <a:off x="1280160" y="3950208"/>
            <a:ext cx="98755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FFFFFF"/>
                </a:solidFill>
                <a:latin typeface="Calibri"/>
              </a:rPr>
              <a:t>Feed CAPEE automatically</a:t>
            </a:r>
          </a:p>
        </p:txBody>
      </p:sp>
      <p:sp>
        <p:nvSpPr>
          <p:cNvPr id="12" name="TextBox 11"/>
          <p:cNvSpPr txBox="1"/>
          <p:nvPr/>
        </p:nvSpPr>
        <p:spPr>
          <a:xfrm>
            <a:off x="1280160" y="4251960"/>
            <a:ext cx="9875520" cy="292608"/>
          </a:xfrm>
          <a:prstGeom prst="rect">
            <a:avLst/>
          </a:prstGeom>
          <a:noFill/>
        </p:spPr>
        <p:txBody>
          <a:bodyPr wrap="square" anchor="t" lIns="0" rIns="0" tIns="0" bIns="0">
            <a:spAutoFit/>
          </a:bodyPr>
          <a:lstStyle/>
          <a:p>
            <a:pPr algn="l">
              <a:lnSpc>
                <a:spcPct val="100000"/>
              </a:lnSpc>
              <a:spcAft>
                <a:spcPts val="400"/>
              </a:spcAft>
            </a:pPr>
            <a:r>
              <a:rPr sz="1100" b="0" i="0">
                <a:solidFill>
                  <a:srgbClr val="CADCFC"/>
                </a:solidFill>
                <a:latin typeface="Calibri"/>
              </a:rPr>
              <a:t>CAPEE keeps doing the costing. CostVision supplies the input numbers, read from the 3D model and the drawing.</a:t>
            </a:r>
          </a:p>
        </p:txBody>
      </p:sp>
      <p:sp>
        <p:nvSpPr>
          <p:cNvPr id="13" name="Oval 12"/>
          <p:cNvSpPr/>
          <p:nvPr/>
        </p:nvSpPr>
        <p:spPr>
          <a:xfrm>
            <a:off x="566928" y="4800600"/>
            <a:ext cx="502920" cy="50292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4" name="TextBox 13"/>
          <p:cNvSpPr txBox="1"/>
          <p:nvPr/>
        </p:nvSpPr>
        <p:spPr>
          <a:xfrm>
            <a:off x="1280160" y="4818888"/>
            <a:ext cx="98755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FFFFFF"/>
                </a:solidFill>
                <a:latin typeface="Calibri"/>
              </a:rPr>
              <a:t>Run CostVision on JLR rates</a:t>
            </a:r>
          </a:p>
        </p:txBody>
      </p:sp>
      <p:sp>
        <p:nvSpPr>
          <p:cNvPr id="15" name="TextBox 14"/>
          <p:cNvSpPr txBox="1"/>
          <p:nvPr/>
        </p:nvSpPr>
        <p:spPr>
          <a:xfrm>
            <a:off x="1280160" y="5120640"/>
            <a:ext cx="9875520" cy="292608"/>
          </a:xfrm>
          <a:prstGeom prst="rect">
            <a:avLst/>
          </a:prstGeom>
          <a:noFill/>
        </p:spPr>
        <p:txBody>
          <a:bodyPr wrap="square" anchor="t" lIns="0" rIns="0" tIns="0" bIns="0">
            <a:spAutoFit/>
          </a:bodyPr>
          <a:lstStyle/>
          <a:p>
            <a:pPr algn="l">
              <a:lnSpc>
                <a:spcPct val="100000"/>
              </a:lnSpc>
              <a:spcAft>
                <a:spcPts val="400"/>
              </a:spcAft>
            </a:pPr>
            <a:r>
              <a:rPr sz="1100" b="0" i="0">
                <a:solidFill>
                  <a:srgbClr val="CADCFC"/>
                </a:solidFill>
                <a:latin typeface="Calibri"/>
              </a:rPr>
              <a:t>Install CostVision as it stands. Replace the rates it ships with by our own material, machine, labour and energy costs.</a:t>
            </a:r>
          </a:p>
        </p:txBody>
      </p:sp>
      <p:sp>
        <p:nvSpPr>
          <p:cNvPr id="16" name="TextBox 15"/>
          <p:cNvSpPr txBox="1"/>
          <p:nvPr/>
        </p:nvSpPr>
        <p:spPr>
          <a:xfrm>
            <a:off x="548640" y="5943600"/>
            <a:ext cx="10607040" cy="365760"/>
          </a:xfrm>
          <a:prstGeom prst="rect">
            <a:avLst/>
          </a:prstGeom>
          <a:noFill/>
        </p:spPr>
        <p:txBody>
          <a:bodyPr wrap="square" anchor="t" lIns="0" rIns="0" tIns="0" bIns="0">
            <a:spAutoFit/>
          </a:bodyPr>
          <a:lstStyle/>
          <a:p>
            <a:pPr algn="l">
              <a:lnSpc>
                <a:spcPct val="100000"/>
              </a:lnSpc>
              <a:spcAft>
                <a:spcPts val="400"/>
              </a:spcAft>
            </a:pPr>
            <a:r>
              <a:rPr sz="1000" b="0" i="0">
                <a:solidFill>
                  <a:srgbClr val="8FA3CC"/>
                </a:solidFill>
                <a:latin typeface="Calibri"/>
              </a:rPr>
              <a:t>JLR Cost Engineering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SUMMARY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two options</a:t>
            </a:r>
          </a:p>
        </p:txBody>
      </p:sp>
      <p:sp>
        <p:nvSpPr>
          <p:cNvPr id="9" name="Rounded Rectangle 8"/>
          <p:cNvSpPr/>
          <p:nvPr/>
        </p:nvSpPr>
        <p:spPr>
          <a:xfrm>
            <a:off x="411480" y="1645920"/>
            <a:ext cx="5577840" cy="21488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45920"/>
            <a:ext cx="68580" cy="21488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77393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 Feed CAPEE automatically</a:t>
            </a:r>
          </a:p>
        </p:txBody>
      </p:sp>
      <p:sp>
        <p:nvSpPr>
          <p:cNvPr id="12" name="TextBox 11"/>
          <p:cNvSpPr txBox="1"/>
          <p:nvPr/>
        </p:nvSpPr>
        <p:spPr>
          <a:xfrm>
            <a:off x="612648" y="2084832"/>
            <a:ext cx="5212080" cy="160020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CAPEE is unchanged and still does the costing.</a:t>
            </a:r>
          </a:p>
          <a:p>
            <a:pPr algn="l">
              <a:lnSpc>
                <a:spcPct val="112000"/>
              </a:lnSpc>
              <a:spcAft>
                <a:spcPts val="300"/>
              </a:spcAft>
            </a:pPr>
            <a:r>
              <a:rPr sz="1050" b="0" i="0">
                <a:solidFill>
                  <a:srgbClr val="3A4356"/>
                </a:solidFill>
                <a:latin typeface="Calibri"/>
              </a:rPr>
              <a:t>Rather than typing thirty boxes, the engineer supplies the</a:t>
            </a:r>
          </a:p>
          <a:p>
            <a:pPr algn="l">
              <a:lnSpc>
                <a:spcPct val="112000"/>
              </a:lnSpc>
              <a:spcAft>
                <a:spcPts val="300"/>
              </a:spcAft>
            </a:pPr>
            <a:r>
              <a:rPr sz="1050" b="0" i="0">
                <a:solidFill>
                  <a:srgbClr val="3A4356"/>
                </a:solidFill>
                <a:latin typeface="Calibri"/>
              </a:rPr>
              <a:t>3D model and the drawing and the numbers arrive filled in.</a:t>
            </a:r>
          </a:p>
          <a:p>
            <a:pPr algn="l">
              <a:lnSpc>
                <a:spcPct val="112000"/>
              </a:lnSpc>
              <a:spcAft>
                <a:spcPts val="300"/>
              </a:spcAft>
            </a:pPr>
          </a:p>
          <a:p>
            <a:pPr algn="l">
              <a:lnSpc>
                <a:spcPct val="112000"/>
              </a:lnSpc>
              <a:spcAft>
                <a:spcPts val="300"/>
              </a:spcAft>
            </a:pPr>
            <a:r>
              <a:rPr sz="1050" b="1" i="0">
                <a:solidFill>
                  <a:srgbClr val="16325C"/>
                </a:solidFill>
                <a:latin typeface="Calibri"/>
              </a:rPr>
              <a:t>Moves about 5,700 lines of measuring and reading software,</a:t>
            </a:r>
          </a:p>
          <a:p>
            <a:pPr algn="l">
              <a:lnSpc>
                <a:spcPct val="112000"/>
              </a:lnSpc>
              <a:spcAft>
                <a:spcPts val="300"/>
              </a:spcAft>
            </a:pPr>
            <a:r>
              <a:rPr sz="1050" b="1" i="0">
                <a:solidFill>
                  <a:srgbClr val="16325C"/>
                </a:solidFill>
                <a:latin typeface="Calibri"/>
              </a:rPr>
              <a:t>plus the safety checks that go with it.</a:t>
            </a:r>
          </a:p>
        </p:txBody>
      </p:sp>
      <p:sp>
        <p:nvSpPr>
          <p:cNvPr id="13" name="Rounded Rectangle 12"/>
          <p:cNvSpPr/>
          <p:nvPr/>
        </p:nvSpPr>
        <p:spPr>
          <a:xfrm>
            <a:off x="6199632" y="1645920"/>
            <a:ext cx="5577840" cy="21488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1645920"/>
            <a:ext cx="68580" cy="214884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77393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 Run CostVision on JLR rates</a:t>
            </a:r>
          </a:p>
        </p:txBody>
      </p:sp>
      <p:sp>
        <p:nvSpPr>
          <p:cNvPr id="16" name="TextBox 15"/>
          <p:cNvSpPr txBox="1"/>
          <p:nvPr/>
        </p:nvSpPr>
        <p:spPr>
          <a:xfrm>
            <a:off x="6400800" y="2084832"/>
            <a:ext cx="5212080" cy="160020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CostVision is installed as it stands. Nothing is rebuilt.</a:t>
            </a:r>
          </a:p>
          <a:p>
            <a:pPr algn="l">
              <a:lnSpc>
                <a:spcPct val="112000"/>
              </a:lnSpc>
              <a:spcAft>
                <a:spcPts val="300"/>
              </a:spcAft>
            </a:pPr>
            <a:r>
              <a:rPr sz="1050" b="0" i="0">
                <a:solidFill>
                  <a:srgbClr val="3A4356"/>
                </a:solidFill>
                <a:latin typeface="Calibri"/>
              </a:rPr>
              <a:t>We load JLR material prices, machine rates, labour and</a:t>
            </a:r>
          </a:p>
          <a:p>
            <a:pPr algn="l">
              <a:lnSpc>
                <a:spcPct val="112000"/>
              </a:lnSpc>
              <a:spcAft>
                <a:spcPts val="300"/>
              </a:spcAft>
            </a:pPr>
            <a:r>
              <a:rPr sz="1050" b="0" i="0">
                <a:solidFill>
                  <a:srgbClr val="3A4356"/>
                </a:solidFill>
                <a:latin typeface="Calibri"/>
              </a:rPr>
              <a:t>energy costs in place of the ones supplied with it.</a:t>
            </a:r>
          </a:p>
          <a:p>
            <a:pPr algn="l">
              <a:lnSpc>
                <a:spcPct val="112000"/>
              </a:lnSpc>
              <a:spcAft>
                <a:spcPts val="300"/>
              </a:spcAft>
            </a:pPr>
          </a:p>
          <a:p>
            <a:pPr algn="l">
              <a:lnSpc>
                <a:spcPct val="112000"/>
              </a:lnSpc>
              <a:spcAft>
                <a:spcPts val="300"/>
              </a:spcAft>
            </a:pPr>
            <a:r>
              <a:rPr sz="1050" b="1" i="0">
                <a:solidFill>
                  <a:srgbClr val="16325C"/>
                </a:solidFill>
                <a:latin typeface="Calibri"/>
              </a:rPr>
              <a:t>No change to how it calculates. The work is collecting</a:t>
            </a:r>
          </a:p>
          <a:p>
            <a:pPr algn="l">
              <a:lnSpc>
                <a:spcPct val="112000"/>
              </a:lnSpc>
              <a:spcAft>
                <a:spcPts val="300"/>
              </a:spcAft>
            </a:pPr>
            <a:r>
              <a:rPr sz="1050" b="1" i="0">
                <a:solidFill>
                  <a:srgbClr val="16325C"/>
                </a:solidFill>
                <a:latin typeface="Calibri"/>
              </a:rPr>
              <a:t>our rate data and installing it on a JLR server.</a:t>
            </a:r>
          </a:p>
        </p:txBody>
      </p:sp>
      <p:sp>
        <p:nvSpPr>
          <p:cNvPr id="17" name="Rounded Rectangle 16"/>
          <p:cNvSpPr/>
          <p:nvPr/>
        </p:nvSpPr>
        <p:spPr>
          <a:xfrm>
            <a:off x="411480" y="3977639"/>
            <a:ext cx="11365992" cy="91440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977639"/>
            <a:ext cx="68580" cy="9144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4096511"/>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RECOMMENDATION · Option 2 first, then Option 1</a:t>
            </a:r>
          </a:p>
        </p:txBody>
      </p:sp>
      <p:sp>
        <p:nvSpPr>
          <p:cNvPr id="20" name="TextBox 19"/>
          <p:cNvSpPr txBox="1"/>
          <p:nvPr/>
        </p:nvSpPr>
        <p:spPr>
          <a:xfrm>
            <a:off x="630936" y="4379975"/>
            <a:ext cx="10954512"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2 is the smaller change and it can be stopped at any point. It also answers the question Option 1 cannot answer for itself: whether the tool gets the right number on JLR parts. Option 1 industrialises that capability once we know it works.</a:t>
            </a:r>
          </a:p>
        </p:txBody>
      </p:sp>
      <p:sp>
        <p:nvSpPr>
          <p:cNvPr id="21" name="Rounded Rectangle 20"/>
          <p:cNvSpPr/>
          <p:nvPr/>
        </p:nvSpPr>
        <p:spPr>
          <a:xfrm>
            <a:off x="411480" y="5029200"/>
            <a:ext cx="11365992" cy="123444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029200"/>
            <a:ext cx="68580" cy="123444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 y="514807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BEFORE EITHER OPTION</a:t>
            </a:r>
          </a:p>
        </p:txBody>
      </p:sp>
      <p:sp>
        <p:nvSpPr>
          <p:cNvPr id="24" name="TextBox 23"/>
          <p:cNvSpPr txBox="1"/>
          <p:nvPr/>
        </p:nvSpPr>
        <p:spPr>
          <a:xfrm>
            <a:off x="630936" y="5431536"/>
            <a:ext cx="10954512" cy="73152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CostVision has never been checked against a price JLR has actually paid. Not one part. Until 30 to 50 real purchases are loaded and compared, nobody can state how accurate it is, and neither option should be signed off as ready for supplier negotiation. That work sits with us, not with the software.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CURRENT STATUS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CostVision stands today</a:t>
            </a:r>
          </a:p>
        </p:txBody>
      </p:sp>
      <p:sp>
        <p:nvSpPr>
          <p:cNvPr id="9" name="TextBox 8"/>
          <p:cNvSpPr txBox="1"/>
          <p:nvPr/>
        </p:nvSpPr>
        <p:spPr>
          <a:xfrm>
            <a:off x="411480" y="1536192"/>
            <a:ext cx="11338560" cy="292608"/>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Read from the software in August 2026, not from a plan or a proposal.</a:t>
            </a:r>
          </a:p>
        </p:txBody>
      </p:sp>
      <p:sp>
        <p:nvSpPr>
          <p:cNvPr id="10" name="Rounded Rectangle 9"/>
          <p:cNvSpPr/>
          <p:nvPr/>
        </p:nvSpPr>
        <p:spPr>
          <a:xfrm>
            <a:off x="411480" y="1965960"/>
            <a:ext cx="5577840" cy="320040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65960"/>
            <a:ext cx="68580" cy="32004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209397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WORKING NOW</a:t>
            </a:r>
          </a:p>
        </p:txBody>
      </p:sp>
      <p:sp>
        <p:nvSpPr>
          <p:cNvPr id="13" name="TextBox 12"/>
          <p:cNvSpPr txBox="1"/>
          <p:nvPr/>
        </p:nvSpPr>
        <p:spPr>
          <a:xfrm>
            <a:off x="612648" y="2404872"/>
            <a:ext cx="5212080" cy="265176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19 part types can be costed in the tool</a:t>
            </a:r>
          </a:p>
          <a:p>
            <a:pPr algn="l">
              <a:lnSpc>
                <a:spcPct val="112000"/>
              </a:lnSpc>
              <a:spcAft>
                <a:spcPts val="300"/>
              </a:spcAft>
            </a:pPr>
            <a:r>
              <a:rPr sz="1050" b="0" i="0">
                <a:solidFill>
                  <a:srgbClr val="3A4356"/>
                </a:solidFill>
                <a:latin typeface="Calibri"/>
              </a:rPr>
              <a:t>The costing maths gives the same answer every run</a:t>
            </a:r>
          </a:p>
          <a:p>
            <a:pPr algn="l">
              <a:lnSpc>
                <a:spcPct val="112000"/>
              </a:lnSpc>
              <a:spcAft>
                <a:spcPts val="300"/>
              </a:spcAft>
            </a:pPr>
            <a:r>
              <a:rPr sz="1050" b="0" i="0">
                <a:solidFill>
                  <a:srgbClr val="3A4356"/>
                </a:solidFill>
                <a:latin typeface="Calibri"/>
              </a:rPr>
              <a:t>Measures 3D models with no internet connection</a:t>
            </a:r>
          </a:p>
          <a:p>
            <a:pPr algn="l">
              <a:lnSpc>
                <a:spcPct val="112000"/>
              </a:lnSpc>
              <a:spcAft>
                <a:spcPts val="300"/>
              </a:spcAft>
            </a:pPr>
            <a:r>
              <a:rPr sz="1050" b="0" i="0">
                <a:solidFill>
                  <a:srgbClr val="3A4356"/>
                </a:solidFill>
                <a:latin typeface="Calibri"/>
              </a:rPr>
              <a:t>Reads drawings for tolerances, finish, heat treatment</a:t>
            </a:r>
          </a:p>
          <a:p>
            <a:pPr algn="l">
              <a:lnSpc>
                <a:spcPct val="112000"/>
              </a:lnSpc>
              <a:spcAft>
                <a:spcPts val="300"/>
              </a:spcAft>
            </a:pPr>
            <a:r>
              <a:rPr sz="1050" b="0" i="0">
                <a:solidFill>
                  <a:srgbClr val="3A4356"/>
                </a:solidFill>
                <a:latin typeface="Calibri"/>
              </a:rPr>
              <a:t>Safety checks on everything read from a drawing</a:t>
            </a:r>
          </a:p>
          <a:p>
            <a:pPr algn="l">
              <a:lnSpc>
                <a:spcPct val="112000"/>
              </a:lnSpc>
              <a:spcAft>
                <a:spcPts val="300"/>
              </a:spcAft>
            </a:pPr>
            <a:r>
              <a:rPr sz="1050" b="0" i="0">
                <a:solidFill>
                  <a:srgbClr val="3A4356"/>
                </a:solidFill>
                <a:latin typeface="Calibri"/>
              </a:rPr>
              <a:t>PDF and Excel reports; PowerPoint for the negotiation pack</a:t>
            </a:r>
          </a:p>
          <a:p>
            <a:pPr algn="l">
              <a:lnSpc>
                <a:spcPct val="112000"/>
              </a:lnSpc>
              <a:spcAft>
                <a:spcPts val="300"/>
              </a:spcAft>
            </a:pPr>
            <a:r>
              <a:rPr sz="1050" b="0" i="0">
                <a:solidFill>
                  <a:srgbClr val="3A4356"/>
                </a:solidFill>
                <a:latin typeface="Calibri"/>
              </a:rPr>
              <a:t>An administrator can upload a rate workbook</a:t>
            </a:r>
          </a:p>
          <a:p>
            <a:pPr algn="l">
              <a:lnSpc>
                <a:spcPct val="112000"/>
              </a:lnSpc>
              <a:spcAft>
                <a:spcPts val="300"/>
              </a:spcAft>
            </a:pPr>
            <a:r>
              <a:rPr sz="1050" b="0" i="0">
                <a:solidFill>
                  <a:srgbClr val="3A4356"/>
                </a:solidFill>
                <a:latin typeface="Calibri"/>
              </a:rPr>
              <a:t>2,022 automatic software tests, all passing</a:t>
            </a:r>
          </a:p>
        </p:txBody>
      </p:sp>
      <p:sp>
        <p:nvSpPr>
          <p:cNvPr id="14" name="Rounded Rectangle 13"/>
          <p:cNvSpPr/>
          <p:nvPr/>
        </p:nvSpPr>
        <p:spPr>
          <a:xfrm>
            <a:off x="6199632" y="1965960"/>
            <a:ext cx="5577840" cy="3200400"/>
          </a:xfrm>
          <a:prstGeom prst="roundRect">
            <a:avLst>
              <a:gd name="adj" fmla="val 12000"/>
            </a:avLst>
          </a:prstGeom>
          <a:solidFill>
            <a:srgbClr val="FCF3E3"/>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2" y="1965960"/>
            <a:ext cx="68580" cy="32004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209397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NOT THERE YET</a:t>
            </a:r>
          </a:p>
        </p:txBody>
      </p:sp>
      <p:sp>
        <p:nvSpPr>
          <p:cNvPr id="17" name="TextBox 16"/>
          <p:cNvSpPr txBox="1"/>
          <p:nvPr/>
        </p:nvSpPr>
        <p:spPr>
          <a:xfrm>
            <a:off x="6400800" y="2404872"/>
            <a:ext cx="5212080" cy="265176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Never compared against a price JLR has paid</a:t>
            </a:r>
          </a:p>
          <a:p>
            <a:pPr algn="l">
              <a:lnSpc>
                <a:spcPct val="112000"/>
              </a:lnSpc>
              <a:spcAft>
                <a:spcPts val="300"/>
              </a:spcAft>
            </a:pPr>
            <a:r>
              <a:rPr sz="1050" b="0" i="0">
                <a:solidFill>
                  <a:srgbClr val="3A4356"/>
                </a:solidFill>
                <a:latin typeface="Calibri"/>
              </a:rPr>
              <a:t>No history kept when a rate is changed</a:t>
            </a:r>
          </a:p>
          <a:p>
            <a:pPr algn="l">
              <a:lnSpc>
                <a:spcPct val="112000"/>
              </a:lnSpc>
              <a:spcAft>
                <a:spcPts val="300"/>
              </a:spcAft>
            </a:pPr>
            <a:r>
              <a:rPr sz="1050" b="0" i="0">
                <a:solidFill>
                  <a:srgbClr val="3A4356"/>
                </a:solidFill>
                <a:latin typeface="Calibri"/>
              </a:rPr>
              <a:t>Finished costings are not saved, so an old one</a:t>
            </a:r>
          </a:p>
          <a:p>
            <a:pPr algn="l">
              <a:lnSpc>
                <a:spcPct val="112000"/>
              </a:lnSpc>
              <a:spcAft>
                <a:spcPts val="300"/>
              </a:spcAft>
            </a:pPr>
            <a:r>
              <a:rPr sz="1050" b="0" i="0">
                <a:solidFill>
                  <a:srgbClr val="3A4356"/>
                </a:solidFill>
                <a:latin typeface="Calibri"/>
              </a:rPr>
              <a:t>cannot be reproduced</a:t>
            </a:r>
          </a:p>
          <a:p>
            <a:pPr algn="l">
              <a:lnSpc>
                <a:spcPct val="112000"/>
              </a:lnSpc>
              <a:spcAft>
                <a:spcPts val="300"/>
              </a:spcAft>
            </a:pPr>
            <a:r>
              <a:rPr sz="1050" b="0" i="0">
                <a:solidFill>
                  <a:srgbClr val="3A4356"/>
                </a:solidFill>
                <a:latin typeface="Calibri"/>
              </a:rPr>
              <a:t>No JLR sign-on; it has its own logins today</a:t>
            </a:r>
          </a:p>
          <a:p>
            <a:pPr algn="l">
              <a:lnSpc>
                <a:spcPct val="112000"/>
              </a:lnSpc>
              <a:spcAft>
                <a:spcPts val="300"/>
              </a:spcAft>
            </a:pPr>
            <a:r>
              <a:rPr sz="1050" b="0" i="0">
                <a:solidFill>
                  <a:srgbClr val="3A4356"/>
                </a:solidFill>
                <a:latin typeface="Calibri"/>
              </a:rPr>
              <a:t>Gear costing works in the screens but is not</a:t>
            </a:r>
          </a:p>
          <a:p>
            <a:pPr algn="l">
              <a:lnSpc>
                <a:spcPct val="112000"/>
              </a:lnSpc>
              <a:spcAft>
                <a:spcPts val="300"/>
              </a:spcAft>
            </a:pPr>
            <a:r>
              <a:rPr sz="1050" b="0" i="0">
                <a:solidFill>
                  <a:srgbClr val="3A4356"/>
                </a:solidFill>
                <a:latin typeface="Calibri"/>
              </a:rPr>
              <a:t>reachable from the automated route</a:t>
            </a:r>
          </a:p>
          <a:p>
            <a:pPr algn="l">
              <a:lnSpc>
                <a:spcPct val="112000"/>
              </a:lnSpc>
              <a:spcAft>
                <a:spcPts val="300"/>
              </a:spcAft>
            </a:pPr>
            <a:r>
              <a:rPr sz="1050" b="0" i="0">
                <a:solidFill>
                  <a:srgbClr val="3A4356"/>
                </a:solidFill>
                <a:latin typeface="Calibri"/>
              </a:rPr>
              <a:t>Three faults found and fixed in August; the tool</a:t>
            </a:r>
          </a:p>
          <a:p>
            <a:pPr algn="l">
              <a:lnSpc>
                <a:spcPct val="112000"/>
              </a:lnSpc>
              <a:spcAft>
                <a:spcPts val="300"/>
              </a:spcAft>
            </a:pPr>
            <a:r>
              <a:rPr sz="1050" b="0" i="0">
                <a:solidFill>
                  <a:srgbClr val="3A4356"/>
                </a:solidFill>
                <a:latin typeface="Calibri"/>
              </a:rPr>
              <a:t>is still under active development</a:t>
            </a:r>
          </a:p>
        </p:txBody>
      </p:sp>
      <p:sp>
        <p:nvSpPr>
          <p:cNvPr id="18" name="Rounded Rectangle 17"/>
          <p:cNvSpPr/>
          <p:nvPr/>
        </p:nvSpPr>
        <p:spPr>
          <a:xfrm>
            <a:off x="411480" y="5349240"/>
            <a:ext cx="11365992" cy="86868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5349240"/>
            <a:ext cx="68580" cy="868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 y="54681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Why this slide is here</a:t>
            </a:r>
          </a:p>
        </p:txBody>
      </p:sp>
      <p:sp>
        <p:nvSpPr>
          <p:cNvPr id="21" name="TextBox 20"/>
          <p:cNvSpPr txBox="1"/>
          <p:nvPr/>
        </p:nvSpPr>
        <p:spPr>
          <a:xfrm>
            <a:off x="630936" y="5751576"/>
            <a:ext cx="10954512" cy="3657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Both options build on what is in the left column and have to fix things in the right one. The right column is not a list of excuses; it is the scope neither option can skip.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CASE FOR DOING THIS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changes for the person doing the costing</a:t>
            </a:r>
          </a:p>
        </p:txBody>
      </p:sp>
      <p:sp>
        <p:nvSpPr>
          <p:cNvPr id="9" name="Rounded Rectangle 8"/>
          <p:cNvSpPr/>
          <p:nvPr/>
        </p:nvSpPr>
        <p:spPr>
          <a:xfrm>
            <a:off x="411480" y="1691640"/>
            <a:ext cx="5577840" cy="3154680"/>
          </a:xfrm>
          <a:prstGeom prst="roundRect">
            <a:avLst>
              <a:gd name="adj" fmla="val 12000"/>
            </a:avLst>
          </a:prstGeom>
          <a:solidFill>
            <a:srgbClr val="FBECEA"/>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91640"/>
            <a:ext cx="68580" cy="31546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81965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TODAY · typed in by hand</a:t>
            </a:r>
          </a:p>
        </p:txBody>
      </p:sp>
      <p:sp>
        <p:nvSpPr>
          <p:cNvPr id="12" name="TextBox 11"/>
          <p:cNvSpPr txBox="1"/>
          <p:nvPr/>
        </p:nvSpPr>
        <p:spPr>
          <a:xfrm>
            <a:off x="612648" y="2130552"/>
            <a:ext cx="5212080" cy="26060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Part weight and starting material weight</a:t>
            </a:r>
          </a:p>
          <a:p>
            <a:pPr algn="l">
              <a:lnSpc>
                <a:spcPct val="112000"/>
              </a:lnSpc>
              <a:spcAft>
                <a:spcPts val="300"/>
              </a:spcAft>
            </a:pPr>
            <a:r>
              <a:rPr sz="1050" b="0" i="0">
                <a:solidFill>
                  <a:srgbClr val="3A4356"/>
                </a:solidFill>
                <a:latin typeface="Calibri"/>
              </a:rPr>
              <a:t>Wall thickness and overall size</a:t>
            </a:r>
          </a:p>
          <a:p>
            <a:pPr algn="l">
              <a:lnSpc>
                <a:spcPct val="112000"/>
              </a:lnSpc>
              <a:spcAft>
                <a:spcPts val="300"/>
              </a:spcAft>
            </a:pPr>
            <a:r>
              <a:rPr sz="1050" b="0" i="0">
                <a:solidFill>
                  <a:srgbClr val="3A4356"/>
                </a:solidFill>
                <a:latin typeface="Calibri"/>
              </a:rPr>
              <a:t>Counts of holes, pockets and bosses</a:t>
            </a:r>
          </a:p>
          <a:p>
            <a:pPr algn="l">
              <a:lnSpc>
                <a:spcPct val="112000"/>
              </a:lnSpc>
              <a:spcAft>
                <a:spcPts val="300"/>
              </a:spcAft>
            </a:pPr>
            <a:r>
              <a:rPr sz="1050" b="0" i="0">
                <a:solidFill>
                  <a:srgbClr val="3A4356"/>
                </a:solidFill>
                <a:latin typeface="Calibri"/>
              </a:rPr>
              <a:t>Machine times for each operation</a:t>
            </a:r>
          </a:p>
          <a:p>
            <a:pPr algn="l">
              <a:lnSpc>
                <a:spcPct val="112000"/>
              </a:lnSpc>
              <a:spcAft>
                <a:spcPts val="300"/>
              </a:spcAft>
            </a:pPr>
            <a:r>
              <a:rPr sz="1050" b="0" i="0">
                <a:solidFill>
                  <a:srgbClr val="3A4356"/>
                </a:solidFill>
                <a:latin typeface="Calibri"/>
              </a:rPr>
              <a:t>Surface area for painting or plating</a:t>
            </a:r>
          </a:p>
          <a:p>
            <a:pPr algn="l">
              <a:lnSpc>
                <a:spcPct val="112000"/>
              </a:lnSpc>
              <a:spcAft>
                <a:spcPts val="300"/>
              </a:spcAft>
            </a:pPr>
            <a:r>
              <a:rPr sz="1050" b="0" i="0">
                <a:solidFill>
                  <a:srgbClr val="3A4356"/>
                </a:solidFill>
                <a:latin typeface="Calibri"/>
              </a:rPr>
              <a:t>Tolerances, finish, heat treatment</a:t>
            </a:r>
          </a:p>
          <a:p>
            <a:pPr algn="l">
              <a:lnSpc>
                <a:spcPct val="112000"/>
              </a:lnSpc>
              <a:spcAft>
                <a:spcPts val="300"/>
              </a:spcAft>
            </a:pPr>
          </a:p>
          <a:p>
            <a:pPr algn="l">
              <a:lnSpc>
                <a:spcPct val="112000"/>
              </a:lnSpc>
              <a:spcAft>
                <a:spcPts val="300"/>
              </a:spcAft>
            </a:pPr>
            <a:r>
              <a:rPr sz="1050" b="0" i="0">
                <a:solidFill>
                  <a:srgbClr val="3A4356"/>
                </a:solidFill>
                <a:latin typeface="Calibri"/>
              </a:rPr>
              <a:t>Two engineers costing the same part will not enter</a:t>
            </a:r>
          </a:p>
          <a:p>
            <a:pPr algn="l">
              <a:lnSpc>
                <a:spcPct val="112000"/>
              </a:lnSpc>
              <a:spcAft>
                <a:spcPts val="300"/>
              </a:spcAft>
            </a:pPr>
            <a:r>
              <a:rPr sz="1050" b="1" i="0">
                <a:solidFill>
                  <a:srgbClr val="16325C"/>
                </a:solidFill>
                <a:latin typeface="Calibri"/>
              </a:rPr>
              <a:t>the same numbers, so we get two different answers.</a:t>
            </a:r>
          </a:p>
        </p:txBody>
      </p:sp>
      <p:sp>
        <p:nvSpPr>
          <p:cNvPr id="13" name="Rounded Rectangle 12"/>
          <p:cNvSpPr/>
          <p:nvPr/>
        </p:nvSpPr>
        <p:spPr>
          <a:xfrm>
            <a:off x="6199632" y="1691640"/>
            <a:ext cx="5577840" cy="315468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1691640"/>
            <a:ext cx="68580" cy="31546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81965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WITH COSTVISION · read off the model</a:t>
            </a:r>
          </a:p>
        </p:txBody>
      </p:sp>
      <p:sp>
        <p:nvSpPr>
          <p:cNvPr id="16" name="TextBox 15"/>
          <p:cNvSpPr txBox="1"/>
          <p:nvPr/>
        </p:nvSpPr>
        <p:spPr>
          <a:xfrm>
            <a:off x="6400800" y="2130552"/>
            <a:ext cx="5212080" cy="26060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Supply the 3D model and the drawing.</a:t>
            </a:r>
          </a:p>
          <a:p>
            <a:pPr algn="l">
              <a:lnSpc>
                <a:spcPct val="112000"/>
              </a:lnSpc>
              <a:spcAft>
                <a:spcPts val="300"/>
              </a:spcAft>
            </a:pPr>
          </a:p>
          <a:p>
            <a:pPr algn="l">
              <a:lnSpc>
                <a:spcPct val="112000"/>
              </a:lnSpc>
              <a:spcAft>
                <a:spcPts val="300"/>
              </a:spcAft>
            </a:pPr>
            <a:r>
              <a:rPr sz="1050" b="1" i="0">
                <a:solidFill>
                  <a:srgbClr val="16325C"/>
                </a:solidFill>
                <a:latin typeface="Calibri"/>
              </a:rPr>
              <a:t>Measured from the model:</a:t>
            </a:r>
          </a:p>
          <a:p>
            <a:pPr algn="l">
              <a:lnSpc>
                <a:spcPct val="112000"/>
              </a:lnSpc>
              <a:spcAft>
                <a:spcPts val="300"/>
              </a:spcAft>
            </a:pPr>
            <a:r>
              <a:rPr sz="1050" b="0" i="0">
                <a:solidFill>
                  <a:srgbClr val="3A4356"/>
                </a:solidFill>
                <a:latin typeface="Calibri"/>
              </a:rPr>
              <a:t>volume, size, surface area, wall thickness, holes,</a:t>
            </a:r>
          </a:p>
          <a:p>
            <a:pPr algn="l">
              <a:lnSpc>
                <a:spcPct val="112000"/>
              </a:lnSpc>
              <a:spcAft>
                <a:spcPts val="300"/>
              </a:spcAft>
            </a:pPr>
            <a:r>
              <a:rPr sz="1050" b="0" i="0">
                <a:solidFill>
                  <a:srgbClr val="3A4356"/>
                </a:solidFill>
                <a:latin typeface="Calibri"/>
              </a:rPr>
              <a:t>pockets, bosses, gear teeth.</a:t>
            </a:r>
          </a:p>
          <a:p>
            <a:pPr algn="l">
              <a:lnSpc>
                <a:spcPct val="112000"/>
              </a:lnSpc>
              <a:spcAft>
                <a:spcPts val="300"/>
              </a:spcAft>
            </a:pPr>
          </a:p>
          <a:p>
            <a:pPr algn="l">
              <a:lnSpc>
                <a:spcPct val="112000"/>
              </a:lnSpc>
              <a:spcAft>
                <a:spcPts val="300"/>
              </a:spcAft>
            </a:pPr>
            <a:r>
              <a:rPr sz="1050" b="1" i="0">
                <a:solidFill>
                  <a:srgbClr val="16325C"/>
                </a:solidFill>
                <a:latin typeface="Calibri"/>
              </a:rPr>
              <a:t>Read from the drawing:</a:t>
            </a:r>
          </a:p>
          <a:p>
            <a:pPr algn="l">
              <a:lnSpc>
                <a:spcPct val="112000"/>
              </a:lnSpc>
              <a:spcAft>
                <a:spcPts val="300"/>
              </a:spcAft>
            </a:pPr>
            <a:r>
              <a:rPr sz="1050" b="0" i="0">
                <a:solidFill>
                  <a:srgbClr val="3A4356"/>
                </a:solidFill>
                <a:latin typeface="Calibri"/>
              </a:rPr>
              <a:t>tolerances, surface finish, heat treatment, coating,</a:t>
            </a:r>
          </a:p>
          <a:p>
            <a:pPr algn="l">
              <a:lnSpc>
                <a:spcPct val="112000"/>
              </a:lnSpc>
              <a:spcAft>
                <a:spcPts val="300"/>
              </a:spcAft>
            </a:pPr>
            <a:r>
              <a:rPr sz="1050" b="0" i="0">
                <a:solidFill>
                  <a:srgbClr val="3A4356"/>
                </a:solidFill>
                <a:latin typeface="Calibri"/>
              </a:rPr>
              <a:t>masked features.</a:t>
            </a:r>
          </a:p>
          <a:p>
            <a:pPr algn="l">
              <a:lnSpc>
                <a:spcPct val="112000"/>
              </a:lnSpc>
              <a:spcAft>
                <a:spcPts val="300"/>
              </a:spcAft>
            </a:pPr>
          </a:p>
          <a:p>
            <a:pPr algn="l">
              <a:lnSpc>
                <a:spcPct val="112000"/>
              </a:lnSpc>
              <a:spcAft>
                <a:spcPts val="300"/>
              </a:spcAft>
            </a:pPr>
            <a:r>
              <a:rPr sz="1050" b="1" i="0">
                <a:solidFill>
                  <a:srgbClr val="2E8B57"/>
                </a:solidFill>
                <a:latin typeface="Calibri"/>
              </a:rPr>
              <a:t>The same part gives the same numbers each time.</a:t>
            </a:r>
          </a:p>
        </p:txBody>
      </p:sp>
      <p:sp>
        <p:nvSpPr>
          <p:cNvPr id="17" name="Rounded Rectangle 16"/>
          <p:cNvSpPr/>
          <p:nvPr/>
        </p:nvSpPr>
        <p:spPr>
          <a:xfrm>
            <a:off x="411480" y="5074920"/>
            <a:ext cx="11365992" cy="109728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5074920"/>
            <a:ext cx="68580" cy="10972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51937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Measuring and reading are two different jobs</a:t>
            </a:r>
          </a:p>
        </p:txBody>
      </p:sp>
      <p:sp>
        <p:nvSpPr>
          <p:cNvPr id="20" name="TextBox 19"/>
          <p:cNvSpPr txBox="1"/>
          <p:nvPr/>
        </p:nvSpPr>
        <p:spPr>
          <a:xfrm>
            <a:off x="630936" y="5477256"/>
            <a:ext cx="10954512" cy="5943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3D model is measured by software, in the way a CMM measures a part. That is not the AI. The AI is used to read the words on the drawing, and everything it reads is compared against the measured model before it can affect a cost. The next slide covers those checks.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automatic data into CAPEE</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happens each time an engineer costs a part</a:t>
            </a:r>
          </a:p>
        </p:txBody>
      </p:sp>
      <p:sp>
        <p:nvSpPr>
          <p:cNvPr id="10" name="Rounded Rectangle 9"/>
          <p:cNvSpPr/>
          <p:nvPr/>
        </p:nvSpPr>
        <p:spPr>
          <a:xfrm>
            <a:off x="41148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28800"/>
            <a:ext cx="170992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82980" y="1993392"/>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pload.png"/>
          <p:cNvPicPr>
            <a:picLocks noChangeAspect="1"/>
          </p:cNvPicPr>
          <p:nvPr/>
        </p:nvPicPr>
        <p:blipFill>
          <a:blip r:embed="rId2"/>
          <a:stretch>
            <a:fillRect/>
          </a:stretch>
        </p:blipFill>
        <p:spPr>
          <a:xfrm>
            <a:off x="1130381" y="2140793"/>
            <a:ext cx="272126" cy="272126"/>
          </a:xfrm>
          <a:prstGeom prst="rect">
            <a:avLst/>
          </a:prstGeom>
        </p:spPr>
      </p:pic>
      <p:sp>
        <p:nvSpPr>
          <p:cNvPr id="14" name="TextBox 13"/>
          <p:cNvSpPr txBox="1"/>
          <p:nvPr/>
        </p:nvSpPr>
        <p:spPr>
          <a:xfrm>
            <a:off x="48463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Engineer supplies files</a:t>
            </a:r>
          </a:p>
        </p:txBody>
      </p:sp>
      <p:sp>
        <p:nvSpPr>
          <p:cNvPr id="15" name="TextBox 14"/>
          <p:cNvSpPr txBox="1"/>
          <p:nvPr/>
        </p:nvSpPr>
        <p:spPr>
          <a:xfrm>
            <a:off x="48463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3D model and drawing, from the CAPEE screen</a:t>
            </a:r>
          </a:p>
        </p:txBody>
      </p:sp>
      <p:sp>
        <p:nvSpPr>
          <p:cNvPr id="16" name="Right Arrow 15"/>
          <p:cNvSpPr/>
          <p:nvPr/>
        </p:nvSpPr>
        <p:spPr>
          <a:xfrm>
            <a:off x="2139696"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95144"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295144" y="1828800"/>
            <a:ext cx="170992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866644" y="1993392"/>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png"/>
          <p:cNvPicPr>
            <a:picLocks noChangeAspect="1"/>
          </p:cNvPicPr>
          <p:nvPr/>
        </p:nvPicPr>
        <p:blipFill>
          <a:blip r:embed="rId3"/>
          <a:stretch>
            <a:fillRect/>
          </a:stretch>
        </p:blipFill>
        <p:spPr>
          <a:xfrm>
            <a:off x="3014045" y="2140793"/>
            <a:ext cx="272126" cy="272126"/>
          </a:xfrm>
          <a:prstGeom prst="rect">
            <a:avLst/>
          </a:prstGeom>
        </p:spPr>
      </p:pic>
      <p:sp>
        <p:nvSpPr>
          <p:cNvPr id="21" name="TextBox 20"/>
          <p:cNvSpPr txBox="1"/>
          <p:nvPr/>
        </p:nvSpPr>
        <p:spPr>
          <a:xfrm>
            <a:off x="2368296"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Software measures</a:t>
            </a:r>
          </a:p>
        </p:txBody>
      </p:sp>
      <p:sp>
        <p:nvSpPr>
          <p:cNvPr id="22" name="TextBox 21"/>
          <p:cNvSpPr txBox="1"/>
          <p:nvPr/>
        </p:nvSpPr>
        <p:spPr>
          <a:xfrm>
            <a:off x="2368296"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Size, weight, surface area, holes, pockets</a:t>
            </a:r>
          </a:p>
        </p:txBody>
      </p:sp>
      <p:sp>
        <p:nvSpPr>
          <p:cNvPr id="23" name="Right Arrow 22"/>
          <p:cNvSpPr/>
          <p:nvPr/>
        </p:nvSpPr>
        <p:spPr>
          <a:xfrm>
            <a:off x="4023360"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78808"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78808"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750308"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lip.png"/>
          <p:cNvPicPr>
            <a:picLocks noChangeAspect="1"/>
          </p:cNvPicPr>
          <p:nvPr/>
        </p:nvPicPr>
        <p:blipFill>
          <a:blip r:embed="rId4"/>
          <a:stretch>
            <a:fillRect/>
          </a:stretch>
        </p:blipFill>
        <p:spPr>
          <a:xfrm>
            <a:off x="4897709" y="2140793"/>
            <a:ext cx="272126" cy="272126"/>
          </a:xfrm>
          <a:prstGeom prst="rect">
            <a:avLst/>
          </a:prstGeom>
        </p:spPr>
      </p:pic>
      <p:sp>
        <p:nvSpPr>
          <p:cNvPr id="28" name="TextBox 27"/>
          <p:cNvSpPr txBox="1"/>
          <p:nvPr/>
        </p:nvSpPr>
        <p:spPr>
          <a:xfrm>
            <a:off x="4251960"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AI reads the drawing</a:t>
            </a:r>
          </a:p>
        </p:txBody>
      </p:sp>
      <p:sp>
        <p:nvSpPr>
          <p:cNvPr id="29" name="TextBox 28"/>
          <p:cNvSpPr txBox="1"/>
          <p:nvPr/>
        </p:nvSpPr>
        <p:spPr>
          <a:xfrm>
            <a:off x="4251960"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Tolerances, finish, coating, heat treatment</a:t>
            </a:r>
          </a:p>
        </p:txBody>
      </p:sp>
      <p:sp>
        <p:nvSpPr>
          <p:cNvPr id="30" name="Right Arrow 29"/>
          <p:cNvSpPr/>
          <p:nvPr/>
        </p:nvSpPr>
        <p:spPr>
          <a:xfrm>
            <a:off x="5907024"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062472"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62472"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33972"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hield.png"/>
          <p:cNvPicPr>
            <a:picLocks noChangeAspect="1"/>
          </p:cNvPicPr>
          <p:nvPr/>
        </p:nvPicPr>
        <p:blipFill>
          <a:blip r:embed="rId5"/>
          <a:stretch>
            <a:fillRect/>
          </a:stretch>
        </p:blipFill>
        <p:spPr>
          <a:xfrm>
            <a:off x="6781373" y="2140793"/>
            <a:ext cx="272126" cy="272126"/>
          </a:xfrm>
          <a:prstGeom prst="rect">
            <a:avLst/>
          </a:prstGeom>
        </p:spPr>
      </p:pic>
      <p:sp>
        <p:nvSpPr>
          <p:cNvPr id="35" name="TextBox 34"/>
          <p:cNvSpPr txBox="1"/>
          <p:nvPr/>
        </p:nvSpPr>
        <p:spPr>
          <a:xfrm>
            <a:off x="6135624"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Safety checks run</a:t>
            </a:r>
          </a:p>
        </p:txBody>
      </p:sp>
      <p:sp>
        <p:nvSpPr>
          <p:cNvPr id="36" name="TextBox 35"/>
          <p:cNvSpPr txBox="1"/>
          <p:nvPr/>
        </p:nvSpPr>
        <p:spPr>
          <a:xfrm>
            <a:off x="6135624"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What the AI read is compared with the model</a:t>
            </a:r>
          </a:p>
        </p:txBody>
      </p:sp>
      <p:sp>
        <p:nvSpPr>
          <p:cNvPr id="37" name="Right Arrow 36"/>
          <p:cNvSpPr/>
          <p:nvPr/>
        </p:nvSpPr>
        <p:spPr>
          <a:xfrm>
            <a:off x="7790688"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946136"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46136" y="1828800"/>
            <a:ext cx="1709928" cy="548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517636" y="1993392"/>
            <a:ext cx="566928" cy="566928"/>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erson.png"/>
          <p:cNvPicPr>
            <a:picLocks noChangeAspect="1"/>
          </p:cNvPicPr>
          <p:nvPr/>
        </p:nvPicPr>
        <p:blipFill>
          <a:blip r:embed="rId6"/>
          <a:stretch>
            <a:fillRect/>
          </a:stretch>
        </p:blipFill>
        <p:spPr>
          <a:xfrm>
            <a:off x="8665037" y="2140793"/>
            <a:ext cx="272126" cy="272126"/>
          </a:xfrm>
          <a:prstGeom prst="rect">
            <a:avLst/>
          </a:prstGeom>
        </p:spPr>
      </p:pic>
      <p:sp>
        <p:nvSpPr>
          <p:cNvPr id="42" name="TextBox 41"/>
          <p:cNvSpPr txBox="1"/>
          <p:nvPr/>
        </p:nvSpPr>
        <p:spPr>
          <a:xfrm>
            <a:off x="8019288"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Engineer confirms</a:t>
            </a:r>
          </a:p>
        </p:txBody>
      </p:sp>
      <p:sp>
        <p:nvSpPr>
          <p:cNvPr id="43" name="TextBox 42"/>
          <p:cNvSpPr txBox="1"/>
          <p:nvPr/>
        </p:nvSpPr>
        <p:spPr>
          <a:xfrm>
            <a:off x="8019288"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Only what a 3D model cannot show</a:t>
            </a:r>
          </a:p>
        </p:txBody>
      </p:sp>
      <p:sp>
        <p:nvSpPr>
          <p:cNvPr id="44" name="Right Arrow 43"/>
          <p:cNvSpPr/>
          <p:nvPr/>
        </p:nvSpPr>
        <p:spPr>
          <a:xfrm>
            <a:off x="9674352"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82980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829800"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401300"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alc.png"/>
          <p:cNvPicPr>
            <a:picLocks noChangeAspect="1"/>
          </p:cNvPicPr>
          <p:nvPr/>
        </p:nvPicPr>
        <p:blipFill>
          <a:blip r:embed="rId7"/>
          <a:stretch>
            <a:fillRect/>
          </a:stretch>
        </p:blipFill>
        <p:spPr>
          <a:xfrm>
            <a:off x="10548701" y="2140793"/>
            <a:ext cx="272126" cy="272126"/>
          </a:xfrm>
          <a:prstGeom prst="rect">
            <a:avLst/>
          </a:prstGeom>
        </p:spPr>
      </p:pic>
      <p:sp>
        <p:nvSpPr>
          <p:cNvPr id="49" name="TextBox 48"/>
          <p:cNvSpPr txBox="1"/>
          <p:nvPr/>
        </p:nvSpPr>
        <p:spPr>
          <a:xfrm>
            <a:off x="990295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CAPEE costs the part</a:t>
            </a:r>
          </a:p>
        </p:txBody>
      </p:sp>
      <p:sp>
        <p:nvSpPr>
          <p:cNvPr id="50" name="TextBox 49"/>
          <p:cNvSpPr txBox="1"/>
          <p:nvPr/>
        </p:nvSpPr>
        <p:spPr>
          <a:xfrm>
            <a:off x="990295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CAPEE receives the numbers and calculates</a:t>
            </a:r>
          </a:p>
        </p:txBody>
      </p:sp>
      <p:sp>
        <p:nvSpPr>
          <p:cNvPr id="51" name="TextBox 50"/>
          <p:cNvSpPr txBox="1"/>
          <p:nvPr/>
        </p:nvSpPr>
        <p:spPr>
          <a:xfrm>
            <a:off x="411480" y="3886200"/>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The order the build has to happen in</a:t>
            </a:r>
          </a:p>
        </p:txBody>
      </p:sp>
      <p:sp>
        <p:nvSpPr>
          <p:cNvPr id="52" name="Chevron 51"/>
          <p:cNvSpPr/>
          <p:nvPr/>
        </p:nvSpPr>
        <p:spPr>
          <a:xfrm>
            <a:off x="411480"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Agree the connection</a:t>
            </a:r>
          </a:p>
        </p:txBody>
      </p:sp>
      <p:sp>
        <p:nvSpPr>
          <p:cNvPr id="53" name="Chevron 52"/>
          <p:cNvSpPr/>
          <p:nvPr/>
        </p:nvSpPr>
        <p:spPr>
          <a:xfrm>
            <a:off x="2249423"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Stand up measuring</a:t>
            </a:r>
          </a:p>
        </p:txBody>
      </p:sp>
      <p:sp>
        <p:nvSpPr>
          <p:cNvPr id="54" name="Chevron 53"/>
          <p:cNvSpPr/>
          <p:nvPr/>
        </p:nvSpPr>
        <p:spPr>
          <a:xfrm>
            <a:off x="4087366"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Hand over settings</a:t>
            </a:r>
          </a:p>
        </p:txBody>
      </p:sp>
      <p:sp>
        <p:nvSpPr>
          <p:cNvPr id="55" name="Chevron 54"/>
          <p:cNvSpPr/>
          <p:nvPr/>
        </p:nvSpPr>
        <p:spPr>
          <a:xfrm>
            <a:off x="5925309"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Add safety checks</a:t>
            </a:r>
          </a:p>
        </p:txBody>
      </p:sp>
      <p:sp>
        <p:nvSpPr>
          <p:cNvPr id="56" name="Chevron 55"/>
          <p:cNvSpPr/>
          <p:nvPr/>
        </p:nvSpPr>
        <p:spPr>
          <a:xfrm>
            <a:off x="7763252"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Connect into CAPEE</a:t>
            </a:r>
          </a:p>
        </p:txBody>
      </p:sp>
      <p:sp>
        <p:nvSpPr>
          <p:cNvPr id="57" name="Chevron 56"/>
          <p:cNvSpPr/>
          <p:nvPr/>
        </p:nvSpPr>
        <p:spPr>
          <a:xfrm>
            <a:off x="9601195" y="4187952"/>
            <a:ext cx="1874519" cy="548640"/>
          </a:xfrm>
          <a:prstGeom prst="chevron">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Trial on one part type</a:t>
            </a:r>
          </a:p>
        </p:txBody>
      </p:sp>
      <p:sp>
        <p:nvSpPr>
          <p:cNvPr id="58" name="Rectangle 57"/>
          <p:cNvSpPr/>
          <p:nvPr/>
        </p:nvSpPr>
        <p:spPr>
          <a:xfrm>
            <a:off x="411480" y="4919472"/>
            <a:ext cx="11365992" cy="5486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11480" y="4919472"/>
            <a:ext cx="1371600" cy="5486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11480" y="4919472"/>
            <a:ext cx="13716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WE DO</a:t>
            </a:r>
          </a:p>
        </p:txBody>
      </p:sp>
      <p:sp>
        <p:nvSpPr>
          <p:cNvPr id="61" name="TextBox 60"/>
          <p:cNvSpPr txBox="1"/>
          <p:nvPr/>
        </p:nvSpPr>
        <p:spPr>
          <a:xfrm>
            <a:off x="1892808"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Package the measuring software</a:t>
            </a:r>
          </a:p>
        </p:txBody>
      </p:sp>
      <p:sp>
        <p:nvSpPr>
          <p:cNvPr id="62" name="Rectangle 61"/>
          <p:cNvSpPr/>
          <p:nvPr/>
        </p:nvSpPr>
        <p:spPr>
          <a:xfrm>
            <a:off x="4281678"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391406"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Write out every setting</a:t>
            </a:r>
          </a:p>
        </p:txBody>
      </p:sp>
      <p:sp>
        <p:nvSpPr>
          <p:cNvPr id="64" name="Rectangle 63"/>
          <p:cNvSpPr/>
          <p:nvPr/>
        </p:nvSpPr>
        <p:spPr>
          <a:xfrm>
            <a:off x="6780276"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890004"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Move the safety checks across</a:t>
            </a:r>
          </a:p>
        </p:txBody>
      </p:sp>
      <p:sp>
        <p:nvSpPr>
          <p:cNvPr id="66" name="Rectangle 65"/>
          <p:cNvSpPr/>
          <p:nvPr/>
        </p:nvSpPr>
        <p:spPr>
          <a:xfrm>
            <a:off x="9278874"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388602"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Support the CAPEE connection</a:t>
            </a:r>
          </a:p>
        </p:txBody>
      </p:sp>
      <p:sp>
        <p:nvSpPr>
          <p:cNvPr id="68" name="Rectangle 67"/>
          <p:cNvSpPr/>
          <p:nvPr/>
        </p:nvSpPr>
        <p:spPr>
          <a:xfrm>
            <a:off x="411480" y="5504688"/>
            <a:ext cx="11365992" cy="5486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11480" y="5504688"/>
            <a:ext cx="1371600" cy="54864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11480" y="5504688"/>
            <a:ext cx="13716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JLR DOES</a:t>
            </a:r>
          </a:p>
        </p:txBody>
      </p:sp>
      <p:sp>
        <p:nvSpPr>
          <p:cNvPr id="71" name="TextBox 70"/>
          <p:cNvSpPr txBox="1"/>
          <p:nvPr/>
        </p:nvSpPr>
        <p:spPr>
          <a:xfrm>
            <a:off x="1892808"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Tell us how CAPEE is built</a:t>
            </a:r>
          </a:p>
        </p:txBody>
      </p:sp>
      <p:sp>
        <p:nvSpPr>
          <p:cNvPr id="72" name="Rectangle 71"/>
          <p:cNvSpPr/>
          <p:nvPr/>
        </p:nvSpPr>
        <p:spPr>
          <a:xfrm>
            <a:off x="4281678"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391406"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Provide a server</a:t>
            </a:r>
          </a:p>
        </p:txBody>
      </p:sp>
      <p:sp>
        <p:nvSpPr>
          <p:cNvPr id="74" name="Rectangle 73"/>
          <p:cNvSpPr/>
          <p:nvPr/>
        </p:nvSpPr>
        <p:spPr>
          <a:xfrm>
            <a:off x="6780276"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890004"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Change CAPEE to accept the numbers</a:t>
            </a:r>
          </a:p>
        </p:txBody>
      </p:sp>
      <p:sp>
        <p:nvSpPr>
          <p:cNvPr id="76" name="Rectangle 75"/>
          <p:cNvSpPr/>
          <p:nvPr/>
        </p:nvSpPr>
        <p:spPr>
          <a:xfrm>
            <a:off x="9278874"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388602"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Release a team for the trial</a:t>
            </a:r>
          </a:p>
        </p:txBody>
      </p:sp>
      <p:sp>
        <p:nvSpPr>
          <p:cNvPr id="78" name="Rounded Rectangle 77"/>
          <p:cNvSpPr/>
          <p:nvPr/>
        </p:nvSpPr>
        <p:spPr>
          <a:xfrm>
            <a:off x="411480" y="6144768"/>
            <a:ext cx="11365992" cy="54864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11480" y="6144768"/>
            <a:ext cx="68580" cy="54864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30936" y="626364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One step cannot be sized yet</a:t>
            </a:r>
          </a:p>
        </p:txBody>
      </p:sp>
      <p:sp>
        <p:nvSpPr>
          <p:cNvPr id="81" name="TextBox 80"/>
          <p:cNvSpPr txBox="1"/>
          <p:nvPr/>
        </p:nvSpPr>
        <p:spPr>
          <a:xfrm>
            <a:off x="630936" y="6547104"/>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Connecting into CAPEE depends on how CAPEE is built, which we do not know. Slide 8 sets out the three ways of doing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REQUIRED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Safety checks</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The AI does not set a price. It does supply numbers that feed into one, so a wrong reading becomes a wrong cost. These four checks are what stop that, and they have to move across with the rest.</a:t>
            </a:r>
          </a:p>
        </p:txBody>
      </p:sp>
      <p:sp>
        <p:nvSpPr>
          <p:cNvPr id="10" name="Rounded Rectangle 9"/>
          <p:cNvSpPr/>
          <p:nvPr/>
        </p:nvSpPr>
        <p:spPr>
          <a:xfrm>
            <a:off x="411480" y="2212848"/>
            <a:ext cx="11365992" cy="868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12848"/>
            <a:ext cx="68580" cy="868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8368" y="2368296"/>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ube.png"/>
          <p:cNvPicPr>
            <a:picLocks noChangeAspect="1"/>
          </p:cNvPicPr>
          <p:nvPr/>
        </p:nvPicPr>
        <p:blipFill>
          <a:blip r:embed="rId2"/>
          <a:stretch>
            <a:fillRect/>
          </a:stretch>
        </p:blipFill>
        <p:spPr>
          <a:xfrm>
            <a:off x="801014" y="2510942"/>
            <a:ext cx="263348" cy="263348"/>
          </a:xfrm>
          <a:prstGeom prst="rect">
            <a:avLst/>
          </a:prstGeom>
        </p:spPr>
      </p:pic>
      <p:sp>
        <p:nvSpPr>
          <p:cNvPr id="14" name="TextBox 13"/>
          <p:cNvSpPr txBox="1"/>
          <p:nvPr/>
        </p:nvSpPr>
        <p:spPr>
          <a:xfrm>
            <a:off x="1417320" y="2350008"/>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The measured model overrules the AI</a:t>
            </a:r>
          </a:p>
        </p:txBody>
      </p:sp>
      <p:sp>
        <p:nvSpPr>
          <p:cNvPr id="15" name="TextBox 14"/>
          <p:cNvSpPr txBox="1"/>
          <p:nvPr/>
        </p:nvSpPr>
        <p:spPr>
          <a:xfrm>
            <a:off x="1417320" y="2633472"/>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If the AI reads 2 kg and the model measures 1.4 kg, the measured figure is used. The geometry is treated as the fact.</a:t>
            </a:r>
          </a:p>
        </p:txBody>
      </p:sp>
      <p:sp>
        <p:nvSpPr>
          <p:cNvPr id="16" name="Rounded Rectangle 15"/>
          <p:cNvSpPr/>
          <p:nvPr/>
        </p:nvSpPr>
        <p:spPr>
          <a:xfrm>
            <a:off x="411480" y="3182112"/>
            <a:ext cx="11365992" cy="868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82112"/>
            <a:ext cx="68580" cy="868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8368" y="3337560"/>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ye.png"/>
          <p:cNvPicPr>
            <a:picLocks noChangeAspect="1"/>
          </p:cNvPicPr>
          <p:nvPr/>
        </p:nvPicPr>
        <p:blipFill>
          <a:blip r:embed="rId3"/>
          <a:stretch>
            <a:fillRect/>
          </a:stretch>
        </p:blipFill>
        <p:spPr>
          <a:xfrm>
            <a:off x="801014" y="3480206"/>
            <a:ext cx="263348" cy="263348"/>
          </a:xfrm>
          <a:prstGeom prst="rect">
            <a:avLst/>
          </a:prstGeom>
        </p:spPr>
      </p:pic>
      <p:sp>
        <p:nvSpPr>
          <p:cNvPr id="20" name="TextBox 19"/>
          <p:cNvSpPr txBox="1"/>
          <p:nvPr/>
        </p:nvSpPr>
        <p:spPr>
          <a:xfrm>
            <a:off x="1417320" y="3319272"/>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Everything read is cross-checked</a:t>
            </a:r>
          </a:p>
        </p:txBody>
      </p:sp>
      <p:sp>
        <p:nvSpPr>
          <p:cNvPr id="21" name="TextBox 20"/>
          <p:cNvSpPr txBox="1"/>
          <p:nvPr/>
        </p:nvSpPr>
        <p:spPr>
          <a:xfrm>
            <a:off x="1417320" y="3602736"/>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Numbers taken off the drawing are compared against the measured model. Disagreements are reported to the engineer rather than settled quietly.</a:t>
            </a:r>
          </a:p>
        </p:txBody>
      </p:sp>
      <p:sp>
        <p:nvSpPr>
          <p:cNvPr id="22" name="Rounded Rectangle 21"/>
          <p:cNvSpPr/>
          <p:nvPr/>
        </p:nvSpPr>
        <p:spPr>
          <a:xfrm>
            <a:off x="411480" y="4151376"/>
            <a:ext cx="11365992" cy="868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4151376"/>
            <a:ext cx="68580" cy="868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58368" y="4306824"/>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ress.png"/>
          <p:cNvPicPr>
            <a:picLocks noChangeAspect="1"/>
          </p:cNvPicPr>
          <p:nvPr/>
        </p:nvPicPr>
        <p:blipFill>
          <a:blip r:embed="rId4"/>
          <a:stretch>
            <a:fillRect/>
          </a:stretch>
        </p:blipFill>
        <p:spPr>
          <a:xfrm>
            <a:off x="801014" y="4449470"/>
            <a:ext cx="263348" cy="263348"/>
          </a:xfrm>
          <a:prstGeom prst="rect">
            <a:avLst/>
          </a:prstGeom>
        </p:spPr>
      </p:pic>
      <p:sp>
        <p:nvSpPr>
          <p:cNvPr id="26" name="TextBox 25"/>
          <p:cNvSpPr txBox="1"/>
          <p:nvPr/>
        </p:nvSpPr>
        <p:spPr>
          <a:xfrm>
            <a:off x="1417320" y="4288536"/>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Machining time has a ceiling</a:t>
            </a:r>
          </a:p>
        </p:txBody>
      </p:sp>
      <p:sp>
        <p:nvSpPr>
          <p:cNvPr id="27" name="TextBox 26"/>
          <p:cNvSpPr txBox="1"/>
          <p:nvPr/>
        </p:nvSpPr>
        <p:spPr>
          <a:xfrm>
            <a:off x="1417320" y="4572000"/>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On a casting or forging, machining is capped at what finishing that part could plausibly take, so a bad estimate cannot inflate the cost.</a:t>
            </a:r>
          </a:p>
        </p:txBody>
      </p:sp>
      <p:sp>
        <p:nvSpPr>
          <p:cNvPr id="28" name="Rounded Rectangle 27"/>
          <p:cNvSpPr/>
          <p:nvPr/>
        </p:nvSpPr>
        <p:spPr>
          <a:xfrm>
            <a:off x="411480" y="5120640"/>
            <a:ext cx="11365992" cy="868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1480" y="5120640"/>
            <a:ext cx="68580" cy="8686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58368" y="5276088"/>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person.png"/>
          <p:cNvPicPr>
            <a:picLocks noChangeAspect="1"/>
          </p:cNvPicPr>
          <p:nvPr/>
        </p:nvPicPr>
        <p:blipFill>
          <a:blip r:embed="rId5"/>
          <a:stretch>
            <a:fillRect/>
          </a:stretch>
        </p:blipFill>
        <p:spPr>
          <a:xfrm>
            <a:off x="801014" y="5418734"/>
            <a:ext cx="263348" cy="263348"/>
          </a:xfrm>
          <a:prstGeom prst="rect">
            <a:avLst/>
          </a:prstGeom>
        </p:spPr>
      </p:pic>
      <p:sp>
        <p:nvSpPr>
          <p:cNvPr id="32" name="TextBox 31"/>
          <p:cNvSpPr txBox="1"/>
          <p:nvPr/>
        </p:nvSpPr>
        <p:spPr>
          <a:xfrm>
            <a:off x="1417320" y="5257800"/>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Unknowns are asked, not guessed</a:t>
            </a:r>
          </a:p>
        </p:txBody>
      </p:sp>
      <p:sp>
        <p:nvSpPr>
          <p:cNvPr id="33" name="TextBox 32"/>
          <p:cNvSpPr txBox="1"/>
          <p:nvPr/>
        </p:nvSpPr>
        <p:spPr>
          <a:xfrm>
            <a:off x="1417320" y="5541264"/>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Heat treatment, tolerance class and material grade cannot be read from a solid model. The engineer is asked. The AI suggestion is labelled as a suggestion and is never pre-selected.</a:t>
            </a:r>
          </a:p>
        </p:txBody>
      </p:sp>
      <p:sp>
        <p:nvSpPr>
          <p:cNvPr id="34" name="Rounded Rectangle 33"/>
          <p:cNvSpPr/>
          <p:nvPr/>
        </p:nvSpPr>
        <p:spPr>
          <a:xfrm>
            <a:off x="411480" y="6126480"/>
            <a:ext cx="11365992" cy="566928"/>
          </a:xfrm>
          <a:prstGeom prst="roundRect">
            <a:avLst>
              <a:gd name="adj" fmla="val 12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6126480"/>
            <a:ext cx="68580" cy="566928"/>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0936" y="624535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03A2E"/>
                </a:solidFill>
                <a:latin typeface="Calibri"/>
              </a:rPr>
              <a:t>This is not theoretical</a:t>
            </a:r>
          </a:p>
        </p:txBody>
      </p:sp>
      <p:sp>
        <p:nvSpPr>
          <p:cNvPr id="37" name="TextBox 36"/>
          <p:cNvSpPr txBox="1"/>
          <p:nvPr/>
        </p:nvSpPr>
        <p:spPr>
          <a:xfrm>
            <a:off x="630936" y="6528816"/>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Our August review found a route through the tool with no checks on it. A single missing input produced a cost of "not a number" while the software reported that it had worked. It is fixed. It is also why these checks are listed as part of the scope, not an extra.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HANDOVER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hand over, and what it is written in</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Line counts read from the software. Both languages are in common use and JLR IT will have people who know them.</a:t>
            </a:r>
          </a:p>
        </p:txBody>
      </p:sp>
      <p:sp>
        <p:nvSpPr>
          <p:cNvPr id="10" name="Rectangle 9"/>
          <p:cNvSpPr/>
          <p:nvPr/>
        </p:nvSpPr>
        <p:spPr>
          <a:xfrm>
            <a:off x="411480" y="2057400"/>
            <a:ext cx="30175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139696"/>
            <a:ext cx="28712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Part</a:t>
            </a:r>
          </a:p>
        </p:txBody>
      </p:sp>
      <p:sp>
        <p:nvSpPr>
          <p:cNvPr id="12" name="Rectangle 11"/>
          <p:cNvSpPr/>
          <p:nvPr/>
        </p:nvSpPr>
        <p:spPr>
          <a:xfrm>
            <a:off x="3429000" y="2057400"/>
            <a:ext cx="1554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2139696"/>
            <a:ext cx="14081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Language</a:t>
            </a:r>
          </a:p>
        </p:txBody>
      </p:sp>
      <p:sp>
        <p:nvSpPr>
          <p:cNvPr id="14" name="Rectangle 13"/>
          <p:cNvSpPr/>
          <p:nvPr/>
        </p:nvSpPr>
        <p:spPr>
          <a:xfrm>
            <a:off x="4983480" y="2057400"/>
            <a:ext cx="1371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65776" y="2139696"/>
            <a:ext cx="1225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Size</a:t>
            </a:r>
          </a:p>
        </p:txBody>
      </p:sp>
      <p:sp>
        <p:nvSpPr>
          <p:cNvPr id="16" name="Rectangle 15"/>
          <p:cNvSpPr/>
          <p:nvPr/>
        </p:nvSpPr>
        <p:spPr>
          <a:xfrm>
            <a:off x="6355080" y="2057400"/>
            <a:ext cx="542239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2139696"/>
            <a:ext cx="527608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does</a:t>
            </a:r>
          </a:p>
        </p:txBody>
      </p:sp>
      <p:sp>
        <p:nvSpPr>
          <p:cNvPr id="18" name="Rectangle 17"/>
          <p:cNvSpPr/>
          <p:nvPr/>
        </p:nvSpPr>
        <p:spPr>
          <a:xfrm>
            <a:off x="411480" y="2386584"/>
            <a:ext cx="30175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450592"/>
            <a:ext cx="287121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Measuring engine</a:t>
            </a:r>
          </a:p>
        </p:txBody>
      </p:sp>
      <p:sp>
        <p:nvSpPr>
          <p:cNvPr id="20" name="Rectangle 19"/>
          <p:cNvSpPr/>
          <p:nvPr/>
        </p:nvSpPr>
        <p:spPr>
          <a:xfrm>
            <a:off x="3429000" y="2386584"/>
            <a:ext cx="155448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11296" y="2450592"/>
            <a:ext cx="1408176" cy="384048"/>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Python</a:t>
            </a:r>
          </a:p>
        </p:txBody>
      </p:sp>
      <p:sp>
        <p:nvSpPr>
          <p:cNvPr id="22" name="Rectangle 21"/>
          <p:cNvSpPr/>
          <p:nvPr/>
        </p:nvSpPr>
        <p:spPr>
          <a:xfrm>
            <a:off x="4983480" y="2386584"/>
            <a:ext cx="13716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65776" y="2450592"/>
            <a:ext cx="122529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2,039 lines</a:t>
            </a:r>
          </a:p>
        </p:txBody>
      </p:sp>
      <p:sp>
        <p:nvSpPr>
          <p:cNvPr id="24" name="Rectangle 23"/>
          <p:cNvSpPr/>
          <p:nvPr/>
        </p:nvSpPr>
        <p:spPr>
          <a:xfrm>
            <a:off x="6355080" y="2386584"/>
            <a:ext cx="54223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37376" y="2450592"/>
            <a:ext cx="5276088"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Opens the 3D model and measures it. Makes no internet connection.</a:t>
            </a:r>
          </a:p>
        </p:txBody>
      </p:sp>
      <p:sp>
        <p:nvSpPr>
          <p:cNvPr id="26" name="Rectangle 25"/>
          <p:cNvSpPr/>
          <p:nvPr/>
        </p:nvSpPr>
        <p:spPr>
          <a:xfrm>
            <a:off x="411480" y="2862072"/>
            <a:ext cx="30175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2926080"/>
            <a:ext cx="287121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Reading the drawing</a:t>
            </a:r>
          </a:p>
        </p:txBody>
      </p:sp>
      <p:sp>
        <p:nvSpPr>
          <p:cNvPr id="28" name="Rectangle 27"/>
          <p:cNvSpPr/>
          <p:nvPr/>
        </p:nvSpPr>
        <p:spPr>
          <a:xfrm>
            <a:off x="3429000" y="2862072"/>
            <a:ext cx="155448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11296" y="2926080"/>
            <a:ext cx="1408176" cy="384048"/>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30" name="Rectangle 29"/>
          <p:cNvSpPr/>
          <p:nvPr/>
        </p:nvSpPr>
        <p:spPr>
          <a:xfrm>
            <a:off x="4983480" y="2862072"/>
            <a:ext cx="137160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65776" y="2926080"/>
            <a:ext cx="122529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2,443 lines</a:t>
            </a:r>
          </a:p>
        </p:txBody>
      </p:sp>
      <p:sp>
        <p:nvSpPr>
          <p:cNvPr id="32" name="Rectangle 31"/>
          <p:cNvSpPr/>
          <p:nvPr/>
        </p:nvSpPr>
        <p:spPr>
          <a:xfrm>
            <a:off x="6355080" y="2862072"/>
            <a:ext cx="542239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2926080"/>
            <a:ext cx="5276088"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Sends the drawing to the AI and organises what comes back.</a:t>
            </a:r>
          </a:p>
        </p:txBody>
      </p:sp>
      <p:sp>
        <p:nvSpPr>
          <p:cNvPr id="34" name="Rectangle 33"/>
          <p:cNvSpPr/>
          <p:nvPr/>
        </p:nvSpPr>
        <p:spPr>
          <a:xfrm>
            <a:off x="411480" y="3337560"/>
            <a:ext cx="30175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401568"/>
            <a:ext cx="287121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Safety checks</a:t>
            </a:r>
          </a:p>
        </p:txBody>
      </p:sp>
      <p:sp>
        <p:nvSpPr>
          <p:cNvPr id="36" name="Rectangle 35"/>
          <p:cNvSpPr/>
          <p:nvPr/>
        </p:nvSpPr>
        <p:spPr>
          <a:xfrm>
            <a:off x="3429000" y="3337560"/>
            <a:ext cx="155448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11296" y="3401568"/>
            <a:ext cx="1408176" cy="384048"/>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38" name="Rectangle 37"/>
          <p:cNvSpPr/>
          <p:nvPr/>
        </p:nvSpPr>
        <p:spPr>
          <a:xfrm>
            <a:off x="4983480" y="3337560"/>
            <a:ext cx="13716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65776" y="3401568"/>
            <a:ext cx="122529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536 lines</a:t>
            </a:r>
          </a:p>
        </p:txBody>
      </p:sp>
      <p:sp>
        <p:nvSpPr>
          <p:cNvPr id="40" name="Rectangle 39"/>
          <p:cNvSpPr/>
          <p:nvPr/>
        </p:nvSpPr>
        <p:spPr>
          <a:xfrm>
            <a:off x="6355080" y="3337560"/>
            <a:ext cx="54223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7376" y="3401568"/>
            <a:ext cx="5276088"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The four checks on the previous slide.</a:t>
            </a:r>
          </a:p>
        </p:txBody>
      </p:sp>
      <p:sp>
        <p:nvSpPr>
          <p:cNvPr id="42" name="Rectangle 41"/>
          <p:cNvSpPr/>
          <p:nvPr/>
        </p:nvSpPr>
        <p:spPr>
          <a:xfrm>
            <a:off x="411480" y="3813048"/>
            <a:ext cx="30175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3877056"/>
            <a:ext cx="287121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Questions per part type</a:t>
            </a:r>
          </a:p>
        </p:txBody>
      </p:sp>
      <p:sp>
        <p:nvSpPr>
          <p:cNvPr id="44" name="Rectangle 43"/>
          <p:cNvSpPr/>
          <p:nvPr/>
        </p:nvSpPr>
        <p:spPr>
          <a:xfrm>
            <a:off x="3429000" y="3813048"/>
            <a:ext cx="155448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511296" y="3877056"/>
            <a:ext cx="1408176" cy="384048"/>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46" name="Rectangle 45"/>
          <p:cNvSpPr/>
          <p:nvPr/>
        </p:nvSpPr>
        <p:spPr>
          <a:xfrm>
            <a:off x="4983480" y="3813048"/>
            <a:ext cx="137160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065776" y="3877056"/>
            <a:ext cx="122529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7,037 lines</a:t>
            </a:r>
          </a:p>
        </p:txBody>
      </p:sp>
      <p:sp>
        <p:nvSpPr>
          <p:cNvPr id="48" name="Rectangle 47"/>
          <p:cNvSpPr/>
          <p:nvPr/>
        </p:nvSpPr>
        <p:spPr>
          <a:xfrm>
            <a:off x="6355080" y="3813048"/>
            <a:ext cx="542239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37376" y="3877056"/>
            <a:ext cx="5276088"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Decides what the engineer is asked for each kind of part.</a:t>
            </a:r>
          </a:p>
        </p:txBody>
      </p:sp>
      <p:sp>
        <p:nvSpPr>
          <p:cNvPr id="50" name="Rectangle 49"/>
          <p:cNvSpPr/>
          <p:nvPr/>
        </p:nvSpPr>
        <p:spPr>
          <a:xfrm>
            <a:off x="411480" y="4288536"/>
            <a:ext cx="30175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4352544"/>
            <a:ext cx="287121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Design-for-cost findings</a:t>
            </a:r>
          </a:p>
        </p:txBody>
      </p:sp>
      <p:sp>
        <p:nvSpPr>
          <p:cNvPr id="52" name="Rectangle 51"/>
          <p:cNvSpPr/>
          <p:nvPr/>
        </p:nvSpPr>
        <p:spPr>
          <a:xfrm>
            <a:off x="3429000" y="4288536"/>
            <a:ext cx="155448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511296" y="4352544"/>
            <a:ext cx="1408176" cy="384048"/>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54" name="Rectangle 53"/>
          <p:cNvSpPr/>
          <p:nvPr/>
        </p:nvSpPr>
        <p:spPr>
          <a:xfrm>
            <a:off x="4983480" y="4288536"/>
            <a:ext cx="13716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065776" y="4352544"/>
            <a:ext cx="122529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1,930 lines</a:t>
            </a:r>
          </a:p>
        </p:txBody>
      </p:sp>
      <p:sp>
        <p:nvSpPr>
          <p:cNvPr id="56" name="Rectangle 55"/>
          <p:cNvSpPr/>
          <p:nvPr/>
        </p:nvSpPr>
        <p:spPr>
          <a:xfrm>
            <a:off x="6355080" y="4288536"/>
            <a:ext cx="54223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37376" y="4352544"/>
            <a:ext cx="5276088"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Flags features that are expensive to make and explains why.</a:t>
            </a:r>
          </a:p>
        </p:txBody>
      </p:sp>
      <p:sp>
        <p:nvSpPr>
          <p:cNvPr id="58" name="Rectangle 57"/>
          <p:cNvSpPr/>
          <p:nvPr/>
        </p:nvSpPr>
        <p:spPr>
          <a:xfrm>
            <a:off x="411480" y="4764024"/>
            <a:ext cx="30175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4828032"/>
            <a:ext cx="287121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Settings list</a:t>
            </a:r>
          </a:p>
        </p:txBody>
      </p:sp>
      <p:sp>
        <p:nvSpPr>
          <p:cNvPr id="60" name="Rectangle 59"/>
          <p:cNvSpPr/>
          <p:nvPr/>
        </p:nvSpPr>
        <p:spPr>
          <a:xfrm>
            <a:off x="3429000" y="4764024"/>
            <a:ext cx="155448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511296" y="4828032"/>
            <a:ext cx="1408176" cy="384048"/>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Plain list</a:t>
            </a:r>
          </a:p>
        </p:txBody>
      </p:sp>
      <p:sp>
        <p:nvSpPr>
          <p:cNvPr id="62" name="Rectangle 61"/>
          <p:cNvSpPr/>
          <p:nvPr/>
        </p:nvSpPr>
        <p:spPr>
          <a:xfrm>
            <a:off x="4983480" y="4764024"/>
            <a:ext cx="137160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065776" y="4828032"/>
            <a:ext cx="122529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one file</a:t>
            </a:r>
          </a:p>
        </p:txBody>
      </p:sp>
      <p:sp>
        <p:nvSpPr>
          <p:cNvPr id="64" name="Rectangle 63"/>
          <p:cNvSpPr/>
          <p:nvPr/>
        </p:nvSpPr>
        <p:spPr>
          <a:xfrm>
            <a:off x="6355080" y="4764024"/>
            <a:ext cx="542239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437376" y="4828032"/>
            <a:ext cx="5276088"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Every fixed number gathered in one place. Next slide.</a:t>
            </a:r>
          </a:p>
        </p:txBody>
      </p:sp>
      <p:sp>
        <p:nvSpPr>
          <p:cNvPr id="66" name="Rounded Rectangle 65"/>
          <p:cNvSpPr/>
          <p:nvPr/>
        </p:nvSpPr>
        <p:spPr>
          <a:xfrm>
            <a:off x="411480" y="5120640"/>
            <a:ext cx="5577840" cy="105156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11480" y="5120640"/>
            <a:ext cx="68580" cy="105156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0936" y="52395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On the two languages</a:t>
            </a:r>
          </a:p>
        </p:txBody>
      </p:sp>
      <p:sp>
        <p:nvSpPr>
          <p:cNvPr id="69" name="TextBox 68"/>
          <p:cNvSpPr txBox="1"/>
          <p:nvPr/>
        </p:nvSpPr>
        <p:spPr>
          <a:xfrm>
            <a:off x="630936" y="5522976"/>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Python is standard for engineering and measurement work. TypeScript is widely used for business software. Neither is unusual and neither ties JLR to a single supplier.</a:t>
            </a:r>
          </a:p>
        </p:txBody>
      </p:sp>
      <p:sp>
        <p:nvSpPr>
          <p:cNvPr id="70" name="Rounded Rectangle 69"/>
          <p:cNvSpPr/>
          <p:nvPr/>
        </p:nvSpPr>
        <p:spPr>
          <a:xfrm>
            <a:off x="6199632" y="5120640"/>
            <a:ext cx="5577840" cy="105156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199632" y="5120640"/>
            <a:ext cx="68580" cy="105156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19088" y="52395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One item for IT to confirm</a:t>
            </a:r>
          </a:p>
        </p:txBody>
      </p:sp>
      <p:sp>
        <p:nvSpPr>
          <p:cNvPr id="73" name="TextBox 72"/>
          <p:cNvSpPr txBox="1"/>
          <p:nvPr/>
        </p:nvSpPr>
        <p:spPr>
          <a:xfrm>
            <a:off x="6419088" y="5522976"/>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measuring engine needs a standard Linux server rather than the cut-down kind used for small services. It decides where this can be installed, so worth settling early.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SETTINGS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fixed numbers inside the software</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These are engineering judgements written into the code. Six real examples, taken from the software as it stands:</a:t>
            </a:r>
          </a:p>
        </p:txBody>
      </p:sp>
      <p:sp>
        <p:nvSpPr>
          <p:cNvPr id="10" name="Rectangle 9"/>
          <p:cNvSpPr/>
          <p:nvPr/>
        </p:nvSpPr>
        <p:spPr>
          <a:xfrm>
            <a:off x="411480" y="2057400"/>
            <a:ext cx="39319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139696"/>
            <a:ext cx="37856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controls</a:t>
            </a:r>
          </a:p>
        </p:txBody>
      </p:sp>
      <p:sp>
        <p:nvSpPr>
          <p:cNvPr id="12" name="Rectangle 11"/>
          <p:cNvSpPr/>
          <p:nvPr/>
        </p:nvSpPr>
        <p:spPr>
          <a:xfrm>
            <a:off x="4343400" y="2057400"/>
            <a:ext cx="21031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25696" y="2139696"/>
            <a:ext cx="19568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Value</a:t>
            </a:r>
          </a:p>
        </p:txBody>
      </p:sp>
      <p:sp>
        <p:nvSpPr>
          <p:cNvPr id="14" name="Rectangle 13"/>
          <p:cNvSpPr/>
          <p:nvPr/>
        </p:nvSpPr>
        <p:spPr>
          <a:xfrm>
            <a:off x="6446520" y="2057400"/>
            <a:ext cx="533095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2139696"/>
            <a:ext cx="518464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Reasoning</a:t>
            </a:r>
          </a:p>
        </p:txBody>
      </p:sp>
      <p:sp>
        <p:nvSpPr>
          <p:cNvPr id="16" name="Rectangle 15"/>
          <p:cNvSpPr/>
          <p:nvPr/>
        </p:nvSpPr>
        <p:spPr>
          <a:xfrm>
            <a:off x="411480" y="238658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 y="245059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Smallest face counted as machined</a:t>
            </a:r>
          </a:p>
        </p:txBody>
      </p:sp>
      <p:sp>
        <p:nvSpPr>
          <p:cNvPr id="18" name="Rectangle 17"/>
          <p:cNvSpPr/>
          <p:nvPr/>
        </p:nvSpPr>
        <p:spPr>
          <a:xfrm>
            <a:off x="4343400" y="238658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25696" y="245059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400 mm²</a:t>
            </a:r>
          </a:p>
        </p:txBody>
      </p:sp>
      <p:sp>
        <p:nvSpPr>
          <p:cNvPr id="20" name="Rectangle 19"/>
          <p:cNvSpPr/>
          <p:nvPr/>
        </p:nvSpPr>
        <p:spPr>
          <a:xfrm>
            <a:off x="6446520" y="238658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28816" y="245059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Below this it is treated as an edge, not a face to machine</a:t>
            </a:r>
          </a:p>
        </p:txBody>
      </p:sp>
      <p:sp>
        <p:nvSpPr>
          <p:cNvPr id="22" name="Rectangle 21"/>
          <p:cNvSpPr/>
          <p:nvPr/>
        </p:nvSpPr>
        <p:spPr>
          <a:xfrm>
            <a:off x="411480" y="284378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290779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Smallest pocket counted</a:t>
            </a:r>
          </a:p>
        </p:txBody>
      </p:sp>
      <p:sp>
        <p:nvSpPr>
          <p:cNvPr id="24" name="Rectangle 23"/>
          <p:cNvSpPr/>
          <p:nvPr/>
        </p:nvSpPr>
        <p:spPr>
          <a:xfrm>
            <a:off x="4343400" y="284378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25696" y="290779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80 mm²</a:t>
            </a:r>
          </a:p>
        </p:txBody>
      </p:sp>
      <p:sp>
        <p:nvSpPr>
          <p:cNvPr id="26" name="Rectangle 25"/>
          <p:cNvSpPr/>
          <p:nvPr/>
        </p:nvSpPr>
        <p:spPr>
          <a:xfrm>
            <a:off x="6446520" y="284378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28816" y="290779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Stops small recesses being costed as pockets</a:t>
            </a:r>
          </a:p>
        </p:txBody>
      </p:sp>
      <p:sp>
        <p:nvSpPr>
          <p:cNvPr id="28" name="Rectangle 27"/>
          <p:cNvSpPr/>
          <p:nvPr/>
        </p:nvSpPr>
        <p:spPr>
          <a:xfrm>
            <a:off x="411480" y="330098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3776" y="336499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Cost of a rejected plated part</a:t>
            </a:r>
          </a:p>
        </p:txBody>
      </p:sp>
      <p:sp>
        <p:nvSpPr>
          <p:cNvPr id="30" name="Rectangle 29"/>
          <p:cNvSpPr/>
          <p:nvPr/>
        </p:nvSpPr>
        <p:spPr>
          <a:xfrm>
            <a:off x="4343400" y="330098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25696" y="336499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4.5x a good one</a:t>
            </a:r>
          </a:p>
        </p:txBody>
      </p:sp>
      <p:sp>
        <p:nvSpPr>
          <p:cNvPr id="32" name="Rectangle 31"/>
          <p:cNvSpPr/>
          <p:nvPr/>
        </p:nvSpPr>
        <p:spPr>
          <a:xfrm>
            <a:off x="6446520" y="330098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28816" y="336499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It is stripped and re-plated, so a 3% reject rate is nearer 13% on cost</a:t>
            </a:r>
          </a:p>
        </p:txBody>
      </p:sp>
      <p:sp>
        <p:nvSpPr>
          <p:cNvPr id="34" name="Rectangle 33"/>
          <p:cNvSpPr/>
          <p:nvPr/>
        </p:nvSpPr>
        <p:spPr>
          <a:xfrm>
            <a:off x="411480" y="375818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82219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Zinc price used for plating</a:t>
            </a:r>
          </a:p>
        </p:txBody>
      </p:sp>
      <p:sp>
        <p:nvSpPr>
          <p:cNvPr id="36" name="Rectangle 35"/>
          <p:cNvSpPr/>
          <p:nvPr/>
        </p:nvSpPr>
        <p:spPr>
          <a:xfrm>
            <a:off x="4343400" y="375818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25696" y="382219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USD 3.67 / kg</a:t>
            </a:r>
          </a:p>
        </p:txBody>
      </p:sp>
      <p:sp>
        <p:nvSpPr>
          <p:cNvPr id="38" name="Rectangle 37"/>
          <p:cNvSpPr/>
          <p:nvPr/>
        </p:nvSpPr>
        <p:spPr>
          <a:xfrm>
            <a:off x="6446520" y="375818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28816" y="382219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Market reference, August 2026. Moves monthly and is meant to be updated</a:t>
            </a:r>
          </a:p>
        </p:txBody>
      </p:sp>
      <p:sp>
        <p:nvSpPr>
          <p:cNvPr id="40" name="Rectangle 39"/>
          <p:cNvSpPr/>
          <p:nvPr/>
        </p:nvSpPr>
        <p:spPr>
          <a:xfrm>
            <a:off x="411480" y="421538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93776" y="427939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Shape allowance, pressing</a:t>
            </a:r>
          </a:p>
        </p:txBody>
      </p:sp>
      <p:sp>
        <p:nvSpPr>
          <p:cNvPr id="42" name="Rectangle 41"/>
          <p:cNvSpPr/>
          <p:nvPr/>
        </p:nvSpPr>
        <p:spPr>
          <a:xfrm>
            <a:off x="4343400" y="421538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25696" y="427939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1.15</a:t>
            </a:r>
          </a:p>
        </p:txBody>
      </p:sp>
      <p:sp>
        <p:nvSpPr>
          <p:cNvPr id="44" name="Rectangle 43"/>
          <p:cNvSpPr/>
          <p:nvPr/>
        </p:nvSpPr>
        <p:spPr>
          <a:xfrm>
            <a:off x="6446520" y="421538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28816" y="427939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A real pressing has more surface than a flat plate: edges, flanges, bends</a:t>
            </a:r>
          </a:p>
        </p:txBody>
      </p:sp>
      <p:sp>
        <p:nvSpPr>
          <p:cNvPr id="46" name="Rectangle 45"/>
          <p:cNvSpPr/>
          <p:nvPr/>
        </p:nvSpPr>
        <p:spPr>
          <a:xfrm>
            <a:off x="411480" y="467258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 y="473659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Shape allowance, casting and forging</a:t>
            </a:r>
          </a:p>
        </p:txBody>
      </p:sp>
      <p:sp>
        <p:nvSpPr>
          <p:cNvPr id="48" name="Rectangle 47"/>
          <p:cNvSpPr/>
          <p:nvPr/>
        </p:nvSpPr>
        <p:spPr>
          <a:xfrm>
            <a:off x="4343400" y="467258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425696" y="473659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1.25 / 1.10</a:t>
            </a:r>
          </a:p>
        </p:txBody>
      </p:sp>
      <p:sp>
        <p:nvSpPr>
          <p:cNvPr id="50" name="Rectangle 49"/>
          <p:cNvSpPr/>
          <p:nvPr/>
        </p:nvSpPr>
        <p:spPr>
          <a:xfrm>
            <a:off x="6446520" y="467258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528816" y="473659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Castings carry ribs and bosses; forgings are simpler on the outside</a:t>
            </a:r>
          </a:p>
        </p:txBody>
      </p:sp>
      <p:sp>
        <p:nvSpPr>
          <p:cNvPr id="52" name="Rounded Rectangle 51"/>
          <p:cNvSpPr/>
          <p:nvPr/>
        </p:nvSpPr>
        <p:spPr>
          <a:xfrm>
            <a:off x="411480" y="5029200"/>
            <a:ext cx="5577840" cy="109728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11480" y="5029200"/>
            <a:ext cx="68580" cy="10972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0936" y="514807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How they are handed over</a:t>
            </a:r>
          </a:p>
        </p:txBody>
      </p:sp>
      <p:sp>
        <p:nvSpPr>
          <p:cNvPr id="55" name="TextBox 54"/>
          <p:cNvSpPr txBox="1"/>
          <p:nvPr/>
        </p:nvSpPr>
        <p:spPr>
          <a:xfrm>
            <a:off x="630936" y="5431536"/>
            <a:ext cx="5166360" cy="5943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Gathered out of the code into one list that can be read and changed without a developer. That list is a deliverable in its own right and is a step in the Option 1 sequence.</a:t>
            </a:r>
          </a:p>
        </p:txBody>
      </p:sp>
      <p:sp>
        <p:nvSpPr>
          <p:cNvPr id="56" name="Rounded Rectangle 55"/>
          <p:cNvSpPr/>
          <p:nvPr/>
        </p:nvSpPr>
        <p:spPr>
          <a:xfrm>
            <a:off x="6199632" y="5029200"/>
            <a:ext cx="5577840" cy="109728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199632" y="5029200"/>
            <a:ext cx="68580" cy="109728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19088" y="514807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Where these came from</a:t>
            </a:r>
          </a:p>
        </p:txBody>
      </p:sp>
      <p:sp>
        <p:nvSpPr>
          <p:cNvPr id="59" name="TextBox 58"/>
          <p:cNvSpPr txBox="1"/>
          <p:nvPr/>
        </p:nvSpPr>
        <p:spPr>
          <a:xfrm>
            <a:off x="6419088" y="5431536"/>
            <a:ext cx="5166360" cy="5943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They are our engineering estimates, not measurements from a JLR plant. They are a working starting point and JLR should expect to replace them as real data arrives.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DECISION FOR IT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Three ways to connect it to CAPEE</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We do not yet know how CAPEE is built. All three routes work; the answer decides which one and how much effort it takes.</a:t>
            </a:r>
          </a:p>
        </p:txBody>
      </p:sp>
      <p:sp>
        <p:nvSpPr>
          <p:cNvPr id="10" name="Rectangle 9"/>
          <p:cNvSpPr/>
          <p:nvPr/>
        </p:nvSpPr>
        <p:spPr>
          <a:xfrm>
            <a:off x="411480" y="2103120"/>
            <a:ext cx="2651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185416"/>
            <a:ext cx="2505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Route</a:t>
            </a:r>
          </a:p>
        </p:txBody>
      </p:sp>
      <p:sp>
        <p:nvSpPr>
          <p:cNvPr id="12" name="Rectangle 11"/>
          <p:cNvSpPr/>
          <p:nvPr/>
        </p:nvSpPr>
        <p:spPr>
          <a:xfrm>
            <a:off x="3063240" y="2103120"/>
            <a:ext cx="2651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45536" y="2185416"/>
            <a:ext cx="2505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Use when</a:t>
            </a:r>
          </a:p>
        </p:txBody>
      </p:sp>
      <p:sp>
        <p:nvSpPr>
          <p:cNvPr id="14" name="Rectangle 13"/>
          <p:cNvSpPr/>
          <p:nvPr/>
        </p:nvSpPr>
        <p:spPr>
          <a:xfrm>
            <a:off x="5715000" y="2103120"/>
            <a:ext cx="46908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97296" y="2185416"/>
            <a:ext cx="454456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means in practice</a:t>
            </a:r>
          </a:p>
        </p:txBody>
      </p:sp>
      <p:sp>
        <p:nvSpPr>
          <p:cNvPr id="16" name="Rectangle 15"/>
          <p:cNvSpPr/>
          <p:nvPr/>
        </p:nvSpPr>
        <p:spPr>
          <a:xfrm>
            <a:off x="10405872" y="2103120"/>
            <a:ext cx="1371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88168" y="2185416"/>
            <a:ext cx="1225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Relative effort</a:t>
            </a:r>
          </a:p>
        </p:txBody>
      </p:sp>
      <p:sp>
        <p:nvSpPr>
          <p:cNvPr id="18" name="Rectangle 17"/>
          <p:cNvSpPr/>
          <p:nvPr/>
        </p:nvSpPr>
        <p:spPr>
          <a:xfrm>
            <a:off x="411480" y="243230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49631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A · Put it inside CAPEE</a:t>
            </a:r>
          </a:p>
        </p:txBody>
      </p:sp>
      <p:sp>
        <p:nvSpPr>
          <p:cNvPr id="20" name="Rectangle 19"/>
          <p:cNvSpPr/>
          <p:nvPr/>
        </p:nvSpPr>
        <p:spPr>
          <a:xfrm>
            <a:off x="3063240" y="243230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45536" y="249631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CAPEE is built in JavaScript</a:t>
            </a:r>
          </a:p>
        </p:txBody>
      </p:sp>
      <p:sp>
        <p:nvSpPr>
          <p:cNvPr id="22" name="Rectangle 21"/>
          <p:cNvSpPr/>
          <p:nvPr/>
        </p:nvSpPr>
        <p:spPr>
          <a:xfrm>
            <a:off x="5715000" y="2432304"/>
            <a:ext cx="4690872"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97296" y="2496312"/>
            <a:ext cx="454456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Our code goes in directly. Only the measuring engine sits separately.</a:t>
            </a:r>
          </a:p>
        </p:txBody>
      </p:sp>
      <p:sp>
        <p:nvSpPr>
          <p:cNvPr id="24" name="Rectangle 23"/>
          <p:cNvSpPr/>
          <p:nvPr/>
        </p:nvSpPr>
        <p:spPr>
          <a:xfrm>
            <a:off x="10405872" y="2432304"/>
            <a:ext cx="137160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88168" y="2496312"/>
            <a:ext cx="122529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2E8B57"/>
                </a:solidFill>
                <a:latin typeface="Calibri"/>
              </a:rPr>
              <a:t>Least effort</a:t>
            </a:r>
          </a:p>
        </p:txBody>
      </p:sp>
      <p:sp>
        <p:nvSpPr>
          <p:cNvPr id="26" name="Rectangle 25"/>
          <p:cNvSpPr/>
          <p:nvPr/>
        </p:nvSpPr>
        <p:spPr>
          <a:xfrm>
            <a:off x="411480" y="3209544"/>
            <a:ext cx="265176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327355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B · Run it alongside</a:t>
            </a:r>
          </a:p>
        </p:txBody>
      </p:sp>
      <p:sp>
        <p:nvSpPr>
          <p:cNvPr id="28" name="Rectangle 27"/>
          <p:cNvSpPr/>
          <p:nvPr/>
        </p:nvSpPr>
        <p:spPr>
          <a:xfrm>
            <a:off x="3063240" y="3209544"/>
            <a:ext cx="265176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145536" y="327355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CAPEE is Java, .NET or anything else</a:t>
            </a:r>
          </a:p>
        </p:txBody>
      </p:sp>
      <p:sp>
        <p:nvSpPr>
          <p:cNvPr id="30" name="Rectangle 29"/>
          <p:cNvSpPr/>
          <p:nvPr/>
        </p:nvSpPr>
        <p:spPr>
          <a:xfrm>
            <a:off x="5715000" y="3209544"/>
            <a:ext cx="4690872"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97296" y="3273552"/>
            <a:ext cx="454456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It runs as its own service on a JLR server and CAPEE asks it for numbers over a secure link.</a:t>
            </a:r>
          </a:p>
        </p:txBody>
      </p:sp>
      <p:sp>
        <p:nvSpPr>
          <p:cNvPr id="32" name="Rectangle 31"/>
          <p:cNvSpPr/>
          <p:nvPr/>
        </p:nvSpPr>
        <p:spPr>
          <a:xfrm>
            <a:off x="10405872" y="3209544"/>
            <a:ext cx="137160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488168" y="3273552"/>
            <a:ext cx="122529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B7791F"/>
                </a:solidFill>
                <a:latin typeface="Calibri"/>
              </a:rPr>
              <a:t>Most effort</a:t>
            </a:r>
          </a:p>
        </p:txBody>
      </p:sp>
      <p:sp>
        <p:nvSpPr>
          <p:cNvPr id="34" name="Rectangle 33"/>
          <p:cNvSpPr/>
          <p:nvPr/>
        </p:nvSpPr>
        <p:spPr>
          <a:xfrm>
            <a:off x="411480" y="398678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405079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C · Pass a file</a:t>
            </a:r>
          </a:p>
        </p:txBody>
      </p:sp>
      <p:sp>
        <p:nvSpPr>
          <p:cNvPr id="36" name="Rectangle 35"/>
          <p:cNvSpPr/>
          <p:nvPr/>
        </p:nvSpPr>
        <p:spPr>
          <a:xfrm>
            <a:off x="3063240" y="398678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45536" y="405079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CAPEE is a desktop or spreadsheet tool</a:t>
            </a:r>
          </a:p>
        </p:txBody>
      </p:sp>
      <p:sp>
        <p:nvSpPr>
          <p:cNvPr id="38" name="Rectangle 37"/>
          <p:cNvSpPr/>
          <p:nvPr/>
        </p:nvSpPr>
        <p:spPr>
          <a:xfrm>
            <a:off x="5715000" y="3986784"/>
            <a:ext cx="4690872"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97296" y="4050792"/>
            <a:ext cx="454456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It writes a file that CAPEE imports. Simplest to build, but somebody has to move the file.</a:t>
            </a:r>
          </a:p>
        </p:txBody>
      </p:sp>
      <p:sp>
        <p:nvSpPr>
          <p:cNvPr id="40" name="Rectangle 39"/>
          <p:cNvSpPr/>
          <p:nvPr/>
        </p:nvSpPr>
        <p:spPr>
          <a:xfrm>
            <a:off x="10405872" y="3986784"/>
            <a:ext cx="137160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488168" y="4050792"/>
            <a:ext cx="122529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2E8B57"/>
                </a:solidFill>
                <a:latin typeface="Calibri"/>
              </a:rPr>
              <a:t>Least effort</a:t>
            </a:r>
          </a:p>
        </p:txBody>
      </p:sp>
      <p:sp>
        <p:nvSpPr>
          <p:cNvPr id="42" name="Rounded Rectangle 41"/>
          <p:cNvSpPr/>
          <p:nvPr/>
        </p:nvSpPr>
        <p:spPr>
          <a:xfrm>
            <a:off x="411480" y="4937760"/>
            <a:ext cx="5577840" cy="9144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11480" y="4937760"/>
            <a:ext cx="68580" cy="9144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0936" y="505663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If we had to choose without the answer</a:t>
            </a:r>
          </a:p>
        </p:txBody>
      </p:sp>
      <p:sp>
        <p:nvSpPr>
          <p:cNvPr id="45" name="TextBox 44"/>
          <p:cNvSpPr txBox="1"/>
          <p:nvPr/>
        </p:nvSpPr>
        <p:spPr>
          <a:xfrm>
            <a:off x="630936" y="5340096"/>
            <a:ext cx="5166360"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Route B. It works whatever CAPEE turns out to be, and it lets CostVision be updated without touching CAPEE each time.</a:t>
            </a:r>
          </a:p>
        </p:txBody>
      </p:sp>
      <p:sp>
        <p:nvSpPr>
          <p:cNvPr id="46" name="Rounded Rectangle 45"/>
          <p:cNvSpPr/>
          <p:nvPr/>
        </p:nvSpPr>
        <p:spPr>
          <a:xfrm>
            <a:off x="6199632" y="4937760"/>
            <a:ext cx="5577840" cy="91440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99632" y="4937760"/>
            <a:ext cx="68580" cy="9144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19088" y="505663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Three questions for IT</a:t>
            </a:r>
          </a:p>
        </p:txBody>
      </p:sp>
      <p:sp>
        <p:nvSpPr>
          <p:cNvPr id="49" name="TextBox 48"/>
          <p:cNvSpPr txBox="1"/>
          <p:nvPr/>
        </p:nvSpPr>
        <p:spPr>
          <a:xfrm>
            <a:off x="6419088" y="5340096"/>
            <a:ext cx="5166360"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What is CAPEE written in. Can it call another service on the network. Can it run on a standard Linux server.</a:t>
            </a:r>
          </a:p>
        </p:txBody>
      </p:sp>
      <p:sp>
        <p:nvSpPr>
          <p:cNvPr id="50" name="TextBox 49"/>
          <p:cNvSpPr txBox="1"/>
          <p:nvPr/>
        </p:nvSpPr>
        <p:spPr>
          <a:xfrm>
            <a:off x="411480" y="6419088"/>
            <a:ext cx="11338560" cy="219456"/>
          </a:xfrm>
          <a:prstGeom prst="rect">
            <a:avLst/>
          </a:prstGeom>
          <a:noFill/>
        </p:spPr>
        <p:txBody>
          <a:bodyPr wrap="square" anchor="t" lIns="0" rIns="0" tIns="0" bIns="0">
            <a:spAutoFit/>
          </a:bodyPr>
          <a:lstStyle/>
          <a:p>
            <a:pPr algn="l">
              <a:lnSpc>
                <a:spcPct val="100000"/>
              </a:lnSpc>
              <a:spcAft>
                <a:spcPts val="400"/>
              </a:spcAft>
            </a:pPr>
            <a:r>
              <a:rPr sz="800" b="0" i="0">
                <a:solidFill>
                  <a:srgbClr val="6B7280"/>
                </a:solidFill>
                <a:latin typeface="Calibri"/>
              </a:rPr>
              <a:t>Effort is shown relative to the other routes. None of the three has been sized by JLR.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SEQUENCE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order of work</a:t>
            </a:r>
          </a:p>
        </p:txBody>
      </p:sp>
      <p:sp>
        <p:nvSpPr>
          <p:cNvPr id="9" name="Rounded Rectangle 8"/>
          <p:cNvSpPr/>
          <p:nvPr/>
        </p:nvSpPr>
        <p:spPr>
          <a:xfrm>
            <a:off x="411480" y="1783080"/>
            <a:ext cx="11365992" cy="722376"/>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83080"/>
            <a:ext cx="68580" cy="72237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920240"/>
            <a:ext cx="438912" cy="438912"/>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TextBox 11"/>
          <p:cNvSpPr txBox="1"/>
          <p:nvPr/>
        </p:nvSpPr>
        <p:spPr>
          <a:xfrm>
            <a:off x="1298448" y="1883664"/>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Agree the connection</a:t>
            </a:r>
          </a:p>
        </p:txBody>
      </p:sp>
      <p:sp>
        <p:nvSpPr>
          <p:cNvPr id="13" name="TextBox 12"/>
          <p:cNvSpPr txBox="1"/>
          <p:nvPr/>
        </p:nvSpPr>
        <p:spPr>
          <a:xfrm>
            <a:off x="1298448" y="2176272"/>
            <a:ext cx="10241280" cy="274320"/>
          </a:xfrm>
          <a:prstGeom prst="rect">
            <a:avLst/>
          </a:prstGeom>
          <a:noFill/>
        </p:spPr>
        <p:txBody>
          <a:bodyPr wrap="square" anchor="t" lIns="0" rIns="0" tIns="0" bIns="0">
            <a:spAutoFit/>
          </a:bodyPr>
          <a:lstStyle/>
          <a:p>
            <a:pPr algn="l">
              <a:lnSpc>
                <a:spcPct val="100000"/>
              </a:lnSpc>
              <a:spcAft>
                <a:spcPts val="400"/>
              </a:spcAft>
            </a:pPr>
            <a:r>
              <a:rPr sz="990" b="0" i="0">
                <a:solidFill>
                  <a:srgbClr val="3A4356"/>
                </a:solidFill>
                <a:latin typeface="Calibri"/>
              </a:rPr>
              <a:t>Establish how CAPEE is built, choose one of the three routes, agree exactly which numbers CAPEE expects.</a:t>
            </a:r>
          </a:p>
        </p:txBody>
      </p:sp>
      <p:sp>
        <p:nvSpPr>
          <p:cNvPr id="14" name="Rounded Rectangle 13"/>
          <p:cNvSpPr/>
          <p:nvPr/>
        </p:nvSpPr>
        <p:spPr>
          <a:xfrm>
            <a:off x="411480" y="2587752"/>
            <a:ext cx="11365992" cy="722376"/>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587752"/>
            <a:ext cx="68580" cy="72237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2724912"/>
            <a:ext cx="438912" cy="438912"/>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7" name="TextBox 16"/>
          <p:cNvSpPr txBox="1"/>
          <p:nvPr/>
        </p:nvSpPr>
        <p:spPr>
          <a:xfrm>
            <a:off x="1298448" y="2688336"/>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Stand up the measuring software</a:t>
            </a:r>
          </a:p>
        </p:txBody>
      </p:sp>
      <p:sp>
        <p:nvSpPr>
          <p:cNvPr id="18" name="TextBox 17"/>
          <p:cNvSpPr txBox="1"/>
          <p:nvPr/>
        </p:nvSpPr>
        <p:spPr>
          <a:xfrm>
            <a:off x="1298448" y="2980944"/>
            <a:ext cx="10241280" cy="274320"/>
          </a:xfrm>
          <a:prstGeom prst="rect">
            <a:avLst/>
          </a:prstGeom>
          <a:noFill/>
        </p:spPr>
        <p:txBody>
          <a:bodyPr wrap="square" anchor="t" lIns="0" rIns="0" tIns="0" bIns="0">
            <a:spAutoFit/>
          </a:bodyPr>
          <a:lstStyle/>
          <a:p>
            <a:pPr algn="l">
              <a:lnSpc>
                <a:spcPct val="100000"/>
              </a:lnSpc>
              <a:spcAft>
                <a:spcPts val="400"/>
              </a:spcAft>
            </a:pPr>
            <a:r>
              <a:rPr sz="990" b="0" i="0">
                <a:solidFill>
                  <a:srgbClr val="3A4356"/>
                </a:solidFill>
                <a:latin typeface="Calibri"/>
              </a:rPr>
              <a:t>Install it on a JLR server. Measure 20 real JLR parts and check the results against their drawings.</a:t>
            </a:r>
          </a:p>
        </p:txBody>
      </p:sp>
      <p:sp>
        <p:nvSpPr>
          <p:cNvPr id="19" name="Rounded Rectangle 18"/>
          <p:cNvSpPr/>
          <p:nvPr/>
        </p:nvSpPr>
        <p:spPr>
          <a:xfrm>
            <a:off x="411480" y="3392424"/>
            <a:ext cx="11365992" cy="722376"/>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392424"/>
            <a:ext cx="68580" cy="72237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58368" y="3529584"/>
            <a:ext cx="438912" cy="438912"/>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2" name="TextBox 21"/>
          <p:cNvSpPr txBox="1"/>
          <p:nvPr/>
        </p:nvSpPr>
        <p:spPr>
          <a:xfrm>
            <a:off x="1298448" y="3493008"/>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Hand over the settings list</a:t>
            </a:r>
          </a:p>
        </p:txBody>
      </p:sp>
      <p:sp>
        <p:nvSpPr>
          <p:cNvPr id="23" name="TextBox 22"/>
          <p:cNvSpPr txBox="1"/>
          <p:nvPr/>
        </p:nvSpPr>
        <p:spPr>
          <a:xfrm>
            <a:off x="1298448" y="3785616"/>
            <a:ext cx="10241280" cy="274320"/>
          </a:xfrm>
          <a:prstGeom prst="rect">
            <a:avLst/>
          </a:prstGeom>
          <a:noFill/>
        </p:spPr>
        <p:txBody>
          <a:bodyPr wrap="square" anchor="t" lIns="0" rIns="0" tIns="0" bIns="0">
            <a:spAutoFit/>
          </a:bodyPr>
          <a:lstStyle/>
          <a:p>
            <a:pPr algn="l">
              <a:lnSpc>
                <a:spcPct val="100000"/>
              </a:lnSpc>
              <a:spcAft>
                <a:spcPts val="400"/>
              </a:spcAft>
            </a:pPr>
            <a:r>
              <a:rPr sz="990" b="0" i="0">
                <a:solidFill>
                  <a:srgbClr val="3A4356"/>
                </a:solidFill>
                <a:latin typeface="Calibri"/>
              </a:rPr>
              <a:t>Gather every fixed number into one list. JLR reviews it and signs it off before anything is costed with it.</a:t>
            </a:r>
          </a:p>
        </p:txBody>
      </p:sp>
      <p:sp>
        <p:nvSpPr>
          <p:cNvPr id="24" name="Rounded Rectangle 23"/>
          <p:cNvSpPr/>
          <p:nvPr/>
        </p:nvSpPr>
        <p:spPr>
          <a:xfrm>
            <a:off x="411480" y="4197096"/>
            <a:ext cx="11365992" cy="722376"/>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197096"/>
            <a:ext cx="68580" cy="72237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4334256"/>
            <a:ext cx="438912" cy="438912"/>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27" name="TextBox 26"/>
          <p:cNvSpPr txBox="1"/>
          <p:nvPr/>
        </p:nvSpPr>
        <p:spPr>
          <a:xfrm>
            <a:off x="1298448" y="4297680"/>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Move the safety checks across</a:t>
            </a:r>
          </a:p>
        </p:txBody>
      </p:sp>
      <p:sp>
        <p:nvSpPr>
          <p:cNvPr id="28" name="TextBox 27"/>
          <p:cNvSpPr txBox="1"/>
          <p:nvPr/>
        </p:nvSpPr>
        <p:spPr>
          <a:xfrm>
            <a:off x="1298448" y="4590288"/>
            <a:ext cx="10241280" cy="274320"/>
          </a:xfrm>
          <a:prstGeom prst="rect">
            <a:avLst/>
          </a:prstGeom>
          <a:noFill/>
        </p:spPr>
        <p:txBody>
          <a:bodyPr wrap="square" anchor="t" lIns="0" rIns="0" tIns="0" bIns="0">
            <a:spAutoFit/>
          </a:bodyPr>
          <a:lstStyle/>
          <a:p>
            <a:pPr algn="l">
              <a:lnSpc>
                <a:spcPct val="100000"/>
              </a:lnSpc>
              <a:spcAft>
                <a:spcPts val="400"/>
              </a:spcAft>
            </a:pPr>
            <a:r>
              <a:rPr sz="990" b="0" i="0">
                <a:solidFill>
                  <a:srgbClr val="3A4356"/>
                </a:solidFill>
                <a:latin typeface="Calibri"/>
              </a:rPr>
              <a:t>The four checks and the questions the engineer confirms. Part of the scope, not an addition.</a:t>
            </a:r>
          </a:p>
        </p:txBody>
      </p:sp>
      <p:sp>
        <p:nvSpPr>
          <p:cNvPr id="29" name="Rounded Rectangle 28"/>
          <p:cNvSpPr/>
          <p:nvPr/>
        </p:nvSpPr>
        <p:spPr>
          <a:xfrm>
            <a:off x="411480" y="5001768"/>
            <a:ext cx="11365992" cy="722376"/>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001768"/>
            <a:ext cx="68580" cy="72237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58368" y="5138928"/>
            <a:ext cx="438912" cy="438912"/>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5</a:t>
            </a:r>
          </a:p>
        </p:txBody>
      </p:sp>
      <p:sp>
        <p:nvSpPr>
          <p:cNvPr id="32" name="TextBox 31"/>
          <p:cNvSpPr txBox="1"/>
          <p:nvPr/>
        </p:nvSpPr>
        <p:spPr>
          <a:xfrm>
            <a:off x="1298448" y="5102352"/>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Connect into CAPEE</a:t>
            </a:r>
          </a:p>
        </p:txBody>
      </p:sp>
      <p:sp>
        <p:nvSpPr>
          <p:cNvPr id="33" name="TextBox 32"/>
          <p:cNvSpPr txBox="1"/>
          <p:nvPr/>
        </p:nvSpPr>
        <p:spPr>
          <a:xfrm>
            <a:off x="1298448" y="5394960"/>
            <a:ext cx="10241280" cy="274320"/>
          </a:xfrm>
          <a:prstGeom prst="rect">
            <a:avLst/>
          </a:prstGeom>
          <a:noFill/>
        </p:spPr>
        <p:txBody>
          <a:bodyPr wrap="square" anchor="t" lIns="0" rIns="0" tIns="0" bIns="0">
            <a:spAutoFit/>
          </a:bodyPr>
          <a:lstStyle/>
          <a:p>
            <a:pPr algn="l">
              <a:lnSpc>
                <a:spcPct val="100000"/>
              </a:lnSpc>
              <a:spcAft>
                <a:spcPts val="400"/>
              </a:spcAft>
            </a:pPr>
            <a:r>
              <a:rPr sz="990" b="0" i="0">
                <a:solidFill>
                  <a:srgbClr val="3A4356"/>
                </a:solidFill>
                <a:latin typeface="Calibri"/>
              </a:rPr>
              <a:t>Wire it in. Route the drawing reading through a JLR-approved AI service. Cost one real part end to end.</a:t>
            </a:r>
          </a:p>
        </p:txBody>
      </p:sp>
      <p:sp>
        <p:nvSpPr>
          <p:cNvPr id="34" name="Rounded Rectangle 33"/>
          <p:cNvSpPr/>
          <p:nvPr/>
        </p:nvSpPr>
        <p:spPr>
          <a:xfrm>
            <a:off x="411480" y="5806440"/>
            <a:ext cx="11365992" cy="722376"/>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5806440"/>
            <a:ext cx="68580" cy="72237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58368" y="5943600"/>
            <a:ext cx="438912" cy="438912"/>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6</a:t>
            </a:r>
          </a:p>
        </p:txBody>
      </p:sp>
      <p:sp>
        <p:nvSpPr>
          <p:cNvPr id="37" name="TextBox 36"/>
          <p:cNvSpPr txBox="1"/>
          <p:nvPr/>
        </p:nvSpPr>
        <p:spPr>
          <a:xfrm>
            <a:off x="1298448" y="5907024"/>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Trial on one part type</a:t>
            </a:r>
          </a:p>
        </p:txBody>
      </p:sp>
      <p:sp>
        <p:nvSpPr>
          <p:cNvPr id="38" name="TextBox 37"/>
          <p:cNvSpPr txBox="1"/>
          <p:nvPr/>
        </p:nvSpPr>
        <p:spPr>
          <a:xfrm>
            <a:off x="1298448" y="6199632"/>
            <a:ext cx="10241280" cy="274320"/>
          </a:xfrm>
          <a:prstGeom prst="rect">
            <a:avLst/>
          </a:prstGeom>
          <a:noFill/>
        </p:spPr>
        <p:txBody>
          <a:bodyPr wrap="square" anchor="t" lIns="0" rIns="0" tIns="0" bIns="0">
            <a:spAutoFit/>
          </a:bodyPr>
          <a:lstStyle/>
          <a:p>
            <a:pPr algn="l">
              <a:lnSpc>
                <a:spcPct val="100000"/>
              </a:lnSpc>
              <a:spcAft>
                <a:spcPts val="400"/>
              </a:spcAft>
            </a:pPr>
            <a:r>
              <a:rPr sz="990" b="0" i="0">
                <a:solidFill>
                  <a:srgbClr val="3A4356"/>
                </a:solidFill>
                <a:latin typeface="Calibri"/>
              </a:rPr>
              <a:t>One team, one part type, 30 parts or more. Measure how well the measuring actually performs.</a:t>
            </a:r>
          </a:p>
        </p:txBody>
      </p:sp>
      <p:sp>
        <p:nvSpPr>
          <p:cNvPr id="39" name="Rounded Rectangle 38"/>
          <p:cNvSpPr/>
          <p:nvPr/>
        </p:nvSpPr>
        <p:spPr>
          <a:xfrm>
            <a:off x="411480" y="5815584"/>
            <a:ext cx="5577840" cy="749808"/>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11480" y="5815584"/>
            <a:ext cx="68580" cy="7498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0936" y="5934456"/>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Steps 1 and 2 can start together</a:t>
            </a:r>
          </a:p>
        </p:txBody>
      </p:sp>
      <p:sp>
        <p:nvSpPr>
          <p:cNvPr id="42" name="TextBox 41"/>
          <p:cNvSpPr txBox="1"/>
          <p:nvPr/>
        </p:nvSpPr>
        <p:spPr>
          <a:xfrm>
            <a:off x="630936" y="6217920"/>
            <a:ext cx="5166360"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Standing up the measuring software does not depend on knowing how CAPEE is built. Only step 5 does.</a:t>
            </a:r>
          </a:p>
        </p:txBody>
      </p:sp>
      <p:sp>
        <p:nvSpPr>
          <p:cNvPr id="43" name="Rounded Rectangle 42"/>
          <p:cNvSpPr/>
          <p:nvPr/>
        </p:nvSpPr>
        <p:spPr>
          <a:xfrm>
            <a:off x="6199632" y="5815584"/>
            <a:ext cx="5577840" cy="749808"/>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99632" y="5815584"/>
            <a:ext cx="68580" cy="749808"/>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19088" y="5934456"/>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Start with one part type</a:t>
            </a:r>
          </a:p>
        </p:txBody>
      </p:sp>
      <p:sp>
        <p:nvSpPr>
          <p:cNvPr id="46" name="TextBox 45"/>
          <p:cNvSpPr txBox="1"/>
          <p:nvPr/>
        </p:nvSpPr>
        <p:spPr>
          <a:xfrm>
            <a:off x="6419088" y="6217920"/>
            <a:ext cx="5166360"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Machined parts or pressings first: most of our volume and the best understood shapes. Widen once it holds 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CostVision on JLR rates</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happens each time an engineer costs a part</a:t>
            </a:r>
          </a:p>
        </p:txBody>
      </p:sp>
      <p:sp>
        <p:nvSpPr>
          <p:cNvPr id="10" name="Rounded Rectangle 9"/>
          <p:cNvSpPr/>
          <p:nvPr/>
        </p:nvSpPr>
        <p:spPr>
          <a:xfrm>
            <a:off x="41148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82980"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pload.png"/>
          <p:cNvPicPr>
            <a:picLocks noChangeAspect="1"/>
          </p:cNvPicPr>
          <p:nvPr/>
        </p:nvPicPr>
        <p:blipFill>
          <a:blip r:embed="rId2"/>
          <a:stretch>
            <a:fillRect/>
          </a:stretch>
        </p:blipFill>
        <p:spPr>
          <a:xfrm>
            <a:off x="1130381" y="2140793"/>
            <a:ext cx="272126" cy="272126"/>
          </a:xfrm>
          <a:prstGeom prst="rect">
            <a:avLst/>
          </a:prstGeom>
        </p:spPr>
      </p:pic>
      <p:sp>
        <p:nvSpPr>
          <p:cNvPr id="14" name="TextBox 13"/>
          <p:cNvSpPr txBox="1"/>
          <p:nvPr/>
        </p:nvSpPr>
        <p:spPr>
          <a:xfrm>
            <a:off x="48463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Engineer opens CostVision</a:t>
            </a:r>
          </a:p>
        </p:txBody>
      </p:sp>
      <p:sp>
        <p:nvSpPr>
          <p:cNvPr id="15" name="TextBox 14"/>
          <p:cNvSpPr txBox="1"/>
          <p:nvPr/>
        </p:nvSpPr>
        <p:spPr>
          <a:xfrm>
            <a:off x="48463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Signs in with a JLR login</a:t>
            </a:r>
          </a:p>
        </p:txBody>
      </p:sp>
      <p:sp>
        <p:nvSpPr>
          <p:cNvPr id="16" name="Right Arrow 15"/>
          <p:cNvSpPr/>
          <p:nvPr/>
        </p:nvSpPr>
        <p:spPr>
          <a:xfrm>
            <a:off x="2139696"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95144"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295144"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866644"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ube.png"/>
          <p:cNvPicPr>
            <a:picLocks noChangeAspect="1"/>
          </p:cNvPicPr>
          <p:nvPr/>
        </p:nvPicPr>
        <p:blipFill>
          <a:blip r:embed="rId3"/>
          <a:stretch>
            <a:fillRect/>
          </a:stretch>
        </p:blipFill>
        <p:spPr>
          <a:xfrm>
            <a:off x="3014045" y="2140793"/>
            <a:ext cx="272126" cy="272126"/>
          </a:xfrm>
          <a:prstGeom prst="rect">
            <a:avLst/>
          </a:prstGeom>
        </p:spPr>
      </p:pic>
      <p:sp>
        <p:nvSpPr>
          <p:cNvPr id="21" name="TextBox 20"/>
          <p:cNvSpPr txBox="1"/>
          <p:nvPr/>
        </p:nvSpPr>
        <p:spPr>
          <a:xfrm>
            <a:off x="2368296"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Supplies the part</a:t>
            </a:r>
          </a:p>
        </p:txBody>
      </p:sp>
      <p:sp>
        <p:nvSpPr>
          <p:cNvPr id="22" name="TextBox 21"/>
          <p:cNvSpPr txBox="1"/>
          <p:nvPr/>
        </p:nvSpPr>
        <p:spPr>
          <a:xfrm>
            <a:off x="2368296"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3D model where there is one, otherwise the form</a:t>
            </a:r>
          </a:p>
        </p:txBody>
      </p:sp>
      <p:sp>
        <p:nvSpPr>
          <p:cNvPr id="23" name="Right Arrow 22"/>
          <p:cNvSpPr/>
          <p:nvPr/>
        </p:nvSpPr>
        <p:spPr>
          <a:xfrm>
            <a:off x="4023360"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78808"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78808"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750308"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g.png"/>
          <p:cNvPicPr>
            <a:picLocks noChangeAspect="1"/>
          </p:cNvPicPr>
          <p:nvPr/>
        </p:nvPicPr>
        <p:blipFill>
          <a:blip r:embed="rId4"/>
          <a:stretch>
            <a:fillRect/>
          </a:stretch>
        </p:blipFill>
        <p:spPr>
          <a:xfrm>
            <a:off x="4897709" y="2140793"/>
            <a:ext cx="272126" cy="272126"/>
          </a:xfrm>
          <a:prstGeom prst="rect">
            <a:avLst/>
          </a:prstGeom>
        </p:spPr>
      </p:pic>
      <p:sp>
        <p:nvSpPr>
          <p:cNvPr id="28" name="TextBox 27"/>
          <p:cNvSpPr txBox="1"/>
          <p:nvPr/>
        </p:nvSpPr>
        <p:spPr>
          <a:xfrm>
            <a:off x="4251960"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Selects the part type</a:t>
            </a:r>
          </a:p>
        </p:txBody>
      </p:sp>
      <p:sp>
        <p:nvSpPr>
          <p:cNvPr id="29" name="TextBox 28"/>
          <p:cNvSpPr txBox="1"/>
          <p:nvPr/>
        </p:nvSpPr>
        <p:spPr>
          <a:xfrm>
            <a:off x="4251960"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Machined, pressed, cast, forged, moulded</a:t>
            </a:r>
          </a:p>
        </p:txBody>
      </p:sp>
      <p:sp>
        <p:nvSpPr>
          <p:cNvPr id="30" name="Right Arrow 29"/>
          <p:cNvSpPr/>
          <p:nvPr/>
        </p:nvSpPr>
        <p:spPr>
          <a:xfrm>
            <a:off x="5907024"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062472"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62472"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33972"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coins.png"/>
          <p:cNvPicPr>
            <a:picLocks noChangeAspect="1"/>
          </p:cNvPicPr>
          <p:nvPr/>
        </p:nvPicPr>
        <p:blipFill>
          <a:blip r:embed="rId5"/>
          <a:stretch>
            <a:fillRect/>
          </a:stretch>
        </p:blipFill>
        <p:spPr>
          <a:xfrm>
            <a:off x="6781373" y="2140793"/>
            <a:ext cx="272126" cy="272126"/>
          </a:xfrm>
          <a:prstGeom prst="rect">
            <a:avLst/>
          </a:prstGeom>
        </p:spPr>
      </p:pic>
      <p:sp>
        <p:nvSpPr>
          <p:cNvPr id="35" name="TextBox 34"/>
          <p:cNvSpPr txBox="1"/>
          <p:nvPr/>
        </p:nvSpPr>
        <p:spPr>
          <a:xfrm>
            <a:off x="6135624"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JLR rates are applied</a:t>
            </a:r>
          </a:p>
        </p:txBody>
      </p:sp>
      <p:sp>
        <p:nvSpPr>
          <p:cNvPr id="36" name="TextBox 35"/>
          <p:cNvSpPr txBox="1"/>
          <p:nvPr/>
        </p:nvSpPr>
        <p:spPr>
          <a:xfrm>
            <a:off x="6135624"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Our own material, machine, labour and energy costs</a:t>
            </a:r>
          </a:p>
        </p:txBody>
      </p:sp>
      <p:sp>
        <p:nvSpPr>
          <p:cNvPr id="37" name="Right Arrow 36"/>
          <p:cNvSpPr/>
          <p:nvPr/>
        </p:nvSpPr>
        <p:spPr>
          <a:xfrm>
            <a:off x="7790688"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946136"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46136"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517636"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calc.png"/>
          <p:cNvPicPr>
            <a:picLocks noChangeAspect="1"/>
          </p:cNvPicPr>
          <p:nvPr/>
        </p:nvPicPr>
        <p:blipFill>
          <a:blip r:embed="rId6"/>
          <a:stretch>
            <a:fillRect/>
          </a:stretch>
        </p:blipFill>
        <p:spPr>
          <a:xfrm>
            <a:off x="8665037" y="2140793"/>
            <a:ext cx="272126" cy="272126"/>
          </a:xfrm>
          <a:prstGeom prst="rect">
            <a:avLst/>
          </a:prstGeom>
        </p:spPr>
      </p:pic>
      <p:sp>
        <p:nvSpPr>
          <p:cNvPr id="42" name="TextBox 41"/>
          <p:cNvSpPr txBox="1"/>
          <p:nvPr/>
        </p:nvSpPr>
        <p:spPr>
          <a:xfrm>
            <a:off x="8019288"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Cost is calculated</a:t>
            </a:r>
          </a:p>
        </p:txBody>
      </p:sp>
      <p:sp>
        <p:nvSpPr>
          <p:cNvPr id="43" name="TextBox 42"/>
          <p:cNvSpPr txBox="1"/>
          <p:nvPr/>
        </p:nvSpPr>
        <p:spPr>
          <a:xfrm>
            <a:off x="8019288"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Eight cost buckets, every figure traceable</a:t>
            </a:r>
          </a:p>
        </p:txBody>
      </p:sp>
      <p:sp>
        <p:nvSpPr>
          <p:cNvPr id="44" name="Right Arrow 43"/>
          <p:cNvSpPr/>
          <p:nvPr/>
        </p:nvSpPr>
        <p:spPr>
          <a:xfrm>
            <a:off x="9674352"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82980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829800"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401300"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lip.png"/>
          <p:cNvPicPr>
            <a:picLocks noChangeAspect="1"/>
          </p:cNvPicPr>
          <p:nvPr/>
        </p:nvPicPr>
        <p:blipFill>
          <a:blip r:embed="rId7"/>
          <a:stretch>
            <a:fillRect/>
          </a:stretch>
        </p:blipFill>
        <p:spPr>
          <a:xfrm>
            <a:off x="10548701" y="2140793"/>
            <a:ext cx="272126" cy="272126"/>
          </a:xfrm>
          <a:prstGeom prst="rect">
            <a:avLst/>
          </a:prstGeom>
        </p:spPr>
      </p:pic>
      <p:sp>
        <p:nvSpPr>
          <p:cNvPr id="49" name="TextBox 48"/>
          <p:cNvSpPr txBox="1"/>
          <p:nvPr/>
        </p:nvSpPr>
        <p:spPr>
          <a:xfrm>
            <a:off x="990295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Report is produced</a:t>
            </a:r>
          </a:p>
        </p:txBody>
      </p:sp>
      <p:sp>
        <p:nvSpPr>
          <p:cNvPr id="50" name="TextBox 49"/>
          <p:cNvSpPr txBox="1"/>
          <p:nvPr/>
        </p:nvSpPr>
        <p:spPr>
          <a:xfrm>
            <a:off x="990295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PDF or Excel for a supplier discussion</a:t>
            </a:r>
          </a:p>
        </p:txBody>
      </p:sp>
      <p:sp>
        <p:nvSpPr>
          <p:cNvPr id="51" name="TextBox 50"/>
          <p:cNvSpPr txBox="1"/>
          <p:nvPr/>
        </p:nvSpPr>
        <p:spPr>
          <a:xfrm>
            <a:off x="411480" y="3886200"/>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The order the setup has to happen in</a:t>
            </a:r>
          </a:p>
        </p:txBody>
      </p:sp>
      <p:sp>
        <p:nvSpPr>
          <p:cNvPr id="52" name="Chevron 51"/>
          <p:cNvSpPr/>
          <p:nvPr/>
        </p:nvSpPr>
        <p:spPr>
          <a:xfrm>
            <a:off x="411480" y="4187952"/>
            <a:ext cx="2258568" cy="548640"/>
          </a:xfrm>
          <a:prstGeom prst="chevron">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IT security review</a:t>
            </a:r>
          </a:p>
        </p:txBody>
      </p:sp>
      <p:sp>
        <p:nvSpPr>
          <p:cNvPr id="53" name="Chevron 52"/>
          <p:cNvSpPr/>
          <p:nvPr/>
        </p:nvSpPr>
        <p:spPr>
          <a:xfrm>
            <a:off x="2633472" y="4187952"/>
            <a:ext cx="2258568" cy="548640"/>
          </a:xfrm>
          <a:prstGeom prst="chevron">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Install and connect logins</a:t>
            </a:r>
          </a:p>
        </p:txBody>
      </p:sp>
      <p:sp>
        <p:nvSpPr>
          <p:cNvPr id="54" name="Chevron 53"/>
          <p:cNvSpPr/>
          <p:nvPr/>
        </p:nvSpPr>
        <p:spPr>
          <a:xfrm>
            <a:off x="4855464" y="4187952"/>
            <a:ext cx="2258568" cy="548640"/>
          </a:xfrm>
          <a:prstGeom prst="chevron">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Load JLR rates</a:t>
            </a:r>
          </a:p>
        </p:txBody>
      </p:sp>
      <p:sp>
        <p:nvSpPr>
          <p:cNvPr id="55" name="Chevron 54"/>
          <p:cNvSpPr/>
          <p:nvPr/>
        </p:nvSpPr>
        <p:spPr>
          <a:xfrm>
            <a:off x="7077456" y="4187952"/>
            <a:ext cx="2258568" cy="548640"/>
          </a:xfrm>
          <a:prstGeom prst="chevron">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Check against real parts</a:t>
            </a:r>
          </a:p>
        </p:txBody>
      </p:sp>
      <p:sp>
        <p:nvSpPr>
          <p:cNvPr id="56" name="Chevron 55"/>
          <p:cNvSpPr/>
          <p:nvPr/>
        </p:nvSpPr>
        <p:spPr>
          <a:xfrm>
            <a:off x="9299448" y="4187952"/>
            <a:ext cx="2258568" cy="548640"/>
          </a:xfrm>
          <a:prstGeom prst="chevron">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Trial with one team</a:t>
            </a:r>
          </a:p>
        </p:txBody>
      </p:sp>
      <p:sp>
        <p:nvSpPr>
          <p:cNvPr id="57" name="Rectangle 56"/>
          <p:cNvSpPr/>
          <p:nvPr/>
        </p:nvSpPr>
        <p:spPr>
          <a:xfrm>
            <a:off x="411480" y="4919472"/>
            <a:ext cx="11365992" cy="5486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11480" y="4919472"/>
            <a:ext cx="1371600" cy="5486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11480" y="4919472"/>
            <a:ext cx="13716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WE DO</a:t>
            </a:r>
          </a:p>
        </p:txBody>
      </p:sp>
      <p:sp>
        <p:nvSpPr>
          <p:cNvPr id="60" name="TextBox 59"/>
          <p:cNvSpPr txBox="1"/>
          <p:nvPr/>
        </p:nvSpPr>
        <p:spPr>
          <a:xfrm>
            <a:off x="1892808"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Install on a JLR server</a:t>
            </a:r>
          </a:p>
        </p:txBody>
      </p:sp>
      <p:sp>
        <p:nvSpPr>
          <p:cNvPr id="61" name="Rectangle 60"/>
          <p:cNvSpPr/>
          <p:nvPr/>
        </p:nvSpPr>
        <p:spPr>
          <a:xfrm>
            <a:off x="4281678"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391406"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Connect JLR sign-on</a:t>
            </a:r>
          </a:p>
        </p:txBody>
      </p:sp>
      <p:sp>
        <p:nvSpPr>
          <p:cNvPr id="63" name="Rectangle 62"/>
          <p:cNvSpPr/>
          <p:nvPr/>
        </p:nvSpPr>
        <p:spPr>
          <a:xfrm>
            <a:off x="6780276"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90004"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Load the rates supplied</a:t>
            </a:r>
          </a:p>
        </p:txBody>
      </p:sp>
      <p:sp>
        <p:nvSpPr>
          <p:cNvPr id="65" name="Rectangle 64"/>
          <p:cNvSpPr/>
          <p:nvPr/>
        </p:nvSpPr>
        <p:spPr>
          <a:xfrm>
            <a:off x="9278874"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388602"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Run the accuracy comparison</a:t>
            </a:r>
          </a:p>
        </p:txBody>
      </p:sp>
      <p:sp>
        <p:nvSpPr>
          <p:cNvPr id="67" name="Rectangle 66"/>
          <p:cNvSpPr/>
          <p:nvPr/>
        </p:nvSpPr>
        <p:spPr>
          <a:xfrm>
            <a:off x="411480" y="5504688"/>
            <a:ext cx="11365992" cy="5486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11480" y="5504688"/>
            <a:ext cx="1371600" cy="54864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11480" y="5504688"/>
            <a:ext cx="13716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JLR DOES</a:t>
            </a:r>
          </a:p>
        </p:txBody>
      </p:sp>
      <p:sp>
        <p:nvSpPr>
          <p:cNvPr id="70" name="TextBox 69"/>
          <p:cNvSpPr txBox="1"/>
          <p:nvPr/>
        </p:nvSpPr>
        <p:spPr>
          <a:xfrm>
            <a:off x="1892808"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Security sign-off</a:t>
            </a:r>
          </a:p>
        </p:txBody>
      </p:sp>
      <p:sp>
        <p:nvSpPr>
          <p:cNvPr id="71" name="Rectangle 70"/>
          <p:cNvSpPr/>
          <p:nvPr/>
        </p:nvSpPr>
        <p:spPr>
          <a:xfrm>
            <a:off x="4281678"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391406"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Provide a server</a:t>
            </a:r>
          </a:p>
        </p:txBody>
      </p:sp>
      <p:sp>
        <p:nvSpPr>
          <p:cNvPr id="73" name="Rectangle 72"/>
          <p:cNvSpPr/>
          <p:nvPr/>
        </p:nvSpPr>
        <p:spPr>
          <a:xfrm>
            <a:off x="6780276"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890004"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Collect the rate data</a:t>
            </a:r>
          </a:p>
        </p:txBody>
      </p:sp>
      <p:sp>
        <p:nvSpPr>
          <p:cNvPr id="75" name="Rectangle 74"/>
          <p:cNvSpPr/>
          <p:nvPr/>
        </p:nvSpPr>
        <p:spPr>
          <a:xfrm>
            <a:off x="9278874"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388602"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Supply parts with real prices</a:t>
            </a:r>
          </a:p>
        </p:txBody>
      </p:sp>
      <p:sp>
        <p:nvSpPr>
          <p:cNvPr id="77" name="Rounded Rectangle 76"/>
          <p:cNvSpPr/>
          <p:nvPr/>
        </p:nvSpPr>
        <p:spPr>
          <a:xfrm>
            <a:off x="411480" y="6144768"/>
            <a:ext cx="11365992" cy="54864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411480" y="6144768"/>
            <a:ext cx="68580" cy="54864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30936" y="626364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The software is the small part</a:t>
            </a:r>
          </a:p>
        </p:txBody>
      </p:sp>
      <p:sp>
        <p:nvSpPr>
          <p:cNvPr id="80" name="TextBox 79"/>
          <p:cNvSpPr txBox="1"/>
          <p:nvPr/>
        </p:nvSpPr>
        <p:spPr>
          <a:xfrm>
            <a:off x="630936" y="6547104"/>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Collecting our own rate data is the step that governs everything else, and it sits with us rather than with the tool.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DETAIL</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is replaced with JLR data</a:t>
            </a:r>
          </a:p>
        </p:txBody>
      </p:sp>
      <p:sp>
        <p:nvSpPr>
          <p:cNvPr id="9" name="Rounded Rectangle 8"/>
          <p:cNvSpPr/>
          <p:nvPr/>
        </p:nvSpPr>
        <p:spPr>
          <a:xfrm>
            <a:off x="411480" y="1737360"/>
            <a:ext cx="3657600" cy="246888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37360"/>
            <a:ext cx="68580" cy="24688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865376"/>
            <a:ext cx="329184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UNCHANGED</a:t>
            </a:r>
          </a:p>
        </p:txBody>
      </p:sp>
      <p:sp>
        <p:nvSpPr>
          <p:cNvPr id="12" name="TextBox 11"/>
          <p:cNvSpPr txBox="1"/>
          <p:nvPr/>
        </p:nvSpPr>
        <p:spPr>
          <a:xfrm>
            <a:off x="612648" y="2176272"/>
            <a:ext cx="3291840" cy="19202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All 19 part types</a:t>
            </a:r>
          </a:p>
          <a:p>
            <a:pPr algn="l">
              <a:lnSpc>
                <a:spcPct val="112000"/>
              </a:lnSpc>
              <a:spcAft>
                <a:spcPts val="300"/>
              </a:spcAft>
            </a:pPr>
            <a:r>
              <a:rPr sz="1050" b="0" i="0">
                <a:solidFill>
                  <a:srgbClr val="3A4356"/>
                </a:solidFill>
                <a:latin typeface="Calibri"/>
              </a:rPr>
              <a:t>The costing maths</a:t>
            </a:r>
          </a:p>
          <a:p>
            <a:pPr algn="l">
              <a:lnSpc>
                <a:spcPct val="112000"/>
              </a:lnSpc>
              <a:spcAft>
                <a:spcPts val="300"/>
              </a:spcAft>
            </a:pPr>
            <a:r>
              <a:rPr sz="1050" b="0" i="0">
                <a:solidFill>
                  <a:srgbClr val="3A4356"/>
                </a:solidFill>
                <a:latin typeface="Calibri"/>
              </a:rPr>
              <a:t>Reading 3D models and drawings</a:t>
            </a:r>
          </a:p>
          <a:p>
            <a:pPr algn="l">
              <a:lnSpc>
                <a:spcPct val="112000"/>
              </a:lnSpc>
              <a:spcAft>
                <a:spcPts val="300"/>
              </a:spcAft>
            </a:pPr>
            <a:r>
              <a:rPr sz="1050" b="0" i="0">
                <a:solidFill>
                  <a:srgbClr val="3A4356"/>
                </a:solidFill>
                <a:latin typeface="Calibri"/>
              </a:rPr>
              <a:t>The safety checks</a:t>
            </a:r>
          </a:p>
          <a:p>
            <a:pPr algn="l">
              <a:lnSpc>
                <a:spcPct val="112000"/>
              </a:lnSpc>
              <a:spcAft>
                <a:spcPts val="300"/>
              </a:spcAft>
            </a:pPr>
            <a:r>
              <a:rPr sz="1050" b="0" i="0">
                <a:solidFill>
                  <a:srgbClr val="3A4356"/>
                </a:solidFill>
                <a:latin typeface="Calibri"/>
              </a:rPr>
              <a:t>PDF and Excel reports</a:t>
            </a:r>
          </a:p>
          <a:p>
            <a:pPr algn="l">
              <a:lnSpc>
                <a:spcPct val="112000"/>
              </a:lnSpc>
              <a:spcAft>
                <a:spcPts val="300"/>
              </a:spcAft>
            </a:pPr>
            <a:r>
              <a:rPr sz="1050" b="0" i="0">
                <a:solidFill>
                  <a:srgbClr val="3A4356"/>
                </a:solidFill>
                <a:latin typeface="Calibri"/>
              </a:rPr>
              <a:t>Design-for-cost findings</a:t>
            </a:r>
          </a:p>
        </p:txBody>
      </p:sp>
      <p:sp>
        <p:nvSpPr>
          <p:cNvPr id="13" name="Rounded Rectangle 12"/>
          <p:cNvSpPr/>
          <p:nvPr/>
        </p:nvSpPr>
        <p:spPr>
          <a:xfrm>
            <a:off x="4233672" y="1737360"/>
            <a:ext cx="3657600" cy="24688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33672" y="1737360"/>
            <a:ext cx="68580" cy="24688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1865376"/>
            <a:ext cx="329184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REPLACED WITH JLR DATA</a:t>
            </a:r>
          </a:p>
        </p:txBody>
      </p:sp>
      <p:sp>
        <p:nvSpPr>
          <p:cNvPr id="16" name="TextBox 15"/>
          <p:cNvSpPr txBox="1"/>
          <p:nvPr/>
        </p:nvSpPr>
        <p:spPr>
          <a:xfrm>
            <a:off x="4434840" y="2176272"/>
            <a:ext cx="3291840" cy="19202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Material prices</a:t>
            </a:r>
          </a:p>
          <a:p>
            <a:pPr algn="l">
              <a:lnSpc>
                <a:spcPct val="112000"/>
              </a:lnSpc>
              <a:spcAft>
                <a:spcPts val="300"/>
              </a:spcAft>
            </a:pPr>
            <a:r>
              <a:rPr sz="1050" b="0" i="0">
                <a:solidFill>
                  <a:srgbClr val="3A4356"/>
                </a:solidFill>
                <a:latin typeface="Calibri"/>
              </a:rPr>
              <a:t>Machine rates per hour</a:t>
            </a:r>
          </a:p>
          <a:p>
            <a:pPr algn="l">
              <a:lnSpc>
                <a:spcPct val="112000"/>
              </a:lnSpc>
              <a:spcAft>
                <a:spcPts val="300"/>
              </a:spcAft>
            </a:pPr>
            <a:r>
              <a:rPr sz="1050" b="0" i="0">
                <a:solidFill>
                  <a:srgbClr val="3A4356"/>
                </a:solidFill>
                <a:latin typeface="Calibri"/>
              </a:rPr>
              <a:t>Labour rates by grade</a:t>
            </a:r>
          </a:p>
          <a:p>
            <a:pPr algn="l">
              <a:lnSpc>
                <a:spcPct val="112000"/>
              </a:lnSpc>
              <a:spcAft>
                <a:spcPts val="300"/>
              </a:spcAft>
            </a:pPr>
            <a:r>
              <a:rPr sz="1050" b="0" i="0">
                <a:solidFill>
                  <a:srgbClr val="3A4356"/>
                </a:solidFill>
                <a:latin typeface="Calibri"/>
              </a:rPr>
              <a:t>Electricity and gas prices</a:t>
            </a:r>
          </a:p>
          <a:p>
            <a:pPr algn="l">
              <a:lnSpc>
                <a:spcPct val="112000"/>
              </a:lnSpc>
              <a:spcAft>
                <a:spcPts val="300"/>
              </a:spcAft>
            </a:pPr>
            <a:r>
              <a:rPr sz="1050" b="0" i="0">
                <a:solidFill>
                  <a:srgbClr val="3A4356"/>
                </a:solidFill>
                <a:latin typeface="Calibri"/>
              </a:rPr>
              <a:t>Overhead and margin policy</a:t>
            </a:r>
          </a:p>
          <a:p>
            <a:pPr algn="l">
              <a:lnSpc>
                <a:spcPct val="112000"/>
              </a:lnSpc>
              <a:spcAft>
                <a:spcPts val="300"/>
              </a:spcAft>
            </a:pPr>
            <a:r>
              <a:rPr sz="1050" b="0" i="0">
                <a:solidFill>
                  <a:srgbClr val="3A4356"/>
                </a:solidFill>
                <a:latin typeface="Calibri"/>
              </a:rPr>
              <a:t>Rates for the countries we buy from</a:t>
            </a:r>
          </a:p>
        </p:txBody>
      </p:sp>
      <p:sp>
        <p:nvSpPr>
          <p:cNvPr id="17" name="Rounded Rectangle 16"/>
          <p:cNvSpPr/>
          <p:nvPr/>
        </p:nvSpPr>
        <p:spPr>
          <a:xfrm>
            <a:off x="8055864" y="1737360"/>
            <a:ext cx="3721608" cy="24688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55864" y="1737360"/>
            <a:ext cx="68580" cy="24688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2" y="1865376"/>
            <a:ext cx="3355848"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TO BE ADDED · not built yet</a:t>
            </a:r>
          </a:p>
        </p:txBody>
      </p:sp>
      <p:sp>
        <p:nvSpPr>
          <p:cNvPr id="20" name="TextBox 19"/>
          <p:cNvSpPr txBox="1"/>
          <p:nvPr/>
        </p:nvSpPr>
        <p:spPr>
          <a:xfrm>
            <a:off x="8257032" y="2176272"/>
            <a:ext cx="3355848" cy="19202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JLR single sign-on</a:t>
            </a:r>
          </a:p>
          <a:p>
            <a:pPr algn="l">
              <a:lnSpc>
                <a:spcPct val="112000"/>
              </a:lnSpc>
              <a:spcAft>
                <a:spcPts val="300"/>
              </a:spcAft>
            </a:pPr>
            <a:r>
              <a:rPr sz="1050" b="0" i="0">
                <a:solidFill>
                  <a:srgbClr val="3A4356"/>
                </a:solidFill>
                <a:latin typeface="Calibri"/>
              </a:rPr>
              <a:t>A shared database</a:t>
            </a:r>
          </a:p>
          <a:p>
            <a:pPr algn="l">
              <a:lnSpc>
                <a:spcPct val="112000"/>
              </a:lnSpc>
              <a:spcAft>
                <a:spcPts val="300"/>
              </a:spcAft>
            </a:pPr>
            <a:r>
              <a:rPr sz="1050" b="0" i="0">
                <a:solidFill>
                  <a:srgbClr val="3A4356"/>
                </a:solidFill>
                <a:latin typeface="Calibri"/>
              </a:rPr>
              <a:t>AI routed through a JLR service</a:t>
            </a:r>
          </a:p>
          <a:p>
            <a:pPr algn="l">
              <a:lnSpc>
                <a:spcPct val="112000"/>
              </a:lnSpc>
              <a:spcAft>
                <a:spcPts val="300"/>
              </a:spcAft>
            </a:pPr>
            <a:r>
              <a:rPr sz="1050" b="0" i="0">
                <a:solidFill>
                  <a:srgbClr val="3A4356"/>
                </a:solidFill>
                <a:latin typeface="Calibri"/>
              </a:rPr>
              <a:t>History of every rate change</a:t>
            </a:r>
          </a:p>
          <a:p>
            <a:pPr algn="l">
              <a:lnSpc>
                <a:spcPct val="112000"/>
              </a:lnSpc>
              <a:spcAft>
                <a:spcPts val="300"/>
              </a:spcAft>
            </a:pPr>
            <a:r>
              <a:rPr sz="1050" b="0" i="0">
                <a:solidFill>
                  <a:srgbClr val="3A4356"/>
                </a:solidFill>
                <a:latin typeface="Calibri"/>
              </a:rPr>
              <a:t>Costings saved and auditable</a:t>
            </a:r>
          </a:p>
          <a:p>
            <a:pPr algn="l">
              <a:lnSpc>
                <a:spcPct val="112000"/>
              </a:lnSpc>
              <a:spcAft>
                <a:spcPts val="300"/>
              </a:spcAft>
            </a:pPr>
            <a:r>
              <a:rPr sz="1050" b="0" i="0">
                <a:solidFill>
                  <a:srgbClr val="3A4356"/>
                </a:solidFill>
                <a:latin typeface="Calibri"/>
              </a:rPr>
              <a:t>Backups to JLR standard</a:t>
            </a:r>
          </a:p>
        </p:txBody>
      </p:sp>
      <p:sp>
        <p:nvSpPr>
          <p:cNvPr id="21" name="Rounded Rectangle 20"/>
          <p:cNvSpPr/>
          <p:nvPr/>
        </p:nvSpPr>
        <p:spPr>
          <a:xfrm>
            <a:off x="411480" y="4389120"/>
            <a:ext cx="11365992" cy="9144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4389120"/>
            <a:ext cx="68580" cy="9144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 y="45079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Swapping the rates is configuration, not development</a:t>
            </a:r>
          </a:p>
        </p:txBody>
      </p:sp>
      <p:sp>
        <p:nvSpPr>
          <p:cNvPr id="24" name="TextBox 23"/>
          <p:cNvSpPr txBox="1"/>
          <p:nvPr/>
        </p:nvSpPr>
        <p:spPr>
          <a:xfrm>
            <a:off x="630936" y="4791456"/>
            <a:ext cx="10954512"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tool was built so the rate book is handed to it rather than built into it, and an administrator can already upload a rate workbook. Putting JLR numbers in does not change how anything is calculated.</a:t>
            </a:r>
          </a:p>
        </p:txBody>
      </p:sp>
      <p:sp>
        <p:nvSpPr>
          <p:cNvPr id="25" name="Rounded Rectangle 24"/>
          <p:cNvSpPr/>
          <p:nvPr/>
        </p:nvSpPr>
        <p:spPr>
          <a:xfrm>
            <a:off x="411480" y="5440680"/>
            <a:ext cx="11365992" cy="86868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5440680"/>
            <a:ext cx="68580" cy="86868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6" y="555955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The third column is scope, not a wish list</a:t>
            </a:r>
          </a:p>
        </p:txBody>
      </p:sp>
      <p:sp>
        <p:nvSpPr>
          <p:cNvPr id="28" name="TextBox 27"/>
          <p:cNvSpPr txBox="1"/>
          <p:nvPr/>
        </p:nvSpPr>
        <p:spPr>
          <a:xfrm>
            <a:off x="630936" y="5843016"/>
            <a:ext cx="10954512" cy="3657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None of it exists today. Without the rate history and saved costings, a costing produced three months ago cannot be reproduced, which rules the tool out for audit until it is done.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SEQUENCE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order of work</a:t>
            </a:r>
          </a:p>
        </p:txBody>
      </p:sp>
      <p:sp>
        <p:nvSpPr>
          <p:cNvPr id="9" name="Rounded Rectangle 8"/>
          <p:cNvSpPr/>
          <p:nvPr/>
        </p:nvSpPr>
        <p:spPr>
          <a:xfrm>
            <a:off x="411480" y="1828800"/>
            <a:ext cx="11365992" cy="786384"/>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68580" cy="78638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993392"/>
            <a:ext cx="457200" cy="45720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TextBox 11"/>
          <p:cNvSpPr txBox="1"/>
          <p:nvPr/>
        </p:nvSpPr>
        <p:spPr>
          <a:xfrm>
            <a:off x="1325880" y="1956816"/>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IT security review</a:t>
            </a:r>
          </a:p>
        </p:txBody>
      </p:sp>
      <p:sp>
        <p:nvSpPr>
          <p:cNvPr id="13" name="TextBox 12"/>
          <p:cNvSpPr txBox="1"/>
          <p:nvPr/>
        </p:nvSpPr>
        <p:spPr>
          <a:xfrm>
            <a:off x="1325880" y="2258568"/>
            <a:ext cx="10241280" cy="29260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The data-flow document already exists. IT decides how the drawing-reading step is handled.</a:t>
            </a:r>
          </a:p>
        </p:txBody>
      </p:sp>
      <p:sp>
        <p:nvSpPr>
          <p:cNvPr id="14" name="Rounded Rectangle 13"/>
          <p:cNvSpPr/>
          <p:nvPr/>
        </p:nvSpPr>
        <p:spPr>
          <a:xfrm>
            <a:off x="411480" y="2706624"/>
            <a:ext cx="11365992" cy="786384"/>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706624"/>
            <a:ext cx="68580" cy="78638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2871216"/>
            <a:ext cx="457200" cy="45720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7" name="TextBox 16"/>
          <p:cNvSpPr txBox="1"/>
          <p:nvPr/>
        </p:nvSpPr>
        <p:spPr>
          <a:xfrm>
            <a:off x="1325880" y="2834640"/>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Install and connect</a:t>
            </a:r>
          </a:p>
        </p:txBody>
      </p:sp>
      <p:sp>
        <p:nvSpPr>
          <p:cNvPr id="18" name="TextBox 17"/>
          <p:cNvSpPr txBox="1"/>
          <p:nvPr/>
        </p:nvSpPr>
        <p:spPr>
          <a:xfrm>
            <a:off x="1325880" y="3136392"/>
            <a:ext cx="10241280" cy="29260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Put it on a JLR server, connect JLR logins, move to a shared database.</a:t>
            </a:r>
          </a:p>
        </p:txBody>
      </p:sp>
      <p:sp>
        <p:nvSpPr>
          <p:cNvPr id="19" name="Rounded Rectangle 18"/>
          <p:cNvSpPr/>
          <p:nvPr/>
        </p:nvSpPr>
        <p:spPr>
          <a:xfrm>
            <a:off x="411480" y="3584448"/>
            <a:ext cx="11365992" cy="786384"/>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584448"/>
            <a:ext cx="68580" cy="78638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58368" y="3749040"/>
            <a:ext cx="457200" cy="45720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2" name="TextBox 21"/>
          <p:cNvSpPr txBox="1"/>
          <p:nvPr/>
        </p:nvSpPr>
        <p:spPr>
          <a:xfrm>
            <a:off x="1325880" y="3712464"/>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Load JLR rates</a:t>
            </a:r>
          </a:p>
        </p:txBody>
      </p:sp>
      <p:sp>
        <p:nvSpPr>
          <p:cNvPr id="23" name="TextBox 22"/>
          <p:cNvSpPr txBox="1"/>
          <p:nvPr/>
        </p:nvSpPr>
        <p:spPr>
          <a:xfrm>
            <a:off x="1325880" y="4014216"/>
            <a:ext cx="10241280" cy="29260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Materials, machine rates, labour, energy, country factors. This governs the whole sequence and it is ours to do.</a:t>
            </a:r>
          </a:p>
        </p:txBody>
      </p:sp>
      <p:sp>
        <p:nvSpPr>
          <p:cNvPr id="24" name="Rounded Rectangle 23"/>
          <p:cNvSpPr/>
          <p:nvPr/>
        </p:nvSpPr>
        <p:spPr>
          <a:xfrm>
            <a:off x="411480" y="4462272"/>
            <a:ext cx="11365992" cy="786384"/>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68580" cy="78638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4626864"/>
            <a:ext cx="457200" cy="45720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27" name="TextBox 26"/>
          <p:cNvSpPr txBox="1"/>
          <p:nvPr/>
        </p:nvSpPr>
        <p:spPr>
          <a:xfrm>
            <a:off x="1325880" y="4590288"/>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Check against real parts</a:t>
            </a:r>
          </a:p>
        </p:txBody>
      </p:sp>
      <p:sp>
        <p:nvSpPr>
          <p:cNvPr id="28" name="TextBox 27"/>
          <p:cNvSpPr txBox="1"/>
          <p:nvPr/>
        </p:nvSpPr>
        <p:spPr>
          <a:xfrm>
            <a:off x="1325880" y="4892040"/>
            <a:ext cx="10241280" cy="29260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Take 30 to 50 parts already purchased and compare. This is what establishes how accurate it is.</a:t>
            </a:r>
          </a:p>
        </p:txBody>
      </p:sp>
      <p:sp>
        <p:nvSpPr>
          <p:cNvPr id="29" name="Rounded Rectangle 28"/>
          <p:cNvSpPr/>
          <p:nvPr/>
        </p:nvSpPr>
        <p:spPr>
          <a:xfrm>
            <a:off x="411480" y="5340096"/>
            <a:ext cx="11365992" cy="786384"/>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340096"/>
            <a:ext cx="68580" cy="78638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58368" y="5504688"/>
            <a:ext cx="457200" cy="45720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5</a:t>
            </a:r>
          </a:p>
        </p:txBody>
      </p:sp>
      <p:sp>
        <p:nvSpPr>
          <p:cNvPr id="32" name="TextBox 31"/>
          <p:cNvSpPr txBox="1"/>
          <p:nvPr/>
        </p:nvSpPr>
        <p:spPr>
          <a:xfrm>
            <a:off x="1325880" y="5468112"/>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Trial with one team</a:t>
            </a:r>
          </a:p>
        </p:txBody>
      </p:sp>
      <p:sp>
        <p:nvSpPr>
          <p:cNvPr id="33" name="TextBox 32"/>
          <p:cNvSpPr txBox="1"/>
          <p:nvPr/>
        </p:nvSpPr>
        <p:spPr>
          <a:xfrm>
            <a:off x="1325880" y="5769864"/>
            <a:ext cx="10241280" cy="29260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Real parts, run beside CAPEE. Where the two differ, establish why before widening.</a:t>
            </a:r>
          </a:p>
        </p:txBody>
      </p:sp>
      <p:sp>
        <p:nvSpPr>
          <p:cNvPr id="34" name="Rounded Rectangle 33"/>
          <p:cNvSpPr/>
          <p:nvPr/>
        </p:nvSpPr>
        <p:spPr>
          <a:xfrm>
            <a:off x="411480" y="6263640"/>
            <a:ext cx="5577840" cy="4572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6263640"/>
            <a:ext cx="68580" cy="4572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0936" y="63825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Step 3 governs the sequence</a:t>
            </a:r>
          </a:p>
        </p:txBody>
      </p:sp>
      <p:sp>
        <p:nvSpPr>
          <p:cNvPr id="37" name="TextBox 36"/>
          <p:cNvSpPr txBox="1"/>
          <p:nvPr/>
        </p:nvSpPr>
        <p:spPr>
          <a:xfrm>
            <a:off x="630936" y="6665976"/>
            <a:ext cx="5166360"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Everything after it waits on our rate data.</a:t>
            </a:r>
          </a:p>
        </p:txBody>
      </p:sp>
      <p:sp>
        <p:nvSpPr>
          <p:cNvPr id="38" name="Rounded Rectangle 37"/>
          <p:cNvSpPr/>
          <p:nvPr/>
        </p:nvSpPr>
        <p:spPr>
          <a:xfrm>
            <a:off x="6199632" y="6263640"/>
            <a:ext cx="5577840" cy="45720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9632" y="6263640"/>
            <a:ext cx="68580" cy="4572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19088" y="63825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Step 4 is the one that settles the question</a:t>
            </a:r>
          </a:p>
        </p:txBody>
      </p:sp>
      <p:sp>
        <p:nvSpPr>
          <p:cNvPr id="41" name="TextBox 40"/>
          <p:cNvSpPr txBox="1"/>
          <p:nvPr/>
        </p:nvSpPr>
        <p:spPr>
          <a:xfrm>
            <a:off x="6419088" y="6665976"/>
            <a:ext cx="5166360"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It replaces an opinion about accuracy with a measurement.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COMPARISON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two options side by side</a:t>
            </a:r>
          </a:p>
        </p:txBody>
      </p:sp>
      <p:sp>
        <p:nvSpPr>
          <p:cNvPr id="9" name="Rectangle 8"/>
          <p:cNvSpPr/>
          <p:nvPr/>
        </p:nvSpPr>
        <p:spPr>
          <a:xfrm>
            <a:off x="411480" y="1828800"/>
            <a:ext cx="4050791"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911096"/>
            <a:ext cx="3904487" cy="219456"/>
          </a:xfrm>
          <a:prstGeom prst="rect">
            <a:avLst/>
          </a:prstGeom>
          <a:noFill/>
        </p:spPr>
        <p:txBody>
          <a:bodyPr wrap="square" anchor="t" lIns="0" rIns="0" tIns="0" bIns="0">
            <a:spAutoFit/>
          </a:bodyPr>
          <a:lstStyle/>
          <a:p>
            <a:pPr algn="l">
              <a:lnSpc>
                <a:spcPct val="100000"/>
              </a:lnSpc>
              <a:spcAft>
                <a:spcPts val="400"/>
              </a:spcAft>
            </a:pPr>
          </a:p>
        </p:txBody>
      </p:sp>
      <p:sp>
        <p:nvSpPr>
          <p:cNvPr id="11" name="Rectangle 10"/>
          <p:cNvSpPr/>
          <p:nvPr/>
        </p:nvSpPr>
        <p:spPr>
          <a:xfrm>
            <a:off x="4462271" y="1828800"/>
            <a:ext cx="3657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4567" y="1911096"/>
            <a:ext cx="3511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OPTION 1 · feed CAPEE</a:t>
            </a:r>
          </a:p>
        </p:txBody>
      </p:sp>
      <p:sp>
        <p:nvSpPr>
          <p:cNvPr id="13" name="Rectangle 12"/>
          <p:cNvSpPr/>
          <p:nvPr/>
        </p:nvSpPr>
        <p:spPr>
          <a:xfrm>
            <a:off x="8119871" y="1828800"/>
            <a:ext cx="3657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02167" y="1911096"/>
            <a:ext cx="3511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OPTION 2 · CostVision on JLR rates</a:t>
            </a:r>
          </a:p>
        </p:txBody>
      </p:sp>
      <p:sp>
        <p:nvSpPr>
          <p:cNvPr id="15" name="Rectangle 14"/>
          <p:cNvSpPr/>
          <p:nvPr/>
        </p:nvSpPr>
        <p:spPr>
          <a:xfrm>
            <a:off x="411480" y="2157984"/>
            <a:ext cx="4050791"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3776" y="2221992"/>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Which system does the costing</a:t>
            </a:r>
          </a:p>
        </p:txBody>
      </p:sp>
      <p:sp>
        <p:nvSpPr>
          <p:cNvPr id="17" name="Rectangle 16"/>
          <p:cNvSpPr/>
          <p:nvPr/>
        </p:nvSpPr>
        <p:spPr>
          <a:xfrm>
            <a:off x="4462271" y="2157984"/>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7" y="2221992"/>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CAPEE, unchanged</a:t>
            </a:r>
          </a:p>
        </p:txBody>
      </p:sp>
      <p:sp>
        <p:nvSpPr>
          <p:cNvPr id="19" name="Rectangle 18"/>
          <p:cNvSpPr/>
          <p:nvPr/>
        </p:nvSpPr>
        <p:spPr>
          <a:xfrm>
            <a:off x="8119871" y="2157984"/>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02167" y="2221992"/>
            <a:ext cx="3511296"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B7791F"/>
                </a:solidFill>
                <a:latin typeface="Calibri"/>
              </a:rPr>
              <a:t>CostVision, beside CAPEE</a:t>
            </a:r>
          </a:p>
        </p:txBody>
      </p:sp>
      <p:sp>
        <p:nvSpPr>
          <p:cNvPr id="21" name="Rectangle 20"/>
          <p:cNvSpPr/>
          <p:nvPr/>
        </p:nvSpPr>
        <p:spPr>
          <a:xfrm>
            <a:off x="411480" y="2560320"/>
            <a:ext cx="4050791"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2624328"/>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Does the engineer learn a new tool</a:t>
            </a:r>
          </a:p>
        </p:txBody>
      </p:sp>
      <p:sp>
        <p:nvSpPr>
          <p:cNvPr id="23" name="Rectangle 22"/>
          <p:cNvSpPr/>
          <p:nvPr/>
        </p:nvSpPr>
        <p:spPr>
          <a:xfrm>
            <a:off x="4462271" y="2560320"/>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44567" y="2624328"/>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No, same CAPEE screens</a:t>
            </a:r>
          </a:p>
        </p:txBody>
      </p:sp>
      <p:sp>
        <p:nvSpPr>
          <p:cNvPr id="25" name="Rectangle 24"/>
          <p:cNvSpPr/>
          <p:nvPr/>
        </p:nvSpPr>
        <p:spPr>
          <a:xfrm>
            <a:off x="8119871" y="2560320"/>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02167" y="2624328"/>
            <a:ext cx="3511296"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B7791F"/>
                </a:solidFill>
                <a:latin typeface="Calibri"/>
              </a:rPr>
              <a:t>Yes</a:t>
            </a:r>
          </a:p>
        </p:txBody>
      </p:sp>
      <p:sp>
        <p:nvSpPr>
          <p:cNvPr id="27" name="Rectangle 26"/>
          <p:cNvSpPr/>
          <p:nvPr/>
        </p:nvSpPr>
        <p:spPr>
          <a:xfrm>
            <a:off x="411480" y="2962656"/>
            <a:ext cx="4050791"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3776" y="3026664"/>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Amount of software work</a:t>
            </a:r>
          </a:p>
        </p:txBody>
      </p:sp>
      <p:sp>
        <p:nvSpPr>
          <p:cNvPr id="29" name="Rectangle 28"/>
          <p:cNvSpPr/>
          <p:nvPr/>
        </p:nvSpPr>
        <p:spPr>
          <a:xfrm>
            <a:off x="4462271" y="2962656"/>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44567" y="3026664"/>
            <a:ext cx="3511296"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B7791F"/>
                </a:solidFill>
                <a:latin typeface="Calibri"/>
              </a:rPr>
              <a:t>Substantial</a:t>
            </a:r>
          </a:p>
        </p:txBody>
      </p:sp>
      <p:sp>
        <p:nvSpPr>
          <p:cNvPr id="31" name="Rectangle 30"/>
          <p:cNvSpPr/>
          <p:nvPr/>
        </p:nvSpPr>
        <p:spPr>
          <a:xfrm>
            <a:off x="8119871" y="2962656"/>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02167" y="3026664"/>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Small</a:t>
            </a:r>
          </a:p>
        </p:txBody>
      </p:sp>
      <p:sp>
        <p:nvSpPr>
          <p:cNvPr id="33" name="Rectangle 32"/>
          <p:cNvSpPr/>
          <p:nvPr/>
        </p:nvSpPr>
        <p:spPr>
          <a:xfrm>
            <a:off x="411480" y="3364992"/>
            <a:ext cx="4050791"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429000"/>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Amount of JLR data work</a:t>
            </a:r>
          </a:p>
        </p:txBody>
      </p:sp>
      <p:sp>
        <p:nvSpPr>
          <p:cNvPr id="35" name="Rectangle 34"/>
          <p:cNvSpPr/>
          <p:nvPr/>
        </p:nvSpPr>
        <p:spPr>
          <a:xfrm>
            <a:off x="4462271" y="3364992"/>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44567" y="3429000"/>
            <a:ext cx="3511296"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2E8B57"/>
                </a:solidFill>
                <a:latin typeface="Calibri"/>
              </a:rPr>
              <a:t>Moderate</a:t>
            </a:r>
          </a:p>
        </p:txBody>
      </p:sp>
      <p:sp>
        <p:nvSpPr>
          <p:cNvPr id="37" name="Rectangle 36"/>
          <p:cNvSpPr/>
          <p:nvPr/>
        </p:nvSpPr>
        <p:spPr>
          <a:xfrm>
            <a:off x="8119871" y="3364992"/>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02167" y="3429000"/>
            <a:ext cx="3511296"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B7791F"/>
                </a:solidFill>
                <a:latin typeface="Calibri"/>
              </a:rPr>
              <a:t>Substantial</a:t>
            </a:r>
          </a:p>
        </p:txBody>
      </p:sp>
      <p:sp>
        <p:nvSpPr>
          <p:cNvPr id="39" name="Rectangle 38"/>
          <p:cNvSpPr/>
          <p:nvPr/>
        </p:nvSpPr>
        <p:spPr>
          <a:xfrm>
            <a:off x="411480" y="3767328"/>
            <a:ext cx="4050791"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93776" y="3831336"/>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Do we get the costing engine</a:t>
            </a:r>
          </a:p>
        </p:txBody>
      </p:sp>
      <p:sp>
        <p:nvSpPr>
          <p:cNvPr id="41" name="Rectangle 40"/>
          <p:cNvSpPr/>
          <p:nvPr/>
        </p:nvSpPr>
        <p:spPr>
          <a:xfrm>
            <a:off x="4462271" y="3767328"/>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44567" y="3831336"/>
            <a:ext cx="3511296"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B7791F"/>
                </a:solidFill>
                <a:latin typeface="Calibri"/>
              </a:rPr>
              <a:t>No</a:t>
            </a:r>
          </a:p>
        </p:txBody>
      </p:sp>
      <p:sp>
        <p:nvSpPr>
          <p:cNvPr id="43" name="Rectangle 42"/>
          <p:cNvSpPr/>
          <p:nvPr/>
        </p:nvSpPr>
        <p:spPr>
          <a:xfrm>
            <a:off x="8119871" y="3767328"/>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02167" y="3831336"/>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Yes</a:t>
            </a:r>
          </a:p>
        </p:txBody>
      </p:sp>
      <p:sp>
        <p:nvSpPr>
          <p:cNvPr id="45" name="Rectangle 44"/>
          <p:cNvSpPr/>
          <p:nvPr/>
        </p:nvSpPr>
        <p:spPr>
          <a:xfrm>
            <a:off x="411480" y="4169664"/>
            <a:ext cx="4050791"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93776" y="4233672"/>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Do we get design-for-cost findings</a:t>
            </a:r>
          </a:p>
        </p:txBody>
      </p:sp>
      <p:sp>
        <p:nvSpPr>
          <p:cNvPr id="47" name="Rectangle 46"/>
          <p:cNvSpPr/>
          <p:nvPr/>
        </p:nvSpPr>
        <p:spPr>
          <a:xfrm>
            <a:off x="4462271" y="4169664"/>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44567" y="4233672"/>
            <a:ext cx="3511296"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B7791F"/>
                </a:solidFill>
                <a:latin typeface="Calibri"/>
              </a:rPr>
              <a:t>No</a:t>
            </a:r>
          </a:p>
        </p:txBody>
      </p:sp>
      <p:sp>
        <p:nvSpPr>
          <p:cNvPr id="49" name="Rectangle 48"/>
          <p:cNvSpPr/>
          <p:nvPr/>
        </p:nvSpPr>
        <p:spPr>
          <a:xfrm>
            <a:off x="8119871" y="4169664"/>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02167" y="4233672"/>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Yes</a:t>
            </a:r>
          </a:p>
        </p:txBody>
      </p:sp>
      <p:sp>
        <p:nvSpPr>
          <p:cNvPr id="51" name="Rectangle 50"/>
          <p:cNvSpPr/>
          <p:nvPr/>
        </p:nvSpPr>
        <p:spPr>
          <a:xfrm>
            <a:off x="411480" y="4572000"/>
            <a:ext cx="4050791"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93776" y="4636008"/>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Does it establish how accurate it is</a:t>
            </a:r>
          </a:p>
        </p:txBody>
      </p:sp>
      <p:sp>
        <p:nvSpPr>
          <p:cNvPr id="53" name="Rectangle 52"/>
          <p:cNvSpPr/>
          <p:nvPr/>
        </p:nvSpPr>
        <p:spPr>
          <a:xfrm>
            <a:off x="4462271" y="4572000"/>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44567" y="4636008"/>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B03A2E"/>
                </a:solidFill>
                <a:latin typeface="Calibri"/>
              </a:rPr>
              <a:t>No</a:t>
            </a:r>
          </a:p>
        </p:txBody>
      </p:sp>
      <p:sp>
        <p:nvSpPr>
          <p:cNvPr id="55" name="Rectangle 54"/>
          <p:cNvSpPr/>
          <p:nvPr/>
        </p:nvSpPr>
        <p:spPr>
          <a:xfrm>
            <a:off x="8119871" y="4572000"/>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202167" y="4636008"/>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Yes, step 4</a:t>
            </a:r>
          </a:p>
        </p:txBody>
      </p:sp>
      <p:sp>
        <p:nvSpPr>
          <p:cNvPr id="57" name="Rectangle 56"/>
          <p:cNvSpPr/>
          <p:nvPr/>
        </p:nvSpPr>
        <p:spPr>
          <a:xfrm>
            <a:off x="411480" y="4974336"/>
            <a:ext cx="4050791"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93776" y="5038344"/>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Can it be stopped part way</a:t>
            </a:r>
          </a:p>
        </p:txBody>
      </p:sp>
      <p:sp>
        <p:nvSpPr>
          <p:cNvPr id="59" name="Rectangle 58"/>
          <p:cNvSpPr/>
          <p:nvPr/>
        </p:nvSpPr>
        <p:spPr>
          <a:xfrm>
            <a:off x="4462271" y="4974336"/>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544567" y="5038344"/>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B03A2E"/>
                </a:solidFill>
                <a:latin typeface="Calibri"/>
              </a:rPr>
              <a:t>Difficult, it sits inside CAPEE</a:t>
            </a:r>
          </a:p>
        </p:txBody>
      </p:sp>
      <p:sp>
        <p:nvSpPr>
          <p:cNvPr id="61" name="Rectangle 60"/>
          <p:cNvSpPr/>
          <p:nvPr/>
        </p:nvSpPr>
        <p:spPr>
          <a:xfrm>
            <a:off x="8119871" y="4974336"/>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202167" y="5038344"/>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Yes</a:t>
            </a:r>
          </a:p>
        </p:txBody>
      </p:sp>
      <p:sp>
        <p:nvSpPr>
          <p:cNvPr id="63" name="Rectangle 62"/>
          <p:cNvSpPr/>
          <p:nvPr/>
        </p:nvSpPr>
        <p:spPr>
          <a:xfrm>
            <a:off x="411480" y="5376672"/>
            <a:ext cx="4050791"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93776" y="5440680"/>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Blocked by anything unknown</a:t>
            </a:r>
          </a:p>
        </p:txBody>
      </p:sp>
      <p:sp>
        <p:nvSpPr>
          <p:cNvPr id="65" name="Rectangle 64"/>
          <p:cNvSpPr/>
          <p:nvPr/>
        </p:nvSpPr>
        <p:spPr>
          <a:xfrm>
            <a:off x="4462271" y="5376672"/>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544567" y="5440680"/>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B03A2E"/>
                </a:solidFill>
                <a:latin typeface="Calibri"/>
              </a:rPr>
              <a:t>Yes, how CAPEE is built</a:t>
            </a:r>
          </a:p>
        </p:txBody>
      </p:sp>
      <p:sp>
        <p:nvSpPr>
          <p:cNvPr id="67" name="Rectangle 66"/>
          <p:cNvSpPr/>
          <p:nvPr/>
        </p:nvSpPr>
        <p:spPr>
          <a:xfrm>
            <a:off x="8119871" y="5376672"/>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202167" y="5440680"/>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No</a:t>
            </a:r>
          </a:p>
        </p:txBody>
      </p:sp>
      <p:sp>
        <p:nvSpPr>
          <p:cNvPr id="69" name="Rounded Rectangle 68"/>
          <p:cNvSpPr/>
          <p:nvPr/>
        </p:nvSpPr>
        <p:spPr>
          <a:xfrm>
            <a:off x="411480" y="5806440"/>
            <a:ext cx="11365992" cy="77724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11480" y="5806440"/>
            <a:ext cx="68580" cy="7772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30936" y="59253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The bottom three rows carry the decision</a:t>
            </a:r>
          </a:p>
        </p:txBody>
      </p:sp>
      <p:sp>
        <p:nvSpPr>
          <p:cNvPr id="72" name="TextBox 71"/>
          <p:cNvSpPr txBox="1"/>
          <p:nvPr/>
        </p:nvSpPr>
        <p:spPr>
          <a:xfrm>
            <a:off x="630936" y="6208776"/>
            <a:ext cx="10954512" cy="27432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2 establishes accuracy, can be halted, and waits on nothing. Option 1 does none of those three, which is the reason for the order recommended on the next slide.</a:t>
            </a:r>
          </a:p>
        </p:txBody>
      </p:sp>
      <p:sp>
        <p:nvSpPr>
          <p:cNvPr id="73" name="TextBox 72"/>
          <p:cNvSpPr txBox="1"/>
          <p:nvPr/>
        </p:nvSpPr>
        <p:spPr>
          <a:xfrm>
            <a:off x="411480" y="6419088"/>
            <a:ext cx="11338560" cy="219456"/>
          </a:xfrm>
          <a:prstGeom prst="rect">
            <a:avLst/>
          </a:prstGeom>
          <a:noFill/>
        </p:spPr>
        <p:txBody>
          <a:bodyPr wrap="square" anchor="t" lIns="0" rIns="0" tIns="0" bIns="0">
            <a:spAutoFit/>
          </a:bodyPr>
          <a:lstStyle/>
          <a:p>
            <a:pPr algn="l">
              <a:lnSpc>
                <a:spcPct val="100000"/>
              </a:lnSpc>
              <a:spcAft>
                <a:spcPts val="400"/>
              </a:spcAft>
            </a:pPr>
            <a:r>
              <a:rPr sz="800" b="0" i="0">
                <a:solidFill>
                  <a:srgbClr val="6B7280"/>
                </a:solidFill>
                <a:latin typeface="Calibri"/>
              </a:rPr>
              <a:t>No durations are shown. Nothing in either option has been sized by JLR.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RECOMMENDATION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Recommendation</a:t>
            </a:r>
          </a:p>
        </p:txBody>
      </p:sp>
      <p:sp>
        <p:nvSpPr>
          <p:cNvPr id="9" name="Rounded Rectangle 8"/>
          <p:cNvSpPr/>
          <p:nvPr/>
        </p:nvSpPr>
        <p:spPr>
          <a:xfrm>
            <a:off x="411480" y="1691640"/>
            <a:ext cx="11365992" cy="91440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91640"/>
            <a:ext cx="68580" cy="9144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18105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Option 2 first, then Option 1</a:t>
            </a:r>
          </a:p>
        </p:txBody>
      </p:sp>
      <p:sp>
        <p:nvSpPr>
          <p:cNvPr id="12" name="TextBox 11"/>
          <p:cNvSpPr txBox="1"/>
          <p:nvPr/>
        </p:nvSpPr>
        <p:spPr>
          <a:xfrm>
            <a:off x="630936" y="2093976"/>
            <a:ext cx="10954512"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2 is the smaller change, it can be stopped at any point, and it answers the question Option 1 depends on: whether the tool produces the right number on JLR parts.</a:t>
            </a:r>
          </a:p>
        </p:txBody>
      </p:sp>
      <p:sp>
        <p:nvSpPr>
          <p:cNvPr id="13" name="Rounded Rectangle 12"/>
          <p:cNvSpPr/>
          <p:nvPr/>
        </p:nvSpPr>
        <p:spPr>
          <a:xfrm>
            <a:off x="411480" y="2834640"/>
            <a:ext cx="3721608" cy="22402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834640"/>
            <a:ext cx="372160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67512" y="3017520"/>
            <a:ext cx="548640" cy="54864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oins.png"/>
          <p:cNvPicPr>
            <a:picLocks noChangeAspect="1"/>
          </p:cNvPicPr>
          <p:nvPr/>
        </p:nvPicPr>
        <p:blipFill>
          <a:blip r:embed="rId2"/>
          <a:stretch>
            <a:fillRect/>
          </a:stretch>
        </p:blipFill>
        <p:spPr>
          <a:xfrm>
            <a:off x="810158" y="3160166"/>
            <a:ext cx="263348" cy="263348"/>
          </a:xfrm>
          <a:prstGeom prst="rect">
            <a:avLst/>
          </a:prstGeom>
        </p:spPr>
      </p:pic>
      <p:sp>
        <p:nvSpPr>
          <p:cNvPr id="17" name="TextBox 16"/>
          <p:cNvSpPr txBox="1"/>
          <p:nvPr/>
        </p:nvSpPr>
        <p:spPr>
          <a:xfrm>
            <a:off x="1371600" y="3044952"/>
            <a:ext cx="2560320" cy="219456"/>
          </a:xfrm>
          <a:prstGeom prst="rect">
            <a:avLst/>
          </a:prstGeom>
          <a:noFill/>
        </p:spPr>
        <p:txBody>
          <a:bodyPr wrap="square" anchor="t" lIns="0" rIns="0" tIns="0" bIns="0">
            <a:spAutoFit/>
          </a:bodyPr>
          <a:lstStyle/>
          <a:p>
            <a:pPr algn="l">
              <a:lnSpc>
                <a:spcPct val="100000"/>
              </a:lnSpc>
              <a:spcAft>
                <a:spcPts val="400"/>
              </a:spcAft>
            </a:pPr>
            <a:r>
              <a:rPr sz="1000" b="1" i="0">
                <a:solidFill>
                  <a:srgbClr val="6B7280"/>
                </a:solidFill>
                <a:latin typeface="Calibri"/>
              </a:rPr>
              <a:t>FIRST</a:t>
            </a:r>
          </a:p>
        </p:txBody>
      </p:sp>
      <p:sp>
        <p:nvSpPr>
          <p:cNvPr id="18" name="TextBox 17"/>
          <p:cNvSpPr txBox="1"/>
          <p:nvPr/>
        </p:nvSpPr>
        <p:spPr>
          <a:xfrm>
            <a:off x="1371600" y="3264408"/>
            <a:ext cx="25603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Run Option 2</a:t>
            </a:r>
          </a:p>
        </p:txBody>
      </p:sp>
      <p:sp>
        <p:nvSpPr>
          <p:cNvPr id="19" name="TextBox 18"/>
          <p:cNvSpPr txBox="1"/>
          <p:nvPr/>
        </p:nvSpPr>
        <p:spPr>
          <a:xfrm>
            <a:off x="667512" y="3749039"/>
            <a:ext cx="3200400" cy="777240"/>
          </a:xfrm>
          <a:prstGeom prst="rect">
            <a:avLst/>
          </a:prstGeom>
          <a:noFill/>
        </p:spPr>
        <p:txBody>
          <a:bodyPr wrap="square" anchor="t" lIns="0" rIns="0" tIns="0" bIns="0">
            <a:spAutoFit/>
          </a:bodyPr>
          <a:lstStyle/>
          <a:p>
            <a:pPr algn="l">
              <a:lnSpc>
                <a:spcPct val="115000"/>
              </a:lnSpc>
              <a:spcAft>
                <a:spcPts val="400"/>
              </a:spcAft>
            </a:pPr>
            <a:r>
              <a:rPr sz="1050" b="0" i="0">
                <a:solidFill>
                  <a:srgbClr val="3A4356"/>
                </a:solidFill>
                <a:latin typeface="Calibri"/>
              </a:rPr>
              <a:t>Install it, load our rates, compare against 30 to 50 parts already purchased.</a:t>
            </a:r>
          </a:p>
        </p:txBody>
      </p:sp>
      <p:sp>
        <p:nvSpPr>
          <p:cNvPr id="20" name="TextBox 19"/>
          <p:cNvSpPr txBox="1"/>
          <p:nvPr/>
        </p:nvSpPr>
        <p:spPr>
          <a:xfrm>
            <a:off x="667512" y="4572000"/>
            <a:ext cx="3200400" cy="384048"/>
          </a:xfrm>
          <a:prstGeom prst="rect">
            <a:avLst/>
          </a:prstGeom>
          <a:noFill/>
        </p:spPr>
        <p:txBody>
          <a:bodyPr wrap="square" anchor="t" lIns="0" rIns="0" tIns="0" bIns="0">
            <a:spAutoFit/>
          </a:bodyPr>
          <a:lstStyle/>
          <a:p>
            <a:pPr algn="l">
              <a:lnSpc>
                <a:spcPct val="115000"/>
              </a:lnSpc>
              <a:spcAft>
                <a:spcPts val="400"/>
              </a:spcAft>
            </a:pPr>
            <a:r>
              <a:rPr sz="1050" b="1" i="0">
                <a:solidFill>
                  <a:srgbClr val="2E8B57"/>
                </a:solidFill>
                <a:latin typeface="Calibri"/>
              </a:rPr>
              <a:t>Result: a measured accuracy figure.</a:t>
            </a:r>
          </a:p>
        </p:txBody>
      </p:sp>
      <p:sp>
        <p:nvSpPr>
          <p:cNvPr id="21" name="Rounded Rectangle 20"/>
          <p:cNvSpPr/>
          <p:nvPr/>
        </p:nvSpPr>
        <p:spPr>
          <a:xfrm>
            <a:off x="4233671" y="2834640"/>
            <a:ext cx="3721608" cy="22402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33671" y="2834640"/>
            <a:ext cx="372160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489703" y="3017520"/>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ye.png"/>
          <p:cNvPicPr>
            <a:picLocks noChangeAspect="1"/>
          </p:cNvPicPr>
          <p:nvPr/>
        </p:nvPicPr>
        <p:blipFill>
          <a:blip r:embed="rId3"/>
          <a:stretch>
            <a:fillRect/>
          </a:stretch>
        </p:blipFill>
        <p:spPr>
          <a:xfrm>
            <a:off x="4632349" y="3160166"/>
            <a:ext cx="263348" cy="263348"/>
          </a:xfrm>
          <a:prstGeom prst="rect">
            <a:avLst/>
          </a:prstGeom>
        </p:spPr>
      </p:pic>
      <p:sp>
        <p:nvSpPr>
          <p:cNvPr id="25" name="TextBox 24"/>
          <p:cNvSpPr txBox="1"/>
          <p:nvPr/>
        </p:nvSpPr>
        <p:spPr>
          <a:xfrm>
            <a:off x="5193791" y="3044952"/>
            <a:ext cx="2560320" cy="219456"/>
          </a:xfrm>
          <a:prstGeom prst="rect">
            <a:avLst/>
          </a:prstGeom>
          <a:noFill/>
        </p:spPr>
        <p:txBody>
          <a:bodyPr wrap="square" anchor="t" lIns="0" rIns="0" tIns="0" bIns="0">
            <a:spAutoFit/>
          </a:bodyPr>
          <a:lstStyle/>
          <a:p>
            <a:pPr algn="l">
              <a:lnSpc>
                <a:spcPct val="100000"/>
              </a:lnSpc>
              <a:spcAft>
                <a:spcPts val="400"/>
              </a:spcAft>
            </a:pPr>
            <a:r>
              <a:rPr sz="1000" b="1" i="0">
                <a:solidFill>
                  <a:srgbClr val="6B7280"/>
                </a:solidFill>
                <a:latin typeface="Calibri"/>
              </a:rPr>
              <a:t>THEN</a:t>
            </a:r>
          </a:p>
        </p:txBody>
      </p:sp>
      <p:sp>
        <p:nvSpPr>
          <p:cNvPr id="26" name="TextBox 25"/>
          <p:cNvSpPr txBox="1"/>
          <p:nvPr/>
        </p:nvSpPr>
        <p:spPr>
          <a:xfrm>
            <a:off x="5193791" y="3264408"/>
            <a:ext cx="25603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Decide</a:t>
            </a:r>
          </a:p>
        </p:txBody>
      </p:sp>
      <p:sp>
        <p:nvSpPr>
          <p:cNvPr id="27" name="TextBox 26"/>
          <p:cNvSpPr txBox="1"/>
          <p:nvPr/>
        </p:nvSpPr>
        <p:spPr>
          <a:xfrm>
            <a:off x="4489703" y="3749039"/>
            <a:ext cx="3200400" cy="777240"/>
          </a:xfrm>
          <a:prstGeom prst="rect">
            <a:avLst/>
          </a:prstGeom>
          <a:noFill/>
        </p:spPr>
        <p:txBody>
          <a:bodyPr wrap="square" anchor="t" lIns="0" rIns="0" tIns="0" bIns="0">
            <a:spAutoFit/>
          </a:bodyPr>
          <a:lstStyle/>
          <a:p>
            <a:pPr algn="l">
              <a:lnSpc>
                <a:spcPct val="115000"/>
              </a:lnSpc>
              <a:spcAft>
                <a:spcPts val="400"/>
              </a:spcAft>
            </a:pPr>
            <a:r>
              <a:rPr sz="1050" b="0" i="0">
                <a:solidFill>
                  <a:srgbClr val="3A4356"/>
                </a:solidFill>
                <a:latin typeface="Calibri"/>
              </a:rPr>
              <a:t>Review the accuracy result and IT's answer on how CAPEE is built.</a:t>
            </a:r>
          </a:p>
        </p:txBody>
      </p:sp>
      <p:sp>
        <p:nvSpPr>
          <p:cNvPr id="28" name="TextBox 27"/>
          <p:cNvSpPr txBox="1"/>
          <p:nvPr/>
        </p:nvSpPr>
        <p:spPr>
          <a:xfrm>
            <a:off x="4489703" y="4572000"/>
            <a:ext cx="3200400" cy="384048"/>
          </a:xfrm>
          <a:prstGeom prst="rect">
            <a:avLst/>
          </a:prstGeom>
          <a:noFill/>
        </p:spPr>
        <p:txBody>
          <a:bodyPr wrap="square" anchor="t" lIns="0" rIns="0" tIns="0" bIns="0">
            <a:spAutoFit/>
          </a:bodyPr>
          <a:lstStyle/>
          <a:p>
            <a:pPr algn="l">
              <a:lnSpc>
                <a:spcPct val="115000"/>
              </a:lnSpc>
              <a:spcAft>
                <a:spcPts val="400"/>
              </a:spcAft>
            </a:pPr>
            <a:r>
              <a:rPr sz="1050" b="1" i="0">
                <a:solidFill>
                  <a:srgbClr val="1D6FB8"/>
                </a:solidFill>
                <a:latin typeface="Calibri"/>
              </a:rPr>
              <a:t>Result: a decision made on evidence.</a:t>
            </a:r>
          </a:p>
        </p:txBody>
      </p:sp>
      <p:sp>
        <p:nvSpPr>
          <p:cNvPr id="29" name="Rounded Rectangle 28"/>
          <p:cNvSpPr/>
          <p:nvPr/>
        </p:nvSpPr>
        <p:spPr>
          <a:xfrm>
            <a:off x="8055862" y="2834640"/>
            <a:ext cx="3721608" cy="22402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055862" y="2834640"/>
            <a:ext cx="372160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311894" y="3017520"/>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cog.png"/>
          <p:cNvPicPr>
            <a:picLocks noChangeAspect="1"/>
          </p:cNvPicPr>
          <p:nvPr/>
        </p:nvPicPr>
        <p:blipFill>
          <a:blip r:embed="rId4"/>
          <a:stretch>
            <a:fillRect/>
          </a:stretch>
        </p:blipFill>
        <p:spPr>
          <a:xfrm>
            <a:off x="8454540" y="3160166"/>
            <a:ext cx="263348" cy="263348"/>
          </a:xfrm>
          <a:prstGeom prst="rect">
            <a:avLst/>
          </a:prstGeom>
        </p:spPr>
      </p:pic>
      <p:sp>
        <p:nvSpPr>
          <p:cNvPr id="33" name="TextBox 32"/>
          <p:cNvSpPr txBox="1"/>
          <p:nvPr/>
        </p:nvSpPr>
        <p:spPr>
          <a:xfrm>
            <a:off x="9015982" y="3044952"/>
            <a:ext cx="2560320" cy="219456"/>
          </a:xfrm>
          <a:prstGeom prst="rect">
            <a:avLst/>
          </a:prstGeom>
          <a:noFill/>
        </p:spPr>
        <p:txBody>
          <a:bodyPr wrap="square" anchor="t" lIns="0" rIns="0" tIns="0" bIns="0">
            <a:spAutoFit/>
          </a:bodyPr>
          <a:lstStyle/>
          <a:p>
            <a:pPr algn="l">
              <a:lnSpc>
                <a:spcPct val="100000"/>
              </a:lnSpc>
              <a:spcAft>
                <a:spcPts val="400"/>
              </a:spcAft>
            </a:pPr>
            <a:r>
              <a:rPr sz="1000" b="1" i="0">
                <a:solidFill>
                  <a:srgbClr val="6B7280"/>
                </a:solidFill>
                <a:latin typeface="Calibri"/>
              </a:rPr>
              <a:t>THEN</a:t>
            </a:r>
          </a:p>
        </p:txBody>
      </p:sp>
      <p:sp>
        <p:nvSpPr>
          <p:cNvPr id="34" name="TextBox 33"/>
          <p:cNvSpPr txBox="1"/>
          <p:nvPr/>
        </p:nvSpPr>
        <p:spPr>
          <a:xfrm>
            <a:off x="9015982" y="3264408"/>
            <a:ext cx="25603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Run Option 1</a:t>
            </a:r>
          </a:p>
        </p:txBody>
      </p:sp>
      <p:sp>
        <p:nvSpPr>
          <p:cNvPr id="35" name="TextBox 34"/>
          <p:cNvSpPr txBox="1"/>
          <p:nvPr/>
        </p:nvSpPr>
        <p:spPr>
          <a:xfrm>
            <a:off x="8311894" y="3749039"/>
            <a:ext cx="3200400" cy="777240"/>
          </a:xfrm>
          <a:prstGeom prst="rect">
            <a:avLst/>
          </a:prstGeom>
          <a:noFill/>
        </p:spPr>
        <p:txBody>
          <a:bodyPr wrap="square" anchor="t" lIns="0" rIns="0" tIns="0" bIns="0">
            <a:spAutoFit/>
          </a:bodyPr>
          <a:lstStyle/>
          <a:p>
            <a:pPr algn="l">
              <a:lnSpc>
                <a:spcPct val="115000"/>
              </a:lnSpc>
              <a:spcAft>
                <a:spcPts val="400"/>
              </a:spcAft>
            </a:pPr>
            <a:r>
              <a:rPr sz="1050" b="0" i="0">
                <a:solidFill>
                  <a:srgbClr val="3A4356"/>
                </a:solidFill>
                <a:latin typeface="Calibri"/>
              </a:rPr>
              <a:t>Feed CAPEE automatically, beginning with one part type.</a:t>
            </a:r>
          </a:p>
        </p:txBody>
      </p:sp>
      <p:sp>
        <p:nvSpPr>
          <p:cNvPr id="36" name="TextBox 35"/>
          <p:cNvSpPr txBox="1"/>
          <p:nvPr/>
        </p:nvSpPr>
        <p:spPr>
          <a:xfrm>
            <a:off x="8311894" y="4572000"/>
            <a:ext cx="3200400" cy="384048"/>
          </a:xfrm>
          <a:prstGeom prst="rect">
            <a:avLst/>
          </a:prstGeom>
          <a:noFill/>
        </p:spPr>
        <p:txBody>
          <a:bodyPr wrap="square" anchor="t" lIns="0" rIns="0" tIns="0" bIns="0">
            <a:spAutoFit/>
          </a:bodyPr>
          <a:lstStyle/>
          <a:p>
            <a:pPr algn="l">
              <a:lnSpc>
                <a:spcPct val="115000"/>
              </a:lnSpc>
              <a:spcAft>
                <a:spcPts val="400"/>
              </a:spcAft>
            </a:pPr>
            <a:r>
              <a:rPr sz="1050" b="1" i="0">
                <a:solidFill>
                  <a:srgbClr val="6B3FA0"/>
                </a:solidFill>
                <a:latin typeface="Calibri"/>
              </a:rPr>
              <a:t>Result: scaling something already proven.</a:t>
            </a:r>
          </a:p>
        </p:txBody>
      </p:sp>
      <p:sp>
        <p:nvSpPr>
          <p:cNvPr id="37" name="Rounded Rectangle 36"/>
          <p:cNvSpPr/>
          <p:nvPr/>
        </p:nvSpPr>
        <p:spPr>
          <a:xfrm>
            <a:off x="411480" y="5257800"/>
            <a:ext cx="11365992" cy="96012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11480" y="5257800"/>
            <a:ext cx="68580" cy="96012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 y="537667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If only one option can be funded</a:t>
            </a:r>
          </a:p>
        </p:txBody>
      </p:sp>
      <p:sp>
        <p:nvSpPr>
          <p:cNvPr id="40" name="TextBox 39"/>
          <p:cNvSpPr txBox="1"/>
          <p:nvPr/>
        </p:nvSpPr>
        <p:spPr>
          <a:xfrm>
            <a:off x="630936" y="5660136"/>
            <a:ext cx="10954512" cy="45720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2. It is the smaller change, it can be reversed, it waits on no other answer, and it brings the costing engine and the design-for-cost findings with it. Option 1 removes typing from a process we already have. Option 2 adds a capability we do not.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RISKS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Risks and open items</a:t>
            </a:r>
          </a:p>
        </p:txBody>
      </p:sp>
      <p:sp>
        <p:nvSpPr>
          <p:cNvPr id="9" name="Rectangle 8"/>
          <p:cNvSpPr/>
          <p:nvPr/>
        </p:nvSpPr>
        <p:spPr>
          <a:xfrm>
            <a:off x="411480" y="1783080"/>
            <a:ext cx="30175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865376"/>
            <a:ext cx="28712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Item</a:t>
            </a:r>
          </a:p>
        </p:txBody>
      </p:sp>
      <p:sp>
        <p:nvSpPr>
          <p:cNvPr id="11" name="Rectangle 10"/>
          <p:cNvSpPr/>
          <p:nvPr/>
        </p:nvSpPr>
        <p:spPr>
          <a:xfrm>
            <a:off x="3429000" y="1783080"/>
            <a:ext cx="10515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11296" y="1865376"/>
            <a:ext cx="9052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Applies to</a:t>
            </a:r>
          </a:p>
        </p:txBody>
      </p:sp>
      <p:sp>
        <p:nvSpPr>
          <p:cNvPr id="13" name="Rectangle 12"/>
          <p:cNvSpPr/>
          <p:nvPr/>
        </p:nvSpPr>
        <p:spPr>
          <a:xfrm>
            <a:off x="4480560" y="1783080"/>
            <a:ext cx="610819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62856" y="1865376"/>
            <a:ext cx="596188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Detail and what resolves it</a:t>
            </a:r>
          </a:p>
        </p:txBody>
      </p:sp>
      <p:sp>
        <p:nvSpPr>
          <p:cNvPr id="15" name="Rectangle 14"/>
          <p:cNvSpPr/>
          <p:nvPr/>
        </p:nvSpPr>
        <p:spPr>
          <a:xfrm>
            <a:off x="10588752" y="1783080"/>
            <a:ext cx="11887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71048" y="1865376"/>
            <a:ext cx="10424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Rating</a:t>
            </a:r>
          </a:p>
        </p:txBody>
      </p:sp>
      <p:sp>
        <p:nvSpPr>
          <p:cNvPr id="17" name="Rectangle 16"/>
          <p:cNvSpPr/>
          <p:nvPr/>
        </p:nvSpPr>
        <p:spPr>
          <a:xfrm>
            <a:off x="411480" y="2112264"/>
            <a:ext cx="301752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3776" y="2176272"/>
            <a:ext cx="28712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Accuracy is unknown</a:t>
            </a:r>
          </a:p>
        </p:txBody>
      </p:sp>
      <p:sp>
        <p:nvSpPr>
          <p:cNvPr id="19" name="Rectangle 18"/>
          <p:cNvSpPr/>
          <p:nvPr/>
        </p:nvSpPr>
        <p:spPr>
          <a:xfrm>
            <a:off x="3429000" y="2112264"/>
            <a:ext cx="105156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11296" y="2176272"/>
            <a:ext cx="905256"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Both</a:t>
            </a:r>
          </a:p>
        </p:txBody>
      </p:sp>
      <p:sp>
        <p:nvSpPr>
          <p:cNvPr id="21" name="Rectangle 20"/>
          <p:cNvSpPr/>
          <p:nvPr/>
        </p:nvSpPr>
        <p:spPr>
          <a:xfrm>
            <a:off x="4480560" y="2112264"/>
            <a:ext cx="6108192"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62856" y="2176272"/>
            <a:ext cx="5961888"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Never compared against a price JLR has paid. Resolved by step 4 of Option 2.</a:t>
            </a:r>
          </a:p>
        </p:txBody>
      </p:sp>
      <p:sp>
        <p:nvSpPr>
          <p:cNvPr id="23" name="Rectangle 22"/>
          <p:cNvSpPr/>
          <p:nvPr/>
        </p:nvSpPr>
        <p:spPr>
          <a:xfrm>
            <a:off x="10588752" y="2112264"/>
            <a:ext cx="118872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71048" y="2176272"/>
            <a:ext cx="10424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B03A2E"/>
                </a:solidFill>
                <a:latin typeface="Calibri"/>
              </a:rPr>
              <a:t>High</a:t>
            </a:r>
          </a:p>
        </p:txBody>
      </p:sp>
      <p:sp>
        <p:nvSpPr>
          <p:cNvPr id="25" name="Rectangle 24"/>
          <p:cNvSpPr/>
          <p:nvPr/>
        </p:nvSpPr>
        <p:spPr>
          <a:xfrm>
            <a:off x="411480" y="2679192"/>
            <a:ext cx="301752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3776" y="2743200"/>
            <a:ext cx="28712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Old costings cannot be reproduced</a:t>
            </a:r>
          </a:p>
        </p:txBody>
      </p:sp>
      <p:sp>
        <p:nvSpPr>
          <p:cNvPr id="27" name="Rectangle 26"/>
          <p:cNvSpPr/>
          <p:nvPr/>
        </p:nvSpPr>
        <p:spPr>
          <a:xfrm>
            <a:off x="3429000" y="2679192"/>
            <a:ext cx="105156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511296" y="2743200"/>
            <a:ext cx="905256"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Option 2</a:t>
            </a:r>
          </a:p>
        </p:txBody>
      </p:sp>
      <p:sp>
        <p:nvSpPr>
          <p:cNvPr id="29" name="Rectangle 28"/>
          <p:cNvSpPr/>
          <p:nvPr/>
        </p:nvSpPr>
        <p:spPr>
          <a:xfrm>
            <a:off x="4480560" y="2679192"/>
            <a:ext cx="6108192"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62856" y="2743200"/>
            <a:ext cx="5961888"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No rate history and no saved costings. Has to be built before the tool is used for anything audited.</a:t>
            </a:r>
          </a:p>
        </p:txBody>
      </p:sp>
      <p:sp>
        <p:nvSpPr>
          <p:cNvPr id="31" name="Rectangle 30"/>
          <p:cNvSpPr/>
          <p:nvPr/>
        </p:nvSpPr>
        <p:spPr>
          <a:xfrm>
            <a:off x="10588752" y="2679192"/>
            <a:ext cx="118872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71048" y="2743200"/>
            <a:ext cx="10424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B03A2E"/>
                </a:solidFill>
                <a:latin typeface="Calibri"/>
              </a:rPr>
              <a:t>High</a:t>
            </a:r>
          </a:p>
        </p:txBody>
      </p:sp>
      <p:sp>
        <p:nvSpPr>
          <p:cNvPr id="33" name="Rectangle 32"/>
          <p:cNvSpPr/>
          <p:nvPr/>
        </p:nvSpPr>
        <p:spPr>
          <a:xfrm>
            <a:off x="411480" y="3246120"/>
            <a:ext cx="301752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310128"/>
            <a:ext cx="28712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How CAPEE is built is unknown</a:t>
            </a:r>
          </a:p>
        </p:txBody>
      </p:sp>
      <p:sp>
        <p:nvSpPr>
          <p:cNvPr id="35" name="Rectangle 34"/>
          <p:cNvSpPr/>
          <p:nvPr/>
        </p:nvSpPr>
        <p:spPr>
          <a:xfrm>
            <a:off x="3429000" y="3246120"/>
            <a:ext cx="105156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511296" y="3310128"/>
            <a:ext cx="905256"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Option 1</a:t>
            </a:r>
          </a:p>
        </p:txBody>
      </p:sp>
      <p:sp>
        <p:nvSpPr>
          <p:cNvPr id="37" name="Rectangle 36"/>
          <p:cNvSpPr/>
          <p:nvPr/>
        </p:nvSpPr>
        <p:spPr>
          <a:xfrm>
            <a:off x="4480560" y="3246120"/>
            <a:ext cx="6108192"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62856" y="3310128"/>
            <a:ext cx="5961888"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Blocks the choice of connection route. One answer from IT resolves it.</a:t>
            </a:r>
          </a:p>
        </p:txBody>
      </p:sp>
      <p:sp>
        <p:nvSpPr>
          <p:cNvPr id="39" name="Rectangle 38"/>
          <p:cNvSpPr/>
          <p:nvPr/>
        </p:nvSpPr>
        <p:spPr>
          <a:xfrm>
            <a:off x="10588752" y="3246120"/>
            <a:ext cx="118872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671048" y="3310128"/>
            <a:ext cx="10424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B7791F"/>
                </a:solidFill>
                <a:latin typeface="Calibri"/>
              </a:rPr>
              <a:t>High</a:t>
            </a:r>
          </a:p>
        </p:txBody>
      </p:sp>
      <p:sp>
        <p:nvSpPr>
          <p:cNvPr id="41" name="Rectangle 40"/>
          <p:cNvSpPr/>
          <p:nvPr/>
        </p:nvSpPr>
        <p:spPr>
          <a:xfrm>
            <a:off x="411480" y="3813048"/>
            <a:ext cx="301752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93776" y="3877056"/>
            <a:ext cx="28712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Built-in numbers are estimates</a:t>
            </a:r>
          </a:p>
        </p:txBody>
      </p:sp>
      <p:sp>
        <p:nvSpPr>
          <p:cNvPr id="43" name="Rectangle 42"/>
          <p:cNvSpPr/>
          <p:nvPr/>
        </p:nvSpPr>
        <p:spPr>
          <a:xfrm>
            <a:off x="3429000" y="3813048"/>
            <a:ext cx="105156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511296" y="3877056"/>
            <a:ext cx="905256"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Both</a:t>
            </a:r>
          </a:p>
        </p:txBody>
      </p:sp>
      <p:sp>
        <p:nvSpPr>
          <p:cNvPr id="45" name="Rectangle 44"/>
          <p:cNvSpPr/>
          <p:nvPr/>
        </p:nvSpPr>
        <p:spPr>
          <a:xfrm>
            <a:off x="4480560" y="3813048"/>
            <a:ext cx="6108192"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62856" y="3877056"/>
            <a:ext cx="5961888"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Working starting points rather than JLR plant measurements. Replaced as real data is loaded.</a:t>
            </a:r>
          </a:p>
        </p:txBody>
      </p:sp>
      <p:sp>
        <p:nvSpPr>
          <p:cNvPr id="47" name="Rectangle 46"/>
          <p:cNvSpPr/>
          <p:nvPr/>
        </p:nvSpPr>
        <p:spPr>
          <a:xfrm>
            <a:off x="10588752" y="3813048"/>
            <a:ext cx="118872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671048" y="3877056"/>
            <a:ext cx="10424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B7791F"/>
                </a:solidFill>
                <a:latin typeface="Calibri"/>
              </a:rPr>
              <a:t>Medium</a:t>
            </a:r>
          </a:p>
        </p:txBody>
      </p:sp>
      <p:sp>
        <p:nvSpPr>
          <p:cNvPr id="49" name="Rectangle 48"/>
          <p:cNvSpPr/>
          <p:nvPr/>
        </p:nvSpPr>
        <p:spPr>
          <a:xfrm>
            <a:off x="411480" y="4379976"/>
            <a:ext cx="301752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3776" y="4443984"/>
            <a:ext cx="28712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Server type</a:t>
            </a:r>
          </a:p>
        </p:txBody>
      </p:sp>
      <p:sp>
        <p:nvSpPr>
          <p:cNvPr id="51" name="Rectangle 50"/>
          <p:cNvSpPr/>
          <p:nvPr/>
        </p:nvSpPr>
        <p:spPr>
          <a:xfrm>
            <a:off x="3429000" y="4379976"/>
            <a:ext cx="105156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511296" y="4443984"/>
            <a:ext cx="905256"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Option 1</a:t>
            </a:r>
          </a:p>
        </p:txBody>
      </p:sp>
      <p:sp>
        <p:nvSpPr>
          <p:cNvPr id="53" name="Rectangle 52"/>
          <p:cNvSpPr/>
          <p:nvPr/>
        </p:nvSpPr>
        <p:spPr>
          <a:xfrm>
            <a:off x="4480560" y="4379976"/>
            <a:ext cx="6108192"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62856" y="4443984"/>
            <a:ext cx="5961888"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The measuring engine needs a standard Linux server. Straightforward to confirm, awkward if missed late.</a:t>
            </a:r>
          </a:p>
        </p:txBody>
      </p:sp>
      <p:sp>
        <p:nvSpPr>
          <p:cNvPr id="55" name="Rectangle 54"/>
          <p:cNvSpPr/>
          <p:nvPr/>
        </p:nvSpPr>
        <p:spPr>
          <a:xfrm>
            <a:off x="10588752" y="4379976"/>
            <a:ext cx="118872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671048" y="4443984"/>
            <a:ext cx="10424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B7791F"/>
                </a:solidFill>
                <a:latin typeface="Calibri"/>
              </a:rPr>
              <a:t>Medium</a:t>
            </a:r>
          </a:p>
        </p:txBody>
      </p:sp>
      <p:sp>
        <p:nvSpPr>
          <p:cNvPr id="57" name="Rectangle 56"/>
          <p:cNvSpPr/>
          <p:nvPr/>
        </p:nvSpPr>
        <p:spPr>
          <a:xfrm>
            <a:off x="411480" y="4946904"/>
            <a:ext cx="301752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93776" y="5010912"/>
            <a:ext cx="28712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Drawing text reaches an AI service</a:t>
            </a:r>
          </a:p>
        </p:txBody>
      </p:sp>
      <p:sp>
        <p:nvSpPr>
          <p:cNvPr id="59" name="Rectangle 58"/>
          <p:cNvSpPr/>
          <p:nvPr/>
        </p:nvSpPr>
        <p:spPr>
          <a:xfrm>
            <a:off x="3429000" y="4946904"/>
            <a:ext cx="105156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511296" y="5010912"/>
            <a:ext cx="905256"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Both</a:t>
            </a:r>
          </a:p>
        </p:txBody>
      </p:sp>
      <p:sp>
        <p:nvSpPr>
          <p:cNvPr id="61" name="Rectangle 60"/>
          <p:cNvSpPr/>
          <p:nvPr/>
        </p:nvSpPr>
        <p:spPr>
          <a:xfrm>
            <a:off x="4480560" y="4946904"/>
            <a:ext cx="6108192"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562856" y="5010912"/>
            <a:ext cx="5961888"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Short extracts only, and it can be routed through a JLR service. The CAD file itself stays on the server.</a:t>
            </a:r>
          </a:p>
        </p:txBody>
      </p:sp>
      <p:sp>
        <p:nvSpPr>
          <p:cNvPr id="63" name="Rectangle 62"/>
          <p:cNvSpPr/>
          <p:nvPr/>
        </p:nvSpPr>
        <p:spPr>
          <a:xfrm>
            <a:off x="10588752" y="4946904"/>
            <a:ext cx="118872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671048" y="5010912"/>
            <a:ext cx="10424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B7791F"/>
                </a:solidFill>
                <a:latin typeface="Calibri"/>
              </a:rPr>
              <a:t>Medium</a:t>
            </a:r>
          </a:p>
        </p:txBody>
      </p:sp>
      <p:sp>
        <p:nvSpPr>
          <p:cNvPr id="65" name="Rectangle 64"/>
          <p:cNvSpPr/>
          <p:nvPr/>
        </p:nvSpPr>
        <p:spPr>
          <a:xfrm>
            <a:off x="411480" y="5513832"/>
            <a:ext cx="301752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93776" y="5577840"/>
            <a:ext cx="28712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Tool is still changing</a:t>
            </a:r>
          </a:p>
        </p:txBody>
      </p:sp>
      <p:sp>
        <p:nvSpPr>
          <p:cNvPr id="67" name="Rectangle 66"/>
          <p:cNvSpPr/>
          <p:nvPr/>
        </p:nvSpPr>
        <p:spPr>
          <a:xfrm>
            <a:off x="3429000" y="5513832"/>
            <a:ext cx="105156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511296" y="5577840"/>
            <a:ext cx="905256"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Both</a:t>
            </a:r>
          </a:p>
        </p:txBody>
      </p:sp>
      <p:sp>
        <p:nvSpPr>
          <p:cNvPr id="69" name="Rectangle 68"/>
          <p:cNvSpPr/>
          <p:nvPr/>
        </p:nvSpPr>
        <p:spPr>
          <a:xfrm>
            <a:off x="4480560" y="5513832"/>
            <a:ext cx="6108192"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562856" y="5577840"/>
            <a:ext cx="5961888"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Three faults were found and fixed in August. Development is ongoing, so a version has to be fixed for any trial.</a:t>
            </a:r>
          </a:p>
        </p:txBody>
      </p:sp>
      <p:sp>
        <p:nvSpPr>
          <p:cNvPr id="71" name="Rectangle 70"/>
          <p:cNvSpPr/>
          <p:nvPr/>
        </p:nvSpPr>
        <p:spPr>
          <a:xfrm>
            <a:off x="10588752" y="5513832"/>
            <a:ext cx="118872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671048" y="5577840"/>
            <a:ext cx="10424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B7791F"/>
                </a:solidFill>
                <a:latin typeface="Calibri"/>
              </a:rPr>
              <a:t>Medium</a:t>
            </a:r>
          </a:p>
        </p:txBody>
      </p:sp>
      <p:sp>
        <p:nvSpPr>
          <p:cNvPr id="73" name="Rounded Rectangle 72"/>
          <p:cNvSpPr/>
          <p:nvPr/>
        </p:nvSpPr>
        <p:spPr>
          <a:xfrm>
            <a:off x="411480" y="5943600"/>
            <a:ext cx="11365992" cy="658368"/>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11480" y="5943600"/>
            <a:ext cx="68580" cy="65836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30936" y="606247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Two of the three high items are resolved by the same step</a:t>
            </a:r>
          </a:p>
        </p:txBody>
      </p:sp>
      <p:sp>
        <p:nvSpPr>
          <p:cNvPr id="76" name="TextBox 75"/>
          <p:cNvSpPr txBox="1"/>
          <p:nvPr/>
        </p:nvSpPr>
        <p:spPr>
          <a:xfrm>
            <a:off x="630936" y="6345936"/>
            <a:ext cx="10954512" cy="15544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Running Option 2 establishes accuracy and forces the rate history and saved costings to be built. That is a further argument for taking it first.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NEXT STEPS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is needed to start</a:t>
            </a:r>
          </a:p>
        </p:txBody>
      </p:sp>
      <p:sp>
        <p:nvSpPr>
          <p:cNvPr id="9" name="Rounded Rectangle 8"/>
          <p:cNvSpPr/>
          <p:nvPr/>
        </p:nvSpPr>
        <p:spPr>
          <a:xfrm>
            <a:off x="411480" y="1783080"/>
            <a:ext cx="11365992" cy="10972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83080"/>
            <a:ext cx="68580" cy="10972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920240"/>
            <a:ext cx="457200" cy="457200"/>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Oval 11"/>
          <p:cNvSpPr/>
          <p:nvPr/>
        </p:nvSpPr>
        <p:spPr>
          <a:xfrm>
            <a:off x="1298448" y="1920240"/>
            <a:ext cx="457200" cy="457200"/>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ip.png"/>
          <p:cNvPicPr>
            <a:picLocks noChangeAspect="1"/>
          </p:cNvPicPr>
          <p:nvPr/>
        </p:nvPicPr>
        <p:blipFill>
          <a:blip r:embed="rId2"/>
          <a:stretch>
            <a:fillRect/>
          </a:stretch>
        </p:blipFill>
        <p:spPr>
          <a:xfrm>
            <a:off x="1417320" y="2039112"/>
            <a:ext cx="219456" cy="219456"/>
          </a:xfrm>
          <a:prstGeom prst="rect">
            <a:avLst/>
          </a:prstGeom>
        </p:spPr>
      </p:pic>
      <p:sp>
        <p:nvSpPr>
          <p:cNvPr id="14" name="TextBox 13"/>
          <p:cNvSpPr txBox="1"/>
          <p:nvPr/>
        </p:nvSpPr>
        <p:spPr>
          <a:xfrm>
            <a:off x="1965960" y="1938528"/>
            <a:ext cx="960120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30 to 50 parts with the price actually paid</a:t>
            </a:r>
          </a:p>
        </p:txBody>
      </p:sp>
      <p:sp>
        <p:nvSpPr>
          <p:cNvPr id="15" name="TextBox 14"/>
          <p:cNvSpPr txBox="1"/>
          <p:nvPr/>
        </p:nvSpPr>
        <p:spPr>
          <a:xfrm>
            <a:off x="1965960" y="2286000"/>
            <a:ext cx="9509760" cy="502920"/>
          </a:xfrm>
          <a:prstGeom prst="rect">
            <a:avLst/>
          </a:prstGeom>
          <a:noFill/>
        </p:spPr>
        <p:txBody>
          <a:bodyPr wrap="square" anchor="t" lIns="0" rIns="0" tIns="0" bIns="0">
            <a:spAutoFit/>
          </a:bodyPr>
          <a:lstStyle/>
          <a:p>
            <a:pPr algn="l">
              <a:lnSpc>
                <a:spcPct val="115000"/>
              </a:lnSpc>
              <a:spcAft>
                <a:spcPts val="400"/>
              </a:spcAft>
            </a:pPr>
            <a:r>
              <a:rPr sz="1030" b="0" i="0">
                <a:solidFill>
                  <a:srgbClr val="3A4356"/>
                </a:solidFill>
                <a:latin typeface="Calibri"/>
              </a:rPr>
              <a:t>Part, description, annual volume, where it was made, and the price paid. Existing purchase records are sufficient. This is what establishes accuracy, and both options depend on it.</a:t>
            </a:r>
          </a:p>
        </p:txBody>
      </p:sp>
      <p:sp>
        <p:nvSpPr>
          <p:cNvPr id="16" name="Rounded Rectangle 15"/>
          <p:cNvSpPr/>
          <p:nvPr/>
        </p:nvSpPr>
        <p:spPr>
          <a:xfrm>
            <a:off x="411480" y="2971800"/>
            <a:ext cx="11365992" cy="10972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971800"/>
            <a:ext cx="68580" cy="10972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8368" y="3108960"/>
            <a:ext cx="457200" cy="45720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9" name="Oval 18"/>
          <p:cNvSpPr/>
          <p:nvPr/>
        </p:nvSpPr>
        <p:spPr>
          <a:xfrm>
            <a:off x="1298448" y="3108960"/>
            <a:ext cx="457200" cy="45720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ins.png"/>
          <p:cNvPicPr>
            <a:picLocks noChangeAspect="1"/>
          </p:cNvPicPr>
          <p:nvPr/>
        </p:nvPicPr>
        <p:blipFill>
          <a:blip r:embed="rId3"/>
          <a:stretch>
            <a:fillRect/>
          </a:stretch>
        </p:blipFill>
        <p:spPr>
          <a:xfrm>
            <a:off x="1417320" y="3227832"/>
            <a:ext cx="219456" cy="219456"/>
          </a:xfrm>
          <a:prstGeom prst="rect">
            <a:avLst/>
          </a:prstGeom>
        </p:spPr>
      </p:pic>
      <p:sp>
        <p:nvSpPr>
          <p:cNvPr id="21" name="TextBox 20"/>
          <p:cNvSpPr txBox="1"/>
          <p:nvPr/>
        </p:nvSpPr>
        <p:spPr>
          <a:xfrm>
            <a:off x="1965960" y="3127248"/>
            <a:ext cx="960120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JLR rate data</a:t>
            </a:r>
          </a:p>
        </p:txBody>
      </p:sp>
      <p:sp>
        <p:nvSpPr>
          <p:cNvPr id="22" name="TextBox 21"/>
          <p:cNvSpPr txBox="1"/>
          <p:nvPr/>
        </p:nvSpPr>
        <p:spPr>
          <a:xfrm>
            <a:off x="1965960" y="3474720"/>
            <a:ext cx="9509760" cy="502920"/>
          </a:xfrm>
          <a:prstGeom prst="rect">
            <a:avLst/>
          </a:prstGeom>
          <a:noFill/>
        </p:spPr>
        <p:txBody>
          <a:bodyPr wrap="square" anchor="t" lIns="0" rIns="0" tIns="0" bIns="0">
            <a:spAutoFit/>
          </a:bodyPr>
          <a:lstStyle/>
          <a:p>
            <a:pPr algn="l">
              <a:lnSpc>
                <a:spcPct val="115000"/>
              </a:lnSpc>
              <a:spcAft>
                <a:spcPts val="400"/>
              </a:spcAft>
            </a:pPr>
            <a:r>
              <a:rPr sz="1030" b="0" i="0">
                <a:solidFill>
                  <a:srgbClr val="3A4356"/>
                </a:solidFill>
                <a:latin typeface="Calibri"/>
              </a:rPr>
              <a:t>Material prices, machine rates per hour, labour by grade, electricity and gas. This governs the Option 2 sequence, so it is worth starting regardless of which option is chosen.</a:t>
            </a:r>
          </a:p>
        </p:txBody>
      </p:sp>
      <p:sp>
        <p:nvSpPr>
          <p:cNvPr id="23" name="Rounded Rectangle 22"/>
          <p:cNvSpPr/>
          <p:nvPr/>
        </p:nvSpPr>
        <p:spPr>
          <a:xfrm>
            <a:off x="411480" y="4160520"/>
            <a:ext cx="11365992" cy="10972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160520"/>
            <a:ext cx="68580" cy="10972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8368" y="4297680"/>
            <a:ext cx="457200" cy="45720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6" name="Oval 25"/>
          <p:cNvSpPr/>
          <p:nvPr/>
        </p:nvSpPr>
        <p:spPr>
          <a:xfrm>
            <a:off x="1298448" y="4297680"/>
            <a:ext cx="457200" cy="45720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g.png"/>
          <p:cNvPicPr>
            <a:picLocks noChangeAspect="1"/>
          </p:cNvPicPr>
          <p:nvPr/>
        </p:nvPicPr>
        <p:blipFill>
          <a:blip r:embed="rId4"/>
          <a:stretch>
            <a:fillRect/>
          </a:stretch>
        </p:blipFill>
        <p:spPr>
          <a:xfrm>
            <a:off x="1417320" y="4416552"/>
            <a:ext cx="219456" cy="219456"/>
          </a:xfrm>
          <a:prstGeom prst="rect">
            <a:avLst/>
          </a:prstGeom>
        </p:spPr>
      </p:pic>
      <p:sp>
        <p:nvSpPr>
          <p:cNvPr id="28" name="TextBox 27"/>
          <p:cNvSpPr txBox="1"/>
          <p:nvPr/>
        </p:nvSpPr>
        <p:spPr>
          <a:xfrm>
            <a:off x="1965960" y="4315968"/>
            <a:ext cx="960120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How CAPEE is built</a:t>
            </a:r>
          </a:p>
        </p:txBody>
      </p:sp>
      <p:sp>
        <p:nvSpPr>
          <p:cNvPr id="29" name="TextBox 28"/>
          <p:cNvSpPr txBox="1"/>
          <p:nvPr/>
        </p:nvSpPr>
        <p:spPr>
          <a:xfrm>
            <a:off x="1965960" y="4663440"/>
            <a:ext cx="9509760" cy="502920"/>
          </a:xfrm>
          <a:prstGeom prst="rect">
            <a:avLst/>
          </a:prstGeom>
          <a:noFill/>
        </p:spPr>
        <p:txBody>
          <a:bodyPr wrap="square" anchor="t" lIns="0" rIns="0" tIns="0" bIns="0">
            <a:spAutoFit/>
          </a:bodyPr>
          <a:lstStyle/>
          <a:p>
            <a:pPr algn="l">
              <a:lnSpc>
                <a:spcPct val="115000"/>
              </a:lnSpc>
              <a:spcAft>
                <a:spcPts val="400"/>
              </a:spcAft>
            </a:pPr>
            <a:r>
              <a:rPr sz="1030" b="0" i="0">
                <a:solidFill>
                  <a:srgbClr val="3A4356"/>
                </a:solidFill>
                <a:latin typeface="Calibri"/>
              </a:rPr>
              <a:t>What it is written in, whether it can call another service on the network, and what kind of server it runs on. Three questions to IT. Unblocks Option 1.</a:t>
            </a:r>
          </a:p>
        </p:txBody>
      </p:sp>
      <p:sp>
        <p:nvSpPr>
          <p:cNvPr id="30" name="Rounded Rectangle 29"/>
          <p:cNvSpPr/>
          <p:nvPr/>
        </p:nvSpPr>
        <p:spPr>
          <a:xfrm>
            <a:off x="411480" y="5349240"/>
            <a:ext cx="11365992" cy="10972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11480" y="5349240"/>
            <a:ext cx="68580" cy="10972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8368" y="5486400"/>
            <a:ext cx="457200" cy="45720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33" name="Oval 32"/>
          <p:cNvSpPr/>
          <p:nvPr/>
        </p:nvSpPr>
        <p:spPr>
          <a:xfrm>
            <a:off x="1298448" y="5486400"/>
            <a:ext cx="457200" cy="45720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hield.png"/>
          <p:cNvPicPr>
            <a:picLocks noChangeAspect="1"/>
          </p:cNvPicPr>
          <p:nvPr/>
        </p:nvPicPr>
        <p:blipFill>
          <a:blip r:embed="rId5"/>
          <a:stretch>
            <a:fillRect/>
          </a:stretch>
        </p:blipFill>
        <p:spPr>
          <a:xfrm>
            <a:off x="1417320" y="5605272"/>
            <a:ext cx="219456" cy="219456"/>
          </a:xfrm>
          <a:prstGeom prst="rect">
            <a:avLst/>
          </a:prstGeom>
        </p:spPr>
      </p:pic>
      <p:sp>
        <p:nvSpPr>
          <p:cNvPr id="35" name="TextBox 34"/>
          <p:cNvSpPr txBox="1"/>
          <p:nvPr/>
        </p:nvSpPr>
        <p:spPr>
          <a:xfrm>
            <a:off x="1965960" y="5504688"/>
            <a:ext cx="960120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A decision on the drawing-reading step</a:t>
            </a:r>
          </a:p>
        </p:txBody>
      </p:sp>
      <p:sp>
        <p:nvSpPr>
          <p:cNvPr id="36" name="TextBox 35"/>
          <p:cNvSpPr txBox="1"/>
          <p:nvPr/>
        </p:nvSpPr>
        <p:spPr>
          <a:xfrm>
            <a:off x="1965960" y="5852160"/>
            <a:ext cx="9509760" cy="502920"/>
          </a:xfrm>
          <a:prstGeom prst="rect">
            <a:avLst/>
          </a:prstGeom>
          <a:noFill/>
        </p:spPr>
        <p:txBody>
          <a:bodyPr wrap="square" anchor="t" lIns="0" rIns="0" tIns="0" bIns="0">
            <a:spAutoFit/>
          </a:bodyPr>
          <a:lstStyle/>
          <a:p>
            <a:pPr algn="l">
              <a:lnSpc>
                <a:spcPct val="115000"/>
              </a:lnSpc>
              <a:spcAft>
                <a:spcPts val="400"/>
              </a:spcAft>
            </a:pPr>
            <a:r>
              <a:rPr sz="1030" b="0" i="0">
                <a:solidFill>
                  <a:srgbClr val="3A4356"/>
                </a:solidFill>
                <a:latin typeface="Calibri"/>
              </a:rPr>
              <a:t>Either switch off the AI reading and keep the measuring, or route it through a JLR-approved service. The data-flow document is ready for either.</a:t>
            </a:r>
          </a:p>
        </p:txBody>
      </p:sp>
      <p:sp>
        <p:nvSpPr>
          <p:cNvPr id="37" name="Rounded Rectangle 36"/>
          <p:cNvSpPr/>
          <p:nvPr/>
        </p:nvSpPr>
        <p:spPr>
          <a:xfrm>
            <a:off x="411480" y="6016752"/>
            <a:ext cx="11365992" cy="50292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11480" y="6016752"/>
            <a:ext cx="68580" cy="5029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 y="6135624"/>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The first one carries the most weight</a:t>
            </a:r>
          </a:p>
        </p:txBody>
      </p:sp>
      <p:sp>
        <p:nvSpPr>
          <p:cNvPr id="40" name="TextBox 39"/>
          <p:cNvSpPr txBox="1"/>
          <p:nvPr/>
        </p:nvSpPr>
        <p:spPr>
          <a:xfrm>
            <a:off x="630936" y="6419088"/>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other three can run in parallel. Without real prices to compare against, neither option can be signed off as accurate.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SEQUENCE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Order of work and what blocks what</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No dates. Nothing here has been sized by JLR. What is fixed is the order, because some steps cannot begin until others finish.</a:t>
            </a:r>
          </a:p>
        </p:txBody>
      </p:sp>
      <p:sp>
        <p:nvSpPr>
          <p:cNvPr id="10" name="Rounded Rectangle 9"/>
          <p:cNvSpPr/>
          <p:nvPr/>
        </p:nvSpPr>
        <p:spPr>
          <a:xfrm>
            <a:off x="411480" y="2148840"/>
            <a:ext cx="1709928" cy="12344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14884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7844" y="2304288"/>
            <a:ext cx="457200" cy="45720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oins.png"/>
          <p:cNvPicPr>
            <a:picLocks noChangeAspect="1"/>
          </p:cNvPicPr>
          <p:nvPr/>
        </p:nvPicPr>
        <p:blipFill>
          <a:blip r:embed="rId2"/>
          <a:stretch>
            <a:fillRect/>
          </a:stretch>
        </p:blipFill>
        <p:spPr>
          <a:xfrm>
            <a:off x="1156716" y="2423160"/>
            <a:ext cx="219456" cy="219456"/>
          </a:xfrm>
          <a:prstGeom prst="rect">
            <a:avLst/>
          </a:prstGeom>
        </p:spPr>
      </p:pic>
      <p:sp>
        <p:nvSpPr>
          <p:cNvPr id="14" name="TextBox 13"/>
          <p:cNvSpPr txBox="1"/>
          <p:nvPr/>
        </p:nvSpPr>
        <p:spPr>
          <a:xfrm>
            <a:off x="502920" y="2852928"/>
            <a:ext cx="1527048" cy="457200"/>
          </a:xfrm>
          <a:prstGeom prst="rect">
            <a:avLst/>
          </a:prstGeom>
          <a:noFill/>
        </p:spPr>
        <p:txBody>
          <a:bodyPr wrap="square" anchor="t" lIns="0" rIns="0" tIns="0" bIns="0">
            <a:spAutoFit/>
          </a:bodyPr>
          <a:lstStyle/>
          <a:p>
            <a:pPr algn="ctr">
              <a:lnSpc>
                <a:spcPct val="110000"/>
              </a:lnSpc>
              <a:spcAft>
                <a:spcPts val="400"/>
              </a:spcAft>
            </a:pPr>
            <a:r>
              <a:rPr sz="980" b="1" i="0">
                <a:solidFill>
                  <a:srgbClr val="16325C"/>
                </a:solidFill>
                <a:latin typeface="Calibri"/>
              </a:rPr>
              <a:t>JLR supplies rate data</a:t>
            </a:r>
          </a:p>
        </p:txBody>
      </p:sp>
      <p:sp>
        <p:nvSpPr>
          <p:cNvPr id="15" name="Right Arrow 14"/>
          <p:cNvSpPr/>
          <p:nvPr/>
        </p:nvSpPr>
        <p:spPr>
          <a:xfrm>
            <a:off x="2139696" y="267004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295144" y="2148840"/>
            <a:ext cx="1709928" cy="12344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95144" y="214884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921508" y="2304288"/>
            <a:ext cx="457200" cy="45720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og.png"/>
          <p:cNvPicPr>
            <a:picLocks noChangeAspect="1"/>
          </p:cNvPicPr>
          <p:nvPr/>
        </p:nvPicPr>
        <p:blipFill>
          <a:blip r:embed="rId3"/>
          <a:stretch>
            <a:fillRect/>
          </a:stretch>
        </p:blipFill>
        <p:spPr>
          <a:xfrm>
            <a:off x="3040380" y="2423160"/>
            <a:ext cx="219456" cy="219456"/>
          </a:xfrm>
          <a:prstGeom prst="rect">
            <a:avLst/>
          </a:prstGeom>
        </p:spPr>
      </p:pic>
      <p:sp>
        <p:nvSpPr>
          <p:cNvPr id="20" name="TextBox 19"/>
          <p:cNvSpPr txBox="1"/>
          <p:nvPr/>
        </p:nvSpPr>
        <p:spPr>
          <a:xfrm>
            <a:off x="2386584" y="2852928"/>
            <a:ext cx="1527048" cy="457200"/>
          </a:xfrm>
          <a:prstGeom prst="rect">
            <a:avLst/>
          </a:prstGeom>
          <a:noFill/>
        </p:spPr>
        <p:txBody>
          <a:bodyPr wrap="square" anchor="t" lIns="0" rIns="0" tIns="0" bIns="0">
            <a:spAutoFit/>
          </a:bodyPr>
          <a:lstStyle/>
          <a:p>
            <a:pPr algn="ctr">
              <a:lnSpc>
                <a:spcPct val="110000"/>
              </a:lnSpc>
              <a:spcAft>
                <a:spcPts val="400"/>
              </a:spcAft>
            </a:pPr>
            <a:r>
              <a:rPr sz="980" b="1" i="0">
                <a:solidFill>
                  <a:srgbClr val="16325C"/>
                </a:solidFill>
                <a:latin typeface="Calibri"/>
              </a:rPr>
              <a:t>CostVision installed and loaded</a:t>
            </a:r>
          </a:p>
        </p:txBody>
      </p:sp>
      <p:sp>
        <p:nvSpPr>
          <p:cNvPr id="21" name="Right Arrow 20"/>
          <p:cNvSpPr/>
          <p:nvPr/>
        </p:nvSpPr>
        <p:spPr>
          <a:xfrm>
            <a:off x="4023360" y="267004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178808" y="2148840"/>
            <a:ext cx="1709928" cy="12344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78808" y="214884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805172" y="2304288"/>
            <a:ext cx="457200" cy="45720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eye.png"/>
          <p:cNvPicPr>
            <a:picLocks noChangeAspect="1"/>
          </p:cNvPicPr>
          <p:nvPr/>
        </p:nvPicPr>
        <p:blipFill>
          <a:blip r:embed="rId4"/>
          <a:stretch>
            <a:fillRect/>
          </a:stretch>
        </p:blipFill>
        <p:spPr>
          <a:xfrm>
            <a:off x="4924044" y="2423160"/>
            <a:ext cx="219456" cy="219456"/>
          </a:xfrm>
          <a:prstGeom prst="rect">
            <a:avLst/>
          </a:prstGeom>
        </p:spPr>
      </p:pic>
      <p:sp>
        <p:nvSpPr>
          <p:cNvPr id="26" name="TextBox 25"/>
          <p:cNvSpPr txBox="1"/>
          <p:nvPr/>
        </p:nvSpPr>
        <p:spPr>
          <a:xfrm>
            <a:off x="4270248" y="2852928"/>
            <a:ext cx="1527048" cy="457200"/>
          </a:xfrm>
          <a:prstGeom prst="rect">
            <a:avLst/>
          </a:prstGeom>
          <a:noFill/>
        </p:spPr>
        <p:txBody>
          <a:bodyPr wrap="square" anchor="t" lIns="0" rIns="0" tIns="0" bIns="0">
            <a:spAutoFit/>
          </a:bodyPr>
          <a:lstStyle/>
          <a:p>
            <a:pPr algn="ctr">
              <a:lnSpc>
                <a:spcPct val="110000"/>
              </a:lnSpc>
              <a:spcAft>
                <a:spcPts val="400"/>
              </a:spcAft>
            </a:pPr>
            <a:r>
              <a:rPr sz="980" b="1" i="0">
                <a:solidFill>
                  <a:srgbClr val="16325C"/>
                </a:solidFill>
                <a:latin typeface="Calibri"/>
              </a:rPr>
              <a:t>Compared against parts purchased</a:t>
            </a:r>
          </a:p>
        </p:txBody>
      </p:sp>
      <p:sp>
        <p:nvSpPr>
          <p:cNvPr id="27" name="Right Arrow 26"/>
          <p:cNvSpPr/>
          <p:nvPr/>
        </p:nvSpPr>
        <p:spPr>
          <a:xfrm>
            <a:off x="5907024" y="267004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062472" y="2148840"/>
            <a:ext cx="1709928" cy="12344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062472" y="214884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png"/>
          <p:cNvPicPr>
            <a:picLocks noChangeAspect="1"/>
          </p:cNvPicPr>
          <p:nvPr/>
        </p:nvPicPr>
        <p:blipFill>
          <a:blip r:embed="rId5"/>
          <a:stretch>
            <a:fillRect/>
          </a:stretch>
        </p:blipFill>
        <p:spPr>
          <a:xfrm>
            <a:off x="6807708" y="2423160"/>
            <a:ext cx="219456" cy="219456"/>
          </a:xfrm>
          <a:prstGeom prst="rect">
            <a:avLst/>
          </a:prstGeom>
        </p:spPr>
      </p:pic>
      <p:sp>
        <p:nvSpPr>
          <p:cNvPr id="31" name="TextBox 30"/>
          <p:cNvSpPr txBox="1"/>
          <p:nvPr/>
        </p:nvSpPr>
        <p:spPr>
          <a:xfrm>
            <a:off x="6153912" y="2852928"/>
            <a:ext cx="1527048" cy="457200"/>
          </a:xfrm>
          <a:prstGeom prst="rect">
            <a:avLst/>
          </a:prstGeom>
          <a:noFill/>
        </p:spPr>
        <p:txBody>
          <a:bodyPr wrap="square" anchor="t" lIns="0" rIns="0" tIns="0" bIns="0">
            <a:spAutoFit/>
          </a:bodyPr>
          <a:lstStyle/>
          <a:p>
            <a:pPr algn="ctr">
              <a:lnSpc>
                <a:spcPct val="110000"/>
              </a:lnSpc>
              <a:spcAft>
                <a:spcPts val="400"/>
              </a:spcAft>
            </a:pPr>
            <a:r>
              <a:rPr sz="980" b="1" i="0">
                <a:solidFill>
                  <a:srgbClr val="16325C"/>
                </a:solidFill>
                <a:latin typeface="Calibri"/>
              </a:rPr>
              <a:t>Accuracy established</a:t>
            </a:r>
          </a:p>
        </p:txBody>
      </p:sp>
      <p:sp>
        <p:nvSpPr>
          <p:cNvPr id="32" name="Right Arrow 31"/>
          <p:cNvSpPr/>
          <p:nvPr/>
        </p:nvSpPr>
        <p:spPr>
          <a:xfrm>
            <a:off x="7790688" y="267004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946136" y="2148840"/>
            <a:ext cx="1709928" cy="12344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946136" y="2148840"/>
            <a:ext cx="170992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572500" y="2304288"/>
            <a:ext cx="457200" cy="45720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person.png"/>
          <p:cNvPicPr>
            <a:picLocks noChangeAspect="1"/>
          </p:cNvPicPr>
          <p:nvPr/>
        </p:nvPicPr>
        <p:blipFill>
          <a:blip r:embed="rId6"/>
          <a:stretch>
            <a:fillRect/>
          </a:stretch>
        </p:blipFill>
        <p:spPr>
          <a:xfrm>
            <a:off x="8691372" y="2423160"/>
            <a:ext cx="219456" cy="219456"/>
          </a:xfrm>
          <a:prstGeom prst="rect">
            <a:avLst/>
          </a:prstGeom>
        </p:spPr>
      </p:pic>
      <p:sp>
        <p:nvSpPr>
          <p:cNvPr id="37" name="TextBox 36"/>
          <p:cNvSpPr txBox="1"/>
          <p:nvPr/>
        </p:nvSpPr>
        <p:spPr>
          <a:xfrm>
            <a:off x="8037576" y="2852928"/>
            <a:ext cx="1527048" cy="457200"/>
          </a:xfrm>
          <a:prstGeom prst="rect">
            <a:avLst/>
          </a:prstGeom>
          <a:noFill/>
        </p:spPr>
        <p:txBody>
          <a:bodyPr wrap="square" anchor="t" lIns="0" rIns="0" tIns="0" bIns="0">
            <a:spAutoFit/>
          </a:bodyPr>
          <a:lstStyle/>
          <a:p>
            <a:pPr algn="ctr">
              <a:lnSpc>
                <a:spcPct val="110000"/>
              </a:lnSpc>
              <a:spcAft>
                <a:spcPts val="400"/>
              </a:spcAft>
            </a:pPr>
            <a:r>
              <a:rPr sz="980" b="1" i="0">
                <a:solidFill>
                  <a:srgbClr val="16325C"/>
                </a:solidFill>
                <a:latin typeface="Calibri"/>
              </a:rPr>
              <a:t>Decision on Option 1</a:t>
            </a:r>
          </a:p>
        </p:txBody>
      </p:sp>
      <p:sp>
        <p:nvSpPr>
          <p:cNvPr id="38" name="Right Arrow 37"/>
          <p:cNvSpPr/>
          <p:nvPr/>
        </p:nvSpPr>
        <p:spPr>
          <a:xfrm>
            <a:off x="9674352" y="267004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829800" y="2148840"/>
            <a:ext cx="1709928" cy="12344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829800" y="2148840"/>
            <a:ext cx="170992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0456164" y="2304288"/>
            <a:ext cx="457200" cy="45720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calc.png"/>
          <p:cNvPicPr>
            <a:picLocks noChangeAspect="1"/>
          </p:cNvPicPr>
          <p:nvPr/>
        </p:nvPicPr>
        <p:blipFill>
          <a:blip r:embed="rId7"/>
          <a:stretch>
            <a:fillRect/>
          </a:stretch>
        </p:blipFill>
        <p:spPr>
          <a:xfrm>
            <a:off x="10575036" y="2423160"/>
            <a:ext cx="219456" cy="219456"/>
          </a:xfrm>
          <a:prstGeom prst="rect">
            <a:avLst/>
          </a:prstGeom>
        </p:spPr>
      </p:pic>
      <p:sp>
        <p:nvSpPr>
          <p:cNvPr id="43" name="TextBox 42"/>
          <p:cNvSpPr txBox="1"/>
          <p:nvPr/>
        </p:nvSpPr>
        <p:spPr>
          <a:xfrm>
            <a:off x="9921240" y="2852928"/>
            <a:ext cx="1527048" cy="457200"/>
          </a:xfrm>
          <a:prstGeom prst="rect">
            <a:avLst/>
          </a:prstGeom>
          <a:noFill/>
        </p:spPr>
        <p:txBody>
          <a:bodyPr wrap="square" anchor="t" lIns="0" rIns="0" tIns="0" bIns="0">
            <a:spAutoFit/>
          </a:bodyPr>
          <a:lstStyle/>
          <a:p>
            <a:pPr algn="ctr">
              <a:lnSpc>
                <a:spcPct val="110000"/>
              </a:lnSpc>
              <a:spcAft>
                <a:spcPts val="400"/>
              </a:spcAft>
            </a:pPr>
            <a:r>
              <a:rPr sz="980" b="1" i="0">
                <a:solidFill>
                  <a:srgbClr val="16325C"/>
                </a:solidFill>
                <a:latin typeface="Calibri"/>
              </a:rPr>
              <a:t>Feed CAPEE automatically</a:t>
            </a:r>
          </a:p>
        </p:txBody>
      </p:sp>
      <p:sp>
        <p:nvSpPr>
          <p:cNvPr id="44" name="Rounded Rectangle 43"/>
          <p:cNvSpPr/>
          <p:nvPr/>
        </p:nvSpPr>
        <p:spPr>
          <a:xfrm>
            <a:off x="411480" y="3657600"/>
            <a:ext cx="11365992" cy="82296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11480" y="3657600"/>
            <a:ext cx="68580" cy="82296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3785615"/>
            <a:ext cx="10881360" cy="237744"/>
          </a:xfrm>
          <a:prstGeom prst="rect">
            <a:avLst/>
          </a:prstGeom>
          <a:noFill/>
        </p:spPr>
        <p:txBody>
          <a:bodyPr wrap="square" anchor="t" lIns="0" rIns="0" tIns="0" bIns="0">
            <a:spAutoFit/>
          </a:bodyPr>
          <a:lstStyle/>
          <a:p>
            <a:pPr algn="l">
              <a:lnSpc>
                <a:spcPct val="100000"/>
              </a:lnSpc>
              <a:spcAft>
                <a:spcPts val="400"/>
              </a:spcAft>
            </a:pPr>
            <a:r>
              <a:rPr sz="1150" b="1" i="0">
                <a:solidFill>
                  <a:srgbClr val="B7791F"/>
                </a:solidFill>
                <a:latin typeface="Calibri"/>
              </a:rPr>
              <a:t>Runs in parallel, blocks nothing above it</a:t>
            </a:r>
          </a:p>
        </p:txBody>
      </p:sp>
      <p:sp>
        <p:nvSpPr>
          <p:cNvPr id="47" name="TextBox 46"/>
          <p:cNvSpPr txBox="1"/>
          <p:nvPr/>
        </p:nvSpPr>
        <p:spPr>
          <a:xfrm>
            <a:off x="658368" y="4059936"/>
            <a:ext cx="10881360"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IT security review  ·  Answer on how CAPEE is built  ·  Standing up the measuring software  ·  Writing out the settings list</a:t>
            </a:r>
          </a:p>
        </p:txBody>
      </p:sp>
      <p:sp>
        <p:nvSpPr>
          <p:cNvPr id="48" name="Rectangle 47"/>
          <p:cNvSpPr/>
          <p:nvPr/>
        </p:nvSpPr>
        <p:spPr>
          <a:xfrm>
            <a:off x="411480" y="4709160"/>
            <a:ext cx="11365992"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11480" y="4709160"/>
            <a:ext cx="54864" cy="402336"/>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4818888"/>
            <a:ext cx="10881360" cy="219456"/>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Nothing can be checked for accuracy until JLR rate data is loaded.</a:t>
            </a:r>
          </a:p>
        </p:txBody>
      </p:sp>
      <p:sp>
        <p:nvSpPr>
          <p:cNvPr id="51" name="Rectangle 50"/>
          <p:cNvSpPr/>
          <p:nvPr/>
        </p:nvSpPr>
        <p:spPr>
          <a:xfrm>
            <a:off x="411480" y="5166360"/>
            <a:ext cx="11365992"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11480" y="5166360"/>
            <a:ext cx="54864" cy="402336"/>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5276088"/>
            <a:ext cx="10881360" cy="219456"/>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Option 1 should not be committed until accuracy is established.</a:t>
            </a:r>
          </a:p>
        </p:txBody>
      </p:sp>
      <p:sp>
        <p:nvSpPr>
          <p:cNvPr id="54" name="Rectangle 53"/>
          <p:cNvSpPr/>
          <p:nvPr/>
        </p:nvSpPr>
        <p:spPr>
          <a:xfrm>
            <a:off x="411480" y="5623560"/>
            <a:ext cx="11365992"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11480" y="5623560"/>
            <a:ext cx="54864" cy="402336"/>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8368" y="5733288"/>
            <a:ext cx="10881360" cy="219456"/>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Connecting into CAPEE cannot be scoped until IT answer how CAPEE is built.</a:t>
            </a:r>
          </a:p>
        </p:txBody>
      </p:sp>
      <p:sp>
        <p:nvSpPr>
          <p:cNvPr id="57" name="Rectangle 56"/>
          <p:cNvSpPr/>
          <p:nvPr/>
        </p:nvSpPr>
        <p:spPr>
          <a:xfrm>
            <a:off x="411480" y="6080760"/>
            <a:ext cx="11365992"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11480" y="6080760"/>
            <a:ext cx="54864" cy="402336"/>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8368" y="6190488"/>
            <a:ext cx="10881360" cy="219456"/>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Rate history and saved costings must exist before the tool is used for anything audited.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APPENDIX</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the figures come from</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Every count and value in this deck was read from the software in August 2026 and checked again when these slides were produced.</a:t>
            </a:r>
          </a:p>
        </p:txBody>
      </p:sp>
      <p:sp>
        <p:nvSpPr>
          <p:cNvPr id="10" name="Rectangle 9"/>
          <p:cNvSpPr/>
          <p:nvPr/>
        </p:nvSpPr>
        <p:spPr>
          <a:xfrm>
            <a:off x="411480" y="2057400"/>
            <a:ext cx="512064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139696"/>
            <a:ext cx="497433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Statement</a:t>
            </a:r>
          </a:p>
        </p:txBody>
      </p:sp>
      <p:sp>
        <p:nvSpPr>
          <p:cNvPr id="12" name="Rectangle 11"/>
          <p:cNvSpPr/>
          <p:nvPr/>
        </p:nvSpPr>
        <p:spPr>
          <a:xfrm>
            <a:off x="5532120" y="2057400"/>
            <a:ext cx="624535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14416" y="2139696"/>
            <a:ext cx="609904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How it was checked</a:t>
            </a:r>
          </a:p>
        </p:txBody>
      </p:sp>
      <p:sp>
        <p:nvSpPr>
          <p:cNvPr id="14" name="Rectangle 13"/>
          <p:cNvSpPr/>
          <p:nvPr/>
        </p:nvSpPr>
        <p:spPr>
          <a:xfrm>
            <a:off x="411480" y="2386584"/>
            <a:ext cx="5120640"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 y="2450592"/>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19 part types costable in the tool</a:t>
            </a:r>
          </a:p>
        </p:txBody>
      </p:sp>
      <p:sp>
        <p:nvSpPr>
          <p:cNvPr id="16" name="Rectangle 15"/>
          <p:cNvSpPr/>
          <p:nvPr/>
        </p:nvSpPr>
        <p:spPr>
          <a:xfrm>
            <a:off x="5532120" y="2386584"/>
            <a:ext cx="6245352"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14416" y="2450592"/>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Traced each one from its screen through to the costing</a:t>
            </a:r>
          </a:p>
        </p:txBody>
      </p:sp>
      <p:sp>
        <p:nvSpPr>
          <p:cNvPr id="18" name="Rectangle 17"/>
          <p:cNvSpPr/>
          <p:nvPr/>
        </p:nvSpPr>
        <p:spPr>
          <a:xfrm>
            <a:off x="411480" y="2734056"/>
            <a:ext cx="5120640"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798064"/>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The costing gives the same answer every run</a:t>
            </a:r>
          </a:p>
        </p:txBody>
      </p:sp>
      <p:sp>
        <p:nvSpPr>
          <p:cNvPr id="20" name="Rectangle 19"/>
          <p:cNvSpPr/>
          <p:nvPr/>
        </p:nvSpPr>
        <p:spPr>
          <a:xfrm>
            <a:off x="5532120" y="2734056"/>
            <a:ext cx="6245352"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14416" y="2798064"/>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Ran one part five times, identical to the last decimal</a:t>
            </a:r>
          </a:p>
        </p:txBody>
      </p:sp>
      <p:sp>
        <p:nvSpPr>
          <p:cNvPr id="22" name="Rectangle 21"/>
          <p:cNvSpPr/>
          <p:nvPr/>
        </p:nvSpPr>
        <p:spPr>
          <a:xfrm>
            <a:off x="411480" y="3081528"/>
            <a:ext cx="5120640"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3145536"/>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No hidden defaults in the costing</a:t>
            </a:r>
          </a:p>
        </p:txBody>
      </p:sp>
      <p:sp>
        <p:nvSpPr>
          <p:cNvPr id="24" name="Rectangle 23"/>
          <p:cNvSpPr/>
          <p:nvPr/>
        </p:nvSpPr>
        <p:spPr>
          <a:xfrm>
            <a:off x="5532120" y="3081528"/>
            <a:ext cx="6245352"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14416" y="3145536"/>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Every figure has to be supplied; nothing is substituted</a:t>
            </a:r>
          </a:p>
        </p:txBody>
      </p:sp>
      <p:sp>
        <p:nvSpPr>
          <p:cNvPr id="26" name="Rectangle 25"/>
          <p:cNvSpPr/>
          <p:nvPr/>
        </p:nvSpPr>
        <p:spPr>
          <a:xfrm>
            <a:off x="411480" y="3429000"/>
            <a:ext cx="5120640"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3493008"/>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Measuring engine makes no internet connection</a:t>
            </a:r>
          </a:p>
        </p:txBody>
      </p:sp>
      <p:sp>
        <p:nvSpPr>
          <p:cNvPr id="28" name="Rectangle 27"/>
          <p:cNvSpPr/>
          <p:nvPr/>
        </p:nvSpPr>
        <p:spPr>
          <a:xfrm>
            <a:off x="5532120" y="3429000"/>
            <a:ext cx="6245352"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14416" y="3493008"/>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Checked every line for outbound calls; there are none</a:t>
            </a:r>
          </a:p>
        </p:txBody>
      </p:sp>
      <p:sp>
        <p:nvSpPr>
          <p:cNvPr id="30" name="Rectangle 29"/>
          <p:cNvSpPr/>
          <p:nvPr/>
        </p:nvSpPr>
        <p:spPr>
          <a:xfrm>
            <a:off x="411480" y="3776472"/>
            <a:ext cx="5120640"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3776" y="3840480"/>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Measuring engine repeats exactly</a:t>
            </a:r>
          </a:p>
        </p:txBody>
      </p:sp>
      <p:sp>
        <p:nvSpPr>
          <p:cNvPr id="32" name="Rectangle 31"/>
          <p:cNvSpPr/>
          <p:nvPr/>
        </p:nvSpPr>
        <p:spPr>
          <a:xfrm>
            <a:off x="5532120" y="3776472"/>
            <a:ext cx="6245352"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14416" y="3840480"/>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Its one sampling step is fixed to a set value</a:t>
            </a:r>
          </a:p>
        </p:txBody>
      </p:sp>
      <p:sp>
        <p:nvSpPr>
          <p:cNvPr id="34" name="Rectangle 33"/>
          <p:cNvSpPr/>
          <p:nvPr/>
        </p:nvSpPr>
        <p:spPr>
          <a:xfrm>
            <a:off x="411480" y="4123944"/>
            <a:ext cx="5120640"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4187952"/>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CAD files stay on the server</a:t>
            </a:r>
          </a:p>
        </p:txBody>
      </p:sp>
      <p:sp>
        <p:nvSpPr>
          <p:cNvPr id="36" name="Rectangle 35"/>
          <p:cNvSpPr/>
          <p:nvPr/>
        </p:nvSpPr>
        <p:spPr>
          <a:xfrm>
            <a:off x="5532120" y="4123944"/>
            <a:ext cx="6245352"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14416" y="4187952"/>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Measuring is local; only drawing text reaches an AI service</a:t>
            </a:r>
          </a:p>
        </p:txBody>
      </p:sp>
      <p:sp>
        <p:nvSpPr>
          <p:cNvPr id="38" name="Rectangle 37"/>
          <p:cNvSpPr/>
          <p:nvPr/>
        </p:nvSpPr>
        <p:spPr>
          <a:xfrm>
            <a:off x="411480" y="4471416"/>
            <a:ext cx="5120640"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93776" y="4535424"/>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Rates are supplied to the tool, not built in</a:t>
            </a:r>
          </a:p>
        </p:txBody>
      </p:sp>
      <p:sp>
        <p:nvSpPr>
          <p:cNvPr id="40" name="Rectangle 39"/>
          <p:cNvSpPr/>
          <p:nvPr/>
        </p:nvSpPr>
        <p:spPr>
          <a:xfrm>
            <a:off x="5532120" y="4471416"/>
            <a:ext cx="6245352"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14416" y="4535424"/>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The costing function takes the rate book as an input</a:t>
            </a:r>
          </a:p>
        </p:txBody>
      </p:sp>
      <p:sp>
        <p:nvSpPr>
          <p:cNvPr id="42" name="Rectangle 41"/>
          <p:cNvSpPr/>
          <p:nvPr/>
        </p:nvSpPr>
        <p:spPr>
          <a:xfrm>
            <a:off x="411480" y="4818888"/>
            <a:ext cx="5120640"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4882896"/>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Line counts on slide 7</a:t>
            </a:r>
          </a:p>
        </p:txBody>
      </p:sp>
      <p:sp>
        <p:nvSpPr>
          <p:cNvPr id="44" name="Rectangle 43"/>
          <p:cNvSpPr/>
          <p:nvPr/>
        </p:nvSpPr>
        <p:spPr>
          <a:xfrm>
            <a:off x="5532120" y="4818888"/>
            <a:ext cx="6245352"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14416" y="4882896"/>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Counted directly in the source files</a:t>
            </a:r>
          </a:p>
        </p:txBody>
      </p:sp>
      <p:sp>
        <p:nvSpPr>
          <p:cNvPr id="46" name="Rectangle 45"/>
          <p:cNvSpPr/>
          <p:nvPr/>
        </p:nvSpPr>
        <p:spPr>
          <a:xfrm>
            <a:off x="411480" y="5166360"/>
            <a:ext cx="5120640"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 y="5230368"/>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Settings values on slide 8</a:t>
            </a:r>
          </a:p>
        </p:txBody>
      </p:sp>
      <p:sp>
        <p:nvSpPr>
          <p:cNvPr id="48" name="Rectangle 47"/>
          <p:cNvSpPr/>
          <p:nvPr/>
        </p:nvSpPr>
        <p:spPr>
          <a:xfrm>
            <a:off x="5532120" y="5166360"/>
            <a:ext cx="6245352"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14416" y="5230368"/>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Read from the software; each is a single defined value</a:t>
            </a:r>
          </a:p>
        </p:txBody>
      </p:sp>
      <p:sp>
        <p:nvSpPr>
          <p:cNvPr id="50" name="Rectangle 49"/>
          <p:cNvSpPr/>
          <p:nvPr/>
        </p:nvSpPr>
        <p:spPr>
          <a:xfrm>
            <a:off x="411480" y="5513832"/>
            <a:ext cx="5120640"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5577840"/>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Three faults found and fixed in August</a:t>
            </a:r>
          </a:p>
        </p:txBody>
      </p:sp>
      <p:sp>
        <p:nvSpPr>
          <p:cNvPr id="52" name="Rectangle 51"/>
          <p:cNvSpPr/>
          <p:nvPr/>
        </p:nvSpPr>
        <p:spPr>
          <a:xfrm>
            <a:off x="5532120" y="5513832"/>
            <a:ext cx="6245352"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14416" y="5577840"/>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A wrong-number result, an unrepeatable range, unreadable report text</a:t>
            </a:r>
          </a:p>
        </p:txBody>
      </p:sp>
      <p:sp>
        <p:nvSpPr>
          <p:cNvPr id="54" name="Rectangle 53"/>
          <p:cNvSpPr/>
          <p:nvPr/>
        </p:nvSpPr>
        <p:spPr>
          <a:xfrm>
            <a:off x="411480" y="5861304"/>
            <a:ext cx="5120640"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93776" y="5925312"/>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2,022 automatic tests passing</a:t>
            </a:r>
          </a:p>
        </p:txBody>
      </p:sp>
      <p:sp>
        <p:nvSpPr>
          <p:cNvPr id="56" name="Rectangle 55"/>
          <p:cNvSpPr/>
          <p:nvPr/>
        </p:nvSpPr>
        <p:spPr>
          <a:xfrm>
            <a:off x="5532120" y="5861304"/>
            <a:ext cx="6245352"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614416" y="5925312"/>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Full test run at build time</a:t>
            </a:r>
          </a:p>
        </p:txBody>
      </p:sp>
      <p:sp>
        <p:nvSpPr>
          <p:cNvPr id="58" name="Rounded Rectangle 57"/>
          <p:cNvSpPr/>
          <p:nvPr/>
        </p:nvSpPr>
        <p:spPr>
          <a:xfrm>
            <a:off x="411480" y="6108192"/>
            <a:ext cx="11365992" cy="54864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11480" y="6108192"/>
            <a:ext cx="68580" cy="5486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0936" y="6227064"/>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Supporting documents</a:t>
            </a:r>
          </a:p>
        </p:txBody>
      </p:sp>
      <p:sp>
        <p:nvSpPr>
          <p:cNvPr id="61" name="TextBox 60"/>
          <p:cNvSpPr txBox="1"/>
          <p:nvPr/>
        </p:nvSpPr>
        <p:spPr>
          <a:xfrm>
            <a:off x="630936" y="6510528"/>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Security and data-flow review for IT  ·  Technical readiness assessment  ·  Independent review of the tool including comparison against commercial alternatives.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