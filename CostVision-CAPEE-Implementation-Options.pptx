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decision paper, not a sales deck. Two routes are presented with honest effort and risk on both, and an explicit recommendation at slide 16. Every number is sourced from a line-by-line audit of the CostVision codebase carried out in August 2026 — where a figure could not be derived it is marked as an assumption rather than stated as fact.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recommendation and the prerequisite. If the Director reads only this slide they should leave knowing: the two options are sequential rather than competing, and neither is quotable until JLR supplies real quote data. Do not soften the accuracy point — discovering it later in a steering group is far worse than hearing it now.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value case is reproducibility as much as speed. Two estimators keying the same part today will produce two different answers; a measured geometry kernel produces one. That is the argument that lands with a cost engineering audience — not the time saving.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challenged on scope, this is the slide to open. 5,662 lines of extraction plus 8,967 lines of rules and DFM. The guard rows are highlighted deliberately — they are the ones a project under time pressure will be tempted to drop, and slide 5 explains why that would be a mistake.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important slide for a cost engineering audience. The instinct in a port is to take the clever bit (geometry, AI) and leave the plumbing (guards). That inverts the risk. The NaN example is real, from this codebase, found by running it rather than reading it — use it if anyone argues the guards are optional.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architecture answer to "is our CAD data safe": the geometry kernel is local and has zero network calls — verified, not claimed. Only derived numbers and drawing text ever reach a model, and that egress goes through JLR's own LLM gateway per the existing secure-deployment plan.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let the meeting stall on the unknown stack — present all three and ask for the answer as an action. Pattern B is the safe default because it is stack-agnostic and keeps the Python kernel where it is supported. Pattern A is cheapest but only if CAPEE is Node.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user asked specifically for the hardcoded values to come across. That is honoured — but with the caveat that those values are representative rather than measured. Better they hear it here than discover it when a supplier challenges a number.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2 is the one people try to skip and the one the user explicitly asked for — the parameter pack is what makes "including the hardcode" real and reviewable rather than a code archaeology exercise for JLR developers later.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engineering point that de-risks Option 2: the rate library is a parameter, not a hard dependency. Verified — the cost function signature takes the library as an argument, and the engine never imports rates internally. So JLR data goes in without touching engine code.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3 is the strategic point of the whole programme. Whichever option JLR pursues, calibration against real JLR actuals is what turns this from a promising model into something a buyer can put in front of a supplier.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Steer the discussion to the bottom three rows. Validation evidence, stack dependency and reversibility are the decision-relevant dimensions; the rest are largely symmetrical.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direct here. The sequencing argument is genuinely the strongest one: Option 1 industrialises an extraction pipeline whose downstream accuracy nobody has measured. Doing Option 2 first is not a delay, it is the thing that makes Option 1 safe.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soften this slide. A Director who hears the weaknesses from us will trust the strengths. The top two rows are the ones to dwell on — they are the difference between a promising tool and a deployable one.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actions, not conclusions. Ask 2 is the one to press for — real paid prices. Everything else can proceed in parallel, but without actuals neither option can be signed off as accurate, and that is the question a Director will be asked.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for the technical audience or a follow-up with JLR IT. It is the answer to "how do you know" for every claim made earlier in the deck.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2920" y="457200"/>
            <a:ext cx="441655" cy="441655"/>
          </a:xfrm>
          <a:prstGeom prst="roundRect">
            <a:avLst>
              <a:gd name="adj" fmla="val 2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54" b="1">
                <a:solidFill>
                  <a:srgbClr val="16325C"/>
                </a:solidFill>
                <a:latin typeface="Calibri"/>
              </a:rPr>
              <a:t>cv</a:t>
            </a:r>
          </a:p>
        </p:txBody>
      </p:sp>
      <p:sp>
        <p:nvSpPr>
          <p:cNvPr id="5" name="TextBox 4"/>
          <p:cNvSpPr txBox="1"/>
          <p:nvPr/>
        </p:nvSpPr>
        <p:spPr>
          <a:xfrm>
            <a:off x="1049731" y="425654"/>
            <a:ext cx="2377440" cy="292608"/>
          </a:xfrm>
          <a:prstGeom prst="rect">
            <a:avLst/>
          </a:prstGeom>
          <a:noFill/>
        </p:spPr>
        <p:txBody>
          <a:bodyPr wrap="square" anchor="t" lIns="0" rIns="0" tIns="0" bIns="0">
            <a:spAutoFit/>
          </a:bodyPr>
          <a:lstStyle/>
          <a:p>
            <a:pPr algn="l">
              <a:lnSpc>
                <a:spcPct val="100000"/>
              </a:lnSpc>
              <a:spcAft>
                <a:spcPts val="400"/>
              </a:spcAft>
            </a:pPr>
            <a:r>
              <a:rPr sz="2070" b="1" i="0">
                <a:solidFill>
                  <a:srgbClr val="FFFFFF"/>
                </a:solidFill>
                <a:latin typeface="Calibri"/>
              </a:rPr>
              <a:t>CostVision</a:t>
            </a:r>
          </a:p>
        </p:txBody>
      </p:sp>
      <p:sp>
        <p:nvSpPr>
          <p:cNvPr id="6" name="TextBox 5"/>
          <p:cNvSpPr txBox="1"/>
          <p:nvPr/>
        </p:nvSpPr>
        <p:spPr>
          <a:xfrm>
            <a:off x="1049731" y="709574"/>
            <a:ext cx="2560320" cy="201168"/>
          </a:xfrm>
          <a:prstGeom prst="rect">
            <a:avLst/>
          </a:prstGeom>
          <a:noFill/>
        </p:spPr>
        <p:txBody>
          <a:bodyPr wrap="square" anchor="t" lIns="0" rIns="0" tIns="0" bIns="0">
            <a:spAutoFit/>
          </a:bodyPr>
          <a:lstStyle/>
          <a:p>
            <a:pPr algn="l">
              <a:lnSpc>
                <a:spcPct val="100000"/>
              </a:lnSpc>
              <a:spcAft>
                <a:spcPts val="400"/>
              </a:spcAft>
            </a:pPr>
            <a:r>
              <a:rPr sz="862" b="0" i="0">
                <a:solidFill>
                  <a:srgbClr val="8FA3CC"/>
                </a:solidFill>
                <a:latin typeface="Calibri"/>
              </a:rPr>
              <a:t>AI  COST  INTELLIGENCE</a:t>
            </a:r>
          </a:p>
        </p:txBody>
      </p:sp>
      <p:sp>
        <p:nvSpPr>
          <p:cNvPr id="7" name="TextBox 6"/>
          <p:cNvSpPr txBox="1"/>
          <p:nvPr/>
        </p:nvSpPr>
        <p:spPr>
          <a:xfrm>
            <a:off x="548640" y="1965960"/>
            <a:ext cx="10607040" cy="1371600"/>
          </a:xfrm>
          <a:prstGeom prst="rect">
            <a:avLst/>
          </a:prstGeom>
          <a:noFill/>
        </p:spPr>
        <p:txBody>
          <a:bodyPr wrap="square" anchor="t" lIns="0" rIns="0" tIns="0" bIns="0">
            <a:spAutoFit/>
          </a:bodyPr>
          <a:lstStyle/>
          <a:p>
            <a:pPr algn="l">
              <a:lnSpc>
                <a:spcPct val="100000"/>
              </a:lnSpc>
              <a:spcAft>
                <a:spcPts val="400"/>
              </a:spcAft>
            </a:pPr>
            <a:r>
              <a:rPr sz="4000" b="1" i="0">
                <a:solidFill>
                  <a:srgbClr val="FFFFFF"/>
                </a:solidFill>
                <a:latin typeface="Cambria"/>
              </a:rPr>
              <a:t>Bringing CostVision into JLR</a:t>
            </a:r>
          </a:p>
        </p:txBody>
      </p:sp>
      <p:sp>
        <p:nvSpPr>
          <p:cNvPr id="8" name="TextBox 7"/>
          <p:cNvSpPr txBox="1"/>
          <p:nvPr/>
        </p:nvSpPr>
        <p:spPr>
          <a:xfrm>
            <a:off x="548640" y="2880360"/>
            <a:ext cx="10424160" cy="822960"/>
          </a:xfrm>
          <a:prstGeom prst="rect">
            <a:avLst/>
          </a:prstGeom>
          <a:noFill/>
        </p:spPr>
        <p:txBody>
          <a:bodyPr wrap="square" anchor="t" lIns="0" rIns="0" tIns="0" bIns="0">
            <a:spAutoFit/>
          </a:bodyPr>
          <a:lstStyle/>
          <a:p>
            <a:pPr algn="l">
              <a:lnSpc>
                <a:spcPct val="100000"/>
              </a:lnSpc>
              <a:spcAft>
                <a:spcPts val="400"/>
              </a:spcAft>
            </a:pPr>
            <a:r>
              <a:rPr sz="1700" b="0" i="0">
                <a:solidFill>
                  <a:srgbClr val="CADCFC"/>
                </a:solidFill>
                <a:latin typeface="Calibri"/>
              </a:rPr>
              <a:t>Two implementation options for CAPEE — architecture, effort, risk and a recommendation</a:t>
            </a:r>
          </a:p>
        </p:txBody>
      </p:sp>
      <p:sp>
        <p:nvSpPr>
          <p:cNvPr id="9" name="Rectangle 8"/>
          <p:cNvSpPr/>
          <p:nvPr/>
        </p:nvSpPr>
        <p:spPr>
          <a:xfrm>
            <a:off x="548640" y="3794760"/>
            <a:ext cx="3017520" cy="3175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4069080"/>
            <a:ext cx="10424160" cy="1371600"/>
          </a:xfrm>
          <a:prstGeom prst="rect">
            <a:avLst/>
          </a:prstGeom>
          <a:noFill/>
        </p:spPr>
        <p:txBody>
          <a:bodyPr wrap="square" anchor="t" lIns="0" rIns="0" tIns="0" bIns="0">
            <a:spAutoFit/>
          </a:bodyPr>
          <a:lstStyle/>
          <a:p>
            <a:pPr algn="l">
              <a:lnSpc>
                <a:spcPct val="100000"/>
              </a:lnSpc>
              <a:spcAft>
                <a:spcPts val="800"/>
              </a:spcAft>
            </a:pPr>
            <a:r>
              <a:rPr sz="1300" b="1" i="0">
                <a:solidFill>
                  <a:srgbClr val="FFFFFF"/>
                </a:solidFill>
                <a:latin typeface="Calibri"/>
              </a:rPr>
              <a:t>OPTION 1   CostVision as CAPEE's automatic CAD &amp; drawing data-input front end</a:t>
            </a:r>
          </a:p>
          <a:p>
            <a:pPr algn="l">
              <a:lnSpc>
                <a:spcPct val="100000"/>
              </a:lnSpc>
              <a:spcAft>
                <a:spcPts val="800"/>
              </a:spcAft>
            </a:pPr>
            <a:r>
              <a:rPr sz="1300" b="1" i="0">
                <a:solidFill>
                  <a:srgbClr val="FFFFFF"/>
                </a:solidFill>
                <a:latin typeface="Calibri"/>
              </a:rPr>
              <a:t>OPTION 2   CostVision deployed as-is, running on JLR rate data</a:t>
            </a:r>
          </a:p>
        </p:txBody>
      </p:sp>
      <p:sp>
        <p:nvSpPr>
          <p:cNvPr id="11" name="TextBox 10"/>
          <p:cNvSpPr txBox="1"/>
          <p:nvPr/>
        </p:nvSpPr>
        <p:spPr>
          <a:xfrm>
            <a:off x="548640" y="5806440"/>
            <a:ext cx="10607040" cy="548640"/>
          </a:xfrm>
          <a:prstGeom prst="rect">
            <a:avLst/>
          </a:prstGeom>
          <a:noFill/>
        </p:spPr>
        <p:txBody>
          <a:bodyPr wrap="square" anchor="t" lIns="0" rIns="0" tIns="0" bIns="0">
            <a:spAutoFit/>
          </a:bodyPr>
          <a:lstStyle/>
          <a:p>
            <a:pPr algn="l">
              <a:lnSpc>
                <a:spcPct val="100000"/>
              </a:lnSpc>
              <a:spcAft>
                <a:spcPts val="400"/>
              </a:spcAft>
            </a:pPr>
            <a:r>
              <a:rPr sz="1000" b="0" i="0">
                <a:solidFill>
                  <a:srgbClr val="8FA3CC"/>
                </a:solidFill>
                <a:latin typeface="Calibri"/>
              </a:rPr>
              <a:t>Prepared for the JLR Cost Engineering Director  ·  August 2026  ·  Every figure in this deck is traced to the codebase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EXECUTIVE SUMMARY</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The decision in one slide</a:t>
            </a:r>
          </a:p>
        </p:txBody>
      </p:sp>
      <p:sp>
        <p:nvSpPr>
          <p:cNvPr id="9" name="Rounded Rectangle 8"/>
          <p:cNvSpPr/>
          <p:nvPr/>
        </p:nvSpPr>
        <p:spPr>
          <a:xfrm>
            <a:off x="411480" y="1691640"/>
            <a:ext cx="5577840" cy="233172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691640"/>
            <a:ext cx="68580" cy="233172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1819656"/>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1 — CostVision feeds CAPEE</a:t>
            </a:r>
          </a:p>
        </p:txBody>
      </p:sp>
      <p:sp>
        <p:nvSpPr>
          <p:cNvPr id="12" name="TextBox 11"/>
          <p:cNvSpPr txBox="1"/>
          <p:nvPr/>
        </p:nvSpPr>
        <p:spPr>
          <a:xfrm>
            <a:off x="612648" y="2130552"/>
            <a:ext cx="5212080" cy="178308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CAPEE stays the system of record and keeps its cost engine.</a:t>
            </a:r>
          </a:p>
          <a:p>
            <a:pPr algn="l">
              <a:lnSpc>
                <a:spcPct val="112000"/>
              </a:lnSpc>
              <a:spcAft>
                <a:spcPts val="300"/>
              </a:spcAft>
            </a:pPr>
            <a:r>
              <a:rPr sz="1050" b="0" i="0">
                <a:solidFill>
                  <a:srgbClr val="3A4356"/>
                </a:solidFill>
                <a:latin typeface="Calibri"/>
              </a:rPr>
              <a:t>CostVision supplies the INPUTS automatically: an engineer uploads a STEP</a:t>
            </a:r>
          </a:p>
          <a:p>
            <a:pPr algn="l">
              <a:lnSpc>
                <a:spcPct val="112000"/>
              </a:lnSpc>
              <a:spcAft>
                <a:spcPts val="300"/>
              </a:spcAft>
            </a:pPr>
            <a:r>
              <a:rPr sz="1050" b="0" i="0">
                <a:solidFill>
                  <a:srgbClr val="3A4356"/>
                </a:solidFill>
                <a:latin typeface="Calibri"/>
              </a:rPr>
              <a:t>file and a drawing instead of keying thirty fields by hand.</a:t>
            </a:r>
          </a:p>
          <a:p>
            <a:pPr algn="l">
              <a:lnSpc>
                <a:spcPct val="112000"/>
              </a:lnSpc>
              <a:spcAft>
                <a:spcPts val="300"/>
              </a:spcAft>
            </a:pPr>
          </a:p>
          <a:p>
            <a:pPr algn="l">
              <a:lnSpc>
                <a:spcPct val="112000"/>
              </a:lnSpc>
              <a:spcAft>
                <a:spcPts val="300"/>
              </a:spcAft>
            </a:pPr>
            <a:r>
              <a:rPr sz="1050" b="1" i="0">
                <a:solidFill>
                  <a:srgbClr val="16325C"/>
                </a:solidFill>
                <a:latin typeface="Calibri"/>
              </a:rPr>
              <a:t>Ports ~5,700 lines of extraction plus the guard layer.</a:t>
            </a:r>
          </a:p>
          <a:p>
            <a:pPr algn="l">
              <a:lnSpc>
                <a:spcPct val="112000"/>
              </a:lnSpc>
              <a:spcAft>
                <a:spcPts val="300"/>
              </a:spcAft>
            </a:pPr>
            <a:r>
              <a:rPr sz="1050" b="1" i="0">
                <a:solidFill>
                  <a:srgbClr val="16325C"/>
                </a:solidFill>
                <a:latin typeface="Calibri"/>
              </a:rPr>
              <a:t>Effort: 12–20 weeks depending on CAPEE's technology stack.</a:t>
            </a:r>
          </a:p>
        </p:txBody>
      </p:sp>
      <p:sp>
        <p:nvSpPr>
          <p:cNvPr id="13" name="Rounded Rectangle 12"/>
          <p:cNvSpPr/>
          <p:nvPr/>
        </p:nvSpPr>
        <p:spPr>
          <a:xfrm>
            <a:off x="6199632" y="1691640"/>
            <a:ext cx="5577840" cy="233172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99632" y="1691640"/>
            <a:ext cx="68580" cy="233172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819656"/>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2 — CostVision as-is on JLR data</a:t>
            </a:r>
          </a:p>
        </p:txBody>
      </p:sp>
      <p:sp>
        <p:nvSpPr>
          <p:cNvPr id="16" name="TextBox 15"/>
          <p:cNvSpPr txBox="1"/>
          <p:nvPr/>
        </p:nvSpPr>
        <p:spPr>
          <a:xfrm>
            <a:off x="6400800" y="2130552"/>
            <a:ext cx="5212080" cy="178308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CostVision deployed unchanged inside JLR. Same engine, same reports.</a:t>
            </a:r>
          </a:p>
          <a:p>
            <a:pPr algn="l">
              <a:lnSpc>
                <a:spcPct val="112000"/>
              </a:lnSpc>
              <a:spcAft>
                <a:spcPts val="300"/>
              </a:spcAft>
            </a:pPr>
            <a:r>
              <a:rPr sz="1050" b="0" i="0">
                <a:solidFill>
                  <a:srgbClr val="3A4356"/>
                </a:solidFill>
                <a:latin typeface="Calibri"/>
              </a:rPr>
              <a:t>JLR's materials, machine rates, labour, energy and regional factors</a:t>
            </a:r>
          </a:p>
          <a:p>
            <a:pPr algn="l">
              <a:lnSpc>
                <a:spcPct val="112000"/>
              </a:lnSpc>
              <a:spcAft>
                <a:spcPts val="300"/>
              </a:spcAft>
            </a:pPr>
            <a:r>
              <a:rPr sz="1050" b="0" i="0">
                <a:solidFill>
                  <a:srgbClr val="3A4356"/>
                </a:solidFill>
                <a:latin typeface="Calibri"/>
              </a:rPr>
              <a:t>replace the supplied rate library.</a:t>
            </a:r>
          </a:p>
          <a:p>
            <a:pPr algn="l">
              <a:lnSpc>
                <a:spcPct val="112000"/>
              </a:lnSpc>
              <a:spcAft>
                <a:spcPts val="300"/>
              </a:spcAft>
            </a:pPr>
          </a:p>
          <a:p>
            <a:pPr algn="l">
              <a:lnSpc>
                <a:spcPct val="112000"/>
              </a:lnSpc>
              <a:spcAft>
                <a:spcPts val="300"/>
              </a:spcAft>
            </a:pPr>
            <a:r>
              <a:rPr sz="1050" b="1" i="0">
                <a:solidFill>
                  <a:srgbClr val="16325C"/>
                </a:solidFill>
                <a:latin typeface="Calibri"/>
              </a:rPr>
              <a:t>Zero engine change. The work is data onboarding and deployment.</a:t>
            </a:r>
          </a:p>
          <a:p>
            <a:pPr algn="l">
              <a:lnSpc>
                <a:spcPct val="112000"/>
              </a:lnSpc>
              <a:spcAft>
                <a:spcPts val="300"/>
              </a:spcAft>
            </a:pPr>
            <a:r>
              <a:rPr sz="1050" b="1" i="0">
                <a:solidFill>
                  <a:srgbClr val="16325C"/>
                </a:solidFill>
                <a:latin typeface="Calibri"/>
              </a:rPr>
              <a:t>Effort: 8–12 weeks, dominated by rate collection — JLR-side.</a:t>
            </a:r>
          </a:p>
        </p:txBody>
      </p:sp>
      <p:sp>
        <p:nvSpPr>
          <p:cNvPr id="17" name="Rounded Rectangle 16"/>
          <p:cNvSpPr/>
          <p:nvPr/>
        </p:nvSpPr>
        <p:spPr>
          <a:xfrm>
            <a:off x="411480" y="4206240"/>
            <a:ext cx="11365992" cy="960120"/>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4206240"/>
            <a:ext cx="68580" cy="96012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936" y="432511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E8B57"/>
                </a:solidFill>
                <a:latin typeface="Calibri"/>
              </a:rPr>
              <a:t>RECOMMENDATION — run Option 2 first, then Option 1</a:t>
            </a:r>
          </a:p>
        </p:txBody>
      </p:sp>
      <p:sp>
        <p:nvSpPr>
          <p:cNvPr id="20" name="TextBox 19"/>
          <p:cNvSpPr txBox="1"/>
          <p:nvPr/>
        </p:nvSpPr>
        <p:spPr>
          <a:xfrm>
            <a:off x="630936" y="4608576"/>
            <a:ext cx="10954512" cy="45720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Option 2 proves the engine against JLR reality in a quarter and produces the validation data that Option 1 depends on anyway. Option 1 without that evidence would industrialise an extraction pipeline whose downstream accuracy nobody has yet measured. They are sequential, not alternative.</a:t>
            </a:r>
          </a:p>
        </p:txBody>
      </p:sp>
      <p:sp>
        <p:nvSpPr>
          <p:cNvPr id="21" name="Rounded Rectangle 20"/>
          <p:cNvSpPr/>
          <p:nvPr/>
        </p:nvSpPr>
        <p:spPr>
          <a:xfrm>
            <a:off x="411480" y="5303520"/>
            <a:ext cx="11365992" cy="96012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5303520"/>
            <a:ext cx="68580" cy="96012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0936" y="542239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7791F"/>
                </a:solidFill>
                <a:latin typeface="Calibri"/>
              </a:rPr>
              <a:t>ONE PREREQUISITE APPLIES TO BOTH</a:t>
            </a:r>
          </a:p>
        </p:txBody>
      </p:sp>
      <p:sp>
        <p:nvSpPr>
          <p:cNvPr id="24" name="TextBox 23"/>
          <p:cNvSpPr txBox="1"/>
          <p:nvPr/>
        </p:nvSpPr>
        <p:spPr>
          <a:xfrm>
            <a:off x="630936" y="5705856"/>
            <a:ext cx="10954512" cy="45720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CostVision has no validated accuracy today. Its accuracy harness reports "confidence: high" over five rows labelled EXAMPLE - replace with real quote. Until 30-50 real JLR quotes are loaded, neither option can be represented as quotable. This is JLR-side work and is the single highest-value action available.</a:t>
            </a:r>
          </a:p>
        </p:txBody>
      </p:sp>
      <p:sp>
        <p:nvSpPr>
          <p:cNvPr id="25" name="TextBox 24"/>
          <p:cNvSpPr txBox="1"/>
          <p:nvPr/>
        </p:nvSpPr>
        <p:spPr>
          <a:xfrm>
            <a:off x="411480" y="6419088"/>
            <a:ext cx="11338560" cy="219456"/>
          </a:xfrm>
          <a:prstGeom prst="rect">
            <a:avLst/>
          </a:prstGeom>
          <a:noFill/>
        </p:spPr>
        <p:txBody>
          <a:bodyPr wrap="square" anchor="t" lIns="0" rIns="0" tIns="0" bIns="0">
            <a:spAutoFit/>
          </a:bodyPr>
          <a:lstStyle/>
          <a:p>
            <a:pPr algn="l">
              <a:lnSpc>
                <a:spcPct val="100000"/>
              </a:lnSpc>
              <a:spcAft>
                <a:spcPts val="400"/>
              </a:spcAft>
            </a:pPr>
            <a:r>
              <a:rPr sz="800" b="0" i="0">
                <a:solidFill>
                  <a:srgbClr val="6B7280"/>
                </a:solidFill>
                <a:latin typeface="Calibri"/>
              </a:rPr>
              <a:t>Effort ranges are engineering estimates pending confirmation of CAPEE's technology stack.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THE PROBLEM BEING SOLVED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changes for a CAPEE user</a:t>
            </a:r>
          </a:p>
        </p:txBody>
      </p:sp>
      <p:sp>
        <p:nvSpPr>
          <p:cNvPr id="9" name="TextBox 8"/>
          <p:cNvSpPr txBox="1"/>
          <p:nvPr/>
        </p:nvSpPr>
        <p:spPr>
          <a:xfrm>
            <a:off x="411480" y="1600200"/>
            <a:ext cx="1133856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CAPEE requires cost inputs to be entered manually. Every field below is currently typed by an engineer, per part.</a:t>
            </a:r>
          </a:p>
        </p:txBody>
      </p:sp>
      <p:sp>
        <p:nvSpPr>
          <p:cNvPr id="10" name="Rounded Rectangle 9"/>
          <p:cNvSpPr/>
          <p:nvPr/>
        </p:nvSpPr>
        <p:spPr>
          <a:xfrm>
            <a:off x="411480" y="2148840"/>
            <a:ext cx="5577840" cy="3108960"/>
          </a:xfrm>
          <a:prstGeom prst="roundRect">
            <a:avLst>
              <a:gd name="adj" fmla="val 12000"/>
            </a:avLst>
          </a:prstGeom>
          <a:solidFill>
            <a:srgbClr val="FBECEA"/>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148840"/>
            <a:ext cx="68580" cy="310896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 y="2276856"/>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TODAY — manual entry into CAPEE</a:t>
            </a:r>
          </a:p>
        </p:txBody>
      </p:sp>
      <p:sp>
        <p:nvSpPr>
          <p:cNvPr id="13" name="TextBox 12"/>
          <p:cNvSpPr txBox="1"/>
          <p:nvPr/>
        </p:nvSpPr>
        <p:spPr>
          <a:xfrm>
            <a:off x="612648" y="2587752"/>
            <a:ext cx="5212080" cy="256032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Part mass, stock mass, material utilisation</a:t>
            </a:r>
          </a:p>
          <a:p>
            <a:pPr algn="l">
              <a:lnSpc>
                <a:spcPct val="112000"/>
              </a:lnSpc>
              <a:spcAft>
                <a:spcPts val="300"/>
              </a:spcAft>
            </a:pPr>
            <a:r>
              <a:rPr sz="1050" b="0" i="0">
                <a:solidFill>
                  <a:srgbClr val="3A4356"/>
                </a:solidFill>
                <a:latin typeface="Calibri"/>
              </a:rPr>
              <a:t>Wall / section thickness, envelope, projected area</a:t>
            </a:r>
          </a:p>
          <a:p>
            <a:pPr algn="l">
              <a:lnSpc>
                <a:spcPct val="112000"/>
              </a:lnSpc>
              <a:spcAft>
                <a:spcPts val="300"/>
              </a:spcAft>
            </a:pPr>
            <a:r>
              <a:rPr sz="1050" b="0" i="0">
                <a:solidFill>
                  <a:srgbClr val="3A4356"/>
                </a:solidFill>
                <a:latin typeface="Calibri"/>
              </a:rPr>
              <a:t>Feature counts — holes, bosses, pockets, threads</a:t>
            </a:r>
          </a:p>
          <a:p>
            <a:pPr algn="l">
              <a:lnSpc>
                <a:spcPct val="112000"/>
              </a:lnSpc>
              <a:spcAft>
                <a:spcPts val="300"/>
              </a:spcAft>
            </a:pPr>
            <a:r>
              <a:rPr sz="1050" b="0" i="0">
                <a:solidFill>
                  <a:srgbClr val="3A4356"/>
                </a:solidFill>
                <a:latin typeface="Calibri"/>
              </a:rPr>
              <a:t>Cycle times per operation, machine selection</a:t>
            </a:r>
          </a:p>
          <a:p>
            <a:pPr algn="l">
              <a:lnSpc>
                <a:spcPct val="112000"/>
              </a:lnSpc>
              <a:spcAft>
                <a:spcPts val="300"/>
              </a:spcAft>
            </a:pPr>
            <a:r>
              <a:rPr sz="1050" b="0" i="0">
                <a:solidFill>
                  <a:srgbClr val="3A4356"/>
                </a:solidFill>
                <a:latin typeface="Calibri"/>
              </a:rPr>
              <a:t>Surface area for coating, masked feature count</a:t>
            </a:r>
          </a:p>
          <a:p>
            <a:pPr algn="l">
              <a:lnSpc>
                <a:spcPct val="112000"/>
              </a:lnSpc>
              <a:spcAft>
                <a:spcPts val="300"/>
              </a:spcAft>
            </a:pPr>
            <a:r>
              <a:rPr sz="1050" b="0" i="0">
                <a:solidFill>
                  <a:srgbClr val="3A4356"/>
                </a:solidFill>
                <a:latin typeface="Calibri"/>
              </a:rPr>
              <a:t>Tolerance class, finish callouts, heat-treat route</a:t>
            </a:r>
          </a:p>
          <a:p>
            <a:pPr algn="l">
              <a:lnSpc>
                <a:spcPct val="112000"/>
              </a:lnSpc>
              <a:spcAft>
                <a:spcPts val="300"/>
              </a:spcAft>
            </a:pPr>
          </a:p>
          <a:p>
            <a:pPr algn="l">
              <a:lnSpc>
                <a:spcPct val="112000"/>
              </a:lnSpc>
              <a:spcAft>
                <a:spcPts val="300"/>
              </a:spcAft>
            </a:pPr>
            <a:r>
              <a:rPr sz="1050" b="0" i="0">
                <a:solidFill>
                  <a:srgbClr val="3A4356"/>
                </a:solidFill>
                <a:latin typeface="Calibri"/>
              </a:rPr>
              <a:t>Engineer-dependent. Slow. Not reproducible between</a:t>
            </a:r>
          </a:p>
          <a:p>
            <a:pPr algn="l">
              <a:lnSpc>
                <a:spcPct val="112000"/>
              </a:lnSpc>
              <a:spcAft>
                <a:spcPts val="300"/>
              </a:spcAft>
            </a:pPr>
            <a:r>
              <a:rPr sz="1050" b="0" i="0">
                <a:solidFill>
                  <a:srgbClr val="3A4356"/>
                </a:solidFill>
                <a:latin typeface="Calibri"/>
              </a:rPr>
              <a:t>two estimators looking at the same part.</a:t>
            </a:r>
          </a:p>
        </p:txBody>
      </p:sp>
      <p:sp>
        <p:nvSpPr>
          <p:cNvPr id="14" name="Rounded Rectangle 13"/>
          <p:cNvSpPr/>
          <p:nvPr/>
        </p:nvSpPr>
        <p:spPr>
          <a:xfrm>
            <a:off x="6199632" y="2148840"/>
            <a:ext cx="5577840" cy="3108960"/>
          </a:xfrm>
          <a:prstGeom prst="roundRect">
            <a:avLst>
              <a:gd name="adj" fmla="val 12000"/>
            </a:avLst>
          </a:prstGeom>
          <a:solidFill>
            <a:srgbClr val="EAF6E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99632" y="2148840"/>
            <a:ext cx="68580" cy="310896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2276856"/>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WITH AUTOMATIC EXTRACTION</a:t>
            </a:r>
          </a:p>
        </p:txBody>
      </p:sp>
      <p:sp>
        <p:nvSpPr>
          <p:cNvPr id="17" name="TextBox 16"/>
          <p:cNvSpPr txBox="1"/>
          <p:nvPr/>
        </p:nvSpPr>
        <p:spPr>
          <a:xfrm>
            <a:off x="6400800" y="2587752"/>
            <a:ext cx="5212080" cy="256032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Upload a STEP/IGES model and a drawing PDF.</a:t>
            </a:r>
          </a:p>
          <a:p>
            <a:pPr algn="l">
              <a:lnSpc>
                <a:spcPct val="112000"/>
              </a:lnSpc>
              <a:spcAft>
                <a:spcPts val="300"/>
              </a:spcAft>
            </a:pPr>
          </a:p>
          <a:p>
            <a:pPr algn="l">
              <a:lnSpc>
                <a:spcPct val="112000"/>
              </a:lnSpc>
              <a:spcAft>
                <a:spcPts val="300"/>
              </a:spcAft>
            </a:pPr>
            <a:r>
              <a:rPr sz="1050" b="1" i="0">
                <a:solidFill>
                  <a:srgbClr val="16325C"/>
                </a:solidFill>
                <a:latin typeface="Calibri"/>
              </a:rPr>
              <a:t>MEASURED from the solid — volume, bounding box, wetted</a:t>
            </a:r>
          </a:p>
          <a:p>
            <a:pPr algn="l">
              <a:lnSpc>
                <a:spcPct val="112000"/>
              </a:lnSpc>
              <a:spcAft>
                <a:spcPts val="300"/>
              </a:spcAft>
            </a:pPr>
            <a:r>
              <a:rPr sz="1050" b="0" i="0">
                <a:solidFill>
                  <a:srgbClr val="3A4356"/>
                </a:solidFill>
                <a:latin typeface="Calibri"/>
              </a:rPr>
              <a:t>area, wall thickness, B-rep face classification, hole /</a:t>
            </a:r>
          </a:p>
          <a:p>
            <a:pPr algn="l">
              <a:lnSpc>
                <a:spcPct val="112000"/>
              </a:lnSpc>
              <a:spcAft>
                <a:spcPts val="300"/>
              </a:spcAft>
            </a:pPr>
            <a:r>
              <a:rPr sz="1050" b="0" i="0">
                <a:solidFill>
                  <a:srgbClr val="3A4356"/>
                </a:solidFill>
                <a:latin typeface="Calibri"/>
              </a:rPr>
              <a:t>boss / pocket feature tables, gear metrology.</a:t>
            </a:r>
          </a:p>
          <a:p>
            <a:pPr algn="l">
              <a:lnSpc>
                <a:spcPct val="112000"/>
              </a:lnSpc>
              <a:spcAft>
                <a:spcPts val="300"/>
              </a:spcAft>
            </a:pPr>
          </a:p>
          <a:p>
            <a:pPr algn="l">
              <a:lnSpc>
                <a:spcPct val="112000"/>
              </a:lnSpc>
              <a:spcAft>
                <a:spcPts val="300"/>
              </a:spcAft>
            </a:pPr>
            <a:r>
              <a:rPr sz="1050" b="1" i="0">
                <a:solidFill>
                  <a:srgbClr val="16325C"/>
                </a:solidFill>
                <a:latin typeface="Calibri"/>
              </a:rPr>
              <a:t>READ from the drawing — tolerances, GD&amp;T, finish and</a:t>
            </a:r>
          </a:p>
          <a:p>
            <a:pPr algn="l">
              <a:lnSpc>
                <a:spcPct val="112000"/>
              </a:lnSpc>
              <a:spcAft>
                <a:spcPts val="300"/>
              </a:spcAft>
            </a:pPr>
            <a:r>
              <a:rPr sz="1050" b="0" i="0">
                <a:solidFill>
                  <a:srgbClr val="3A4356"/>
                </a:solidFill>
                <a:latin typeface="Calibri"/>
              </a:rPr>
              <a:t>heat-treat callouts, salt-spray hours, masked features.</a:t>
            </a:r>
          </a:p>
          <a:p>
            <a:pPr algn="l">
              <a:lnSpc>
                <a:spcPct val="112000"/>
              </a:lnSpc>
              <a:spcAft>
                <a:spcPts val="300"/>
              </a:spcAft>
            </a:pPr>
          </a:p>
          <a:p>
            <a:pPr algn="l">
              <a:lnSpc>
                <a:spcPct val="112000"/>
              </a:lnSpc>
              <a:spcAft>
                <a:spcPts val="300"/>
              </a:spcAft>
            </a:pPr>
            <a:r>
              <a:rPr sz="1050" b="1" i="0">
                <a:solidFill>
                  <a:srgbClr val="2E8B57"/>
                </a:solidFill>
                <a:latin typeface="Calibri"/>
              </a:rPr>
              <a:t>Same part, same numbers, every time.</a:t>
            </a:r>
          </a:p>
        </p:txBody>
      </p:sp>
      <p:sp>
        <p:nvSpPr>
          <p:cNvPr id="18" name="Rounded Rectangle 17"/>
          <p:cNvSpPr/>
          <p:nvPr/>
        </p:nvSpPr>
        <p:spPr>
          <a:xfrm>
            <a:off x="411480" y="5440680"/>
            <a:ext cx="11365992" cy="77724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11480" y="5440680"/>
            <a:ext cx="68580" cy="77724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936" y="555955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The distinction that matters</a:t>
            </a:r>
          </a:p>
        </p:txBody>
      </p:sp>
      <p:sp>
        <p:nvSpPr>
          <p:cNvPr id="21" name="TextBox 20"/>
          <p:cNvSpPr txBox="1"/>
          <p:nvPr/>
        </p:nvSpPr>
        <p:spPr>
          <a:xfrm>
            <a:off x="630936" y="5843016"/>
            <a:ext cx="10954512" cy="27432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Geometry is MEASURED by a deterministic kernel, not estimated by an AI. The AI reads drawing notes and classifies; every number it produces is checked against the measured solid before it can reach a cost. That guard layer is what makes automatic extraction safe, and slide 5 covers why it must travel with the feature.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VERIFIED INVENTORY</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Option 1 actually moves</a:t>
            </a:r>
          </a:p>
        </p:txBody>
      </p:sp>
      <p:sp>
        <p:nvSpPr>
          <p:cNvPr id="9" name="TextBox 8"/>
          <p:cNvSpPr txBox="1"/>
          <p:nvPr/>
        </p:nvSpPr>
        <p:spPr>
          <a:xfrm>
            <a:off x="411480" y="1572768"/>
            <a:ext cx="11338560" cy="32004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Line counts measured directly from the repository. This is the scope of the port — not an estimate.</a:t>
            </a:r>
          </a:p>
        </p:txBody>
      </p:sp>
      <p:sp>
        <p:nvSpPr>
          <p:cNvPr id="10" name="Rectangle 9"/>
          <p:cNvSpPr/>
          <p:nvPr/>
        </p:nvSpPr>
        <p:spPr>
          <a:xfrm>
            <a:off x="411480" y="2011680"/>
            <a:ext cx="320040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 y="2093976"/>
            <a:ext cx="305409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Component</a:t>
            </a:r>
          </a:p>
        </p:txBody>
      </p:sp>
      <p:sp>
        <p:nvSpPr>
          <p:cNvPr id="12" name="Rectangle 11"/>
          <p:cNvSpPr/>
          <p:nvPr/>
        </p:nvSpPr>
        <p:spPr>
          <a:xfrm>
            <a:off x="3611880" y="2011680"/>
            <a:ext cx="237744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94176" y="2093976"/>
            <a:ext cx="223113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Technology</a:t>
            </a:r>
          </a:p>
        </p:txBody>
      </p:sp>
      <p:sp>
        <p:nvSpPr>
          <p:cNvPr id="14" name="Rectangle 13"/>
          <p:cNvSpPr/>
          <p:nvPr/>
        </p:nvSpPr>
        <p:spPr>
          <a:xfrm>
            <a:off x="5989320" y="2011680"/>
            <a:ext cx="118872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71616" y="2093976"/>
            <a:ext cx="104241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LOC</a:t>
            </a:r>
          </a:p>
        </p:txBody>
      </p:sp>
      <p:sp>
        <p:nvSpPr>
          <p:cNvPr id="16" name="Rectangle 15"/>
          <p:cNvSpPr/>
          <p:nvPr/>
        </p:nvSpPr>
        <p:spPr>
          <a:xfrm>
            <a:off x="7178040" y="2011680"/>
            <a:ext cx="459943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60336" y="2093976"/>
            <a:ext cx="445312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Role</a:t>
            </a:r>
          </a:p>
        </p:txBody>
      </p:sp>
      <p:sp>
        <p:nvSpPr>
          <p:cNvPr id="18" name="Rectangle 17"/>
          <p:cNvSpPr/>
          <p:nvPr/>
        </p:nvSpPr>
        <p:spPr>
          <a:xfrm>
            <a:off x="411480" y="2340864"/>
            <a:ext cx="320040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3776" y="2404872"/>
            <a:ext cx="3054096" cy="21945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cad-geometry-engine.py</a:t>
            </a:r>
          </a:p>
        </p:txBody>
      </p:sp>
      <p:sp>
        <p:nvSpPr>
          <p:cNvPr id="20" name="Rectangle 19"/>
          <p:cNvSpPr/>
          <p:nvPr/>
        </p:nvSpPr>
        <p:spPr>
          <a:xfrm>
            <a:off x="3611880" y="2340864"/>
            <a:ext cx="237744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94176" y="2404872"/>
            <a:ext cx="2231136" cy="21945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Python + OCCT/CadQuery</a:t>
            </a:r>
          </a:p>
        </p:txBody>
      </p:sp>
      <p:sp>
        <p:nvSpPr>
          <p:cNvPr id="22" name="Rectangle 21"/>
          <p:cNvSpPr/>
          <p:nvPr/>
        </p:nvSpPr>
        <p:spPr>
          <a:xfrm>
            <a:off x="5989320" y="2340864"/>
            <a:ext cx="118872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71616" y="2404872"/>
            <a:ext cx="1042416" cy="21945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2,039</a:t>
            </a:r>
          </a:p>
        </p:txBody>
      </p:sp>
      <p:sp>
        <p:nvSpPr>
          <p:cNvPr id="24" name="Rectangle 23"/>
          <p:cNvSpPr/>
          <p:nvPr/>
        </p:nvSpPr>
        <p:spPr>
          <a:xfrm>
            <a:off x="7178040" y="2340864"/>
            <a:ext cx="4599432"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60336" y="2404872"/>
            <a:ext cx="4453128" cy="21945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Measures the solid. Fully offline.</a:t>
            </a:r>
          </a:p>
        </p:txBody>
      </p:sp>
      <p:sp>
        <p:nvSpPr>
          <p:cNvPr id="26" name="Rectangle 25"/>
          <p:cNvSpPr/>
          <p:nvPr/>
        </p:nvSpPr>
        <p:spPr>
          <a:xfrm>
            <a:off x="411480" y="2651760"/>
            <a:ext cx="3200400"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93776" y="2715768"/>
            <a:ext cx="3054096" cy="21945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routes/cad.ts</a:t>
            </a:r>
          </a:p>
        </p:txBody>
      </p:sp>
      <p:sp>
        <p:nvSpPr>
          <p:cNvPr id="28" name="Rectangle 27"/>
          <p:cNvSpPr/>
          <p:nvPr/>
        </p:nvSpPr>
        <p:spPr>
          <a:xfrm>
            <a:off x="3611880" y="2651760"/>
            <a:ext cx="2377440"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94176" y="2715768"/>
            <a:ext cx="2231136" cy="21945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TypeScript</a:t>
            </a:r>
          </a:p>
        </p:txBody>
      </p:sp>
      <p:sp>
        <p:nvSpPr>
          <p:cNvPr id="30" name="Rectangle 29"/>
          <p:cNvSpPr/>
          <p:nvPr/>
        </p:nvSpPr>
        <p:spPr>
          <a:xfrm>
            <a:off x="5989320" y="2651760"/>
            <a:ext cx="1188720"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071616" y="2715768"/>
            <a:ext cx="1042416" cy="21945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2,443</a:t>
            </a:r>
          </a:p>
        </p:txBody>
      </p:sp>
      <p:sp>
        <p:nvSpPr>
          <p:cNvPr id="32" name="Rectangle 31"/>
          <p:cNvSpPr/>
          <p:nvPr/>
        </p:nvSpPr>
        <p:spPr>
          <a:xfrm>
            <a:off x="7178040" y="2651760"/>
            <a:ext cx="4599432"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260336" y="2715768"/>
            <a:ext cx="4453128" cy="21945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Prompts, drawing read, orchestration</a:t>
            </a:r>
          </a:p>
        </p:txBody>
      </p:sp>
      <p:sp>
        <p:nvSpPr>
          <p:cNvPr id="34" name="Rectangle 33"/>
          <p:cNvSpPr/>
          <p:nvPr/>
        </p:nvSpPr>
        <p:spPr>
          <a:xfrm>
            <a:off x="411480" y="2962656"/>
            <a:ext cx="320040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 y="3026664"/>
            <a:ext cx="3054096" cy="21945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geometry-bridge.ts</a:t>
            </a:r>
          </a:p>
        </p:txBody>
      </p:sp>
      <p:sp>
        <p:nvSpPr>
          <p:cNvPr id="36" name="Rectangle 35"/>
          <p:cNvSpPr/>
          <p:nvPr/>
        </p:nvSpPr>
        <p:spPr>
          <a:xfrm>
            <a:off x="3611880" y="2962656"/>
            <a:ext cx="237744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694176" y="3026664"/>
            <a:ext cx="2231136" cy="21945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TypeScript</a:t>
            </a:r>
          </a:p>
        </p:txBody>
      </p:sp>
      <p:sp>
        <p:nvSpPr>
          <p:cNvPr id="38" name="Rectangle 37"/>
          <p:cNvSpPr/>
          <p:nvPr/>
        </p:nvSpPr>
        <p:spPr>
          <a:xfrm>
            <a:off x="5989320" y="2962656"/>
            <a:ext cx="118872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071616" y="3026664"/>
            <a:ext cx="1042416" cy="21945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340</a:t>
            </a:r>
          </a:p>
        </p:txBody>
      </p:sp>
      <p:sp>
        <p:nvSpPr>
          <p:cNvPr id="40" name="Rectangle 39"/>
          <p:cNvSpPr/>
          <p:nvPr/>
        </p:nvSpPr>
        <p:spPr>
          <a:xfrm>
            <a:off x="7178040" y="2962656"/>
            <a:ext cx="4599432"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260336" y="3026664"/>
            <a:ext cx="4453128" cy="21945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Spawns the kernel, semaphore-capped</a:t>
            </a:r>
          </a:p>
        </p:txBody>
      </p:sp>
      <p:sp>
        <p:nvSpPr>
          <p:cNvPr id="42" name="Rectangle 41"/>
          <p:cNvSpPr/>
          <p:nvPr/>
        </p:nvSpPr>
        <p:spPr>
          <a:xfrm>
            <a:off x="411480" y="3273552"/>
            <a:ext cx="3200400"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93776" y="3337560"/>
            <a:ext cx="3054096" cy="21945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stl-parser.ts</a:t>
            </a:r>
          </a:p>
        </p:txBody>
      </p:sp>
      <p:sp>
        <p:nvSpPr>
          <p:cNvPr id="44" name="Rectangle 43"/>
          <p:cNvSpPr/>
          <p:nvPr/>
        </p:nvSpPr>
        <p:spPr>
          <a:xfrm>
            <a:off x="3611880" y="3273552"/>
            <a:ext cx="2377440"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694176" y="3337560"/>
            <a:ext cx="2231136" cy="21945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TypeScript</a:t>
            </a:r>
          </a:p>
        </p:txBody>
      </p:sp>
      <p:sp>
        <p:nvSpPr>
          <p:cNvPr id="46" name="Rectangle 45"/>
          <p:cNvSpPr/>
          <p:nvPr/>
        </p:nvSpPr>
        <p:spPr>
          <a:xfrm>
            <a:off x="5989320" y="3273552"/>
            <a:ext cx="1188720"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071616" y="3337560"/>
            <a:ext cx="1042416" cy="21945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304</a:t>
            </a:r>
          </a:p>
        </p:txBody>
      </p:sp>
      <p:sp>
        <p:nvSpPr>
          <p:cNvPr id="48" name="Rectangle 47"/>
          <p:cNvSpPr/>
          <p:nvPr/>
        </p:nvSpPr>
        <p:spPr>
          <a:xfrm>
            <a:off x="7178040" y="3273552"/>
            <a:ext cx="4599432"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260336" y="3337560"/>
            <a:ext cx="4453128" cy="21945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Pure-TS fast path for STL</a:t>
            </a:r>
          </a:p>
        </p:txBody>
      </p:sp>
      <p:sp>
        <p:nvSpPr>
          <p:cNvPr id="50" name="Rectangle 49"/>
          <p:cNvSpPr/>
          <p:nvPr/>
        </p:nvSpPr>
        <p:spPr>
          <a:xfrm>
            <a:off x="411480" y="3584448"/>
            <a:ext cx="320040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93776" y="3648456"/>
            <a:ext cx="3054096" cy="21945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cad-sanity.ts</a:t>
            </a:r>
          </a:p>
        </p:txBody>
      </p:sp>
      <p:sp>
        <p:nvSpPr>
          <p:cNvPr id="52" name="Rectangle 51"/>
          <p:cNvSpPr/>
          <p:nvPr/>
        </p:nvSpPr>
        <p:spPr>
          <a:xfrm>
            <a:off x="3611880" y="3584448"/>
            <a:ext cx="237744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694176" y="3648456"/>
            <a:ext cx="2231136" cy="21945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TypeScript</a:t>
            </a:r>
          </a:p>
        </p:txBody>
      </p:sp>
      <p:sp>
        <p:nvSpPr>
          <p:cNvPr id="54" name="Rectangle 53"/>
          <p:cNvSpPr/>
          <p:nvPr/>
        </p:nvSpPr>
        <p:spPr>
          <a:xfrm>
            <a:off x="5989320" y="3584448"/>
            <a:ext cx="118872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071616" y="3648456"/>
            <a:ext cx="1042416" cy="21945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311</a:t>
            </a:r>
          </a:p>
        </p:txBody>
      </p:sp>
      <p:sp>
        <p:nvSpPr>
          <p:cNvPr id="56" name="Rectangle 55"/>
          <p:cNvSpPr/>
          <p:nvPr/>
        </p:nvSpPr>
        <p:spPr>
          <a:xfrm>
            <a:off x="7178040" y="3584448"/>
            <a:ext cx="4599432"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260336" y="3648456"/>
            <a:ext cx="445312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16325C"/>
                </a:solidFill>
                <a:latin typeface="Calibri"/>
              </a:rPr>
              <a:t>GUARD — cross-checks AI vs measured</a:t>
            </a:r>
          </a:p>
        </p:txBody>
      </p:sp>
      <p:sp>
        <p:nvSpPr>
          <p:cNvPr id="58" name="Rectangle 57"/>
          <p:cNvSpPr/>
          <p:nvPr/>
        </p:nvSpPr>
        <p:spPr>
          <a:xfrm>
            <a:off x="411480" y="3895344"/>
            <a:ext cx="3200400"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93776" y="3959352"/>
            <a:ext cx="3054096" cy="21945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cad-machining-guard.ts</a:t>
            </a:r>
          </a:p>
        </p:txBody>
      </p:sp>
      <p:sp>
        <p:nvSpPr>
          <p:cNvPr id="60" name="Rectangle 59"/>
          <p:cNvSpPr/>
          <p:nvPr/>
        </p:nvSpPr>
        <p:spPr>
          <a:xfrm>
            <a:off x="3611880" y="3895344"/>
            <a:ext cx="2377440"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694176" y="3959352"/>
            <a:ext cx="2231136" cy="21945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TypeScript</a:t>
            </a:r>
          </a:p>
        </p:txBody>
      </p:sp>
      <p:sp>
        <p:nvSpPr>
          <p:cNvPr id="62" name="Rectangle 61"/>
          <p:cNvSpPr/>
          <p:nvPr/>
        </p:nvSpPr>
        <p:spPr>
          <a:xfrm>
            <a:off x="5989320" y="3895344"/>
            <a:ext cx="1188720"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071616" y="3959352"/>
            <a:ext cx="1042416" cy="21945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82</a:t>
            </a:r>
          </a:p>
        </p:txBody>
      </p:sp>
      <p:sp>
        <p:nvSpPr>
          <p:cNvPr id="64" name="Rectangle 63"/>
          <p:cNvSpPr/>
          <p:nvPr/>
        </p:nvSpPr>
        <p:spPr>
          <a:xfrm>
            <a:off x="7178040" y="3895344"/>
            <a:ext cx="4599432"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260336" y="3959352"/>
            <a:ext cx="445312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16325C"/>
                </a:solidFill>
                <a:latin typeface="Calibri"/>
              </a:rPr>
              <a:t>GUARD — caps near-net machining</a:t>
            </a:r>
          </a:p>
        </p:txBody>
      </p:sp>
      <p:sp>
        <p:nvSpPr>
          <p:cNvPr id="66" name="Rectangle 65"/>
          <p:cNvSpPr/>
          <p:nvPr/>
        </p:nvSpPr>
        <p:spPr>
          <a:xfrm>
            <a:off x="411480" y="4206240"/>
            <a:ext cx="320040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493776" y="4270248"/>
            <a:ext cx="3054096" cy="21945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cad-feature-accuracy.ts</a:t>
            </a:r>
          </a:p>
        </p:txBody>
      </p:sp>
      <p:sp>
        <p:nvSpPr>
          <p:cNvPr id="68" name="Rectangle 67"/>
          <p:cNvSpPr/>
          <p:nvPr/>
        </p:nvSpPr>
        <p:spPr>
          <a:xfrm>
            <a:off x="3611880" y="4206240"/>
            <a:ext cx="237744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3694176" y="4270248"/>
            <a:ext cx="2231136" cy="21945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TypeScript</a:t>
            </a:r>
          </a:p>
        </p:txBody>
      </p:sp>
      <p:sp>
        <p:nvSpPr>
          <p:cNvPr id="70" name="Rectangle 69"/>
          <p:cNvSpPr/>
          <p:nvPr/>
        </p:nvSpPr>
        <p:spPr>
          <a:xfrm>
            <a:off x="5989320" y="4206240"/>
            <a:ext cx="118872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071616" y="4270248"/>
            <a:ext cx="1042416" cy="21945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143</a:t>
            </a:r>
          </a:p>
        </p:txBody>
      </p:sp>
      <p:sp>
        <p:nvSpPr>
          <p:cNvPr id="72" name="Rectangle 71"/>
          <p:cNvSpPr/>
          <p:nvPr/>
        </p:nvSpPr>
        <p:spPr>
          <a:xfrm>
            <a:off x="7178040" y="4206240"/>
            <a:ext cx="4599432"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260336" y="4270248"/>
            <a:ext cx="4453128" cy="21945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Feature-detection scoring</a:t>
            </a:r>
          </a:p>
        </p:txBody>
      </p:sp>
      <p:sp>
        <p:nvSpPr>
          <p:cNvPr id="74" name="Rectangle 73"/>
          <p:cNvSpPr/>
          <p:nvPr/>
        </p:nvSpPr>
        <p:spPr>
          <a:xfrm>
            <a:off x="411480" y="4517136"/>
            <a:ext cx="3200400"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93776" y="4581144"/>
            <a:ext cx="3054096" cy="21945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cost-input-rules/  (12 packs)</a:t>
            </a:r>
          </a:p>
        </p:txBody>
      </p:sp>
      <p:sp>
        <p:nvSpPr>
          <p:cNvPr id="76" name="Rectangle 75"/>
          <p:cNvSpPr/>
          <p:nvPr/>
        </p:nvSpPr>
        <p:spPr>
          <a:xfrm>
            <a:off x="3611880" y="4517136"/>
            <a:ext cx="2377440"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3694176" y="4581144"/>
            <a:ext cx="2231136" cy="21945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TypeScript</a:t>
            </a:r>
          </a:p>
        </p:txBody>
      </p:sp>
      <p:sp>
        <p:nvSpPr>
          <p:cNvPr id="78" name="Rectangle 77"/>
          <p:cNvSpPr/>
          <p:nvPr/>
        </p:nvSpPr>
        <p:spPr>
          <a:xfrm>
            <a:off x="5989320" y="4517136"/>
            <a:ext cx="1188720"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071616" y="4581144"/>
            <a:ext cx="1042416" cy="21945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7,037</a:t>
            </a:r>
          </a:p>
        </p:txBody>
      </p:sp>
      <p:sp>
        <p:nvSpPr>
          <p:cNvPr id="80" name="Rectangle 79"/>
          <p:cNvSpPr/>
          <p:nvPr/>
        </p:nvSpPr>
        <p:spPr>
          <a:xfrm>
            <a:off x="7178040" y="4517136"/>
            <a:ext cx="4599432"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7260336" y="4581144"/>
            <a:ext cx="445312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16325C"/>
                </a:solidFill>
                <a:latin typeface="Calibri"/>
              </a:rPr>
              <a:t>GUARD — confirm-before-costing gate</a:t>
            </a:r>
          </a:p>
        </p:txBody>
      </p:sp>
      <p:sp>
        <p:nvSpPr>
          <p:cNvPr id="82" name="Rectangle 81"/>
          <p:cNvSpPr/>
          <p:nvPr/>
        </p:nvSpPr>
        <p:spPr>
          <a:xfrm>
            <a:off x="411480" y="4828032"/>
            <a:ext cx="320040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493776" y="4892040"/>
            <a:ext cx="3054096" cy="21945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dfm-geometry/  (10 files)</a:t>
            </a:r>
          </a:p>
        </p:txBody>
      </p:sp>
      <p:sp>
        <p:nvSpPr>
          <p:cNvPr id="84" name="Rectangle 83"/>
          <p:cNvSpPr/>
          <p:nvPr/>
        </p:nvSpPr>
        <p:spPr>
          <a:xfrm>
            <a:off x="3611880" y="4828032"/>
            <a:ext cx="237744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3694176" y="4892040"/>
            <a:ext cx="2231136" cy="21945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TypeScript</a:t>
            </a:r>
          </a:p>
        </p:txBody>
      </p:sp>
      <p:sp>
        <p:nvSpPr>
          <p:cNvPr id="86" name="Rectangle 85"/>
          <p:cNvSpPr/>
          <p:nvPr/>
        </p:nvSpPr>
        <p:spPr>
          <a:xfrm>
            <a:off x="5989320" y="4828032"/>
            <a:ext cx="118872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6071616" y="4892040"/>
            <a:ext cx="1042416" cy="21945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1,930</a:t>
            </a:r>
          </a:p>
        </p:txBody>
      </p:sp>
      <p:sp>
        <p:nvSpPr>
          <p:cNvPr id="88" name="Rectangle 87"/>
          <p:cNvSpPr/>
          <p:nvPr/>
        </p:nvSpPr>
        <p:spPr>
          <a:xfrm>
            <a:off x="7178040" y="4828032"/>
            <a:ext cx="4599432"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7260336" y="4892040"/>
            <a:ext cx="4453128" cy="21945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Geometry-driven DFM findings</a:t>
            </a:r>
          </a:p>
        </p:txBody>
      </p:sp>
      <p:sp>
        <p:nvSpPr>
          <p:cNvPr id="90" name="Rounded Rectangle 89"/>
          <p:cNvSpPr/>
          <p:nvPr/>
        </p:nvSpPr>
        <p:spPr>
          <a:xfrm>
            <a:off x="411480" y="5349240"/>
            <a:ext cx="5577840" cy="914400"/>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411480" y="5349240"/>
            <a:ext cx="68580" cy="91440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630936" y="5468112"/>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E8B57"/>
                </a:solidFill>
                <a:latin typeface="Calibri"/>
              </a:rPr>
              <a:t>Good news for portability</a:t>
            </a:r>
          </a:p>
        </p:txBody>
      </p:sp>
      <p:sp>
        <p:nvSpPr>
          <p:cNvPr id="93" name="TextBox 92"/>
          <p:cNvSpPr txBox="1"/>
          <p:nvPr/>
        </p:nvSpPr>
        <p:spPr>
          <a:xfrm>
            <a:off x="630936" y="5751576"/>
            <a:ext cx="5166360" cy="41148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geometry kernel imports only the Python standard library and OCCT. Zero network calls. Its one sampling routine is seeded, so measurements are reproducible.</a:t>
            </a:r>
          </a:p>
        </p:txBody>
      </p:sp>
      <p:sp>
        <p:nvSpPr>
          <p:cNvPr id="94" name="Rounded Rectangle 93"/>
          <p:cNvSpPr/>
          <p:nvPr/>
        </p:nvSpPr>
        <p:spPr>
          <a:xfrm>
            <a:off x="6199632" y="5349240"/>
            <a:ext cx="5577840" cy="91440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6199632" y="5349240"/>
            <a:ext cx="68580" cy="9144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6419088" y="5468112"/>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7791F"/>
                </a:solidFill>
                <a:latin typeface="Calibri"/>
              </a:rPr>
              <a:t>One hard deployment constraint</a:t>
            </a:r>
          </a:p>
        </p:txBody>
      </p:sp>
      <p:sp>
        <p:nvSpPr>
          <p:cNvPr id="97" name="TextBox 96"/>
          <p:cNvSpPr txBox="1"/>
          <p:nvPr/>
        </p:nvSpPr>
        <p:spPr>
          <a:xfrm>
            <a:off x="6419088" y="5751576"/>
            <a:ext cx="5166360" cy="41148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OCCT ships as manylinux/glibc wheels. It cannot run on Alpine. CAPEE's host estate must support glibc containers, or the kernel runs as a separate service.</a:t>
            </a:r>
          </a:p>
        </p:txBody>
      </p:sp>
      <p:sp>
        <p:nvSpPr>
          <p:cNvPr id="98" name="TextBox 97"/>
          <p:cNvSpPr txBox="1"/>
          <p:nvPr/>
        </p:nvSpPr>
        <p:spPr>
          <a:xfrm>
            <a:off x="411480" y="6419088"/>
            <a:ext cx="11338560" cy="219456"/>
          </a:xfrm>
          <a:prstGeom prst="rect">
            <a:avLst/>
          </a:prstGeom>
          <a:noFill/>
        </p:spPr>
        <p:txBody>
          <a:bodyPr wrap="square" anchor="t" lIns="0" rIns="0" tIns="0" bIns="0">
            <a:spAutoFit/>
          </a:bodyPr>
          <a:lstStyle/>
          <a:p>
            <a:pPr algn="l">
              <a:lnSpc>
                <a:spcPct val="100000"/>
              </a:lnSpc>
              <a:spcAft>
                <a:spcPts val="400"/>
              </a:spcAft>
            </a:pPr>
            <a:r>
              <a:rPr sz="800" b="0" i="0">
                <a:solidFill>
                  <a:srgbClr val="6B7280"/>
                </a:solidFill>
                <a:latin typeface="Calibri"/>
              </a:rPr>
              <a:t>Source: wc -l on the repository at commit 680571c, August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NON-NEGOTIABLE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The guard layer must travel with the feature</a:t>
            </a:r>
          </a:p>
        </p:txBody>
      </p:sp>
      <p:sp>
        <p:nvSpPr>
          <p:cNvPr id="9" name="TextBox 8"/>
          <p:cNvSpPr txBox="1"/>
          <p:nvPr/>
        </p:nvSpPr>
        <p:spPr>
          <a:xfrm>
            <a:off x="411480" y="1572768"/>
            <a:ext cx="1133856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Automatic extraction uses an AI to read drawings and classify features. The AI never sets a price — but it does set </a:t>
            </a:r>
            <a:r>
              <a:rPr sz="1200" b="1" i="0">
                <a:solidFill>
                  <a:srgbClr val="16325C"/>
                </a:solidFill>
                <a:latin typeface="Calibri"/>
              </a:rPr>
              <a:t>drivers</a:t>
            </a:r>
            <a:r>
              <a:rPr sz="1200" b="0" i="0">
                <a:solidFill>
                  <a:srgbClr val="3A4356"/>
                </a:solidFill>
                <a:latin typeface="Calibri"/>
              </a:rPr>
              <a:t>, and arithmetic converts a wrong driver into a confident wrong cost.</a:t>
            </a:r>
          </a:p>
        </p:txBody>
      </p:sp>
      <p:sp>
        <p:nvSpPr>
          <p:cNvPr id="10" name="Rounded Rectangle 9"/>
          <p:cNvSpPr/>
          <p:nvPr/>
        </p:nvSpPr>
        <p:spPr>
          <a:xfrm>
            <a:off x="411480" y="2194560"/>
            <a:ext cx="11365992" cy="91440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194560"/>
            <a:ext cx="68580" cy="9144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 y="2322576"/>
            <a:ext cx="11000232" cy="274320"/>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Measured-geometry clamp</a:t>
            </a:r>
          </a:p>
        </p:txBody>
      </p:sp>
      <p:sp>
        <p:nvSpPr>
          <p:cNvPr id="13" name="TextBox 12"/>
          <p:cNvSpPr txBox="1"/>
          <p:nvPr/>
        </p:nvSpPr>
        <p:spPr>
          <a:xfrm>
            <a:off x="612648" y="2633472"/>
            <a:ext cx="11000232" cy="36576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Any AI weight is overwritten by volume x density from the solid. Geometry is ground truth; the AI only interprets.</a:t>
            </a:r>
          </a:p>
        </p:txBody>
      </p:sp>
      <p:sp>
        <p:nvSpPr>
          <p:cNvPr id="14" name="Rounded Rectangle 13"/>
          <p:cNvSpPr/>
          <p:nvPr/>
        </p:nvSpPr>
        <p:spPr>
          <a:xfrm>
            <a:off x="411480" y="3236976"/>
            <a:ext cx="11365992" cy="91440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3236976"/>
            <a:ext cx="68580" cy="9144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2648" y="3364992"/>
            <a:ext cx="11000232" cy="274320"/>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Sanity cross-check</a:t>
            </a:r>
          </a:p>
        </p:txBody>
      </p:sp>
      <p:sp>
        <p:nvSpPr>
          <p:cNvPr id="17" name="TextBox 16"/>
          <p:cNvSpPr txBox="1"/>
          <p:nvPr/>
        </p:nvSpPr>
        <p:spPr>
          <a:xfrm>
            <a:off x="612648" y="3675888"/>
            <a:ext cx="11000232" cy="36576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AI numbers are tested against measured volume and mass. Contradictions are reported, not silently resolved.</a:t>
            </a:r>
          </a:p>
        </p:txBody>
      </p:sp>
      <p:sp>
        <p:nvSpPr>
          <p:cNvPr id="18" name="Rounded Rectangle 17"/>
          <p:cNvSpPr/>
          <p:nvPr/>
        </p:nvSpPr>
        <p:spPr>
          <a:xfrm>
            <a:off x="411480" y="4279392"/>
            <a:ext cx="11365992" cy="91440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11480" y="4279392"/>
            <a:ext cx="68580" cy="9144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648" y="4407408"/>
            <a:ext cx="11000232" cy="274320"/>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Near-net machining cap</a:t>
            </a:r>
          </a:p>
        </p:txBody>
      </p:sp>
      <p:sp>
        <p:nvSpPr>
          <p:cNvPr id="21" name="TextBox 20"/>
          <p:cNvSpPr txBox="1"/>
          <p:nvPr/>
        </p:nvSpPr>
        <p:spPr>
          <a:xfrm>
            <a:off x="612648" y="4718304"/>
            <a:ext cx="11000232" cy="36576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Machining time on a cast or forged part is capped to a finish envelope, so a hallucinated cycle cannot inflate the part.</a:t>
            </a:r>
          </a:p>
        </p:txBody>
      </p:sp>
      <p:sp>
        <p:nvSpPr>
          <p:cNvPr id="22" name="Rounded Rectangle 21"/>
          <p:cNvSpPr/>
          <p:nvPr/>
        </p:nvSpPr>
        <p:spPr>
          <a:xfrm>
            <a:off x="411480" y="5321808"/>
            <a:ext cx="11365992" cy="10515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11480" y="5321808"/>
            <a:ext cx="68580"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2648" y="5449824"/>
            <a:ext cx="11000232" cy="274320"/>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Confirm-before-costing gate</a:t>
            </a:r>
          </a:p>
        </p:txBody>
      </p:sp>
      <p:sp>
        <p:nvSpPr>
          <p:cNvPr id="25" name="TextBox 24"/>
          <p:cNvSpPr txBox="1"/>
          <p:nvPr/>
        </p:nvSpPr>
        <p:spPr>
          <a:xfrm>
            <a:off x="612648" y="5760720"/>
            <a:ext cx="11000232" cy="50292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Anything the model cannot derive from the solid — helix angle, tolerance class, heat-treat route — is put to the engineer as an explicit decision. AI answers are tagged as AI, never as engineer-confirmed, and are never pre-selected.</a:t>
            </a:r>
          </a:p>
        </p:txBody>
      </p:sp>
      <p:sp>
        <p:nvSpPr>
          <p:cNvPr id="26" name="Rounded Rectangle 25"/>
          <p:cNvSpPr/>
          <p:nvPr/>
        </p:nvSpPr>
        <p:spPr>
          <a:xfrm>
            <a:off x="411480" y="5669280"/>
            <a:ext cx="11365992" cy="658368"/>
          </a:xfrm>
          <a:prstGeom prst="roundRect">
            <a:avLst>
              <a:gd name="adj" fmla="val 12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5669280"/>
            <a:ext cx="68580" cy="658368"/>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0936" y="578815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03A2E"/>
                </a:solidFill>
                <a:latin typeface="Calibri"/>
              </a:rPr>
              <a:t>Evidence this matters — found during the August 2026 audit</a:t>
            </a:r>
          </a:p>
        </p:txBody>
      </p:sp>
      <p:sp>
        <p:nvSpPr>
          <p:cNvPr id="29" name="TextBox 28"/>
          <p:cNvSpPr txBox="1"/>
          <p:nvPr/>
        </p:nvSpPr>
        <p:spPr>
          <a:xfrm>
            <a:off x="630936" y="6071616"/>
            <a:ext cx="10954512" cy="15544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On the agent-driven path, which had no guard, one missing input field produced a reported cost of NaN with a success flag. An OEE of 0.0001 — physically impossible — still returns a confident figure. Both are fixed or logged; the lesson is that extraction without guards is where the risk actually lives.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1 — target architecture</a:t>
            </a:r>
          </a:p>
        </p:txBody>
      </p:sp>
      <p:sp>
        <p:nvSpPr>
          <p:cNvPr id="9" name="Rounded Rectangle 8"/>
          <p:cNvSpPr/>
          <p:nvPr/>
        </p:nvSpPr>
        <p:spPr>
          <a:xfrm>
            <a:off x="411480" y="1645920"/>
            <a:ext cx="11365992" cy="320040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828800"/>
            <a:ext cx="1088136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6B7280"/>
                </a:solidFill>
                <a:latin typeface="Calibri"/>
              </a:rPr>
              <a:t>JLR internal network</a:t>
            </a:r>
          </a:p>
        </p:txBody>
      </p:sp>
      <p:sp>
        <p:nvSpPr>
          <p:cNvPr id="11" name="Rounded Rectangle 10"/>
          <p:cNvSpPr/>
          <p:nvPr/>
        </p:nvSpPr>
        <p:spPr>
          <a:xfrm>
            <a:off x="685800" y="2240280"/>
            <a:ext cx="2331720" cy="1234440"/>
          </a:xfrm>
          <a:prstGeom prst="roundRect">
            <a:avLst>
              <a:gd name="adj" fmla="val 12000"/>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85800" y="2240280"/>
            <a:ext cx="2331720" cy="685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104" y="2423160"/>
            <a:ext cx="2057400" cy="274320"/>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Engineer</a:t>
            </a:r>
          </a:p>
        </p:txBody>
      </p:sp>
      <p:sp>
        <p:nvSpPr>
          <p:cNvPr id="14" name="TextBox 13"/>
          <p:cNvSpPr txBox="1"/>
          <p:nvPr/>
        </p:nvSpPr>
        <p:spPr>
          <a:xfrm>
            <a:off x="832104" y="2743200"/>
            <a:ext cx="2057400" cy="685800"/>
          </a:xfrm>
          <a:prstGeom prst="rect">
            <a:avLst/>
          </a:prstGeom>
          <a:noFill/>
        </p:spPr>
        <p:txBody>
          <a:bodyPr wrap="square" anchor="t" lIns="0" rIns="0" tIns="0" bIns="0">
            <a:spAutoFit/>
          </a:bodyPr>
          <a:lstStyle/>
          <a:p>
            <a:pPr algn="l">
              <a:lnSpc>
                <a:spcPct val="112000"/>
              </a:lnSpc>
              <a:spcAft>
                <a:spcPts val="400"/>
              </a:spcAft>
            </a:pPr>
            <a:r>
              <a:rPr sz="980" b="0" i="0">
                <a:solidFill>
                  <a:srgbClr val="3A4356"/>
                </a:solidFill>
                <a:latin typeface="Calibri"/>
              </a:rPr>
              <a:t>uploads STEP + drawing PDF</a:t>
            </a:r>
          </a:p>
        </p:txBody>
      </p:sp>
      <p:sp>
        <p:nvSpPr>
          <p:cNvPr id="15" name="Rounded Rectangle 14"/>
          <p:cNvSpPr/>
          <p:nvPr/>
        </p:nvSpPr>
        <p:spPr>
          <a:xfrm>
            <a:off x="3246120" y="2240280"/>
            <a:ext cx="2331720" cy="1234440"/>
          </a:xfrm>
          <a:prstGeom prst="roundRect">
            <a:avLst>
              <a:gd name="adj" fmla="val 12000"/>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6120" y="2240280"/>
            <a:ext cx="2331720" cy="685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92424" y="2423160"/>
            <a:ext cx="2057400" cy="274320"/>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Extraction service</a:t>
            </a:r>
          </a:p>
        </p:txBody>
      </p:sp>
      <p:sp>
        <p:nvSpPr>
          <p:cNvPr id="18" name="TextBox 17"/>
          <p:cNvSpPr txBox="1"/>
          <p:nvPr/>
        </p:nvSpPr>
        <p:spPr>
          <a:xfrm>
            <a:off x="3392424" y="2743200"/>
            <a:ext cx="2057400" cy="685800"/>
          </a:xfrm>
          <a:prstGeom prst="rect">
            <a:avLst/>
          </a:prstGeom>
          <a:noFill/>
        </p:spPr>
        <p:txBody>
          <a:bodyPr wrap="square" anchor="t" lIns="0" rIns="0" tIns="0" bIns="0">
            <a:spAutoFit/>
          </a:bodyPr>
          <a:lstStyle/>
          <a:p>
            <a:pPr algn="l">
              <a:lnSpc>
                <a:spcPct val="112000"/>
              </a:lnSpc>
              <a:spcAft>
                <a:spcPts val="400"/>
              </a:spcAft>
            </a:pPr>
            <a:r>
              <a:rPr sz="980" b="0" i="0">
                <a:solidFill>
                  <a:srgbClr val="3A4356"/>
                </a:solidFill>
                <a:latin typeface="Calibri"/>
              </a:rPr>
              <a:t>OCCT kernel + drawing read + guards</a:t>
            </a:r>
          </a:p>
        </p:txBody>
      </p:sp>
      <p:sp>
        <p:nvSpPr>
          <p:cNvPr id="19" name="Rounded Rectangle 18"/>
          <p:cNvSpPr/>
          <p:nvPr/>
        </p:nvSpPr>
        <p:spPr>
          <a:xfrm>
            <a:off x="5806440" y="2240280"/>
            <a:ext cx="2331720" cy="1234440"/>
          </a:xfrm>
          <a:prstGeom prst="roundRect">
            <a:avLst>
              <a:gd name="adj" fmla="val 12000"/>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806440" y="2240280"/>
            <a:ext cx="2331720" cy="6858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52744" y="2423160"/>
            <a:ext cx="2057400" cy="274320"/>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Decision gate</a:t>
            </a:r>
          </a:p>
        </p:txBody>
      </p:sp>
      <p:sp>
        <p:nvSpPr>
          <p:cNvPr id="22" name="TextBox 21"/>
          <p:cNvSpPr txBox="1"/>
          <p:nvPr/>
        </p:nvSpPr>
        <p:spPr>
          <a:xfrm>
            <a:off x="5952744" y="2743200"/>
            <a:ext cx="2057400" cy="685800"/>
          </a:xfrm>
          <a:prstGeom prst="rect">
            <a:avLst/>
          </a:prstGeom>
          <a:noFill/>
        </p:spPr>
        <p:txBody>
          <a:bodyPr wrap="square" anchor="t" lIns="0" rIns="0" tIns="0" bIns="0">
            <a:spAutoFit/>
          </a:bodyPr>
          <a:lstStyle/>
          <a:p>
            <a:pPr algn="l">
              <a:lnSpc>
                <a:spcPct val="112000"/>
              </a:lnSpc>
              <a:spcAft>
                <a:spcPts val="400"/>
              </a:spcAft>
            </a:pPr>
            <a:r>
              <a:rPr sz="980" b="0" i="0">
                <a:solidFill>
                  <a:srgbClr val="3A4356"/>
                </a:solidFill>
                <a:latin typeface="Calibri"/>
              </a:rPr>
              <a:t>engineer confirms what the solid cannot tell</a:t>
            </a:r>
          </a:p>
        </p:txBody>
      </p:sp>
      <p:sp>
        <p:nvSpPr>
          <p:cNvPr id="23" name="Rounded Rectangle 22"/>
          <p:cNvSpPr/>
          <p:nvPr/>
        </p:nvSpPr>
        <p:spPr>
          <a:xfrm>
            <a:off x="8366760" y="2240280"/>
            <a:ext cx="2331720" cy="1234440"/>
          </a:xfrm>
          <a:prstGeom prst="roundRect">
            <a:avLst>
              <a:gd name="adj" fmla="val 12000"/>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366760" y="2240280"/>
            <a:ext cx="2331720" cy="6858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13064" y="2423160"/>
            <a:ext cx="2057400" cy="274320"/>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CAPEE</a:t>
            </a:r>
          </a:p>
        </p:txBody>
      </p:sp>
      <p:sp>
        <p:nvSpPr>
          <p:cNvPr id="26" name="TextBox 25"/>
          <p:cNvSpPr txBox="1"/>
          <p:nvPr/>
        </p:nvSpPr>
        <p:spPr>
          <a:xfrm>
            <a:off x="8513064" y="2743200"/>
            <a:ext cx="2057400" cy="685800"/>
          </a:xfrm>
          <a:prstGeom prst="rect">
            <a:avLst/>
          </a:prstGeom>
          <a:noFill/>
        </p:spPr>
        <p:txBody>
          <a:bodyPr wrap="square" anchor="t" lIns="0" rIns="0" tIns="0" bIns="0">
            <a:spAutoFit/>
          </a:bodyPr>
          <a:lstStyle/>
          <a:p>
            <a:pPr algn="l">
              <a:lnSpc>
                <a:spcPct val="112000"/>
              </a:lnSpc>
              <a:spcAft>
                <a:spcPts val="400"/>
              </a:spcAft>
            </a:pPr>
            <a:r>
              <a:rPr sz="980" b="0" i="0">
                <a:solidFill>
                  <a:srgbClr val="3A4356"/>
                </a:solidFill>
                <a:latin typeface="Calibri"/>
              </a:rPr>
              <a:t>receives structured cost inputs, costs the part</a:t>
            </a:r>
          </a:p>
        </p:txBody>
      </p:sp>
      <p:sp>
        <p:nvSpPr>
          <p:cNvPr id="27" name="TextBox 26"/>
          <p:cNvSpPr txBox="1"/>
          <p:nvPr/>
        </p:nvSpPr>
        <p:spPr>
          <a:xfrm>
            <a:off x="3035808" y="2697480"/>
            <a:ext cx="274320" cy="274320"/>
          </a:xfrm>
          <a:prstGeom prst="rect">
            <a:avLst/>
          </a:prstGeom>
          <a:noFill/>
        </p:spPr>
        <p:txBody>
          <a:bodyPr wrap="square" anchor="t" lIns="0" rIns="0" tIns="0" bIns="0">
            <a:spAutoFit/>
          </a:bodyPr>
          <a:lstStyle/>
          <a:p>
            <a:pPr algn="l">
              <a:lnSpc>
                <a:spcPct val="100000"/>
              </a:lnSpc>
              <a:spcAft>
                <a:spcPts val="400"/>
              </a:spcAft>
            </a:pPr>
            <a:r>
              <a:rPr sz="1700" b="1" i="0">
                <a:solidFill>
                  <a:srgbClr val="6B7280"/>
                </a:solidFill>
                <a:latin typeface="Calibri"/>
              </a:rPr>
              <a:t>&gt;</a:t>
            </a:r>
          </a:p>
        </p:txBody>
      </p:sp>
      <p:sp>
        <p:nvSpPr>
          <p:cNvPr id="28" name="TextBox 27"/>
          <p:cNvSpPr txBox="1"/>
          <p:nvPr/>
        </p:nvSpPr>
        <p:spPr>
          <a:xfrm>
            <a:off x="5596128" y="2697480"/>
            <a:ext cx="274320" cy="274320"/>
          </a:xfrm>
          <a:prstGeom prst="rect">
            <a:avLst/>
          </a:prstGeom>
          <a:noFill/>
        </p:spPr>
        <p:txBody>
          <a:bodyPr wrap="square" anchor="t" lIns="0" rIns="0" tIns="0" bIns="0">
            <a:spAutoFit/>
          </a:bodyPr>
          <a:lstStyle/>
          <a:p>
            <a:pPr algn="l">
              <a:lnSpc>
                <a:spcPct val="100000"/>
              </a:lnSpc>
              <a:spcAft>
                <a:spcPts val="400"/>
              </a:spcAft>
            </a:pPr>
            <a:r>
              <a:rPr sz="1700" b="1" i="0">
                <a:solidFill>
                  <a:srgbClr val="6B7280"/>
                </a:solidFill>
                <a:latin typeface="Calibri"/>
              </a:rPr>
              <a:t>&gt;</a:t>
            </a:r>
          </a:p>
        </p:txBody>
      </p:sp>
      <p:sp>
        <p:nvSpPr>
          <p:cNvPr id="29" name="TextBox 28"/>
          <p:cNvSpPr txBox="1"/>
          <p:nvPr/>
        </p:nvSpPr>
        <p:spPr>
          <a:xfrm>
            <a:off x="8156448" y="2697480"/>
            <a:ext cx="274320" cy="274320"/>
          </a:xfrm>
          <a:prstGeom prst="rect">
            <a:avLst/>
          </a:prstGeom>
          <a:noFill/>
        </p:spPr>
        <p:txBody>
          <a:bodyPr wrap="square" anchor="t" lIns="0" rIns="0" tIns="0" bIns="0">
            <a:spAutoFit/>
          </a:bodyPr>
          <a:lstStyle/>
          <a:p>
            <a:pPr algn="l">
              <a:lnSpc>
                <a:spcPct val="100000"/>
              </a:lnSpc>
              <a:spcAft>
                <a:spcPts val="400"/>
              </a:spcAft>
            </a:pPr>
            <a:r>
              <a:rPr sz="1700" b="1" i="0">
                <a:solidFill>
                  <a:srgbClr val="6B7280"/>
                </a:solidFill>
                <a:latin typeface="Calibri"/>
              </a:rPr>
              <a:t>&gt;</a:t>
            </a:r>
          </a:p>
        </p:txBody>
      </p:sp>
      <p:sp>
        <p:nvSpPr>
          <p:cNvPr id="30" name="TextBox 29"/>
          <p:cNvSpPr txBox="1"/>
          <p:nvPr/>
        </p:nvSpPr>
        <p:spPr>
          <a:xfrm>
            <a:off x="640080" y="3657600"/>
            <a:ext cx="10881360" cy="1005840"/>
          </a:xfrm>
          <a:prstGeom prst="rect">
            <a:avLst/>
          </a:prstGeom>
          <a:noFill/>
        </p:spPr>
        <p:txBody>
          <a:bodyPr wrap="square" anchor="t" lIns="0" rIns="0" tIns="0" bIns="0">
            <a:spAutoFit/>
          </a:bodyPr>
          <a:lstStyle/>
          <a:p>
            <a:pPr algn="l">
              <a:lnSpc>
                <a:spcPct val="120000"/>
              </a:lnSpc>
              <a:spcAft>
                <a:spcPts val="400"/>
              </a:spcAft>
            </a:pPr>
            <a:r>
              <a:rPr sz="1100" b="0" i="0">
                <a:solidFill>
                  <a:srgbClr val="3A4356"/>
                </a:solidFill>
                <a:latin typeface="Calibri"/>
              </a:rPr>
              <a:t>CAPEE remains the system of record. It keeps its own cost engine, its workflow and its approvals. CostVision contributes the measurement, the drawing read and the guard layer — nothing downstream of the cost inputs.</a:t>
            </a:r>
          </a:p>
        </p:txBody>
      </p:sp>
      <p:sp>
        <p:nvSpPr>
          <p:cNvPr id="31" name="TextBox 30"/>
          <p:cNvSpPr txBox="1"/>
          <p:nvPr/>
        </p:nvSpPr>
        <p:spPr>
          <a:xfrm>
            <a:off x="640080" y="4224528"/>
            <a:ext cx="10881360" cy="457200"/>
          </a:xfrm>
          <a:prstGeom prst="rect">
            <a:avLst/>
          </a:prstGeom>
          <a:noFill/>
        </p:spPr>
        <p:txBody>
          <a:bodyPr wrap="square" anchor="t" lIns="0" rIns="0" tIns="0" bIns="0">
            <a:spAutoFit/>
          </a:bodyPr>
          <a:lstStyle/>
          <a:p>
            <a:pPr algn="l">
              <a:lnSpc>
                <a:spcPct val="120000"/>
              </a:lnSpc>
              <a:spcAft>
                <a:spcPts val="400"/>
              </a:spcAft>
            </a:pPr>
            <a:r>
              <a:rPr sz="1100" b="1" i="0">
                <a:solidFill>
                  <a:srgbClr val="16325C"/>
                </a:solidFill>
                <a:latin typeface="Calibri"/>
              </a:rPr>
              <a:t>The extraction service is deployed inside JLR. CAD files never leave the network — the kernel is local and offline. Only derived summaries and drawing text reach an LLM, via JLR's own gateway.</a:t>
            </a:r>
          </a:p>
        </p:txBody>
      </p:sp>
      <p:sp>
        <p:nvSpPr>
          <p:cNvPr id="32" name="Rounded Rectangle 31"/>
          <p:cNvSpPr/>
          <p:nvPr/>
        </p:nvSpPr>
        <p:spPr>
          <a:xfrm>
            <a:off x="411480" y="5074920"/>
            <a:ext cx="11365992" cy="114300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11480" y="5074920"/>
            <a:ext cx="68580" cy="11430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0936" y="519379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Why the decision gate sits between extraction and CAPEE</a:t>
            </a:r>
          </a:p>
        </p:txBody>
      </p:sp>
      <p:sp>
        <p:nvSpPr>
          <p:cNvPr id="35" name="TextBox 34"/>
          <p:cNvSpPr txBox="1"/>
          <p:nvPr/>
        </p:nvSpPr>
        <p:spPr>
          <a:xfrm>
            <a:off x="630936" y="5477256"/>
            <a:ext cx="10954512" cy="64008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Some cost-bearing facts cannot be derived from a solid model at all — helix angle, ISO quality class, heat-treat route, material grade. The gate puts these to the engineer rather than letting a model guess, and records who answered. Without it, automatic extraction quietly converts an unknown into an assumption, and CAPEE would have no way of telling the two apart.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 · DECISION POINT</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Three ways to integrate — the choice depends on CAPEE</a:t>
            </a:r>
          </a:p>
        </p:txBody>
      </p:sp>
      <p:sp>
        <p:nvSpPr>
          <p:cNvPr id="9" name="TextBox 8"/>
          <p:cNvSpPr txBox="1"/>
          <p:nvPr/>
        </p:nvSpPr>
        <p:spPr>
          <a:xfrm>
            <a:off x="411480" y="1572768"/>
            <a:ext cx="11338560" cy="32004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CAPEE's technology stack has not yet been confirmed. All three patterns are costed so the answer drops in without rework.</a:t>
            </a:r>
          </a:p>
        </p:txBody>
      </p:sp>
      <p:sp>
        <p:nvSpPr>
          <p:cNvPr id="10" name="Rectangle 9"/>
          <p:cNvSpPr/>
          <p:nvPr/>
        </p:nvSpPr>
        <p:spPr>
          <a:xfrm>
            <a:off x="411480" y="2011680"/>
            <a:ext cx="169164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 y="2093976"/>
            <a:ext cx="154533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Pattern</a:t>
            </a:r>
          </a:p>
        </p:txBody>
      </p:sp>
      <p:sp>
        <p:nvSpPr>
          <p:cNvPr id="12" name="Rectangle 11"/>
          <p:cNvSpPr/>
          <p:nvPr/>
        </p:nvSpPr>
        <p:spPr>
          <a:xfrm>
            <a:off x="2103120" y="2011680"/>
            <a:ext cx="228600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85416" y="2093976"/>
            <a:ext cx="213969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Fits when CAPEE is…</a:t>
            </a:r>
          </a:p>
        </p:txBody>
      </p:sp>
      <p:sp>
        <p:nvSpPr>
          <p:cNvPr id="14" name="Rectangle 13"/>
          <p:cNvSpPr/>
          <p:nvPr/>
        </p:nvSpPr>
        <p:spPr>
          <a:xfrm>
            <a:off x="4389120" y="2011680"/>
            <a:ext cx="482803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71416" y="2093976"/>
            <a:ext cx="468172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How it works</a:t>
            </a:r>
          </a:p>
        </p:txBody>
      </p:sp>
      <p:sp>
        <p:nvSpPr>
          <p:cNvPr id="16" name="Rectangle 15"/>
          <p:cNvSpPr/>
          <p:nvPr/>
        </p:nvSpPr>
        <p:spPr>
          <a:xfrm>
            <a:off x="9217152" y="2011680"/>
            <a:ext cx="128016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99448" y="2093976"/>
            <a:ext cx="113385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Effort</a:t>
            </a:r>
          </a:p>
        </p:txBody>
      </p:sp>
      <p:sp>
        <p:nvSpPr>
          <p:cNvPr id="18" name="Rectangle 17"/>
          <p:cNvSpPr/>
          <p:nvPr/>
        </p:nvSpPr>
        <p:spPr>
          <a:xfrm>
            <a:off x="10497312" y="2011680"/>
            <a:ext cx="128016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79608" y="2093976"/>
            <a:ext cx="113385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Integration risk</a:t>
            </a:r>
          </a:p>
        </p:txBody>
      </p:sp>
      <p:sp>
        <p:nvSpPr>
          <p:cNvPr id="20" name="Rectangle 19"/>
          <p:cNvSpPr/>
          <p:nvPr/>
        </p:nvSpPr>
        <p:spPr>
          <a:xfrm>
            <a:off x="411480" y="2340864"/>
            <a:ext cx="1691640" cy="74980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93776" y="2404872"/>
            <a:ext cx="1545336" cy="658368"/>
          </a:xfrm>
          <a:prstGeom prst="rect">
            <a:avLst/>
          </a:prstGeom>
          <a:noFill/>
        </p:spPr>
        <p:txBody>
          <a:bodyPr wrap="square" anchor="t" lIns="0" rIns="0" tIns="0" bIns="0">
            <a:spAutoFit/>
          </a:bodyPr>
          <a:lstStyle/>
          <a:p>
            <a:pPr algn="l">
              <a:lnSpc>
                <a:spcPct val="100000"/>
              </a:lnSpc>
              <a:spcAft>
                <a:spcPts val="400"/>
              </a:spcAft>
            </a:pPr>
            <a:r>
              <a:rPr sz="1000" b="1" i="0">
                <a:solidFill>
                  <a:srgbClr val="16325C"/>
                </a:solidFill>
                <a:latin typeface="Calibri"/>
              </a:rPr>
              <a:t>A — Embed</a:t>
            </a:r>
          </a:p>
        </p:txBody>
      </p:sp>
      <p:sp>
        <p:nvSpPr>
          <p:cNvPr id="22" name="Rectangle 21"/>
          <p:cNvSpPr/>
          <p:nvPr/>
        </p:nvSpPr>
        <p:spPr>
          <a:xfrm>
            <a:off x="2103120" y="2340864"/>
            <a:ext cx="2286000" cy="74980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185416" y="2404872"/>
            <a:ext cx="2139696" cy="658368"/>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Node / JavaScript backend</a:t>
            </a:r>
          </a:p>
        </p:txBody>
      </p:sp>
      <p:sp>
        <p:nvSpPr>
          <p:cNvPr id="24" name="Rectangle 23"/>
          <p:cNvSpPr/>
          <p:nvPr/>
        </p:nvSpPr>
        <p:spPr>
          <a:xfrm>
            <a:off x="4389120" y="2340864"/>
            <a:ext cx="4828032" cy="74980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71416" y="2404872"/>
            <a:ext cx="4681728" cy="658368"/>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TypeScript rules, guards and constants embedded as an npm package. Only the OCCT kernel runs as a sidecar.</a:t>
            </a:r>
          </a:p>
        </p:txBody>
      </p:sp>
      <p:sp>
        <p:nvSpPr>
          <p:cNvPr id="26" name="Rectangle 25"/>
          <p:cNvSpPr/>
          <p:nvPr/>
        </p:nvSpPr>
        <p:spPr>
          <a:xfrm>
            <a:off x="9217152" y="2340864"/>
            <a:ext cx="1280160" cy="74980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99448" y="2404872"/>
            <a:ext cx="1133856" cy="658368"/>
          </a:xfrm>
          <a:prstGeom prst="rect">
            <a:avLst/>
          </a:prstGeom>
          <a:noFill/>
        </p:spPr>
        <p:txBody>
          <a:bodyPr wrap="square" anchor="t" lIns="0" rIns="0" tIns="0" bIns="0">
            <a:spAutoFit/>
          </a:bodyPr>
          <a:lstStyle/>
          <a:p>
            <a:pPr algn="l">
              <a:lnSpc>
                <a:spcPct val="100000"/>
              </a:lnSpc>
              <a:spcAft>
                <a:spcPts val="400"/>
              </a:spcAft>
            </a:pPr>
            <a:r>
              <a:rPr sz="1000" b="1" i="0">
                <a:solidFill>
                  <a:srgbClr val="2E8B57"/>
                </a:solidFill>
                <a:latin typeface="Calibri"/>
              </a:rPr>
              <a:t>12–14 wks</a:t>
            </a:r>
          </a:p>
        </p:txBody>
      </p:sp>
      <p:sp>
        <p:nvSpPr>
          <p:cNvPr id="28" name="Rectangle 27"/>
          <p:cNvSpPr/>
          <p:nvPr/>
        </p:nvSpPr>
        <p:spPr>
          <a:xfrm>
            <a:off x="10497312" y="2340864"/>
            <a:ext cx="1280160" cy="74980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79608" y="2404872"/>
            <a:ext cx="1133856" cy="658368"/>
          </a:xfrm>
          <a:prstGeom prst="rect">
            <a:avLst/>
          </a:prstGeom>
          <a:noFill/>
        </p:spPr>
        <p:txBody>
          <a:bodyPr wrap="square" anchor="t" lIns="0" rIns="0" tIns="0" bIns="0">
            <a:spAutoFit/>
          </a:bodyPr>
          <a:lstStyle/>
          <a:p>
            <a:pPr algn="l">
              <a:lnSpc>
                <a:spcPct val="100000"/>
              </a:lnSpc>
              <a:spcAft>
                <a:spcPts val="400"/>
              </a:spcAft>
            </a:pPr>
            <a:r>
              <a:rPr sz="1000" b="0" i="0">
                <a:solidFill>
                  <a:srgbClr val="2E8B57"/>
                </a:solidFill>
                <a:latin typeface="Calibri"/>
              </a:rPr>
              <a:t>Lowest</a:t>
            </a:r>
          </a:p>
        </p:txBody>
      </p:sp>
      <p:sp>
        <p:nvSpPr>
          <p:cNvPr id="30" name="Rectangle 29"/>
          <p:cNvSpPr/>
          <p:nvPr/>
        </p:nvSpPr>
        <p:spPr>
          <a:xfrm>
            <a:off x="411480" y="3090672"/>
            <a:ext cx="1691640" cy="74980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93776" y="3154680"/>
            <a:ext cx="1545336" cy="658368"/>
          </a:xfrm>
          <a:prstGeom prst="rect">
            <a:avLst/>
          </a:prstGeom>
          <a:noFill/>
        </p:spPr>
        <p:txBody>
          <a:bodyPr wrap="square" anchor="t" lIns="0" rIns="0" tIns="0" bIns="0">
            <a:spAutoFit/>
          </a:bodyPr>
          <a:lstStyle/>
          <a:p>
            <a:pPr algn="l">
              <a:lnSpc>
                <a:spcPct val="100000"/>
              </a:lnSpc>
              <a:spcAft>
                <a:spcPts val="400"/>
              </a:spcAft>
            </a:pPr>
            <a:r>
              <a:rPr sz="1000" b="1" i="0">
                <a:solidFill>
                  <a:srgbClr val="16325C"/>
                </a:solidFill>
                <a:latin typeface="Calibri"/>
              </a:rPr>
              <a:t>B — Sidecar service</a:t>
            </a:r>
          </a:p>
        </p:txBody>
      </p:sp>
      <p:sp>
        <p:nvSpPr>
          <p:cNvPr id="32" name="Rectangle 31"/>
          <p:cNvSpPr/>
          <p:nvPr/>
        </p:nvSpPr>
        <p:spPr>
          <a:xfrm>
            <a:off x="2103120" y="3090672"/>
            <a:ext cx="2286000" cy="74980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185416" y="3154680"/>
            <a:ext cx="2139696" cy="658368"/>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Java, .NET or any non-JS stack</a:t>
            </a:r>
          </a:p>
        </p:txBody>
      </p:sp>
      <p:sp>
        <p:nvSpPr>
          <p:cNvPr id="34" name="Rectangle 33"/>
          <p:cNvSpPr/>
          <p:nvPr/>
        </p:nvSpPr>
        <p:spPr>
          <a:xfrm>
            <a:off x="4389120" y="3090672"/>
            <a:ext cx="4828032" cy="74980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71416" y="3154680"/>
            <a:ext cx="4681728" cy="658368"/>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Whole extraction stack runs as a containerised service. CAPEE calls it over REST/mTLS. Constants ship as a versioned data pack.</a:t>
            </a:r>
          </a:p>
        </p:txBody>
      </p:sp>
      <p:sp>
        <p:nvSpPr>
          <p:cNvPr id="36" name="Rectangle 35"/>
          <p:cNvSpPr/>
          <p:nvPr/>
        </p:nvSpPr>
        <p:spPr>
          <a:xfrm>
            <a:off x="9217152" y="3090672"/>
            <a:ext cx="1280160" cy="74980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299448" y="3154680"/>
            <a:ext cx="1133856" cy="658368"/>
          </a:xfrm>
          <a:prstGeom prst="rect">
            <a:avLst/>
          </a:prstGeom>
          <a:noFill/>
        </p:spPr>
        <p:txBody>
          <a:bodyPr wrap="square" anchor="t" lIns="0" rIns="0" tIns="0" bIns="0">
            <a:spAutoFit/>
          </a:bodyPr>
          <a:lstStyle/>
          <a:p>
            <a:pPr algn="l">
              <a:lnSpc>
                <a:spcPct val="100000"/>
              </a:lnSpc>
              <a:spcAft>
                <a:spcPts val="400"/>
              </a:spcAft>
            </a:pPr>
            <a:r>
              <a:rPr sz="1000" b="1" i="0">
                <a:solidFill>
                  <a:srgbClr val="B7791F"/>
                </a:solidFill>
                <a:latin typeface="Calibri"/>
              </a:rPr>
              <a:t>14–18 wks</a:t>
            </a:r>
          </a:p>
        </p:txBody>
      </p:sp>
      <p:sp>
        <p:nvSpPr>
          <p:cNvPr id="38" name="Rectangle 37"/>
          <p:cNvSpPr/>
          <p:nvPr/>
        </p:nvSpPr>
        <p:spPr>
          <a:xfrm>
            <a:off x="10497312" y="3090672"/>
            <a:ext cx="1280160" cy="74980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579608" y="3154680"/>
            <a:ext cx="1133856" cy="658368"/>
          </a:xfrm>
          <a:prstGeom prst="rect">
            <a:avLst/>
          </a:prstGeom>
          <a:noFill/>
        </p:spPr>
        <p:txBody>
          <a:bodyPr wrap="square" anchor="t" lIns="0" rIns="0" tIns="0" bIns="0">
            <a:spAutoFit/>
          </a:bodyPr>
          <a:lstStyle/>
          <a:p>
            <a:pPr algn="l">
              <a:lnSpc>
                <a:spcPct val="100000"/>
              </a:lnSpc>
              <a:spcAft>
                <a:spcPts val="400"/>
              </a:spcAft>
            </a:pPr>
            <a:r>
              <a:rPr sz="1000" b="0" i="0">
                <a:solidFill>
                  <a:srgbClr val="B7791F"/>
                </a:solidFill>
                <a:latin typeface="Calibri"/>
              </a:rPr>
              <a:t>Medium</a:t>
            </a:r>
          </a:p>
        </p:txBody>
      </p:sp>
      <p:sp>
        <p:nvSpPr>
          <p:cNvPr id="40" name="Rectangle 39"/>
          <p:cNvSpPr/>
          <p:nvPr/>
        </p:nvSpPr>
        <p:spPr>
          <a:xfrm>
            <a:off x="411480" y="3840480"/>
            <a:ext cx="1691640" cy="74980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93776" y="3904488"/>
            <a:ext cx="1545336" cy="658368"/>
          </a:xfrm>
          <a:prstGeom prst="rect">
            <a:avLst/>
          </a:prstGeom>
          <a:noFill/>
        </p:spPr>
        <p:txBody>
          <a:bodyPr wrap="square" anchor="t" lIns="0" rIns="0" tIns="0" bIns="0">
            <a:spAutoFit/>
          </a:bodyPr>
          <a:lstStyle/>
          <a:p>
            <a:pPr algn="l">
              <a:lnSpc>
                <a:spcPct val="100000"/>
              </a:lnSpc>
              <a:spcAft>
                <a:spcPts val="400"/>
              </a:spcAft>
            </a:pPr>
            <a:r>
              <a:rPr sz="1000" b="1" i="0">
                <a:solidFill>
                  <a:srgbClr val="16325C"/>
                </a:solidFill>
                <a:latin typeface="Calibri"/>
              </a:rPr>
              <a:t>C — File handoff</a:t>
            </a:r>
          </a:p>
        </p:txBody>
      </p:sp>
      <p:sp>
        <p:nvSpPr>
          <p:cNvPr id="42" name="Rectangle 41"/>
          <p:cNvSpPr/>
          <p:nvPr/>
        </p:nvSpPr>
        <p:spPr>
          <a:xfrm>
            <a:off x="2103120" y="3840480"/>
            <a:ext cx="2286000" cy="74980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185416" y="3904488"/>
            <a:ext cx="2139696" cy="658368"/>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Desktop / Excel / Access estimator</a:t>
            </a:r>
          </a:p>
        </p:txBody>
      </p:sp>
      <p:sp>
        <p:nvSpPr>
          <p:cNvPr id="44" name="Rectangle 43"/>
          <p:cNvSpPr/>
          <p:nvPr/>
        </p:nvSpPr>
        <p:spPr>
          <a:xfrm>
            <a:off x="4389120" y="3840480"/>
            <a:ext cx="4828032" cy="74980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471416" y="3904488"/>
            <a:ext cx="4681728" cy="658368"/>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Extraction produces a structured import file (JSON/XML/CSV) that CAPEE ingests. No live coupling.</a:t>
            </a:r>
          </a:p>
        </p:txBody>
      </p:sp>
      <p:sp>
        <p:nvSpPr>
          <p:cNvPr id="46" name="Rectangle 45"/>
          <p:cNvSpPr/>
          <p:nvPr/>
        </p:nvSpPr>
        <p:spPr>
          <a:xfrm>
            <a:off x="9217152" y="3840480"/>
            <a:ext cx="1280160" cy="74980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299448" y="3904488"/>
            <a:ext cx="1133856" cy="658368"/>
          </a:xfrm>
          <a:prstGeom prst="rect">
            <a:avLst/>
          </a:prstGeom>
          <a:noFill/>
        </p:spPr>
        <p:txBody>
          <a:bodyPr wrap="square" anchor="t" lIns="0" rIns="0" tIns="0" bIns="0">
            <a:spAutoFit/>
          </a:bodyPr>
          <a:lstStyle/>
          <a:p>
            <a:pPr algn="l">
              <a:lnSpc>
                <a:spcPct val="100000"/>
              </a:lnSpc>
              <a:spcAft>
                <a:spcPts val="400"/>
              </a:spcAft>
            </a:pPr>
            <a:r>
              <a:rPr sz="1000" b="1" i="0">
                <a:solidFill>
                  <a:srgbClr val="2E8B57"/>
                </a:solidFill>
                <a:latin typeface="Calibri"/>
              </a:rPr>
              <a:t>10–12 wks</a:t>
            </a:r>
          </a:p>
        </p:txBody>
      </p:sp>
      <p:sp>
        <p:nvSpPr>
          <p:cNvPr id="48" name="Rectangle 47"/>
          <p:cNvSpPr/>
          <p:nvPr/>
        </p:nvSpPr>
        <p:spPr>
          <a:xfrm>
            <a:off x="10497312" y="3840480"/>
            <a:ext cx="1280160" cy="74980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579608" y="3904488"/>
            <a:ext cx="1133856" cy="658368"/>
          </a:xfrm>
          <a:prstGeom prst="rect">
            <a:avLst/>
          </a:prstGeom>
          <a:noFill/>
        </p:spPr>
        <p:txBody>
          <a:bodyPr wrap="square" anchor="t" lIns="0" rIns="0" tIns="0" bIns="0">
            <a:spAutoFit/>
          </a:bodyPr>
          <a:lstStyle/>
          <a:p>
            <a:pPr algn="l">
              <a:lnSpc>
                <a:spcPct val="100000"/>
              </a:lnSpc>
              <a:spcAft>
                <a:spcPts val="400"/>
              </a:spcAft>
            </a:pPr>
            <a:r>
              <a:rPr sz="1000" b="0" i="0">
                <a:solidFill>
                  <a:srgbClr val="B7791F"/>
                </a:solidFill>
                <a:latin typeface="Calibri"/>
              </a:rPr>
              <a:t>Low, but manual step</a:t>
            </a:r>
          </a:p>
        </p:txBody>
      </p:sp>
      <p:sp>
        <p:nvSpPr>
          <p:cNvPr id="50" name="Rounded Rectangle 49"/>
          <p:cNvSpPr/>
          <p:nvPr/>
        </p:nvSpPr>
        <p:spPr>
          <a:xfrm>
            <a:off x="411480" y="4617720"/>
            <a:ext cx="5577840" cy="96012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411480" y="4617720"/>
            <a:ext cx="68580" cy="96012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30936" y="4736592"/>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Recommended default: Pattern B</a:t>
            </a:r>
          </a:p>
        </p:txBody>
      </p:sp>
      <p:sp>
        <p:nvSpPr>
          <p:cNvPr id="53" name="TextBox 52"/>
          <p:cNvSpPr txBox="1"/>
          <p:nvPr/>
        </p:nvSpPr>
        <p:spPr>
          <a:xfrm>
            <a:off x="630936" y="5020056"/>
            <a:ext cx="5166360" cy="45720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A sidecar service works whatever CAPEE turns out to be, keeps the Python kernel in a supported environment, and lets CostVision be upgraded without redeploying CAPEE.</a:t>
            </a:r>
          </a:p>
        </p:txBody>
      </p:sp>
      <p:sp>
        <p:nvSpPr>
          <p:cNvPr id="54" name="Rounded Rectangle 53"/>
          <p:cNvSpPr/>
          <p:nvPr/>
        </p:nvSpPr>
        <p:spPr>
          <a:xfrm>
            <a:off x="6199632" y="4617720"/>
            <a:ext cx="5577840" cy="96012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199632" y="4617720"/>
            <a:ext cx="68580" cy="96012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419088" y="4736592"/>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7791F"/>
                </a:solidFill>
                <a:latin typeface="Calibri"/>
              </a:rPr>
              <a:t>What we need from JLR to close this</a:t>
            </a:r>
          </a:p>
        </p:txBody>
      </p:sp>
      <p:sp>
        <p:nvSpPr>
          <p:cNvPr id="57" name="TextBox 56"/>
          <p:cNvSpPr txBox="1"/>
          <p:nvPr/>
        </p:nvSpPr>
        <p:spPr>
          <a:xfrm>
            <a:off x="6419088" y="5020056"/>
            <a:ext cx="5166360" cy="45720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CAPEE backend language and framework; container platform and whether glibc images are permitted; whether CAPEE can make outbound service calls, or must ingest files.</a:t>
            </a:r>
          </a:p>
        </p:txBody>
      </p:sp>
      <p:sp>
        <p:nvSpPr>
          <p:cNvPr id="58" name="TextBox 57"/>
          <p:cNvSpPr txBox="1"/>
          <p:nvPr/>
        </p:nvSpPr>
        <p:spPr>
          <a:xfrm>
            <a:off x="411480" y="6419088"/>
            <a:ext cx="11338560" cy="219456"/>
          </a:xfrm>
          <a:prstGeom prst="rect">
            <a:avLst/>
          </a:prstGeom>
          <a:noFill/>
        </p:spPr>
        <p:txBody>
          <a:bodyPr wrap="square" anchor="t" lIns="0" rIns="0" tIns="0" bIns="0">
            <a:spAutoFit/>
          </a:bodyPr>
          <a:lstStyle/>
          <a:p>
            <a:pPr algn="l">
              <a:lnSpc>
                <a:spcPct val="100000"/>
              </a:lnSpc>
              <a:spcAft>
                <a:spcPts val="400"/>
              </a:spcAft>
            </a:pPr>
            <a:r>
              <a:rPr sz="800" b="0" i="0">
                <a:solidFill>
                  <a:srgbClr val="6B7280"/>
                </a:solidFill>
                <a:latin typeface="Calibri"/>
              </a:rPr>
              <a:t>Effort assumes one integration engineer plus part-time CostVision support; excludes JLR rate-data collection.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 · PORTABILITY</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transfers literally, and what cannot</a:t>
            </a:r>
          </a:p>
        </p:txBody>
      </p:sp>
      <p:sp>
        <p:nvSpPr>
          <p:cNvPr id="9" name="Rounded Rectangle 8"/>
          <p:cNvSpPr/>
          <p:nvPr/>
        </p:nvSpPr>
        <p:spPr>
          <a:xfrm>
            <a:off x="411480" y="1691640"/>
            <a:ext cx="5577840" cy="2286000"/>
          </a:xfrm>
          <a:prstGeom prst="roundRect">
            <a:avLst>
              <a:gd name="adj" fmla="val 12000"/>
            </a:avLst>
          </a:prstGeom>
          <a:solidFill>
            <a:srgbClr val="EAF6E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691640"/>
            <a:ext cx="68580" cy="228600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1819656"/>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PORTS AS-IS — including the hardcoded values</a:t>
            </a:r>
          </a:p>
        </p:txBody>
      </p:sp>
      <p:sp>
        <p:nvSpPr>
          <p:cNvPr id="12" name="TextBox 11"/>
          <p:cNvSpPr txBox="1"/>
          <p:nvPr/>
        </p:nvSpPr>
        <p:spPr>
          <a:xfrm>
            <a:off x="612648" y="2130552"/>
            <a:ext cx="5212080" cy="173736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Geometry kernel — runs unchanged in any glibc container</a:t>
            </a:r>
          </a:p>
          <a:p>
            <a:pPr algn="l">
              <a:lnSpc>
                <a:spcPct val="112000"/>
              </a:lnSpc>
              <a:spcAft>
                <a:spcPts val="300"/>
              </a:spcAft>
            </a:pPr>
            <a:r>
              <a:rPr sz="1050" b="0" i="0">
                <a:solidFill>
                  <a:srgbClr val="3A4356"/>
                </a:solidFill>
                <a:latin typeface="Calibri"/>
              </a:rPr>
              <a:t>Feature-detection thresholds and tolerances</a:t>
            </a:r>
          </a:p>
          <a:p>
            <a:pPr algn="l">
              <a:lnSpc>
                <a:spcPct val="112000"/>
              </a:lnSpc>
              <a:spcAft>
                <a:spcPts val="300"/>
              </a:spcAft>
            </a:pPr>
            <a:r>
              <a:rPr sz="1050" b="0" i="0">
                <a:solidFill>
                  <a:srgbClr val="3A4356"/>
                </a:solidFill>
                <a:latin typeface="Calibri"/>
              </a:rPr>
              <a:t>Commodity prompt text, verbatim</a:t>
            </a:r>
          </a:p>
          <a:p>
            <a:pPr algn="l">
              <a:lnSpc>
                <a:spcPct val="112000"/>
              </a:lnSpc>
              <a:spcAft>
                <a:spcPts val="300"/>
              </a:spcAft>
            </a:pPr>
            <a:r>
              <a:rPr sz="1050" b="0" i="0">
                <a:solidFill>
                  <a:srgbClr val="3A4356"/>
                </a:solidFill>
                <a:latin typeface="Calibri"/>
              </a:rPr>
              <a:t>Guard limits and sanity bands</a:t>
            </a:r>
          </a:p>
          <a:p>
            <a:pPr algn="l">
              <a:lnSpc>
                <a:spcPct val="112000"/>
              </a:lnSpc>
              <a:spcAft>
                <a:spcPts val="300"/>
              </a:spcAft>
            </a:pPr>
            <a:r>
              <a:rPr sz="1050" b="0" i="0">
                <a:solidFill>
                  <a:srgbClr val="3A4356"/>
                </a:solidFill>
                <a:latin typeface="Calibri"/>
              </a:rPr>
              <a:t>Rules-pack logic and decision definitions</a:t>
            </a:r>
          </a:p>
          <a:p>
            <a:pPr algn="l">
              <a:lnSpc>
                <a:spcPct val="112000"/>
              </a:lnSpc>
              <a:spcAft>
                <a:spcPts val="300"/>
              </a:spcAft>
            </a:pPr>
            <a:r>
              <a:rPr sz="1050" b="0" i="0">
                <a:solidFill>
                  <a:srgbClr val="3A4356"/>
                </a:solidFill>
                <a:latin typeface="Calibri"/>
              </a:rPr>
              <a:t>Gear metrology, surface-area and wall-thickness maths</a:t>
            </a:r>
          </a:p>
          <a:p>
            <a:pPr algn="l">
              <a:lnSpc>
                <a:spcPct val="112000"/>
              </a:lnSpc>
              <a:spcAft>
                <a:spcPts val="300"/>
              </a:spcAft>
            </a:pPr>
            <a:r>
              <a:rPr sz="1050" b="0" i="0">
                <a:solidFill>
                  <a:srgbClr val="3A4356"/>
                </a:solidFill>
                <a:latin typeface="Calibri"/>
              </a:rPr>
              <a:t>The seeded sampling constant, so results reproduce</a:t>
            </a:r>
          </a:p>
        </p:txBody>
      </p:sp>
      <p:sp>
        <p:nvSpPr>
          <p:cNvPr id="13" name="Rounded Rectangle 12"/>
          <p:cNvSpPr/>
          <p:nvPr/>
        </p:nvSpPr>
        <p:spPr>
          <a:xfrm>
            <a:off x="6199632" y="1691640"/>
            <a:ext cx="5577840" cy="2286000"/>
          </a:xfrm>
          <a:prstGeom prst="roundRect">
            <a:avLst>
              <a:gd name="adj" fmla="val 12000"/>
            </a:avLst>
          </a:prstGeom>
          <a:solidFill>
            <a:srgbClr val="FCF3E3"/>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99632" y="1691640"/>
            <a:ext cx="68580" cy="2286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819656"/>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NEEDS REWORK OR A DECISION</a:t>
            </a:r>
          </a:p>
        </p:txBody>
      </p:sp>
      <p:sp>
        <p:nvSpPr>
          <p:cNvPr id="16" name="TextBox 15"/>
          <p:cNvSpPr txBox="1"/>
          <p:nvPr/>
        </p:nvSpPr>
        <p:spPr>
          <a:xfrm>
            <a:off x="6400800" y="2130552"/>
            <a:ext cx="5212080" cy="173736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TypeScript source — literal only if CAPEE is Node (Pattern A)</a:t>
            </a:r>
          </a:p>
          <a:p>
            <a:pPr algn="l">
              <a:lnSpc>
                <a:spcPct val="112000"/>
              </a:lnSpc>
              <a:spcAft>
                <a:spcPts val="300"/>
              </a:spcAft>
            </a:pPr>
            <a:r>
              <a:rPr sz="1050" b="0" i="0">
                <a:solidFill>
                  <a:srgbClr val="3A4356"/>
                </a:solidFill>
                <a:latin typeface="Calibri"/>
              </a:rPr>
              <a:t>HTTP routes — replaced by CAPEE's own service contract</a:t>
            </a:r>
          </a:p>
          <a:p>
            <a:pPr algn="l">
              <a:lnSpc>
                <a:spcPct val="112000"/>
              </a:lnSpc>
              <a:spcAft>
                <a:spcPts val="300"/>
              </a:spcAft>
            </a:pPr>
            <a:r>
              <a:rPr sz="1050" b="0" i="0">
                <a:solidFill>
                  <a:srgbClr val="3A4356"/>
                </a:solidFill>
                <a:latin typeface="Calibri"/>
              </a:rPr>
              <a:t>The browser UI — CAPEE has its own front end</a:t>
            </a:r>
          </a:p>
          <a:p>
            <a:pPr algn="l">
              <a:lnSpc>
                <a:spcPct val="112000"/>
              </a:lnSpc>
              <a:spcAft>
                <a:spcPts val="300"/>
              </a:spcAft>
            </a:pPr>
            <a:r>
              <a:rPr sz="1050" b="0" i="0">
                <a:solidFill>
                  <a:srgbClr val="3A4356"/>
                </a:solidFill>
                <a:latin typeface="Calibri"/>
              </a:rPr>
              <a:t>LLM client — must point at JLR's gateway, not the public API</a:t>
            </a:r>
          </a:p>
          <a:p>
            <a:pPr algn="l">
              <a:lnSpc>
                <a:spcPct val="112000"/>
              </a:lnSpc>
              <a:spcAft>
                <a:spcPts val="300"/>
              </a:spcAft>
            </a:pPr>
            <a:r>
              <a:rPr sz="1050" b="0" i="0">
                <a:solidFill>
                  <a:srgbClr val="3A4356"/>
                </a:solidFill>
                <a:latin typeface="Calibri"/>
              </a:rPr>
              <a:t>SQLite persistence — CAPEE's database takes over</a:t>
            </a:r>
          </a:p>
          <a:p>
            <a:pPr algn="l">
              <a:lnSpc>
                <a:spcPct val="112000"/>
              </a:lnSpc>
              <a:spcAft>
                <a:spcPts val="300"/>
              </a:spcAft>
            </a:pPr>
            <a:r>
              <a:rPr sz="1050" b="0" i="0">
                <a:solidFill>
                  <a:srgbClr val="3A4356"/>
                </a:solidFill>
                <a:latin typeface="Calibri"/>
              </a:rPr>
              <a:t>Authentication — replaced by JLR SSO / service accounts</a:t>
            </a:r>
          </a:p>
        </p:txBody>
      </p:sp>
      <p:sp>
        <p:nvSpPr>
          <p:cNvPr id="17" name="Rounded Rectangle 16"/>
          <p:cNvSpPr/>
          <p:nvPr/>
        </p:nvSpPr>
        <p:spPr>
          <a:xfrm>
            <a:off x="411480" y="4160520"/>
            <a:ext cx="11365992" cy="105156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4160520"/>
            <a:ext cx="68580" cy="105156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936" y="427939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On "we want everything including the hardcode"</a:t>
            </a:r>
          </a:p>
        </p:txBody>
      </p:sp>
      <p:sp>
        <p:nvSpPr>
          <p:cNvPr id="20" name="TextBox 19"/>
          <p:cNvSpPr txBox="1"/>
          <p:nvPr/>
        </p:nvSpPr>
        <p:spPr>
          <a:xfrm>
            <a:off x="630936" y="4562856"/>
            <a:ext cx="10954512" cy="54864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That is the right instinct and it is deliverable. The tuning constants — feature thresholds, guard bands, deposit rates, shape factors, prompt text — will be extracted into a single versioned parameter pack rather than left scattered through the source, so CAPEE consumes one reviewable artefact and JLR can see and change every value. This is a deliverable in its own right and is included in the effort figures.</a:t>
            </a:r>
          </a:p>
        </p:txBody>
      </p:sp>
      <p:sp>
        <p:nvSpPr>
          <p:cNvPr id="21" name="Rounded Rectangle 20"/>
          <p:cNvSpPr/>
          <p:nvPr/>
        </p:nvSpPr>
        <p:spPr>
          <a:xfrm>
            <a:off x="411480" y="5349240"/>
            <a:ext cx="11365992" cy="86868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5349240"/>
            <a:ext cx="68580" cy="86868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0936" y="546811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7791F"/>
                </a:solidFill>
                <a:latin typeface="Calibri"/>
              </a:rPr>
              <a:t>A caveat worth stating plainly</a:t>
            </a:r>
          </a:p>
        </p:txBody>
      </p:sp>
      <p:sp>
        <p:nvSpPr>
          <p:cNvPr id="24" name="TextBox 23"/>
          <p:cNvSpPr txBox="1"/>
          <p:nvPr/>
        </p:nvSpPr>
        <p:spPr>
          <a:xfrm>
            <a:off x="630936" y="5751576"/>
            <a:ext cx="10954512" cy="36576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Those constants are engineering estimates, not JLR plant measurements. Porting them literally gives CAPEE a working structure with representative numbers — the same position CostVision is in today. They are a starting point to be replaced with JLR data, not a body of validated fact.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 · PLAN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1 — phased delivery</a:t>
            </a:r>
          </a:p>
        </p:txBody>
      </p:sp>
      <p:sp>
        <p:nvSpPr>
          <p:cNvPr id="9" name="Rectangle 8"/>
          <p:cNvSpPr/>
          <p:nvPr/>
        </p:nvSpPr>
        <p:spPr>
          <a:xfrm>
            <a:off x="411480" y="1783080"/>
            <a:ext cx="100584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3776" y="1865376"/>
            <a:ext cx="859536" cy="219456"/>
          </a:xfrm>
          <a:prstGeom prst="rect">
            <a:avLst/>
          </a:prstGeom>
          <a:noFill/>
        </p:spPr>
        <p:txBody>
          <a:bodyPr wrap="square" anchor="t" lIns="0" rIns="0" tIns="0" bIns="0">
            <a:spAutoFit/>
          </a:bodyPr>
          <a:lstStyle/>
          <a:p>
            <a:pPr algn="l">
              <a:lnSpc>
                <a:spcPct val="100000"/>
              </a:lnSpc>
              <a:spcAft>
                <a:spcPts val="400"/>
              </a:spcAft>
            </a:pPr>
          </a:p>
        </p:txBody>
      </p:sp>
      <p:sp>
        <p:nvSpPr>
          <p:cNvPr id="11" name="Rectangle 10"/>
          <p:cNvSpPr/>
          <p:nvPr/>
        </p:nvSpPr>
        <p:spPr>
          <a:xfrm>
            <a:off x="1417320" y="1783080"/>
            <a:ext cx="210312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499616" y="1865376"/>
            <a:ext cx="195681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Phase</a:t>
            </a:r>
          </a:p>
        </p:txBody>
      </p:sp>
      <p:sp>
        <p:nvSpPr>
          <p:cNvPr id="13" name="Rectangle 12"/>
          <p:cNvSpPr/>
          <p:nvPr/>
        </p:nvSpPr>
        <p:spPr>
          <a:xfrm>
            <a:off x="3520440" y="1783080"/>
            <a:ext cx="114300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02736" y="1865376"/>
            <a:ext cx="99669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Duration</a:t>
            </a:r>
          </a:p>
        </p:txBody>
      </p:sp>
      <p:sp>
        <p:nvSpPr>
          <p:cNvPr id="15" name="Rectangle 14"/>
          <p:cNvSpPr/>
          <p:nvPr/>
        </p:nvSpPr>
        <p:spPr>
          <a:xfrm>
            <a:off x="4663440" y="1783080"/>
            <a:ext cx="711403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45736" y="1865376"/>
            <a:ext cx="696772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Content</a:t>
            </a:r>
          </a:p>
        </p:txBody>
      </p:sp>
      <p:sp>
        <p:nvSpPr>
          <p:cNvPr id="17" name="Rectangle 16"/>
          <p:cNvSpPr/>
          <p:nvPr/>
        </p:nvSpPr>
        <p:spPr>
          <a:xfrm>
            <a:off x="411480" y="2112264"/>
            <a:ext cx="1005840" cy="56692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3776" y="2176272"/>
            <a:ext cx="859536" cy="475488"/>
          </a:xfrm>
          <a:prstGeom prst="rect">
            <a:avLst/>
          </a:prstGeom>
          <a:noFill/>
        </p:spPr>
        <p:txBody>
          <a:bodyPr wrap="square" anchor="t" lIns="0" rIns="0" tIns="0" bIns="0">
            <a:spAutoFit/>
          </a:bodyPr>
          <a:lstStyle/>
          <a:p>
            <a:pPr algn="l">
              <a:lnSpc>
                <a:spcPct val="100000"/>
              </a:lnSpc>
              <a:spcAft>
                <a:spcPts val="400"/>
              </a:spcAft>
            </a:pPr>
            <a:r>
              <a:rPr sz="1000" b="1" i="0">
                <a:solidFill>
                  <a:srgbClr val="16325C"/>
                </a:solidFill>
                <a:latin typeface="Calibri"/>
              </a:rPr>
              <a:t>Phase 0</a:t>
            </a:r>
          </a:p>
        </p:txBody>
      </p:sp>
      <p:sp>
        <p:nvSpPr>
          <p:cNvPr id="19" name="Rectangle 18"/>
          <p:cNvSpPr/>
          <p:nvPr/>
        </p:nvSpPr>
        <p:spPr>
          <a:xfrm>
            <a:off x="1417320" y="2112264"/>
            <a:ext cx="2103120" cy="56692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499616" y="2176272"/>
            <a:ext cx="1956816" cy="475488"/>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Discovery</a:t>
            </a:r>
          </a:p>
        </p:txBody>
      </p:sp>
      <p:sp>
        <p:nvSpPr>
          <p:cNvPr id="21" name="Rectangle 20"/>
          <p:cNvSpPr/>
          <p:nvPr/>
        </p:nvSpPr>
        <p:spPr>
          <a:xfrm>
            <a:off x="3520440" y="2112264"/>
            <a:ext cx="1143000" cy="56692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02736" y="2176272"/>
            <a:ext cx="996696" cy="475488"/>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2 wks</a:t>
            </a:r>
          </a:p>
        </p:txBody>
      </p:sp>
      <p:sp>
        <p:nvSpPr>
          <p:cNvPr id="23" name="Rectangle 22"/>
          <p:cNvSpPr/>
          <p:nvPr/>
        </p:nvSpPr>
        <p:spPr>
          <a:xfrm>
            <a:off x="4663440" y="2112264"/>
            <a:ext cx="7114032" cy="56692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45736" y="2176272"/>
            <a:ext cx="6967728" cy="475488"/>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Confirm CAPEE stack, hosting, security posture. Choose integration pattern. Agree the cost-input contract.</a:t>
            </a:r>
          </a:p>
        </p:txBody>
      </p:sp>
      <p:sp>
        <p:nvSpPr>
          <p:cNvPr id="25" name="Rectangle 24"/>
          <p:cNvSpPr/>
          <p:nvPr/>
        </p:nvSpPr>
        <p:spPr>
          <a:xfrm>
            <a:off x="411480" y="2679192"/>
            <a:ext cx="1005840" cy="56692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3776" y="2743200"/>
            <a:ext cx="859536" cy="475488"/>
          </a:xfrm>
          <a:prstGeom prst="rect">
            <a:avLst/>
          </a:prstGeom>
          <a:noFill/>
        </p:spPr>
        <p:txBody>
          <a:bodyPr wrap="square" anchor="t" lIns="0" rIns="0" tIns="0" bIns="0">
            <a:spAutoFit/>
          </a:bodyPr>
          <a:lstStyle/>
          <a:p>
            <a:pPr algn="l">
              <a:lnSpc>
                <a:spcPct val="100000"/>
              </a:lnSpc>
              <a:spcAft>
                <a:spcPts val="400"/>
              </a:spcAft>
            </a:pPr>
            <a:r>
              <a:rPr sz="1000" b="1" i="0">
                <a:solidFill>
                  <a:srgbClr val="16325C"/>
                </a:solidFill>
                <a:latin typeface="Calibri"/>
              </a:rPr>
              <a:t>Phase 1</a:t>
            </a:r>
          </a:p>
        </p:txBody>
      </p:sp>
      <p:sp>
        <p:nvSpPr>
          <p:cNvPr id="27" name="Rectangle 26"/>
          <p:cNvSpPr/>
          <p:nvPr/>
        </p:nvSpPr>
        <p:spPr>
          <a:xfrm>
            <a:off x="1417320" y="2679192"/>
            <a:ext cx="2103120" cy="56692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499616" y="2743200"/>
            <a:ext cx="1956816" cy="475488"/>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Extraction service</a:t>
            </a:r>
          </a:p>
        </p:txBody>
      </p:sp>
      <p:sp>
        <p:nvSpPr>
          <p:cNvPr id="29" name="Rectangle 28"/>
          <p:cNvSpPr/>
          <p:nvPr/>
        </p:nvSpPr>
        <p:spPr>
          <a:xfrm>
            <a:off x="3520440" y="2679192"/>
            <a:ext cx="1143000" cy="56692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02736" y="2743200"/>
            <a:ext cx="996696" cy="475488"/>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4 wks</a:t>
            </a:r>
          </a:p>
        </p:txBody>
      </p:sp>
      <p:sp>
        <p:nvSpPr>
          <p:cNvPr id="31" name="Rectangle 30"/>
          <p:cNvSpPr/>
          <p:nvPr/>
        </p:nvSpPr>
        <p:spPr>
          <a:xfrm>
            <a:off x="4663440" y="2679192"/>
            <a:ext cx="7114032" cy="56692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745736" y="2743200"/>
            <a:ext cx="6967728" cy="475488"/>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Containerise the OCCT kernel. Stand it up inside JLR. Prove measurement on 20 JLR parts against drawings.</a:t>
            </a:r>
          </a:p>
        </p:txBody>
      </p:sp>
      <p:sp>
        <p:nvSpPr>
          <p:cNvPr id="33" name="Rectangle 32"/>
          <p:cNvSpPr/>
          <p:nvPr/>
        </p:nvSpPr>
        <p:spPr>
          <a:xfrm>
            <a:off x="411480" y="3246120"/>
            <a:ext cx="1005840" cy="56692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93776" y="3310128"/>
            <a:ext cx="859536" cy="475488"/>
          </a:xfrm>
          <a:prstGeom prst="rect">
            <a:avLst/>
          </a:prstGeom>
          <a:noFill/>
        </p:spPr>
        <p:txBody>
          <a:bodyPr wrap="square" anchor="t" lIns="0" rIns="0" tIns="0" bIns="0">
            <a:spAutoFit/>
          </a:bodyPr>
          <a:lstStyle/>
          <a:p>
            <a:pPr algn="l">
              <a:lnSpc>
                <a:spcPct val="100000"/>
              </a:lnSpc>
              <a:spcAft>
                <a:spcPts val="400"/>
              </a:spcAft>
            </a:pPr>
            <a:r>
              <a:rPr sz="1000" b="1" i="0">
                <a:solidFill>
                  <a:srgbClr val="16325C"/>
                </a:solidFill>
                <a:latin typeface="Calibri"/>
              </a:rPr>
              <a:t>Phase 2</a:t>
            </a:r>
          </a:p>
        </p:txBody>
      </p:sp>
      <p:sp>
        <p:nvSpPr>
          <p:cNvPr id="35" name="Rectangle 34"/>
          <p:cNvSpPr/>
          <p:nvPr/>
        </p:nvSpPr>
        <p:spPr>
          <a:xfrm>
            <a:off x="1417320" y="3246120"/>
            <a:ext cx="2103120" cy="56692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499616" y="3310128"/>
            <a:ext cx="1956816" cy="475488"/>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Parameter pack</a:t>
            </a:r>
          </a:p>
        </p:txBody>
      </p:sp>
      <p:sp>
        <p:nvSpPr>
          <p:cNvPr id="37" name="Rectangle 36"/>
          <p:cNvSpPr/>
          <p:nvPr/>
        </p:nvSpPr>
        <p:spPr>
          <a:xfrm>
            <a:off x="3520440" y="3246120"/>
            <a:ext cx="1143000" cy="56692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602736" y="3310128"/>
            <a:ext cx="996696" cy="475488"/>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2 wks</a:t>
            </a:r>
          </a:p>
        </p:txBody>
      </p:sp>
      <p:sp>
        <p:nvSpPr>
          <p:cNvPr id="39" name="Rectangle 38"/>
          <p:cNvSpPr/>
          <p:nvPr/>
        </p:nvSpPr>
        <p:spPr>
          <a:xfrm>
            <a:off x="4663440" y="3246120"/>
            <a:ext cx="7114032" cy="56692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745736" y="3310128"/>
            <a:ext cx="6967728" cy="475488"/>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Extract every tuning constant into one versioned, reviewable artefact. JLR review and sign-off.</a:t>
            </a:r>
          </a:p>
        </p:txBody>
      </p:sp>
      <p:sp>
        <p:nvSpPr>
          <p:cNvPr id="41" name="Rectangle 40"/>
          <p:cNvSpPr/>
          <p:nvPr/>
        </p:nvSpPr>
        <p:spPr>
          <a:xfrm>
            <a:off x="411480" y="3813048"/>
            <a:ext cx="1005840" cy="56692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93776" y="3877056"/>
            <a:ext cx="859536" cy="475488"/>
          </a:xfrm>
          <a:prstGeom prst="rect">
            <a:avLst/>
          </a:prstGeom>
          <a:noFill/>
        </p:spPr>
        <p:txBody>
          <a:bodyPr wrap="square" anchor="t" lIns="0" rIns="0" tIns="0" bIns="0">
            <a:spAutoFit/>
          </a:bodyPr>
          <a:lstStyle/>
          <a:p>
            <a:pPr algn="l">
              <a:lnSpc>
                <a:spcPct val="100000"/>
              </a:lnSpc>
              <a:spcAft>
                <a:spcPts val="400"/>
              </a:spcAft>
            </a:pPr>
            <a:r>
              <a:rPr sz="1000" b="1" i="0">
                <a:solidFill>
                  <a:srgbClr val="16325C"/>
                </a:solidFill>
                <a:latin typeface="Calibri"/>
              </a:rPr>
              <a:t>Phase 3</a:t>
            </a:r>
          </a:p>
        </p:txBody>
      </p:sp>
      <p:sp>
        <p:nvSpPr>
          <p:cNvPr id="43" name="Rectangle 42"/>
          <p:cNvSpPr/>
          <p:nvPr/>
        </p:nvSpPr>
        <p:spPr>
          <a:xfrm>
            <a:off x="1417320" y="3813048"/>
            <a:ext cx="2103120" cy="56692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499616" y="3877056"/>
            <a:ext cx="1956816" cy="475488"/>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Guards + decision gate</a:t>
            </a:r>
          </a:p>
        </p:txBody>
      </p:sp>
      <p:sp>
        <p:nvSpPr>
          <p:cNvPr id="45" name="Rectangle 44"/>
          <p:cNvSpPr/>
          <p:nvPr/>
        </p:nvSpPr>
        <p:spPr>
          <a:xfrm>
            <a:off x="3520440" y="3813048"/>
            <a:ext cx="1143000" cy="56692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602736" y="3877056"/>
            <a:ext cx="996696" cy="475488"/>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3 wks</a:t>
            </a:r>
          </a:p>
        </p:txBody>
      </p:sp>
      <p:sp>
        <p:nvSpPr>
          <p:cNvPr id="47" name="Rectangle 46"/>
          <p:cNvSpPr/>
          <p:nvPr/>
        </p:nvSpPr>
        <p:spPr>
          <a:xfrm>
            <a:off x="4663440" y="3813048"/>
            <a:ext cx="7114032" cy="56692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745736" y="3877056"/>
            <a:ext cx="6967728" cy="475488"/>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Port the guard layer and confirm-before-costing gate. This is not optional — see slide 5.</a:t>
            </a:r>
          </a:p>
        </p:txBody>
      </p:sp>
      <p:sp>
        <p:nvSpPr>
          <p:cNvPr id="49" name="Rectangle 48"/>
          <p:cNvSpPr/>
          <p:nvPr/>
        </p:nvSpPr>
        <p:spPr>
          <a:xfrm>
            <a:off x="411480" y="4379976"/>
            <a:ext cx="1005840" cy="56692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93776" y="4443984"/>
            <a:ext cx="859536" cy="475488"/>
          </a:xfrm>
          <a:prstGeom prst="rect">
            <a:avLst/>
          </a:prstGeom>
          <a:noFill/>
        </p:spPr>
        <p:txBody>
          <a:bodyPr wrap="square" anchor="t" lIns="0" rIns="0" tIns="0" bIns="0">
            <a:spAutoFit/>
          </a:bodyPr>
          <a:lstStyle/>
          <a:p>
            <a:pPr algn="l">
              <a:lnSpc>
                <a:spcPct val="100000"/>
              </a:lnSpc>
              <a:spcAft>
                <a:spcPts val="400"/>
              </a:spcAft>
            </a:pPr>
            <a:r>
              <a:rPr sz="1000" b="1" i="0">
                <a:solidFill>
                  <a:srgbClr val="16325C"/>
                </a:solidFill>
                <a:latin typeface="Calibri"/>
              </a:rPr>
              <a:t>Phase 4</a:t>
            </a:r>
          </a:p>
        </p:txBody>
      </p:sp>
      <p:sp>
        <p:nvSpPr>
          <p:cNvPr id="51" name="Rectangle 50"/>
          <p:cNvSpPr/>
          <p:nvPr/>
        </p:nvSpPr>
        <p:spPr>
          <a:xfrm>
            <a:off x="1417320" y="4379976"/>
            <a:ext cx="2103120" cy="56692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499616" y="4443984"/>
            <a:ext cx="1956816" cy="475488"/>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CAPEE integration</a:t>
            </a:r>
          </a:p>
        </p:txBody>
      </p:sp>
      <p:sp>
        <p:nvSpPr>
          <p:cNvPr id="53" name="Rectangle 52"/>
          <p:cNvSpPr/>
          <p:nvPr/>
        </p:nvSpPr>
        <p:spPr>
          <a:xfrm>
            <a:off x="3520440" y="4379976"/>
            <a:ext cx="1143000" cy="56692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602736" y="4443984"/>
            <a:ext cx="996696" cy="475488"/>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3–5 wks</a:t>
            </a:r>
          </a:p>
        </p:txBody>
      </p:sp>
      <p:sp>
        <p:nvSpPr>
          <p:cNvPr id="55" name="Rectangle 54"/>
          <p:cNvSpPr/>
          <p:nvPr/>
        </p:nvSpPr>
        <p:spPr>
          <a:xfrm>
            <a:off x="4663440" y="4379976"/>
            <a:ext cx="7114032" cy="56692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745736" y="4443984"/>
            <a:ext cx="6967728" cy="475488"/>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Wire the contract into CAPEE. Drawing read via JLR LLM gateway. Round-trip a real part.</a:t>
            </a:r>
          </a:p>
        </p:txBody>
      </p:sp>
      <p:sp>
        <p:nvSpPr>
          <p:cNvPr id="57" name="Rectangle 56"/>
          <p:cNvSpPr/>
          <p:nvPr/>
        </p:nvSpPr>
        <p:spPr>
          <a:xfrm>
            <a:off x="411480" y="4946904"/>
            <a:ext cx="1005840" cy="56692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93776" y="5010912"/>
            <a:ext cx="859536" cy="475488"/>
          </a:xfrm>
          <a:prstGeom prst="rect">
            <a:avLst/>
          </a:prstGeom>
          <a:noFill/>
        </p:spPr>
        <p:txBody>
          <a:bodyPr wrap="square" anchor="t" lIns="0" rIns="0" tIns="0" bIns="0">
            <a:spAutoFit/>
          </a:bodyPr>
          <a:lstStyle/>
          <a:p>
            <a:pPr algn="l">
              <a:lnSpc>
                <a:spcPct val="100000"/>
              </a:lnSpc>
              <a:spcAft>
                <a:spcPts val="400"/>
              </a:spcAft>
            </a:pPr>
            <a:r>
              <a:rPr sz="1000" b="1" i="0">
                <a:solidFill>
                  <a:srgbClr val="16325C"/>
                </a:solidFill>
                <a:latin typeface="Calibri"/>
              </a:rPr>
              <a:t>Phase 5</a:t>
            </a:r>
          </a:p>
        </p:txBody>
      </p:sp>
      <p:sp>
        <p:nvSpPr>
          <p:cNvPr id="59" name="Rectangle 58"/>
          <p:cNvSpPr/>
          <p:nvPr/>
        </p:nvSpPr>
        <p:spPr>
          <a:xfrm>
            <a:off x="1417320" y="4946904"/>
            <a:ext cx="2103120" cy="56692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1499616" y="5010912"/>
            <a:ext cx="1956816" cy="475488"/>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Pilot + tune</a:t>
            </a:r>
          </a:p>
        </p:txBody>
      </p:sp>
      <p:sp>
        <p:nvSpPr>
          <p:cNvPr id="61" name="Rectangle 60"/>
          <p:cNvSpPr/>
          <p:nvPr/>
        </p:nvSpPr>
        <p:spPr>
          <a:xfrm>
            <a:off x="3520440" y="4946904"/>
            <a:ext cx="1143000" cy="56692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3602736" y="5010912"/>
            <a:ext cx="996696" cy="475488"/>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3 wks</a:t>
            </a:r>
          </a:p>
        </p:txBody>
      </p:sp>
      <p:sp>
        <p:nvSpPr>
          <p:cNvPr id="63" name="Rectangle 62"/>
          <p:cNvSpPr/>
          <p:nvPr/>
        </p:nvSpPr>
        <p:spPr>
          <a:xfrm>
            <a:off x="4663440" y="4946904"/>
            <a:ext cx="7114032" cy="56692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745736" y="5010912"/>
            <a:ext cx="6967728" cy="475488"/>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One commodity, one engineering team, 30+ parts. Measure extraction accuracy against known parts.</a:t>
            </a:r>
          </a:p>
        </p:txBody>
      </p:sp>
      <p:sp>
        <p:nvSpPr>
          <p:cNvPr id="65" name="Rounded Rectangle 64"/>
          <p:cNvSpPr/>
          <p:nvPr/>
        </p:nvSpPr>
        <p:spPr>
          <a:xfrm>
            <a:off x="411480" y="5394960"/>
            <a:ext cx="5577840" cy="86868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411480" y="5394960"/>
            <a:ext cx="68580" cy="8686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30936" y="5513832"/>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Total: 17–21 weeks</a:t>
            </a:r>
          </a:p>
        </p:txBody>
      </p:sp>
      <p:sp>
        <p:nvSpPr>
          <p:cNvPr id="68" name="TextBox 67"/>
          <p:cNvSpPr txBox="1"/>
          <p:nvPr/>
        </p:nvSpPr>
        <p:spPr>
          <a:xfrm>
            <a:off x="630936" y="5797296"/>
            <a:ext cx="5166360" cy="36576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Assumes one integration engineer plus part-time CostVision support, and that JLR discovery in Phase 0 completes on time.</a:t>
            </a:r>
          </a:p>
        </p:txBody>
      </p:sp>
      <p:sp>
        <p:nvSpPr>
          <p:cNvPr id="69" name="Rounded Rectangle 68"/>
          <p:cNvSpPr/>
          <p:nvPr/>
        </p:nvSpPr>
        <p:spPr>
          <a:xfrm>
            <a:off x="6199632" y="5394960"/>
            <a:ext cx="5577840" cy="86868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199632" y="5394960"/>
            <a:ext cx="68580" cy="86868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419088" y="5513832"/>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7791F"/>
                </a:solidFill>
                <a:latin typeface="Calibri"/>
              </a:rPr>
              <a:t>Start with one commodity, not eighteen</a:t>
            </a:r>
          </a:p>
        </p:txBody>
      </p:sp>
      <p:sp>
        <p:nvSpPr>
          <p:cNvPr id="72" name="TextBox 71"/>
          <p:cNvSpPr txBox="1"/>
          <p:nvPr/>
        </p:nvSpPr>
        <p:spPr>
          <a:xfrm>
            <a:off x="6419088" y="5797296"/>
            <a:ext cx="5166360" cy="36576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Machining or sheet metal first — highest part count, best-understood geometry. Prove the contract before widening.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2</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2 — CostVision as-is on JLR data</a:t>
            </a:r>
          </a:p>
        </p:txBody>
      </p:sp>
      <p:sp>
        <p:nvSpPr>
          <p:cNvPr id="9" name="TextBox 8"/>
          <p:cNvSpPr txBox="1"/>
          <p:nvPr/>
        </p:nvSpPr>
        <p:spPr>
          <a:xfrm>
            <a:off x="411480" y="1572768"/>
            <a:ext cx="11338560" cy="32004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No engine change. No code change. The rate library is replaced with JLR's own figures and the platform is deployed inside the JLR network.</a:t>
            </a:r>
          </a:p>
        </p:txBody>
      </p:sp>
      <p:sp>
        <p:nvSpPr>
          <p:cNvPr id="10" name="Rounded Rectangle 9"/>
          <p:cNvSpPr/>
          <p:nvPr/>
        </p:nvSpPr>
        <p:spPr>
          <a:xfrm>
            <a:off x="411480" y="2057400"/>
            <a:ext cx="3657600" cy="2331720"/>
          </a:xfrm>
          <a:prstGeom prst="roundRect">
            <a:avLst>
              <a:gd name="adj" fmla="val 12000"/>
            </a:avLst>
          </a:prstGeom>
          <a:solidFill>
            <a:srgbClr val="EAF6E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057400"/>
            <a:ext cx="68580" cy="233172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 y="2185416"/>
            <a:ext cx="329184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UNCHANGED</a:t>
            </a:r>
          </a:p>
        </p:txBody>
      </p:sp>
      <p:sp>
        <p:nvSpPr>
          <p:cNvPr id="13" name="TextBox 12"/>
          <p:cNvSpPr txBox="1"/>
          <p:nvPr/>
        </p:nvSpPr>
        <p:spPr>
          <a:xfrm>
            <a:off x="612648" y="2496312"/>
            <a:ext cx="3291840" cy="178308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All 18 commodity cost models</a:t>
            </a:r>
          </a:p>
          <a:p>
            <a:pPr algn="l">
              <a:lnSpc>
                <a:spcPct val="112000"/>
              </a:lnSpc>
              <a:spcAft>
                <a:spcPts val="300"/>
              </a:spcAft>
            </a:pPr>
            <a:r>
              <a:rPr sz="1050" b="0" i="0">
                <a:solidFill>
                  <a:srgbClr val="3A4356"/>
                </a:solidFill>
                <a:latin typeface="Calibri"/>
              </a:rPr>
              <a:t>The 8-bucket deterministic engine</a:t>
            </a:r>
          </a:p>
          <a:p>
            <a:pPr algn="l">
              <a:lnSpc>
                <a:spcPct val="112000"/>
              </a:lnSpc>
              <a:spcAft>
                <a:spcPts val="300"/>
              </a:spcAft>
            </a:pPr>
            <a:r>
              <a:rPr sz="1050" b="0" i="0">
                <a:solidFill>
                  <a:srgbClr val="3A4356"/>
                </a:solidFill>
                <a:latin typeface="Calibri"/>
              </a:rPr>
              <a:t>CAD and drawing extraction</a:t>
            </a:r>
          </a:p>
          <a:p>
            <a:pPr algn="l">
              <a:lnSpc>
                <a:spcPct val="112000"/>
              </a:lnSpc>
              <a:spcAft>
                <a:spcPts val="300"/>
              </a:spcAft>
            </a:pPr>
            <a:r>
              <a:rPr sz="1050" b="0" i="0">
                <a:solidFill>
                  <a:srgbClr val="3A4356"/>
                </a:solidFill>
                <a:latin typeface="Calibri"/>
              </a:rPr>
              <a:t>Guards and decision gate</a:t>
            </a:r>
          </a:p>
          <a:p>
            <a:pPr algn="l">
              <a:lnSpc>
                <a:spcPct val="112000"/>
              </a:lnSpc>
              <a:spcAft>
                <a:spcPts val="300"/>
              </a:spcAft>
            </a:pPr>
            <a:r>
              <a:rPr sz="1050" b="0" i="0">
                <a:solidFill>
                  <a:srgbClr val="3A4356"/>
                </a:solidFill>
                <a:latin typeface="Calibri"/>
              </a:rPr>
              <a:t>Reports — PDF, Excel, PPTX</a:t>
            </a:r>
          </a:p>
          <a:p>
            <a:pPr algn="l">
              <a:lnSpc>
                <a:spcPct val="112000"/>
              </a:lnSpc>
              <a:spcAft>
                <a:spcPts val="300"/>
              </a:spcAft>
            </a:pPr>
            <a:r>
              <a:rPr sz="1050" b="0" i="0">
                <a:solidFill>
                  <a:srgbClr val="3A4356"/>
                </a:solidFill>
                <a:latin typeface="Calibri"/>
              </a:rPr>
              <a:t>DFM, sensitivity, negotiation</a:t>
            </a:r>
          </a:p>
        </p:txBody>
      </p:sp>
      <p:sp>
        <p:nvSpPr>
          <p:cNvPr id="14" name="Rounded Rectangle 13"/>
          <p:cNvSpPr/>
          <p:nvPr/>
        </p:nvSpPr>
        <p:spPr>
          <a:xfrm>
            <a:off x="4233672" y="2057400"/>
            <a:ext cx="3657600" cy="233172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33672" y="2057400"/>
            <a:ext cx="68580" cy="233172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34840" y="2185416"/>
            <a:ext cx="329184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REPLACED WITH JLR DATA</a:t>
            </a:r>
          </a:p>
        </p:txBody>
      </p:sp>
      <p:sp>
        <p:nvSpPr>
          <p:cNvPr id="17" name="TextBox 16"/>
          <p:cNvSpPr txBox="1"/>
          <p:nvPr/>
        </p:nvSpPr>
        <p:spPr>
          <a:xfrm>
            <a:off x="4434840" y="2496312"/>
            <a:ext cx="3291840" cy="178308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Material prices and scrap recovery</a:t>
            </a:r>
          </a:p>
          <a:p>
            <a:pPr algn="l">
              <a:lnSpc>
                <a:spcPct val="112000"/>
              </a:lnSpc>
              <a:spcAft>
                <a:spcPts val="300"/>
              </a:spcAft>
            </a:pPr>
            <a:r>
              <a:rPr sz="1050" b="0" i="0">
                <a:solidFill>
                  <a:srgbClr val="3A4356"/>
                </a:solidFill>
                <a:latin typeface="Calibri"/>
              </a:rPr>
              <a:t>Machine rates — or their build-ups</a:t>
            </a:r>
          </a:p>
          <a:p>
            <a:pPr algn="l">
              <a:lnSpc>
                <a:spcPct val="112000"/>
              </a:lnSpc>
              <a:spcAft>
                <a:spcPts val="300"/>
              </a:spcAft>
            </a:pPr>
            <a:r>
              <a:rPr sz="1050" b="0" i="0">
                <a:solidFill>
                  <a:srgbClr val="3A4356"/>
                </a:solidFill>
                <a:latin typeface="Calibri"/>
              </a:rPr>
              <a:t>Labour rates by grade and region</a:t>
            </a:r>
          </a:p>
          <a:p>
            <a:pPr algn="l">
              <a:lnSpc>
                <a:spcPct val="112000"/>
              </a:lnSpc>
              <a:spcAft>
                <a:spcPts val="300"/>
              </a:spcAft>
            </a:pPr>
            <a:r>
              <a:rPr sz="1050" b="0" i="0">
                <a:solidFill>
                  <a:srgbClr val="3A4356"/>
                </a:solidFill>
                <a:latin typeface="Calibri"/>
              </a:rPr>
              <a:t>Energy tariffs, gas and electricity</a:t>
            </a:r>
          </a:p>
          <a:p>
            <a:pPr algn="l">
              <a:lnSpc>
                <a:spcPct val="112000"/>
              </a:lnSpc>
              <a:spcAft>
                <a:spcPts val="300"/>
              </a:spcAft>
            </a:pPr>
            <a:r>
              <a:rPr sz="1050" b="0" i="0">
                <a:solidFill>
                  <a:srgbClr val="3A4356"/>
                </a:solidFill>
                <a:latin typeface="Calibri"/>
              </a:rPr>
              <a:t>Overhead, SG&amp;A and margin policy</a:t>
            </a:r>
          </a:p>
          <a:p>
            <a:pPr algn="l">
              <a:lnSpc>
                <a:spcPct val="112000"/>
              </a:lnSpc>
              <a:spcAft>
                <a:spcPts val="300"/>
              </a:spcAft>
            </a:pPr>
            <a:r>
              <a:rPr sz="1050" b="0" i="0">
                <a:solidFill>
                  <a:srgbClr val="3A4356"/>
                </a:solidFill>
                <a:latin typeface="Calibri"/>
              </a:rPr>
              <a:t>Regional factors for JLR's footprint</a:t>
            </a:r>
          </a:p>
        </p:txBody>
      </p:sp>
      <p:sp>
        <p:nvSpPr>
          <p:cNvPr id="18" name="Rounded Rectangle 17"/>
          <p:cNvSpPr/>
          <p:nvPr/>
        </p:nvSpPr>
        <p:spPr>
          <a:xfrm>
            <a:off x="8055864" y="2057400"/>
            <a:ext cx="3721608" cy="233172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55864" y="2057400"/>
            <a:ext cx="68580" cy="233172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57032" y="2185416"/>
            <a:ext cx="3355848"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ADDED FOR ENTERPRISE USE</a:t>
            </a:r>
          </a:p>
        </p:txBody>
      </p:sp>
      <p:sp>
        <p:nvSpPr>
          <p:cNvPr id="21" name="TextBox 20"/>
          <p:cNvSpPr txBox="1"/>
          <p:nvPr/>
        </p:nvSpPr>
        <p:spPr>
          <a:xfrm>
            <a:off x="8257032" y="2496312"/>
            <a:ext cx="3355848" cy="178308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JLR SSO in place of local auth</a:t>
            </a:r>
          </a:p>
          <a:p>
            <a:pPr algn="l">
              <a:lnSpc>
                <a:spcPct val="112000"/>
              </a:lnSpc>
              <a:spcAft>
                <a:spcPts val="300"/>
              </a:spcAft>
            </a:pPr>
            <a:r>
              <a:rPr sz="1050" b="0" i="0">
                <a:solidFill>
                  <a:srgbClr val="3A4356"/>
                </a:solidFill>
                <a:latin typeface="Calibri"/>
              </a:rPr>
              <a:t>PostgreSQL in place of SQLite</a:t>
            </a:r>
          </a:p>
          <a:p>
            <a:pPr algn="l">
              <a:lnSpc>
                <a:spcPct val="112000"/>
              </a:lnSpc>
              <a:spcAft>
                <a:spcPts val="300"/>
              </a:spcAft>
            </a:pPr>
            <a:r>
              <a:rPr sz="1050" b="0" i="0">
                <a:solidFill>
                  <a:srgbClr val="3A4356"/>
                </a:solidFill>
                <a:latin typeface="Calibri"/>
              </a:rPr>
              <a:t>LLM egress via JLR gateway</a:t>
            </a:r>
          </a:p>
          <a:p>
            <a:pPr algn="l">
              <a:lnSpc>
                <a:spcPct val="112000"/>
              </a:lnSpc>
              <a:spcAft>
                <a:spcPts val="300"/>
              </a:spcAft>
            </a:pPr>
            <a:r>
              <a:rPr sz="1050" b="0" i="0">
                <a:solidFill>
                  <a:srgbClr val="3A4356"/>
                </a:solidFill>
                <a:latin typeface="Calibri"/>
              </a:rPr>
              <a:t>Rate versioning — see slide 14</a:t>
            </a:r>
          </a:p>
          <a:p>
            <a:pPr algn="l">
              <a:lnSpc>
                <a:spcPct val="112000"/>
              </a:lnSpc>
              <a:spcAft>
                <a:spcPts val="300"/>
              </a:spcAft>
            </a:pPr>
            <a:r>
              <a:rPr sz="1050" b="0" i="0">
                <a:solidFill>
                  <a:srgbClr val="3A4356"/>
                </a:solidFill>
                <a:latin typeface="Calibri"/>
              </a:rPr>
              <a:t>Persisted costings for audit</a:t>
            </a:r>
          </a:p>
          <a:p>
            <a:pPr algn="l">
              <a:lnSpc>
                <a:spcPct val="112000"/>
              </a:lnSpc>
              <a:spcAft>
                <a:spcPts val="300"/>
              </a:spcAft>
            </a:pPr>
            <a:r>
              <a:rPr sz="1050" b="0" i="0">
                <a:solidFill>
                  <a:srgbClr val="3A4356"/>
                </a:solidFill>
                <a:latin typeface="Calibri"/>
              </a:rPr>
              <a:t>Backup and DR to JLR standard</a:t>
            </a:r>
          </a:p>
        </p:txBody>
      </p:sp>
      <p:sp>
        <p:nvSpPr>
          <p:cNvPr id="22" name="Rounded Rectangle 21"/>
          <p:cNvSpPr/>
          <p:nvPr/>
        </p:nvSpPr>
        <p:spPr>
          <a:xfrm>
            <a:off x="411480" y="4572000"/>
            <a:ext cx="11365992" cy="86868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11480" y="4572000"/>
            <a:ext cx="68580" cy="8686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0936" y="469087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The rate library is already designed to be replaced</a:t>
            </a:r>
          </a:p>
        </p:txBody>
      </p:sp>
      <p:sp>
        <p:nvSpPr>
          <p:cNvPr id="25" name="TextBox 24"/>
          <p:cNvSpPr txBox="1"/>
          <p:nvPr/>
        </p:nvSpPr>
        <p:spPr>
          <a:xfrm>
            <a:off x="630936" y="4974336"/>
            <a:ext cx="10954512" cy="36576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Rates are an injected argument, never imported inside the engine — the cost function takes the library as a parameter. An admin-gated company-library upload already exists. Swapping JLR data in is configuration, not development.</a:t>
            </a:r>
          </a:p>
        </p:txBody>
      </p:sp>
      <p:sp>
        <p:nvSpPr>
          <p:cNvPr id="26" name="Rounded Rectangle 25"/>
          <p:cNvSpPr/>
          <p:nvPr/>
        </p:nvSpPr>
        <p:spPr>
          <a:xfrm>
            <a:off x="411480" y="5577840"/>
            <a:ext cx="11365992" cy="77724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5577840"/>
            <a:ext cx="68580" cy="77724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0936" y="569671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7791F"/>
                </a:solidFill>
                <a:latin typeface="Calibri"/>
              </a:rPr>
              <a:t>Where the real work is</a:t>
            </a:r>
          </a:p>
        </p:txBody>
      </p:sp>
      <p:sp>
        <p:nvSpPr>
          <p:cNvPr id="29" name="TextBox 28"/>
          <p:cNvSpPr txBox="1"/>
          <p:nvPr/>
        </p:nvSpPr>
        <p:spPr>
          <a:xfrm>
            <a:off x="630936" y="5980176"/>
            <a:ext cx="10954512" cy="27432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Not the software. Collecting, validating and structuring JLR's rate data across materials, machines, labour and energy is the critical path, and it is JLR-side effort.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2 · PLAN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2 — phased delivery</a:t>
            </a:r>
          </a:p>
        </p:txBody>
      </p:sp>
      <p:sp>
        <p:nvSpPr>
          <p:cNvPr id="9" name="Rectangle 8"/>
          <p:cNvSpPr/>
          <p:nvPr/>
        </p:nvSpPr>
        <p:spPr>
          <a:xfrm>
            <a:off x="411480" y="1783080"/>
            <a:ext cx="100584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3776" y="1865376"/>
            <a:ext cx="859536" cy="219456"/>
          </a:xfrm>
          <a:prstGeom prst="rect">
            <a:avLst/>
          </a:prstGeom>
          <a:noFill/>
        </p:spPr>
        <p:txBody>
          <a:bodyPr wrap="square" anchor="t" lIns="0" rIns="0" tIns="0" bIns="0">
            <a:spAutoFit/>
          </a:bodyPr>
          <a:lstStyle/>
          <a:p>
            <a:pPr algn="l">
              <a:lnSpc>
                <a:spcPct val="100000"/>
              </a:lnSpc>
              <a:spcAft>
                <a:spcPts val="400"/>
              </a:spcAft>
            </a:pPr>
          </a:p>
        </p:txBody>
      </p:sp>
      <p:sp>
        <p:nvSpPr>
          <p:cNvPr id="11" name="Rectangle 10"/>
          <p:cNvSpPr/>
          <p:nvPr/>
        </p:nvSpPr>
        <p:spPr>
          <a:xfrm>
            <a:off x="1417320" y="1783080"/>
            <a:ext cx="228600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499616" y="1865376"/>
            <a:ext cx="213969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Phase</a:t>
            </a:r>
          </a:p>
        </p:txBody>
      </p:sp>
      <p:sp>
        <p:nvSpPr>
          <p:cNvPr id="13" name="Rectangle 12"/>
          <p:cNvSpPr/>
          <p:nvPr/>
        </p:nvSpPr>
        <p:spPr>
          <a:xfrm>
            <a:off x="3703320" y="1783080"/>
            <a:ext cx="114300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85616" y="1865376"/>
            <a:ext cx="99669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Duration</a:t>
            </a:r>
          </a:p>
        </p:txBody>
      </p:sp>
      <p:sp>
        <p:nvSpPr>
          <p:cNvPr id="15" name="Rectangle 14"/>
          <p:cNvSpPr/>
          <p:nvPr/>
        </p:nvSpPr>
        <p:spPr>
          <a:xfrm>
            <a:off x="4846320" y="1783080"/>
            <a:ext cx="693115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928616" y="1865376"/>
            <a:ext cx="678484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Content</a:t>
            </a:r>
          </a:p>
        </p:txBody>
      </p:sp>
      <p:sp>
        <p:nvSpPr>
          <p:cNvPr id="17" name="Rectangle 16"/>
          <p:cNvSpPr/>
          <p:nvPr/>
        </p:nvSpPr>
        <p:spPr>
          <a:xfrm>
            <a:off x="411480" y="2112264"/>
            <a:ext cx="1005840" cy="6035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3776" y="2176272"/>
            <a:ext cx="859536" cy="512064"/>
          </a:xfrm>
          <a:prstGeom prst="rect">
            <a:avLst/>
          </a:prstGeom>
          <a:noFill/>
        </p:spPr>
        <p:txBody>
          <a:bodyPr wrap="square" anchor="t" lIns="0" rIns="0" tIns="0" bIns="0">
            <a:spAutoFit/>
          </a:bodyPr>
          <a:lstStyle/>
          <a:p>
            <a:pPr algn="l">
              <a:lnSpc>
                <a:spcPct val="100000"/>
              </a:lnSpc>
              <a:spcAft>
                <a:spcPts val="400"/>
              </a:spcAft>
            </a:pPr>
            <a:r>
              <a:rPr sz="1000" b="1" i="0">
                <a:solidFill>
                  <a:srgbClr val="16325C"/>
                </a:solidFill>
                <a:latin typeface="Calibri"/>
              </a:rPr>
              <a:t>Phase 0</a:t>
            </a:r>
          </a:p>
        </p:txBody>
      </p:sp>
      <p:sp>
        <p:nvSpPr>
          <p:cNvPr id="19" name="Rectangle 18"/>
          <p:cNvSpPr/>
          <p:nvPr/>
        </p:nvSpPr>
        <p:spPr>
          <a:xfrm>
            <a:off x="1417320" y="2112264"/>
            <a:ext cx="2286000" cy="6035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499616" y="2176272"/>
            <a:ext cx="2139696" cy="512064"/>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Security review</a:t>
            </a:r>
          </a:p>
        </p:txBody>
      </p:sp>
      <p:sp>
        <p:nvSpPr>
          <p:cNvPr id="21" name="Rectangle 20"/>
          <p:cNvSpPr/>
          <p:nvPr/>
        </p:nvSpPr>
        <p:spPr>
          <a:xfrm>
            <a:off x="3703320" y="2112264"/>
            <a:ext cx="1143000" cy="6035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85616" y="2176272"/>
            <a:ext cx="996696" cy="512064"/>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2 wks</a:t>
            </a:r>
          </a:p>
        </p:txBody>
      </p:sp>
      <p:sp>
        <p:nvSpPr>
          <p:cNvPr id="23" name="Rectangle 22"/>
          <p:cNvSpPr/>
          <p:nvPr/>
        </p:nvSpPr>
        <p:spPr>
          <a:xfrm>
            <a:off x="4846320" y="2112264"/>
            <a:ext cx="6931152" cy="6035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28616" y="2176272"/>
            <a:ext cx="6784848" cy="512064"/>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IT-security sign-off using the existing verified data-flow inventory. Choose deployment option A or B.</a:t>
            </a:r>
          </a:p>
        </p:txBody>
      </p:sp>
      <p:sp>
        <p:nvSpPr>
          <p:cNvPr id="25" name="Rectangle 24"/>
          <p:cNvSpPr/>
          <p:nvPr/>
        </p:nvSpPr>
        <p:spPr>
          <a:xfrm>
            <a:off x="411480" y="2715768"/>
            <a:ext cx="1005840" cy="6035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3776" y="2779776"/>
            <a:ext cx="859536" cy="512064"/>
          </a:xfrm>
          <a:prstGeom prst="rect">
            <a:avLst/>
          </a:prstGeom>
          <a:noFill/>
        </p:spPr>
        <p:txBody>
          <a:bodyPr wrap="square" anchor="t" lIns="0" rIns="0" tIns="0" bIns="0">
            <a:spAutoFit/>
          </a:bodyPr>
          <a:lstStyle/>
          <a:p>
            <a:pPr algn="l">
              <a:lnSpc>
                <a:spcPct val="100000"/>
              </a:lnSpc>
              <a:spcAft>
                <a:spcPts val="400"/>
              </a:spcAft>
            </a:pPr>
            <a:r>
              <a:rPr sz="1000" b="1" i="0">
                <a:solidFill>
                  <a:srgbClr val="16325C"/>
                </a:solidFill>
                <a:latin typeface="Calibri"/>
              </a:rPr>
              <a:t>Phase 1</a:t>
            </a:r>
          </a:p>
        </p:txBody>
      </p:sp>
      <p:sp>
        <p:nvSpPr>
          <p:cNvPr id="27" name="Rectangle 26"/>
          <p:cNvSpPr/>
          <p:nvPr/>
        </p:nvSpPr>
        <p:spPr>
          <a:xfrm>
            <a:off x="1417320" y="2715768"/>
            <a:ext cx="2286000" cy="6035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499616" y="2779776"/>
            <a:ext cx="2139696" cy="512064"/>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Deploy</a:t>
            </a:r>
          </a:p>
        </p:txBody>
      </p:sp>
      <p:sp>
        <p:nvSpPr>
          <p:cNvPr id="29" name="Rectangle 28"/>
          <p:cNvSpPr/>
          <p:nvPr/>
        </p:nvSpPr>
        <p:spPr>
          <a:xfrm>
            <a:off x="3703320" y="2715768"/>
            <a:ext cx="1143000" cy="6035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785616" y="2779776"/>
            <a:ext cx="996696" cy="512064"/>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2 wks</a:t>
            </a:r>
          </a:p>
        </p:txBody>
      </p:sp>
      <p:sp>
        <p:nvSpPr>
          <p:cNvPr id="31" name="Rectangle 30"/>
          <p:cNvSpPr/>
          <p:nvPr/>
        </p:nvSpPr>
        <p:spPr>
          <a:xfrm>
            <a:off x="4846320" y="2715768"/>
            <a:ext cx="6931152" cy="6035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928616" y="2779776"/>
            <a:ext cx="6784848" cy="512064"/>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On-prem install, JLR SSO, PostgreSQL, LLM egress via JLR gateway. Deterministic core needs no external calls.</a:t>
            </a:r>
          </a:p>
        </p:txBody>
      </p:sp>
      <p:sp>
        <p:nvSpPr>
          <p:cNvPr id="33" name="Rectangle 32"/>
          <p:cNvSpPr/>
          <p:nvPr/>
        </p:nvSpPr>
        <p:spPr>
          <a:xfrm>
            <a:off x="411480" y="3319272"/>
            <a:ext cx="1005840" cy="6035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93776" y="3383280"/>
            <a:ext cx="859536" cy="512064"/>
          </a:xfrm>
          <a:prstGeom prst="rect">
            <a:avLst/>
          </a:prstGeom>
          <a:noFill/>
        </p:spPr>
        <p:txBody>
          <a:bodyPr wrap="square" anchor="t" lIns="0" rIns="0" tIns="0" bIns="0">
            <a:spAutoFit/>
          </a:bodyPr>
          <a:lstStyle/>
          <a:p>
            <a:pPr algn="l">
              <a:lnSpc>
                <a:spcPct val="100000"/>
              </a:lnSpc>
              <a:spcAft>
                <a:spcPts val="400"/>
              </a:spcAft>
            </a:pPr>
            <a:r>
              <a:rPr sz="1000" b="1" i="0">
                <a:solidFill>
                  <a:srgbClr val="16325C"/>
                </a:solidFill>
                <a:latin typeface="Calibri"/>
              </a:rPr>
              <a:t>Phase 2</a:t>
            </a:r>
          </a:p>
        </p:txBody>
      </p:sp>
      <p:sp>
        <p:nvSpPr>
          <p:cNvPr id="35" name="Rectangle 34"/>
          <p:cNvSpPr/>
          <p:nvPr/>
        </p:nvSpPr>
        <p:spPr>
          <a:xfrm>
            <a:off x="1417320" y="3319272"/>
            <a:ext cx="2286000" cy="6035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499616" y="3383280"/>
            <a:ext cx="2139696" cy="512064"/>
          </a:xfrm>
          <a:prstGeom prst="rect">
            <a:avLst/>
          </a:prstGeom>
          <a:noFill/>
        </p:spPr>
        <p:txBody>
          <a:bodyPr wrap="square" anchor="t" lIns="0" rIns="0" tIns="0" bIns="0">
            <a:spAutoFit/>
          </a:bodyPr>
          <a:lstStyle/>
          <a:p>
            <a:pPr algn="l">
              <a:lnSpc>
                <a:spcPct val="100000"/>
              </a:lnSpc>
              <a:spcAft>
                <a:spcPts val="400"/>
              </a:spcAft>
            </a:pPr>
            <a:r>
              <a:rPr sz="1000" b="1" i="0">
                <a:solidFill>
                  <a:srgbClr val="16325C"/>
                </a:solidFill>
                <a:latin typeface="Calibri"/>
              </a:rPr>
              <a:t>Rate onboarding — JLR-led</a:t>
            </a:r>
          </a:p>
        </p:txBody>
      </p:sp>
      <p:sp>
        <p:nvSpPr>
          <p:cNvPr id="37" name="Rectangle 36"/>
          <p:cNvSpPr/>
          <p:nvPr/>
        </p:nvSpPr>
        <p:spPr>
          <a:xfrm>
            <a:off x="3703320" y="3319272"/>
            <a:ext cx="1143000" cy="6035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785616" y="3383280"/>
            <a:ext cx="996696" cy="512064"/>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4–6 wks</a:t>
            </a:r>
          </a:p>
        </p:txBody>
      </p:sp>
      <p:sp>
        <p:nvSpPr>
          <p:cNvPr id="39" name="Rectangle 38"/>
          <p:cNvSpPr/>
          <p:nvPr/>
        </p:nvSpPr>
        <p:spPr>
          <a:xfrm>
            <a:off x="4846320" y="3319272"/>
            <a:ext cx="6931152" cy="6035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928616" y="3383280"/>
            <a:ext cx="6784848" cy="512064"/>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Materials, machine rates, labour, energy, regional factors. The critical path, and the real work.</a:t>
            </a:r>
          </a:p>
        </p:txBody>
      </p:sp>
      <p:sp>
        <p:nvSpPr>
          <p:cNvPr id="41" name="Rectangle 40"/>
          <p:cNvSpPr/>
          <p:nvPr/>
        </p:nvSpPr>
        <p:spPr>
          <a:xfrm>
            <a:off x="411480" y="3922776"/>
            <a:ext cx="1005840" cy="6035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93776" y="3986784"/>
            <a:ext cx="859536" cy="512064"/>
          </a:xfrm>
          <a:prstGeom prst="rect">
            <a:avLst/>
          </a:prstGeom>
          <a:noFill/>
        </p:spPr>
        <p:txBody>
          <a:bodyPr wrap="square" anchor="t" lIns="0" rIns="0" tIns="0" bIns="0">
            <a:spAutoFit/>
          </a:bodyPr>
          <a:lstStyle/>
          <a:p>
            <a:pPr algn="l">
              <a:lnSpc>
                <a:spcPct val="100000"/>
              </a:lnSpc>
              <a:spcAft>
                <a:spcPts val="400"/>
              </a:spcAft>
            </a:pPr>
            <a:r>
              <a:rPr sz="1000" b="1" i="0">
                <a:solidFill>
                  <a:srgbClr val="16325C"/>
                </a:solidFill>
                <a:latin typeface="Calibri"/>
              </a:rPr>
              <a:t>Phase 3</a:t>
            </a:r>
          </a:p>
        </p:txBody>
      </p:sp>
      <p:sp>
        <p:nvSpPr>
          <p:cNvPr id="43" name="Rectangle 42"/>
          <p:cNvSpPr/>
          <p:nvPr/>
        </p:nvSpPr>
        <p:spPr>
          <a:xfrm>
            <a:off x="1417320" y="3922776"/>
            <a:ext cx="2286000" cy="6035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499616" y="3986784"/>
            <a:ext cx="2139696" cy="512064"/>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Calibrate</a:t>
            </a:r>
          </a:p>
        </p:txBody>
      </p:sp>
      <p:sp>
        <p:nvSpPr>
          <p:cNvPr id="45" name="Rectangle 44"/>
          <p:cNvSpPr/>
          <p:nvPr/>
        </p:nvSpPr>
        <p:spPr>
          <a:xfrm>
            <a:off x="3703320" y="3922776"/>
            <a:ext cx="1143000" cy="6035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785616" y="3986784"/>
            <a:ext cx="996696" cy="512064"/>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2 wks</a:t>
            </a:r>
          </a:p>
        </p:txBody>
      </p:sp>
      <p:sp>
        <p:nvSpPr>
          <p:cNvPr id="47" name="Rectangle 46"/>
          <p:cNvSpPr/>
          <p:nvPr/>
        </p:nvSpPr>
        <p:spPr>
          <a:xfrm>
            <a:off x="4846320" y="3922776"/>
            <a:ext cx="6931152" cy="6035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928616" y="3986784"/>
            <a:ext cx="6784848" cy="512064"/>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Load 30–50 known JLR parts with actual prices. Measure MAPE. This is what makes the tool quotable.</a:t>
            </a:r>
          </a:p>
        </p:txBody>
      </p:sp>
      <p:sp>
        <p:nvSpPr>
          <p:cNvPr id="49" name="Rectangle 48"/>
          <p:cNvSpPr/>
          <p:nvPr/>
        </p:nvSpPr>
        <p:spPr>
          <a:xfrm>
            <a:off x="411480" y="4526280"/>
            <a:ext cx="1005840" cy="6035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93776" y="4590288"/>
            <a:ext cx="859536" cy="512064"/>
          </a:xfrm>
          <a:prstGeom prst="rect">
            <a:avLst/>
          </a:prstGeom>
          <a:noFill/>
        </p:spPr>
        <p:txBody>
          <a:bodyPr wrap="square" anchor="t" lIns="0" rIns="0" tIns="0" bIns="0">
            <a:spAutoFit/>
          </a:bodyPr>
          <a:lstStyle/>
          <a:p>
            <a:pPr algn="l">
              <a:lnSpc>
                <a:spcPct val="100000"/>
              </a:lnSpc>
              <a:spcAft>
                <a:spcPts val="400"/>
              </a:spcAft>
            </a:pPr>
            <a:r>
              <a:rPr sz="1000" b="1" i="0">
                <a:solidFill>
                  <a:srgbClr val="16325C"/>
                </a:solidFill>
                <a:latin typeface="Calibri"/>
              </a:rPr>
              <a:t>Phase 4</a:t>
            </a:r>
          </a:p>
        </p:txBody>
      </p:sp>
      <p:sp>
        <p:nvSpPr>
          <p:cNvPr id="51" name="Rectangle 50"/>
          <p:cNvSpPr/>
          <p:nvPr/>
        </p:nvSpPr>
        <p:spPr>
          <a:xfrm>
            <a:off x="1417320" y="4526280"/>
            <a:ext cx="2286000" cy="6035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499616" y="4590288"/>
            <a:ext cx="2139696" cy="512064"/>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Pilot</a:t>
            </a:r>
          </a:p>
        </p:txBody>
      </p:sp>
      <p:sp>
        <p:nvSpPr>
          <p:cNvPr id="53" name="Rectangle 52"/>
          <p:cNvSpPr/>
          <p:nvPr/>
        </p:nvSpPr>
        <p:spPr>
          <a:xfrm>
            <a:off x="3703320" y="4526280"/>
            <a:ext cx="1143000" cy="6035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785616" y="4590288"/>
            <a:ext cx="996696" cy="512064"/>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2 wks</a:t>
            </a:r>
          </a:p>
        </p:txBody>
      </p:sp>
      <p:sp>
        <p:nvSpPr>
          <p:cNvPr id="55" name="Rectangle 54"/>
          <p:cNvSpPr/>
          <p:nvPr/>
        </p:nvSpPr>
        <p:spPr>
          <a:xfrm>
            <a:off x="4846320" y="4526280"/>
            <a:ext cx="6931152" cy="6035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928616" y="4590288"/>
            <a:ext cx="6784848" cy="512064"/>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One commodity team, live parts, side-by-side against CAPEE. Compare and explain differences.</a:t>
            </a:r>
          </a:p>
        </p:txBody>
      </p:sp>
      <p:sp>
        <p:nvSpPr>
          <p:cNvPr id="57" name="Rounded Rectangle 56"/>
          <p:cNvSpPr/>
          <p:nvPr/>
        </p:nvSpPr>
        <p:spPr>
          <a:xfrm>
            <a:off x="411480" y="4892040"/>
            <a:ext cx="5577840" cy="914400"/>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11480" y="4892040"/>
            <a:ext cx="68580" cy="91440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30936" y="5010912"/>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E8B57"/>
                </a:solidFill>
                <a:latin typeface="Calibri"/>
              </a:rPr>
              <a:t>Total: 8–12 weeks</a:t>
            </a:r>
          </a:p>
        </p:txBody>
      </p:sp>
      <p:sp>
        <p:nvSpPr>
          <p:cNvPr id="60" name="TextBox 59"/>
          <p:cNvSpPr txBox="1"/>
          <p:nvPr/>
        </p:nvSpPr>
        <p:spPr>
          <a:xfrm>
            <a:off x="630936" y="5294376"/>
            <a:ext cx="5166360" cy="41148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Software effort is small. The range is driven almost entirely by how quickly JLR can assemble rate data and actual prices.</a:t>
            </a:r>
          </a:p>
        </p:txBody>
      </p:sp>
      <p:sp>
        <p:nvSpPr>
          <p:cNvPr id="61" name="Rounded Rectangle 60"/>
          <p:cNvSpPr/>
          <p:nvPr/>
        </p:nvSpPr>
        <p:spPr>
          <a:xfrm>
            <a:off x="6199632" y="4892040"/>
            <a:ext cx="5577840" cy="91440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6199632" y="4892040"/>
            <a:ext cx="68580" cy="9144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419088" y="5010912"/>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Phase 3 is the one that matters</a:t>
            </a:r>
          </a:p>
        </p:txBody>
      </p:sp>
      <p:sp>
        <p:nvSpPr>
          <p:cNvPr id="64" name="TextBox 63"/>
          <p:cNvSpPr txBox="1"/>
          <p:nvPr/>
        </p:nvSpPr>
        <p:spPr>
          <a:xfrm>
            <a:off x="6419088" y="5294376"/>
            <a:ext cx="5166360" cy="41148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It converts CostVision from a structurally sound model into a calibrated one, and it produces the evidence Option 1 would otherwise lack.</a:t>
            </a:r>
          </a:p>
        </p:txBody>
      </p:sp>
      <p:sp>
        <p:nvSpPr>
          <p:cNvPr id="65" name="TextBox 64"/>
          <p:cNvSpPr txBox="1"/>
          <p:nvPr/>
        </p:nvSpPr>
        <p:spPr>
          <a:xfrm>
            <a:off x="411480" y="6419088"/>
            <a:ext cx="11338560" cy="219456"/>
          </a:xfrm>
          <a:prstGeom prst="rect">
            <a:avLst/>
          </a:prstGeom>
          <a:noFill/>
        </p:spPr>
        <p:txBody>
          <a:bodyPr wrap="square" anchor="t" lIns="0" rIns="0" tIns="0" bIns="0">
            <a:spAutoFit/>
          </a:bodyPr>
          <a:lstStyle/>
          <a:p>
            <a:pPr algn="l">
              <a:lnSpc>
                <a:spcPct val="100000"/>
              </a:lnSpc>
              <a:spcAft>
                <a:spcPts val="400"/>
              </a:spcAft>
            </a:pPr>
            <a:r>
              <a:rPr sz="800" b="0" i="0">
                <a:solidFill>
                  <a:srgbClr val="6B7280"/>
                </a:solidFill>
                <a:latin typeface="Calibri"/>
              </a:rPr>
              <a:t>Deployment guidance follows docs/CostVision-Secure-Deployment-CAPEE-Integration.md, already reviewed.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COMPARISON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Side by side</a:t>
            </a:r>
          </a:p>
        </p:txBody>
      </p:sp>
      <p:sp>
        <p:nvSpPr>
          <p:cNvPr id="9" name="Rectangle 8"/>
          <p:cNvSpPr/>
          <p:nvPr/>
        </p:nvSpPr>
        <p:spPr>
          <a:xfrm>
            <a:off x="411480" y="1783080"/>
            <a:ext cx="4050791"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3776" y="1865376"/>
            <a:ext cx="3904487"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Dimension</a:t>
            </a:r>
          </a:p>
        </p:txBody>
      </p:sp>
      <p:sp>
        <p:nvSpPr>
          <p:cNvPr id="11" name="Rectangle 10"/>
          <p:cNvSpPr/>
          <p:nvPr/>
        </p:nvSpPr>
        <p:spPr>
          <a:xfrm>
            <a:off x="4462271" y="1783080"/>
            <a:ext cx="365760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44567" y="1865376"/>
            <a:ext cx="351129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OPTION 1 — feed CAPEE</a:t>
            </a:r>
          </a:p>
        </p:txBody>
      </p:sp>
      <p:sp>
        <p:nvSpPr>
          <p:cNvPr id="13" name="Rectangle 12"/>
          <p:cNvSpPr/>
          <p:nvPr/>
        </p:nvSpPr>
        <p:spPr>
          <a:xfrm>
            <a:off x="8119871" y="1783080"/>
            <a:ext cx="365760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02167" y="1865376"/>
            <a:ext cx="351129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OPTION 2 — CostVision as-is</a:t>
            </a:r>
          </a:p>
        </p:txBody>
      </p:sp>
      <p:sp>
        <p:nvSpPr>
          <p:cNvPr id="15" name="Rectangle 14"/>
          <p:cNvSpPr/>
          <p:nvPr/>
        </p:nvSpPr>
        <p:spPr>
          <a:xfrm>
            <a:off x="411480" y="2112264"/>
            <a:ext cx="4050791" cy="38404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93776" y="2176272"/>
            <a:ext cx="3904487" cy="29260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Time to first value</a:t>
            </a:r>
          </a:p>
        </p:txBody>
      </p:sp>
      <p:sp>
        <p:nvSpPr>
          <p:cNvPr id="17" name="Rectangle 16"/>
          <p:cNvSpPr/>
          <p:nvPr/>
        </p:nvSpPr>
        <p:spPr>
          <a:xfrm>
            <a:off x="4462271" y="2112264"/>
            <a:ext cx="3657600" cy="38404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44567" y="2176272"/>
            <a:ext cx="3511296" cy="292608"/>
          </a:xfrm>
          <a:prstGeom prst="rect">
            <a:avLst/>
          </a:prstGeom>
          <a:noFill/>
        </p:spPr>
        <p:txBody>
          <a:bodyPr wrap="square" anchor="t" lIns="0" rIns="0" tIns="0" bIns="0">
            <a:spAutoFit/>
          </a:bodyPr>
          <a:lstStyle/>
          <a:p>
            <a:pPr algn="l">
              <a:lnSpc>
                <a:spcPct val="100000"/>
              </a:lnSpc>
              <a:spcAft>
                <a:spcPts val="400"/>
              </a:spcAft>
            </a:pPr>
            <a:r>
              <a:rPr sz="1050" b="0" i="0">
                <a:solidFill>
                  <a:srgbClr val="B7791F"/>
                </a:solidFill>
                <a:latin typeface="Calibri"/>
              </a:rPr>
              <a:t>17–21 weeks</a:t>
            </a:r>
          </a:p>
        </p:txBody>
      </p:sp>
      <p:sp>
        <p:nvSpPr>
          <p:cNvPr id="19" name="Rectangle 18"/>
          <p:cNvSpPr/>
          <p:nvPr/>
        </p:nvSpPr>
        <p:spPr>
          <a:xfrm>
            <a:off x="8119871" y="2112264"/>
            <a:ext cx="3657600" cy="38404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02167" y="2176272"/>
            <a:ext cx="3511296" cy="292608"/>
          </a:xfrm>
          <a:prstGeom prst="rect">
            <a:avLst/>
          </a:prstGeom>
          <a:noFill/>
        </p:spPr>
        <p:txBody>
          <a:bodyPr wrap="square" anchor="t" lIns="0" rIns="0" tIns="0" bIns="0">
            <a:spAutoFit/>
          </a:bodyPr>
          <a:lstStyle/>
          <a:p>
            <a:pPr algn="l">
              <a:lnSpc>
                <a:spcPct val="100000"/>
              </a:lnSpc>
              <a:spcAft>
                <a:spcPts val="400"/>
              </a:spcAft>
            </a:pPr>
            <a:r>
              <a:rPr sz="1050" b="1" i="0">
                <a:solidFill>
                  <a:srgbClr val="2E8B57"/>
                </a:solidFill>
                <a:latin typeface="Calibri"/>
              </a:rPr>
              <a:t>8–12 weeks</a:t>
            </a:r>
          </a:p>
        </p:txBody>
      </p:sp>
      <p:sp>
        <p:nvSpPr>
          <p:cNvPr id="21" name="Rectangle 20"/>
          <p:cNvSpPr/>
          <p:nvPr/>
        </p:nvSpPr>
        <p:spPr>
          <a:xfrm>
            <a:off x="411480" y="2496312"/>
            <a:ext cx="4050791" cy="38404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93776" y="2560320"/>
            <a:ext cx="3904487" cy="29260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Engineering effort</a:t>
            </a:r>
          </a:p>
        </p:txBody>
      </p:sp>
      <p:sp>
        <p:nvSpPr>
          <p:cNvPr id="23" name="Rectangle 22"/>
          <p:cNvSpPr/>
          <p:nvPr/>
        </p:nvSpPr>
        <p:spPr>
          <a:xfrm>
            <a:off x="4462271" y="2496312"/>
            <a:ext cx="3657600" cy="38404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44567" y="2560320"/>
            <a:ext cx="3511296" cy="292608"/>
          </a:xfrm>
          <a:prstGeom prst="rect">
            <a:avLst/>
          </a:prstGeom>
          <a:noFill/>
        </p:spPr>
        <p:txBody>
          <a:bodyPr wrap="square" anchor="t" lIns="0" rIns="0" tIns="0" bIns="0">
            <a:spAutoFit/>
          </a:bodyPr>
          <a:lstStyle/>
          <a:p>
            <a:pPr algn="l">
              <a:lnSpc>
                <a:spcPct val="100000"/>
              </a:lnSpc>
              <a:spcAft>
                <a:spcPts val="400"/>
              </a:spcAft>
            </a:pPr>
            <a:r>
              <a:rPr sz="1050" b="0" i="0">
                <a:solidFill>
                  <a:srgbClr val="B7791F"/>
                </a:solidFill>
                <a:latin typeface="Calibri"/>
              </a:rPr>
              <a:t>High — port + integrate</a:t>
            </a:r>
          </a:p>
        </p:txBody>
      </p:sp>
      <p:sp>
        <p:nvSpPr>
          <p:cNvPr id="25" name="Rectangle 24"/>
          <p:cNvSpPr/>
          <p:nvPr/>
        </p:nvSpPr>
        <p:spPr>
          <a:xfrm>
            <a:off x="8119871" y="2496312"/>
            <a:ext cx="3657600" cy="38404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02167" y="2560320"/>
            <a:ext cx="3511296" cy="292608"/>
          </a:xfrm>
          <a:prstGeom prst="rect">
            <a:avLst/>
          </a:prstGeom>
          <a:noFill/>
        </p:spPr>
        <p:txBody>
          <a:bodyPr wrap="square" anchor="t" lIns="0" rIns="0" tIns="0" bIns="0">
            <a:spAutoFit/>
          </a:bodyPr>
          <a:lstStyle/>
          <a:p>
            <a:pPr algn="l">
              <a:lnSpc>
                <a:spcPct val="100000"/>
              </a:lnSpc>
              <a:spcAft>
                <a:spcPts val="400"/>
              </a:spcAft>
            </a:pPr>
            <a:r>
              <a:rPr sz="1050" b="1" i="0">
                <a:solidFill>
                  <a:srgbClr val="2E8B57"/>
                </a:solidFill>
                <a:latin typeface="Calibri"/>
              </a:rPr>
              <a:t>Low — deploy + configure</a:t>
            </a:r>
          </a:p>
        </p:txBody>
      </p:sp>
      <p:sp>
        <p:nvSpPr>
          <p:cNvPr id="27" name="Rectangle 26"/>
          <p:cNvSpPr/>
          <p:nvPr/>
        </p:nvSpPr>
        <p:spPr>
          <a:xfrm>
            <a:off x="411480" y="2880360"/>
            <a:ext cx="4050791" cy="38404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93776" y="2944368"/>
            <a:ext cx="3904487" cy="29260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JLR-side data effort</a:t>
            </a:r>
          </a:p>
        </p:txBody>
      </p:sp>
      <p:sp>
        <p:nvSpPr>
          <p:cNvPr id="29" name="Rectangle 28"/>
          <p:cNvSpPr/>
          <p:nvPr/>
        </p:nvSpPr>
        <p:spPr>
          <a:xfrm>
            <a:off x="4462271" y="2880360"/>
            <a:ext cx="3657600" cy="38404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44567" y="2944368"/>
            <a:ext cx="3511296" cy="292608"/>
          </a:xfrm>
          <a:prstGeom prst="rect">
            <a:avLst/>
          </a:prstGeom>
          <a:noFill/>
        </p:spPr>
        <p:txBody>
          <a:bodyPr wrap="square" anchor="t" lIns="0" rIns="0" tIns="0" bIns="0">
            <a:spAutoFit/>
          </a:bodyPr>
          <a:lstStyle/>
          <a:p>
            <a:pPr algn="l">
              <a:lnSpc>
                <a:spcPct val="100000"/>
              </a:lnSpc>
              <a:spcAft>
                <a:spcPts val="400"/>
              </a:spcAft>
            </a:pPr>
            <a:r>
              <a:rPr sz="1050" b="0" i="0">
                <a:solidFill>
                  <a:srgbClr val="2E8B57"/>
                </a:solidFill>
                <a:latin typeface="Calibri"/>
              </a:rPr>
              <a:t>Moderate</a:t>
            </a:r>
          </a:p>
        </p:txBody>
      </p:sp>
      <p:sp>
        <p:nvSpPr>
          <p:cNvPr id="31" name="Rectangle 30"/>
          <p:cNvSpPr/>
          <p:nvPr/>
        </p:nvSpPr>
        <p:spPr>
          <a:xfrm>
            <a:off x="8119871" y="2880360"/>
            <a:ext cx="3657600" cy="38404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02167" y="2944368"/>
            <a:ext cx="3511296" cy="292608"/>
          </a:xfrm>
          <a:prstGeom prst="rect">
            <a:avLst/>
          </a:prstGeom>
          <a:noFill/>
        </p:spPr>
        <p:txBody>
          <a:bodyPr wrap="square" anchor="t" lIns="0" rIns="0" tIns="0" bIns="0">
            <a:spAutoFit/>
          </a:bodyPr>
          <a:lstStyle/>
          <a:p>
            <a:pPr algn="l">
              <a:lnSpc>
                <a:spcPct val="100000"/>
              </a:lnSpc>
              <a:spcAft>
                <a:spcPts val="400"/>
              </a:spcAft>
            </a:pPr>
            <a:r>
              <a:rPr sz="1050" b="0" i="0">
                <a:solidFill>
                  <a:srgbClr val="B7791F"/>
                </a:solidFill>
                <a:latin typeface="Calibri"/>
              </a:rPr>
              <a:t>High — the critical path</a:t>
            </a:r>
          </a:p>
        </p:txBody>
      </p:sp>
      <p:sp>
        <p:nvSpPr>
          <p:cNvPr id="33" name="Rectangle 32"/>
          <p:cNvSpPr/>
          <p:nvPr/>
        </p:nvSpPr>
        <p:spPr>
          <a:xfrm>
            <a:off x="411480" y="3264408"/>
            <a:ext cx="4050791" cy="38404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93776" y="3328416"/>
            <a:ext cx="3904487" cy="29260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System of record</a:t>
            </a:r>
          </a:p>
        </p:txBody>
      </p:sp>
      <p:sp>
        <p:nvSpPr>
          <p:cNvPr id="35" name="Rectangle 34"/>
          <p:cNvSpPr/>
          <p:nvPr/>
        </p:nvSpPr>
        <p:spPr>
          <a:xfrm>
            <a:off x="4462271" y="3264408"/>
            <a:ext cx="3657600" cy="38404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44567" y="3328416"/>
            <a:ext cx="3511296" cy="292608"/>
          </a:xfrm>
          <a:prstGeom prst="rect">
            <a:avLst/>
          </a:prstGeom>
          <a:noFill/>
        </p:spPr>
        <p:txBody>
          <a:bodyPr wrap="square" anchor="t" lIns="0" rIns="0" tIns="0" bIns="0">
            <a:spAutoFit/>
          </a:bodyPr>
          <a:lstStyle/>
          <a:p>
            <a:pPr algn="l">
              <a:lnSpc>
                <a:spcPct val="100000"/>
              </a:lnSpc>
              <a:spcAft>
                <a:spcPts val="400"/>
              </a:spcAft>
            </a:pPr>
            <a:r>
              <a:rPr sz="1050" b="1" i="0">
                <a:solidFill>
                  <a:srgbClr val="2E8B57"/>
                </a:solidFill>
                <a:latin typeface="Calibri"/>
              </a:rPr>
              <a:t>CAPEE, unchanged</a:t>
            </a:r>
          </a:p>
        </p:txBody>
      </p:sp>
      <p:sp>
        <p:nvSpPr>
          <p:cNvPr id="37" name="Rectangle 36"/>
          <p:cNvSpPr/>
          <p:nvPr/>
        </p:nvSpPr>
        <p:spPr>
          <a:xfrm>
            <a:off x="8119871" y="3264408"/>
            <a:ext cx="3657600" cy="38404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02167" y="3328416"/>
            <a:ext cx="3511296" cy="292608"/>
          </a:xfrm>
          <a:prstGeom prst="rect">
            <a:avLst/>
          </a:prstGeom>
          <a:noFill/>
        </p:spPr>
        <p:txBody>
          <a:bodyPr wrap="square" anchor="t" lIns="0" rIns="0" tIns="0" bIns="0">
            <a:spAutoFit/>
          </a:bodyPr>
          <a:lstStyle/>
          <a:p>
            <a:pPr algn="l">
              <a:lnSpc>
                <a:spcPct val="100000"/>
              </a:lnSpc>
              <a:spcAft>
                <a:spcPts val="400"/>
              </a:spcAft>
            </a:pPr>
            <a:r>
              <a:rPr sz="1050" b="0" i="0">
                <a:solidFill>
                  <a:srgbClr val="B7791F"/>
                </a:solidFill>
                <a:latin typeface="Calibri"/>
              </a:rPr>
              <a:t>New tool alongside CAPEE</a:t>
            </a:r>
          </a:p>
        </p:txBody>
      </p:sp>
      <p:sp>
        <p:nvSpPr>
          <p:cNvPr id="39" name="Rectangle 38"/>
          <p:cNvSpPr/>
          <p:nvPr/>
        </p:nvSpPr>
        <p:spPr>
          <a:xfrm>
            <a:off x="411480" y="3648456"/>
            <a:ext cx="4050791" cy="38404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93776" y="3712464"/>
            <a:ext cx="3904487" cy="29260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Change to user workflow</a:t>
            </a:r>
          </a:p>
        </p:txBody>
      </p:sp>
      <p:sp>
        <p:nvSpPr>
          <p:cNvPr id="41" name="Rectangle 40"/>
          <p:cNvSpPr/>
          <p:nvPr/>
        </p:nvSpPr>
        <p:spPr>
          <a:xfrm>
            <a:off x="4462271" y="3648456"/>
            <a:ext cx="3657600" cy="38404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544567" y="3712464"/>
            <a:ext cx="3511296" cy="292608"/>
          </a:xfrm>
          <a:prstGeom prst="rect">
            <a:avLst/>
          </a:prstGeom>
          <a:noFill/>
        </p:spPr>
        <p:txBody>
          <a:bodyPr wrap="square" anchor="t" lIns="0" rIns="0" tIns="0" bIns="0">
            <a:spAutoFit/>
          </a:bodyPr>
          <a:lstStyle/>
          <a:p>
            <a:pPr algn="l">
              <a:lnSpc>
                <a:spcPct val="100000"/>
              </a:lnSpc>
              <a:spcAft>
                <a:spcPts val="400"/>
              </a:spcAft>
            </a:pPr>
            <a:r>
              <a:rPr sz="1050" b="1" i="0">
                <a:solidFill>
                  <a:srgbClr val="2E8B57"/>
                </a:solidFill>
                <a:latin typeface="Calibri"/>
              </a:rPr>
              <a:t>Minimal — same CAPEE screens</a:t>
            </a:r>
          </a:p>
        </p:txBody>
      </p:sp>
      <p:sp>
        <p:nvSpPr>
          <p:cNvPr id="43" name="Rectangle 42"/>
          <p:cNvSpPr/>
          <p:nvPr/>
        </p:nvSpPr>
        <p:spPr>
          <a:xfrm>
            <a:off x="8119871" y="3648456"/>
            <a:ext cx="3657600" cy="38404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202167" y="3712464"/>
            <a:ext cx="3511296" cy="292608"/>
          </a:xfrm>
          <a:prstGeom prst="rect">
            <a:avLst/>
          </a:prstGeom>
          <a:noFill/>
        </p:spPr>
        <p:txBody>
          <a:bodyPr wrap="square" anchor="t" lIns="0" rIns="0" tIns="0" bIns="0">
            <a:spAutoFit/>
          </a:bodyPr>
          <a:lstStyle/>
          <a:p>
            <a:pPr algn="l">
              <a:lnSpc>
                <a:spcPct val="100000"/>
              </a:lnSpc>
              <a:spcAft>
                <a:spcPts val="400"/>
              </a:spcAft>
            </a:pPr>
            <a:r>
              <a:rPr sz="1050" b="0" i="0">
                <a:solidFill>
                  <a:srgbClr val="B7791F"/>
                </a:solidFill>
                <a:latin typeface="Calibri"/>
              </a:rPr>
              <a:t>New tool to learn</a:t>
            </a:r>
          </a:p>
        </p:txBody>
      </p:sp>
      <p:sp>
        <p:nvSpPr>
          <p:cNvPr id="45" name="Rectangle 44"/>
          <p:cNvSpPr/>
          <p:nvPr/>
        </p:nvSpPr>
        <p:spPr>
          <a:xfrm>
            <a:off x="411480" y="4032504"/>
            <a:ext cx="4050791" cy="38404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93776" y="4096512"/>
            <a:ext cx="3904487" cy="29260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Gets the 8-bucket engine</a:t>
            </a:r>
          </a:p>
        </p:txBody>
      </p:sp>
      <p:sp>
        <p:nvSpPr>
          <p:cNvPr id="47" name="Rectangle 46"/>
          <p:cNvSpPr/>
          <p:nvPr/>
        </p:nvSpPr>
        <p:spPr>
          <a:xfrm>
            <a:off x="4462271" y="4032504"/>
            <a:ext cx="3657600" cy="38404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544567" y="4096512"/>
            <a:ext cx="3511296" cy="292608"/>
          </a:xfrm>
          <a:prstGeom prst="rect">
            <a:avLst/>
          </a:prstGeom>
          <a:noFill/>
        </p:spPr>
        <p:txBody>
          <a:bodyPr wrap="square" anchor="t" lIns="0" rIns="0" tIns="0" bIns="0">
            <a:spAutoFit/>
          </a:bodyPr>
          <a:lstStyle/>
          <a:p>
            <a:pPr algn="l">
              <a:lnSpc>
                <a:spcPct val="100000"/>
              </a:lnSpc>
              <a:spcAft>
                <a:spcPts val="400"/>
              </a:spcAft>
            </a:pPr>
            <a:r>
              <a:rPr sz="1050" b="0" i="0">
                <a:solidFill>
                  <a:srgbClr val="B7791F"/>
                </a:solidFill>
                <a:latin typeface="Calibri"/>
              </a:rPr>
              <a:t>No — CAPEE costs</a:t>
            </a:r>
          </a:p>
        </p:txBody>
      </p:sp>
      <p:sp>
        <p:nvSpPr>
          <p:cNvPr id="49" name="Rectangle 48"/>
          <p:cNvSpPr/>
          <p:nvPr/>
        </p:nvSpPr>
        <p:spPr>
          <a:xfrm>
            <a:off x="8119871" y="4032504"/>
            <a:ext cx="3657600" cy="38404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202167" y="4096512"/>
            <a:ext cx="3511296" cy="292608"/>
          </a:xfrm>
          <a:prstGeom prst="rect">
            <a:avLst/>
          </a:prstGeom>
          <a:noFill/>
        </p:spPr>
        <p:txBody>
          <a:bodyPr wrap="square" anchor="t" lIns="0" rIns="0" tIns="0" bIns="0">
            <a:spAutoFit/>
          </a:bodyPr>
          <a:lstStyle/>
          <a:p>
            <a:pPr algn="l">
              <a:lnSpc>
                <a:spcPct val="100000"/>
              </a:lnSpc>
              <a:spcAft>
                <a:spcPts val="400"/>
              </a:spcAft>
            </a:pPr>
            <a:r>
              <a:rPr sz="1050" b="1" i="0">
                <a:solidFill>
                  <a:srgbClr val="2E8B57"/>
                </a:solidFill>
                <a:latin typeface="Calibri"/>
              </a:rPr>
              <a:t>Yes</a:t>
            </a:r>
          </a:p>
        </p:txBody>
      </p:sp>
      <p:sp>
        <p:nvSpPr>
          <p:cNvPr id="51" name="Rectangle 50"/>
          <p:cNvSpPr/>
          <p:nvPr/>
        </p:nvSpPr>
        <p:spPr>
          <a:xfrm>
            <a:off x="411480" y="4416552"/>
            <a:ext cx="4050791" cy="38404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93776" y="4480560"/>
            <a:ext cx="3904487" cy="29260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Gets physics checks + provenance</a:t>
            </a:r>
          </a:p>
        </p:txBody>
      </p:sp>
      <p:sp>
        <p:nvSpPr>
          <p:cNvPr id="53" name="Rectangle 52"/>
          <p:cNvSpPr/>
          <p:nvPr/>
        </p:nvSpPr>
        <p:spPr>
          <a:xfrm>
            <a:off x="4462271" y="4416552"/>
            <a:ext cx="3657600" cy="38404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544567" y="4480560"/>
            <a:ext cx="3511296" cy="292608"/>
          </a:xfrm>
          <a:prstGeom prst="rect">
            <a:avLst/>
          </a:prstGeom>
          <a:noFill/>
        </p:spPr>
        <p:txBody>
          <a:bodyPr wrap="square" anchor="t" lIns="0" rIns="0" tIns="0" bIns="0">
            <a:spAutoFit/>
          </a:bodyPr>
          <a:lstStyle/>
          <a:p>
            <a:pPr algn="l">
              <a:lnSpc>
                <a:spcPct val="100000"/>
              </a:lnSpc>
              <a:spcAft>
                <a:spcPts val="400"/>
              </a:spcAft>
            </a:pPr>
            <a:r>
              <a:rPr sz="1050" b="0" i="0">
                <a:solidFill>
                  <a:srgbClr val="B7791F"/>
                </a:solidFill>
                <a:latin typeface="Calibri"/>
              </a:rPr>
              <a:t>Only if guards ported</a:t>
            </a:r>
          </a:p>
        </p:txBody>
      </p:sp>
      <p:sp>
        <p:nvSpPr>
          <p:cNvPr id="55" name="Rectangle 54"/>
          <p:cNvSpPr/>
          <p:nvPr/>
        </p:nvSpPr>
        <p:spPr>
          <a:xfrm>
            <a:off x="8119871" y="4416552"/>
            <a:ext cx="3657600" cy="38404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202167" y="4480560"/>
            <a:ext cx="3511296" cy="292608"/>
          </a:xfrm>
          <a:prstGeom prst="rect">
            <a:avLst/>
          </a:prstGeom>
          <a:noFill/>
        </p:spPr>
        <p:txBody>
          <a:bodyPr wrap="square" anchor="t" lIns="0" rIns="0" tIns="0" bIns="0">
            <a:spAutoFit/>
          </a:bodyPr>
          <a:lstStyle/>
          <a:p>
            <a:pPr algn="l">
              <a:lnSpc>
                <a:spcPct val="100000"/>
              </a:lnSpc>
              <a:spcAft>
                <a:spcPts val="400"/>
              </a:spcAft>
            </a:pPr>
            <a:r>
              <a:rPr sz="1050" b="1" i="0">
                <a:solidFill>
                  <a:srgbClr val="2E8B57"/>
                </a:solidFill>
                <a:latin typeface="Calibri"/>
              </a:rPr>
              <a:t>Yes</a:t>
            </a:r>
          </a:p>
        </p:txBody>
      </p:sp>
      <p:sp>
        <p:nvSpPr>
          <p:cNvPr id="57" name="Rectangle 56"/>
          <p:cNvSpPr/>
          <p:nvPr/>
        </p:nvSpPr>
        <p:spPr>
          <a:xfrm>
            <a:off x="411480" y="4800600"/>
            <a:ext cx="4050791" cy="38404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93776" y="4864608"/>
            <a:ext cx="3904487" cy="29260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Produces validation evidence</a:t>
            </a:r>
          </a:p>
        </p:txBody>
      </p:sp>
      <p:sp>
        <p:nvSpPr>
          <p:cNvPr id="59" name="Rectangle 58"/>
          <p:cNvSpPr/>
          <p:nvPr/>
        </p:nvSpPr>
        <p:spPr>
          <a:xfrm>
            <a:off x="4462271" y="4800600"/>
            <a:ext cx="3657600" cy="38404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544567" y="4864608"/>
            <a:ext cx="3511296" cy="292608"/>
          </a:xfrm>
          <a:prstGeom prst="rect">
            <a:avLst/>
          </a:prstGeom>
          <a:noFill/>
        </p:spPr>
        <p:txBody>
          <a:bodyPr wrap="square" anchor="t" lIns="0" rIns="0" tIns="0" bIns="0">
            <a:spAutoFit/>
          </a:bodyPr>
          <a:lstStyle/>
          <a:p>
            <a:pPr algn="l">
              <a:lnSpc>
                <a:spcPct val="100000"/>
              </a:lnSpc>
              <a:spcAft>
                <a:spcPts val="400"/>
              </a:spcAft>
            </a:pPr>
            <a:r>
              <a:rPr sz="1050" b="0" i="0">
                <a:solidFill>
                  <a:srgbClr val="B03A2E"/>
                </a:solidFill>
                <a:latin typeface="Calibri"/>
              </a:rPr>
              <a:t>No</a:t>
            </a:r>
          </a:p>
        </p:txBody>
      </p:sp>
      <p:sp>
        <p:nvSpPr>
          <p:cNvPr id="61" name="Rectangle 60"/>
          <p:cNvSpPr/>
          <p:nvPr/>
        </p:nvSpPr>
        <p:spPr>
          <a:xfrm>
            <a:off x="8119871" y="4800600"/>
            <a:ext cx="3657600" cy="38404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202167" y="4864608"/>
            <a:ext cx="3511296" cy="292608"/>
          </a:xfrm>
          <a:prstGeom prst="rect">
            <a:avLst/>
          </a:prstGeom>
          <a:noFill/>
        </p:spPr>
        <p:txBody>
          <a:bodyPr wrap="square" anchor="t" lIns="0" rIns="0" tIns="0" bIns="0">
            <a:spAutoFit/>
          </a:bodyPr>
          <a:lstStyle/>
          <a:p>
            <a:pPr algn="l">
              <a:lnSpc>
                <a:spcPct val="100000"/>
              </a:lnSpc>
              <a:spcAft>
                <a:spcPts val="400"/>
              </a:spcAft>
            </a:pPr>
            <a:r>
              <a:rPr sz="1050" b="1" i="0">
                <a:solidFill>
                  <a:srgbClr val="2E8B57"/>
                </a:solidFill>
                <a:latin typeface="Calibri"/>
              </a:rPr>
              <a:t>Yes — Phase 3</a:t>
            </a:r>
          </a:p>
        </p:txBody>
      </p:sp>
      <p:sp>
        <p:nvSpPr>
          <p:cNvPr id="63" name="Rectangle 62"/>
          <p:cNvSpPr/>
          <p:nvPr/>
        </p:nvSpPr>
        <p:spPr>
          <a:xfrm>
            <a:off x="411480" y="5184648"/>
            <a:ext cx="4050791" cy="38404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93776" y="5248656"/>
            <a:ext cx="3904487" cy="29260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Dependency on CAPEE stack answer</a:t>
            </a:r>
          </a:p>
        </p:txBody>
      </p:sp>
      <p:sp>
        <p:nvSpPr>
          <p:cNvPr id="65" name="Rectangle 64"/>
          <p:cNvSpPr/>
          <p:nvPr/>
        </p:nvSpPr>
        <p:spPr>
          <a:xfrm>
            <a:off x="4462271" y="5184648"/>
            <a:ext cx="3657600" cy="38404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4544567" y="5248656"/>
            <a:ext cx="3511296" cy="292608"/>
          </a:xfrm>
          <a:prstGeom prst="rect">
            <a:avLst/>
          </a:prstGeom>
          <a:noFill/>
        </p:spPr>
        <p:txBody>
          <a:bodyPr wrap="square" anchor="t" lIns="0" rIns="0" tIns="0" bIns="0">
            <a:spAutoFit/>
          </a:bodyPr>
          <a:lstStyle/>
          <a:p>
            <a:pPr algn="l">
              <a:lnSpc>
                <a:spcPct val="100000"/>
              </a:lnSpc>
              <a:spcAft>
                <a:spcPts val="400"/>
              </a:spcAft>
            </a:pPr>
            <a:r>
              <a:rPr sz="1050" b="1" i="0">
                <a:solidFill>
                  <a:srgbClr val="B03A2E"/>
                </a:solidFill>
                <a:latin typeface="Calibri"/>
              </a:rPr>
              <a:t>Blocking</a:t>
            </a:r>
          </a:p>
        </p:txBody>
      </p:sp>
      <p:sp>
        <p:nvSpPr>
          <p:cNvPr id="67" name="Rectangle 66"/>
          <p:cNvSpPr/>
          <p:nvPr/>
        </p:nvSpPr>
        <p:spPr>
          <a:xfrm>
            <a:off x="8119871" y="5184648"/>
            <a:ext cx="3657600" cy="38404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202167" y="5248656"/>
            <a:ext cx="3511296" cy="292608"/>
          </a:xfrm>
          <a:prstGeom prst="rect">
            <a:avLst/>
          </a:prstGeom>
          <a:noFill/>
        </p:spPr>
        <p:txBody>
          <a:bodyPr wrap="square" anchor="t" lIns="0" rIns="0" tIns="0" bIns="0">
            <a:spAutoFit/>
          </a:bodyPr>
          <a:lstStyle/>
          <a:p>
            <a:pPr algn="l">
              <a:lnSpc>
                <a:spcPct val="100000"/>
              </a:lnSpc>
              <a:spcAft>
                <a:spcPts val="400"/>
              </a:spcAft>
            </a:pPr>
            <a:r>
              <a:rPr sz="1050" b="1" i="0">
                <a:solidFill>
                  <a:srgbClr val="2E8B57"/>
                </a:solidFill>
                <a:latin typeface="Calibri"/>
              </a:rPr>
              <a:t>None</a:t>
            </a:r>
          </a:p>
        </p:txBody>
      </p:sp>
      <p:sp>
        <p:nvSpPr>
          <p:cNvPr id="69" name="Rectangle 68"/>
          <p:cNvSpPr/>
          <p:nvPr/>
        </p:nvSpPr>
        <p:spPr>
          <a:xfrm>
            <a:off x="411480" y="5568696"/>
            <a:ext cx="4050791" cy="38404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93776" y="5632704"/>
            <a:ext cx="3904487" cy="29260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Reversibility if it disappoints</a:t>
            </a:r>
          </a:p>
        </p:txBody>
      </p:sp>
      <p:sp>
        <p:nvSpPr>
          <p:cNvPr id="71" name="Rectangle 70"/>
          <p:cNvSpPr/>
          <p:nvPr/>
        </p:nvSpPr>
        <p:spPr>
          <a:xfrm>
            <a:off x="4462271" y="5568696"/>
            <a:ext cx="3657600" cy="38404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4544567" y="5632704"/>
            <a:ext cx="3511296" cy="292608"/>
          </a:xfrm>
          <a:prstGeom prst="rect">
            <a:avLst/>
          </a:prstGeom>
          <a:noFill/>
        </p:spPr>
        <p:txBody>
          <a:bodyPr wrap="square" anchor="t" lIns="0" rIns="0" tIns="0" bIns="0">
            <a:spAutoFit/>
          </a:bodyPr>
          <a:lstStyle/>
          <a:p>
            <a:pPr algn="l">
              <a:lnSpc>
                <a:spcPct val="100000"/>
              </a:lnSpc>
              <a:spcAft>
                <a:spcPts val="400"/>
              </a:spcAft>
            </a:pPr>
            <a:r>
              <a:rPr sz="1050" b="0" i="0">
                <a:solidFill>
                  <a:srgbClr val="B7791F"/>
                </a:solidFill>
                <a:latin typeface="Calibri"/>
              </a:rPr>
              <a:t>Low — embedded in CAPEE</a:t>
            </a:r>
          </a:p>
        </p:txBody>
      </p:sp>
      <p:sp>
        <p:nvSpPr>
          <p:cNvPr id="73" name="Rectangle 72"/>
          <p:cNvSpPr/>
          <p:nvPr/>
        </p:nvSpPr>
        <p:spPr>
          <a:xfrm>
            <a:off x="8119871" y="5568696"/>
            <a:ext cx="3657600" cy="38404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202167" y="5632704"/>
            <a:ext cx="3511296" cy="292608"/>
          </a:xfrm>
          <a:prstGeom prst="rect">
            <a:avLst/>
          </a:prstGeom>
          <a:noFill/>
        </p:spPr>
        <p:txBody>
          <a:bodyPr wrap="square" anchor="t" lIns="0" rIns="0" tIns="0" bIns="0">
            <a:spAutoFit/>
          </a:bodyPr>
          <a:lstStyle/>
          <a:p>
            <a:pPr algn="l">
              <a:lnSpc>
                <a:spcPct val="100000"/>
              </a:lnSpc>
              <a:spcAft>
                <a:spcPts val="400"/>
              </a:spcAft>
            </a:pPr>
            <a:r>
              <a:rPr sz="1050" b="1" i="0">
                <a:solidFill>
                  <a:srgbClr val="2E8B57"/>
                </a:solidFill>
                <a:latin typeface="Calibri"/>
              </a:rPr>
              <a:t>High — switch it off</a:t>
            </a:r>
          </a:p>
        </p:txBody>
      </p:sp>
      <p:sp>
        <p:nvSpPr>
          <p:cNvPr id="75" name="Rounded Rectangle 74"/>
          <p:cNvSpPr/>
          <p:nvPr/>
        </p:nvSpPr>
        <p:spPr>
          <a:xfrm>
            <a:off x="411480" y="5943600"/>
            <a:ext cx="11365992" cy="658368"/>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411480" y="5943600"/>
            <a:ext cx="68580" cy="65836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630936" y="606247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Read the last two rows together</a:t>
            </a:r>
          </a:p>
        </p:txBody>
      </p:sp>
      <p:sp>
        <p:nvSpPr>
          <p:cNvPr id="78" name="TextBox 77"/>
          <p:cNvSpPr txBox="1"/>
          <p:nvPr/>
        </p:nvSpPr>
        <p:spPr>
          <a:xfrm>
            <a:off x="630936" y="6345936"/>
            <a:ext cx="10954512" cy="15544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Option 2 is reversible and produces evidence; Option 1 is neither, and depends on an answer JLR has not yet given. That asymmetry is the whole basis of the recommendation.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THE ANSWER</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Recommendation</a:t>
            </a:r>
          </a:p>
        </p:txBody>
      </p:sp>
      <p:sp>
        <p:nvSpPr>
          <p:cNvPr id="9" name="Rounded Rectangle 8"/>
          <p:cNvSpPr/>
          <p:nvPr/>
        </p:nvSpPr>
        <p:spPr>
          <a:xfrm>
            <a:off x="411480" y="1691640"/>
            <a:ext cx="11365992" cy="1051560"/>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691640"/>
            <a:ext cx="68580" cy="105156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 y="181051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E8B57"/>
                </a:solidFill>
                <a:latin typeface="Calibri"/>
              </a:rPr>
              <a:t>Run Option 2 first. Then Option 1, informed by what it teaches you.</a:t>
            </a:r>
          </a:p>
        </p:txBody>
      </p:sp>
      <p:sp>
        <p:nvSpPr>
          <p:cNvPr id="12" name="TextBox 11"/>
          <p:cNvSpPr txBox="1"/>
          <p:nvPr/>
        </p:nvSpPr>
        <p:spPr>
          <a:xfrm>
            <a:off x="630936" y="2093976"/>
            <a:ext cx="10954512" cy="54864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These are not competing options — they are sequential. Option 2 proves the engine against JLR reality inside a quarter, is reversible if it disappoints, and produces the calibration evidence that Option 1 needs but cannot generate for itself.</a:t>
            </a:r>
          </a:p>
        </p:txBody>
      </p:sp>
      <p:sp>
        <p:nvSpPr>
          <p:cNvPr id="13" name="Rounded Rectangle 12"/>
          <p:cNvSpPr/>
          <p:nvPr/>
        </p:nvSpPr>
        <p:spPr>
          <a:xfrm>
            <a:off x="411480" y="2926080"/>
            <a:ext cx="3657600" cy="2148840"/>
          </a:xfrm>
          <a:prstGeom prst="roundRect">
            <a:avLst>
              <a:gd name="adj" fmla="val 12000"/>
            </a:avLst>
          </a:prstGeom>
          <a:solidFill>
            <a:srgbClr val="EAF6E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1480" y="2926080"/>
            <a:ext cx="68580" cy="214884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2648" y="3054096"/>
            <a:ext cx="329184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Quarter 1 — Option 2</a:t>
            </a:r>
          </a:p>
        </p:txBody>
      </p:sp>
      <p:sp>
        <p:nvSpPr>
          <p:cNvPr id="16" name="TextBox 15"/>
          <p:cNvSpPr txBox="1"/>
          <p:nvPr/>
        </p:nvSpPr>
        <p:spPr>
          <a:xfrm>
            <a:off x="612648" y="3364992"/>
            <a:ext cx="3291840" cy="160020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Deploy inside JLR. Load JLR rates.</a:t>
            </a:r>
          </a:p>
          <a:p>
            <a:pPr algn="l">
              <a:lnSpc>
                <a:spcPct val="112000"/>
              </a:lnSpc>
              <a:spcAft>
                <a:spcPts val="300"/>
              </a:spcAft>
            </a:pPr>
            <a:r>
              <a:rPr sz="1050" b="0" i="0">
                <a:solidFill>
                  <a:srgbClr val="3A4356"/>
                </a:solidFill>
                <a:latin typeface="Calibri"/>
              </a:rPr>
              <a:t>Calibrate on 30–50 real parts.</a:t>
            </a:r>
          </a:p>
          <a:p>
            <a:pPr algn="l">
              <a:lnSpc>
                <a:spcPct val="112000"/>
              </a:lnSpc>
              <a:spcAft>
                <a:spcPts val="300"/>
              </a:spcAft>
            </a:pPr>
          </a:p>
          <a:p>
            <a:pPr algn="l">
              <a:lnSpc>
                <a:spcPct val="112000"/>
              </a:lnSpc>
              <a:spcAft>
                <a:spcPts val="300"/>
              </a:spcAft>
            </a:pPr>
            <a:r>
              <a:rPr sz="1050" b="1" i="0">
                <a:solidFill>
                  <a:srgbClr val="16325C"/>
                </a:solidFill>
                <a:latin typeface="Calibri"/>
              </a:rPr>
              <a:t>Outcome: a measured MAPE, and</a:t>
            </a:r>
          </a:p>
          <a:p>
            <a:pPr algn="l">
              <a:lnSpc>
                <a:spcPct val="112000"/>
              </a:lnSpc>
              <a:spcAft>
                <a:spcPts val="300"/>
              </a:spcAft>
            </a:pPr>
            <a:r>
              <a:rPr sz="1050" b="1" i="0">
                <a:solidFill>
                  <a:srgbClr val="16325C"/>
                </a:solidFill>
                <a:latin typeface="Calibri"/>
              </a:rPr>
              <a:t>a defensible answer to "how</a:t>
            </a:r>
          </a:p>
          <a:p>
            <a:pPr algn="l">
              <a:lnSpc>
                <a:spcPct val="112000"/>
              </a:lnSpc>
              <a:spcAft>
                <a:spcPts val="300"/>
              </a:spcAft>
            </a:pPr>
            <a:r>
              <a:rPr sz="1050" b="1" i="0">
                <a:solidFill>
                  <a:srgbClr val="16325C"/>
                </a:solidFill>
                <a:latin typeface="Calibri"/>
              </a:rPr>
              <a:t>accurate is it".</a:t>
            </a:r>
          </a:p>
        </p:txBody>
      </p:sp>
      <p:sp>
        <p:nvSpPr>
          <p:cNvPr id="17" name="Rounded Rectangle 16"/>
          <p:cNvSpPr/>
          <p:nvPr/>
        </p:nvSpPr>
        <p:spPr>
          <a:xfrm>
            <a:off x="4233672" y="2926080"/>
            <a:ext cx="3657600" cy="214884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33672" y="2926080"/>
            <a:ext cx="68580" cy="214884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3054096"/>
            <a:ext cx="329184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Quarter 2 — decide</a:t>
            </a:r>
          </a:p>
        </p:txBody>
      </p:sp>
      <p:sp>
        <p:nvSpPr>
          <p:cNvPr id="20" name="TextBox 19"/>
          <p:cNvSpPr txBox="1"/>
          <p:nvPr/>
        </p:nvSpPr>
        <p:spPr>
          <a:xfrm>
            <a:off x="4434840" y="3364992"/>
            <a:ext cx="3291840" cy="160020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Confirm CAPEE's stack.</a:t>
            </a:r>
          </a:p>
          <a:p>
            <a:pPr algn="l">
              <a:lnSpc>
                <a:spcPct val="112000"/>
              </a:lnSpc>
              <a:spcAft>
                <a:spcPts val="300"/>
              </a:spcAft>
            </a:pPr>
            <a:r>
              <a:rPr sz="1050" b="0" i="0">
                <a:solidFill>
                  <a:srgbClr val="3A4356"/>
                </a:solidFill>
                <a:latin typeface="Calibri"/>
              </a:rPr>
              <a:t>Review calibration results.</a:t>
            </a:r>
          </a:p>
          <a:p>
            <a:pPr algn="l">
              <a:lnSpc>
                <a:spcPct val="112000"/>
              </a:lnSpc>
              <a:spcAft>
                <a:spcPts val="300"/>
              </a:spcAft>
            </a:pPr>
          </a:p>
          <a:p>
            <a:pPr algn="l">
              <a:lnSpc>
                <a:spcPct val="112000"/>
              </a:lnSpc>
              <a:spcAft>
                <a:spcPts val="300"/>
              </a:spcAft>
            </a:pPr>
            <a:r>
              <a:rPr sz="1050" b="1" i="0">
                <a:solidFill>
                  <a:srgbClr val="16325C"/>
                </a:solidFill>
                <a:latin typeface="Calibri"/>
              </a:rPr>
              <a:t>If accuracy holds, Option 1</a:t>
            </a:r>
          </a:p>
          <a:p>
            <a:pPr algn="l">
              <a:lnSpc>
                <a:spcPct val="112000"/>
              </a:lnSpc>
              <a:spcAft>
                <a:spcPts val="300"/>
              </a:spcAft>
            </a:pPr>
            <a:r>
              <a:rPr sz="1050" b="1" i="0">
                <a:solidFill>
                  <a:srgbClr val="16325C"/>
                </a:solidFill>
                <a:latin typeface="Calibri"/>
              </a:rPr>
              <a:t>is a proven capability being</a:t>
            </a:r>
          </a:p>
          <a:p>
            <a:pPr algn="l">
              <a:lnSpc>
                <a:spcPct val="112000"/>
              </a:lnSpc>
              <a:spcAft>
                <a:spcPts val="300"/>
              </a:spcAft>
            </a:pPr>
            <a:r>
              <a:rPr sz="1050" b="1" i="0">
                <a:solidFill>
                  <a:srgbClr val="16325C"/>
                </a:solidFill>
                <a:latin typeface="Calibri"/>
              </a:rPr>
              <a:t>industrialised — not a bet.</a:t>
            </a:r>
          </a:p>
        </p:txBody>
      </p:sp>
      <p:sp>
        <p:nvSpPr>
          <p:cNvPr id="21" name="Rounded Rectangle 20"/>
          <p:cNvSpPr/>
          <p:nvPr/>
        </p:nvSpPr>
        <p:spPr>
          <a:xfrm>
            <a:off x="8055864" y="2926080"/>
            <a:ext cx="3721608" cy="214884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55864" y="2926080"/>
            <a:ext cx="68580" cy="214884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57032" y="3054096"/>
            <a:ext cx="3355848"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Quarter 3 — Option 1</a:t>
            </a:r>
          </a:p>
        </p:txBody>
      </p:sp>
      <p:sp>
        <p:nvSpPr>
          <p:cNvPr id="24" name="TextBox 23"/>
          <p:cNvSpPr txBox="1"/>
          <p:nvPr/>
        </p:nvSpPr>
        <p:spPr>
          <a:xfrm>
            <a:off x="8257032" y="3364992"/>
            <a:ext cx="3355848" cy="160020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Port extraction + guards into</a:t>
            </a:r>
          </a:p>
          <a:p>
            <a:pPr algn="l">
              <a:lnSpc>
                <a:spcPct val="112000"/>
              </a:lnSpc>
              <a:spcAft>
                <a:spcPts val="300"/>
              </a:spcAft>
            </a:pPr>
            <a:r>
              <a:rPr sz="1050" b="0" i="0">
                <a:solidFill>
                  <a:srgbClr val="3A4356"/>
                </a:solidFill>
                <a:latin typeface="Calibri"/>
              </a:rPr>
              <a:t>CAPEE, one commodity first.</a:t>
            </a:r>
          </a:p>
          <a:p>
            <a:pPr algn="l">
              <a:lnSpc>
                <a:spcPct val="112000"/>
              </a:lnSpc>
              <a:spcAft>
                <a:spcPts val="300"/>
              </a:spcAft>
            </a:pPr>
          </a:p>
          <a:p>
            <a:pPr algn="l">
              <a:lnSpc>
                <a:spcPct val="112000"/>
              </a:lnSpc>
              <a:spcAft>
                <a:spcPts val="300"/>
              </a:spcAft>
            </a:pPr>
            <a:r>
              <a:rPr sz="1050" b="1" i="0">
                <a:solidFill>
                  <a:srgbClr val="16325C"/>
                </a:solidFill>
                <a:latin typeface="Calibri"/>
              </a:rPr>
              <a:t>CAPEE gains automatic input</a:t>
            </a:r>
          </a:p>
          <a:p>
            <a:pPr algn="l">
              <a:lnSpc>
                <a:spcPct val="112000"/>
              </a:lnSpc>
              <a:spcAft>
                <a:spcPts val="300"/>
              </a:spcAft>
            </a:pPr>
            <a:r>
              <a:rPr sz="1050" b="1" i="0">
                <a:solidFill>
                  <a:srgbClr val="16325C"/>
                </a:solidFill>
                <a:latin typeface="Calibri"/>
              </a:rPr>
              <a:t>with the accuracy question</a:t>
            </a:r>
          </a:p>
          <a:p>
            <a:pPr algn="l">
              <a:lnSpc>
                <a:spcPct val="112000"/>
              </a:lnSpc>
              <a:spcAft>
                <a:spcPts val="300"/>
              </a:spcAft>
            </a:pPr>
            <a:r>
              <a:rPr sz="1050" b="1" i="0">
                <a:solidFill>
                  <a:srgbClr val="16325C"/>
                </a:solidFill>
                <a:latin typeface="Calibri"/>
              </a:rPr>
              <a:t>already answered.</a:t>
            </a:r>
          </a:p>
        </p:txBody>
      </p:sp>
      <p:sp>
        <p:nvSpPr>
          <p:cNvPr id="25" name="Rounded Rectangle 24"/>
          <p:cNvSpPr/>
          <p:nvPr/>
        </p:nvSpPr>
        <p:spPr>
          <a:xfrm>
            <a:off x="411480" y="5257800"/>
            <a:ext cx="11365992" cy="96012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5257800"/>
            <a:ext cx="68580" cy="96012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0936" y="537667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7791F"/>
                </a:solidFill>
                <a:latin typeface="Calibri"/>
              </a:rPr>
              <a:t>If JLR must choose only one</a:t>
            </a:r>
          </a:p>
        </p:txBody>
      </p:sp>
      <p:sp>
        <p:nvSpPr>
          <p:cNvPr id="28" name="TextBox 27"/>
          <p:cNvSpPr txBox="1"/>
          <p:nvPr/>
        </p:nvSpPr>
        <p:spPr>
          <a:xfrm>
            <a:off x="630936" y="5660136"/>
            <a:ext cx="10954512" cy="45720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Choose Option 2. It is cheaper, faster, reversible, needs no answer about CAPEE's internals, and delivers the full engine including the physics checks and provenance that make an estimate defensible in front of a supplier. Option 1 delivers convenience; Option 2 delivers capability.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HONEST ASSESSMENT</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Risks and prerequisites — stated plainly</a:t>
            </a:r>
          </a:p>
        </p:txBody>
      </p:sp>
      <p:sp>
        <p:nvSpPr>
          <p:cNvPr id="9" name="Rectangle 8"/>
          <p:cNvSpPr/>
          <p:nvPr/>
        </p:nvSpPr>
        <p:spPr>
          <a:xfrm>
            <a:off x="411480" y="1783080"/>
            <a:ext cx="265176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3776" y="1865376"/>
            <a:ext cx="250545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Risk</a:t>
            </a:r>
          </a:p>
        </p:txBody>
      </p:sp>
      <p:sp>
        <p:nvSpPr>
          <p:cNvPr id="11" name="Rectangle 10"/>
          <p:cNvSpPr/>
          <p:nvPr/>
        </p:nvSpPr>
        <p:spPr>
          <a:xfrm>
            <a:off x="3063240" y="1783080"/>
            <a:ext cx="114300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145536" y="1865376"/>
            <a:ext cx="99669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Applies to</a:t>
            </a:r>
          </a:p>
        </p:txBody>
      </p:sp>
      <p:sp>
        <p:nvSpPr>
          <p:cNvPr id="13" name="Rectangle 12"/>
          <p:cNvSpPr/>
          <p:nvPr/>
        </p:nvSpPr>
        <p:spPr>
          <a:xfrm>
            <a:off x="4206240" y="1783080"/>
            <a:ext cx="638251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88536" y="1865376"/>
            <a:ext cx="623620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Detail and mitigation</a:t>
            </a:r>
          </a:p>
        </p:txBody>
      </p:sp>
      <p:sp>
        <p:nvSpPr>
          <p:cNvPr id="15" name="Rectangle 14"/>
          <p:cNvSpPr/>
          <p:nvPr/>
        </p:nvSpPr>
        <p:spPr>
          <a:xfrm>
            <a:off x="10588752" y="1783080"/>
            <a:ext cx="118872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71048" y="1865376"/>
            <a:ext cx="104241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Severity</a:t>
            </a:r>
          </a:p>
        </p:txBody>
      </p:sp>
      <p:sp>
        <p:nvSpPr>
          <p:cNvPr id="17" name="Rectangle 16"/>
          <p:cNvSpPr/>
          <p:nvPr/>
        </p:nvSpPr>
        <p:spPr>
          <a:xfrm>
            <a:off x="411480" y="2112264"/>
            <a:ext cx="2651760" cy="65836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3776" y="2176272"/>
            <a:ext cx="2505456" cy="566928"/>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No validated accuracy today</a:t>
            </a:r>
          </a:p>
        </p:txBody>
      </p:sp>
      <p:sp>
        <p:nvSpPr>
          <p:cNvPr id="19" name="Rectangle 18"/>
          <p:cNvSpPr/>
          <p:nvPr/>
        </p:nvSpPr>
        <p:spPr>
          <a:xfrm>
            <a:off x="3063240" y="2112264"/>
            <a:ext cx="1143000" cy="65836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145536" y="2176272"/>
            <a:ext cx="996696" cy="566928"/>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Both</a:t>
            </a:r>
          </a:p>
        </p:txBody>
      </p:sp>
      <p:sp>
        <p:nvSpPr>
          <p:cNvPr id="21" name="Rectangle 20"/>
          <p:cNvSpPr/>
          <p:nvPr/>
        </p:nvSpPr>
        <p:spPr>
          <a:xfrm>
            <a:off x="4206240" y="2112264"/>
            <a:ext cx="6382512" cy="65836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88536" y="2176272"/>
            <a:ext cx="6236208" cy="566928"/>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The accuracy harness contains five placeholder rows, not real quotes. Nothing can be represented as quotable until JLR loads actuals.</a:t>
            </a:r>
          </a:p>
        </p:txBody>
      </p:sp>
      <p:sp>
        <p:nvSpPr>
          <p:cNvPr id="23" name="Rectangle 22"/>
          <p:cNvSpPr/>
          <p:nvPr/>
        </p:nvSpPr>
        <p:spPr>
          <a:xfrm>
            <a:off x="10588752" y="2112264"/>
            <a:ext cx="1188720" cy="65836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671048" y="2176272"/>
            <a:ext cx="1042416" cy="566928"/>
          </a:xfrm>
          <a:prstGeom prst="rect">
            <a:avLst/>
          </a:prstGeom>
          <a:noFill/>
        </p:spPr>
        <p:txBody>
          <a:bodyPr wrap="square" anchor="t" lIns="0" rIns="0" tIns="0" bIns="0">
            <a:spAutoFit/>
          </a:bodyPr>
          <a:lstStyle/>
          <a:p>
            <a:pPr algn="l">
              <a:lnSpc>
                <a:spcPct val="100000"/>
              </a:lnSpc>
              <a:spcAft>
                <a:spcPts val="400"/>
              </a:spcAft>
            </a:pPr>
            <a:r>
              <a:rPr sz="980" b="1" i="0">
                <a:solidFill>
                  <a:srgbClr val="B03A2E"/>
                </a:solidFill>
                <a:latin typeface="Calibri"/>
              </a:rPr>
              <a:t>Critical</a:t>
            </a:r>
          </a:p>
        </p:txBody>
      </p:sp>
      <p:sp>
        <p:nvSpPr>
          <p:cNvPr id="25" name="Rectangle 24"/>
          <p:cNvSpPr/>
          <p:nvPr/>
        </p:nvSpPr>
        <p:spPr>
          <a:xfrm>
            <a:off x="411480" y="2770632"/>
            <a:ext cx="2651760" cy="65836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3776" y="2834640"/>
            <a:ext cx="2505456" cy="566928"/>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No rate versioning</a:t>
            </a:r>
          </a:p>
        </p:txBody>
      </p:sp>
      <p:sp>
        <p:nvSpPr>
          <p:cNvPr id="27" name="Rectangle 26"/>
          <p:cNvSpPr/>
          <p:nvPr/>
        </p:nvSpPr>
        <p:spPr>
          <a:xfrm>
            <a:off x="3063240" y="2770632"/>
            <a:ext cx="1143000" cy="65836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145536" y="2834640"/>
            <a:ext cx="996696" cy="566928"/>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Option 2</a:t>
            </a:r>
          </a:p>
        </p:txBody>
      </p:sp>
      <p:sp>
        <p:nvSpPr>
          <p:cNvPr id="29" name="Rectangle 28"/>
          <p:cNvSpPr/>
          <p:nvPr/>
        </p:nvSpPr>
        <p:spPr>
          <a:xfrm>
            <a:off x="4206240" y="2770632"/>
            <a:ext cx="6382512" cy="65836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88536" y="2834640"/>
            <a:ext cx="6236208" cy="566928"/>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Rates are a single-row overwrite with no history, and costings are not persisted. A cost cannot be reproduced or audited after the fact.</a:t>
            </a:r>
          </a:p>
        </p:txBody>
      </p:sp>
      <p:sp>
        <p:nvSpPr>
          <p:cNvPr id="31" name="Rectangle 30"/>
          <p:cNvSpPr/>
          <p:nvPr/>
        </p:nvSpPr>
        <p:spPr>
          <a:xfrm>
            <a:off x="10588752" y="2770632"/>
            <a:ext cx="1188720" cy="65836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671048" y="2834640"/>
            <a:ext cx="1042416" cy="566928"/>
          </a:xfrm>
          <a:prstGeom prst="rect">
            <a:avLst/>
          </a:prstGeom>
          <a:noFill/>
        </p:spPr>
        <p:txBody>
          <a:bodyPr wrap="square" anchor="t" lIns="0" rIns="0" tIns="0" bIns="0">
            <a:spAutoFit/>
          </a:bodyPr>
          <a:lstStyle/>
          <a:p>
            <a:pPr algn="l">
              <a:lnSpc>
                <a:spcPct val="100000"/>
              </a:lnSpc>
              <a:spcAft>
                <a:spcPts val="400"/>
              </a:spcAft>
            </a:pPr>
            <a:r>
              <a:rPr sz="980" b="1" i="0">
                <a:solidFill>
                  <a:srgbClr val="B03A2E"/>
                </a:solidFill>
                <a:latin typeface="Calibri"/>
              </a:rPr>
              <a:t>High</a:t>
            </a:r>
          </a:p>
        </p:txBody>
      </p:sp>
      <p:sp>
        <p:nvSpPr>
          <p:cNvPr id="33" name="Rectangle 32"/>
          <p:cNvSpPr/>
          <p:nvPr/>
        </p:nvSpPr>
        <p:spPr>
          <a:xfrm>
            <a:off x="411480" y="3429000"/>
            <a:ext cx="2651760" cy="65836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93776" y="3493008"/>
            <a:ext cx="2505456" cy="566928"/>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CAPEE stack unknown</a:t>
            </a:r>
          </a:p>
        </p:txBody>
      </p:sp>
      <p:sp>
        <p:nvSpPr>
          <p:cNvPr id="35" name="Rectangle 34"/>
          <p:cNvSpPr/>
          <p:nvPr/>
        </p:nvSpPr>
        <p:spPr>
          <a:xfrm>
            <a:off x="3063240" y="3429000"/>
            <a:ext cx="1143000" cy="65836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145536" y="3493008"/>
            <a:ext cx="996696" cy="566928"/>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Option 1</a:t>
            </a:r>
          </a:p>
        </p:txBody>
      </p:sp>
      <p:sp>
        <p:nvSpPr>
          <p:cNvPr id="37" name="Rectangle 36"/>
          <p:cNvSpPr/>
          <p:nvPr/>
        </p:nvSpPr>
        <p:spPr>
          <a:xfrm>
            <a:off x="4206240" y="3429000"/>
            <a:ext cx="6382512" cy="65836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288536" y="3493008"/>
            <a:ext cx="6236208" cy="566928"/>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Blocks the integration-pattern choice and the firm effort figure. Needs a JLR answer before Phase 0 can close.</a:t>
            </a:r>
          </a:p>
        </p:txBody>
      </p:sp>
      <p:sp>
        <p:nvSpPr>
          <p:cNvPr id="39" name="Rectangle 38"/>
          <p:cNvSpPr/>
          <p:nvPr/>
        </p:nvSpPr>
        <p:spPr>
          <a:xfrm>
            <a:off x="10588752" y="3429000"/>
            <a:ext cx="1188720" cy="65836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671048" y="3493008"/>
            <a:ext cx="1042416" cy="566928"/>
          </a:xfrm>
          <a:prstGeom prst="rect">
            <a:avLst/>
          </a:prstGeom>
          <a:noFill/>
        </p:spPr>
        <p:txBody>
          <a:bodyPr wrap="square" anchor="t" lIns="0" rIns="0" tIns="0" bIns="0">
            <a:spAutoFit/>
          </a:bodyPr>
          <a:lstStyle/>
          <a:p>
            <a:pPr algn="l">
              <a:lnSpc>
                <a:spcPct val="100000"/>
              </a:lnSpc>
              <a:spcAft>
                <a:spcPts val="400"/>
              </a:spcAft>
            </a:pPr>
            <a:r>
              <a:rPr sz="980" b="1" i="0">
                <a:solidFill>
                  <a:srgbClr val="B7791F"/>
                </a:solidFill>
                <a:latin typeface="Calibri"/>
              </a:rPr>
              <a:t>High</a:t>
            </a:r>
          </a:p>
        </p:txBody>
      </p:sp>
      <p:sp>
        <p:nvSpPr>
          <p:cNvPr id="41" name="Rectangle 40"/>
          <p:cNvSpPr/>
          <p:nvPr/>
        </p:nvSpPr>
        <p:spPr>
          <a:xfrm>
            <a:off x="411480" y="4087368"/>
            <a:ext cx="2651760" cy="65836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93776" y="4151376"/>
            <a:ext cx="2505456" cy="566928"/>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Rate data is representative</a:t>
            </a:r>
          </a:p>
        </p:txBody>
      </p:sp>
      <p:sp>
        <p:nvSpPr>
          <p:cNvPr id="43" name="Rectangle 42"/>
          <p:cNvSpPr/>
          <p:nvPr/>
        </p:nvSpPr>
        <p:spPr>
          <a:xfrm>
            <a:off x="3063240" y="4087368"/>
            <a:ext cx="1143000" cy="65836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145536" y="4151376"/>
            <a:ext cx="996696" cy="566928"/>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Both</a:t>
            </a:r>
          </a:p>
        </p:txBody>
      </p:sp>
      <p:sp>
        <p:nvSpPr>
          <p:cNvPr id="45" name="Rectangle 44"/>
          <p:cNvSpPr/>
          <p:nvPr/>
        </p:nvSpPr>
        <p:spPr>
          <a:xfrm>
            <a:off x="4206240" y="4087368"/>
            <a:ext cx="6382512" cy="65836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288536" y="4151376"/>
            <a:ext cx="6236208" cy="566928"/>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Supplied constants are engineering estimates, not plant measurements. Replacing them is the point of Phase 2 / Phase 3.</a:t>
            </a:r>
          </a:p>
        </p:txBody>
      </p:sp>
      <p:sp>
        <p:nvSpPr>
          <p:cNvPr id="47" name="Rectangle 46"/>
          <p:cNvSpPr/>
          <p:nvPr/>
        </p:nvSpPr>
        <p:spPr>
          <a:xfrm>
            <a:off x="10588752" y="4087368"/>
            <a:ext cx="1188720" cy="65836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671048" y="4151376"/>
            <a:ext cx="1042416" cy="566928"/>
          </a:xfrm>
          <a:prstGeom prst="rect">
            <a:avLst/>
          </a:prstGeom>
          <a:noFill/>
        </p:spPr>
        <p:txBody>
          <a:bodyPr wrap="square" anchor="t" lIns="0" rIns="0" tIns="0" bIns="0">
            <a:spAutoFit/>
          </a:bodyPr>
          <a:lstStyle/>
          <a:p>
            <a:pPr algn="l">
              <a:lnSpc>
                <a:spcPct val="100000"/>
              </a:lnSpc>
              <a:spcAft>
                <a:spcPts val="400"/>
              </a:spcAft>
            </a:pPr>
            <a:r>
              <a:rPr sz="980" b="1" i="0">
                <a:solidFill>
                  <a:srgbClr val="B7791F"/>
                </a:solidFill>
                <a:latin typeface="Calibri"/>
              </a:rPr>
              <a:t>Medium</a:t>
            </a:r>
          </a:p>
        </p:txBody>
      </p:sp>
      <p:sp>
        <p:nvSpPr>
          <p:cNvPr id="49" name="Rectangle 48"/>
          <p:cNvSpPr/>
          <p:nvPr/>
        </p:nvSpPr>
        <p:spPr>
          <a:xfrm>
            <a:off x="411480" y="4745736"/>
            <a:ext cx="2651760" cy="65836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93776" y="4809744"/>
            <a:ext cx="2505456" cy="566928"/>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OCCT needs glibc</a:t>
            </a:r>
          </a:p>
        </p:txBody>
      </p:sp>
      <p:sp>
        <p:nvSpPr>
          <p:cNvPr id="51" name="Rectangle 50"/>
          <p:cNvSpPr/>
          <p:nvPr/>
        </p:nvSpPr>
        <p:spPr>
          <a:xfrm>
            <a:off x="3063240" y="4745736"/>
            <a:ext cx="1143000" cy="65836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145536" y="4809744"/>
            <a:ext cx="996696" cy="566928"/>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Option 1</a:t>
            </a:r>
          </a:p>
        </p:txBody>
      </p:sp>
      <p:sp>
        <p:nvSpPr>
          <p:cNvPr id="53" name="Rectangle 52"/>
          <p:cNvSpPr/>
          <p:nvPr/>
        </p:nvSpPr>
        <p:spPr>
          <a:xfrm>
            <a:off x="4206240" y="4745736"/>
            <a:ext cx="6382512" cy="65836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288536" y="4809744"/>
            <a:ext cx="6236208" cy="566928"/>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The geometry kernel cannot run on Alpine. Confirm JLR's container platform permits glibc images.</a:t>
            </a:r>
          </a:p>
        </p:txBody>
      </p:sp>
      <p:sp>
        <p:nvSpPr>
          <p:cNvPr id="55" name="Rectangle 54"/>
          <p:cNvSpPr/>
          <p:nvPr/>
        </p:nvSpPr>
        <p:spPr>
          <a:xfrm>
            <a:off x="10588752" y="4745736"/>
            <a:ext cx="1188720" cy="65836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671048" y="4809744"/>
            <a:ext cx="1042416" cy="566928"/>
          </a:xfrm>
          <a:prstGeom prst="rect">
            <a:avLst/>
          </a:prstGeom>
          <a:noFill/>
        </p:spPr>
        <p:txBody>
          <a:bodyPr wrap="square" anchor="t" lIns="0" rIns="0" tIns="0" bIns="0">
            <a:spAutoFit/>
          </a:bodyPr>
          <a:lstStyle/>
          <a:p>
            <a:pPr algn="l">
              <a:lnSpc>
                <a:spcPct val="100000"/>
              </a:lnSpc>
              <a:spcAft>
                <a:spcPts val="400"/>
              </a:spcAft>
            </a:pPr>
            <a:r>
              <a:rPr sz="980" b="1" i="0">
                <a:solidFill>
                  <a:srgbClr val="B7791F"/>
                </a:solidFill>
                <a:latin typeface="Calibri"/>
              </a:rPr>
              <a:t>Medium</a:t>
            </a:r>
          </a:p>
        </p:txBody>
      </p:sp>
      <p:sp>
        <p:nvSpPr>
          <p:cNvPr id="57" name="Rectangle 56"/>
          <p:cNvSpPr/>
          <p:nvPr/>
        </p:nvSpPr>
        <p:spPr>
          <a:xfrm>
            <a:off x="411480" y="5404104"/>
            <a:ext cx="2651760" cy="65836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93776" y="5468112"/>
            <a:ext cx="2505456" cy="566928"/>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LLM egress governance</a:t>
            </a:r>
          </a:p>
        </p:txBody>
      </p:sp>
      <p:sp>
        <p:nvSpPr>
          <p:cNvPr id="59" name="Rectangle 58"/>
          <p:cNvSpPr/>
          <p:nvPr/>
        </p:nvSpPr>
        <p:spPr>
          <a:xfrm>
            <a:off x="3063240" y="5404104"/>
            <a:ext cx="1143000" cy="65836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3145536" y="5468112"/>
            <a:ext cx="996696" cy="566928"/>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Both</a:t>
            </a:r>
          </a:p>
        </p:txBody>
      </p:sp>
      <p:sp>
        <p:nvSpPr>
          <p:cNvPr id="61" name="Rectangle 60"/>
          <p:cNvSpPr/>
          <p:nvPr/>
        </p:nvSpPr>
        <p:spPr>
          <a:xfrm>
            <a:off x="4206240" y="5404104"/>
            <a:ext cx="6382512" cy="65836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288536" y="5468112"/>
            <a:ext cx="6236208" cy="566928"/>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Drawing reads send derived text to a model. Must route via JLR's gateway with zero-retention. CAD files themselves never leave.</a:t>
            </a:r>
          </a:p>
        </p:txBody>
      </p:sp>
      <p:sp>
        <p:nvSpPr>
          <p:cNvPr id="63" name="Rectangle 62"/>
          <p:cNvSpPr/>
          <p:nvPr/>
        </p:nvSpPr>
        <p:spPr>
          <a:xfrm>
            <a:off x="10588752" y="5404104"/>
            <a:ext cx="1188720" cy="65836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0671048" y="5468112"/>
            <a:ext cx="1042416" cy="566928"/>
          </a:xfrm>
          <a:prstGeom prst="rect">
            <a:avLst/>
          </a:prstGeom>
          <a:noFill/>
        </p:spPr>
        <p:txBody>
          <a:bodyPr wrap="square" anchor="t" lIns="0" rIns="0" tIns="0" bIns="0">
            <a:spAutoFit/>
          </a:bodyPr>
          <a:lstStyle/>
          <a:p>
            <a:pPr algn="l">
              <a:lnSpc>
                <a:spcPct val="100000"/>
              </a:lnSpc>
              <a:spcAft>
                <a:spcPts val="400"/>
              </a:spcAft>
            </a:pPr>
            <a:r>
              <a:rPr sz="980" b="1" i="0">
                <a:solidFill>
                  <a:srgbClr val="B7791F"/>
                </a:solidFill>
                <a:latin typeface="Calibri"/>
              </a:rPr>
              <a:t>Medium</a:t>
            </a:r>
          </a:p>
        </p:txBody>
      </p:sp>
      <p:sp>
        <p:nvSpPr>
          <p:cNvPr id="65" name="Rounded Rectangle 64"/>
          <p:cNvSpPr/>
          <p:nvPr/>
        </p:nvSpPr>
        <p:spPr>
          <a:xfrm>
            <a:off x="411480" y="5943600"/>
            <a:ext cx="11365992" cy="658368"/>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411480" y="5943600"/>
            <a:ext cx="68580" cy="65836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30936" y="606247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Why these are on a slide rather than in an appendix</a:t>
            </a:r>
          </a:p>
        </p:txBody>
      </p:sp>
      <p:sp>
        <p:nvSpPr>
          <p:cNvPr id="68" name="TextBox 67"/>
          <p:cNvSpPr txBox="1"/>
          <p:nvPr/>
        </p:nvSpPr>
        <p:spPr>
          <a:xfrm>
            <a:off x="630936" y="6345936"/>
            <a:ext cx="10954512" cy="15544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A cost tool earns trust by declaring what it does not know. Every one of these is fixable, and three of them are fixed by simply doing Option 2 Phase 3 first.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NEXT STEPS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we need from JLR to proceed</a:t>
            </a:r>
          </a:p>
        </p:txBody>
      </p:sp>
      <p:sp>
        <p:nvSpPr>
          <p:cNvPr id="9" name="Rounded Rectangle 8"/>
          <p:cNvSpPr/>
          <p:nvPr/>
        </p:nvSpPr>
        <p:spPr>
          <a:xfrm>
            <a:off x="411480" y="1737360"/>
            <a:ext cx="11365992" cy="1033271"/>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737360"/>
            <a:ext cx="68580" cy="1033271"/>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1792" y="1975104"/>
            <a:ext cx="548640" cy="548640"/>
          </a:xfrm>
          <a:prstGeom prst="roundRect">
            <a:avLst>
              <a:gd name="adj" fmla="val 30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900" b="1">
                <a:solidFill>
                  <a:srgbClr val="FFFFFF"/>
                </a:solidFill>
                <a:latin typeface="Calibri"/>
              </a:rPr>
              <a:t>1</a:t>
            </a:r>
          </a:p>
        </p:txBody>
      </p:sp>
      <p:sp>
        <p:nvSpPr>
          <p:cNvPr id="12" name="TextBox 11"/>
          <p:cNvSpPr txBox="1"/>
          <p:nvPr/>
        </p:nvSpPr>
        <p:spPr>
          <a:xfrm>
            <a:off x="1353312" y="1892808"/>
            <a:ext cx="102412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CAPEE technology stack</a:t>
            </a:r>
          </a:p>
        </p:txBody>
      </p:sp>
      <p:sp>
        <p:nvSpPr>
          <p:cNvPr id="13" name="TextBox 12"/>
          <p:cNvSpPr txBox="1"/>
          <p:nvPr/>
        </p:nvSpPr>
        <p:spPr>
          <a:xfrm>
            <a:off x="1353312" y="2212848"/>
            <a:ext cx="10241280" cy="502920"/>
          </a:xfrm>
          <a:prstGeom prst="rect">
            <a:avLst/>
          </a:prstGeom>
          <a:noFill/>
        </p:spPr>
        <p:txBody>
          <a:bodyPr wrap="square" anchor="t" lIns="0" rIns="0" tIns="0" bIns="0">
            <a:spAutoFit/>
          </a:bodyPr>
          <a:lstStyle/>
          <a:p>
            <a:pPr algn="l">
              <a:lnSpc>
                <a:spcPct val="114000"/>
              </a:lnSpc>
              <a:spcAft>
                <a:spcPts val="400"/>
              </a:spcAft>
            </a:pPr>
            <a:r>
              <a:rPr sz="1050" b="0" i="0">
                <a:solidFill>
                  <a:srgbClr val="3A4356"/>
                </a:solidFill>
                <a:latin typeface="Calibri"/>
              </a:rPr>
              <a:t>Backend language and framework, container platform, whether glibc images are permitted, and whether CAPEE can make outbound service calls. Unblocks the Option 1 pattern choice and firms the effort figure.</a:t>
            </a:r>
          </a:p>
        </p:txBody>
      </p:sp>
      <p:sp>
        <p:nvSpPr>
          <p:cNvPr id="14" name="Rounded Rectangle 13"/>
          <p:cNvSpPr/>
          <p:nvPr/>
        </p:nvSpPr>
        <p:spPr>
          <a:xfrm>
            <a:off x="411480" y="2880360"/>
            <a:ext cx="11365992" cy="1033271"/>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2880360"/>
            <a:ext cx="68580" cy="1033271"/>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 y="3118104"/>
            <a:ext cx="548640" cy="548640"/>
          </a:xfrm>
          <a:prstGeom prst="roundRect">
            <a:avLst>
              <a:gd name="adj" fmla="val 30000"/>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900" b="1">
                <a:solidFill>
                  <a:srgbClr val="FFFFFF"/>
                </a:solidFill>
                <a:latin typeface="Calibri"/>
              </a:rPr>
              <a:t>2</a:t>
            </a:r>
          </a:p>
        </p:txBody>
      </p:sp>
      <p:sp>
        <p:nvSpPr>
          <p:cNvPr id="17" name="TextBox 16"/>
          <p:cNvSpPr txBox="1"/>
          <p:nvPr/>
        </p:nvSpPr>
        <p:spPr>
          <a:xfrm>
            <a:off x="1353312" y="3035808"/>
            <a:ext cx="102412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30–50 real parts with actual paid prices</a:t>
            </a:r>
          </a:p>
        </p:txBody>
      </p:sp>
      <p:sp>
        <p:nvSpPr>
          <p:cNvPr id="18" name="TextBox 17"/>
          <p:cNvSpPr txBox="1"/>
          <p:nvPr/>
        </p:nvSpPr>
        <p:spPr>
          <a:xfrm>
            <a:off x="1353312" y="3355848"/>
            <a:ext cx="10241280" cy="502920"/>
          </a:xfrm>
          <a:prstGeom prst="rect">
            <a:avLst/>
          </a:prstGeom>
          <a:noFill/>
        </p:spPr>
        <p:txBody>
          <a:bodyPr wrap="square" anchor="t" lIns="0" rIns="0" tIns="0" bIns="0">
            <a:spAutoFit/>
          </a:bodyPr>
          <a:lstStyle/>
          <a:p>
            <a:pPr algn="l">
              <a:lnSpc>
                <a:spcPct val="114000"/>
              </a:lnSpc>
              <a:spcAft>
                <a:spcPts val="400"/>
              </a:spcAft>
            </a:pPr>
            <a:r>
              <a:rPr sz="1050" b="0" i="0">
                <a:solidFill>
                  <a:srgbClr val="3A4356"/>
                </a:solidFill>
                <a:latin typeface="Calibri"/>
              </a:rPr>
              <a:t>Part, commodity, volume, region, and the price actually paid. This is the single highest-value input available and it gates both options. Historic PO data is sufficient.</a:t>
            </a:r>
          </a:p>
        </p:txBody>
      </p:sp>
      <p:sp>
        <p:nvSpPr>
          <p:cNvPr id="19" name="Rounded Rectangle 18"/>
          <p:cNvSpPr/>
          <p:nvPr/>
        </p:nvSpPr>
        <p:spPr>
          <a:xfrm>
            <a:off x="411480" y="4023360"/>
            <a:ext cx="11365992" cy="1033271"/>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4023360"/>
            <a:ext cx="68580" cy="1033271"/>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21792" y="4261104"/>
            <a:ext cx="548640" cy="548640"/>
          </a:xfrm>
          <a:prstGeom prst="roundRect">
            <a:avLst>
              <a:gd name="adj" fmla="val 30000"/>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900" b="1">
                <a:solidFill>
                  <a:srgbClr val="FFFFFF"/>
                </a:solidFill>
                <a:latin typeface="Calibri"/>
              </a:rPr>
              <a:t>3</a:t>
            </a:r>
          </a:p>
        </p:txBody>
      </p:sp>
      <p:sp>
        <p:nvSpPr>
          <p:cNvPr id="22" name="TextBox 21"/>
          <p:cNvSpPr txBox="1"/>
          <p:nvPr/>
        </p:nvSpPr>
        <p:spPr>
          <a:xfrm>
            <a:off x="1353312" y="4178808"/>
            <a:ext cx="102412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JLR rate data</a:t>
            </a:r>
          </a:p>
        </p:txBody>
      </p:sp>
      <p:sp>
        <p:nvSpPr>
          <p:cNvPr id="23" name="TextBox 22"/>
          <p:cNvSpPr txBox="1"/>
          <p:nvPr/>
        </p:nvSpPr>
        <p:spPr>
          <a:xfrm>
            <a:off x="1353312" y="4498848"/>
            <a:ext cx="10241280" cy="502920"/>
          </a:xfrm>
          <a:prstGeom prst="rect">
            <a:avLst/>
          </a:prstGeom>
          <a:noFill/>
        </p:spPr>
        <p:txBody>
          <a:bodyPr wrap="square" anchor="t" lIns="0" rIns="0" tIns="0" bIns="0">
            <a:spAutoFit/>
          </a:bodyPr>
          <a:lstStyle/>
          <a:p>
            <a:pPr algn="l">
              <a:lnSpc>
                <a:spcPct val="114000"/>
              </a:lnSpc>
              <a:spcAft>
                <a:spcPts val="400"/>
              </a:spcAft>
            </a:pPr>
            <a:r>
              <a:rPr sz="1050" b="0" i="0">
                <a:solidFill>
                  <a:srgbClr val="3A4356"/>
                </a:solidFill>
                <a:latin typeface="Calibri"/>
              </a:rPr>
              <a:t>Materials, machine rates or their build-ups, labour by grade, energy tariffs, overhead and margin policy. Phase 2 of Option 2 and the thing that makes any number JLR-specific.</a:t>
            </a:r>
          </a:p>
        </p:txBody>
      </p:sp>
      <p:sp>
        <p:nvSpPr>
          <p:cNvPr id="24" name="Rounded Rectangle 23"/>
          <p:cNvSpPr/>
          <p:nvPr/>
        </p:nvSpPr>
        <p:spPr>
          <a:xfrm>
            <a:off x="411480" y="5166360"/>
            <a:ext cx="11365992" cy="1033271"/>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5166360"/>
            <a:ext cx="68580" cy="1033271"/>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21792" y="5404104"/>
            <a:ext cx="548640" cy="548640"/>
          </a:xfrm>
          <a:prstGeom prst="roundRect">
            <a:avLst>
              <a:gd name="adj" fmla="val 30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900" b="1">
                <a:solidFill>
                  <a:srgbClr val="FFFFFF"/>
                </a:solidFill>
                <a:latin typeface="Calibri"/>
              </a:rPr>
              <a:t>4</a:t>
            </a:r>
          </a:p>
        </p:txBody>
      </p:sp>
      <p:sp>
        <p:nvSpPr>
          <p:cNvPr id="27" name="TextBox 26"/>
          <p:cNvSpPr txBox="1"/>
          <p:nvPr/>
        </p:nvSpPr>
        <p:spPr>
          <a:xfrm>
            <a:off x="1353312" y="5321808"/>
            <a:ext cx="102412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Security posture decision</a:t>
            </a:r>
          </a:p>
        </p:txBody>
      </p:sp>
      <p:sp>
        <p:nvSpPr>
          <p:cNvPr id="28" name="TextBox 27"/>
          <p:cNvSpPr txBox="1"/>
          <p:nvPr/>
        </p:nvSpPr>
        <p:spPr>
          <a:xfrm>
            <a:off x="1353312" y="5641848"/>
            <a:ext cx="10241280" cy="502920"/>
          </a:xfrm>
          <a:prstGeom prst="rect">
            <a:avLst/>
          </a:prstGeom>
          <a:noFill/>
        </p:spPr>
        <p:txBody>
          <a:bodyPr wrap="square" anchor="t" lIns="0" rIns="0" tIns="0" bIns="0">
            <a:spAutoFit/>
          </a:bodyPr>
          <a:lstStyle/>
          <a:p>
            <a:pPr algn="l">
              <a:lnSpc>
                <a:spcPct val="114000"/>
              </a:lnSpc>
              <a:spcAft>
                <a:spcPts val="400"/>
              </a:spcAft>
            </a:pPr>
            <a:r>
              <a:rPr sz="1050" b="0" i="0">
                <a:solidFill>
                  <a:srgbClr val="3A4356"/>
                </a:solidFill>
                <a:latin typeface="Calibri"/>
              </a:rPr>
              <a:t>Fully air-gapped (deterministic engines only) or on-prem with private-cloud LLM. The existing secure-deployment document sets out both; JLR IT-security chooses.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APPENDIX</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Evidence base</a:t>
            </a:r>
          </a:p>
        </p:txBody>
      </p:sp>
      <p:sp>
        <p:nvSpPr>
          <p:cNvPr id="9" name="TextBox 8"/>
          <p:cNvSpPr txBox="1"/>
          <p:nvPr/>
        </p:nvSpPr>
        <p:spPr>
          <a:xfrm>
            <a:off x="411480" y="1572768"/>
            <a:ext cx="11338560" cy="32004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Every claim in this deck traces to a verifiable fact in the codebase, established by audit in August 2026 at commit 680571c.</a:t>
            </a:r>
          </a:p>
        </p:txBody>
      </p:sp>
      <p:sp>
        <p:nvSpPr>
          <p:cNvPr id="10" name="Rectangle 9"/>
          <p:cNvSpPr/>
          <p:nvPr/>
        </p:nvSpPr>
        <p:spPr>
          <a:xfrm>
            <a:off x="411480" y="2011680"/>
            <a:ext cx="420624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 y="2093976"/>
            <a:ext cx="405993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Claim</a:t>
            </a:r>
          </a:p>
        </p:txBody>
      </p:sp>
      <p:sp>
        <p:nvSpPr>
          <p:cNvPr id="12" name="Rectangle 11"/>
          <p:cNvSpPr/>
          <p:nvPr/>
        </p:nvSpPr>
        <p:spPr>
          <a:xfrm>
            <a:off x="4617720" y="2011680"/>
            <a:ext cx="715975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00016" y="2093976"/>
            <a:ext cx="701344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How it was verified</a:t>
            </a:r>
          </a:p>
        </p:txBody>
      </p:sp>
      <p:sp>
        <p:nvSpPr>
          <p:cNvPr id="14" name="Rectangle 13"/>
          <p:cNvSpPr/>
          <p:nvPr/>
        </p:nvSpPr>
        <p:spPr>
          <a:xfrm>
            <a:off x="411480" y="2340864"/>
            <a:ext cx="4206240"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3776" y="2404872"/>
            <a:ext cx="4059936" cy="310896"/>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Cost engine is pure and deterministic</a:t>
            </a:r>
          </a:p>
        </p:txBody>
      </p:sp>
      <p:sp>
        <p:nvSpPr>
          <p:cNvPr id="16" name="Rectangle 15"/>
          <p:cNvSpPr/>
          <p:nvPr/>
        </p:nvSpPr>
        <p:spPr>
          <a:xfrm>
            <a:off x="4617720" y="2340864"/>
            <a:ext cx="7159752"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00016" y="2404872"/>
            <a:ext cx="7013448" cy="310896"/>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Five identical runs produced byte-identical output on both base and regional paths</a:t>
            </a:r>
          </a:p>
        </p:txBody>
      </p:sp>
      <p:sp>
        <p:nvSpPr>
          <p:cNvPr id="18" name="Rectangle 17"/>
          <p:cNvSpPr/>
          <p:nvPr/>
        </p:nvSpPr>
        <p:spPr>
          <a:xfrm>
            <a:off x="411480" y="2743200"/>
            <a:ext cx="4206240" cy="40233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3776" y="2807208"/>
            <a:ext cx="4059936" cy="310896"/>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All 18 commodities use the one engine</a:t>
            </a:r>
          </a:p>
        </p:txBody>
      </p:sp>
      <p:sp>
        <p:nvSpPr>
          <p:cNvPr id="20" name="Rectangle 19"/>
          <p:cNvSpPr/>
          <p:nvPr/>
        </p:nvSpPr>
        <p:spPr>
          <a:xfrm>
            <a:off x="4617720" y="2743200"/>
            <a:ext cx="7159752" cy="40233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00016" y="2807208"/>
            <a:ext cx="7013448" cy="310896"/>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Connectivity matrix built from source: UI form to collect function to driver module to engine</a:t>
            </a:r>
          </a:p>
        </p:txBody>
      </p:sp>
      <p:sp>
        <p:nvSpPr>
          <p:cNvPr id="22" name="Rectangle 21"/>
          <p:cNvSpPr/>
          <p:nvPr/>
        </p:nvSpPr>
        <p:spPr>
          <a:xfrm>
            <a:off x="411480" y="3145536"/>
            <a:ext cx="4206240"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93776" y="3209544"/>
            <a:ext cx="4059936" cy="310896"/>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Engine applies no hidden defaults</a:t>
            </a:r>
          </a:p>
        </p:txBody>
      </p:sp>
      <p:sp>
        <p:nvSpPr>
          <p:cNvPr id="24" name="Rectangle 23"/>
          <p:cNvSpPr/>
          <p:nvPr/>
        </p:nvSpPr>
        <p:spPr>
          <a:xfrm>
            <a:off x="4617720" y="3145536"/>
            <a:ext cx="7159752"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700016" y="3209544"/>
            <a:ext cx="7013448" cy="310896"/>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No fallback operators anywhere in the cost path; every field is mandatory and used as given</a:t>
            </a:r>
          </a:p>
        </p:txBody>
      </p:sp>
      <p:sp>
        <p:nvSpPr>
          <p:cNvPr id="26" name="Rectangle 25"/>
          <p:cNvSpPr/>
          <p:nvPr/>
        </p:nvSpPr>
        <p:spPr>
          <a:xfrm>
            <a:off x="411480" y="3547872"/>
            <a:ext cx="4206240" cy="40233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93776" y="3611880"/>
            <a:ext cx="4059936" cy="310896"/>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Geometry kernel is offline</a:t>
            </a:r>
          </a:p>
        </p:txBody>
      </p:sp>
      <p:sp>
        <p:nvSpPr>
          <p:cNvPr id="28" name="Rectangle 27"/>
          <p:cNvSpPr/>
          <p:nvPr/>
        </p:nvSpPr>
        <p:spPr>
          <a:xfrm>
            <a:off x="4617720" y="3547872"/>
            <a:ext cx="7159752" cy="40233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00016" y="3611880"/>
            <a:ext cx="7013448" cy="310896"/>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Zero network imports; standard library plus OCCT only</a:t>
            </a:r>
          </a:p>
        </p:txBody>
      </p:sp>
      <p:sp>
        <p:nvSpPr>
          <p:cNvPr id="30" name="Rectangle 29"/>
          <p:cNvSpPr/>
          <p:nvPr/>
        </p:nvSpPr>
        <p:spPr>
          <a:xfrm>
            <a:off x="411480" y="3950208"/>
            <a:ext cx="4206240"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93776" y="4014216"/>
            <a:ext cx="4059936" cy="310896"/>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Geometry kernel is deterministic</a:t>
            </a:r>
          </a:p>
        </p:txBody>
      </p:sp>
      <p:sp>
        <p:nvSpPr>
          <p:cNvPr id="32" name="Rectangle 31"/>
          <p:cNvSpPr/>
          <p:nvPr/>
        </p:nvSpPr>
        <p:spPr>
          <a:xfrm>
            <a:off x="4617720" y="3950208"/>
            <a:ext cx="7159752"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700016" y="4014216"/>
            <a:ext cx="7013448" cy="310896"/>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Its one sampling routine is explicitly seeded</a:t>
            </a:r>
          </a:p>
        </p:txBody>
      </p:sp>
      <p:sp>
        <p:nvSpPr>
          <p:cNvPr id="34" name="Rectangle 33"/>
          <p:cNvSpPr/>
          <p:nvPr/>
        </p:nvSpPr>
        <p:spPr>
          <a:xfrm>
            <a:off x="411480" y="4352544"/>
            <a:ext cx="4206240" cy="40233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 y="4416552"/>
            <a:ext cx="4059936" cy="310896"/>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CAD files never leave the server</a:t>
            </a:r>
          </a:p>
        </p:txBody>
      </p:sp>
      <p:sp>
        <p:nvSpPr>
          <p:cNvPr id="36" name="Rectangle 35"/>
          <p:cNvSpPr/>
          <p:nvPr/>
        </p:nvSpPr>
        <p:spPr>
          <a:xfrm>
            <a:off x="4617720" y="4352544"/>
            <a:ext cx="7159752" cy="40233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700016" y="4416552"/>
            <a:ext cx="7013448" cy="310896"/>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Geometry extracted locally; only derived summaries reach an LLM</a:t>
            </a:r>
          </a:p>
        </p:txBody>
      </p:sp>
      <p:sp>
        <p:nvSpPr>
          <p:cNvPr id="38" name="Rectangle 37"/>
          <p:cNvSpPr/>
          <p:nvPr/>
        </p:nvSpPr>
        <p:spPr>
          <a:xfrm>
            <a:off x="411480" y="4754880"/>
            <a:ext cx="4206240"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93776" y="4818888"/>
            <a:ext cx="4059936" cy="310896"/>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Rate library is injected, not imported</a:t>
            </a:r>
          </a:p>
        </p:txBody>
      </p:sp>
      <p:sp>
        <p:nvSpPr>
          <p:cNvPr id="40" name="Rectangle 39"/>
          <p:cNvSpPr/>
          <p:nvPr/>
        </p:nvSpPr>
        <p:spPr>
          <a:xfrm>
            <a:off x="4617720" y="4754880"/>
            <a:ext cx="7159752"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700016" y="4818888"/>
            <a:ext cx="7013448" cy="310896"/>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The cost function takes the library as a parameter</a:t>
            </a:r>
          </a:p>
        </p:txBody>
      </p:sp>
      <p:sp>
        <p:nvSpPr>
          <p:cNvPr id="42" name="Rectangle 41"/>
          <p:cNvSpPr/>
          <p:nvPr/>
        </p:nvSpPr>
        <p:spPr>
          <a:xfrm>
            <a:off x="411480" y="5157216"/>
            <a:ext cx="4206240" cy="40233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93776" y="5221224"/>
            <a:ext cx="4059936" cy="310896"/>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Three defects found and fixed</a:t>
            </a:r>
          </a:p>
        </p:txBody>
      </p:sp>
      <p:sp>
        <p:nvSpPr>
          <p:cNvPr id="44" name="Rectangle 43"/>
          <p:cNvSpPr/>
          <p:nvPr/>
        </p:nvSpPr>
        <p:spPr>
          <a:xfrm>
            <a:off x="4617720" y="5157216"/>
            <a:ext cx="7159752" cy="40233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700016" y="5221224"/>
            <a:ext cx="7013448" cy="310896"/>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NaN reported as success; irreproducible confidence band; unrenderable report text</a:t>
            </a:r>
          </a:p>
        </p:txBody>
      </p:sp>
      <p:sp>
        <p:nvSpPr>
          <p:cNvPr id="46" name="Rectangle 45"/>
          <p:cNvSpPr/>
          <p:nvPr/>
        </p:nvSpPr>
        <p:spPr>
          <a:xfrm>
            <a:off x="411480" y="5559552"/>
            <a:ext cx="4206240"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93776" y="5623560"/>
            <a:ext cx="4059936" cy="310896"/>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Test suite</a:t>
            </a:r>
          </a:p>
        </p:txBody>
      </p:sp>
      <p:sp>
        <p:nvSpPr>
          <p:cNvPr id="48" name="Rectangle 47"/>
          <p:cNvSpPr/>
          <p:nvPr/>
        </p:nvSpPr>
        <p:spPr>
          <a:xfrm>
            <a:off x="4617720" y="5559552"/>
            <a:ext cx="7159752"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700016" y="5623560"/>
            <a:ext cx="7013448" cy="310896"/>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2,022 tests passing, including physics checks that fail the build</a:t>
            </a:r>
          </a:p>
        </p:txBody>
      </p:sp>
      <p:sp>
        <p:nvSpPr>
          <p:cNvPr id="50" name="Rounded Rectangle 49"/>
          <p:cNvSpPr/>
          <p:nvPr/>
        </p:nvSpPr>
        <p:spPr>
          <a:xfrm>
            <a:off x="411480" y="5943600"/>
            <a:ext cx="11365992" cy="658368"/>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411480" y="5943600"/>
            <a:ext cx="68580" cy="65836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30936" y="606247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Supporting documents</a:t>
            </a:r>
          </a:p>
        </p:txBody>
      </p:sp>
      <p:sp>
        <p:nvSpPr>
          <p:cNvPr id="53" name="TextBox 52"/>
          <p:cNvSpPr txBox="1"/>
          <p:nvPr/>
        </p:nvSpPr>
        <p:spPr>
          <a:xfrm>
            <a:off x="630936" y="6345936"/>
            <a:ext cx="10954512" cy="15544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docs/CostVision-Secure-Deployment-CAPEE-Integration.md — security and data-flow inventory.  FEASIBILITY.md — engine contract and integration readiness.  CostVision 360 Review — full technical assessment including competitive position.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