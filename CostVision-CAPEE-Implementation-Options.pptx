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the time. I want to take you through two things we could do with a tool we have built called CostVision, and ask for a decision on the first one. The first is to let it fill in the numbers CAPEE needs, automatically, off the 3D model and the drawing, and prove that works on our own parts. The second, once that is proven, is to cost a whole basket of parts in one unattended run. I will be straight about what the tool does today and what it does not. There are no dates in this pack. Nobody in IT or the business has sized any of this yet, so any timeline I put up would be made up. What I can show you is the order the work has to happen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ask, so I will put it first. I want approval to run a proof of concept inside CAPEE, on one part type, using parts we have already bought. What we need from JLR is on the second row and I will come back to it at the end. What it costs is our own time. There is no licence and the business does not have to learn a new tool, because CAPEE does not change. The amber box is the honest bit and I would rather say it now than have it come out in questions. We have never compared this tool against a price we actually paid. That is the whole point of the proof of concept.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problem we are trying to fix. Today an engineer opens the model, reads the drawing, and types the numbers in. How many numbers depends on the part. A machined part is twelve boxes. A pressing is sixty-nine. The time matters, but the second point matters more. Two of our engineers costing the same part will not type the same numbers, so we end up with two answers for one part and no way to say which is right. On the right is what the tool does instead. A hundred and sixty-five costing rules turn the measurements into the values the form needs, and a hundred and forty-nine of those write straight into a named box. One part uses its own type's rules, between nine and eighteen of them. The blue box is the distinction I want people to hold on to. Measuring the model is ordinary software doing geometry. The AI only reads the writing on the drawing, and we check everything it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options, this is honestly where the tool is. Left side is working today and I checked every line of it against the software this week. Nineteen part types cost through the engine. The maths repeats. It measures models with no internet connection, which is the first thing IT security will ask about. Right side is what is not done. The top one is the important one and I will keep coming back to it. Below that, it does not keep a history when someone changes a rate and it does not save finished costings, so today you could not reproduce a costing from three months ago. Those two matter a lot for Option two and I will come back to them. The blue box is what has changed since I last showed you this. The headline is that it now refuses work it cannot do honestly.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of the whole thing. Do Option one first, prove it on our own parts, look at the number, then decide about Option two. Option one is the smaller change. CAPEE does not move. The engineer stops typing and starts checking. Option two is a different capability altogether. Instead of costing the parts we have time for, we cost the whole basket. The reason for this order is on the green strip. Option one is cheap to try and it gives us the accuracy figure. There is no sense costing five hundred parts until we know the tool gets one part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one on one slide. Top row is what happens each time somebody costs a part. The engineer hands over the model and drawing from inside CAPEE. Software measures the model, the AI reads the drawing, the checks compare the two. A few things no model can show, like heat treatment, the engineer confirms. Then CAPEE gets the numbers and costs the part exactly as it does now. Underneath is the build order and who does what. I have deliberately not put weeks against these. Nobody has sized this yet, and the connection step in particular waits on an answer we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last time what would actually get handed over. Six things, and the sizes come straight out of the software. The measuring engine is Python, which is the normal choice for measurement work. The rest is TypeScript, common in business software. Neither is odd and neither ties us to one supplier. The fourth row is the biggest piece and it is worth a word: that is the hundred and sixty-five costing rules that fill the form and decide what to ask the engineer for. The amber box is the one practical thing worth raising with IT now, because it decides where this can 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job like this the temptation is to take the measuring and the AI and leave what looks like plumbing until later. These four checks are what make the rest safe. The first one is the one to remember. If the AI and the measured model disagree, the model wins. The last one matters for a different reason. Where the tool cannot know something it asks rather than guessing, and it never pre-ticks its own answer. The red box is from our own review. We found a route with no checks that gave back a nonsense figure while saying it had worked, and we found that a part exported as surfaces got costed at a wrong weight. Both of those now stop rather than produce a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Hardcoded values is a phrase that means nothing on its own, so here are six real ones. Look at the third row. A rejected plated part costs about four and a half times a good one, because you strip it and start again. That is why a three percent reject rate is closer to thirteen percent on cost. That is an engineering judgement and exactly the sort of thing you would challenge in a review, so it should not be buried in code. We pull every one of them into a single list you can read and change. The amber box is the caveat. These are our estimates, not measurements from one of our plants.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because nobody has told us how CAPEE is built. Rather than hold everything up, here are all three routes. All of them work. What changes is how much effort each takes, and I have shown that against each other rather than in weeks, because none of this has been sized. If you made me pick blind I would take route B, running it alongside, because it works whatever CAPEE is and we can improve our side without disturbing it. The three questions in amber are what I need from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would actually get out of the trial, and I want to be concrete because these four numbers do not exist today. First, how close is it. We cost the parts, compare against what we paid, and report the error. The test I would use is whether the real error lands inside the range the tool predicted for itself. A tool that is wrong and says so is usable. One that is wrong and confident is not. Second, how often the engineer has to step in. On our own eight test parts, once the material family was given, six went straight through and two stopped and asked. Given nothing at all, all eight stop and ask, because a solid model cannot tell steel from aluminium. In a bulk run that answer comes off the part master rather than from a person. I need that figure on JLR parts. Third, the time saving, measured by doing the same parts both ways. Fourth, what it refused and whether it was right to. And the green strip is the reason to do it even if the answer disappoints us. Right now nobody can state an accuracy figure at all, and every conversation about this tool stops there.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in the order they have to happen. Two worth pulling out. Step three is the settings list, signed off before anything gets costed with it. Step four is the safety checks, and I have given them a step of their own so they do not get folded into the connection work and squeezed. The blue box is useful for planning. Steps one and two can run at the same time, because standing up the measuring software does not depend on knowing how CAPEE is built. Only step five does.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two is a different thing from Option one, and I want to be clear about that. Option one saves the engineer typing. Option two gives us something we do not have at all. Today we cost the parts we have time to cost. A basket of several hundred gets sampled or estimated by analogy, because there are not enough engineer-hours. Option two costs the whole basket in one run. The blue box is important. The agent marshals the run but it never sets a price. Every number still comes out of the same engine at the same rates. It does choose the inputs, though, so the geometry checks that run on the CAD route today have to be wired onto this one, and that is on the list on slide fifteen. The amber box is the honest position. The engine already works standalone and an agent already exists that can cost a part. What does not exist is the run itself.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a run actually does and what it costs in machine time. The forty-part row is measured, this month, on our own production parts. A part takes between one and three seconds to measure depending on how big the file is. Running the rules and costing it takes five thousandths of a second, so the measuring is the whole of it. Forty parts took thirty-one seconds on two workers with nothing reused, and the rows below that are that same rate carried forward, so five hundred parts is about six and a half minutes. The point of the blue strip at the bottom is that the computer is not the constraint here. Pulling together the part list, the CAD files and our own rate data is the work. The machine finishes while you are getting a coffee.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show you this list than have it come out later. Six things. The first two are the ones that would stop me signing off a bulk run for anything audited. The rate book today is a single row that gets overwritten, so change a rate and the old one is gone. And finished costings are not saved at all. Together that means a five-hundred-part run produces numbers you cannot reproduce next quarter. The third is smaller than it sounds: region and volume already work in the screens, they are just not passed through to the automated route. Fourth, gear does not reach the automated route at all, so a basket with gears in it would quietly skip them. Fifth is the geometry safety checks. They run on the CAD route today and the automated route only validates the fields, so they have to be wired on before anyone leaves a run unattended. Sixth is the run itself, which is the actual new build. The green strip is the good news. The engine needs no change. We checked that by running it on its own, outside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business case for Option two, and I have deliberately not put a pound figure on it, because an honest one needs two things we do not have yet: our own rate data and the accuracy number from Option one. What I can show is what changes in kind. Today we cost the parts we have hours for and scale up from a sample. With bulk costing every part in the basket gets costed from its own geometry, with the same rules and the same rates. The row I would draw your eye to is the last one. Today it is one engineer per part. With this it is one answer per question, applied across every part that question affects. And the amber box is the limit on all of it. Every row assumes the tool is accurate enough to leave running, and that is exactly what Option one measures.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for Option two. Step one is our own rate data and it is worth starting whatever we decide, because both options need it. Steps two and three are the prerequisites I showed you two slides ago: a history of rate changes, and saved costings. They are not part of the run itself, they are what makes a run mean anything three months later. Step four is small but it is not optional, because a basket costed at UK rates when it should have been Poland is just wrong. Step five is the actual new build. Step six is a trial on a real basket, run beside how we cost today so we can compare.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half is fairly even and each option wins some rows. The two I would look at are the last two. Option one produces the accuracy figure that Option two leans on. And Option one is audit-ready today, because CAPEE keeps the record exactly as it does now, whereas Option two is not audit-ready until we have built the rate history and the saved costings. Those two rows are the whole argument for doing them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items. The top one is the one that would stop me putting this in front of a supplier today, and approving the trial is what fixes it. The second is the one that would stop me signing off a bulk run for anything audited, and it is a build, not a mystery. The third is waiting on IT. The fourth is small but I have put it up because a basket costed at the wrong region is wrong in a way nobody would notice. And the last row is worth saying plainly: the tool is still being worked on, so for any trial we pin a version and stay on it. Note also that the CAD file itself never leaves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The first is the one I will keep coming back to: thirty to fifty parts where we know what we paid. Purchase records are fine, I do not need anything new created. Without it I cannot tell anyone how accurate this is, and that is the first question we will get asked. The second is our own rates, and it is worth starting whatever you decide today because both options need it. The third is three questions to IT. The fourth is a security decision and either answer works for us. The fifth is a person and a part type for the trial. The green strip matters: the first two do not wait on anything decided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for anyone who wants to know how we know. Every claim was checked against the software or measured this month rather than assumed. Two worth pointing at. The costing gives the same answer every time, which sounds obvious but is not true of every tool. And the fifth row is the answer to the first question IT security will ask: we checked every line of the measuring software for internet connections and there are none. The amber box at the bottom is the one number I have deliberately left off every slide. The tool has an accuracy report, but nothing real has been loaded into it, so what it prints today means nothing. That is why ask number one is what it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AI  COST  INTELLIGENCE</a:t>
            </a:r>
          </a:p>
        </p:txBody>
      </p:sp>
      <p:sp>
        <p:nvSpPr>
          <p:cNvPr id="7" name="TextBox 6"/>
          <p:cNvSpPr txBox="1"/>
          <p:nvPr/>
        </p:nvSpPr>
        <p:spPr>
          <a:xfrm>
            <a:off x="548640" y="1783080"/>
            <a:ext cx="10607040" cy="118872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CostVision and CAPEE</a:t>
            </a:r>
          </a:p>
        </p:txBody>
      </p:sp>
      <p:sp>
        <p:nvSpPr>
          <p:cNvPr id="8" name="TextBox 7"/>
          <p:cNvSpPr txBox="1"/>
          <p:nvPr/>
        </p:nvSpPr>
        <p:spPr>
          <a:xfrm>
            <a:off x="548640" y="269748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The business case for automating cost input, and then costing in bulk</a:t>
            </a:r>
          </a:p>
        </p:txBody>
      </p:sp>
      <p:sp>
        <p:nvSpPr>
          <p:cNvPr id="9" name="Rectangle 8"/>
          <p:cNvSpPr/>
          <p:nvPr/>
        </p:nvSpPr>
        <p:spPr>
          <a:xfrm>
            <a:off x="548640" y="347472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7947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8130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 and prove it</a:t>
            </a:r>
          </a:p>
        </p:txBody>
      </p:sp>
      <p:sp>
        <p:nvSpPr>
          <p:cNvPr id="12" name="TextBox 11"/>
          <p:cNvSpPr txBox="1"/>
          <p:nvPr/>
        </p:nvSpPr>
        <p:spPr>
          <a:xfrm>
            <a:off x="1280160" y="41148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CAPEE keeps doing the costing. CostVision reads the numbers off the 3D model and the drawing and fills them in. We prove it on real JLR parts first.</a:t>
            </a:r>
          </a:p>
        </p:txBody>
      </p:sp>
      <p:sp>
        <p:nvSpPr>
          <p:cNvPr id="13" name="Oval 12"/>
          <p:cNvSpPr/>
          <p:nvPr/>
        </p:nvSpPr>
        <p:spPr>
          <a:xfrm>
            <a:off x="566928" y="47091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7274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Cost in bulk, run by an agent</a:t>
            </a:r>
          </a:p>
        </p:txBody>
      </p:sp>
      <p:sp>
        <p:nvSpPr>
          <p:cNvPr id="15" name="TextBox 14"/>
          <p:cNvSpPr txBox="1"/>
          <p:nvPr/>
        </p:nvSpPr>
        <p:spPr>
          <a:xfrm>
            <a:off x="1280160" y="50292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A whole basket of parts costed in one run, unattended, with a person asked only where the geometry genuinely cannot decide.</a:t>
            </a:r>
          </a:p>
        </p:txBody>
      </p:sp>
      <p:sp>
        <p:nvSpPr>
          <p:cNvPr id="16" name="TextBox 15"/>
          <p:cNvSpPr txBox="1"/>
          <p:nvPr/>
        </p:nvSpPr>
        <p:spPr>
          <a:xfrm>
            <a:off x="548640" y="598932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JLR Cost Engineering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9" name="Rounded Rectangle 8"/>
          <p:cNvSpPr/>
          <p:nvPr/>
        </p:nvSpPr>
        <p:spPr>
          <a:xfrm>
            <a:off x="411480" y="1600200"/>
            <a:ext cx="11365992" cy="10515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00200"/>
            <a:ext cx="68580" cy="10515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7190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Approve a proof of concept: Option 1, inside CAPEE, on our own parts</a:t>
            </a:r>
          </a:p>
        </p:txBody>
      </p:sp>
      <p:sp>
        <p:nvSpPr>
          <p:cNvPr id="12" name="TextBox 11"/>
          <p:cNvSpPr txBox="1"/>
          <p:nvPr/>
        </p:nvSpPr>
        <p:spPr>
          <a:xfrm>
            <a:off x="630936" y="200253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Let CostVision fill CAPEE's cost input automatically for one part type, on 30 to 50 parts we have already bought. At the end we will know how often the measurement is right, how often an engineer has to correct it, and what it saves. Option 2 follows once that is known.</a:t>
            </a:r>
          </a:p>
        </p:txBody>
      </p:sp>
      <p:sp>
        <p:nvSpPr>
          <p:cNvPr id="13" name="Rectangle 12"/>
          <p:cNvSpPr/>
          <p:nvPr/>
        </p:nvSpPr>
        <p:spPr>
          <a:xfrm>
            <a:off x="411480" y="2788920"/>
            <a:ext cx="32004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2871216"/>
            <a:ext cx="3054096" cy="219456"/>
          </a:xfrm>
          <a:prstGeom prst="rect">
            <a:avLst/>
          </a:prstGeom>
          <a:noFill/>
        </p:spPr>
        <p:txBody>
          <a:bodyPr wrap="square" anchor="t" lIns="0" rIns="0" tIns="0" bIns="0">
            <a:spAutoFit/>
          </a:bodyPr>
          <a:lstStyle/>
          <a:p>
            <a:pPr algn="l">
              <a:lnSpc>
                <a:spcPct val="100000"/>
              </a:lnSpc>
              <a:spcAft>
                <a:spcPts val="400"/>
              </a:spcAft>
            </a:pPr>
          </a:p>
        </p:txBody>
      </p:sp>
      <p:sp>
        <p:nvSpPr>
          <p:cNvPr id="15" name="Rectangle 14"/>
          <p:cNvSpPr/>
          <p:nvPr/>
        </p:nvSpPr>
        <p:spPr>
          <a:xfrm>
            <a:off x="3611880" y="2788920"/>
            <a:ext cx="81655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2871216"/>
            <a:ext cx="80192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7" name="Rectangle 16"/>
          <p:cNvSpPr/>
          <p:nvPr/>
        </p:nvSpPr>
        <p:spPr>
          <a:xfrm>
            <a:off x="411480" y="3118104"/>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3182112"/>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want to do</a:t>
            </a:r>
          </a:p>
        </p:txBody>
      </p:sp>
      <p:sp>
        <p:nvSpPr>
          <p:cNvPr id="19" name="Rectangle 18"/>
          <p:cNvSpPr/>
          <p:nvPr/>
        </p:nvSpPr>
        <p:spPr>
          <a:xfrm>
            <a:off x="3611880" y="3118104"/>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94176" y="3182112"/>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Fill CAPEE's cost input from the 3D model and the drawing, for one part type</a:t>
            </a:r>
          </a:p>
        </p:txBody>
      </p:sp>
      <p:sp>
        <p:nvSpPr>
          <p:cNvPr id="21" name="Rectangle 20"/>
          <p:cNvSpPr/>
          <p:nvPr/>
        </p:nvSpPr>
        <p:spPr>
          <a:xfrm>
            <a:off x="411480" y="3593592"/>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657600"/>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need from JLR</a:t>
            </a:r>
          </a:p>
        </p:txBody>
      </p:sp>
      <p:sp>
        <p:nvSpPr>
          <p:cNvPr id="23" name="Rectangle 22"/>
          <p:cNvSpPr/>
          <p:nvPr/>
        </p:nvSpPr>
        <p:spPr>
          <a:xfrm>
            <a:off x="3611880" y="3593592"/>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94176" y="3657600"/>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30 to 50 parts with the price we paid, our own rate data, three answers from IT, and a team for the trial</a:t>
            </a:r>
          </a:p>
        </p:txBody>
      </p:sp>
      <p:sp>
        <p:nvSpPr>
          <p:cNvPr id="25" name="Rectangle 24"/>
          <p:cNvSpPr/>
          <p:nvPr/>
        </p:nvSpPr>
        <p:spPr>
          <a:xfrm>
            <a:off x="411480" y="4069080"/>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4133088"/>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it costs to try</a:t>
            </a:r>
          </a:p>
        </p:txBody>
      </p:sp>
      <p:sp>
        <p:nvSpPr>
          <p:cNvPr id="27" name="Rectangle 26"/>
          <p:cNvSpPr/>
          <p:nvPr/>
        </p:nvSpPr>
        <p:spPr>
          <a:xfrm>
            <a:off x="3611880" y="4069080"/>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94176" y="4133088"/>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Our own engineering time. No licence, no new tool for the business to learn, CAPEE unchanged</a:t>
            </a:r>
          </a:p>
        </p:txBody>
      </p:sp>
      <p:sp>
        <p:nvSpPr>
          <p:cNvPr id="29" name="Rectangle 28"/>
          <p:cNvSpPr/>
          <p:nvPr/>
        </p:nvSpPr>
        <p:spPr>
          <a:xfrm>
            <a:off x="411480" y="4544568"/>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 y="4608576"/>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will know at the end</a:t>
            </a:r>
          </a:p>
        </p:txBody>
      </p:sp>
      <p:sp>
        <p:nvSpPr>
          <p:cNvPr id="31" name="Rectangle 30"/>
          <p:cNvSpPr/>
          <p:nvPr/>
        </p:nvSpPr>
        <p:spPr>
          <a:xfrm>
            <a:off x="3611880" y="4544568"/>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94176" y="4608576"/>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measured accuracy figure against real JLR prices, and a measured time saving per part</a:t>
            </a:r>
          </a:p>
        </p:txBody>
      </p:sp>
      <p:sp>
        <p:nvSpPr>
          <p:cNvPr id="33" name="Rectangle 32"/>
          <p:cNvSpPr/>
          <p:nvPr/>
        </p:nvSpPr>
        <p:spPr>
          <a:xfrm>
            <a:off x="411480" y="5020056"/>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5084064"/>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are NOT asking for</a:t>
            </a:r>
          </a:p>
        </p:txBody>
      </p:sp>
      <p:sp>
        <p:nvSpPr>
          <p:cNvPr id="35" name="Rectangle 34"/>
          <p:cNvSpPr/>
          <p:nvPr/>
        </p:nvSpPr>
        <p:spPr>
          <a:xfrm>
            <a:off x="3611880" y="5020056"/>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94176" y="5084064"/>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decision on Option 2 today. It needs the accuracy answer first, and some work that has not been done</a:t>
            </a:r>
          </a:p>
        </p:txBody>
      </p:sp>
      <p:sp>
        <p:nvSpPr>
          <p:cNvPr id="37" name="Rounded Rectangle 36"/>
          <p:cNvSpPr/>
          <p:nvPr/>
        </p:nvSpPr>
        <p:spPr>
          <a:xfrm>
            <a:off x="411480" y="562356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62356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7424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one thing to know before you decide</a:t>
            </a:r>
          </a:p>
        </p:txBody>
      </p:sp>
      <p:sp>
        <p:nvSpPr>
          <p:cNvPr id="40" name="TextBox 39"/>
          <p:cNvSpPr txBox="1"/>
          <p:nvPr/>
        </p:nvSpPr>
        <p:spPr>
          <a:xfrm>
            <a:off x="630936" y="602589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Not one part. That is exactly what the proof of concept is for, and until it is done I cannot tell you how accurate the tool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PROBLEM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costing a part looks like today</a:t>
            </a:r>
          </a:p>
        </p:txBody>
      </p:sp>
      <p:sp>
        <p:nvSpPr>
          <p:cNvPr id="9" name="Rounded Rectangle 8"/>
          <p:cNvSpPr/>
          <p:nvPr/>
        </p:nvSpPr>
        <p:spPr>
          <a:xfrm>
            <a:off x="411480" y="1627632"/>
            <a:ext cx="5577840" cy="338328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27632"/>
            <a:ext cx="68580" cy="33832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BY HAND</a:t>
            </a:r>
          </a:p>
        </p:txBody>
      </p:sp>
      <p:sp>
        <p:nvSpPr>
          <p:cNvPr id="12" name="TextBox 11"/>
          <p:cNvSpPr txBox="1"/>
          <p:nvPr/>
        </p:nvSpPr>
        <p:spPr>
          <a:xfrm>
            <a:off x="612648"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opens the part in CAD, reads the drawing,</a:t>
            </a:r>
          </a:p>
          <a:p>
            <a:pPr algn="l">
              <a:lnSpc>
                <a:spcPct val="112000"/>
              </a:lnSpc>
              <a:spcAft>
                <a:spcPts val="300"/>
              </a:spcAft>
            </a:pPr>
            <a:r>
              <a:rPr sz="1050" b="0" i="0">
                <a:solidFill>
                  <a:srgbClr val="3A4356"/>
                </a:solidFill>
                <a:latin typeface="Calibri"/>
              </a:rPr>
              <a:t>and types the numbers into CAPEE.</a:t>
            </a:r>
          </a:p>
          <a:p>
            <a:pPr algn="l">
              <a:lnSpc>
                <a:spcPct val="112000"/>
              </a:lnSpc>
              <a:spcAft>
                <a:spcPts val="300"/>
              </a:spcAft>
            </a:pPr>
            <a:r>
              <a:rPr sz="1050" b="1" i="0">
                <a:solidFill>
                  <a:srgbClr val="16325C"/>
                </a:solidFill>
                <a:latin typeface="Calibri"/>
              </a:rPr>
              <a:t>Boxes to fill, depending on the part type:</a:t>
            </a:r>
          </a:p>
          <a:p>
            <a:pPr algn="l">
              <a:lnSpc>
                <a:spcPct val="112000"/>
              </a:lnSpc>
              <a:spcAft>
                <a:spcPts val="300"/>
              </a:spcAft>
            </a:pPr>
            <a:r>
              <a:rPr sz="1050" b="0" i="0">
                <a:solidFill>
                  <a:srgbClr val="3A4356"/>
                </a:solidFill>
                <a:latin typeface="Calibri"/>
              </a:rPr>
              <a:t>machined part 12 · casting 30 · moulding 39 · pressing 69</a:t>
            </a:r>
          </a:p>
          <a:p>
            <a:pPr algn="l">
              <a:lnSpc>
                <a:spcPct val="112000"/>
              </a:lnSpc>
              <a:spcAft>
                <a:spcPts val="300"/>
              </a:spcAft>
            </a:pPr>
          </a:p>
          <a:p>
            <a:pPr algn="l">
              <a:lnSpc>
                <a:spcPct val="112000"/>
              </a:lnSpc>
              <a:spcAft>
                <a:spcPts val="300"/>
              </a:spcAft>
            </a:pPr>
            <a:r>
              <a:rPr sz="1050" b="0" i="0">
                <a:solidFill>
                  <a:srgbClr val="3A4356"/>
                </a:solidFill>
                <a:latin typeface="Calibri"/>
              </a:rPr>
              <a:t>Part weight, starting material weight, wall thickness,</a:t>
            </a:r>
          </a:p>
          <a:p>
            <a:pPr algn="l">
              <a:lnSpc>
                <a:spcPct val="112000"/>
              </a:lnSpc>
              <a:spcAft>
                <a:spcPts val="300"/>
              </a:spcAft>
            </a:pPr>
            <a:r>
              <a:rPr sz="1050" b="0" i="0">
                <a:solidFill>
                  <a:srgbClr val="3A4356"/>
                </a:solidFill>
                <a:latin typeface="Calibri"/>
              </a:rPr>
              <a:t>hole and pocket counts, machine times, surface area,</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1" i="0">
                <a:solidFill>
                  <a:srgbClr val="16325C"/>
                </a:solidFill>
                <a:latin typeface="Calibri"/>
              </a:rPr>
              <a:t>Two engineers costing the same part will not type the</a:t>
            </a:r>
          </a:p>
          <a:p>
            <a:pPr algn="l">
              <a:lnSpc>
                <a:spcPct val="112000"/>
              </a:lnSpc>
              <a:spcAft>
                <a:spcPts val="300"/>
              </a:spcAft>
            </a:pPr>
            <a:r>
              <a:rPr sz="1050" b="1" i="0">
                <a:solidFill>
                  <a:srgbClr val="16325C"/>
                </a:solidFill>
                <a:latin typeface="Calibri"/>
              </a:rPr>
              <a:t>same numbers. So one part gets two answers.</a:t>
            </a:r>
          </a:p>
        </p:txBody>
      </p:sp>
      <p:sp>
        <p:nvSpPr>
          <p:cNvPr id="13" name="Rounded Rectangle 12"/>
          <p:cNvSpPr/>
          <p:nvPr/>
        </p:nvSpPr>
        <p:spPr>
          <a:xfrm>
            <a:off x="6199632" y="1627632"/>
            <a:ext cx="5577840" cy="33832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27632"/>
            <a:ext cx="68580" cy="33832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a:t>
            </a:r>
          </a:p>
        </p:txBody>
      </p:sp>
      <p:sp>
        <p:nvSpPr>
          <p:cNvPr id="16" name="TextBox 15"/>
          <p:cNvSpPr txBox="1"/>
          <p:nvPr/>
        </p:nvSpPr>
        <p:spPr>
          <a:xfrm>
            <a:off x="6400800"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hands over the 3D model and the drawing.</a:t>
            </a:r>
          </a:p>
          <a:p>
            <a:pPr algn="l">
              <a:lnSpc>
                <a:spcPct val="112000"/>
              </a:lnSpc>
              <a:spcAft>
                <a:spcPts val="300"/>
              </a:spcAft>
            </a:pPr>
            <a:r>
              <a:rPr sz="1050" b="1" i="0">
                <a:solidFill>
                  <a:srgbClr val="16325C"/>
                </a:solidFill>
                <a:latin typeface="Calibri"/>
              </a:rPr>
              <a:t>Measured off the model:</a:t>
            </a:r>
          </a:p>
          <a:p>
            <a:pPr algn="l">
              <a:lnSpc>
                <a:spcPct val="112000"/>
              </a:lnSpc>
              <a:spcAft>
                <a:spcPts val="300"/>
              </a:spcAft>
            </a:pPr>
            <a:r>
              <a:rPr sz="1050" b="0" i="0">
                <a:solidFill>
                  <a:srgbClr val="3A4356"/>
                </a:solidFill>
                <a:latin typeface="Calibri"/>
              </a:rPr>
              <a:t>volume, size, surface area, wall thickness, holes,</a:t>
            </a:r>
          </a:p>
          <a:p>
            <a:pPr algn="l">
              <a:lnSpc>
                <a:spcPct val="112000"/>
              </a:lnSpc>
              <a:spcAft>
                <a:spcPts val="300"/>
              </a:spcAft>
            </a:pPr>
            <a:r>
              <a:rPr sz="1050" b="0" i="0">
                <a:solidFill>
                  <a:srgbClr val="3A4356"/>
                </a:solidFill>
                <a:latin typeface="Calibri"/>
              </a:rPr>
              <a:t>pockets, bosses, gear teeth, bend count.</a:t>
            </a:r>
          </a:p>
          <a:p>
            <a:pPr algn="l">
              <a:lnSpc>
                <a:spcPct val="112000"/>
              </a:lnSpc>
              <a:spcAft>
                <a:spcPts val="300"/>
              </a:spcAft>
            </a:pPr>
          </a:p>
          <a:p>
            <a:pPr algn="l">
              <a:lnSpc>
                <a:spcPct val="112000"/>
              </a:lnSpc>
              <a:spcAft>
                <a:spcPts val="300"/>
              </a:spcAft>
            </a:pPr>
            <a:r>
              <a:rPr sz="1050" b="1" i="0">
                <a:solidFill>
                  <a:srgbClr val="16325C"/>
                </a:solidFill>
                <a:latin typeface="Calibri"/>
              </a:rPr>
              <a:t>Read off the drawing:</a:t>
            </a:r>
          </a:p>
          <a:p>
            <a:pPr algn="l">
              <a:lnSpc>
                <a:spcPct val="112000"/>
              </a:lnSpc>
              <a:spcAft>
                <a:spcPts val="300"/>
              </a:spcAft>
            </a:pPr>
            <a:r>
              <a:rPr sz="1050" b="0" i="0">
                <a:solidFill>
                  <a:srgbClr val="3A4356"/>
                </a:solidFill>
                <a:latin typeface="Calibri"/>
              </a:rPr>
              <a:t>tolerances, surface finish, heat treatment, coating,</a:t>
            </a:r>
          </a:p>
          <a:p>
            <a:pPr algn="l">
              <a:lnSpc>
                <a:spcPct val="112000"/>
              </a:lnSpc>
              <a:spcAft>
                <a:spcPts val="300"/>
              </a:spcAft>
            </a:pPr>
            <a:r>
              <a:rPr sz="1050" b="0" i="0">
                <a:solidFill>
                  <a:srgbClr val="3A4356"/>
                </a:solidFill>
                <a:latin typeface="Calibri"/>
              </a:rPr>
              <a:t>masked features.</a:t>
            </a:r>
          </a:p>
          <a:p>
            <a:pPr algn="l">
              <a:lnSpc>
                <a:spcPct val="112000"/>
              </a:lnSpc>
              <a:spcAft>
                <a:spcPts val="300"/>
              </a:spcAft>
            </a:pPr>
          </a:p>
          <a:p>
            <a:pPr algn="l">
              <a:lnSpc>
                <a:spcPct val="112000"/>
              </a:lnSpc>
              <a:spcAft>
                <a:spcPts val="300"/>
              </a:spcAft>
            </a:pPr>
            <a:r>
              <a:rPr sz="1050" b="1" i="0">
                <a:solidFill>
                  <a:srgbClr val="16325C"/>
                </a:solidFill>
                <a:latin typeface="Calibri"/>
              </a:rPr>
              <a:t>165 costing rules fill the form. 149 write straight</a:t>
            </a:r>
          </a:p>
          <a:p>
            <a:pPr algn="l">
              <a:lnSpc>
                <a:spcPct val="112000"/>
              </a:lnSpc>
              <a:spcAft>
                <a:spcPts val="300"/>
              </a:spcAft>
            </a:pPr>
            <a:r>
              <a:rPr sz="1050" b="1" i="0">
                <a:solidFill>
                  <a:srgbClr val="2E8B57"/>
                </a:solidFill>
                <a:latin typeface="Calibri"/>
              </a:rPr>
              <a:t>into a named box. Same part, same numbers, always.</a:t>
            </a:r>
          </a:p>
        </p:txBody>
      </p:sp>
      <p:sp>
        <p:nvSpPr>
          <p:cNvPr id="17" name="Rounded Rectangle 16"/>
          <p:cNvSpPr/>
          <p:nvPr/>
        </p:nvSpPr>
        <p:spPr>
          <a:xfrm>
            <a:off x="411480" y="5074920"/>
            <a:ext cx="11365992" cy="11430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074920"/>
            <a:ext cx="68580" cy="1143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Measuring and reading are two different jobs</a:t>
            </a:r>
          </a:p>
        </p:txBody>
      </p:sp>
      <p:sp>
        <p:nvSpPr>
          <p:cNvPr id="20" name="TextBox 19"/>
          <p:cNvSpPr txBox="1"/>
          <p:nvPr/>
        </p:nvSpPr>
        <p:spPr>
          <a:xfrm>
            <a:off x="630936" y="5477256"/>
            <a:ext cx="10954512" cy="6400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software, in the way a CMM measures a part. That is not AI. The AI only reads the words written on the drawing, and everything it reads is checked against the measured model before it can move a cost. Slide 8 covers those checks. On the deterministic setting the AI is switched off completely and the part still costs.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CURRENT STATUS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CostVision is today</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Read off the software this month. This is what the tool does today.</a:t>
            </a:r>
          </a:p>
        </p:txBody>
      </p:sp>
      <p:sp>
        <p:nvSpPr>
          <p:cNvPr id="10" name="Rounded Rectangle 9"/>
          <p:cNvSpPr/>
          <p:nvPr/>
        </p:nvSpPr>
        <p:spPr>
          <a:xfrm>
            <a:off x="411480" y="1920240"/>
            <a:ext cx="5577840" cy="329184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68580" cy="32918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WORKING NOW</a:t>
            </a:r>
          </a:p>
        </p:txBody>
      </p:sp>
      <p:sp>
        <p:nvSpPr>
          <p:cNvPr id="13" name="TextBox 12"/>
          <p:cNvSpPr txBox="1"/>
          <p:nvPr/>
        </p:nvSpPr>
        <p:spPr>
          <a:xfrm>
            <a:off x="612648"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19 part types cost through the engine, plus an assembly</a:t>
            </a:r>
          </a:p>
          <a:p>
            <a:pPr algn="l">
              <a:lnSpc>
                <a:spcPct val="112000"/>
              </a:lnSpc>
              <a:spcAft>
                <a:spcPts val="300"/>
              </a:spcAft>
            </a:pPr>
            <a:r>
              <a:rPr sz="1050" b="0" i="0">
                <a:solidFill>
                  <a:srgbClr val="3A4356"/>
                </a:solidFill>
                <a:latin typeface="Calibri"/>
              </a:rPr>
              <a:t>roll-up and a separate software model</a:t>
            </a:r>
          </a:p>
          <a:p>
            <a:pPr algn="l">
              <a:lnSpc>
                <a:spcPct val="112000"/>
              </a:lnSpc>
              <a:spcAft>
                <a:spcPts val="300"/>
              </a:spcAft>
            </a:pPr>
            <a:r>
              <a:rPr sz="1050" b="0" i="0">
                <a:solidFill>
                  <a:srgbClr val="3A4356"/>
                </a:solidFill>
                <a:latin typeface="Calibri"/>
              </a:rPr>
              <a:t>The costing gives the same answer every run</a:t>
            </a:r>
          </a:p>
          <a:p>
            <a:pPr algn="l">
              <a:lnSpc>
                <a:spcPct val="112000"/>
              </a:lnSpc>
              <a:spcAft>
                <a:spcPts val="300"/>
              </a:spcAft>
            </a:pPr>
            <a:r>
              <a:rPr sz="1050" b="0" i="0">
                <a:solidFill>
                  <a:srgbClr val="3A4356"/>
                </a:solidFill>
                <a:latin typeface="Calibri"/>
              </a:rPr>
              <a:t>Measures 3D models with no internet connection</a:t>
            </a:r>
          </a:p>
          <a:p>
            <a:pPr algn="l">
              <a:lnSpc>
                <a:spcPct val="112000"/>
              </a:lnSpc>
              <a:spcAft>
                <a:spcPts val="300"/>
              </a:spcAft>
            </a:pPr>
            <a:r>
              <a:rPr sz="1050" b="0" i="0">
                <a:solidFill>
                  <a:srgbClr val="3A4356"/>
                </a:solidFill>
                <a:latin typeface="Calibri"/>
              </a:rPr>
              <a:t>Reads drawings for tolerances, finish, heat treatment</a:t>
            </a:r>
          </a:p>
          <a:p>
            <a:pPr algn="l">
              <a:lnSpc>
                <a:spcPct val="112000"/>
              </a:lnSpc>
              <a:spcAft>
                <a:spcPts val="300"/>
              </a:spcAft>
            </a:pPr>
            <a:r>
              <a:rPr sz="1050" b="0" i="0">
                <a:solidFill>
                  <a:srgbClr val="3A4356"/>
                </a:solidFill>
                <a:latin typeface="Calibri"/>
              </a:rPr>
              <a:t>(needs the AI service; the default setting runs without</a:t>
            </a:r>
          </a:p>
          <a:p>
            <a:pPr algn="l">
              <a:lnSpc>
                <a:spcPct val="112000"/>
              </a:lnSpc>
              <a:spcAft>
                <a:spcPts val="300"/>
              </a:spcAft>
            </a:pPr>
            <a:r>
              <a:rPr sz="1050" b="0" i="0">
                <a:solidFill>
                  <a:srgbClr val="3A4356"/>
                </a:solidFill>
                <a:latin typeface="Calibri"/>
              </a:rPr>
              <a:t>it and still costs the part)</a:t>
            </a:r>
          </a:p>
          <a:p>
            <a:pPr algn="l">
              <a:lnSpc>
                <a:spcPct val="112000"/>
              </a:lnSpc>
              <a:spcAft>
                <a:spcPts val="300"/>
              </a:spcAft>
            </a:pPr>
            <a:r>
              <a:rPr sz="1050" b="0" i="0">
                <a:solidFill>
                  <a:srgbClr val="3A4356"/>
                </a:solidFill>
                <a:latin typeface="Calibri"/>
              </a:rPr>
              <a:t>Refuses geometry it cannot honestly measure</a:t>
            </a:r>
          </a:p>
          <a:p>
            <a:pPr algn="l">
              <a:lnSpc>
                <a:spcPct val="112000"/>
              </a:lnSpc>
              <a:spcAft>
                <a:spcPts val="300"/>
              </a:spcAft>
            </a:pPr>
            <a:r>
              <a:rPr sz="1050" b="0" i="0">
                <a:solidFill>
                  <a:srgbClr val="3A4356"/>
                </a:solidFill>
                <a:latin typeface="Calibri"/>
              </a:rPr>
              <a:t>Asks before it scales an inch model</a:t>
            </a:r>
          </a:p>
          <a:p>
            <a:pPr algn="l">
              <a:lnSpc>
                <a:spcPct val="112000"/>
              </a:lnSpc>
              <a:spcAft>
                <a:spcPts val="300"/>
              </a:spcAft>
            </a:pPr>
            <a:r>
              <a:rPr sz="1050" b="0" i="0">
                <a:solidFill>
                  <a:srgbClr val="3A4356"/>
                </a:solidFill>
                <a:latin typeface="Calibri"/>
              </a:rPr>
              <a:t>Same safety checks on every CAD route, printed in the</a:t>
            </a:r>
          </a:p>
          <a:p>
            <a:pPr algn="l">
              <a:lnSpc>
                <a:spcPct val="112000"/>
              </a:lnSpc>
              <a:spcAft>
                <a:spcPts val="300"/>
              </a:spcAft>
            </a:pPr>
            <a:r>
              <a:rPr sz="1050" b="0" i="0">
                <a:solidFill>
                  <a:srgbClr val="3A4356"/>
                </a:solidFill>
                <a:latin typeface="Calibri"/>
              </a:rPr>
              <a:t>report</a:t>
            </a:r>
          </a:p>
          <a:p>
            <a:pPr algn="l">
              <a:lnSpc>
                <a:spcPct val="112000"/>
              </a:lnSpc>
              <a:spcAft>
                <a:spcPts val="300"/>
              </a:spcAft>
            </a:pPr>
            <a:r>
              <a:rPr sz="1050" b="0" i="0">
                <a:solidFill>
                  <a:srgbClr val="3A4356"/>
                </a:solidFill>
                <a:latin typeface="Calibri"/>
              </a:rPr>
              <a:t>328 materials, 178 machines, 42 labour rates, 20 regions</a:t>
            </a:r>
          </a:p>
          <a:p>
            <a:pPr algn="l">
              <a:lnSpc>
                <a:spcPct val="112000"/>
              </a:lnSpc>
              <a:spcAft>
                <a:spcPts val="300"/>
              </a:spcAft>
            </a:pPr>
            <a:r>
              <a:rPr sz="1050" b="0" i="0">
                <a:solidFill>
                  <a:srgbClr val="3A4356"/>
                </a:solidFill>
                <a:latin typeface="Calibri"/>
              </a:rPr>
              <a:t>2,079 automatic tests across 156 files, all passing</a:t>
            </a:r>
          </a:p>
        </p:txBody>
      </p:sp>
      <p:sp>
        <p:nvSpPr>
          <p:cNvPr id="14" name="Rounded Rectangle 13"/>
          <p:cNvSpPr/>
          <p:nvPr/>
        </p:nvSpPr>
        <p:spPr>
          <a:xfrm>
            <a:off x="6199632" y="1920240"/>
            <a:ext cx="5577840" cy="329184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920240"/>
            <a:ext cx="68580" cy="32918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THERE YET</a:t>
            </a:r>
          </a:p>
        </p:txBody>
      </p:sp>
      <p:sp>
        <p:nvSpPr>
          <p:cNvPr id="17" name="TextBox 16"/>
          <p:cNvSpPr txBox="1"/>
          <p:nvPr/>
        </p:nvSpPr>
        <p:spPr>
          <a:xfrm>
            <a:off x="6400800"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Never compared against a price JLR has paid</a:t>
            </a:r>
          </a:p>
          <a:p>
            <a:pPr algn="l">
              <a:lnSpc>
                <a:spcPct val="112000"/>
              </a:lnSpc>
              <a:spcAft>
                <a:spcPts val="300"/>
              </a:spcAft>
            </a:pPr>
            <a:r>
              <a:rPr sz="1050" b="0" i="0">
                <a:solidFill>
                  <a:srgbClr val="3A4356"/>
                </a:solidFill>
                <a:latin typeface="Calibri"/>
              </a:rPr>
              <a:t>No history kept when someone changes a rate</a:t>
            </a:r>
          </a:p>
          <a:p>
            <a:pPr algn="l">
              <a:lnSpc>
                <a:spcPct val="112000"/>
              </a:lnSpc>
              <a:spcAft>
                <a:spcPts val="300"/>
              </a:spcAft>
            </a:pPr>
            <a:r>
              <a:rPr sz="1050" b="0" i="0">
                <a:solidFill>
                  <a:srgbClr val="3A4356"/>
                </a:solidFill>
                <a:latin typeface="Calibri"/>
              </a:rPr>
              <a:t>Finished costings are not saved, so an old one cannot</a:t>
            </a:r>
          </a:p>
          <a:p>
            <a:pPr algn="l">
              <a:lnSpc>
                <a:spcPct val="112000"/>
              </a:lnSpc>
              <a:spcAft>
                <a:spcPts val="300"/>
              </a:spcAft>
            </a:pPr>
            <a:r>
              <a:rPr sz="1050" b="0" i="0">
                <a:solidFill>
                  <a:srgbClr val="3A4356"/>
                </a:solidFill>
                <a:latin typeface="Calibri"/>
              </a:rPr>
              <a:t>be reproduced</a:t>
            </a:r>
          </a:p>
          <a:p>
            <a:pPr algn="l">
              <a:lnSpc>
                <a:spcPct val="112000"/>
              </a:lnSpc>
              <a:spcAft>
                <a:spcPts val="300"/>
              </a:spcAft>
            </a:pPr>
            <a:r>
              <a:rPr sz="1050" b="0" i="0">
                <a:solidFill>
                  <a:srgbClr val="3A4356"/>
                </a:solidFill>
                <a:latin typeface="Calibri"/>
              </a:rPr>
              <a:t>No JLR sign-on; it has its own logins today</a:t>
            </a:r>
          </a:p>
          <a:p>
            <a:pPr algn="l">
              <a:lnSpc>
                <a:spcPct val="112000"/>
              </a:lnSpc>
              <a:spcAft>
                <a:spcPts val="300"/>
              </a:spcAft>
            </a:pPr>
            <a:r>
              <a:rPr sz="1050" b="0" i="0">
                <a:solidFill>
                  <a:srgbClr val="3A4356"/>
                </a:solidFill>
                <a:latin typeface="Calibri"/>
              </a:rPr>
              <a:t>Gear costs in the screens but the automated route</a:t>
            </a:r>
          </a:p>
          <a:p>
            <a:pPr algn="l">
              <a:lnSpc>
                <a:spcPct val="112000"/>
              </a:lnSpc>
              <a:spcAft>
                <a:spcPts val="300"/>
              </a:spcAft>
            </a:pPr>
            <a:r>
              <a:rPr sz="1050" b="0" i="0">
                <a:solidFill>
                  <a:srgbClr val="3A4356"/>
                </a:solidFill>
                <a:latin typeface="Calibri"/>
              </a:rPr>
              <a:t>cannot reach it</a:t>
            </a:r>
          </a:p>
          <a:p>
            <a:pPr algn="l">
              <a:lnSpc>
                <a:spcPct val="112000"/>
              </a:lnSpc>
              <a:spcAft>
                <a:spcPts val="300"/>
              </a:spcAft>
            </a:pPr>
            <a:r>
              <a:rPr sz="1050" b="0" i="0">
                <a:solidFill>
                  <a:srgbClr val="3A4356"/>
                </a:solidFill>
                <a:latin typeface="Calibri"/>
              </a:rPr>
              <a:t>The automated route cannot yet be told a region or an</a:t>
            </a:r>
          </a:p>
          <a:p>
            <a:pPr algn="l">
              <a:lnSpc>
                <a:spcPct val="112000"/>
              </a:lnSpc>
              <a:spcAft>
                <a:spcPts val="300"/>
              </a:spcAft>
            </a:pPr>
            <a:r>
              <a:rPr sz="1050" b="0" i="0">
                <a:solidFill>
                  <a:srgbClr val="3A4356"/>
                </a:solidFill>
                <a:latin typeface="Calibri"/>
              </a:rPr>
              <a:t>annual volume</a:t>
            </a:r>
          </a:p>
          <a:p>
            <a:pPr algn="l">
              <a:lnSpc>
                <a:spcPct val="112000"/>
              </a:lnSpc>
              <a:spcAft>
                <a:spcPts val="300"/>
              </a:spcAft>
            </a:pPr>
            <a:r>
              <a:rPr sz="1050" b="0" i="0">
                <a:solidFill>
                  <a:srgbClr val="3A4356"/>
                </a:solidFill>
                <a:latin typeface="Calibri"/>
              </a:rPr>
              <a:t>The geometry safety checks run on the CAD route, not</a:t>
            </a:r>
          </a:p>
          <a:p>
            <a:pPr algn="l">
              <a:lnSpc>
                <a:spcPct val="112000"/>
              </a:lnSpc>
              <a:spcAft>
                <a:spcPts val="300"/>
              </a:spcAft>
            </a:pPr>
            <a:r>
              <a:rPr sz="1050" b="0" i="0">
                <a:solidFill>
                  <a:srgbClr val="3A4356"/>
                </a:solidFill>
                <a:latin typeface="Calibri"/>
              </a:rPr>
              <a:t>yet on the automated one</a:t>
            </a:r>
          </a:p>
          <a:p>
            <a:pPr algn="l">
              <a:lnSpc>
                <a:spcPct val="112000"/>
              </a:lnSpc>
              <a:spcAft>
                <a:spcPts val="300"/>
              </a:spcAft>
            </a:pPr>
            <a:r>
              <a:rPr sz="1050" b="0" i="0">
                <a:solidFill>
                  <a:srgbClr val="3A4356"/>
                </a:solidFill>
                <a:latin typeface="Calibri"/>
              </a:rPr>
              <a:t>Still under active development</a:t>
            </a:r>
          </a:p>
        </p:txBody>
      </p:sp>
      <p:sp>
        <p:nvSpPr>
          <p:cNvPr id="18" name="Rounded Rectangle 17"/>
          <p:cNvSpPr/>
          <p:nvPr/>
        </p:nvSpPr>
        <p:spPr>
          <a:xfrm>
            <a:off x="411480" y="539496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3949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5138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changed since the last time I showed you this</a:t>
            </a:r>
          </a:p>
        </p:txBody>
      </p:sp>
      <p:sp>
        <p:nvSpPr>
          <p:cNvPr id="21" name="TextBox 20"/>
          <p:cNvSpPr txBox="1"/>
          <p:nvPr/>
        </p:nvSpPr>
        <p:spPr>
          <a:xfrm>
            <a:off x="630936" y="579729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Six rounds of work in the last few weeks. The tool now refuses bad geometry instead of costing it, asks about units, runs the same checks on every CAD route and prints them in the report, measures a file once instead of four times, and widens its confidence range when a number was typed rather than measured.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plan: prove it small, then scale it</a:t>
            </a:r>
          </a:p>
        </p:txBody>
      </p:sp>
      <p:sp>
        <p:nvSpPr>
          <p:cNvPr id="9" name="Rounded Rectangle 8"/>
          <p:cNvSpPr/>
          <p:nvPr/>
        </p:nvSpPr>
        <p:spPr>
          <a:xfrm>
            <a:off x="54864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664208"/>
            <a:ext cx="2651760"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91056" y="1828800"/>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png"/>
          <p:cNvPicPr>
            <a:picLocks noChangeAspect="1"/>
          </p:cNvPicPr>
          <p:nvPr/>
        </p:nvPicPr>
        <p:blipFill>
          <a:blip r:embed="rId2"/>
          <a:stretch>
            <a:fillRect/>
          </a:stretch>
        </p:blipFill>
        <p:spPr>
          <a:xfrm>
            <a:off x="1738457" y="1976201"/>
            <a:ext cx="272126" cy="272126"/>
          </a:xfrm>
          <a:prstGeom prst="rect">
            <a:avLst/>
          </a:prstGeom>
        </p:spPr>
      </p:pic>
      <p:sp>
        <p:nvSpPr>
          <p:cNvPr id="13" name="TextBox 12"/>
          <p:cNvSpPr txBox="1"/>
          <p:nvPr/>
        </p:nvSpPr>
        <p:spPr>
          <a:xfrm>
            <a:off x="62179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1</a:t>
            </a:r>
          </a:p>
        </p:txBody>
      </p:sp>
      <p:sp>
        <p:nvSpPr>
          <p:cNvPr id="14" name="TextBox 13"/>
          <p:cNvSpPr txBox="1"/>
          <p:nvPr/>
        </p:nvSpPr>
        <p:spPr>
          <a:xfrm>
            <a:off x="62179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Fill CAPEE automatically</a:t>
            </a:r>
          </a:p>
        </p:txBody>
      </p:sp>
      <p:sp>
        <p:nvSpPr>
          <p:cNvPr id="15" name="Right Arrow 14"/>
          <p:cNvSpPr/>
          <p:nvPr/>
        </p:nvSpPr>
        <p:spPr>
          <a:xfrm>
            <a:off x="322783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7472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74720" y="1664208"/>
            <a:ext cx="2651760"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heck.png"/>
          <p:cNvPicPr>
            <a:picLocks noChangeAspect="1"/>
          </p:cNvPicPr>
          <p:nvPr/>
        </p:nvPicPr>
        <p:blipFill>
          <a:blip r:embed="rId3"/>
          <a:stretch>
            <a:fillRect/>
          </a:stretch>
        </p:blipFill>
        <p:spPr>
          <a:xfrm>
            <a:off x="4664537" y="1976201"/>
            <a:ext cx="272126" cy="272126"/>
          </a:xfrm>
          <a:prstGeom prst="rect">
            <a:avLst/>
          </a:prstGeom>
        </p:spPr>
      </p:pic>
      <p:sp>
        <p:nvSpPr>
          <p:cNvPr id="19" name="TextBox 18"/>
          <p:cNvSpPr txBox="1"/>
          <p:nvPr/>
        </p:nvSpPr>
        <p:spPr>
          <a:xfrm>
            <a:off x="354787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Prove it</a:t>
            </a:r>
          </a:p>
        </p:txBody>
      </p:sp>
      <p:sp>
        <p:nvSpPr>
          <p:cNvPr id="20" name="TextBox 19"/>
          <p:cNvSpPr txBox="1"/>
          <p:nvPr/>
        </p:nvSpPr>
        <p:spPr>
          <a:xfrm>
            <a:off x="354787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30 to 50 real JLR parts</a:t>
            </a:r>
          </a:p>
        </p:txBody>
      </p:sp>
      <p:sp>
        <p:nvSpPr>
          <p:cNvPr id="21" name="Right Arrow 20"/>
          <p:cNvSpPr/>
          <p:nvPr/>
        </p:nvSpPr>
        <p:spPr>
          <a:xfrm>
            <a:off x="615391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1664208"/>
            <a:ext cx="2651760"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43216" y="1828800"/>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7590617" y="1976201"/>
            <a:ext cx="272126" cy="272126"/>
          </a:xfrm>
          <a:prstGeom prst="rect">
            <a:avLst/>
          </a:prstGeom>
        </p:spPr>
      </p:pic>
      <p:sp>
        <p:nvSpPr>
          <p:cNvPr id="26" name="TextBox 25"/>
          <p:cNvSpPr txBox="1"/>
          <p:nvPr/>
        </p:nvSpPr>
        <p:spPr>
          <a:xfrm>
            <a:off x="647395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Decide</a:t>
            </a:r>
          </a:p>
        </p:txBody>
      </p:sp>
      <p:sp>
        <p:nvSpPr>
          <p:cNvPr id="27" name="TextBox 26"/>
          <p:cNvSpPr txBox="1"/>
          <p:nvPr/>
        </p:nvSpPr>
        <p:spPr>
          <a:xfrm>
            <a:off x="647395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With an accuracy figure in hand</a:t>
            </a:r>
          </a:p>
        </p:txBody>
      </p:sp>
      <p:sp>
        <p:nvSpPr>
          <p:cNvPr id="28" name="Right Arrow 27"/>
          <p:cNvSpPr/>
          <p:nvPr/>
        </p:nvSpPr>
        <p:spPr>
          <a:xfrm>
            <a:off x="907999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32688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26880" y="1664208"/>
            <a:ext cx="2651760"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369296" y="1828800"/>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5"/>
          <a:stretch>
            <a:fillRect/>
          </a:stretch>
        </p:blipFill>
        <p:spPr>
          <a:xfrm>
            <a:off x="10516697" y="1976201"/>
            <a:ext cx="272126" cy="272126"/>
          </a:xfrm>
          <a:prstGeom prst="rect">
            <a:avLst/>
          </a:prstGeom>
        </p:spPr>
      </p:pic>
      <p:sp>
        <p:nvSpPr>
          <p:cNvPr id="33" name="TextBox 32"/>
          <p:cNvSpPr txBox="1"/>
          <p:nvPr/>
        </p:nvSpPr>
        <p:spPr>
          <a:xfrm>
            <a:off x="940003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2</a:t>
            </a:r>
          </a:p>
        </p:txBody>
      </p:sp>
      <p:sp>
        <p:nvSpPr>
          <p:cNvPr id="34" name="TextBox 33"/>
          <p:cNvSpPr txBox="1"/>
          <p:nvPr/>
        </p:nvSpPr>
        <p:spPr>
          <a:xfrm>
            <a:off x="940003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Cost the whole basket in bulk</a:t>
            </a:r>
          </a:p>
        </p:txBody>
      </p:sp>
      <p:sp>
        <p:nvSpPr>
          <p:cNvPr id="35" name="Rounded Rectangle 34"/>
          <p:cNvSpPr/>
          <p:nvPr/>
        </p:nvSpPr>
        <p:spPr>
          <a:xfrm>
            <a:off x="411480"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3529584"/>
            <a:ext cx="68580" cy="21031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38" name="TextBox 37"/>
          <p:cNvSpPr txBox="1"/>
          <p:nvPr/>
        </p:nvSpPr>
        <p:spPr>
          <a:xfrm>
            <a:off x="612648"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stays as it is and still does the costing.</a:t>
            </a:r>
          </a:p>
          <a:p>
            <a:pPr algn="l">
              <a:lnSpc>
                <a:spcPct val="112000"/>
              </a:lnSpc>
              <a:spcAft>
                <a:spcPts val="300"/>
              </a:spcAft>
            </a:pPr>
            <a:r>
              <a:rPr sz="1050" b="0" i="0">
                <a:solidFill>
                  <a:srgbClr val="3A4356"/>
                </a:solidFill>
                <a:latin typeface="Calibri"/>
              </a:rPr>
              <a:t>Instead of typing between twelve and seventy boxes,</a:t>
            </a:r>
          </a:p>
          <a:p>
            <a:pPr algn="l">
              <a:lnSpc>
                <a:spcPct val="112000"/>
              </a:lnSpc>
              <a:spcAft>
                <a:spcPts val="300"/>
              </a:spcAft>
            </a:pPr>
            <a:r>
              <a:rPr sz="1050" b="0" i="0">
                <a:solidFill>
                  <a:srgbClr val="3A4356"/>
                </a:solidFill>
                <a:latin typeface="Calibri"/>
              </a:rPr>
              <a:t>the engineer hands over the 3D model and the drawing</a:t>
            </a:r>
          </a:p>
          <a:p>
            <a:pPr algn="l">
              <a:lnSpc>
                <a:spcPct val="112000"/>
              </a:lnSpc>
              <a:spcAft>
                <a:spcPts val="300"/>
              </a:spcAft>
            </a:pPr>
            <a:r>
              <a:rPr sz="1050" b="0" i="0">
                <a:solidFill>
                  <a:srgbClr val="3A4356"/>
                </a:solidFill>
                <a:latin typeface="Calibri"/>
              </a:rPr>
              <a:t>and the boxes fill in.</a:t>
            </a:r>
          </a:p>
          <a:p>
            <a:pPr algn="l">
              <a:lnSpc>
                <a:spcPct val="112000"/>
              </a:lnSpc>
              <a:spcAft>
                <a:spcPts val="300"/>
              </a:spcAft>
            </a:pPr>
          </a:p>
          <a:p>
            <a:pPr algn="l">
              <a:lnSpc>
                <a:spcPct val="112000"/>
              </a:lnSpc>
              <a:spcAft>
                <a:spcPts val="300"/>
              </a:spcAft>
            </a:pPr>
            <a:r>
              <a:rPr sz="1050" b="1" i="0">
                <a:solidFill>
                  <a:srgbClr val="16325C"/>
                </a:solidFill>
                <a:latin typeface="Calibri"/>
              </a:rPr>
              <a:t>Moves five pieces of software, about 14,300 lines,</a:t>
            </a:r>
          </a:p>
          <a:p>
            <a:pPr algn="l">
              <a:lnSpc>
                <a:spcPct val="112000"/>
              </a:lnSpc>
              <a:spcAft>
                <a:spcPts val="300"/>
              </a:spcAft>
            </a:pPr>
            <a:r>
              <a:rPr sz="1050" b="1" i="0">
                <a:solidFill>
                  <a:srgbClr val="16325C"/>
                </a:solidFill>
                <a:latin typeface="Calibri"/>
              </a:rPr>
              <a:t>with the safety checks. Slide 7 lists them.</a:t>
            </a:r>
          </a:p>
        </p:txBody>
      </p:sp>
      <p:sp>
        <p:nvSpPr>
          <p:cNvPr id="39" name="Rounded Rectangle 38"/>
          <p:cNvSpPr/>
          <p:nvPr/>
        </p:nvSpPr>
        <p:spPr>
          <a:xfrm>
            <a:off x="6199632"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529584"/>
            <a:ext cx="68580" cy="2103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 in bulk, run by an agent</a:t>
            </a:r>
          </a:p>
        </p:txBody>
      </p:sp>
      <p:sp>
        <p:nvSpPr>
          <p:cNvPr id="42" name="TextBox 41"/>
          <p:cNvSpPr txBox="1"/>
          <p:nvPr/>
        </p:nvSpPr>
        <p:spPr>
          <a:xfrm>
            <a:off x="6400800"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 costed</a:t>
            </a:r>
          </a:p>
          <a:p>
            <a:pPr algn="l">
              <a:lnSpc>
                <a:spcPct val="112000"/>
              </a:lnSpc>
              <a:spcAft>
                <a:spcPts val="300"/>
              </a:spcAft>
            </a:pPr>
            <a:r>
              <a:rPr sz="1050" b="0" i="0">
                <a:solidFill>
                  <a:srgbClr val="3A4356"/>
                </a:solidFill>
                <a:latin typeface="Calibri"/>
              </a:rPr>
              <a:t>and reported without anyone sitting there.</a:t>
            </a: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genuinely cannot decide.</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and the same rates. The new work is the</a:t>
            </a:r>
          </a:p>
          <a:p>
            <a:pPr algn="l">
              <a:lnSpc>
                <a:spcPct val="112000"/>
              </a:lnSpc>
              <a:spcAft>
                <a:spcPts val="300"/>
              </a:spcAft>
            </a:pPr>
            <a:r>
              <a:rPr sz="1050" b="1" i="0">
                <a:solidFill>
                  <a:srgbClr val="16325C"/>
                </a:solidFill>
                <a:latin typeface="Calibri"/>
              </a:rPr>
              <a:t>run, its record, and wiring the checks onto it.</a:t>
            </a:r>
          </a:p>
        </p:txBody>
      </p:sp>
      <p:sp>
        <p:nvSpPr>
          <p:cNvPr id="43" name="Rounded Rectangle 42"/>
          <p:cNvSpPr/>
          <p:nvPr/>
        </p:nvSpPr>
        <p:spPr>
          <a:xfrm>
            <a:off x="411480" y="5669280"/>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5669280"/>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57881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Why this order</a:t>
            </a:r>
          </a:p>
        </p:txBody>
      </p:sp>
      <p:sp>
        <p:nvSpPr>
          <p:cNvPr id="46" name="TextBox 45"/>
          <p:cNvSpPr txBox="1"/>
          <p:nvPr/>
        </p:nvSpPr>
        <p:spPr>
          <a:xfrm>
            <a:off x="630936" y="607161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is the cheaper thing to try and it produces the accuracy number that Option 2 needs. Costing five hundred parts is only worth doing once we know the tool gets one part right.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happens to one part</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an engineer does each time they cost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Hands over files</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and drawing,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lip.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AI reads the drawing</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Tolerances, finish, coating, heat treatment</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What was read is compared with the model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the things a 3D model cannot show</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gets the numbers and calculates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order the build has to happen in</a:t>
            </a:r>
          </a:p>
        </p:txBody>
      </p:sp>
      <p:sp>
        <p:nvSpPr>
          <p:cNvPr id="52" name="Chevron 51"/>
          <p:cNvSpPr/>
          <p:nvPr/>
        </p:nvSpPr>
        <p:spPr>
          <a:xfrm>
            <a:off x="411480"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Agree the connection</a:t>
            </a:r>
          </a:p>
        </p:txBody>
      </p:sp>
      <p:sp>
        <p:nvSpPr>
          <p:cNvPr id="53" name="Chevron 52"/>
          <p:cNvSpPr/>
          <p:nvPr/>
        </p:nvSpPr>
        <p:spPr>
          <a:xfrm>
            <a:off x="2249423"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Stand up measuring</a:t>
            </a:r>
          </a:p>
        </p:txBody>
      </p:sp>
      <p:sp>
        <p:nvSpPr>
          <p:cNvPr id="54" name="Chevron 53"/>
          <p:cNvSpPr/>
          <p:nvPr/>
        </p:nvSpPr>
        <p:spPr>
          <a:xfrm>
            <a:off x="4087366"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Hand over settings</a:t>
            </a:r>
          </a:p>
        </p:txBody>
      </p:sp>
      <p:sp>
        <p:nvSpPr>
          <p:cNvPr id="55" name="Chevron 54"/>
          <p:cNvSpPr/>
          <p:nvPr/>
        </p:nvSpPr>
        <p:spPr>
          <a:xfrm>
            <a:off x="5925309"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Add safety checks</a:t>
            </a:r>
          </a:p>
        </p:txBody>
      </p:sp>
      <p:sp>
        <p:nvSpPr>
          <p:cNvPr id="56" name="Chevron 55"/>
          <p:cNvSpPr/>
          <p:nvPr/>
        </p:nvSpPr>
        <p:spPr>
          <a:xfrm>
            <a:off x="7763252"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Connect into CAPEE</a:t>
            </a:r>
          </a:p>
        </p:txBody>
      </p:sp>
      <p:sp>
        <p:nvSpPr>
          <p:cNvPr id="57" name="Chevron 56"/>
          <p:cNvSpPr/>
          <p:nvPr/>
        </p:nvSpPr>
        <p:spPr>
          <a:xfrm>
            <a:off x="9601195" y="4187952"/>
            <a:ext cx="1874519"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on one part type</a:t>
            </a:r>
          </a:p>
        </p:txBody>
      </p:sp>
      <p:sp>
        <p:nvSpPr>
          <p:cNvPr id="58" name="Rectangle 57"/>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Move the safety checks across</a:t>
            </a:r>
          </a:p>
        </p:txBody>
      </p:sp>
      <p:sp>
        <p:nvSpPr>
          <p:cNvPr id="66" name="Rectangle 65"/>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Help with the CAPEE connection</a:t>
            </a:r>
          </a:p>
        </p:txBody>
      </p:sp>
      <p:sp>
        <p:nvSpPr>
          <p:cNvPr id="68" name="Rectangle 67"/>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4" name="Rectangle 73"/>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take the numbers</a:t>
            </a:r>
          </a:p>
        </p:txBody>
      </p:sp>
      <p:sp>
        <p:nvSpPr>
          <p:cNvPr id="76" name="Rectangle 75"/>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Free up a team for the trial</a:t>
            </a:r>
          </a:p>
        </p:txBody>
      </p:sp>
      <p:sp>
        <p:nvSpPr>
          <p:cNvPr id="78" name="Rounded Rectangle 77"/>
          <p:cNvSpPr/>
          <p:nvPr/>
        </p:nvSpPr>
        <p:spPr>
          <a:xfrm>
            <a:off x="411480" y="6144768"/>
            <a:ext cx="11365992" cy="621792"/>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144768"/>
            <a:ext cx="68580" cy="62179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step we cannot size yet</a:t>
            </a:r>
          </a:p>
        </p:txBody>
      </p:sp>
      <p:sp>
        <p:nvSpPr>
          <p:cNvPr id="81" name="TextBox 80"/>
          <p:cNvSpPr txBox="1"/>
          <p:nvPr/>
        </p:nvSpPr>
        <p:spPr>
          <a:xfrm>
            <a:off x="630936" y="6547104"/>
            <a:ext cx="10954512" cy="11887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Connecting into CAPEE depends on how CAPEE is built, and we do not know that yet. Slide 10 sets out the three ways of doing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we hand over</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Sizes counted straight out of the software this month. Both languages are in common use and JLR IT will have people who know them.</a:t>
            </a:r>
          </a:p>
        </p:txBody>
      </p:sp>
      <p:sp>
        <p:nvSpPr>
          <p:cNvPr id="10" name="Rectangle 9"/>
          <p:cNvSpPr/>
          <p:nvPr/>
        </p:nvSpPr>
        <p:spPr>
          <a:xfrm>
            <a:off x="411480" y="210312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Part</a:t>
            </a:r>
          </a:p>
        </p:txBody>
      </p:sp>
      <p:sp>
        <p:nvSpPr>
          <p:cNvPr id="12" name="Rectangle 11"/>
          <p:cNvSpPr/>
          <p:nvPr/>
        </p:nvSpPr>
        <p:spPr>
          <a:xfrm>
            <a:off x="3429000" y="210312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8541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10312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8541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4323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Measuring engine</a:t>
            </a:r>
          </a:p>
        </p:txBody>
      </p:sp>
      <p:sp>
        <p:nvSpPr>
          <p:cNvPr id="20" name="Rectangle 19"/>
          <p:cNvSpPr/>
          <p:nvPr/>
        </p:nvSpPr>
        <p:spPr>
          <a:xfrm>
            <a:off x="3429000" y="24323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96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4323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96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2,462 lines</a:t>
            </a:r>
          </a:p>
        </p:txBody>
      </p:sp>
      <p:sp>
        <p:nvSpPr>
          <p:cNvPr id="24" name="Rectangle 23"/>
          <p:cNvSpPr/>
          <p:nvPr/>
        </p:nvSpPr>
        <p:spPr>
          <a:xfrm>
            <a:off x="6355080" y="24323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96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Makes no internet connection.</a:t>
            </a:r>
          </a:p>
        </p:txBody>
      </p:sp>
      <p:sp>
        <p:nvSpPr>
          <p:cNvPr id="26" name="Rectangle 25"/>
          <p:cNvSpPr/>
          <p:nvPr/>
        </p:nvSpPr>
        <p:spPr>
          <a:xfrm>
            <a:off x="411480" y="28895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535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Reading the drawing</a:t>
            </a:r>
          </a:p>
        </p:txBody>
      </p:sp>
      <p:sp>
        <p:nvSpPr>
          <p:cNvPr id="28" name="Rectangle 27"/>
          <p:cNvSpPr/>
          <p:nvPr/>
        </p:nvSpPr>
        <p:spPr>
          <a:xfrm>
            <a:off x="3429000" y="28895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535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895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535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830 lines</a:t>
            </a:r>
          </a:p>
        </p:txBody>
      </p:sp>
      <p:sp>
        <p:nvSpPr>
          <p:cNvPr id="32" name="Rectangle 31"/>
          <p:cNvSpPr/>
          <p:nvPr/>
        </p:nvSpPr>
        <p:spPr>
          <a:xfrm>
            <a:off x="6355080" y="28895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535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Sends the drawing to the AI and sorts out what comes back.</a:t>
            </a:r>
          </a:p>
        </p:txBody>
      </p:sp>
      <p:sp>
        <p:nvSpPr>
          <p:cNvPr id="34" name="Rectangle 33"/>
          <p:cNvSpPr/>
          <p:nvPr/>
        </p:nvSpPr>
        <p:spPr>
          <a:xfrm>
            <a:off x="411480" y="33467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107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Safety checks</a:t>
            </a:r>
          </a:p>
        </p:txBody>
      </p:sp>
      <p:sp>
        <p:nvSpPr>
          <p:cNvPr id="36" name="Rectangle 35"/>
          <p:cNvSpPr/>
          <p:nvPr/>
        </p:nvSpPr>
        <p:spPr>
          <a:xfrm>
            <a:off x="3429000" y="33467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107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467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107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536 lines</a:t>
            </a:r>
          </a:p>
        </p:txBody>
      </p:sp>
      <p:sp>
        <p:nvSpPr>
          <p:cNvPr id="40" name="Rectangle 39"/>
          <p:cNvSpPr/>
          <p:nvPr/>
        </p:nvSpPr>
        <p:spPr>
          <a:xfrm>
            <a:off x="6355080" y="33467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107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four checks on the next slide, in three files.</a:t>
            </a:r>
          </a:p>
        </p:txBody>
      </p:sp>
      <p:sp>
        <p:nvSpPr>
          <p:cNvPr id="42" name="Rectangle 41"/>
          <p:cNvSpPr/>
          <p:nvPr/>
        </p:nvSpPr>
        <p:spPr>
          <a:xfrm>
            <a:off x="411480" y="38039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679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Questions per part type</a:t>
            </a:r>
          </a:p>
        </p:txBody>
      </p:sp>
      <p:sp>
        <p:nvSpPr>
          <p:cNvPr id="44" name="Rectangle 43"/>
          <p:cNvSpPr/>
          <p:nvPr/>
        </p:nvSpPr>
        <p:spPr>
          <a:xfrm>
            <a:off x="3429000" y="38039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679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039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679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8,509 lines</a:t>
            </a:r>
          </a:p>
        </p:txBody>
      </p:sp>
      <p:sp>
        <p:nvSpPr>
          <p:cNvPr id="48" name="Rectangle 47"/>
          <p:cNvSpPr/>
          <p:nvPr/>
        </p:nvSpPr>
        <p:spPr>
          <a:xfrm>
            <a:off x="6355080" y="38039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679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165 costing rules that fill the form and decide what the engineer gets asked.</a:t>
            </a:r>
          </a:p>
        </p:txBody>
      </p:sp>
      <p:sp>
        <p:nvSpPr>
          <p:cNvPr id="50" name="Rectangle 49"/>
          <p:cNvSpPr/>
          <p:nvPr/>
        </p:nvSpPr>
        <p:spPr>
          <a:xfrm>
            <a:off x="411480" y="42611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251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Design-for-cost findings</a:t>
            </a:r>
          </a:p>
        </p:txBody>
      </p:sp>
      <p:sp>
        <p:nvSpPr>
          <p:cNvPr id="52" name="Rectangle 51"/>
          <p:cNvSpPr/>
          <p:nvPr/>
        </p:nvSpPr>
        <p:spPr>
          <a:xfrm>
            <a:off x="3429000" y="42611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251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54" name="Rectangle 53"/>
          <p:cNvSpPr/>
          <p:nvPr/>
        </p:nvSpPr>
        <p:spPr>
          <a:xfrm>
            <a:off x="4983480" y="42611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251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1,992 lines</a:t>
            </a:r>
          </a:p>
        </p:txBody>
      </p:sp>
      <p:sp>
        <p:nvSpPr>
          <p:cNvPr id="56" name="Rectangle 55"/>
          <p:cNvSpPr/>
          <p:nvPr/>
        </p:nvSpPr>
        <p:spPr>
          <a:xfrm>
            <a:off x="6355080" y="42611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251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Flags features that are expensive to make and says why.</a:t>
            </a:r>
          </a:p>
        </p:txBody>
      </p:sp>
      <p:sp>
        <p:nvSpPr>
          <p:cNvPr id="58" name="Rectangle 57"/>
          <p:cNvSpPr/>
          <p:nvPr/>
        </p:nvSpPr>
        <p:spPr>
          <a:xfrm>
            <a:off x="411480" y="47183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782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Settings list</a:t>
            </a:r>
          </a:p>
        </p:txBody>
      </p:sp>
      <p:sp>
        <p:nvSpPr>
          <p:cNvPr id="60" name="Rectangle 59"/>
          <p:cNvSpPr/>
          <p:nvPr/>
        </p:nvSpPr>
        <p:spPr>
          <a:xfrm>
            <a:off x="3429000" y="47183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782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62" name="Rectangle 61"/>
          <p:cNvSpPr/>
          <p:nvPr/>
        </p:nvSpPr>
        <p:spPr>
          <a:xfrm>
            <a:off x="4983480" y="47183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782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one file</a:t>
            </a:r>
          </a:p>
        </p:txBody>
      </p:sp>
      <p:sp>
        <p:nvSpPr>
          <p:cNvPr id="64" name="Rectangle 63"/>
          <p:cNvSpPr/>
          <p:nvPr/>
        </p:nvSpPr>
        <p:spPr>
          <a:xfrm>
            <a:off x="6355080" y="47183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782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pulled together in one place. Slide 9.</a:t>
            </a:r>
          </a:p>
        </p:txBody>
      </p:sp>
      <p:sp>
        <p:nvSpPr>
          <p:cNvPr id="66" name="Rounded Rectangle 65"/>
          <p:cNvSpPr/>
          <p:nvPr/>
        </p:nvSpPr>
        <p:spPr>
          <a:xfrm>
            <a:off x="411480" y="532180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32180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About the two languages</a:t>
            </a:r>
          </a:p>
        </p:txBody>
      </p:sp>
      <p:sp>
        <p:nvSpPr>
          <p:cNvPr id="69" name="TextBox 68"/>
          <p:cNvSpPr txBox="1"/>
          <p:nvPr/>
        </p:nvSpPr>
        <p:spPr>
          <a:xfrm>
            <a:off x="630936"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the normal choice for engineering and measurement work. TypeScript is widely used for business software. Neither is unusual and neither ties JLR to one supplier.</a:t>
            </a:r>
          </a:p>
        </p:txBody>
      </p:sp>
      <p:sp>
        <p:nvSpPr>
          <p:cNvPr id="70" name="Rounded Rectangle 69"/>
          <p:cNvSpPr/>
          <p:nvPr/>
        </p:nvSpPr>
        <p:spPr>
          <a:xfrm>
            <a:off x="6199632" y="532180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321808"/>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thing for IT to confirm</a:t>
            </a:r>
          </a:p>
        </p:txBody>
      </p:sp>
      <p:sp>
        <p:nvSpPr>
          <p:cNvPr id="73" name="TextBox 72"/>
          <p:cNvSpPr txBox="1"/>
          <p:nvPr/>
        </p:nvSpPr>
        <p:spPr>
          <a:xfrm>
            <a:off x="6419088"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needs a normal Linux server, not the cut-down kind used for small services. It decides where this can go, so it is worth settling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checks that have to come with it</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AI does not set a price. It does hand over numbers that feed into one, so a bad reading turns into a bad cost. These four checks are what stop that, and they have to come across with everything else.</a:t>
            </a:r>
          </a:p>
        </p:txBody>
      </p:sp>
      <p:sp>
        <p:nvSpPr>
          <p:cNvPr id="10" name="Rounded Rectangle 9"/>
          <p:cNvSpPr/>
          <p:nvPr/>
        </p:nvSpPr>
        <p:spPr>
          <a:xfrm>
            <a:off x="411480" y="2240280"/>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40280"/>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38658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529230"/>
            <a:ext cx="263348" cy="263348"/>
          </a:xfrm>
          <a:prstGeom prst="rect">
            <a:avLst/>
          </a:prstGeom>
        </p:spPr>
      </p:pic>
      <p:sp>
        <p:nvSpPr>
          <p:cNvPr id="14" name="TextBox 13"/>
          <p:cNvSpPr txBox="1"/>
          <p:nvPr/>
        </p:nvSpPr>
        <p:spPr>
          <a:xfrm>
            <a:off x="1417320" y="2368296"/>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measured model beats the AI</a:t>
            </a:r>
          </a:p>
        </p:txBody>
      </p:sp>
      <p:sp>
        <p:nvSpPr>
          <p:cNvPr id="15" name="TextBox 14"/>
          <p:cNvSpPr txBox="1"/>
          <p:nvPr/>
        </p:nvSpPr>
        <p:spPr>
          <a:xfrm>
            <a:off x="1417320" y="2651760"/>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If the AI reads 2 kg off the drawing and the model measures 1.4 kg, we use the measured figure. A disagreement the other way is flagged to the engineer, and a gap of more than half stops the costing until someone accepts it.</a:t>
            </a:r>
          </a:p>
        </p:txBody>
      </p:sp>
      <p:sp>
        <p:nvSpPr>
          <p:cNvPr id="16" name="Rounded Rectangle 15"/>
          <p:cNvSpPr/>
          <p:nvPr/>
        </p:nvSpPr>
        <p:spPr>
          <a:xfrm>
            <a:off x="411480" y="3172968"/>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319272"/>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461918"/>
            <a:ext cx="263348" cy="263348"/>
          </a:xfrm>
          <a:prstGeom prst="rect">
            <a:avLst/>
          </a:prstGeom>
        </p:spPr>
      </p:pic>
      <p:sp>
        <p:nvSpPr>
          <p:cNvPr id="20" name="TextBox 19"/>
          <p:cNvSpPr txBox="1"/>
          <p:nvPr/>
        </p:nvSpPr>
        <p:spPr>
          <a:xfrm>
            <a:off x="1417320" y="3300984"/>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Everything read gets cross-checked</a:t>
            </a:r>
          </a:p>
        </p:txBody>
      </p:sp>
      <p:sp>
        <p:nvSpPr>
          <p:cNvPr id="21" name="TextBox 20"/>
          <p:cNvSpPr txBox="1"/>
          <p:nvPr/>
        </p:nvSpPr>
        <p:spPr>
          <a:xfrm>
            <a:off x="1417320" y="3584448"/>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Numbers taken off the drawing get compared against the measured model. Where they disagree, the engineer is told and has to accept it by name before the cost stands.</a:t>
            </a:r>
          </a:p>
        </p:txBody>
      </p:sp>
      <p:sp>
        <p:nvSpPr>
          <p:cNvPr id="22" name="Rounded Rectangle 21"/>
          <p:cNvSpPr/>
          <p:nvPr/>
        </p:nvSpPr>
        <p:spPr>
          <a:xfrm>
            <a:off x="411480" y="4105656"/>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105656"/>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25196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394606"/>
            <a:ext cx="263348" cy="263348"/>
          </a:xfrm>
          <a:prstGeom prst="rect">
            <a:avLst/>
          </a:prstGeom>
        </p:spPr>
      </p:pic>
      <p:sp>
        <p:nvSpPr>
          <p:cNvPr id="26" name="TextBox 25"/>
          <p:cNvSpPr txBox="1"/>
          <p:nvPr/>
        </p:nvSpPr>
        <p:spPr>
          <a:xfrm>
            <a:off x="1417320" y="42336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Machining time has a ceiling</a:t>
            </a:r>
          </a:p>
        </p:txBody>
      </p:sp>
      <p:sp>
        <p:nvSpPr>
          <p:cNvPr id="27" name="TextBox 26"/>
          <p:cNvSpPr txBox="1"/>
          <p:nvPr/>
        </p:nvSpPr>
        <p:spPr>
          <a:xfrm>
            <a:off x="1417320" y="45171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is capped at what finishing that part could realistically take, so a bad estimate cannot run the cost up.</a:t>
            </a:r>
          </a:p>
        </p:txBody>
      </p:sp>
      <p:sp>
        <p:nvSpPr>
          <p:cNvPr id="28" name="Rounded Rectangle 27"/>
          <p:cNvSpPr/>
          <p:nvPr/>
        </p:nvSpPr>
        <p:spPr>
          <a:xfrm>
            <a:off x="411480" y="5038344"/>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038344"/>
            <a:ext cx="68580" cy="8412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184648"/>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327294"/>
            <a:ext cx="263348" cy="263348"/>
          </a:xfrm>
          <a:prstGeom prst="rect">
            <a:avLst/>
          </a:prstGeom>
        </p:spPr>
      </p:pic>
      <p:sp>
        <p:nvSpPr>
          <p:cNvPr id="32" name="TextBox 31"/>
          <p:cNvSpPr txBox="1"/>
          <p:nvPr/>
        </p:nvSpPr>
        <p:spPr>
          <a:xfrm>
            <a:off x="1417320" y="516636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Unknowns get asked, not guessed</a:t>
            </a:r>
          </a:p>
        </p:txBody>
      </p:sp>
      <p:sp>
        <p:nvSpPr>
          <p:cNvPr id="33" name="TextBox 32"/>
          <p:cNvSpPr txBox="1"/>
          <p:nvPr/>
        </p:nvSpPr>
        <p:spPr>
          <a:xfrm>
            <a:off x="1417320" y="544982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Heat treatment, tolerance class and material grade cannot be read off a solid model, so the engineer is asked. The AI suggestion is labelled as a suggestion and never comes pre-ticked.</a:t>
            </a:r>
          </a:p>
        </p:txBody>
      </p:sp>
      <p:sp>
        <p:nvSpPr>
          <p:cNvPr id="34" name="Rounded Rectangle 33"/>
          <p:cNvSpPr/>
          <p:nvPr/>
        </p:nvSpPr>
        <p:spPr>
          <a:xfrm>
            <a:off x="411480" y="6035040"/>
            <a:ext cx="11365992" cy="74980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035040"/>
            <a:ext cx="68580" cy="74980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Two things we found in our own review, and fixed</a:t>
            </a:r>
          </a:p>
        </p:txBody>
      </p:sp>
      <p:sp>
        <p:nvSpPr>
          <p:cNvPr id="37" name="TextBox 36"/>
          <p:cNvSpPr txBox="1"/>
          <p:nvPr/>
        </p:nvSpPr>
        <p:spPr>
          <a:xfrm>
            <a:off x="630936" y="64373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route through the tool had no checks on it and returned a cost of "not a number" while reporting success. And a part exported as surfaces rather than a solid was costed at a plausible but wrong weight. Both now stop the costing instead of producing a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SETTINGS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fixed numbers inside the software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You asked what the hardcoded values actually are. These are engineering judgements written into the code. Six real ones, read off the software this month:</a:t>
            </a:r>
          </a:p>
        </p:txBody>
      </p:sp>
      <p:sp>
        <p:nvSpPr>
          <p:cNvPr id="10" name="Rectangle 9"/>
          <p:cNvSpPr/>
          <p:nvPr/>
        </p:nvSpPr>
        <p:spPr>
          <a:xfrm>
            <a:off x="411480" y="214884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23113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14884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23113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Value</a:t>
            </a:r>
          </a:p>
        </p:txBody>
      </p:sp>
      <p:sp>
        <p:nvSpPr>
          <p:cNvPr id="14" name="Rectangle 13"/>
          <p:cNvSpPr/>
          <p:nvPr/>
        </p:nvSpPr>
        <p:spPr>
          <a:xfrm>
            <a:off x="6446520" y="214884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23113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a:t>
            </a:r>
          </a:p>
        </p:txBody>
      </p:sp>
      <p:sp>
        <p:nvSpPr>
          <p:cNvPr id="16" name="Rectangle 15"/>
          <p:cNvSpPr/>
          <p:nvPr/>
        </p:nvSpPr>
        <p:spPr>
          <a:xfrm>
            <a:off x="411480" y="24780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542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counted as machined</a:t>
            </a:r>
          </a:p>
        </p:txBody>
      </p:sp>
      <p:sp>
        <p:nvSpPr>
          <p:cNvPr id="18" name="Rectangle 17"/>
          <p:cNvSpPr/>
          <p:nvPr/>
        </p:nvSpPr>
        <p:spPr>
          <a:xfrm>
            <a:off x="4343400" y="24780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542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4780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542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we treat it as an edge, not a face to machine</a:t>
            </a:r>
          </a:p>
        </p:txBody>
      </p:sp>
      <p:sp>
        <p:nvSpPr>
          <p:cNvPr id="22" name="Rectangle 21"/>
          <p:cNvSpPr/>
          <p:nvPr/>
        </p:nvSpPr>
        <p:spPr>
          <a:xfrm>
            <a:off x="411480" y="29352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992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counted</a:t>
            </a:r>
          </a:p>
        </p:txBody>
      </p:sp>
      <p:sp>
        <p:nvSpPr>
          <p:cNvPr id="24" name="Rectangle 23"/>
          <p:cNvSpPr/>
          <p:nvPr/>
        </p:nvSpPr>
        <p:spPr>
          <a:xfrm>
            <a:off x="4343400" y="29352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992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9352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992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small recesses getting costed as pockets</a:t>
            </a:r>
          </a:p>
        </p:txBody>
      </p:sp>
      <p:sp>
        <p:nvSpPr>
          <p:cNvPr id="28" name="Rectangle 27"/>
          <p:cNvSpPr/>
          <p:nvPr/>
        </p:nvSpPr>
        <p:spPr>
          <a:xfrm>
            <a:off x="411480" y="33924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4564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Cost of a rejected plated part</a:t>
            </a:r>
          </a:p>
        </p:txBody>
      </p:sp>
      <p:sp>
        <p:nvSpPr>
          <p:cNvPr id="30" name="Rectangle 29"/>
          <p:cNvSpPr/>
          <p:nvPr/>
        </p:nvSpPr>
        <p:spPr>
          <a:xfrm>
            <a:off x="4343400" y="33924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4564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4.5x a good one</a:t>
            </a:r>
          </a:p>
        </p:txBody>
      </p:sp>
      <p:sp>
        <p:nvSpPr>
          <p:cNvPr id="32" name="Rectangle 31"/>
          <p:cNvSpPr/>
          <p:nvPr/>
        </p:nvSpPr>
        <p:spPr>
          <a:xfrm>
            <a:off x="6446520" y="33924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4564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You strip it and plate it again, so a 3% reject rate is nearer 13% on cost</a:t>
            </a:r>
          </a:p>
        </p:txBody>
      </p:sp>
      <p:sp>
        <p:nvSpPr>
          <p:cNvPr id="34" name="Rectangle 33"/>
          <p:cNvSpPr/>
          <p:nvPr/>
        </p:nvSpPr>
        <p:spPr>
          <a:xfrm>
            <a:off x="411480" y="38496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9136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used for plating</a:t>
            </a:r>
          </a:p>
        </p:txBody>
      </p:sp>
      <p:sp>
        <p:nvSpPr>
          <p:cNvPr id="36" name="Rectangle 35"/>
          <p:cNvSpPr/>
          <p:nvPr/>
        </p:nvSpPr>
        <p:spPr>
          <a:xfrm>
            <a:off x="4343400" y="38496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9136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8496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9136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and is meant to get updated</a:t>
            </a:r>
          </a:p>
        </p:txBody>
      </p:sp>
      <p:sp>
        <p:nvSpPr>
          <p:cNvPr id="40" name="Rectangle 39"/>
          <p:cNvSpPr/>
          <p:nvPr/>
        </p:nvSpPr>
        <p:spPr>
          <a:xfrm>
            <a:off x="411480" y="43068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3708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3068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3708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3068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3708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real pressing has more surface than a flat plate: edges, flanges, bends</a:t>
            </a:r>
          </a:p>
        </p:txBody>
      </p:sp>
      <p:sp>
        <p:nvSpPr>
          <p:cNvPr id="46" name="Rectangle 45"/>
          <p:cNvSpPr/>
          <p:nvPr/>
        </p:nvSpPr>
        <p:spPr>
          <a:xfrm>
            <a:off x="411480" y="47640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828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and forging</a:t>
            </a:r>
          </a:p>
        </p:txBody>
      </p:sp>
      <p:sp>
        <p:nvSpPr>
          <p:cNvPr id="48" name="Rectangle 47"/>
          <p:cNvSpPr/>
          <p:nvPr/>
        </p:nvSpPr>
        <p:spPr>
          <a:xfrm>
            <a:off x="4343400" y="47640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828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7640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828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carry ribs and bosses; forgings are simpler on the outside</a:t>
            </a:r>
          </a:p>
        </p:txBody>
      </p:sp>
      <p:sp>
        <p:nvSpPr>
          <p:cNvPr id="52" name="Rounded Rectangle 51"/>
          <p:cNvSpPr/>
          <p:nvPr/>
        </p:nvSpPr>
        <p:spPr>
          <a:xfrm>
            <a:off x="411480" y="536752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36752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they get handed over</a:t>
            </a:r>
          </a:p>
        </p:txBody>
      </p:sp>
      <p:sp>
        <p:nvSpPr>
          <p:cNvPr id="55" name="TextBox 54"/>
          <p:cNvSpPr txBox="1"/>
          <p:nvPr/>
        </p:nvSpPr>
        <p:spPr>
          <a:xfrm>
            <a:off x="630936"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Pulled out of the code into one list you can read and change without a developer. That list is a deliverable in its own right and it is a step in the Option 1 sequence.</a:t>
            </a:r>
          </a:p>
        </p:txBody>
      </p:sp>
      <p:sp>
        <p:nvSpPr>
          <p:cNvPr id="56" name="Rounded Rectangle 55"/>
          <p:cNvSpPr/>
          <p:nvPr/>
        </p:nvSpPr>
        <p:spPr>
          <a:xfrm>
            <a:off x="6199632" y="536752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99632" y="5367528"/>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these came from</a:t>
            </a:r>
          </a:p>
        </p:txBody>
      </p:sp>
      <p:sp>
        <p:nvSpPr>
          <p:cNvPr id="59" name="TextBox 58"/>
          <p:cNvSpPr txBox="1"/>
          <p:nvPr/>
        </p:nvSpPr>
        <p:spPr>
          <a:xfrm>
            <a:off x="6419088"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our engineering estimates. They are not measurements from a JLR plant. Treat them as a starting point and expect to replace them as real data comes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know yet how CAPEE is built. All three routes work. The answer decides which one we use and how much effort it takes.</a:t>
            </a:r>
          </a:p>
        </p:txBody>
      </p:sp>
      <p:sp>
        <p:nvSpPr>
          <p:cNvPr id="10" name="Rectangle 9"/>
          <p:cNvSpPr/>
          <p:nvPr/>
        </p:nvSpPr>
        <p:spPr>
          <a:xfrm>
            <a:off x="41148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Route</a:t>
            </a:r>
          </a:p>
        </p:txBody>
      </p:sp>
      <p:sp>
        <p:nvSpPr>
          <p:cNvPr id="12" name="Rectangle 11"/>
          <p:cNvSpPr/>
          <p:nvPr/>
        </p:nvSpPr>
        <p:spPr>
          <a:xfrm>
            <a:off x="306324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when</a:t>
            </a:r>
          </a:p>
        </p:txBody>
      </p:sp>
      <p:sp>
        <p:nvSpPr>
          <p:cNvPr id="14" name="Rectangle 13"/>
          <p:cNvSpPr/>
          <p:nvPr/>
        </p:nvSpPr>
        <p:spPr>
          <a:xfrm>
            <a:off x="5715000" y="2103120"/>
            <a:ext cx="46908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85416"/>
            <a:ext cx="45445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day to day</a:t>
            </a:r>
          </a:p>
        </p:txBody>
      </p:sp>
      <p:sp>
        <p:nvSpPr>
          <p:cNvPr id="16" name="Rectangle 15"/>
          <p:cNvSpPr/>
          <p:nvPr/>
        </p:nvSpPr>
        <p:spPr>
          <a:xfrm>
            <a:off x="10405872"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88168"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Relative effort</a:t>
            </a:r>
          </a:p>
        </p:txBody>
      </p:sp>
      <p:sp>
        <p:nvSpPr>
          <p:cNvPr id="18" name="Rectangle 17"/>
          <p:cNvSpPr/>
          <p:nvPr/>
        </p:nvSpPr>
        <p:spPr>
          <a:xfrm>
            <a:off x="41148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9631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built in JavaScript</a:t>
            </a:r>
          </a:p>
        </p:txBody>
      </p:sp>
      <p:sp>
        <p:nvSpPr>
          <p:cNvPr id="22" name="Rectangle 21"/>
          <p:cNvSpPr/>
          <p:nvPr/>
        </p:nvSpPr>
        <p:spPr>
          <a:xfrm>
            <a:off x="5715000" y="243230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9631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goes straight in. Only the measuring engine sits separately.</a:t>
            </a:r>
          </a:p>
        </p:txBody>
      </p:sp>
      <p:sp>
        <p:nvSpPr>
          <p:cNvPr id="24" name="Rectangle 23"/>
          <p:cNvSpPr/>
          <p:nvPr/>
        </p:nvSpPr>
        <p:spPr>
          <a:xfrm>
            <a:off x="10405872" y="243230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88168" y="249631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26" name="Rectangle 25"/>
          <p:cNvSpPr/>
          <p:nvPr/>
        </p:nvSpPr>
        <p:spPr>
          <a:xfrm>
            <a:off x="41148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7355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7355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Java, .NET or anything else</a:t>
            </a:r>
          </a:p>
        </p:txBody>
      </p:sp>
      <p:sp>
        <p:nvSpPr>
          <p:cNvPr id="30" name="Rectangle 29"/>
          <p:cNvSpPr/>
          <p:nvPr/>
        </p:nvSpPr>
        <p:spPr>
          <a:xfrm>
            <a:off x="5715000" y="3209544"/>
            <a:ext cx="469087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7355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service on a JLR server and CAPEE asks it for numbers over a secure link.</a:t>
            </a:r>
          </a:p>
        </p:txBody>
      </p:sp>
      <p:sp>
        <p:nvSpPr>
          <p:cNvPr id="32" name="Rectangle 31"/>
          <p:cNvSpPr/>
          <p:nvPr/>
        </p:nvSpPr>
        <p:spPr>
          <a:xfrm>
            <a:off x="10405872" y="3209544"/>
            <a:ext cx="137160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88168" y="327355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B7791F"/>
                </a:solidFill>
                <a:latin typeface="Calibri"/>
              </a:rPr>
              <a:t>Most effort</a:t>
            </a:r>
          </a:p>
        </p:txBody>
      </p:sp>
      <p:sp>
        <p:nvSpPr>
          <p:cNvPr id="34" name="Rectangle 33"/>
          <p:cNvSpPr/>
          <p:nvPr/>
        </p:nvSpPr>
        <p:spPr>
          <a:xfrm>
            <a:off x="41148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507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507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a desktop or spreadsheet tool</a:t>
            </a:r>
          </a:p>
        </p:txBody>
      </p:sp>
      <p:sp>
        <p:nvSpPr>
          <p:cNvPr id="38" name="Rectangle 37"/>
          <p:cNvSpPr/>
          <p:nvPr/>
        </p:nvSpPr>
        <p:spPr>
          <a:xfrm>
            <a:off x="5715000" y="398678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5079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writes a file that CAPEE imports. Simplest to build, but somebody has to move the file.</a:t>
            </a:r>
          </a:p>
        </p:txBody>
      </p:sp>
      <p:sp>
        <p:nvSpPr>
          <p:cNvPr id="40" name="Rectangle 39"/>
          <p:cNvSpPr/>
          <p:nvPr/>
        </p:nvSpPr>
        <p:spPr>
          <a:xfrm>
            <a:off x="10405872" y="398678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88168" y="405079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42" name="Rounded Rectangle 41"/>
          <p:cNvSpPr/>
          <p:nvPr/>
        </p:nvSpPr>
        <p:spPr>
          <a:xfrm>
            <a:off x="411480" y="493776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9377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pick blind</a:t>
            </a:r>
          </a:p>
        </p:txBody>
      </p:sp>
      <p:sp>
        <p:nvSpPr>
          <p:cNvPr id="45" name="TextBox 44"/>
          <p:cNvSpPr txBox="1"/>
          <p:nvPr/>
        </p:nvSpPr>
        <p:spPr>
          <a:xfrm>
            <a:off x="630936"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Route B. It works whatever CAPEE turns out to be, and we can update CostVision without touching CAPEE every time.</a:t>
            </a:r>
          </a:p>
        </p:txBody>
      </p:sp>
      <p:sp>
        <p:nvSpPr>
          <p:cNvPr id="46" name="Rounded Rectangle 45"/>
          <p:cNvSpPr/>
          <p:nvPr/>
        </p:nvSpPr>
        <p:spPr>
          <a:xfrm>
            <a:off x="6199632" y="493776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93776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Three questions for IT</a:t>
            </a:r>
          </a:p>
        </p:txBody>
      </p:sp>
      <p:sp>
        <p:nvSpPr>
          <p:cNvPr id="49" name="TextBox 48"/>
          <p:cNvSpPr txBox="1"/>
          <p:nvPr/>
        </p:nvSpPr>
        <p:spPr>
          <a:xfrm>
            <a:off x="6419088"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another service on the network. Can it run on a normal Linux server.</a:t>
            </a:r>
          </a:p>
        </p:txBody>
      </p:sp>
      <p:sp>
        <p:nvSpPr>
          <p:cNvPr id="50" name="TextBox 49"/>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Effort is shown against the other two routes. None of the three has been sized by JLR.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THE TRIAL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the proof of concept proves</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One part type, one team, 30 to 50 parts we have already bought. Four numbers come out of it, and none of them exist today.</a:t>
            </a:r>
          </a:p>
        </p:txBody>
      </p:sp>
      <p:sp>
        <p:nvSpPr>
          <p:cNvPr id="10" name="Rounded Rectangle 9"/>
          <p:cNvSpPr/>
          <p:nvPr/>
        </p:nvSpPr>
        <p:spPr>
          <a:xfrm>
            <a:off x="411480" y="2103120"/>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03120"/>
            <a:ext cx="68580" cy="9326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267712"/>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3" name="TextBox 12"/>
          <p:cNvSpPr txBox="1"/>
          <p:nvPr/>
        </p:nvSpPr>
        <p:spPr>
          <a:xfrm>
            <a:off x="1325880" y="2212848"/>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close is it?</a:t>
            </a:r>
          </a:p>
        </p:txBody>
      </p:sp>
      <p:sp>
        <p:nvSpPr>
          <p:cNvPr id="14" name="TextBox 13"/>
          <p:cNvSpPr txBox="1"/>
          <p:nvPr/>
        </p:nvSpPr>
        <p:spPr>
          <a:xfrm>
            <a:off x="1325880" y="2496312"/>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Cost every part with the tool, compare against the price we actually paid, and report the average error. The test is whether the real error lands inside the range the tool itself predicted for each part. A tool that is wrong and says so is usable. One that is wrong and confident is not.</a:t>
            </a:r>
          </a:p>
        </p:txBody>
      </p:sp>
      <p:sp>
        <p:nvSpPr>
          <p:cNvPr id="15" name="Rounded Rectangle 14"/>
          <p:cNvSpPr/>
          <p:nvPr/>
        </p:nvSpPr>
        <p:spPr>
          <a:xfrm>
            <a:off x="411480" y="3090672"/>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090672"/>
            <a:ext cx="68580"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8" y="3255264"/>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8" name="TextBox 17"/>
          <p:cNvSpPr txBox="1"/>
          <p:nvPr/>
        </p:nvSpPr>
        <p:spPr>
          <a:xfrm>
            <a:off x="1325880" y="3200400"/>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often does the engineer have to step in?</a:t>
            </a:r>
          </a:p>
        </p:txBody>
      </p:sp>
      <p:sp>
        <p:nvSpPr>
          <p:cNvPr id="19" name="TextBox 18"/>
          <p:cNvSpPr txBox="1"/>
          <p:nvPr/>
        </p:nvSpPr>
        <p:spPr>
          <a:xfrm>
            <a:off x="1325880" y="3483864"/>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Count the values the engineer changed after the tool filled them, and the parts where the tool stopped and asked. On our own eight parts, with the material family given, six costed straight through and two stopped. Without it all eight stop, because a solid model cannot tell steel from aluminium. We need that figure on JLR parts, not ours.</a:t>
            </a:r>
          </a:p>
        </p:txBody>
      </p:sp>
      <p:sp>
        <p:nvSpPr>
          <p:cNvPr id="20" name="Rounded Rectangle 19"/>
          <p:cNvSpPr/>
          <p:nvPr/>
        </p:nvSpPr>
        <p:spPr>
          <a:xfrm>
            <a:off x="411480" y="4078224"/>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078224"/>
            <a:ext cx="68580"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8368" y="4242816"/>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3" name="TextBox 22"/>
          <p:cNvSpPr txBox="1"/>
          <p:nvPr/>
        </p:nvSpPr>
        <p:spPr>
          <a:xfrm>
            <a:off x="1325880" y="4187952"/>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much time does it save?</a:t>
            </a:r>
          </a:p>
        </p:txBody>
      </p:sp>
      <p:sp>
        <p:nvSpPr>
          <p:cNvPr id="24" name="TextBox 23"/>
          <p:cNvSpPr txBox="1"/>
          <p:nvPr/>
        </p:nvSpPr>
        <p:spPr>
          <a:xfrm>
            <a:off x="1325880" y="4471416"/>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Time the same parts both ways: typed by hand into CAPEE, and filled by the tool with the engineer checking. The difference is the saving, measured rather than claimed.</a:t>
            </a:r>
          </a:p>
        </p:txBody>
      </p:sp>
      <p:sp>
        <p:nvSpPr>
          <p:cNvPr id="25" name="Rounded Rectangle 24"/>
          <p:cNvSpPr/>
          <p:nvPr/>
        </p:nvSpPr>
        <p:spPr>
          <a:xfrm>
            <a:off x="411480" y="5065776"/>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065776"/>
            <a:ext cx="68580" cy="93268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58368" y="5230368"/>
            <a:ext cx="438912" cy="438912"/>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8" name="TextBox 27"/>
          <p:cNvSpPr txBox="1"/>
          <p:nvPr/>
        </p:nvSpPr>
        <p:spPr>
          <a:xfrm>
            <a:off x="1325880" y="5175504"/>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What does it refuse, and was it right to?</a:t>
            </a:r>
          </a:p>
        </p:txBody>
      </p:sp>
      <p:sp>
        <p:nvSpPr>
          <p:cNvPr id="29" name="TextBox 28"/>
          <p:cNvSpPr txBox="1"/>
          <p:nvPr/>
        </p:nvSpPr>
        <p:spPr>
          <a:xfrm>
            <a:off x="1325880" y="5458968"/>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Every part the tool turned down, with the reason. If it refuses parts it should have costed, that is a fault we need to see early.</a:t>
            </a:r>
          </a:p>
        </p:txBody>
      </p:sp>
      <p:sp>
        <p:nvSpPr>
          <p:cNvPr id="30" name="Rounded Rectangle 29"/>
          <p:cNvSpPr/>
          <p:nvPr/>
        </p:nvSpPr>
        <p:spPr>
          <a:xfrm>
            <a:off x="411480" y="6035040"/>
            <a:ext cx="11365992"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6035040"/>
            <a:ext cx="68580" cy="7680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Why it is worth doing even if the answer is disappointing</a:t>
            </a:r>
          </a:p>
        </p:txBody>
      </p:sp>
      <p:sp>
        <p:nvSpPr>
          <p:cNvPr id="33" name="TextBox 32"/>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measured accuracy figure is worth having either way. Today nobody can state one, so every conversation about this tool stalls in the same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order of work</a:t>
            </a:r>
          </a:p>
        </p:txBody>
      </p:sp>
      <p:sp>
        <p:nvSpPr>
          <p:cNvPr id="9" name="Rounded Rectangle 8"/>
          <p:cNvSpPr/>
          <p:nvPr/>
        </p:nvSpPr>
        <p:spPr>
          <a:xfrm>
            <a:off x="411480" y="173736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3794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81051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the connection</a:t>
            </a:r>
          </a:p>
        </p:txBody>
      </p:sp>
      <p:sp>
        <p:nvSpPr>
          <p:cNvPr id="13" name="TextBox 12"/>
          <p:cNvSpPr txBox="1"/>
          <p:nvPr/>
        </p:nvSpPr>
        <p:spPr>
          <a:xfrm>
            <a:off x="1298448" y="208483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Find out how CAPEE is built, pick one of the three routes, agree exactly which numbers CAPEE expects.</a:t>
            </a:r>
          </a:p>
        </p:txBody>
      </p:sp>
      <p:sp>
        <p:nvSpPr>
          <p:cNvPr id="14" name="Rounded Rectangle 13"/>
          <p:cNvSpPr/>
          <p:nvPr/>
        </p:nvSpPr>
        <p:spPr>
          <a:xfrm>
            <a:off x="411480" y="245059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50592"/>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51176"/>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2374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Stand up the measuring software</a:t>
            </a:r>
          </a:p>
        </p:txBody>
      </p:sp>
      <p:sp>
        <p:nvSpPr>
          <p:cNvPr id="18" name="TextBox 17"/>
          <p:cNvSpPr txBox="1"/>
          <p:nvPr/>
        </p:nvSpPr>
        <p:spPr>
          <a:xfrm>
            <a:off x="1298448" y="279806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Install it on a JLR server. Measure 20 real JLR parts and check the results against their drawings.</a:t>
            </a:r>
          </a:p>
        </p:txBody>
      </p:sp>
      <p:sp>
        <p:nvSpPr>
          <p:cNvPr id="19" name="Rounded Rectangle 18"/>
          <p:cNvSpPr/>
          <p:nvPr/>
        </p:nvSpPr>
        <p:spPr>
          <a:xfrm>
            <a:off x="411480" y="316382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63824"/>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64408"/>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3697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Hand over the settings list</a:t>
            </a:r>
          </a:p>
        </p:txBody>
      </p:sp>
      <p:sp>
        <p:nvSpPr>
          <p:cNvPr id="23" name="TextBox 22"/>
          <p:cNvSpPr txBox="1"/>
          <p:nvPr/>
        </p:nvSpPr>
        <p:spPr>
          <a:xfrm>
            <a:off x="1298448" y="351129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Pull every fixed number into one list. JLR review it and sign it off before anything gets costed with it.</a:t>
            </a:r>
          </a:p>
        </p:txBody>
      </p:sp>
      <p:sp>
        <p:nvSpPr>
          <p:cNvPr id="24" name="Rounded Rectangle 23"/>
          <p:cNvSpPr/>
          <p:nvPr/>
        </p:nvSpPr>
        <p:spPr>
          <a:xfrm>
            <a:off x="411480" y="387705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77056"/>
            <a:ext cx="68580" cy="640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77640"/>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5020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Move the safety checks across</a:t>
            </a:r>
          </a:p>
        </p:txBody>
      </p:sp>
      <p:sp>
        <p:nvSpPr>
          <p:cNvPr id="28" name="TextBox 27"/>
          <p:cNvSpPr txBox="1"/>
          <p:nvPr/>
        </p:nvSpPr>
        <p:spPr>
          <a:xfrm>
            <a:off x="1298448" y="422452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four checks and the questions the engineer confirms. In the scope from the start.</a:t>
            </a:r>
          </a:p>
        </p:txBody>
      </p:sp>
      <p:sp>
        <p:nvSpPr>
          <p:cNvPr id="29" name="Rounded Rectangle 28"/>
          <p:cNvSpPr/>
          <p:nvPr/>
        </p:nvSpPr>
        <p:spPr>
          <a:xfrm>
            <a:off x="411480" y="459028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90288"/>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90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6344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Connect into CAPEE</a:t>
            </a:r>
          </a:p>
        </p:txBody>
      </p:sp>
      <p:sp>
        <p:nvSpPr>
          <p:cNvPr id="33" name="TextBox 32"/>
          <p:cNvSpPr txBox="1"/>
          <p:nvPr/>
        </p:nvSpPr>
        <p:spPr>
          <a:xfrm>
            <a:off x="1298448" y="493776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Wire it in. Route the drawing reading through a JLR-approved AI service. Cost one real part end to end.</a:t>
            </a:r>
          </a:p>
        </p:txBody>
      </p:sp>
      <p:sp>
        <p:nvSpPr>
          <p:cNvPr id="34" name="Rounded Rectangle 33"/>
          <p:cNvSpPr/>
          <p:nvPr/>
        </p:nvSpPr>
        <p:spPr>
          <a:xfrm>
            <a:off x="411480" y="530352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303520"/>
            <a:ext cx="68580" cy="640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404104"/>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7667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Run the trial</a:t>
            </a:r>
          </a:p>
        </p:txBody>
      </p:sp>
      <p:sp>
        <p:nvSpPr>
          <p:cNvPr id="38" name="TextBox 37"/>
          <p:cNvSpPr txBox="1"/>
          <p:nvPr/>
        </p:nvSpPr>
        <p:spPr>
          <a:xfrm>
            <a:off x="1298448" y="565099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team, one part type, 30 to 50 parts with prices we paid. Produce the four numbers from the last slide.</a:t>
            </a:r>
          </a:p>
        </p:txBody>
      </p:sp>
      <p:sp>
        <p:nvSpPr>
          <p:cNvPr id="39" name="Rounded Rectangle 38"/>
          <p:cNvSpPr/>
          <p:nvPr/>
        </p:nvSpPr>
        <p:spPr>
          <a:xfrm>
            <a:off x="411480" y="6053328"/>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53328"/>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1 and 2 can start together</a:t>
            </a:r>
          </a:p>
        </p:txBody>
      </p:sp>
      <p:sp>
        <p:nvSpPr>
          <p:cNvPr id="42" name="TextBox 41"/>
          <p:cNvSpPr txBox="1"/>
          <p:nvPr/>
        </p:nvSpPr>
        <p:spPr>
          <a:xfrm>
            <a:off x="630936"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Standing up the measuring software does not depend on knowing how CAPEE is built. Only step 5 does.</a:t>
            </a:r>
          </a:p>
        </p:txBody>
      </p:sp>
      <p:sp>
        <p:nvSpPr>
          <p:cNvPr id="43" name="Rounded Rectangle 42"/>
          <p:cNvSpPr/>
          <p:nvPr/>
        </p:nvSpPr>
        <p:spPr>
          <a:xfrm>
            <a:off x="6199632" y="6053328"/>
            <a:ext cx="5577840" cy="768096"/>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53328"/>
            <a:ext cx="68580" cy="76809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Start with one part type</a:t>
            </a:r>
          </a:p>
        </p:txBody>
      </p:sp>
      <p:sp>
        <p:nvSpPr>
          <p:cNvPr id="46" name="TextBox 45"/>
          <p:cNvSpPr txBox="1"/>
          <p:nvPr/>
        </p:nvSpPr>
        <p:spPr>
          <a:xfrm>
            <a:off x="6419088"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Most of our volume and the shapes we understand best. Widen it once it holds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costing in bulk, run by an agent</a:t>
            </a:r>
          </a:p>
        </p:txBody>
      </p:sp>
      <p:sp>
        <p:nvSpPr>
          <p:cNvPr id="9" name="Rounded Rectangle 8"/>
          <p:cNvSpPr/>
          <p:nvPr/>
        </p:nvSpPr>
        <p:spPr>
          <a:xfrm>
            <a:off x="411480" y="1572768"/>
            <a:ext cx="5577840" cy="251460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72768"/>
            <a:ext cx="68580" cy="25146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WE DO TODAY</a:t>
            </a:r>
          </a:p>
        </p:txBody>
      </p:sp>
      <p:sp>
        <p:nvSpPr>
          <p:cNvPr id="12" name="TextBox 11"/>
          <p:cNvSpPr txBox="1"/>
          <p:nvPr/>
        </p:nvSpPr>
        <p:spPr>
          <a:xfrm>
            <a:off x="612648"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 cost the parts we have time to cost.</a:t>
            </a:r>
          </a:p>
          <a:p>
            <a:pPr algn="l">
              <a:lnSpc>
                <a:spcPct val="112000"/>
              </a:lnSpc>
              <a:spcAft>
                <a:spcPts val="300"/>
              </a:spcAft>
            </a:pPr>
          </a:p>
          <a:p>
            <a:pPr algn="l">
              <a:lnSpc>
                <a:spcPct val="112000"/>
              </a:lnSpc>
              <a:spcAft>
                <a:spcPts val="300"/>
              </a:spcAft>
            </a:pPr>
            <a:r>
              <a:rPr sz="1050" b="0" i="0">
                <a:solidFill>
                  <a:srgbClr val="3A4356"/>
                </a:solidFill>
                <a:latin typeface="Calibri"/>
              </a:rPr>
              <a:t>A basket of several hundred parts gets sampled, or</a:t>
            </a:r>
          </a:p>
          <a:p>
            <a:pPr algn="l">
              <a:lnSpc>
                <a:spcPct val="112000"/>
              </a:lnSpc>
              <a:spcAft>
                <a:spcPts val="300"/>
              </a:spcAft>
            </a:pPr>
            <a:r>
              <a:rPr sz="1050" b="0" i="0">
                <a:solidFill>
                  <a:srgbClr val="3A4356"/>
                </a:solidFill>
                <a:latin typeface="Calibri"/>
              </a:rPr>
              <a:t>estimated by analogy against something similar, or</a:t>
            </a:r>
          </a:p>
          <a:p>
            <a:pPr algn="l">
              <a:lnSpc>
                <a:spcPct val="112000"/>
              </a:lnSpc>
              <a:spcAft>
                <a:spcPts val="300"/>
              </a:spcAft>
            </a:pPr>
            <a:r>
              <a:rPr sz="1050" b="0" i="0">
                <a:solidFill>
                  <a:srgbClr val="3A4356"/>
                </a:solidFill>
                <a:latin typeface="Calibri"/>
              </a:rPr>
              <a:t>taken from what the supplier last quoted.</a:t>
            </a:r>
          </a:p>
          <a:p>
            <a:pPr algn="l">
              <a:lnSpc>
                <a:spcPct val="112000"/>
              </a:lnSpc>
              <a:spcAft>
                <a:spcPts val="300"/>
              </a:spcAft>
            </a:pPr>
          </a:p>
          <a:p>
            <a:pPr algn="l">
              <a:lnSpc>
                <a:spcPct val="112000"/>
              </a:lnSpc>
              <a:spcAft>
                <a:spcPts val="300"/>
              </a:spcAft>
            </a:pPr>
            <a:r>
              <a:rPr sz="1050" b="1" i="0">
                <a:solidFill>
                  <a:srgbClr val="16325C"/>
                </a:solidFill>
                <a:latin typeface="Calibri"/>
              </a:rPr>
              <a:t>Nobody costs all of it from the geometry, because</a:t>
            </a:r>
          </a:p>
          <a:p>
            <a:pPr algn="l">
              <a:lnSpc>
                <a:spcPct val="112000"/>
              </a:lnSpc>
              <a:spcAft>
                <a:spcPts val="300"/>
              </a:spcAft>
            </a:pPr>
            <a:r>
              <a:rPr sz="1050" b="1" i="0">
                <a:solidFill>
                  <a:srgbClr val="16325C"/>
                </a:solidFill>
                <a:latin typeface="Calibri"/>
              </a:rPr>
              <a:t>there are not enough engineer-hours to do it.</a:t>
            </a:r>
          </a:p>
        </p:txBody>
      </p:sp>
      <p:sp>
        <p:nvSpPr>
          <p:cNvPr id="13" name="Rounded Rectangle 12"/>
          <p:cNvSpPr/>
          <p:nvPr/>
        </p:nvSpPr>
        <p:spPr>
          <a:xfrm>
            <a:off x="6199632" y="1572768"/>
            <a:ext cx="5577840" cy="25146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572768"/>
            <a:ext cx="68580" cy="25146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OPTION 2 DOES</a:t>
            </a:r>
          </a:p>
        </p:txBody>
      </p:sp>
      <p:sp>
        <p:nvSpPr>
          <p:cNvPr id="16" name="TextBox 15"/>
          <p:cNvSpPr txBox="1"/>
          <p:nvPr/>
        </p:nvSpPr>
        <p:spPr>
          <a:xfrm>
            <a:off x="6400800"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a:t>
            </a:r>
          </a:p>
          <a:p>
            <a:pPr algn="l">
              <a:lnSpc>
                <a:spcPct val="112000"/>
              </a:lnSpc>
              <a:spcAft>
                <a:spcPts val="300"/>
              </a:spcAft>
            </a:pPr>
            <a:r>
              <a:rPr sz="1050" b="0" i="0">
                <a:solidFill>
                  <a:srgbClr val="3A4356"/>
                </a:solidFill>
                <a:latin typeface="Calibri"/>
              </a:rPr>
              <a:t>costed and reported in one run, unattended.</a:t>
            </a:r>
          </a:p>
          <a:p>
            <a:pPr algn="l">
              <a:lnSpc>
                <a:spcPct val="112000"/>
              </a:lnSpc>
              <a:spcAft>
                <a:spcPts val="300"/>
              </a:spcAft>
            </a:pP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genuinely cannot decide, and only once per question.</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and the same rate book. The geometry</a:t>
            </a:r>
          </a:p>
          <a:p>
            <a:pPr algn="l">
              <a:lnSpc>
                <a:spcPct val="112000"/>
              </a:lnSpc>
              <a:spcAft>
                <a:spcPts val="300"/>
              </a:spcAft>
            </a:pPr>
            <a:r>
              <a:rPr sz="1050" b="1" i="0">
                <a:solidFill>
                  <a:srgbClr val="16325C"/>
                </a:solidFill>
                <a:latin typeface="Calibri"/>
              </a:rPr>
              <a:t>checks have to be wired onto this route.</a:t>
            </a:r>
          </a:p>
        </p:txBody>
      </p:sp>
      <p:sp>
        <p:nvSpPr>
          <p:cNvPr id="17" name="Rounded Rectangle 16"/>
          <p:cNvSpPr/>
          <p:nvPr/>
        </p:nvSpPr>
        <p:spPr>
          <a:xfrm>
            <a:off x="411480" y="4160520"/>
            <a:ext cx="11365992" cy="10058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160520"/>
            <a:ext cx="68580" cy="1005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79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the agent actually does, and what it does not</a:t>
            </a:r>
          </a:p>
        </p:txBody>
      </p:sp>
      <p:sp>
        <p:nvSpPr>
          <p:cNvPr id="20" name="TextBox 19"/>
          <p:cNvSpPr txBox="1"/>
          <p:nvPr/>
        </p:nvSpPr>
        <p:spPr>
          <a:xfrm>
            <a:off x="630936" y="4562856"/>
            <a:ext cx="10954512" cy="5029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agent marshals the run. It picks the part type, answers what it can from the drawing, and escalates what it cannot. Every number still comes from the same deterministic engine at the same rates. The agent never sets a price, but it does choose the inputs, so the geometry checks that run on the CAD route today have to be wired onto this route before a run is left unattended.</a:t>
            </a:r>
          </a:p>
        </p:txBody>
      </p:sp>
      <p:sp>
        <p:nvSpPr>
          <p:cNvPr id="21" name="Rounded Rectangle 20"/>
          <p:cNvSpPr/>
          <p:nvPr/>
        </p:nvSpPr>
        <p:spPr>
          <a:xfrm>
            <a:off x="411480" y="5303520"/>
            <a:ext cx="11365992"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303520"/>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422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this stands today</a:t>
            </a:r>
          </a:p>
        </p:txBody>
      </p:sp>
      <p:sp>
        <p:nvSpPr>
          <p:cNvPr id="24" name="TextBox 23"/>
          <p:cNvSpPr txBox="1"/>
          <p:nvPr/>
        </p:nvSpPr>
        <p:spPr>
          <a:xfrm>
            <a:off x="630936" y="570585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engine is already callable on its own, and there is already an agent that can cost a part when asked. What does not exist is the run itself: a list going in, a record coming out, and a way to reproduce it later. Slide 15 sets out exactly what has to be built.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a bulk run does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to a basket of parts, start to finish</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 list goes in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Part numbers, CAD files, volumes, region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Each one measured</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Same engine as a single part, run in parallel</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Rules fill the form</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The part type’s own rules run</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Only gaps escalate</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One question, answered once, applied to all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 costs them</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buckets, every figure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One report out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Per part and per basket, with what was assumed</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How long a run takes. The 40-part row was measured this month; the rest carries that rate forward</a:t>
            </a:r>
          </a:p>
        </p:txBody>
      </p:sp>
      <p:sp>
        <p:nvSpPr>
          <p:cNvPr id="52" name="Rectangle 51"/>
          <p:cNvSpPr/>
          <p:nvPr/>
        </p:nvSpPr>
        <p:spPr>
          <a:xfrm>
            <a:off x="411480" y="4133087"/>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3776" y="4215383"/>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a:t>
            </a:r>
          </a:p>
        </p:txBody>
      </p:sp>
      <p:sp>
        <p:nvSpPr>
          <p:cNvPr id="54" name="Rectangle 53"/>
          <p:cNvSpPr/>
          <p:nvPr/>
        </p:nvSpPr>
        <p:spPr>
          <a:xfrm>
            <a:off x="4343400" y="4133087"/>
            <a:ext cx="23774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25696" y="4215383"/>
            <a:ext cx="22311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Measured</a:t>
            </a:r>
          </a:p>
        </p:txBody>
      </p:sp>
      <p:sp>
        <p:nvSpPr>
          <p:cNvPr id="56" name="Rectangle 55"/>
          <p:cNvSpPr/>
          <p:nvPr/>
        </p:nvSpPr>
        <p:spPr>
          <a:xfrm>
            <a:off x="6720840" y="4133087"/>
            <a:ext cx="50566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03136" y="4215383"/>
            <a:ext cx="49103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Basis</a:t>
            </a:r>
          </a:p>
        </p:txBody>
      </p:sp>
      <p:sp>
        <p:nvSpPr>
          <p:cNvPr id="58" name="Rectangle 57"/>
          <p:cNvSpPr/>
          <p:nvPr/>
        </p:nvSpPr>
        <p:spPr>
          <a:xfrm>
            <a:off x="411480" y="446227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5262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Measure one part, warm</a:t>
            </a:r>
          </a:p>
        </p:txBody>
      </p:sp>
      <p:sp>
        <p:nvSpPr>
          <p:cNvPr id="60" name="Rectangle 59"/>
          <p:cNvSpPr/>
          <p:nvPr/>
        </p:nvSpPr>
        <p:spPr>
          <a:xfrm>
            <a:off x="4343400" y="446227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25696" y="45262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0.9 to 3.1 seconds</a:t>
            </a:r>
          </a:p>
        </p:txBody>
      </p:sp>
      <p:sp>
        <p:nvSpPr>
          <p:cNvPr id="62" name="Rectangle 61"/>
          <p:cNvSpPr/>
          <p:nvPr/>
        </p:nvSpPr>
        <p:spPr>
          <a:xfrm>
            <a:off x="6720840" y="446227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803136" y="45262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Five real production parts, 0.6 MB to 3.0 MB. Bigger file, longer</a:t>
            </a:r>
          </a:p>
        </p:txBody>
      </p:sp>
      <p:sp>
        <p:nvSpPr>
          <p:cNvPr id="64" name="Rectangle 63"/>
          <p:cNvSpPr/>
          <p:nvPr/>
        </p:nvSpPr>
        <p:spPr>
          <a:xfrm>
            <a:off x="411480" y="473659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 y="480059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Run the rules and cost it</a:t>
            </a:r>
          </a:p>
        </p:txBody>
      </p:sp>
      <p:sp>
        <p:nvSpPr>
          <p:cNvPr id="66" name="Rectangle 65"/>
          <p:cNvSpPr/>
          <p:nvPr/>
        </p:nvSpPr>
        <p:spPr>
          <a:xfrm>
            <a:off x="4343400" y="473659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425696" y="480059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5 milliseconds</a:t>
            </a:r>
          </a:p>
        </p:txBody>
      </p:sp>
      <p:sp>
        <p:nvSpPr>
          <p:cNvPr id="68" name="Rectangle 67"/>
          <p:cNvSpPr/>
          <p:nvPr/>
        </p:nvSpPr>
        <p:spPr>
          <a:xfrm>
            <a:off x="6720840" y="473659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03136" y="480059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Rules plus the eight-bucket engine. Not the slow part</a:t>
            </a:r>
          </a:p>
        </p:txBody>
      </p:sp>
      <p:sp>
        <p:nvSpPr>
          <p:cNvPr id="70" name="Rectangle 69"/>
          <p:cNvSpPr/>
          <p:nvPr/>
        </p:nvSpPr>
        <p:spPr>
          <a:xfrm>
            <a:off x="411480" y="501091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93776" y="507491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40 parts</a:t>
            </a:r>
          </a:p>
        </p:txBody>
      </p:sp>
      <p:sp>
        <p:nvSpPr>
          <p:cNvPr id="72" name="Rectangle 71"/>
          <p:cNvSpPr/>
          <p:nvPr/>
        </p:nvSpPr>
        <p:spPr>
          <a:xfrm>
            <a:off x="4343400" y="501091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425696" y="507491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31 seconds</a:t>
            </a:r>
          </a:p>
        </p:txBody>
      </p:sp>
      <p:sp>
        <p:nvSpPr>
          <p:cNvPr id="74" name="Rectangle 73"/>
          <p:cNvSpPr/>
          <p:nvPr/>
        </p:nvSpPr>
        <p:spPr>
          <a:xfrm>
            <a:off x="6720840" y="501091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03136" y="507491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Measured. Two workers, nothing reused from cache</a:t>
            </a:r>
          </a:p>
        </p:txBody>
      </p:sp>
      <p:sp>
        <p:nvSpPr>
          <p:cNvPr id="76" name="Rectangle 75"/>
          <p:cNvSpPr/>
          <p:nvPr/>
        </p:nvSpPr>
        <p:spPr>
          <a:xfrm>
            <a:off x="411480" y="528523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93776" y="534923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100 parts</a:t>
            </a:r>
          </a:p>
        </p:txBody>
      </p:sp>
      <p:sp>
        <p:nvSpPr>
          <p:cNvPr id="78" name="Rectangle 77"/>
          <p:cNvSpPr/>
          <p:nvPr/>
        </p:nvSpPr>
        <p:spPr>
          <a:xfrm>
            <a:off x="4343400" y="528523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25696" y="534923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1.5 minutes</a:t>
            </a:r>
          </a:p>
        </p:txBody>
      </p:sp>
      <p:sp>
        <p:nvSpPr>
          <p:cNvPr id="80" name="Rectangle 79"/>
          <p:cNvSpPr/>
          <p:nvPr/>
        </p:nvSpPr>
        <p:spPr>
          <a:xfrm>
            <a:off x="6720840" y="528523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803136" y="534923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That measured rate, on two workers</a:t>
            </a:r>
          </a:p>
        </p:txBody>
      </p:sp>
      <p:sp>
        <p:nvSpPr>
          <p:cNvPr id="82" name="Rectangle 81"/>
          <p:cNvSpPr/>
          <p:nvPr/>
        </p:nvSpPr>
        <p:spPr>
          <a:xfrm>
            <a:off x="411480" y="555955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 y="562355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500 parts</a:t>
            </a:r>
          </a:p>
        </p:txBody>
      </p:sp>
      <p:sp>
        <p:nvSpPr>
          <p:cNvPr id="84" name="Rectangle 83"/>
          <p:cNvSpPr/>
          <p:nvPr/>
        </p:nvSpPr>
        <p:spPr>
          <a:xfrm>
            <a:off x="4343400" y="555955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425696" y="562355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6.5 minutes</a:t>
            </a:r>
          </a:p>
        </p:txBody>
      </p:sp>
      <p:sp>
        <p:nvSpPr>
          <p:cNvPr id="86" name="Rectangle 85"/>
          <p:cNvSpPr/>
          <p:nvPr/>
        </p:nvSpPr>
        <p:spPr>
          <a:xfrm>
            <a:off x="6720840" y="555955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803136" y="562355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Two workers. Roughly half that on four</a:t>
            </a:r>
          </a:p>
        </p:txBody>
      </p:sp>
      <p:sp>
        <p:nvSpPr>
          <p:cNvPr id="88" name="Rectangle 87"/>
          <p:cNvSpPr/>
          <p:nvPr/>
        </p:nvSpPr>
        <p:spPr>
          <a:xfrm>
            <a:off x="411480" y="583387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93776" y="58978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1,000 parts</a:t>
            </a:r>
          </a:p>
        </p:txBody>
      </p:sp>
      <p:sp>
        <p:nvSpPr>
          <p:cNvPr id="90" name="Rectangle 89"/>
          <p:cNvSpPr/>
          <p:nvPr/>
        </p:nvSpPr>
        <p:spPr>
          <a:xfrm>
            <a:off x="4343400" y="583387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425696" y="58978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13 minutes</a:t>
            </a:r>
          </a:p>
        </p:txBody>
      </p:sp>
      <p:sp>
        <p:nvSpPr>
          <p:cNvPr id="92" name="Rectangle 91"/>
          <p:cNvSpPr/>
          <p:nvPr/>
        </p:nvSpPr>
        <p:spPr>
          <a:xfrm>
            <a:off x="6720840" y="583387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803136" y="58978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Two workers. Roughly half that on four</a:t>
            </a:r>
          </a:p>
        </p:txBody>
      </p:sp>
      <p:sp>
        <p:nvSpPr>
          <p:cNvPr id="94" name="Rounded Rectangle 93"/>
          <p:cNvSpPr/>
          <p:nvPr/>
        </p:nvSpPr>
        <p:spPr>
          <a:xfrm>
            <a:off x="411480" y="6144768"/>
            <a:ext cx="11365992" cy="60350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411480" y="6144768"/>
            <a:ext cx="68580" cy="6035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machine time is not the constraint</a:t>
            </a:r>
          </a:p>
        </p:txBody>
      </p:sp>
      <p:sp>
        <p:nvSpPr>
          <p:cNvPr id="97" name="TextBox 96"/>
          <p:cNvSpPr txBox="1"/>
          <p:nvPr/>
        </p:nvSpPr>
        <p:spPr>
          <a:xfrm>
            <a:off x="630936" y="6547104"/>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Getting the part list, the CAD files and the rate data together is the work. The computer finishes in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PREREQUISITES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has to be built first</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These are the honest gaps. None of them is large on its own, and none of them is optional.</a:t>
            </a:r>
          </a:p>
        </p:txBody>
      </p:sp>
      <p:sp>
        <p:nvSpPr>
          <p:cNvPr id="10" name="Rectangle 9"/>
          <p:cNvSpPr/>
          <p:nvPr/>
        </p:nvSpPr>
        <p:spPr>
          <a:xfrm>
            <a:off x="411480" y="1965960"/>
            <a:ext cx="2743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25968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is missing</a:t>
            </a:r>
          </a:p>
        </p:txBody>
      </p:sp>
      <p:sp>
        <p:nvSpPr>
          <p:cNvPr id="12" name="Rectangle 11"/>
          <p:cNvSpPr/>
          <p:nvPr/>
        </p:nvSpPr>
        <p:spPr>
          <a:xfrm>
            <a:off x="3154680" y="196596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36976" y="204825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 it matters</a:t>
            </a:r>
          </a:p>
        </p:txBody>
      </p:sp>
      <p:sp>
        <p:nvSpPr>
          <p:cNvPr id="14" name="Rectangle 13"/>
          <p:cNvSpPr/>
          <p:nvPr/>
        </p:nvSpPr>
        <p:spPr>
          <a:xfrm>
            <a:off x="4526280" y="1965960"/>
            <a:ext cx="6062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2048256"/>
            <a:ext cx="59161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6" name="Rectangle 15"/>
          <p:cNvSpPr/>
          <p:nvPr/>
        </p:nvSpPr>
        <p:spPr>
          <a:xfrm>
            <a:off x="10588752" y="19659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71048" y="20482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Type</a:t>
            </a:r>
          </a:p>
        </p:txBody>
      </p:sp>
      <p:sp>
        <p:nvSpPr>
          <p:cNvPr id="18" name="Rectangle 17"/>
          <p:cNvSpPr/>
          <p:nvPr/>
        </p:nvSpPr>
        <p:spPr>
          <a:xfrm>
            <a:off x="411480" y="229514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3591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history of rate changes</a:t>
            </a:r>
          </a:p>
        </p:txBody>
      </p:sp>
      <p:sp>
        <p:nvSpPr>
          <p:cNvPr id="20" name="Rectangle 19"/>
          <p:cNvSpPr/>
          <p:nvPr/>
        </p:nvSpPr>
        <p:spPr>
          <a:xfrm>
            <a:off x="3154680" y="229514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36976" y="23591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audit</a:t>
            </a:r>
          </a:p>
        </p:txBody>
      </p:sp>
      <p:sp>
        <p:nvSpPr>
          <p:cNvPr id="22" name="Rectangle 21"/>
          <p:cNvSpPr/>
          <p:nvPr/>
        </p:nvSpPr>
        <p:spPr>
          <a:xfrm>
            <a:off x="4526280" y="229514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6" y="23591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Today the rate book is one row that gets overwritten. Change a rate and the old one is gone. A bulk run costed at rates nobody can recover is not defensible.</a:t>
            </a:r>
          </a:p>
        </p:txBody>
      </p:sp>
      <p:sp>
        <p:nvSpPr>
          <p:cNvPr id="24" name="Rectangle 23"/>
          <p:cNvSpPr/>
          <p:nvPr/>
        </p:nvSpPr>
        <p:spPr>
          <a:xfrm>
            <a:off x="10588752" y="229514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71048" y="23591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26" name="Rectangle 25"/>
          <p:cNvSpPr/>
          <p:nvPr/>
        </p:nvSpPr>
        <p:spPr>
          <a:xfrm>
            <a:off x="411480" y="293522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9923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Saved costings</a:t>
            </a:r>
          </a:p>
        </p:txBody>
      </p:sp>
      <p:sp>
        <p:nvSpPr>
          <p:cNvPr id="28" name="Rectangle 27"/>
          <p:cNvSpPr/>
          <p:nvPr/>
        </p:nvSpPr>
        <p:spPr>
          <a:xfrm>
            <a:off x="3154680" y="293522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36976" y="299923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audit</a:t>
            </a:r>
          </a:p>
        </p:txBody>
      </p:sp>
      <p:sp>
        <p:nvSpPr>
          <p:cNvPr id="30" name="Rectangle 29"/>
          <p:cNvSpPr/>
          <p:nvPr/>
        </p:nvSpPr>
        <p:spPr>
          <a:xfrm>
            <a:off x="4526280" y="293522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299923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Finished costings are not stored anywhere. A five-hundred-part run would produce numbers with nowhere to live and no way to reproduce them.</a:t>
            </a:r>
          </a:p>
        </p:txBody>
      </p:sp>
      <p:sp>
        <p:nvSpPr>
          <p:cNvPr id="32" name="Rectangle 31"/>
          <p:cNvSpPr/>
          <p:nvPr/>
        </p:nvSpPr>
        <p:spPr>
          <a:xfrm>
            <a:off x="10588752" y="293522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71048" y="299923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34" name="Rectangle 33"/>
          <p:cNvSpPr/>
          <p:nvPr/>
        </p:nvSpPr>
        <p:spPr>
          <a:xfrm>
            <a:off x="411480" y="357530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3931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Region and volume on the automated route</a:t>
            </a:r>
          </a:p>
        </p:txBody>
      </p:sp>
      <p:sp>
        <p:nvSpPr>
          <p:cNvPr id="36" name="Rectangle 35"/>
          <p:cNvSpPr/>
          <p:nvPr/>
        </p:nvSpPr>
        <p:spPr>
          <a:xfrm>
            <a:off x="3154680" y="357530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36976" y="363931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correctness</a:t>
            </a:r>
          </a:p>
        </p:txBody>
      </p:sp>
      <p:sp>
        <p:nvSpPr>
          <p:cNvPr id="38" name="Rectangle 37"/>
          <p:cNvSpPr/>
          <p:nvPr/>
        </p:nvSpPr>
        <p:spPr>
          <a:xfrm>
            <a:off x="4526280" y="357530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08576" y="363931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automated route always uses the UK rate book and never gets told the annual volume. Both already work in the screens; they are simply not passed through.</a:t>
            </a:r>
          </a:p>
        </p:txBody>
      </p:sp>
      <p:sp>
        <p:nvSpPr>
          <p:cNvPr id="40" name="Rectangle 39"/>
          <p:cNvSpPr/>
          <p:nvPr/>
        </p:nvSpPr>
        <p:spPr>
          <a:xfrm>
            <a:off x="10588752" y="357530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71048" y="363931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42" name="Rectangle 41"/>
          <p:cNvSpPr/>
          <p:nvPr/>
        </p:nvSpPr>
        <p:spPr>
          <a:xfrm>
            <a:off x="411480" y="421538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7939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Gear on the automated route</a:t>
            </a:r>
          </a:p>
        </p:txBody>
      </p:sp>
      <p:sp>
        <p:nvSpPr>
          <p:cNvPr id="44" name="Rectangle 43"/>
          <p:cNvSpPr/>
          <p:nvPr/>
        </p:nvSpPr>
        <p:spPr>
          <a:xfrm>
            <a:off x="3154680" y="421538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36976" y="427939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coverage</a:t>
            </a:r>
          </a:p>
        </p:txBody>
      </p:sp>
      <p:sp>
        <p:nvSpPr>
          <p:cNvPr id="46" name="Rectangle 45"/>
          <p:cNvSpPr/>
          <p:nvPr/>
        </p:nvSpPr>
        <p:spPr>
          <a:xfrm>
            <a:off x="4526280" y="421538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08576" y="427939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Gear costs in the screens and has its own rules, but the automated route cannot reach it. A basket with gears in it would silently skip them.</a:t>
            </a:r>
          </a:p>
        </p:txBody>
      </p:sp>
      <p:sp>
        <p:nvSpPr>
          <p:cNvPr id="48" name="Rectangle 47"/>
          <p:cNvSpPr/>
          <p:nvPr/>
        </p:nvSpPr>
        <p:spPr>
          <a:xfrm>
            <a:off x="10588752" y="421538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71048" y="427939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Must have</a:t>
            </a:r>
          </a:p>
        </p:txBody>
      </p:sp>
      <p:sp>
        <p:nvSpPr>
          <p:cNvPr id="50" name="Rectangle 49"/>
          <p:cNvSpPr/>
          <p:nvPr/>
        </p:nvSpPr>
        <p:spPr>
          <a:xfrm>
            <a:off x="411480" y="485546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91947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Geometry safety checks on the automated route</a:t>
            </a:r>
          </a:p>
        </p:txBody>
      </p:sp>
      <p:sp>
        <p:nvSpPr>
          <p:cNvPr id="52" name="Rectangle 51"/>
          <p:cNvSpPr/>
          <p:nvPr/>
        </p:nvSpPr>
        <p:spPr>
          <a:xfrm>
            <a:off x="3154680" y="485546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36976" y="491947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trust</a:t>
            </a:r>
          </a:p>
        </p:txBody>
      </p:sp>
      <p:sp>
        <p:nvSpPr>
          <p:cNvPr id="54" name="Rectangle 53"/>
          <p:cNvSpPr/>
          <p:nvPr/>
        </p:nvSpPr>
        <p:spPr>
          <a:xfrm>
            <a:off x="4526280" y="485546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08576" y="491947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checks that compare what was read against what was measured run on the CAD route today. The automated route validates the fields only. They must be wired on before a run is left unattended.</a:t>
            </a:r>
          </a:p>
        </p:txBody>
      </p:sp>
      <p:sp>
        <p:nvSpPr>
          <p:cNvPr id="56" name="Rectangle 55"/>
          <p:cNvSpPr/>
          <p:nvPr/>
        </p:nvSpPr>
        <p:spPr>
          <a:xfrm>
            <a:off x="10588752" y="485546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71048" y="491947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58" name="Rectangle 57"/>
          <p:cNvSpPr/>
          <p:nvPr/>
        </p:nvSpPr>
        <p:spPr>
          <a:xfrm>
            <a:off x="411480" y="549554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5595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The run itself</a:t>
            </a:r>
          </a:p>
        </p:txBody>
      </p:sp>
      <p:sp>
        <p:nvSpPr>
          <p:cNvPr id="60" name="Rectangle 59"/>
          <p:cNvSpPr/>
          <p:nvPr/>
        </p:nvSpPr>
        <p:spPr>
          <a:xfrm>
            <a:off x="3154680" y="549554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36976" y="55595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new work</a:t>
            </a:r>
          </a:p>
        </p:txBody>
      </p:sp>
      <p:sp>
        <p:nvSpPr>
          <p:cNvPr id="62" name="Rectangle 61"/>
          <p:cNvSpPr/>
          <p:nvPr/>
        </p:nvSpPr>
        <p:spPr>
          <a:xfrm>
            <a:off x="4526280" y="549554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08576" y="55595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A list in, a job queue, a report out, and a way to answer one question once and apply it to every part it affects.</a:t>
            </a:r>
          </a:p>
        </p:txBody>
      </p:sp>
      <p:sp>
        <p:nvSpPr>
          <p:cNvPr id="64" name="Rectangle 63"/>
          <p:cNvSpPr/>
          <p:nvPr/>
        </p:nvSpPr>
        <p:spPr>
          <a:xfrm>
            <a:off x="10588752" y="549554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671048" y="55595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New build</a:t>
            </a:r>
          </a:p>
        </p:txBody>
      </p:sp>
      <p:sp>
        <p:nvSpPr>
          <p:cNvPr id="66" name="Rounded Rectangle 65"/>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6163056"/>
            <a:ext cx="68580" cy="6035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good news underneath all of that</a:t>
            </a:r>
          </a:p>
        </p:txBody>
      </p:sp>
      <p:sp>
        <p:nvSpPr>
          <p:cNvPr id="69" name="TextBox 68"/>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costing engine itself needs no change. We ran it on its own, outside the application, and it produced the full eight-bucket answer with nothing adjusted.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it changes for the business</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3832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2369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Today</a:t>
            </a:r>
          </a:p>
        </p:txBody>
      </p:sp>
      <p:sp>
        <p:nvSpPr>
          <p:cNvPr id="13" name="Rectangle 12"/>
          <p:cNvSpPr/>
          <p:nvPr/>
        </p:nvSpPr>
        <p:spPr>
          <a:xfrm>
            <a:off x="7571232" y="1737360"/>
            <a:ext cx="42062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3528" y="1819656"/>
            <a:ext cx="40599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With bulk costing</a:t>
            </a:r>
          </a:p>
        </p:txBody>
      </p:sp>
      <p:sp>
        <p:nvSpPr>
          <p:cNvPr id="15" name="Rectangle 14"/>
          <p:cNvSpPr/>
          <p:nvPr/>
        </p:nvSpPr>
        <p:spPr>
          <a:xfrm>
            <a:off x="411480" y="20665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many parts get a proper cost</a:t>
            </a:r>
          </a:p>
        </p:txBody>
      </p:sp>
      <p:sp>
        <p:nvSpPr>
          <p:cNvPr id="17" name="Rectangle 16"/>
          <p:cNvSpPr/>
          <p:nvPr/>
        </p:nvSpPr>
        <p:spPr>
          <a:xfrm>
            <a:off x="4187952" y="20665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The ones we have hours for</a:t>
            </a:r>
          </a:p>
        </p:txBody>
      </p:sp>
      <p:sp>
        <p:nvSpPr>
          <p:cNvPr id="19" name="Rectangle 18"/>
          <p:cNvSpPr/>
          <p:nvPr/>
        </p:nvSpPr>
        <p:spPr>
          <a:xfrm>
            <a:off x="7571232" y="20665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2130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All of them</a:t>
            </a:r>
          </a:p>
        </p:txBody>
      </p:sp>
      <p:sp>
        <p:nvSpPr>
          <p:cNvPr id="21" name="Rectangle 20"/>
          <p:cNvSpPr/>
          <p:nvPr/>
        </p:nvSpPr>
        <p:spPr>
          <a:xfrm>
            <a:off x="411480" y="25237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87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a basket gets priced</a:t>
            </a:r>
          </a:p>
        </p:txBody>
      </p:sp>
      <p:sp>
        <p:nvSpPr>
          <p:cNvPr id="23" name="Rectangle 22"/>
          <p:cNvSpPr/>
          <p:nvPr/>
        </p:nvSpPr>
        <p:spPr>
          <a:xfrm>
            <a:off x="4187952" y="25237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87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Sample and scale up</a:t>
            </a:r>
          </a:p>
        </p:txBody>
      </p:sp>
      <p:sp>
        <p:nvSpPr>
          <p:cNvPr id="25" name="Rectangle 24"/>
          <p:cNvSpPr/>
          <p:nvPr/>
        </p:nvSpPr>
        <p:spPr>
          <a:xfrm>
            <a:off x="7571232" y="25237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53528" y="2587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Every part costed from its own geometry</a:t>
            </a:r>
          </a:p>
        </p:txBody>
      </p:sp>
      <p:sp>
        <p:nvSpPr>
          <p:cNvPr id="27" name="Rectangle 26"/>
          <p:cNvSpPr/>
          <p:nvPr/>
        </p:nvSpPr>
        <p:spPr>
          <a:xfrm>
            <a:off x="411480" y="29809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449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Turnaround on a new basket</a:t>
            </a:r>
          </a:p>
        </p:txBody>
      </p:sp>
      <p:sp>
        <p:nvSpPr>
          <p:cNvPr id="29" name="Rectangle 28"/>
          <p:cNvSpPr/>
          <p:nvPr/>
        </p:nvSpPr>
        <p:spPr>
          <a:xfrm>
            <a:off x="4187952" y="29809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0449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Days of engineer time</a:t>
            </a:r>
          </a:p>
        </p:txBody>
      </p:sp>
      <p:sp>
        <p:nvSpPr>
          <p:cNvPr id="31" name="Rectangle 30"/>
          <p:cNvSpPr/>
          <p:nvPr/>
        </p:nvSpPr>
        <p:spPr>
          <a:xfrm>
            <a:off x="7571232" y="29809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53528" y="30449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Minutes of machine time, plus the data gathering</a:t>
            </a:r>
          </a:p>
        </p:txBody>
      </p:sp>
      <p:sp>
        <p:nvSpPr>
          <p:cNvPr id="33" name="Rectangle 32"/>
          <p:cNvSpPr/>
          <p:nvPr/>
        </p:nvSpPr>
        <p:spPr>
          <a:xfrm>
            <a:off x="411480" y="34381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5021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Consistency across a basket</a:t>
            </a:r>
          </a:p>
        </p:txBody>
      </p:sp>
      <p:sp>
        <p:nvSpPr>
          <p:cNvPr id="35" name="Rectangle 34"/>
          <p:cNvSpPr/>
          <p:nvPr/>
        </p:nvSpPr>
        <p:spPr>
          <a:xfrm>
            <a:off x="4187952" y="34381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5021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Depends who costed it</a:t>
            </a:r>
          </a:p>
        </p:txBody>
      </p:sp>
      <p:sp>
        <p:nvSpPr>
          <p:cNvPr id="37" name="Rectangle 36"/>
          <p:cNvSpPr/>
          <p:nvPr/>
        </p:nvSpPr>
        <p:spPr>
          <a:xfrm>
            <a:off x="7571232" y="34381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53528" y="35021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Same rules and rates for every part</a:t>
            </a:r>
          </a:p>
        </p:txBody>
      </p:sp>
      <p:sp>
        <p:nvSpPr>
          <p:cNvPr id="39" name="Rectangle 38"/>
          <p:cNvSpPr/>
          <p:nvPr/>
        </p:nvSpPr>
        <p:spPr>
          <a:xfrm>
            <a:off x="411480" y="38953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9593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we can say to a supplier</a:t>
            </a:r>
          </a:p>
        </p:txBody>
      </p:sp>
      <p:sp>
        <p:nvSpPr>
          <p:cNvPr id="41" name="Rectangle 40"/>
          <p:cNvSpPr/>
          <p:nvPr/>
        </p:nvSpPr>
        <p:spPr>
          <a:xfrm>
            <a:off x="4187952" y="38953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9593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This is our estimate</a:t>
            </a:r>
          </a:p>
        </p:txBody>
      </p:sp>
      <p:sp>
        <p:nvSpPr>
          <p:cNvPr id="43" name="Rectangle 42"/>
          <p:cNvSpPr/>
          <p:nvPr/>
        </p:nvSpPr>
        <p:spPr>
          <a:xfrm>
            <a:off x="7571232" y="38953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53528" y="39593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Here is the build-up, per part, with the rates</a:t>
            </a:r>
          </a:p>
        </p:txBody>
      </p:sp>
      <p:sp>
        <p:nvSpPr>
          <p:cNvPr id="45" name="Rectangle 44"/>
          <p:cNvSpPr/>
          <p:nvPr/>
        </p:nvSpPr>
        <p:spPr>
          <a:xfrm>
            <a:off x="411480" y="43525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416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Where an engineer spends the time</a:t>
            </a:r>
          </a:p>
        </p:txBody>
      </p:sp>
      <p:sp>
        <p:nvSpPr>
          <p:cNvPr id="47" name="Rectangle 46"/>
          <p:cNvSpPr/>
          <p:nvPr/>
        </p:nvSpPr>
        <p:spPr>
          <a:xfrm>
            <a:off x="4187952" y="43525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416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Typing numbers in</a:t>
            </a:r>
          </a:p>
        </p:txBody>
      </p:sp>
      <p:sp>
        <p:nvSpPr>
          <p:cNvPr id="49" name="Rectangle 48"/>
          <p:cNvSpPr/>
          <p:nvPr/>
        </p:nvSpPr>
        <p:spPr>
          <a:xfrm>
            <a:off x="7571232" y="43525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53528" y="4416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Answering the questions only a person can</a:t>
            </a:r>
          </a:p>
        </p:txBody>
      </p:sp>
      <p:sp>
        <p:nvSpPr>
          <p:cNvPr id="51" name="Rectangle 50"/>
          <p:cNvSpPr/>
          <p:nvPr/>
        </p:nvSpPr>
        <p:spPr>
          <a:xfrm>
            <a:off x="411480" y="48097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873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it needs from a person</a:t>
            </a:r>
          </a:p>
        </p:txBody>
      </p:sp>
      <p:sp>
        <p:nvSpPr>
          <p:cNvPr id="53" name="Rectangle 52"/>
          <p:cNvSpPr/>
          <p:nvPr/>
        </p:nvSpPr>
        <p:spPr>
          <a:xfrm>
            <a:off x="4187952" y="48097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873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One engineer per part</a:t>
            </a:r>
          </a:p>
        </p:txBody>
      </p:sp>
      <p:sp>
        <p:nvSpPr>
          <p:cNvPr id="55" name="Rectangle 54"/>
          <p:cNvSpPr/>
          <p:nvPr/>
        </p:nvSpPr>
        <p:spPr>
          <a:xfrm>
            <a:off x="7571232" y="48097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53528" y="4873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One answer per question, applied to every part</a:t>
            </a:r>
          </a:p>
        </p:txBody>
      </p:sp>
      <p:sp>
        <p:nvSpPr>
          <p:cNvPr id="57" name="Rounded Rectangle 56"/>
          <p:cNvSpPr/>
          <p:nvPr/>
        </p:nvSpPr>
        <p:spPr>
          <a:xfrm>
            <a:off x="411480" y="5349240"/>
            <a:ext cx="11365992"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534924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honest limit on all of this</a:t>
            </a:r>
          </a:p>
        </p:txBody>
      </p:sp>
      <p:sp>
        <p:nvSpPr>
          <p:cNvPr id="60" name="TextBox 59"/>
          <p:cNvSpPr txBox="1"/>
          <p:nvPr/>
        </p:nvSpPr>
        <p:spPr>
          <a:xfrm>
            <a:off x="630936" y="57515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 row assumes the tool is accurate enough to trust unattended, and today nobody can say whether it is. That is precisely what Option 1 measures, which is why it comes first.</a:t>
            </a:r>
          </a:p>
        </p:txBody>
      </p:sp>
      <p:sp>
        <p:nvSpPr>
          <p:cNvPr id="61" name="TextBox 60"/>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No cost saving is claimed on this slide. The saving depends on our own rate data and on the accuracy figure Option 1 produces.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order of work</a:t>
            </a:r>
          </a:p>
        </p:txBody>
      </p:sp>
      <p:sp>
        <p:nvSpPr>
          <p:cNvPr id="9" name="Rounded Rectangle 8"/>
          <p:cNvSpPr/>
          <p:nvPr/>
        </p:nvSpPr>
        <p:spPr>
          <a:xfrm>
            <a:off x="411480" y="171907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19072"/>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19656"/>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79222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Load JLR rates</a:t>
            </a:r>
          </a:p>
        </p:txBody>
      </p:sp>
      <p:sp>
        <p:nvSpPr>
          <p:cNvPr id="13" name="TextBox 12"/>
          <p:cNvSpPr txBox="1"/>
          <p:nvPr/>
        </p:nvSpPr>
        <p:spPr>
          <a:xfrm>
            <a:off x="1298448" y="206654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Materials, machine rates, labour, energy, country factors. This sets the pace and it is ours to do.</a:t>
            </a:r>
          </a:p>
        </p:txBody>
      </p:sp>
      <p:sp>
        <p:nvSpPr>
          <p:cNvPr id="14" name="Rounded Rectangle 13"/>
          <p:cNvSpPr/>
          <p:nvPr/>
        </p:nvSpPr>
        <p:spPr>
          <a:xfrm>
            <a:off x="411480" y="243230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32304"/>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3288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0545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Keep a history of rate changes</a:t>
            </a:r>
          </a:p>
        </p:txBody>
      </p:sp>
      <p:sp>
        <p:nvSpPr>
          <p:cNvPr id="18" name="TextBox 17"/>
          <p:cNvSpPr txBox="1"/>
          <p:nvPr/>
        </p:nvSpPr>
        <p:spPr>
          <a:xfrm>
            <a:off x="1298448" y="277977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Every change stamped and kept, so a costing can name the rate book it used. Prerequisite for anything audited.</a:t>
            </a:r>
          </a:p>
        </p:txBody>
      </p:sp>
      <p:sp>
        <p:nvSpPr>
          <p:cNvPr id="19" name="Rounded Rectangle 18"/>
          <p:cNvSpPr/>
          <p:nvPr/>
        </p:nvSpPr>
        <p:spPr>
          <a:xfrm>
            <a:off x="411480" y="314553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45536"/>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46120"/>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1868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Save finished costings</a:t>
            </a:r>
          </a:p>
        </p:txBody>
      </p:sp>
      <p:sp>
        <p:nvSpPr>
          <p:cNvPr id="23" name="TextBox 22"/>
          <p:cNvSpPr txBox="1"/>
          <p:nvPr/>
        </p:nvSpPr>
        <p:spPr>
          <a:xfrm>
            <a:off x="1298448" y="349300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A stored record per part: inputs, rates, answers, result. Without this a bulk run cannot be reproduced.</a:t>
            </a:r>
          </a:p>
        </p:txBody>
      </p:sp>
      <p:sp>
        <p:nvSpPr>
          <p:cNvPr id="24" name="Rounded Rectangle 23"/>
          <p:cNvSpPr/>
          <p:nvPr/>
        </p:nvSpPr>
        <p:spPr>
          <a:xfrm>
            <a:off x="411480" y="385876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58768"/>
            <a:ext cx="68580" cy="6400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59352"/>
            <a:ext cx="420624" cy="420624"/>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3192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Close the automated-route gaps</a:t>
            </a:r>
          </a:p>
        </p:txBody>
      </p:sp>
      <p:sp>
        <p:nvSpPr>
          <p:cNvPr id="28" name="TextBox 27"/>
          <p:cNvSpPr txBox="1"/>
          <p:nvPr/>
        </p:nvSpPr>
        <p:spPr>
          <a:xfrm>
            <a:off x="1298448" y="420624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Pass region and annual volume through, and register gear. Small work, and a basket is wrong without it.</a:t>
            </a:r>
          </a:p>
        </p:txBody>
      </p:sp>
      <p:sp>
        <p:nvSpPr>
          <p:cNvPr id="29" name="Rounded Rectangle 28"/>
          <p:cNvSpPr/>
          <p:nvPr/>
        </p:nvSpPr>
        <p:spPr>
          <a:xfrm>
            <a:off x="411480" y="457200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7200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7258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4515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Build the run</a:t>
            </a:r>
          </a:p>
        </p:txBody>
      </p:sp>
      <p:sp>
        <p:nvSpPr>
          <p:cNvPr id="33" name="TextBox 32"/>
          <p:cNvSpPr txBox="1"/>
          <p:nvPr/>
        </p:nvSpPr>
        <p:spPr>
          <a:xfrm>
            <a:off x="1298448" y="491947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A list in, a job queue, one question answered once, a report out per part and per basket.</a:t>
            </a:r>
          </a:p>
        </p:txBody>
      </p:sp>
      <p:sp>
        <p:nvSpPr>
          <p:cNvPr id="34" name="Rounded Rectangle 33"/>
          <p:cNvSpPr/>
          <p:nvPr/>
        </p:nvSpPr>
        <p:spPr>
          <a:xfrm>
            <a:off x="411480" y="528523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285232"/>
            <a:ext cx="68580" cy="640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385816"/>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5838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Trial on a real basket</a:t>
            </a:r>
          </a:p>
        </p:txBody>
      </p:sp>
      <p:sp>
        <p:nvSpPr>
          <p:cNvPr id="38" name="TextBox 37"/>
          <p:cNvSpPr txBox="1"/>
          <p:nvPr/>
        </p:nvSpPr>
        <p:spPr>
          <a:xfrm>
            <a:off x="1298448" y="563270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programme, one commodity family, run beside the way we cost today and compare.</a:t>
            </a:r>
          </a:p>
        </p:txBody>
      </p:sp>
      <p:sp>
        <p:nvSpPr>
          <p:cNvPr id="39" name="Rounded Rectangle 38"/>
          <p:cNvSpPr/>
          <p:nvPr/>
        </p:nvSpPr>
        <p:spPr>
          <a:xfrm>
            <a:off x="411480" y="6035040"/>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2 and 3 are the real prerequisites</a:t>
            </a:r>
          </a:p>
        </p:txBody>
      </p:sp>
      <p:sp>
        <p:nvSpPr>
          <p:cNvPr id="42" name="TextBox 41"/>
          <p:cNvSpPr txBox="1"/>
          <p:nvPr/>
        </p:nvSpPr>
        <p:spPr>
          <a:xfrm>
            <a:off x="630936"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not part of the run, and they are what makes a run mean anything afterwards.</a:t>
            </a:r>
          </a:p>
        </p:txBody>
      </p:sp>
      <p:sp>
        <p:nvSpPr>
          <p:cNvPr id="43" name="Rounded Rectangle 42"/>
          <p:cNvSpPr/>
          <p:nvPr/>
        </p:nvSpPr>
        <p:spPr>
          <a:xfrm>
            <a:off x="6199632" y="6035040"/>
            <a:ext cx="5577840"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35040"/>
            <a:ext cx="68580" cy="7680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Step 1 can start now</a:t>
            </a:r>
          </a:p>
        </p:txBody>
      </p:sp>
      <p:sp>
        <p:nvSpPr>
          <p:cNvPr id="46" name="TextBox 45"/>
          <p:cNvSpPr txBox="1"/>
          <p:nvPr/>
        </p:nvSpPr>
        <p:spPr>
          <a:xfrm>
            <a:off x="6419088"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Gathering our own rate data helps both options and does not wait on any decision about Option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together</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798271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500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bulk costing</a:t>
            </a:r>
          </a:p>
        </p:txBody>
      </p:sp>
      <p:sp>
        <p:nvSpPr>
          <p:cNvPr id="15" name="Rectangle 14"/>
          <p:cNvSpPr/>
          <p:nvPr/>
        </p:nvSpPr>
        <p:spPr>
          <a:xfrm>
            <a:off x="411480" y="2066544"/>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What it gives us</a:t>
            </a:r>
          </a:p>
        </p:txBody>
      </p:sp>
      <p:sp>
        <p:nvSpPr>
          <p:cNvPr id="17" name="Rectangle 16"/>
          <p:cNvSpPr/>
          <p:nvPr/>
        </p:nvSpPr>
        <p:spPr>
          <a:xfrm>
            <a:off x="418795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The engineer stops typing</a:t>
            </a:r>
          </a:p>
        </p:txBody>
      </p:sp>
      <p:sp>
        <p:nvSpPr>
          <p:cNvPr id="19" name="Rectangle 18"/>
          <p:cNvSpPr/>
          <p:nvPr/>
        </p:nvSpPr>
        <p:spPr>
          <a:xfrm>
            <a:off x="798271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We can cost a whole basket</a:t>
            </a:r>
          </a:p>
        </p:txBody>
      </p:sp>
      <p:sp>
        <p:nvSpPr>
          <p:cNvPr id="21" name="Rectangle 20"/>
          <p:cNvSpPr/>
          <p:nvPr/>
        </p:nvSpPr>
        <p:spPr>
          <a:xfrm>
            <a:off x="411480" y="2441448"/>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0545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Which system does the costing</a:t>
            </a:r>
          </a:p>
        </p:txBody>
      </p:sp>
      <p:sp>
        <p:nvSpPr>
          <p:cNvPr id="23" name="Rectangle 22"/>
          <p:cNvSpPr/>
          <p:nvPr/>
        </p:nvSpPr>
        <p:spPr>
          <a:xfrm>
            <a:off x="418795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0545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CAPEE, unchanged</a:t>
            </a:r>
          </a:p>
        </p:txBody>
      </p:sp>
      <p:sp>
        <p:nvSpPr>
          <p:cNvPr id="25" name="Rectangle 24"/>
          <p:cNvSpPr/>
          <p:nvPr/>
        </p:nvSpPr>
        <p:spPr>
          <a:xfrm>
            <a:off x="798271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65008" y="2505456"/>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CostVision engine, beside CAPEE</a:t>
            </a:r>
          </a:p>
        </p:txBody>
      </p:sp>
      <p:sp>
        <p:nvSpPr>
          <p:cNvPr id="27" name="Rectangle 26"/>
          <p:cNvSpPr/>
          <p:nvPr/>
        </p:nvSpPr>
        <p:spPr>
          <a:xfrm>
            <a:off x="411480" y="2816352"/>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88036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anyone learn a new tool</a:t>
            </a:r>
          </a:p>
        </p:txBody>
      </p:sp>
      <p:sp>
        <p:nvSpPr>
          <p:cNvPr id="29" name="Rectangle 28"/>
          <p:cNvSpPr/>
          <p:nvPr/>
        </p:nvSpPr>
        <p:spPr>
          <a:xfrm>
            <a:off x="418795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2880360"/>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No, same CAPEE screens</a:t>
            </a:r>
          </a:p>
        </p:txBody>
      </p:sp>
      <p:sp>
        <p:nvSpPr>
          <p:cNvPr id="31" name="Rectangle 30"/>
          <p:cNvSpPr/>
          <p:nvPr/>
        </p:nvSpPr>
        <p:spPr>
          <a:xfrm>
            <a:off x="798271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88036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A reviewer does, for the results</a:t>
            </a:r>
          </a:p>
        </p:txBody>
      </p:sp>
      <p:sp>
        <p:nvSpPr>
          <p:cNvPr id="33" name="Rectangle 32"/>
          <p:cNvSpPr/>
          <p:nvPr/>
        </p:nvSpPr>
        <p:spPr>
          <a:xfrm>
            <a:off x="411480" y="3191256"/>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25526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software work</a:t>
            </a:r>
          </a:p>
        </p:txBody>
      </p:sp>
      <p:sp>
        <p:nvSpPr>
          <p:cNvPr id="35" name="Rectangle 34"/>
          <p:cNvSpPr/>
          <p:nvPr/>
        </p:nvSpPr>
        <p:spPr>
          <a:xfrm>
            <a:off x="418795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Moderate</a:t>
            </a:r>
          </a:p>
        </p:txBody>
      </p:sp>
      <p:sp>
        <p:nvSpPr>
          <p:cNvPr id="37" name="Rectangle 36"/>
          <p:cNvSpPr/>
          <p:nvPr/>
        </p:nvSpPr>
        <p:spPr>
          <a:xfrm>
            <a:off x="798271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6500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More: the run, plus two prerequisites</a:t>
            </a:r>
          </a:p>
        </p:txBody>
      </p:sp>
      <p:sp>
        <p:nvSpPr>
          <p:cNvPr id="39" name="Rectangle 38"/>
          <p:cNvSpPr/>
          <p:nvPr/>
        </p:nvSpPr>
        <p:spPr>
          <a:xfrm>
            <a:off x="411480" y="3566160"/>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630168"/>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JLR data work</a:t>
            </a:r>
          </a:p>
        </p:txBody>
      </p:sp>
      <p:sp>
        <p:nvSpPr>
          <p:cNvPr id="41" name="Rectangle 40"/>
          <p:cNvSpPr/>
          <p:nvPr/>
        </p:nvSpPr>
        <p:spPr>
          <a:xfrm>
            <a:off x="418795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Parts with prices we paid</a:t>
            </a:r>
          </a:p>
        </p:txBody>
      </p:sp>
      <p:sp>
        <p:nvSpPr>
          <p:cNvPr id="43" name="Rectangle 42"/>
          <p:cNvSpPr/>
          <p:nvPr/>
        </p:nvSpPr>
        <p:spPr>
          <a:xfrm>
            <a:off x="798271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6500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Our full rate book</a:t>
            </a:r>
          </a:p>
        </p:txBody>
      </p:sp>
      <p:sp>
        <p:nvSpPr>
          <p:cNvPr id="45" name="Rectangle 44"/>
          <p:cNvSpPr/>
          <p:nvPr/>
        </p:nvSpPr>
        <p:spPr>
          <a:xfrm>
            <a:off x="411480" y="3941064"/>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00507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it tell us how accurate we are</a:t>
            </a:r>
          </a:p>
        </p:txBody>
      </p:sp>
      <p:sp>
        <p:nvSpPr>
          <p:cNvPr id="47" name="Rectangle 46"/>
          <p:cNvSpPr/>
          <p:nvPr/>
        </p:nvSpPr>
        <p:spPr>
          <a:xfrm>
            <a:off x="418795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00507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that is the point of it</a:t>
            </a:r>
          </a:p>
        </p:txBody>
      </p:sp>
      <p:sp>
        <p:nvSpPr>
          <p:cNvPr id="49" name="Rectangle 48"/>
          <p:cNvSpPr/>
          <p:nvPr/>
        </p:nvSpPr>
        <p:spPr>
          <a:xfrm>
            <a:off x="798271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65008" y="4005072"/>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It relies on that answer</a:t>
            </a:r>
          </a:p>
        </p:txBody>
      </p:sp>
      <p:sp>
        <p:nvSpPr>
          <p:cNvPr id="51" name="Rectangle 50"/>
          <p:cNvSpPr/>
          <p:nvPr/>
        </p:nvSpPr>
        <p:spPr>
          <a:xfrm>
            <a:off x="411480" y="4315968"/>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37997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Can we stop part way</a:t>
            </a:r>
          </a:p>
        </p:txBody>
      </p:sp>
      <p:sp>
        <p:nvSpPr>
          <p:cNvPr id="53" name="Rectangle 52"/>
          <p:cNvSpPr/>
          <p:nvPr/>
        </p:nvSpPr>
        <p:spPr>
          <a:xfrm>
            <a:off x="418795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nothing in CAPEE has changed</a:t>
            </a:r>
          </a:p>
        </p:txBody>
      </p:sp>
      <p:sp>
        <p:nvSpPr>
          <p:cNvPr id="55" name="Rectangle 54"/>
          <p:cNvSpPr/>
          <p:nvPr/>
        </p:nvSpPr>
        <p:spPr>
          <a:xfrm>
            <a:off x="798271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6500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it runs alongside</a:t>
            </a:r>
          </a:p>
        </p:txBody>
      </p:sp>
      <p:sp>
        <p:nvSpPr>
          <p:cNvPr id="57" name="Rectangle 56"/>
          <p:cNvSpPr/>
          <p:nvPr/>
        </p:nvSpPr>
        <p:spPr>
          <a:xfrm>
            <a:off x="411480" y="4690872"/>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75488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waiting on an unknown</a:t>
            </a:r>
          </a:p>
        </p:txBody>
      </p:sp>
      <p:sp>
        <p:nvSpPr>
          <p:cNvPr id="59" name="Rectangle 58"/>
          <p:cNvSpPr/>
          <p:nvPr/>
        </p:nvSpPr>
        <p:spPr>
          <a:xfrm>
            <a:off x="418795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7024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Yes, how CAPEE is built</a:t>
            </a:r>
          </a:p>
        </p:txBody>
      </p:sp>
      <p:sp>
        <p:nvSpPr>
          <p:cNvPr id="61" name="Rectangle 60"/>
          <p:cNvSpPr/>
          <p:nvPr/>
        </p:nvSpPr>
        <p:spPr>
          <a:xfrm>
            <a:off x="798271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6500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Yes, the accuracy figure</a:t>
            </a:r>
          </a:p>
        </p:txBody>
      </p:sp>
      <p:sp>
        <p:nvSpPr>
          <p:cNvPr id="63" name="Rectangle 62"/>
          <p:cNvSpPr/>
          <p:nvPr/>
        </p:nvSpPr>
        <p:spPr>
          <a:xfrm>
            <a:off x="411480" y="5065776"/>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12978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audit-ready today</a:t>
            </a:r>
          </a:p>
        </p:txBody>
      </p:sp>
      <p:sp>
        <p:nvSpPr>
          <p:cNvPr id="65" name="Rectangle 64"/>
          <p:cNvSpPr/>
          <p:nvPr/>
        </p:nvSpPr>
        <p:spPr>
          <a:xfrm>
            <a:off x="418795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7024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CAPEE keeps the record</a:t>
            </a:r>
          </a:p>
        </p:txBody>
      </p:sp>
      <p:sp>
        <p:nvSpPr>
          <p:cNvPr id="67" name="Rectangle 66"/>
          <p:cNvSpPr/>
          <p:nvPr/>
        </p:nvSpPr>
        <p:spPr>
          <a:xfrm>
            <a:off x="798271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6500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B03A2E"/>
                </a:solidFill>
                <a:latin typeface="Calibri"/>
              </a:rPr>
              <a:t>No, until rate history and saved costings exist</a:t>
            </a:r>
          </a:p>
        </p:txBody>
      </p:sp>
      <p:sp>
        <p:nvSpPr>
          <p:cNvPr id="69" name="Rounded Rectangle 68"/>
          <p:cNvSpPr/>
          <p:nvPr/>
        </p:nvSpPr>
        <p:spPr>
          <a:xfrm>
            <a:off x="411480" y="5577840"/>
            <a:ext cx="11365992"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77840"/>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6967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Read the last two rows together</a:t>
            </a:r>
          </a:p>
        </p:txBody>
      </p:sp>
      <p:sp>
        <p:nvSpPr>
          <p:cNvPr id="72" name="TextBox 71"/>
          <p:cNvSpPr txBox="1"/>
          <p:nvPr/>
        </p:nvSpPr>
        <p:spPr>
          <a:xfrm>
            <a:off x="630936" y="59801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produces the accuracy figure that Option 2 leans on, and Option 1 is audit-ready today because CAPEE keeps the record. Option 2 is not, until the rate history and the saved costings exist. That is the whole argument for this order.</a:t>
            </a:r>
          </a:p>
        </p:txBody>
      </p:sp>
      <p:sp>
        <p:nvSpPr>
          <p:cNvPr id="73" name="TextBox 72"/>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No durations shown. Nothing in either option has been sized by JLR.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RISKS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open items</a:t>
            </a:r>
          </a:p>
        </p:txBody>
      </p:sp>
      <p:sp>
        <p:nvSpPr>
          <p:cNvPr id="9" name="Rectangle 8"/>
          <p:cNvSpPr/>
          <p:nvPr/>
        </p:nvSpPr>
        <p:spPr>
          <a:xfrm>
            <a:off x="411480" y="1737360"/>
            <a:ext cx="3108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2962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1" name="Rectangle 10"/>
          <p:cNvSpPr/>
          <p:nvPr/>
        </p:nvSpPr>
        <p:spPr>
          <a:xfrm>
            <a:off x="3520440" y="173736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81965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572000" y="1737360"/>
            <a:ext cx="60167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4296" y="1819656"/>
            <a:ext cx="58704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what sorts it</a:t>
            </a:r>
          </a:p>
        </p:txBody>
      </p:sp>
      <p:sp>
        <p:nvSpPr>
          <p:cNvPr id="15" name="Rectangle 14"/>
          <p:cNvSpPr/>
          <p:nvPr/>
        </p:nvSpPr>
        <p:spPr>
          <a:xfrm>
            <a:off x="10588752" y="17373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196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Rating</a:t>
            </a:r>
          </a:p>
        </p:txBody>
      </p:sp>
      <p:sp>
        <p:nvSpPr>
          <p:cNvPr id="17" name="Rectangle 16"/>
          <p:cNvSpPr/>
          <p:nvPr/>
        </p:nvSpPr>
        <p:spPr>
          <a:xfrm>
            <a:off x="411480" y="2066544"/>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3055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accurate it is</a:t>
            </a:r>
          </a:p>
        </p:txBody>
      </p:sp>
      <p:sp>
        <p:nvSpPr>
          <p:cNvPr id="19" name="Rectangle 18"/>
          <p:cNvSpPr/>
          <p:nvPr/>
        </p:nvSpPr>
        <p:spPr>
          <a:xfrm>
            <a:off x="3520440" y="2066544"/>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2736" y="213055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21" name="Rectangle 20"/>
          <p:cNvSpPr/>
          <p:nvPr/>
        </p:nvSpPr>
        <p:spPr>
          <a:xfrm>
            <a:off x="4572000" y="2066544"/>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213055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Never compared against a price JLR has paid. The Option 1 trial is what settles it.</a:t>
            </a:r>
          </a:p>
        </p:txBody>
      </p:sp>
      <p:sp>
        <p:nvSpPr>
          <p:cNvPr id="23" name="Rectangle 22"/>
          <p:cNvSpPr/>
          <p:nvPr/>
        </p:nvSpPr>
        <p:spPr>
          <a:xfrm>
            <a:off x="10588752" y="2066544"/>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3055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25" name="Rectangle 24"/>
          <p:cNvSpPr/>
          <p:nvPr/>
        </p:nvSpPr>
        <p:spPr>
          <a:xfrm>
            <a:off x="411480" y="2542032"/>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60604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Old costings cannot be reproduced</a:t>
            </a:r>
          </a:p>
        </p:txBody>
      </p:sp>
      <p:sp>
        <p:nvSpPr>
          <p:cNvPr id="27" name="Rectangle 26"/>
          <p:cNvSpPr/>
          <p:nvPr/>
        </p:nvSpPr>
        <p:spPr>
          <a:xfrm>
            <a:off x="3520440" y="2542032"/>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260604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29" name="Rectangle 28"/>
          <p:cNvSpPr/>
          <p:nvPr/>
        </p:nvSpPr>
        <p:spPr>
          <a:xfrm>
            <a:off x="4572000" y="2542032"/>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4296" y="260604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No rate history and no saved costings. Has to be built before bulk is used for anything audited.</a:t>
            </a:r>
          </a:p>
        </p:txBody>
      </p:sp>
      <p:sp>
        <p:nvSpPr>
          <p:cNvPr id="31" name="Rectangle 30"/>
          <p:cNvSpPr/>
          <p:nvPr/>
        </p:nvSpPr>
        <p:spPr>
          <a:xfrm>
            <a:off x="10588752" y="2542032"/>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60604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33" name="Rectangle 32"/>
          <p:cNvSpPr/>
          <p:nvPr/>
        </p:nvSpPr>
        <p:spPr>
          <a:xfrm>
            <a:off x="411480" y="3017520"/>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08152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CAPEE is built</a:t>
            </a:r>
          </a:p>
        </p:txBody>
      </p:sp>
      <p:sp>
        <p:nvSpPr>
          <p:cNvPr id="35" name="Rectangle 34"/>
          <p:cNvSpPr/>
          <p:nvPr/>
        </p:nvSpPr>
        <p:spPr>
          <a:xfrm>
            <a:off x="3520440" y="3017520"/>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02736" y="308152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37" name="Rectangle 36"/>
          <p:cNvSpPr/>
          <p:nvPr/>
        </p:nvSpPr>
        <p:spPr>
          <a:xfrm>
            <a:off x="4572000" y="3017520"/>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54296" y="308152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Holds up the choice of connection route. One answer from IT sorts it.</a:t>
            </a:r>
          </a:p>
        </p:txBody>
      </p:sp>
      <p:sp>
        <p:nvSpPr>
          <p:cNvPr id="39" name="Rectangle 38"/>
          <p:cNvSpPr/>
          <p:nvPr/>
        </p:nvSpPr>
        <p:spPr>
          <a:xfrm>
            <a:off x="10588752" y="3017520"/>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08152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High</a:t>
            </a:r>
          </a:p>
        </p:txBody>
      </p:sp>
      <p:sp>
        <p:nvSpPr>
          <p:cNvPr id="41" name="Rectangle 40"/>
          <p:cNvSpPr/>
          <p:nvPr/>
        </p:nvSpPr>
        <p:spPr>
          <a:xfrm>
            <a:off x="411480" y="3493008"/>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557016"/>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automated route has gaps</a:t>
            </a:r>
          </a:p>
        </p:txBody>
      </p:sp>
      <p:sp>
        <p:nvSpPr>
          <p:cNvPr id="43" name="Rectangle 42"/>
          <p:cNvSpPr/>
          <p:nvPr/>
        </p:nvSpPr>
        <p:spPr>
          <a:xfrm>
            <a:off x="3520440" y="3493008"/>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2736" y="3557016"/>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45" name="Rectangle 44"/>
          <p:cNvSpPr/>
          <p:nvPr/>
        </p:nvSpPr>
        <p:spPr>
          <a:xfrm>
            <a:off x="4572000" y="3493008"/>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54296" y="3557016"/>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No region, no annual volume, no gear. Small work, but a basket is quietly wrong without it.</a:t>
            </a:r>
          </a:p>
        </p:txBody>
      </p:sp>
      <p:sp>
        <p:nvSpPr>
          <p:cNvPr id="47" name="Rectangle 46"/>
          <p:cNvSpPr/>
          <p:nvPr/>
        </p:nvSpPr>
        <p:spPr>
          <a:xfrm>
            <a:off x="10588752" y="3493008"/>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3557016"/>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Medium</a:t>
            </a:r>
          </a:p>
        </p:txBody>
      </p:sp>
      <p:sp>
        <p:nvSpPr>
          <p:cNvPr id="49" name="Rectangle 48"/>
          <p:cNvSpPr/>
          <p:nvPr/>
        </p:nvSpPr>
        <p:spPr>
          <a:xfrm>
            <a:off x="411480" y="3968496"/>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032504"/>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built-in numbers are our estimates</a:t>
            </a:r>
          </a:p>
        </p:txBody>
      </p:sp>
      <p:sp>
        <p:nvSpPr>
          <p:cNvPr id="51" name="Rectangle 50"/>
          <p:cNvSpPr/>
          <p:nvPr/>
        </p:nvSpPr>
        <p:spPr>
          <a:xfrm>
            <a:off x="3520440" y="3968496"/>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02736" y="4032504"/>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53" name="Rectangle 52"/>
          <p:cNvSpPr/>
          <p:nvPr/>
        </p:nvSpPr>
        <p:spPr>
          <a:xfrm>
            <a:off x="4572000" y="3968496"/>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654296" y="4032504"/>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Starting points, not JLR plant measurements. They get replaced as real data comes in.</a:t>
            </a:r>
          </a:p>
        </p:txBody>
      </p:sp>
      <p:sp>
        <p:nvSpPr>
          <p:cNvPr id="55" name="Rectangle 54"/>
          <p:cNvSpPr/>
          <p:nvPr/>
        </p:nvSpPr>
        <p:spPr>
          <a:xfrm>
            <a:off x="10588752" y="3968496"/>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032504"/>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Medium</a:t>
            </a:r>
          </a:p>
        </p:txBody>
      </p:sp>
      <p:sp>
        <p:nvSpPr>
          <p:cNvPr id="57" name="Rectangle 56"/>
          <p:cNvSpPr/>
          <p:nvPr/>
        </p:nvSpPr>
        <p:spPr>
          <a:xfrm>
            <a:off x="411480" y="4443984"/>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50799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Drawing text goes to an AI service</a:t>
            </a:r>
          </a:p>
        </p:txBody>
      </p:sp>
      <p:sp>
        <p:nvSpPr>
          <p:cNvPr id="59" name="Rectangle 58"/>
          <p:cNvSpPr/>
          <p:nvPr/>
        </p:nvSpPr>
        <p:spPr>
          <a:xfrm>
            <a:off x="3520440" y="4443984"/>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02736" y="450799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61" name="Rectangle 60"/>
          <p:cNvSpPr/>
          <p:nvPr/>
        </p:nvSpPr>
        <p:spPr>
          <a:xfrm>
            <a:off x="4572000" y="4443984"/>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54296" y="450799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Short extracts only, and it can go through a JLR service. The CAD file itself stays on the server.</a:t>
            </a:r>
          </a:p>
        </p:txBody>
      </p:sp>
      <p:sp>
        <p:nvSpPr>
          <p:cNvPr id="63" name="Rectangle 62"/>
          <p:cNvSpPr/>
          <p:nvPr/>
        </p:nvSpPr>
        <p:spPr>
          <a:xfrm>
            <a:off x="10588752" y="4443984"/>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450799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Medium</a:t>
            </a:r>
          </a:p>
        </p:txBody>
      </p:sp>
      <p:sp>
        <p:nvSpPr>
          <p:cNvPr id="65" name="Rectangle 64"/>
          <p:cNvSpPr/>
          <p:nvPr/>
        </p:nvSpPr>
        <p:spPr>
          <a:xfrm>
            <a:off x="411480" y="4919472"/>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3776" y="498348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Server type</a:t>
            </a:r>
          </a:p>
        </p:txBody>
      </p:sp>
      <p:sp>
        <p:nvSpPr>
          <p:cNvPr id="67" name="Rectangle 66"/>
          <p:cNvSpPr/>
          <p:nvPr/>
        </p:nvSpPr>
        <p:spPr>
          <a:xfrm>
            <a:off x="3520440" y="4919472"/>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02736" y="498348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69" name="Rectangle 68"/>
          <p:cNvSpPr/>
          <p:nvPr/>
        </p:nvSpPr>
        <p:spPr>
          <a:xfrm>
            <a:off x="4572000" y="4919472"/>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54296" y="498348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measuring engine needs a normal Linux server. Easy to confirm now, awkward if we miss it.</a:t>
            </a:r>
          </a:p>
        </p:txBody>
      </p:sp>
      <p:sp>
        <p:nvSpPr>
          <p:cNvPr id="71" name="Rectangle 70"/>
          <p:cNvSpPr/>
          <p:nvPr/>
        </p:nvSpPr>
        <p:spPr>
          <a:xfrm>
            <a:off x="10588752" y="4919472"/>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71048" y="498348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Low</a:t>
            </a:r>
          </a:p>
        </p:txBody>
      </p:sp>
      <p:sp>
        <p:nvSpPr>
          <p:cNvPr id="73" name="Rectangle 72"/>
          <p:cNvSpPr/>
          <p:nvPr/>
        </p:nvSpPr>
        <p:spPr>
          <a:xfrm>
            <a:off x="411480" y="5394960"/>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93776" y="545896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tool is still changing</a:t>
            </a:r>
          </a:p>
        </p:txBody>
      </p:sp>
      <p:sp>
        <p:nvSpPr>
          <p:cNvPr id="75" name="Rectangle 74"/>
          <p:cNvSpPr/>
          <p:nvPr/>
        </p:nvSpPr>
        <p:spPr>
          <a:xfrm>
            <a:off x="3520440" y="5394960"/>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02736" y="545896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77" name="Rectangle 76"/>
          <p:cNvSpPr/>
          <p:nvPr/>
        </p:nvSpPr>
        <p:spPr>
          <a:xfrm>
            <a:off x="4572000" y="5394960"/>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654296" y="545896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Six rounds of work in the last few weeks. For any trial we pin a version and stay on it.</a:t>
            </a:r>
          </a:p>
        </p:txBody>
      </p:sp>
      <p:sp>
        <p:nvSpPr>
          <p:cNvPr id="79" name="Rectangle 78"/>
          <p:cNvSpPr/>
          <p:nvPr/>
        </p:nvSpPr>
        <p:spPr>
          <a:xfrm>
            <a:off x="10588752" y="5394960"/>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671048" y="545896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Low</a:t>
            </a:r>
          </a:p>
        </p:txBody>
      </p:sp>
      <p:sp>
        <p:nvSpPr>
          <p:cNvPr id="81" name="Rounded Rectangle 80"/>
          <p:cNvSpPr/>
          <p:nvPr/>
        </p:nvSpPr>
        <p:spPr>
          <a:xfrm>
            <a:off x="411480" y="6035040"/>
            <a:ext cx="11365992"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One decision deals with the top item</a:t>
            </a:r>
          </a:p>
        </p:txBody>
      </p:sp>
      <p:sp>
        <p:nvSpPr>
          <p:cNvPr id="84" name="TextBox 83"/>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Approving the Option 1 trial turns "we do not know how accurate it is" into a number. Everything else on this list is smaller and has a known fix.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to get going</a:t>
            </a:r>
          </a:p>
        </p:txBody>
      </p:sp>
      <p:sp>
        <p:nvSpPr>
          <p:cNvPr id="9" name="Rounded Rectangle 8"/>
          <p:cNvSpPr/>
          <p:nvPr/>
        </p:nvSpPr>
        <p:spPr>
          <a:xfrm>
            <a:off x="411480" y="1664208"/>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64208"/>
            <a:ext cx="68580" cy="82296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61872"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371234" y="1865010"/>
            <a:ext cx="201900" cy="201900"/>
          </a:xfrm>
          <a:prstGeom prst="rect">
            <a:avLst/>
          </a:prstGeom>
        </p:spPr>
      </p:pic>
      <p:sp>
        <p:nvSpPr>
          <p:cNvPr id="14" name="TextBox 13"/>
          <p:cNvSpPr txBox="1"/>
          <p:nvPr/>
        </p:nvSpPr>
        <p:spPr>
          <a:xfrm>
            <a:off x="1883664" y="1746504"/>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30 to 50 parts with the price we actually paid</a:t>
            </a:r>
          </a:p>
        </p:txBody>
      </p:sp>
      <p:sp>
        <p:nvSpPr>
          <p:cNvPr id="15" name="TextBox 14"/>
          <p:cNvSpPr txBox="1"/>
          <p:nvPr/>
        </p:nvSpPr>
        <p:spPr>
          <a:xfrm>
            <a:off x="1883664" y="2029968"/>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Part, description, annual volume, where it was made, and the price paid. Existing purchase records will do. This is what turns "we think it is about right" into a number, and both options rest on it.</a:t>
            </a:r>
          </a:p>
        </p:txBody>
      </p:sp>
      <p:sp>
        <p:nvSpPr>
          <p:cNvPr id="16" name="Rounded Rectangle 15"/>
          <p:cNvSpPr/>
          <p:nvPr/>
        </p:nvSpPr>
        <p:spPr>
          <a:xfrm>
            <a:off x="411480" y="2560320"/>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560320"/>
            <a:ext cx="68580" cy="8229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61872"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371234" y="2761122"/>
            <a:ext cx="201900" cy="201900"/>
          </a:xfrm>
          <a:prstGeom prst="rect">
            <a:avLst/>
          </a:prstGeom>
        </p:spPr>
      </p:pic>
      <p:sp>
        <p:nvSpPr>
          <p:cNvPr id="21" name="TextBox 20"/>
          <p:cNvSpPr txBox="1"/>
          <p:nvPr/>
        </p:nvSpPr>
        <p:spPr>
          <a:xfrm>
            <a:off x="1883664" y="2642616"/>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Our own rate data</a:t>
            </a:r>
          </a:p>
        </p:txBody>
      </p:sp>
      <p:sp>
        <p:nvSpPr>
          <p:cNvPr id="22" name="TextBox 21"/>
          <p:cNvSpPr txBox="1"/>
          <p:nvPr/>
        </p:nvSpPr>
        <p:spPr>
          <a:xfrm>
            <a:off x="1883664" y="2926080"/>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Material prices, machine rates per hour, labour by grade, electricity and gas. Worth starting now whatever is decided, because both options need it and it is ours to gather.</a:t>
            </a:r>
          </a:p>
        </p:txBody>
      </p:sp>
      <p:sp>
        <p:nvSpPr>
          <p:cNvPr id="23" name="Rounded Rectangle 22"/>
          <p:cNvSpPr/>
          <p:nvPr/>
        </p:nvSpPr>
        <p:spPr>
          <a:xfrm>
            <a:off x="411480" y="3456432"/>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56432"/>
            <a:ext cx="68580" cy="8229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61872"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371234" y="3657234"/>
            <a:ext cx="201900" cy="201900"/>
          </a:xfrm>
          <a:prstGeom prst="rect">
            <a:avLst/>
          </a:prstGeom>
        </p:spPr>
      </p:pic>
      <p:sp>
        <p:nvSpPr>
          <p:cNvPr id="28" name="TextBox 27"/>
          <p:cNvSpPr txBox="1"/>
          <p:nvPr/>
        </p:nvSpPr>
        <p:spPr>
          <a:xfrm>
            <a:off x="1883664" y="3538728"/>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How CAPEE is built</a:t>
            </a:r>
          </a:p>
        </p:txBody>
      </p:sp>
      <p:sp>
        <p:nvSpPr>
          <p:cNvPr id="29" name="TextBox 28"/>
          <p:cNvSpPr txBox="1"/>
          <p:nvPr/>
        </p:nvSpPr>
        <p:spPr>
          <a:xfrm>
            <a:off x="1883664" y="3822192"/>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What it is written in, whether it can call another service on the network, and what kind of server it runs on. Three questions to IT. Unblocks Option 1.</a:t>
            </a:r>
          </a:p>
        </p:txBody>
      </p:sp>
      <p:sp>
        <p:nvSpPr>
          <p:cNvPr id="30" name="Rounded Rectangle 29"/>
          <p:cNvSpPr/>
          <p:nvPr/>
        </p:nvSpPr>
        <p:spPr>
          <a:xfrm>
            <a:off x="411480" y="4352544"/>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4352544"/>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443984"/>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61872" y="4443984"/>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371234" y="4553346"/>
            <a:ext cx="201900" cy="201900"/>
          </a:xfrm>
          <a:prstGeom prst="rect">
            <a:avLst/>
          </a:prstGeom>
        </p:spPr>
      </p:pic>
      <p:sp>
        <p:nvSpPr>
          <p:cNvPr id="35" name="TextBox 34"/>
          <p:cNvSpPr txBox="1"/>
          <p:nvPr/>
        </p:nvSpPr>
        <p:spPr>
          <a:xfrm>
            <a:off x="1883664" y="4434840"/>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decision on the drawing-reading step</a:t>
            </a:r>
          </a:p>
        </p:txBody>
      </p:sp>
      <p:sp>
        <p:nvSpPr>
          <p:cNvPr id="36" name="TextBox 35"/>
          <p:cNvSpPr txBox="1"/>
          <p:nvPr/>
        </p:nvSpPr>
        <p:spPr>
          <a:xfrm>
            <a:off x="1883664" y="4718304"/>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Either switch off the AI reading and keep the measuring, or run it through a JLR-approved service. The data-flow document is written and covers both.</a:t>
            </a:r>
          </a:p>
        </p:txBody>
      </p:sp>
      <p:sp>
        <p:nvSpPr>
          <p:cNvPr id="37" name="Rounded Rectangle 36"/>
          <p:cNvSpPr/>
          <p:nvPr/>
        </p:nvSpPr>
        <p:spPr>
          <a:xfrm>
            <a:off x="411480" y="5248656"/>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248656"/>
            <a:ext cx="68580" cy="8229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8368" y="5340096"/>
            <a:ext cx="420624" cy="420624"/>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40" name="Oval 39"/>
          <p:cNvSpPr/>
          <p:nvPr/>
        </p:nvSpPr>
        <p:spPr>
          <a:xfrm>
            <a:off x="1261872" y="5340096"/>
            <a:ext cx="420624" cy="420624"/>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1371234" y="5449458"/>
            <a:ext cx="201900" cy="201900"/>
          </a:xfrm>
          <a:prstGeom prst="rect">
            <a:avLst/>
          </a:prstGeom>
        </p:spPr>
      </p:pic>
      <p:sp>
        <p:nvSpPr>
          <p:cNvPr id="42" name="TextBox 41"/>
          <p:cNvSpPr txBox="1"/>
          <p:nvPr/>
        </p:nvSpPr>
        <p:spPr>
          <a:xfrm>
            <a:off x="1883664" y="5330952"/>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team and one part type for the trial</a:t>
            </a:r>
          </a:p>
        </p:txBody>
      </p:sp>
      <p:sp>
        <p:nvSpPr>
          <p:cNvPr id="43" name="TextBox 42"/>
          <p:cNvSpPr txBox="1"/>
          <p:nvPr/>
        </p:nvSpPr>
        <p:spPr>
          <a:xfrm>
            <a:off x="1883664" y="5614416"/>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One cost engineer and one commodity family for the duration. Machined parts or pressings would be my choice.</a:t>
            </a:r>
          </a:p>
        </p:txBody>
      </p:sp>
      <p:sp>
        <p:nvSpPr>
          <p:cNvPr id="44" name="Rounded Rectangle 43"/>
          <p:cNvSpPr/>
          <p:nvPr/>
        </p:nvSpPr>
        <p:spPr>
          <a:xfrm>
            <a:off x="411480" y="6217920"/>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6217920"/>
            <a:ext cx="68580" cy="6035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6336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first two do not wait on any decision made today</a:t>
            </a:r>
          </a:p>
        </p:txBody>
      </p:sp>
      <p:sp>
        <p:nvSpPr>
          <p:cNvPr id="47" name="TextBox 46"/>
          <p:cNvSpPr txBox="1"/>
          <p:nvPr/>
        </p:nvSpPr>
        <p:spPr>
          <a:xfrm>
            <a:off x="630936" y="6620256"/>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Purchase records and our own rates are useful whichever way this goes.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 numbers come from</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count and timing in this pack was read off the software or measured this month, and checked again when these slides were built.</a:t>
            </a:r>
          </a:p>
        </p:txBody>
      </p:sp>
      <p:sp>
        <p:nvSpPr>
          <p:cNvPr id="10" name="Rectangle 9"/>
          <p:cNvSpPr/>
          <p:nvPr/>
        </p:nvSpPr>
        <p:spPr>
          <a:xfrm>
            <a:off x="411480" y="1965960"/>
            <a:ext cx="5394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5248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Statement</a:t>
            </a:r>
          </a:p>
        </p:txBody>
      </p:sp>
      <p:sp>
        <p:nvSpPr>
          <p:cNvPr id="12" name="Rectangle 11"/>
          <p:cNvSpPr/>
          <p:nvPr/>
        </p:nvSpPr>
        <p:spPr>
          <a:xfrm>
            <a:off x="5806440" y="1965960"/>
            <a:ext cx="59710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8736" y="2048256"/>
            <a:ext cx="58247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was checked</a:t>
            </a:r>
          </a:p>
        </p:txBody>
      </p:sp>
      <p:sp>
        <p:nvSpPr>
          <p:cNvPr id="14" name="Rectangle 13"/>
          <p:cNvSpPr/>
          <p:nvPr/>
        </p:nvSpPr>
        <p:spPr>
          <a:xfrm>
            <a:off x="411480" y="229514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35915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19 part types cost through the engine</a:t>
            </a:r>
          </a:p>
        </p:txBody>
      </p:sp>
      <p:sp>
        <p:nvSpPr>
          <p:cNvPr id="16" name="Rectangle 15"/>
          <p:cNvSpPr/>
          <p:nvPr/>
        </p:nvSpPr>
        <p:spPr>
          <a:xfrm>
            <a:off x="5806440" y="229514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88736" y="235915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Traced each one from its screen through to the costing</a:t>
            </a:r>
          </a:p>
        </p:txBody>
      </p:sp>
      <p:sp>
        <p:nvSpPr>
          <p:cNvPr id="18" name="Rectangle 17"/>
          <p:cNvSpPr/>
          <p:nvPr/>
        </p:nvSpPr>
        <p:spPr>
          <a:xfrm>
            <a:off x="411480" y="256032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62432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165 costing rules, 149 write into a named box</a:t>
            </a:r>
          </a:p>
        </p:txBody>
      </p:sp>
      <p:sp>
        <p:nvSpPr>
          <p:cNvPr id="20" name="Rectangle 19"/>
          <p:cNvSpPr/>
          <p:nvPr/>
        </p:nvSpPr>
        <p:spPr>
          <a:xfrm>
            <a:off x="5806440" y="256032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88736" y="262432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rule packs for the twelve part types that have them; 9 to 18 apply per part</a:t>
            </a:r>
          </a:p>
        </p:txBody>
      </p:sp>
      <p:sp>
        <p:nvSpPr>
          <p:cNvPr id="22" name="Rectangle 21"/>
          <p:cNvSpPr/>
          <p:nvPr/>
        </p:nvSpPr>
        <p:spPr>
          <a:xfrm>
            <a:off x="411480" y="282549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88950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12 to 69 boxes typed by hand today</a:t>
            </a:r>
          </a:p>
        </p:txBody>
      </p:sp>
      <p:sp>
        <p:nvSpPr>
          <p:cNvPr id="24" name="Rectangle 23"/>
          <p:cNvSpPr/>
          <p:nvPr/>
        </p:nvSpPr>
        <p:spPr>
          <a:xfrm>
            <a:off x="5806440" y="282549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288950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the input fields on the machining, casting, moulding and pressing forms</a:t>
            </a:r>
          </a:p>
        </p:txBody>
      </p:sp>
      <p:sp>
        <p:nvSpPr>
          <p:cNvPr id="26" name="Rectangle 25"/>
          <p:cNvSpPr/>
          <p:nvPr/>
        </p:nvSpPr>
        <p:spPr>
          <a:xfrm>
            <a:off x="411480" y="309067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15468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costing gives the same answer every run</a:t>
            </a:r>
          </a:p>
        </p:txBody>
      </p:sp>
      <p:sp>
        <p:nvSpPr>
          <p:cNvPr id="28" name="Rectangle 27"/>
          <p:cNvSpPr/>
          <p:nvPr/>
        </p:nvSpPr>
        <p:spPr>
          <a:xfrm>
            <a:off x="5806440" y="309067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8736" y="315468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Ran one part five times, identical to the last decimal</a:t>
            </a:r>
          </a:p>
        </p:txBody>
      </p:sp>
      <p:sp>
        <p:nvSpPr>
          <p:cNvPr id="30" name="Rectangle 29"/>
          <p:cNvSpPr/>
          <p:nvPr/>
        </p:nvSpPr>
        <p:spPr>
          <a:xfrm>
            <a:off x="411480" y="3355848"/>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41985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Measuring makes no internet connection</a:t>
            </a:r>
          </a:p>
        </p:txBody>
      </p:sp>
      <p:sp>
        <p:nvSpPr>
          <p:cNvPr id="32" name="Rectangle 31"/>
          <p:cNvSpPr/>
          <p:nvPr/>
        </p:nvSpPr>
        <p:spPr>
          <a:xfrm>
            <a:off x="5806440" y="3355848"/>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88736" y="341985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Checked every line for outbound calls; there are none</a:t>
            </a:r>
          </a:p>
        </p:txBody>
      </p:sp>
      <p:sp>
        <p:nvSpPr>
          <p:cNvPr id="34" name="Rectangle 33"/>
          <p:cNvSpPr/>
          <p:nvPr/>
        </p:nvSpPr>
        <p:spPr>
          <a:xfrm>
            <a:off x="411480" y="3621024"/>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8503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CAD files stay on the server</a:t>
            </a:r>
          </a:p>
        </p:txBody>
      </p:sp>
      <p:sp>
        <p:nvSpPr>
          <p:cNvPr id="36" name="Rectangle 35"/>
          <p:cNvSpPr/>
          <p:nvPr/>
        </p:nvSpPr>
        <p:spPr>
          <a:xfrm>
            <a:off x="5806440" y="3621024"/>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88736" y="368503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Measuring happens locally; only drawing text goes to an AI service</a:t>
            </a:r>
          </a:p>
        </p:txBody>
      </p:sp>
      <p:sp>
        <p:nvSpPr>
          <p:cNvPr id="38" name="Rectangle 37"/>
          <p:cNvSpPr/>
          <p:nvPr/>
        </p:nvSpPr>
        <p:spPr>
          <a:xfrm>
            <a:off x="411480" y="3886200"/>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395020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0.9 to 3.1 seconds to measure a part</a:t>
            </a:r>
          </a:p>
        </p:txBody>
      </p:sp>
      <p:sp>
        <p:nvSpPr>
          <p:cNvPr id="40" name="Rectangle 39"/>
          <p:cNvSpPr/>
          <p:nvPr/>
        </p:nvSpPr>
        <p:spPr>
          <a:xfrm>
            <a:off x="5806440" y="3886200"/>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88736" y="395020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Five real production parts, 0.6 MB to 3.0 MB, this month</a:t>
            </a:r>
          </a:p>
        </p:txBody>
      </p:sp>
      <p:sp>
        <p:nvSpPr>
          <p:cNvPr id="42" name="Rectangle 41"/>
          <p:cNvSpPr/>
          <p:nvPr/>
        </p:nvSpPr>
        <p:spPr>
          <a:xfrm>
            <a:off x="411480" y="4151376"/>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1538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40 parts in 31 seconds on two workers</a:t>
            </a:r>
          </a:p>
        </p:txBody>
      </p:sp>
      <p:sp>
        <p:nvSpPr>
          <p:cNvPr id="44" name="Rectangle 43"/>
          <p:cNvSpPr/>
          <p:nvPr/>
        </p:nvSpPr>
        <p:spPr>
          <a:xfrm>
            <a:off x="5806440" y="4151376"/>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88736" y="421538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Measured wall-clock, nothing reused from cache; larger rows carry that rate forward</a:t>
            </a:r>
          </a:p>
        </p:txBody>
      </p:sp>
      <p:sp>
        <p:nvSpPr>
          <p:cNvPr id="46" name="Rectangle 45"/>
          <p:cNvSpPr/>
          <p:nvPr/>
        </p:nvSpPr>
        <p:spPr>
          <a:xfrm>
            <a:off x="411480" y="4416552"/>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48056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Six of eight sample parts costed straight through</a:t>
            </a:r>
          </a:p>
        </p:txBody>
      </p:sp>
      <p:sp>
        <p:nvSpPr>
          <p:cNvPr id="48" name="Rectangle 47"/>
          <p:cNvSpPr/>
          <p:nvPr/>
        </p:nvSpPr>
        <p:spPr>
          <a:xfrm>
            <a:off x="5806440" y="4416552"/>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88736" y="448056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With the material family given. Given nothing, all eight ask for it first</a:t>
            </a:r>
          </a:p>
        </p:txBody>
      </p:sp>
      <p:sp>
        <p:nvSpPr>
          <p:cNvPr id="50" name="Rectangle 49"/>
          <p:cNvSpPr/>
          <p:nvPr/>
        </p:nvSpPr>
        <p:spPr>
          <a:xfrm>
            <a:off x="411480" y="4681728"/>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74573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Line counts on slide 7</a:t>
            </a:r>
          </a:p>
        </p:txBody>
      </p:sp>
      <p:sp>
        <p:nvSpPr>
          <p:cNvPr id="52" name="Rectangle 51"/>
          <p:cNvSpPr/>
          <p:nvPr/>
        </p:nvSpPr>
        <p:spPr>
          <a:xfrm>
            <a:off x="5806440" y="4681728"/>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88736" y="474573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directly in the source files</a:t>
            </a:r>
          </a:p>
        </p:txBody>
      </p:sp>
      <p:sp>
        <p:nvSpPr>
          <p:cNvPr id="54" name="Rectangle 53"/>
          <p:cNvSpPr/>
          <p:nvPr/>
        </p:nvSpPr>
        <p:spPr>
          <a:xfrm>
            <a:off x="411480" y="494690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3776" y="501091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Settings values on slide 9</a:t>
            </a:r>
          </a:p>
        </p:txBody>
      </p:sp>
      <p:sp>
        <p:nvSpPr>
          <p:cNvPr id="56" name="Rectangle 55"/>
          <p:cNvSpPr/>
          <p:nvPr/>
        </p:nvSpPr>
        <p:spPr>
          <a:xfrm>
            <a:off x="5806440" y="494690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88736" y="501091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Read off the software; each is a single defined value</a:t>
            </a:r>
          </a:p>
        </p:txBody>
      </p:sp>
      <p:sp>
        <p:nvSpPr>
          <p:cNvPr id="58" name="Rectangle 57"/>
          <p:cNvSpPr/>
          <p:nvPr/>
        </p:nvSpPr>
        <p:spPr>
          <a:xfrm>
            <a:off x="411480" y="521208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27608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328 materials, 178 machines, 42 labour rates, 20 regions</a:t>
            </a:r>
          </a:p>
        </p:txBody>
      </p:sp>
      <p:sp>
        <p:nvSpPr>
          <p:cNvPr id="60" name="Rectangle 59"/>
          <p:cNvSpPr/>
          <p:nvPr/>
        </p:nvSpPr>
        <p:spPr>
          <a:xfrm>
            <a:off x="5806440" y="521208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888736" y="527608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rate library; rates effective June and July 2026</a:t>
            </a:r>
          </a:p>
        </p:txBody>
      </p:sp>
      <p:sp>
        <p:nvSpPr>
          <p:cNvPr id="62" name="Rectangle 61"/>
          <p:cNvSpPr/>
          <p:nvPr/>
        </p:nvSpPr>
        <p:spPr>
          <a:xfrm>
            <a:off x="411480" y="547725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3776" y="554126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2,079 automatic tests across 156 files</a:t>
            </a:r>
          </a:p>
        </p:txBody>
      </p:sp>
      <p:sp>
        <p:nvSpPr>
          <p:cNvPr id="64" name="Rectangle 63"/>
          <p:cNvSpPr/>
          <p:nvPr/>
        </p:nvSpPr>
        <p:spPr>
          <a:xfrm>
            <a:off x="5806440" y="547725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888736" y="554126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Full test run at build time, all passing</a:t>
            </a:r>
          </a:p>
        </p:txBody>
      </p:sp>
      <p:sp>
        <p:nvSpPr>
          <p:cNvPr id="66" name="Rectangle 65"/>
          <p:cNvSpPr/>
          <p:nvPr/>
        </p:nvSpPr>
        <p:spPr>
          <a:xfrm>
            <a:off x="411480" y="574243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93776" y="580644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engine runs on its own, outside the application</a:t>
            </a:r>
          </a:p>
        </p:txBody>
      </p:sp>
      <p:sp>
        <p:nvSpPr>
          <p:cNvPr id="68" name="Rectangle 67"/>
          <p:cNvSpPr/>
          <p:nvPr/>
        </p:nvSpPr>
        <p:spPr>
          <a:xfrm>
            <a:off x="5806440" y="574243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88736" y="580644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Called it standalone; produced the full eight-bucket answer unchanged</a:t>
            </a:r>
          </a:p>
        </p:txBody>
      </p:sp>
      <p:sp>
        <p:nvSpPr>
          <p:cNvPr id="70" name="Rounded Rectangle 69"/>
          <p:cNvSpPr/>
          <p:nvPr/>
        </p:nvSpPr>
        <p:spPr>
          <a:xfrm>
            <a:off x="411480" y="6199632"/>
            <a:ext cx="11365992" cy="603504"/>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11480" y="6199632"/>
            <a:ext cx="68580" cy="60350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0936" y="631850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number we deliberately do not show</a:t>
            </a:r>
          </a:p>
        </p:txBody>
      </p:sp>
      <p:sp>
        <p:nvSpPr>
          <p:cNvPr id="73" name="TextBox 72"/>
          <p:cNvSpPr txBox="1"/>
          <p:nvPr/>
        </p:nvSpPr>
        <p:spPr>
          <a:xfrm>
            <a:off x="630936" y="660196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 has an accuracy report, but no real purchase prices are loaded into it yet. That is ask number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