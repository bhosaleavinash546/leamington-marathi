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Before learning</c:v>
                </c:pt>
              </c:strCache>
            </c:strRef>
          </c:tx>
          <c:spPr>
            <a:solidFill>
              <a:srgbClr val="686F7D"/>
            </a:solidFill>
            <a:ln>
              <a:noFill/>
            </a:ln>
          </c:spPr>
          <c:cat>
            <c:strRef>
              <c:f>Sheet1!$A$2:$A$3</c:f>
              <c:strCache>
                <c:ptCount val="2"/>
                <c:pt idx="0">
                  <c:v>Machining · Aluminium · UK</c:v>
                </c:pt>
                <c:pt idx="1">
                  <c:v>Casting · Aluminium · China</c:v>
                </c:pt>
              </c:strCache>
            </c:strRef>
          </c:cat>
          <c:val>
            <c:numRef>
              <c:f>Sheet1!$B$2:$B$3</c:f>
              <c:numCache>
                <c:formatCode>General</c:formatCode>
                <c:ptCount val="2"/>
                <c:pt idx="0">
                  <c:v>10.9</c:v>
                </c:pt>
                <c:pt idx="1">
                  <c:v>8.7</c:v>
                </c:pt>
              </c:numCache>
            </c:numRef>
          </c:val>
        </c:ser>
        <c:ser>
          <c:idx val="1"/>
          <c:order val="1"/>
          <c:tx>
            <c:strRef>
              <c:f>Sheet1!$C$1</c:f>
              <c:strCache>
                <c:ptCount val="1"/>
                <c:pt idx="0">
                  <c:v>After 3 real quotes</c:v>
                </c:pt>
              </c:strCache>
            </c:strRef>
          </c:tx>
          <c:spPr>
            <a:solidFill>
              <a:srgbClr val="2A7F50"/>
            </a:solidFill>
            <a:ln>
              <a:noFill/>
            </a:ln>
          </c:spPr>
          <c:cat>
            <c:strRef>
              <c:f>Sheet1!$A$2:$A$3</c:f>
              <c:strCache>
                <c:ptCount val="2"/>
                <c:pt idx="0">
                  <c:v>Machining · Aluminium · UK</c:v>
                </c:pt>
                <c:pt idx="1">
                  <c:v>Casting · Aluminium · China</c:v>
                </c:pt>
              </c:strCache>
            </c:strRef>
          </c:cat>
          <c:val>
            <c:numRef>
              <c:f>Sheet1!$C$2:$C$3</c:f>
              <c:numCache>
                <c:formatCode>General</c:formatCode>
                <c:ptCount val="2"/>
                <c:pt idx="0">
                  <c:v>0.3</c:v>
                </c:pt>
                <c:pt idx="1">
                  <c:v>0.6</c:v>
                </c:pt>
              </c:numCache>
            </c:numRef>
          </c:val>
        </c:ser>
        <c:dLbls>
          <c:txPr>
            <a:bodyPr/>
            <a:lstStyle/>
            <a:p>
              <a:pPr>
                <a:defRPr sz="1050" b="1">
                  <a:solidFill>
                    <a:srgbClr val="16325C"/>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E"/>
            </a:solidFill>
          </a:ln>
        </c:spPr>
        <c:txPr>
          <a:bodyPr/>
          <a:lstStyle/>
          <a:p>
            <a:pPr>
              <a:defRPr sz="1050">
                <a:solidFill>
                  <a:srgbClr val="3A4356"/>
                </a:solidFill>
              </a:defRPr>
            </a:pPr>
          </a:p>
        </c:txPr>
        <c:crossAx val="-2113994440"/>
        <c:crosses val="autoZero"/>
        <c:auto val="1"/>
        <c:lblAlgn val="ctr"/>
        <c:lblOffset val="100"/>
        <c:noMultiLvlLbl val="0"/>
      </c:catAx>
      <c:valAx>
        <c:axId val="-2113994440"/>
        <c:scaling/>
        <c:delete val="0"/>
        <c:axPos val="l"/>
        <c:majorGridlines>
          <c:spPr>
            <a:ln>
              <a:solidFill>
                <a:srgbClr val="DCE3EE"/>
              </a:solidFill>
            </a:ln>
          </c:spPr>
        </c:majorGridlines>
        <c:majorTickMark val="out"/>
        <c:minorTickMark val="none"/>
        <c:tickLblPos val="nextTo"/>
        <c:spPr>
          <a:ln>
            <a:solidFill>
              <a:srgbClr val="DCE3EE"/>
            </a:solidFill>
          </a:ln>
        </c:spPr>
        <c:txPr>
          <a:bodyPr/>
          <a:lstStyle/>
          <a:p>
            <a:pPr>
              <a:defRPr sz="1000">
                <a:solidFill>
                  <a:srgbClr val="686F7D"/>
                </a:solidFill>
              </a:defRPr>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Confidence band (± %)</c:v>
                </c:pt>
              </c:strCache>
            </c:strRef>
          </c:tx>
          <c:spPr>
            <a:solidFill>
              <a:srgbClr val="99651A"/>
            </a:solidFill>
            <a:ln>
              <a:noFill/>
            </a:ln>
          </c:spPr>
          <c:cat>
            <c:strRef>
              <c:f>Sheet1!$A$2:$A$3</c:f>
              <c:strCache>
                <c:ptCount val="2"/>
                <c:pt idx="0">
                  <c:v>Before any real quotes</c:v>
                </c:pt>
                <c:pt idx="1">
                  <c:v>After 3 real quotes logged</c:v>
                </c:pt>
              </c:strCache>
            </c:strRef>
          </c:cat>
          <c:val>
            <c:numRef>
              <c:f>Sheet1!$B$2:$B$3</c:f>
              <c:numCache>
                <c:formatCode>General</c:formatCode>
                <c:ptCount val="2"/>
                <c:pt idx="0">
                  <c:v>20.4</c:v>
                </c:pt>
                <c:pt idx="1">
                  <c:v>2.8</c:v>
                </c:pt>
              </c:numCache>
            </c:numRef>
          </c:val>
        </c:ser>
        <c:dLbls>
          <c:txPr>
            <a:bodyPr/>
            <a:lstStyle/>
            <a:p>
              <a:pPr>
                <a:defRPr sz="1050" b="1">
                  <a:solidFill>
                    <a:srgbClr val="16325C"/>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E"/>
            </a:solidFill>
          </a:ln>
        </c:spPr>
        <c:txPr>
          <a:bodyPr/>
          <a:lstStyle/>
          <a:p>
            <a:pPr>
              <a:defRPr sz="1050">
                <a:solidFill>
                  <a:srgbClr val="3A4356"/>
                </a:solidFill>
              </a:defRPr>
            </a:pPr>
          </a:p>
        </c:txPr>
        <c:crossAx val="-2113994440"/>
        <c:crosses val="autoZero"/>
        <c:auto val="1"/>
        <c:lblAlgn val="ctr"/>
        <c:lblOffset val="100"/>
        <c:noMultiLvlLbl val="0"/>
      </c:catAx>
      <c:valAx>
        <c:axId val="-2113994440"/>
        <c:scaling/>
        <c:delete val="0"/>
        <c:axPos val="l"/>
        <c:majorGridlines>
          <c:spPr>
            <a:ln>
              <a:solidFill>
                <a:srgbClr val="DCE3EE"/>
              </a:solidFill>
            </a:ln>
          </c:spPr>
        </c:majorGridlines>
        <c:majorTickMark val="out"/>
        <c:minorTickMark val="none"/>
        <c:tickLblPos val="nextTo"/>
        <c:spPr>
          <a:ln>
            <a:solidFill>
              <a:srgbClr val="DCE3EE"/>
            </a:solidFill>
          </a:ln>
        </c:spPr>
        <c:txPr>
          <a:bodyPr/>
          <a:lstStyle/>
          <a:p>
            <a:pPr>
              <a:defRPr sz="1000">
                <a:solidFill>
                  <a:srgbClr val="686F7D"/>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Manual (engineer)</c:v>
                </c:pt>
              </c:strCache>
            </c:strRef>
          </c:tx>
          <c:spPr>
            <a:solidFill>
              <a:srgbClr val="686F7D"/>
            </a:solidFill>
            <a:ln>
              <a:noFill/>
            </a:ln>
          </c:spPr>
          <c:cat>
            <c:strRef>
              <c:f>Sheet1!$A$2:$A$4</c:f>
              <c:strCache>
                <c:ptCount val="3"/>
                <c:pt idx="0">
                  <c:v>Components</c:v>
                </c:pt>
                <c:pt idx="1">
                  <c:v>Fab + assembly</c:v>
                </c:pt>
                <c:pt idx="2">
                  <c:v>Total / board</c:v>
                </c:pt>
              </c:strCache>
            </c:strRef>
          </c:cat>
          <c:val>
            <c:numRef>
              <c:f>Sheet1!$B$2:$B$4</c:f>
              <c:numCache>
                <c:formatCode>General</c:formatCode>
                <c:ptCount val="3"/>
                <c:pt idx="0">
                  <c:v>62.0</c:v>
                </c:pt>
                <c:pt idx="1">
                  <c:v>10.0</c:v>
                </c:pt>
                <c:pt idx="2">
                  <c:v>73.0</c:v>
                </c:pt>
              </c:numCache>
            </c:numRef>
          </c:val>
        </c:ser>
        <c:ser>
          <c:idx val="1"/>
          <c:order val="1"/>
          <c:tx>
            <c:strRef>
              <c:f>Sheet1!$C$1</c:f>
              <c:strCache>
                <c:ptCount val="1"/>
                <c:pt idx="0">
                  <c:v>AI (from photo)</c:v>
                </c:pt>
              </c:strCache>
            </c:strRef>
          </c:tx>
          <c:spPr>
            <a:solidFill>
              <a:srgbClr val="1D6FB8"/>
            </a:solidFill>
            <a:ln>
              <a:noFill/>
            </a:ln>
          </c:spPr>
          <c:cat>
            <c:strRef>
              <c:f>Sheet1!$A$2:$A$4</c:f>
              <c:strCache>
                <c:ptCount val="3"/>
                <c:pt idx="0">
                  <c:v>Components</c:v>
                </c:pt>
                <c:pt idx="1">
                  <c:v>Fab + assembly</c:v>
                </c:pt>
                <c:pt idx="2">
                  <c:v>Total / board</c:v>
                </c:pt>
              </c:strCache>
            </c:strRef>
          </c:cat>
          <c:val>
            <c:numRef>
              <c:f>Sheet1!$C$2:$C$4</c:f>
              <c:numCache>
                <c:formatCode>General</c:formatCode>
                <c:ptCount val="3"/>
                <c:pt idx="0">
                  <c:v>62.29</c:v>
                </c:pt>
                <c:pt idx="1">
                  <c:v>6.82</c:v>
                </c:pt>
                <c:pt idx="2">
                  <c:v>69.11</c:v>
                </c:pt>
              </c:numCache>
            </c:numRef>
          </c:val>
        </c:ser>
        <c:dLbls>
          <c:txPr>
            <a:bodyPr/>
            <a:lstStyle/>
            <a:p>
              <a:pPr>
                <a:defRPr sz="1050" b="1">
                  <a:solidFill>
                    <a:srgbClr val="16325C"/>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E"/>
            </a:solidFill>
          </a:ln>
        </c:spPr>
        <c:txPr>
          <a:bodyPr/>
          <a:lstStyle/>
          <a:p>
            <a:pPr>
              <a:defRPr sz="1050">
                <a:solidFill>
                  <a:srgbClr val="3A4356"/>
                </a:solidFill>
              </a:defRPr>
            </a:pPr>
          </a:p>
        </c:txPr>
        <c:crossAx val="-2113994440"/>
        <c:crosses val="autoZero"/>
        <c:auto val="1"/>
        <c:lblAlgn val="ctr"/>
        <c:lblOffset val="100"/>
        <c:noMultiLvlLbl val="0"/>
      </c:catAx>
      <c:valAx>
        <c:axId val="-2113994440"/>
        <c:scaling/>
        <c:delete val="0"/>
        <c:axPos val="l"/>
        <c:majorGridlines>
          <c:spPr>
            <a:ln>
              <a:solidFill>
                <a:srgbClr val="DCE3EE"/>
              </a:solidFill>
            </a:ln>
          </c:spPr>
        </c:majorGridlines>
        <c:majorTickMark val="out"/>
        <c:minorTickMark val="none"/>
        <c:tickLblPos val="nextTo"/>
        <c:spPr>
          <a:ln>
            <a:solidFill>
              <a:srgbClr val="DCE3EE"/>
            </a:solidFill>
          </a:ln>
        </c:spPr>
        <c:txPr>
          <a:bodyPr/>
          <a:lstStyle/>
          <a:p>
            <a:pPr>
              <a:defRPr sz="1000">
                <a:solidFill>
                  <a:srgbClr val="686F7D"/>
                </a:solidFill>
              </a:defRPr>
            </a:pPr>
          </a:p>
        </c:txPr>
        <c:crossAx val="-2068027336"/>
        <c:crosses val="autoZero"/>
      </c:valAx>
    </c:plotArea>
    <c:legend>
      <c:legendPos val="b"/>
      <c:overlay val="0"/>
      <c:txPr>
        <a:bodyPr/>
        <a:lstStyle/>
        <a:p>
          <a:pPr>
            <a:defRPr sz="105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strong, then pause. "Every costing tool on the market does maths. Ours does something none of them do — it learns." Hold up the idea: the tool remembers every part we've ever costed, recognises the next one, corrects itself against real quotes, and goes hunting for savings while nobody's watching. One promise before we start: every single number in this deck is from a live run of the real system — no mock-ups, no slideware. Let's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four numbers, remember these. Error fell thirty-six-fold — eleven percent down to under one — after the tool learned from just three real quotes. The background agent found half a million pounds a year of pricing issues with nobody at the keyboard. It recognised a brand-new bracket against past parts at ninety-nine percent and told us why. And it's production-grade — one thousand seven hundred and seventy-seven automated tests. But here's the one line that matters: costing intelligence used to live in people's heads and walk out the door when they left. Now it accumulates as a company asset that gets more valuable every day we use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"Agentic" gets thrown around a lot, so let me make it concrete — four plain verbs. It REMEMBERS: every analysis becomes a stored case. It RECOGNISES: new parts get matched to that memory instantly. It SELF-CORRECTS: real quotes teach it, and its accuracy is measured, not claimed. And it ACTS: an agent raises findings without being asked. One design choice underpins all of it — every suggestion shows its source parts and its arithmetic. That's deliberate, because a number you can't defend is worthless in a supplier negotiation. Ours you can defend,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machine on one slide — and the punchline is how little it asks of the engineer. They cost a part exactly as they do today. Everything blue and automatic happens on its own: it remembers, it recognises, it suggests, and the agent keeps watch. There is exactly ONE new habit — a single click, 'Log Actual £,' when a real quote lands. That one click is the fuel for every loop on this slide, and every loop makes the next estimate sharper. No new workload, compounding returns. That's the deal.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Capability one — the memory. For every analysis we keep a fingerprint of the part, the full costed result, any real quotes, and — this is the clever bit — the exact places an expert overrode the AI. Those corrections are our engineers literally teaching the tool. On the right is why it matters to us specifically: it's shared, so a junior inherits senior judgement on day one; it lives on our servers, so it's our asset, not a vendor's; and it compounds — genuinely useful after only twenty or thirty analyses. Every costing we run from today is a deposit into an account that only grows.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Capability two, shown with the tool's actual live output. An engineer starts a new aluminium bracket. Before they've even finished, the tool has surfaced the three most similar parts we've ever costed — at ninety-eight to ninety-nine percent — and it tells you WHY they matched: same material family, same weight class, same region. Then it hands over the gold: the median cost, the shared material, and the real prices we actually paid. A junior just stood on the shoulders of every senior who came before them. And notice — every number names its source. Nothing here is a black box.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Capability three is the accuracy engine, and this is a real measured result. Our machining estimates ran about eleven percent LOW against real prices. After the tool learned from three logged quotes, the error was three-tenths of a percent. Now look right — and this is the subtle, important part. Machining ran low; our China castings ran high. Average them together and everything looks 'fine' — the errors cancel and hide. The tool refuses to average. It corrects each process, material and region separately, so it catches exactly what a portfolio average conceals. Accuracy here is measured against reality and reported out loud — not asserted on a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Capability four — honesty about precision, which is a feature, not a weakness. Every estimate now comes as a range: optimistic, most likely, conservative. Early on, with no evidence, that range is wide — and that IS the truth. As real quotes prove the tool right, the range tightens on its own: on our test part, from plus-or-minus twenty percent down to three. Give a buyer this and you've handed them a script — the conservative end is the walk-away, the optimistic end is the stretch target. A single number pretends to a confidence early estimates simply don't have. This tells the truth, and the truth negotiates better.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Capability five — this is the one that earns the word 'agentic.' A monitor runs on our server on a schedule and compares what we PAY against what things SHOULD cost, using everything the tool has learned. In the live demo, with nobody at the keyboard, it opened three findings by itself: a renegotiation worth four hundred thousand a year, an 'underwater' price that flags supply risk, and a stale estimate that needs a fresh quote. Half a million pounds a year, surfaced unattended — and every finding shows its arithmetic, ready to carry straight into a supplier meeting. The tool isn't waiting to be asked anymore. It's already working.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learning loop is the headline, but it stands on a real platform. The assistant answers from our own rate data with citations — it quotes our numbers, it doesn't improvise. The RFQ analyst turns a full quote package into a costed, risk-flagged negotiation brief. CAD feature costing shows a designer which hole or surface is driving the price. And carbon co-costing puts a CO2 figure next to every pound — which automotive and aerospace customers now demand in the RFQ itself. Eighteen commodity engines, CAD-to-cost, PCB photo-to-BOM — and the agentic layer sits on top of all of it, feeding and fed by the same memory.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 management question: what does this cost the team in effort? Honestly — almost nothing. Engineers keep costing parts exactly as they do now; the memory builds itself in the background. The one new habit is a single click when a real quote arrives. Two optional accelerants: attach CAD or BOM files for sharper matching, and — my recommended first move — a one-off import of our historical quotes so the system starts SMART instead of empty. Low effort in, compounding value out. That's the whole ask on the input side.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on this slide was measured on the running system — live server, real database, real API calls — not projected. Segment error dropped to well under one percent in BOTH directions of bias. The confidence band tightened seven-fold. Recognition hit ninety-nine percent on the live example. The unattended agent surfaced half a million pounds. And one thousand seven hundred and seventy-seven tests stand guard so none of it quietly regresses. One honest caveat, because credibility is the whole game here: these demos ran on small seeded datasets — real-world accuracy builds as OUR data accumulates. The mechanism is proven. The asset grows with use.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benefits, business language. Speed: new parts start from proven history, not a blank sheet. Accuracy: it compounds with every quote and it's always measured — which is precisely what makes our numbers defensible with suppliers. Retention: your best engineers' judgement becomes company data instead of leaving in a leaver's head. And proactive savings: the agent finds money continuously, quantified per year. Then the strategic kicker — a competitor can buy the same software tomorrow. They cannot buy our accumulated costing intelligence. That's the moat, and it deepens every 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this year, and it sharpens the moat. Every should-cost now carries TWO ranges. On the left, the physics prior — a Monte-Carlo band reflecting how well the inputs are known; always available, every part. On the right, the new one: an empirical band built from the actual quotes you've logged, using conformal prediction — a method that comes with a mathematical coverage guarantee. So the tool stops asserting a precision and starts stating an observed fact: 'ninety percent of your real quotes for this family landed within plus-or-minus six-and-a-half percent.' That band edge is measured error, not a claim — which is exactly why a buyer can defend it in the room. And it tightens on its own. No competitor states uncertainty with a guarantee like this.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the loop on the agent. It used to rank findings by the raw gap — the theoretical money. Now it learns which findings actually convert into cash. Watch the table: the cast housing shows a two-hundred-thousand-pound gap, but in our data casting renegotiations almost never close — twenty percent — so the realizable value is forty thousand. The machined knuckle has HALF the raw gap, but machining usually closes — eighty percent — so it's worth eighty thousand realizable. The agent now ranks the machining finding ABOVE the bigger one. Why does that matter? Sourcing time is scarce — it now points at money you can actually get, and tracks the pounds truly saved so the tool proves its own worth. It stopped shouting about theoretical money.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a number becomes leverage. The tool now builds a small causal model of the part — it knows the material bucket is driven by a specific commodity index, aluminium here — and it runs the same overhead-and-margin maths the engine already uses to work out how sensitive the price is. Then it writes the argument for you. Read the live output: material is eight-thirty-nine, driven by aluminium; every one-percent move in the index shifts the piece price by eleven pence; a quote of ninety-five is only justified if aluminium were about fourteen percent above today — so ask them to prove it, or hold at eighty-six thirty-four. That's a sentence a buyer can say out loud and not get argued out of. Should-cost, converted into negotiating power — the number AND the words.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ask 'what if a commodity moves?' Left, one part: drag a slider from minus twenty to plus twenty percent and the price recomputes live under your finger — plus fifteen percent aluminium takes this part from eighty-six thirty-four to eighty-seven ninety-two. Right, the whole portfolio at once: push a move across every part and watch who changes status — steel up ten percent, seven parts flip underwater, here's the money at risk. That's sourcing getting ahead of the market instead of reacting to it. And the framing that keeps it honest: it's always a conditional — IF the index moves — never a forecast we can't stand behind. Connect a live market feed and the same machinery becomes a real forecast overnight.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feature I'm proudest of this year. Photograph a circuit board, and in about sixty seconds you get a costed bill of materials. The story here is honesty about the journey: it started as a clever demo, and complex automotive boards would sometimes come back EMPTY — a lot of compute, no result. We fixed that at the root, then hardened the whole pipeline. The chart is the proof: the same real ECU, costed by an engineer bottom-up in half a day versus the AI from one photo — sixty-nine pounds against seventy-three, within about five percent, in sixty seconds. On the right, the five fixes that got us there — grounding prices to a real catalogue, capping any part the model misreads so one bad line can't blow up the total, making fabrication deterministic, and splitting the headline into what you can trust versus what to verify. Bottom line: the two-to-three-times over-costing is gone. Same photo, same answer, every run — and it tells you exactly which lines to firm up before you quote.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take one competitive message away, take this. Rivals can demo continuous learning and adaptive reasoning — but as a black box, a number you're told to trust. Our principle is the opposite, and it's the harder thing to build: every learned or derived value stays auditable. The bias factor, the conformal band, the hit-rate, the coach's arithmetic — all of it is a value a cost engineer can read and defend across the table. The AI narrates and explains; it never sets the price in secret. So we match the market on learning, autonomy and causal reasoning — and we beat it on the one thing that actually wins deals in this business: defensibility. Autonomous, self-improving, glass-box, AND on-premise so the intelligence never leaves our walls. That combination doesn't exist anywhere else.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capability is built, tested — one thousand seven hundred and seventy-seven tests — and live, at no extra licence cost, running on our own infrastructure. I'll be straight about the one dependency: the intelligence starts empty and grows with use. So the ask is three small decisions. One: make 'Log Actual £' a one-click habit when quotes come in. Two: approve a one-off import of our historical quotes so the system starts smart — a day or two of effort. Three: put the agent's findings on the sourcing agenda each month; it's already finding money. Do those three things and this becomes a compounding asset from day one. Thank you — I'm happy to take questions, or show you the live system right now.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new capabilities since we last spoke, and this is the first. Until now the tool looked at the finished cost and worked backwards — tooling looks high, so something about the shape must be expensive. That is inference. Now it opens the 3D model and measures every single face on the part, and it tells you exactly which features cost money. Nineteen rules, and every one of them cites a published standard — the ASM Handbook, the die-casting association, Machinery's Handbook. That was a rule I set myself: no citation, no ship. If we cannot say where a threshold came from, it does not go in. Six commodity packs, because a casting and a sheet-metal part fail in completely different ways. The middle card is the one engineers care about. It does not say tooling looks high. It says face one-eight-six sits at a hundred and thirty-five degrees to the draw direction and cannot come out of the die. You can click it and see the face highlighted on the model. That is a conversation with a supplier, not a hunch. Two more things at the bottom. It runs by itself in the background after upload, so nobody waits. And — this is the part I insisted on — every part also lists what it could NOT check. A short list of problems must never be mistaken for a clean part.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new thing, and this one came directly from cost engineering and the plant asking for it. Gears used to go through the tool as if they were ordinary milled parts, and the milling model cannot see a tooth. Look at the three rows. Same gear, same size, same programme. The only thing changing is how accurate we ask it to be. A loose gear, we cut the teeth and check it — eight pounds twenty-six. An accurate gear has to be hardened in a furnace, and because hardening bends it slightly, it then has to be ground. Two extra machines. Thirteen fifty-five. So asking for a better gear does not make the same work cost more. It adds machines. Any tool that just multiplies by one-point-four is wrong. Bottom row is an internal ring gear. A hob physically cannot get inside a bore, so the tool does not even offer it — it picks a different process. Geometry decides, not preference. The two boxes underneath matter as much as the numbers. If we cannot make a gear on any machine we know about, the tool refuses rather than quietly costing it on the nearest one. And it is honest that the shop figures are representative until your plant gives us theirs — it prints that warning on every single gear estimate. I would rather it under-claim than have your plant head catch it 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411480"/>
            <a:ext cx="480060" cy="480060"/>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25" b="1">
                <a:solidFill>
                  <a:srgbClr val="16325C"/>
                </a:solidFill>
                <a:latin typeface="Calibri"/>
              </a:rPr>
              <a:t>cv</a:t>
            </a:r>
          </a:p>
        </p:txBody>
      </p:sp>
      <p:sp>
        <p:nvSpPr>
          <p:cNvPr id="5" name="TextBox 4"/>
          <p:cNvSpPr txBox="1"/>
          <p:nvPr/>
        </p:nvSpPr>
        <p:spPr>
          <a:xfrm>
            <a:off x="1051560" y="377190"/>
            <a:ext cx="2377440" cy="292608"/>
          </a:xfrm>
          <a:prstGeom prst="rect">
            <a:avLst/>
          </a:prstGeom>
          <a:noFill/>
        </p:spPr>
        <p:txBody>
          <a:bodyPr wrap="square" anchor="t" lIns="0" rIns="0" tIns="0" bIns="0">
            <a:spAutoFit/>
          </a:bodyPr>
          <a:lstStyle/>
          <a:p>
            <a:pPr algn="l">
              <a:lnSpc>
                <a:spcPct val="100000"/>
              </a:lnSpc>
              <a:spcAft>
                <a:spcPts val="400"/>
              </a:spcAft>
            </a:pPr>
            <a:r>
              <a:rPr sz="2250" b="1" i="0">
                <a:solidFill>
                  <a:srgbClr val="FFFFFF"/>
                </a:solidFill>
                <a:latin typeface="Calibri"/>
              </a:rPr>
              <a:t>CostVision</a:t>
            </a:r>
          </a:p>
        </p:txBody>
      </p:sp>
      <p:sp>
        <p:nvSpPr>
          <p:cNvPr id="6" name="TextBox 5"/>
          <p:cNvSpPr txBox="1"/>
          <p:nvPr/>
        </p:nvSpPr>
        <p:spPr>
          <a:xfrm>
            <a:off x="1051560" y="685800"/>
            <a:ext cx="2560320" cy="201168"/>
          </a:xfrm>
          <a:prstGeom prst="rect">
            <a:avLst/>
          </a:prstGeom>
          <a:noFill/>
        </p:spPr>
        <p:txBody>
          <a:bodyPr wrap="square" anchor="t" lIns="0" rIns="0" tIns="0" bIns="0">
            <a:spAutoFit/>
          </a:bodyPr>
          <a:lstStyle/>
          <a:p>
            <a:pPr algn="l">
              <a:lnSpc>
                <a:spcPct val="100000"/>
              </a:lnSpc>
              <a:spcAft>
                <a:spcPts val="400"/>
              </a:spcAft>
            </a:pPr>
            <a:r>
              <a:rPr sz="937" b="0" i="0">
                <a:solidFill>
                  <a:srgbClr val="8FA3CC"/>
                </a:solidFill>
                <a:latin typeface="Calibri"/>
              </a:rPr>
              <a:t>AI  COST  INTELLIGENCE</a:t>
            </a:r>
          </a:p>
        </p:txBody>
      </p:sp>
      <p:sp>
        <p:nvSpPr>
          <p:cNvPr id="7" name="TextBox 6"/>
          <p:cNvSpPr txBox="1"/>
          <p:nvPr/>
        </p:nvSpPr>
        <p:spPr>
          <a:xfrm>
            <a:off x="822960" y="2148840"/>
            <a:ext cx="10515600" cy="914400"/>
          </a:xfrm>
          <a:prstGeom prst="rect">
            <a:avLst/>
          </a:prstGeom>
          <a:noFill/>
        </p:spPr>
        <p:txBody>
          <a:bodyPr wrap="square" anchor="t" lIns="0" rIns="0" tIns="0" bIns="0">
            <a:spAutoFit/>
          </a:bodyPr>
          <a:lstStyle/>
          <a:p>
            <a:pPr algn="l">
              <a:lnSpc>
                <a:spcPct val="100000"/>
              </a:lnSpc>
              <a:spcAft>
                <a:spcPts val="400"/>
              </a:spcAft>
            </a:pPr>
            <a:r>
              <a:rPr sz="4600" b="1" i="0">
                <a:solidFill>
                  <a:srgbClr val="FFFFFF"/>
                </a:solidFill>
                <a:latin typeface="Cambria"/>
              </a:rPr>
              <a:t>Agentic AI in CostVision</a:t>
            </a:r>
          </a:p>
        </p:txBody>
      </p:sp>
      <p:sp>
        <p:nvSpPr>
          <p:cNvPr id="8" name="TextBox 7"/>
          <p:cNvSpPr txBox="1"/>
          <p:nvPr/>
        </p:nvSpPr>
        <p:spPr>
          <a:xfrm>
            <a:off x="822960" y="3063240"/>
            <a:ext cx="10058400" cy="548640"/>
          </a:xfrm>
          <a:prstGeom prst="rect">
            <a:avLst/>
          </a:prstGeom>
          <a:noFill/>
        </p:spPr>
        <p:txBody>
          <a:bodyPr wrap="square" anchor="t" lIns="0" rIns="0" tIns="0" bIns="0">
            <a:spAutoFit/>
          </a:bodyPr>
          <a:lstStyle/>
          <a:p>
            <a:pPr algn="l">
              <a:lnSpc>
                <a:spcPct val="100000"/>
              </a:lnSpc>
              <a:spcAft>
                <a:spcPts val="400"/>
              </a:spcAft>
            </a:pPr>
            <a:r>
              <a:rPr sz="1900" b="0" i="0">
                <a:solidFill>
                  <a:srgbClr val="CADCFC"/>
                </a:solidFill>
                <a:latin typeface="Calibri"/>
              </a:rPr>
              <a:t>A costing tool that learns from every analysis, remembers your parts,</a:t>
            </a:r>
          </a:p>
          <a:p>
            <a:pPr algn="l">
              <a:lnSpc>
                <a:spcPct val="100000"/>
              </a:lnSpc>
              <a:spcAft>
                <a:spcPts val="400"/>
              </a:spcAft>
            </a:pPr>
            <a:r>
              <a:rPr sz="1900" b="0" i="0">
                <a:solidFill>
                  <a:srgbClr val="CADCFC"/>
                </a:solidFill>
                <a:latin typeface="Calibri"/>
              </a:rPr>
              <a:t>and finds savings on its own — while staying fully auditable.</a:t>
            </a:r>
          </a:p>
        </p:txBody>
      </p:sp>
      <p:sp>
        <p:nvSpPr>
          <p:cNvPr id="9" name="Rounded Rectangle 8"/>
          <p:cNvSpPr/>
          <p:nvPr/>
        </p:nvSpPr>
        <p:spPr>
          <a:xfrm>
            <a:off x="822960" y="4206240"/>
            <a:ext cx="237744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D6FB8"/>
                </a:solidFill>
                <a:latin typeface="Calibri"/>
              </a:rPr>
              <a:t>Remembers</a:t>
            </a:r>
          </a:p>
        </p:txBody>
      </p:sp>
      <p:sp>
        <p:nvSpPr>
          <p:cNvPr id="10" name="Rounded Rectangle 9"/>
          <p:cNvSpPr/>
          <p:nvPr/>
        </p:nvSpPr>
        <p:spPr>
          <a:xfrm>
            <a:off x="3429000" y="4206240"/>
            <a:ext cx="237744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0D7D71"/>
                </a:solidFill>
                <a:latin typeface="Calibri"/>
              </a:rPr>
              <a:t>Recognises</a:t>
            </a:r>
          </a:p>
        </p:txBody>
      </p:sp>
      <p:sp>
        <p:nvSpPr>
          <p:cNvPr id="11" name="Rounded Rectangle 10"/>
          <p:cNvSpPr/>
          <p:nvPr/>
        </p:nvSpPr>
        <p:spPr>
          <a:xfrm>
            <a:off x="6035040" y="4206240"/>
            <a:ext cx="237744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B3FA0"/>
                </a:solidFill>
                <a:latin typeface="Calibri"/>
              </a:rPr>
              <a:t>Self-corrects</a:t>
            </a:r>
          </a:p>
        </p:txBody>
      </p:sp>
      <p:sp>
        <p:nvSpPr>
          <p:cNvPr id="12" name="Rounded Rectangle 11"/>
          <p:cNvSpPr/>
          <p:nvPr/>
        </p:nvSpPr>
        <p:spPr>
          <a:xfrm>
            <a:off x="8641080" y="4206240"/>
            <a:ext cx="237744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A7F50"/>
                </a:solidFill>
                <a:latin typeface="Calibri"/>
              </a:rPr>
              <a:t>Acts autonomously</a:t>
            </a:r>
          </a:p>
        </p:txBody>
      </p:sp>
      <p:sp>
        <p:nvSpPr>
          <p:cNvPr id="13" name="TextBox 12"/>
          <p:cNvSpPr txBox="1"/>
          <p:nvPr/>
        </p:nvSpPr>
        <p:spPr>
          <a:xfrm>
            <a:off x="822960" y="5943600"/>
            <a:ext cx="10058400" cy="365760"/>
          </a:xfrm>
          <a:prstGeom prst="rect">
            <a:avLst/>
          </a:prstGeom>
          <a:noFill/>
        </p:spPr>
        <p:txBody>
          <a:bodyPr wrap="square" anchor="t" lIns="0" rIns="0" tIns="0" bIns="0">
            <a:spAutoFit/>
          </a:bodyPr>
          <a:lstStyle/>
          <a:p>
            <a:pPr algn="l">
              <a:lnSpc>
                <a:spcPct val="100000"/>
              </a:lnSpc>
              <a:spcAft>
                <a:spcPts val="400"/>
              </a:spcAft>
            </a:pPr>
            <a:r>
              <a:rPr sz="1200" b="0" i="0">
                <a:solidFill>
                  <a:srgbClr val="8FA3CC"/>
                </a:solidFill>
                <a:latin typeface="Calibri"/>
              </a:rPr>
              <a:t>Management briefing  ·  July 2026  ·  All figures verified from live system runs</a:t>
            </a:r>
          </a:p>
        </p:txBody>
      </p:sp>
      <p:sp>
        <p:nvSpPr>
          <p:cNvPr id="14" name="Rectangle 13"/>
          <p:cNvSpPr/>
          <p:nvPr/>
        </p:nvSpPr>
        <p:spPr>
          <a:xfrm>
            <a:off x="0" y="6711696"/>
            <a:ext cx="12191695" cy="14630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EXECUTIVE SUMMARY</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we built — in one slide</a:t>
            </a:r>
          </a:p>
        </p:txBody>
      </p:sp>
      <p:sp>
        <p:nvSpPr>
          <p:cNvPr id="9" name="Rounded Rectangle 8"/>
          <p:cNvSpPr/>
          <p:nvPr/>
        </p:nvSpPr>
        <p:spPr>
          <a:xfrm>
            <a:off x="411480" y="1828800"/>
            <a:ext cx="2743200" cy="1600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28800"/>
            <a:ext cx="64008" cy="160020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956816"/>
            <a:ext cx="2423160" cy="502920"/>
          </a:xfrm>
          <a:prstGeom prst="rect">
            <a:avLst/>
          </a:prstGeom>
          <a:noFill/>
        </p:spPr>
        <p:txBody>
          <a:bodyPr wrap="square" anchor="t" lIns="0" rIns="0" tIns="0" bIns="0">
            <a:spAutoFit/>
          </a:bodyPr>
          <a:lstStyle/>
          <a:p>
            <a:pPr algn="l">
              <a:lnSpc>
                <a:spcPct val="100000"/>
              </a:lnSpc>
              <a:spcAft>
                <a:spcPts val="400"/>
              </a:spcAft>
            </a:pPr>
            <a:r>
              <a:rPr sz="2500" b="1" i="0">
                <a:solidFill>
                  <a:srgbClr val="2A7F50"/>
                </a:solidFill>
                <a:latin typeface="Calibri"/>
              </a:rPr>
              <a:t>36×</a:t>
            </a:r>
          </a:p>
        </p:txBody>
      </p:sp>
      <p:sp>
        <p:nvSpPr>
          <p:cNvPr id="12" name="TextBox 11"/>
          <p:cNvSpPr txBox="1"/>
          <p:nvPr/>
        </p:nvSpPr>
        <p:spPr>
          <a:xfrm>
            <a:off x="612648" y="2450592"/>
            <a:ext cx="242316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Error reduction</a:t>
            </a:r>
          </a:p>
        </p:txBody>
      </p:sp>
      <p:sp>
        <p:nvSpPr>
          <p:cNvPr id="13" name="TextBox 12"/>
          <p:cNvSpPr txBox="1"/>
          <p:nvPr/>
        </p:nvSpPr>
        <p:spPr>
          <a:xfrm>
            <a:off x="612648" y="2724912"/>
            <a:ext cx="2423160" cy="640080"/>
          </a:xfrm>
          <a:prstGeom prst="rect">
            <a:avLst/>
          </a:prstGeom>
          <a:noFill/>
        </p:spPr>
        <p:txBody>
          <a:bodyPr wrap="square" anchor="t" lIns="0" rIns="0" tIns="0" bIns="0">
            <a:spAutoFit/>
          </a:bodyPr>
          <a:lstStyle/>
          <a:p>
            <a:pPr algn="l">
              <a:lnSpc>
                <a:spcPct val="105000"/>
              </a:lnSpc>
              <a:spcAft>
                <a:spcPts val="400"/>
              </a:spcAft>
            </a:pPr>
            <a:r>
              <a:rPr sz="1000" b="0" i="0">
                <a:solidFill>
                  <a:srgbClr val="686F7D"/>
                </a:solidFill>
                <a:latin typeface="Calibri"/>
              </a:rPr>
              <a:t>Estimating error fell from 10.9% to 0.3% after just three real quotes.</a:t>
            </a:r>
          </a:p>
        </p:txBody>
      </p:sp>
      <p:sp>
        <p:nvSpPr>
          <p:cNvPr id="14" name="Rounded Rectangle 13"/>
          <p:cNvSpPr/>
          <p:nvPr/>
        </p:nvSpPr>
        <p:spPr>
          <a:xfrm>
            <a:off x="3337560" y="1828800"/>
            <a:ext cx="2743200" cy="1600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1828800"/>
            <a:ext cx="64008" cy="16002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8728" y="1956816"/>
            <a:ext cx="2423160" cy="502920"/>
          </a:xfrm>
          <a:prstGeom prst="rect">
            <a:avLst/>
          </a:prstGeom>
          <a:noFill/>
        </p:spPr>
        <p:txBody>
          <a:bodyPr wrap="square" anchor="t" lIns="0" rIns="0" tIns="0" bIns="0">
            <a:spAutoFit/>
          </a:bodyPr>
          <a:lstStyle/>
          <a:p>
            <a:pPr algn="l">
              <a:lnSpc>
                <a:spcPct val="100000"/>
              </a:lnSpc>
              <a:spcAft>
                <a:spcPts val="400"/>
              </a:spcAft>
            </a:pPr>
            <a:r>
              <a:rPr sz="2500" b="1" i="0">
                <a:solidFill>
                  <a:srgbClr val="B03A2E"/>
                </a:solidFill>
                <a:latin typeface="Calibri"/>
              </a:rPr>
              <a:t>£512k/yr</a:t>
            </a:r>
          </a:p>
        </p:txBody>
      </p:sp>
      <p:sp>
        <p:nvSpPr>
          <p:cNvPr id="17" name="TextBox 16"/>
          <p:cNvSpPr txBox="1"/>
          <p:nvPr/>
        </p:nvSpPr>
        <p:spPr>
          <a:xfrm>
            <a:off x="3538728" y="2450592"/>
            <a:ext cx="242316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Found autonomously</a:t>
            </a:r>
          </a:p>
        </p:txBody>
      </p:sp>
      <p:sp>
        <p:nvSpPr>
          <p:cNvPr id="18" name="TextBox 17"/>
          <p:cNvSpPr txBox="1"/>
          <p:nvPr/>
        </p:nvSpPr>
        <p:spPr>
          <a:xfrm>
            <a:off x="3538728" y="2724912"/>
            <a:ext cx="2423160" cy="640080"/>
          </a:xfrm>
          <a:prstGeom prst="rect">
            <a:avLst/>
          </a:prstGeom>
          <a:noFill/>
        </p:spPr>
        <p:txBody>
          <a:bodyPr wrap="square" anchor="t" lIns="0" rIns="0" tIns="0" bIns="0">
            <a:spAutoFit/>
          </a:bodyPr>
          <a:lstStyle/>
          <a:p>
            <a:pPr algn="l">
              <a:lnSpc>
                <a:spcPct val="105000"/>
              </a:lnSpc>
              <a:spcAft>
                <a:spcPts val="400"/>
              </a:spcAft>
            </a:pPr>
            <a:r>
              <a:rPr sz="1000" b="0" i="0">
                <a:solidFill>
                  <a:srgbClr val="686F7D"/>
                </a:solidFill>
                <a:latin typeface="Calibri"/>
              </a:rPr>
              <a:t>Pricing issues the agent found on its own, with nobody at the keyboard.</a:t>
            </a:r>
          </a:p>
        </p:txBody>
      </p:sp>
      <p:sp>
        <p:nvSpPr>
          <p:cNvPr id="19" name="Rounded Rectangle 18"/>
          <p:cNvSpPr/>
          <p:nvPr/>
        </p:nvSpPr>
        <p:spPr>
          <a:xfrm>
            <a:off x="6263640" y="1828800"/>
            <a:ext cx="2743200" cy="1600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828800"/>
            <a:ext cx="64008" cy="1600200"/>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8" y="1956816"/>
            <a:ext cx="2423160" cy="502920"/>
          </a:xfrm>
          <a:prstGeom prst="rect">
            <a:avLst/>
          </a:prstGeom>
          <a:noFill/>
        </p:spPr>
        <p:txBody>
          <a:bodyPr wrap="square" anchor="t" lIns="0" rIns="0" tIns="0" bIns="0">
            <a:spAutoFit/>
          </a:bodyPr>
          <a:lstStyle/>
          <a:p>
            <a:pPr algn="l">
              <a:lnSpc>
                <a:spcPct val="100000"/>
              </a:lnSpc>
              <a:spcAft>
                <a:spcPts val="400"/>
              </a:spcAft>
            </a:pPr>
            <a:r>
              <a:rPr sz="2500" b="1" i="0">
                <a:solidFill>
                  <a:srgbClr val="0D7D71"/>
                </a:solidFill>
                <a:latin typeface="Calibri"/>
              </a:rPr>
              <a:t>99%</a:t>
            </a:r>
          </a:p>
        </p:txBody>
      </p:sp>
      <p:sp>
        <p:nvSpPr>
          <p:cNvPr id="22" name="TextBox 21"/>
          <p:cNvSpPr txBox="1"/>
          <p:nvPr/>
        </p:nvSpPr>
        <p:spPr>
          <a:xfrm>
            <a:off x="6464808" y="2450592"/>
            <a:ext cx="242316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Part recognition</a:t>
            </a:r>
          </a:p>
        </p:txBody>
      </p:sp>
      <p:sp>
        <p:nvSpPr>
          <p:cNvPr id="23" name="TextBox 22"/>
          <p:cNvSpPr txBox="1"/>
          <p:nvPr/>
        </p:nvSpPr>
        <p:spPr>
          <a:xfrm>
            <a:off x="6464808" y="2724912"/>
            <a:ext cx="2423160" cy="640080"/>
          </a:xfrm>
          <a:prstGeom prst="rect">
            <a:avLst/>
          </a:prstGeom>
          <a:noFill/>
        </p:spPr>
        <p:txBody>
          <a:bodyPr wrap="square" anchor="t" lIns="0" rIns="0" tIns="0" bIns="0">
            <a:spAutoFit/>
          </a:bodyPr>
          <a:lstStyle/>
          <a:p>
            <a:pPr algn="l">
              <a:lnSpc>
                <a:spcPct val="105000"/>
              </a:lnSpc>
              <a:spcAft>
                <a:spcPts val="400"/>
              </a:spcAft>
            </a:pPr>
            <a:r>
              <a:rPr sz="1000" b="0" i="0">
                <a:solidFill>
                  <a:srgbClr val="686F7D"/>
                </a:solidFill>
                <a:latin typeface="Calibri"/>
              </a:rPr>
              <a:t>A new bracket matched to three past ones, with the reasons shown.</a:t>
            </a:r>
          </a:p>
        </p:txBody>
      </p:sp>
      <p:sp>
        <p:nvSpPr>
          <p:cNvPr id="24" name="Rounded Rectangle 23"/>
          <p:cNvSpPr/>
          <p:nvPr/>
        </p:nvSpPr>
        <p:spPr>
          <a:xfrm>
            <a:off x="9189720" y="1828800"/>
            <a:ext cx="2606040" cy="1600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89720" y="1828800"/>
            <a:ext cx="64008" cy="160020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90888" y="1956816"/>
            <a:ext cx="2286000" cy="502920"/>
          </a:xfrm>
          <a:prstGeom prst="rect">
            <a:avLst/>
          </a:prstGeom>
          <a:noFill/>
        </p:spPr>
        <p:txBody>
          <a:bodyPr wrap="square" anchor="t" lIns="0" rIns="0" tIns="0" bIns="0">
            <a:spAutoFit/>
          </a:bodyPr>
          <a:lstStyle/>
          <a:p>
            <a:pPr algn="l">
              <a:lnSpc>
                <a:spcPct val="100000"/>
              </a:lnSpc>
              <a:spcAft>
                <a:spcPts val="400"/>
              </a:spcAft>
            </a:pPr>
            <a:r>
              <a:rPr sz="2500" b="1" i="0">
                <a:solidFill>
                  <a:srgbClr val="6B3FA0"/>
                </a:solidFill>
                <a:latin typeface="Calibri"/>
              </a:rPr>
              <a:t>1,777</a:t>
            </a:r>
          </a:p>
        </p:txBody>
      </p:sp>
      <p:sp>
        <p:nvSpPr>
          <p:cNvPr id="27" name="TextBox 26"/>
          <p:cNvSpPr txBox="1"/>
          <p:nvPr/>
        </p:nvSpPr>
        <p:spPr>
          <a:xfrm>
            <a:off x="9390888" y="2450592"/>
            <a:ext cx="22860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Automated tests</a:t>
            </a:r>
          </a:p>
        </p:txBody>
      </p:sp>
      <p:sp>
        <p:nvSpPr>
          <p:cNvPr id="28" name="TextBox 27"/>
          <p:cNvSpPr txBox="1"/>
          <p:nvPr/>
        </p:nvSpPr>
        <p:spPr>
          <a:xfrm>
            <a:off x="9390888" y="2724912"/>
            <a:ext cx="2286000" cy="640080"/>
          </a:xfrm>
          <a:prstGeom prst="rect">
            <a:avLst/>
          </a:prstGeom>
          <a:noFill/>
        </p:spPr>
        <p:txBody>
          <a:bodyPr wrap="square" anchor="t" lIns="0" rIns="0" tIns="0" bIns="0">
            <a:spAutoFit/>
          </a:bodyPr>
          <a:lstStyle/>
          <a:p>
            <a:pPr algn="l">
              <a:lnSpc>
                <a:spcPct val="105000"/>
              </a:lnSpc>
              <a:spcAft>
                <a:spcPts val="400"/>
              </a:spcAft>
            </a:pPr>
            <a:r>
              <a:rPr sz="1000" b="0" i="0">
                <a:solidFill>
                  <a:srgbClr val="686F7D"/>
                </a:solidFill>
                <a:latin typeface="Calibri"/>
              </a:rPr>
              <a:t>Every capability tested, and run end to end on the live system.</a:t>
            </a:r>
          </a:p>
        </p:txBody>
      </p:sp>
      <p:sp>
        <p:nvSpPr>
          <p:cNvPr id="29" name="Rounded Rectangle 28"/>
          <p:cNvSpPr/>
          <p:nvPr/>
        </p:nvSpPr>
        <p:spPr>
          <a:xfrm>
            <a:off x="411480" y="3749039"/>
            <a:ext cx="11384280" cy="246888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77639"/>
            <a:ext cx="10881360" cy="2103120"/>
          </a:xfrm>
          <a:prstGeom prst="rect">
            <a:avLst/>
          </a:prstGeom>
          <a:noFill/>
        </p:spPr>
        <p:txBody>
          <a:bodyPr wrap="square" anchor="t" lIns="0" rIns="0" tIns="0" bIns="0">
            <a:spAutoFit/>
          </a:bodyPr>
          <a:lstStyle/>
          <a:p>
            <a:pPr algn="l">
              <a:lnSpc>
                <a:spcPct val="115000"/>
              </a:lnSpc>
              <a:spcAft>
                <a:spcPts val="800"/>
              </a:spcAft>
            </a:pPr>
            <a:r>
              <a:rPr sz="1500" b="1" i="0">
                <a:solidFill>
                  <a:srgbClr val="16325C"/>
                </a:solidFill>
                <a:latin typeface="Calibri"/>
              </a:rPr>
              <a:t>The idea, in plain words</a:t>
            </a:r>
          </a:p>
          <a:p>
            <a:pPr algn="l">
              <a:lnSpc>
                <a:spcPct val="115000"/>
              </a:lnSpc>
              <a:spcAft>
                <a:spcPts val="800"/>
              </a:spcAft>
            </a:pPr>
            <a:r>
              <a:rPr sz="1350" b="0" i="0">
                <a:solidFill>
                  <a:srgbClr val="3A4356"/>
                </a:solidFill>
                <a:latin typeface="Calibri"/>
              </a:rPr>
              <a:t>Costing used to start from zero every time, and the answer depended on who did it. </a:t>
            </a:r>
            <a:r>
              <a:rPr sz="1350" b="1" i="0">
                <a:solidFill>
                  <a:srgbClr val="16325C"/>
                </a:solidFill>
                <a:latin typeface="Calibri"/>
              </a:rPr>
              <a:t>Now the tool remembers. </a:t>
            </a:r>
            <a:r>
              <a:rPr sz="1350" b="0" i="0">
                <a:solidFill>
                  <a:srgbClr val="3A4356"/>
                </a:solidFill>
                <a:latin typeface="Calibri"/>
              </a:rPr>
              <a:t>Every analysis is kept, every real quote teaches it, and every new part is compared with what we have costed before.</a:t>
            </a:r>
          </a:p>
          <a:p>
            <a:pPr algn="l">
              <a:lnSpc>
                <a:spcPct val="115000"/>
              </a:lnSpc>
              <a:spcAft>
                <a:spcPts val="800"/>
              </a:spcAft>
            </a:pPr>
            <a:r>
              <a:rPr sz="1350" b="0" i="0">
                <a:solidFill>
                  <a:srgbClr val="3A4356"/>
                </a:solidFill>
                <a:latin typeface="Calibri"/>
              </a:rPr>
              <a:t>It runs on our servers, so the knowledge becomes a company asset — and it does not leave when an expert does.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THE CONCEPT</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"Agentic AI" means here — four plain words</a:t>
            </a:r>
          </a:p>
        </p:txBody>
      </p:sp>
      <p:sp>
        <p:nvSpPr>
          <p:cNvPr id="9" name="Rounded Rectangle 8"/>
          <p:cNvSpPr/>
          <p:nvPr/>
        </p:nvSpPr>
        <p:spPr>
          <a:xfrm>
            <a:off x="411480" y="1920240"/>
            <a:ext cx="2761488" cy="32918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920240"/>
            <a:ext cx="2761488" cy="822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48840"/>
            <a:ext cx="2286000" cy="548640"/>
          </a:xfrm>
          <a:prstGeom prst="rect">
            <a:avLst/>
          </a:prstGeom>
          <a:noFill/>
        </p:spPr>
        <p:txBody>
          <a:bodyPr wrap="square" anchor="t" lIns="0" rIns="0" tIns="0" bIns="0">
            <a:spAutoFit/>
          </a:bodyPr>
          <a:lstStyle/>
          <a:p>
            <a:pPr algn="l">
              <a:lnSpc>
                <a:spcPct val="100000"/>
              </a:lnSpc>
              <a:spcAft>
                <a:spcPts val="400"/>
              </a:spcAft>
            </a:pPr>
            <a:r>
              <a:rPr sz="2800" b="0" i="0">
                <a:solidFill>
                  <a:srgbClr val="1D6FB8"/>
                </a:solidFill>
                <a:latin typeface="Segoe UI Emoji"/>
              </a:rPr>
              <a:t>🧠</a:t>
            </a:r>
          </a:p>
        </p:txBody>
      </p:sp>
      <p:sp>
        <p:nvSpPr>
          <p:cNvPr id="12" name="TextBox 11"/>
          <p:cNvSpPr txBox="1"/>
          <p:nvPr/>
        </p:nvSpPr>
        <p:spPr>
          <a:xfrm>
            <a:off x="640080" y="2788920"/>
            <a:ext cx="2331720" cy="411480"/>
          </a:xfrm>
          <a:prstGeom prst="rect">
            <a:avLst/>
          </a:prstGeom>
          <a:noFill/>
        </p:spPr>
        <p:txBody>
          <a:bodyPr wrap="square" anchor="t" lIns="0" rIns="0" tIns="0" bIns="0">
            <a:spAutoFit/>
          </a:bodyPr>
          <a:lstStyle/>
          <a:p>
            <a:pPr algn="l">
              <a:lnSpc>
                <a:spcPct val="100000"/>
              </a:lnSpc>
              <a:spcAft>
                <a:spcPts val="400"/>
              </a:spcAft>
            </a:pPr>
            <a:r>
              <a:rPr sz="1700" b="1" i="0">
                <a:solidFill>
                  <a:srgbClr val="1D6FB8"/>
                </a:solidFill>
                <a:latin typeface="Calibri"/>
              </a:rPr>
              <a:t>Remembers</a:t>
            </a:r>
          </a:p>
        </p:txBody>
      </p:sp>
      <p:sp>
        <p:nvSpPr>
          <p:cNvPr id="13" name="TextBox 12"/>
          <p:cNvSpPr txBox="1"/>
          <p:nvPr/>
        </p:nvSpPr>
        <p:spPr>
          <a:xfrm>
            <a:off x="640080" y="3246120"/>
            <a:ext cx="2331720" cy="1828800"/>
          </a:xfrm>
          <a:prstGeom prst="rect">
            <a:avLst/>
          </a:prstGeom>
          <a:noFill/>
        </p:spPr>
        <p:txBody>
          <a:bodyPr wrap="square" anchor="t" lIns="0" rIns="0" tIns="0" bIns="0">
            <a:spAutoFit/>
          </a:bodyPr>
          <a:lstStyle/>
          <a:p>
            <a:pPr algn="l">
              <a:lnSpc>
                <a:spcPct val="115000"/>
              </a:lnSpc>
              <a:spcAft>
                <a:spcPts val="400"/>
              </a:spcAft>
            </a:pPr>
            <a:r>
              <a:rPr sz="1150" b="0" i="0">
                <a:solidFill>
                  <a:srgbClr val="3A4356"/>
                </a:solidFill>
                <a:latin typeface="Calibri"/>
              </a:rPr>
              <a:t>Every costing is kept — the part, the inputs, the result, the real quote. Shared across the team.</a:t>
            </a:r>
          </a:p>
        </p:txBody>
      </p:sp>
      <p:sp>
        <p:nvSpPr>
          <p:cNvPr id="14" name="Rounded Rectangle 13"/>
          <p:cNvSpPr/>
          <p:nvPr/>
        </p:nvSpPr>
        <p:spPr>
          <a:xfrm>
            <a:off x="3374136" y="1920240"/>
            <a:ext cx="2761488" cy="32918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74136" y="1920240"/>
            <a:ext cx="2761488" cy="82296"/>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2148840"/>
            <a:ext cx="2286000" cy="548640"/>
          </a:xfrm>
          <a:prstGeom prst="rect">
            <a:avLst/>
          </a:prstGeom>
          <a:noFill/>
        </p:spPr>
        <p:txBody>
          <a:bodyPr wrap="square" anchor="t" lIns="0" rIns="0" tIns="0" bIns="0">
            <a:spAutoFit/>
          </a:bodyPr>
          <a:lstStyle/>
          <a:p>
            <a:pPr algn="l">
              <a:lnSpc>
                <a:spcPct val="100000"/>
              </a:lnSpc>
              <a:spcAft>
                <a:spcPts val="400"/>
              </a:spcAft>
            </a:pPr>
            <a:r>
              <a:rPr sz="2800" b="0" i="0">
                <a:solidFill>
                  <a:srgbClr val="0D7D71"/>
                </a:solidFill>
                <a:latin typeface="Segoe UI Emoji"/>
              </a:rPr>
              <a:t>🔎</a:t>
            </a:r>
          </a:p>
        </p:txBody>
      </p:sp>
      <p:sp>
        <p:nvSpPr>
          <p:cNvPr id="17" name="TextBox 16"/>
          <p:cNvSpPr txBox="1"/>
          <p:nvPr/>
        </p:nvSpPr>
        <p:spPr>
          <a:xfrm>
            <a:off x="3602736" y="2788920"/>
            <a:ext cx="2331720" cy="411480"/>
          </a:xfrm>
          <a:prstGeom prst="rect">
            <a:avLst/>
          </a:prstGeom>
          <a:noFill/>
        </p:spPr>
        <p:txBody>
          <a:bodyPr wrap="square" anchor="t" lIns="0" rIns="0" tIns="0" bIns="0">
            <a:spAutoFit/>
          </a:bodyPr>
          <a:lstStyle/>
          <a:p>
            <a:pPr algn="l">
              <a:lnSpc>
                <a:spcPct val="100000"/>
              </a:lnSpc>
              <a:spcAft>
                <a:spcPts val="400"/>
              </a:spcAft>
            </a:pPr>
            <a:r>
              <a:rPr sz="1700" b="1" i="0">
                <a:solidFill>
                  <a:srgbClr val="0D7D71"/>
                </a:solidFill>
                <a:latin typeface="Calibri"/>
              </a:rPr>
              <a:t>Recognises</a:t>
            </a:r>
          </a:p>
        </p:txBody>
      </p:sp>
      <p:sp>
        <p:nvSpPr>
          <p:cNvPr id="18" name="TextBox 17"/>
          <p:cNvSpPr txBox="1"/>
          <p:nvPr/>
        </p:nvSpPr>
        <p:spPr>
          <a:xfrm>
            <a:off x="3602736" y="3246120"/>
            <a:ext cx="2331720" cy="1828800"/>
          </a:xfrm>
          <a:prstGeom prst="rect">
            <a:avLst/>
          </a:prstGeom>
          <a:noFill/>
        </p:spPr>
        <p:txBody>
          <a:bodyPr wrap="square" anchor="t" lIns="0" rIns="0" tIns="0" bIns="0">
            <a:spAutoFit/>
          </a:bodyPr>
          <a:lstStyle/>
          <a:p>
            <a:pPr algn="l">
              <a:lnSpc>
                <a:spcPct val="115000"/>
              </a:lnSpc>
              <a:spcAft>
                <a:spcPts val="400"/>
              </a:spcAft>
            </a:pPr>
            <a:r>
              <a:rPr sz="1150" b="0" i="0">
                <a:solidFill>
                  <a:srgbClr val="3A4356"/>
                </a:solidFill>
                <a:latin typeface="Calibri"/>
              </a:rPr>
              <a:t>Start a new part and it finds the closest ones you have already costed.</a:t>
            </a:r>
          </a:p>
        </p:txBody>
      </p:sp>
      <p:sp>
        <p:nvSpPr>
          <p:cNvPr id="19" name="Rounded Rectangle 18"/>
          <p:cNvSpPr/>
          <p:nvPr/>
        </p:nvSpPr>
        <p:spPr>
          <a:xfrm>
            <a:off x="6336792" y="1920240"/>
            <a:ext cx="2761488" cy="32918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36792" y="1920240"/>
            <a:ext cx="2761488" cy="82296"/>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148840"/>
            <a:ext cx="2286000" cy="548640"/>
          </a:xfrm>
          <a:prstGeom prst="rect">
            <a:avLst/>
          </a:prstGeom>
          <a:noFill/>
        </p:spPr>
        <p:txBody>
          <a:bodyPr wrap="square" anchor="t" lIns="0" rIns="0" tIns="0" bIns="0">
            <a:spAutoFit/>
          </a:bodyPr>
          <a:lstStyle/>
          <a:p>
            <a:pPr algn="l">
              <a:lnSpc>
                <a:spcPct val="100000"/>
              </a:lnSpc>
              <a:spcAft>
                <a:spcPts val="400"/>
              </a:spcAft>
            </a:pPr>
            <a:r>
              <a:rPr sz="2800" b="0" i="0">
                <a:solidFill>
                  <a:srgbClr val="6B3FA0"/>
                </a:solidFill>
                <a:latin typeface="Segoe UI Emoji"/>
              </a:rPr>
              <a:t>🎯</a:t>
            </a:r>
          </a:p>
        </p:txBody>
      </p:sp>
      <p:sp>
        <p:nvSpPr>
          <p:cNvPr id="22" name="TextBox 21"/>
          <p:cNvSpPr txBox="1"/>
          <p:nvPr/>
        </p:nvSpPr>
        <p:spPr>
          <a:xfrm>
            <a:off x="6565392" y="2788920"/>
            <a:ext cx="2331720" cy="411480"/>
          </a:xfrm>
          <a:prstGeom prst="rect">
            <a:avLst/>
          </a:prstGeom>
          <a:noFill/>
        </p:spPr>
        <p:txBody>
          <a:bodyPr wrap="square" anchor="t" lIns="0" rIns="0" tIns="0" bIns="0">
            <a:spAutoFit/>
          </a:bodyPr>
          <a:lstStyle/>
          <a:p>
            <a:pPr algn="l">
              <a:lnSpc>
                <a:spcPct val="100000"/>
              </a:lnSpc>
              <a:spcAft>
                <a:spcPts val="400"/>
              </a:spcAft>
            </a:pPr>
            <a:r>
              <a:rPr sz="1700" b="1" i="0">
                <a:solidFill>
                  <a:srgbClr val="6B3FA0"/>
                </a:solidFill>
                <a:latin typeface="Calibri"/>
              </a:rPr>
              <a:t>Self-corrects</a:t>
            </a:r>
          </a:p>
        </p:txBody>
      </p:sp>
      <p:sp>
        <p:nvSpPr>
          <p:cNvPr id="23" name="TextBox 22"/>
          <p:cNvSpPr txBox="1"/>
          <p:nvPr/>
        </p:nvSpPr>
        <p:spPr>
          <a:xfrm>
            <a:off x="6565392" y="3246120"/>
            <a:ext cx="2331720" cy="1828800"/>
          </a:xfrm>
          <a:prstGeom prst="rect">
            <a:avLst/>
          </a:prstGeom>
          <a:noFill/>
        </p:spPr>
        <p:txBody>
          <a:bodyPr wrap="square" anchor="t" lIns="0" rIns="0" tIns="0" bIns="0">
            <a:spAutoFit/>
          </a:bodyPr>
          <a:lstStyle/>
          <a:p>
            <a:pPr algn="l">
              <a:lnSpc>
                <a:spcPct val="115000"/>
              </a:lnSpc>
              <a:spcAft>
                <a:spcPts val="400"/>
              </a:spcAft>
            </a:pPr>
            <a:r>
              <a:rPr sz="1150" b="0" i="0">
                <a:solidFill>
                  <a:srgbClr val="3A4356"/>
                </a:solidFill>
                <a:latin typeface="Calibri"/>
              </a:rPr>
              <a:t>Log the real price and it measures its own error, then corrects itself. Accuracy is measured, not claimed.</a:t>
            </a:r>
          </a:p>
        </p:txBody>
      </p:sp>
      <p:sp>
        <p:nvSpPr>
          <p:cNvPr id="24" name="Rounded Rectangle 23"/>
          <p:cNvSpPr/>
          <p:nvPr/>
        </p:nvSpPr>
        <p:spPr>
          <a:xfrm>
            <a:off x="9299448" y="1920240"/>
            <a:ext cx="2761488" cy="32918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99448" y="1920240"/>
            <a:ext cx="2761488" cy="82296"/>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28048" y="2148840"/>
            <a:ext cx="2286000" cy="548640"/>
          </a:xfrm>
          <a:prstGeom prst="rect">
            <a:avLst/>
          </a:prstGeom>
          <a:noFill/>
        </p:spPr>
        <p:txBody>
          <a:bodyPr wrap="square" anchor="t" lIns="0" rIns="0" tIns="0" bIns="0">
            <a:spAutoFit/>
          </a:bodyPr>
          <a:lstStyle/>
          <a:p>
            <a:pPr algn="l">
              <a:lnSpc>
                <a:spcPct val="100000"/>
              </a:lnSpc>
              <a:spcAft>
                <a:spcPts val="400"/>
              </a:spcAft>
            </a:pPr>
            <a:r>
              <a:rPr sz="2800" b="0" i="0">
                <a:solidFill>
                  <a:srgbClr val="2A7F50"/>
                </a:solidFill>
                <a:latin typeface="Segoe UI Emoji"/>
              </a:rPr>
              <a:t>🤖</a:t>
            </a:r>
          </a:p>
        </p:txBody>
      </p:sp>
      <p:sp>
        <p:nvSpPr>
          <p:cNvPr id="27" name="TextBox 26"/>
          <p:cNvSpPr txBox="1"/>
          <p:nvPr/>
        </p:nvSpPr>
        <p:spPr>
          <a:xfrm>
            <a:off x="9528048" y="2788920"/>
            <a:ext cx="2331720" cy="411480"/>
          </a:xfrm>
          <a:prstGeom prst="rect">
            <a:avLst/>
          </a:prstGeom>
          <a:noFill/>
        </p:spPr>
        <p:txBody>
          <a:bodyPr wrap="square" anchor="t" lIns="0" rIns="0" tIns="0" bIns="0">
            <a:spAutoFit/>
          </a:bodyPr>
          <a:lstStyle/>
          <a:p>
            <a:pPr algn="l">
              <a:lnSpc>
                <a:spcPct val="100000"/>
              </a:lnSpc>
              <a:spcAft>
                <a:spcPts val="400"/>
              </a:spcAft>
            </a:pPr>
            <a:r>
              <a:rPr sz="1700" b="1" i="0">
                <a:solidFill>
                  <a:srgbClr val="2A7F50"/>
                </a:solidFill>
                <a:latin typeface="Calibri"/>
              </a:rPr>
              <a:t>Acts</a:t>
            </a:r>
          </a:p>
        </p:txBody>
      </p:sp>
      <p:sp>
        <p:nvSpPr>
          <p:cNvPr id="28" name="TextBox 27"/>
          <p:cNvSpPr txBox="1"/>
          <p:nvPr/>
        </p:nvSpPr>
        <p:spPr>
          <a:xfrm>
            <a:off x="9528048" y="3246120"/>
            <a:ext cx="2331720" cy="1828800"/>
          </a:xfrm>
          <a:prstGeom prst="rect">
            <a:avLst/>
          </a:prstGeom>
          <a:noFill/>
        </p:spPr>
        <p:txBody>
          <a:bodyPr wrap="square" anchor="t" lIns="0" rIns="0" tIns="0" bIns="0">
            <a:spAutoFit/>
          </a:bodyPr>
          <a:lstStyle/>
          <a:p>
            <a:pPr algn="l">
              <a:lnSpc>
                <a:spcPct val="115000"/>
              </a:lnSpc>
              <a:spcAft>
                <a:spcPts val="400"/>
              </a:spcAft>
            </a:pPr>
            <a:r>
              <a:rPr sz="1150" b="0" i="0">
                <a:solidFill>
                  <a:srgbClr val="3A4356"/>
                </a:solidFill>
                <a:latin typeface="Calibri"/>
              </a:rPr>
              <a:t>It re-checks every stored part on a schedule and tells you where you are overpaying.</a:t>
            </a:r>
          </a:p>
        </p:txBody>
      </p:sp>
      <p:sp>
        <p:nvSpPr>
          <p:cNvPr id="29" name="TextBox 28"/>
          <p:cNvSpPr txBox="1"/>
          <p:nvPr/>
        </p:nvSpPr>
        <p:spPr>
          <a:xfrm>
            <a:off x="411480" y="5486400"/>
            <a:ext cx="11338560" cy="822960"/>
          </a:xfrm>
          <a:prstGeom prst="rect">
            <a:avLst/>
          </a:prstGeom>
          <a:noFill/>
        </p:spPr>
        <p:txBody>
          <a:bodyPr wrap="square" anchor="t" lIns="0" rIns="0" tIns="0" bIns="0">
            <a:spAutoFit/>
          </a:bodyPr>
          <a:lstStyle/>
          <a:p>
            <a:pPr algn="l">
              <a:lnSpc>
                <a:spcPct val="115000"/>
              </a:lnSpc>
              <a:spcAft>
                <a:spcPts val="400"/>
              </a:spcAft>
            </a:pPr>
            <a:r>
              <a:rPr sz="1250" b="1" i="0">
                <a:solidFill>
                  <a:srgbClr val="16325C"/>
                </a:solidFill>
                <a:latin typeface="Calibri"/>
              </a:rPr>
              <a:t>Deliberate design choice: </a:t>
            </a:r>
            <a:r>
              <a:rPr sz="1250" b="0" i="0">
                <a:solidFill>
                  <a:srgbClr val="3A4356"/>
                </a:solidFill>
                <a:latin typeface="Calibri"/>
              </a:rPr>
              <a:t>the learning is statistics over our own data — every suggestion shows its source parts and its arithmetic. That makes it auditable and defensible in front of a supplier, which is where costing tools win or lose.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HOW IT WORKS</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How it works — the learning loop</a:t>
            </a:r>
          </a:p>
        </p:txBody>
      </p:sp>
      <p:sp>
        <p:nvSpPr>
          <p:cNvPr id="9" name="Chevron 8"/>
          <p:cNvSpPr/>
          <p:nvPr/>
        </p:nvSpPr>
        <p:spPr>
          <a:xfrm>
            <a:off x="365760" y="2194560"/>
            <a:ext cx="2048256" cy="1051560"/>
          </a:xfrm>
          <a:prstGeom prst="chevron">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l"/>
            <a:r>
              <a:rPr sz="1250" b="1">
                <a:solidFill>
                  <a:srgbClr val="FFFFFF"/>
                </a:solidFill>
                <a:latin typeface="Calibri"/>
              </a:rPr>
              <a:t>1 · Analyse</a:t>
            </a:r>
          </a:p>
          <a:p>
            <a:pPr algn="l"/>
            <a:r>
              <a:rPr sz="850">
                <a:solidFill>
                  <a:srgbClr val="E8EEFF"/>
                </a:solidFill>
                <a:latin typeface="Calibri"/>
              </a:rPr>
              <a:t>Engineer costs a part as usual</a:t>
            </a:r>
          </a:p>
        </p:txBody>
      </p:sp>
      <p:sp>
        <p:nvSpPr>
          <p:cNvPr id="10" name="Chevron 9"/>
          <p:cNvSpPr/>
          <p:nvPr/>
        </p:nvSpPr>
        <p:spPr>
          <a:xfrm>
            <a:off x="2127260" y="2194560"/>
            <a:ext cx="2048256" cy="1051560"/>
          </a:xfrm>
          <a:prstGeom prst="chevron">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l"/>
            <a:r>
              <a:rPr sz="1250" b="1">
                <a:solidFill>
                  <a:srgbClr val="FFFFFF"/>
                </a:solidFill>
                <a:latin typeface="Calibri"/>
              </a:rPr>
              <a:t>2 · Remember</a:t>
            </a:r>
          </a:p>
          <a:p>
            <a:pPr algn="l"/>
            <a:r>
              <a:rPr sz="850">
                <a:solidFill>
                  <a:srgbClr val="E8EEFF"/>
                </a:solidFill>
                <a:latin typeface="Calibri"/>
              </a:rPr>
              <a:t>Saved automatically to the knowledge base</a:t>
            </a:r>
          </a:p>
        </p:txBody>
      </p:sp>
      <p:sp>
        <p:nvSpPr>
          <p:cNvPr id="11" name="Chevron 10"/>
          <p:cNvSpPr/>
          <p:nvPr/>
        </p:nvSpPr>
        <p:spPr>
          <a:xfrm>
            <a:off x="3888760" y="2194560"/>
            <a:ext cx="2048256" cy="1051560"/>
          </a:xfrm>
          <a:prstGeom prst="chevron">
            <a:avLst>
              <a:gd name="adj" fmla="val 28000"/>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l"/>
            <a:r>
              <a:rPr sz="1250" b="1">
                <a:solidFill>
                  <a:srgbClr val="FFFFFF"/>
                </a:solidFill>
                <a:latin typeface="Calibri"/>
              </a:rPr>
              <a:t>3 · Recognise</a:t>
            </a:r>
          </a:p>
          <a:p>
            <a:pPr algn="l"/>
            <a:r>
              <a:rPr sz="850">
                <a:solidFill>
                  <a:srgbClr val="E8EEFF"/>
                </a:solidFill>
                <a:latin typeface="Calibri"/>
              </a:rPr>
              <a:t>Similar past parts found instantly</a:t>
            </a:r>
          </a:p>
        </p:txBody>
      </p:sp>
      <p:sp>
        <p:nvSpPr>
          <p:cNvPr id="12" name="Chevron 11"/>
          <p:cNvSpPr/>
          <p:nvPr/>
        </p:nvSpPr>
        <p:spPr>
          <a:xfrm>
            <a:off x="5650260" y="2194560"/>
            <a:ext cx="2048256" cy="1051560"/>
          </a:xfrm>
          <a:prstGeom prst="chevron">
            <a:avLst>
              <a:gd name="adj" fmla="val 28000"/>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l"/>
            <a:r>
              <a:rPr sz="1250" b="1">
                <a:solidFill>
                  <a:srgbClr val="FFFFFF"/>
                </a:solidFill>
                <a:latin typeface="Calibri"/>
              </a:rPr>
              <a:t>4 · Suggest</a:t>
            </a:r>
          </a:p>
          <a:p>
            <a:pPr algn="l"/>
            <a:r>
              <a:rPr sz="850">
                <a:solidFill>
                  <a:srgbClr val="E8EEFF"/>
                </a:solidFill>
                <a:latin typeface="Calibri"/>
              </a:rPr>
              <a:t>Benchmarks, materials, real quotes shown</a:t>
            </a:r>
          </a:p>
        </p:txBody>
      </p:sp>
      <p:sp>
        <p:nvSpPr>
          <p:cNvPr id="13" name="Chevron 12"/>
          <p:cNvSpPr/>
          <p:nvPr/>
        </p:nvSpPr>
        <p:spPr>
          <a:xfrm>
            <a:off x="7411760" y="2194560"/>
            <a:ext cx="2048256" cy="1051560"/>
          </a:xfrm>
          <a:prstGeom prst="chevron">
            <a:avLst>
              <a:gd name="adj" fmla="val 28000"/>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l"/>
            <a:r>
              <a:rPr sz="1250" b="1">
                <a:solidFill>
                  <a:srgbClr val="FFFFFF"/>
                </a:solidFill>
                <a:latin typeface="Calibri"/>
              </a:rPr>
              <a:t>5 · Learn</a:t>
            </a:r>
          </a:p>
          <a:p>
            <a:pPr algn="l"/>
            <a:r>
              <a:rPr sz="850">
                <a:solidFill>
                  <a:srgbClr val="E8EEFF"/>
                </a:solidFill>
                <a:latin typeface="Calibri"/>
              </a:rPr>
              <a:t>Real quote logged → model self-corrects</a:t>
            </a:r>
          </a:p>
        </p:txBody>
      </p:sp>
      <p:sp>
        <p:nvSpPr>
          <p:cNvPr id="14" name="Chevron 13"/>
          <p:cNvSpPr/>
          <p:nvPr/>
        </p:nvSpPr>
        <p:spPr>
          <a:xfrm>
            <a:off x="9173260" y="2194560"/>
            <a:ext cx="2048256" cy="1051560"/>
          </a:xfrm>
          <a:prstGeom prst="chevron">
            <a:avLst>
              <a:gd name="adj" fmla="val 28000"/>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l"/>
            <a:r>
              <a:rPr sz="1250" b="1">
                <a:solidFill>
                  <a:srgbClr val="FFFFFF"/>
                </a:solidFill>
                <a:latin typeface="Calibri"/>
              </a:rPr>
              <a:t>6 · Act</a:t>
            </a:r>
          </a:p>
          <a:p>
            <a:pPr algn="l"/>
            <a:r>
              <a:rPr sz="850">
                <a:solidFill>
                  <a:srgbClr val="E8EEFF"/>
                </a:solidFill>
                <a:latin typeface="Calibri"/>
              </a:rPr>
              <a:t>Background agent flags drift &amp; savings</a:t>
            </a:r>
          </a:p>
        </p:txBody>
      </p:sp>
      <p:sp>
        <p:nvSpPr>
          <p:cNvPr id="15" name="Bent-Up Arrow 14"/>
          <p:cNvSpPr/>
          <p:nvPr/>
        </p:nvSpPr>
        <p:spPr>
          <a:xfrm rot="10800000">
            <a:off x="5120640" y="3520440"/>
            <a:ext cx="5669280" cy="777240"/>
          </a:xfrm>
          <a:prstGeom prst="bentUp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4480560"/>
            <a:ext cx="4206240" cy="320040"/>
          </a:xfrm>
          <a:prstGeom prst="rect">
            <a:avLst/>
          </a:prstGeom>
          <a:noFill/>
        </p:spPr>
        <p:txBody>
          <a:bodyPr wrap="square" anchor="t" lIns="0" rIns="0" tIns="0" bIns="0">
            <a:spAutoFit/>
          </a:bodyPr>
          <a:lstStyle/>
          <a:p>
            <a:pPr algn="ctr">
              <a:lnSpc>
                <a:spcPct val="100000"/>
              </a:lnSpc>
              <a:spcAft>
                <a:spcPts val="400"/>
              </a:spcAft>
            </a:pPr>
            <a:r>
              <a:rPr sz="1200" b="0" i="1">
                <a:solidFill>
                  <a:srgbClr val="686F7D"/>
                </a:solidFill>
                <a:latin typeface="Calibri"/>
              </a:rPr>
              <a:t>…and every loop makes the next estimate better</a:t>
            </a:r>
          </a:p>
        </p:txBody>
      </p:sp>
      <p:sp>
        <p:nvSpPr>
          <p:cNvPr id="17" name="Rounded Rectangle 16"/>
          <p:cNvSpPr/>
          <p:nvPr/>
        </p:nvSpPr>
        <p:spPr>
          <a:xfrm>
            <a:off x="411480" y="5029200"/>
            <a:ext cx="11384280" cy="1234440"/>
          </a:xfrm>
          <a:prstGeom prst="roundRect">
            <a:avLst>
              <a:gd name="adj" fmla="val 8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230368"/>
            <a:ext cx="10881360" cy="914400"/>
          </a:xfrm>
          <a:prstGeom prst="rect">
            <a:avLst/>
          </a:prstGeom>
          <a:noFill/>
        </p:spPr>
        <p:txBody>
          <a:bodyPr wrap="square" anchor="t" lIns="0" rIns="0" tIns="0" bIns="0">
            <a:spAutoFit/>
          </a:bodyPr>
          <a:lstStyle/>
          <a:p>
            <a:pPr algn="l">
              <a:lnSpc>
                <a:spcPct val="120000"/>
              </a:lnSpc>
              <a:spcAft>
                <a:spcPts val="400"/>
              </a:spcAft>
            </a:pPr>
            <a:r>
              <a:rPr sz="1300" b="1" i="0">
                <a:solidFill>
                  <a:srgbClr val="16325C"/>
                </a:solidFill>
                <a:latin typeface="Calibri"/>
              </a:rPr>
              <a:t>No extra work for the engineer. </a:t>
            </a:r>
            <a:r>
              <a:rPr sz="1300" b="0" i="0">
                <a:solidFill>
                  <a:srgbClr val="3A4356"/>
                </a:solidFill>
                <a:latin typeface="Calibri"/>
              </a:rPr>
              <a:t>Steps 2, 3, 4 and 6 happen automatically. The only new habit is one click — "Log Actual £" — when a real supplier quote arrives. That single click is the fuel for everything on this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CAPABILITY 1 OF 5</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The memory — an organisational knowledge base</a:t>
            </a:r>
          </a:p>
        </p:txBody>
      </p:sp>
      <p:sp>
        <p:nvSpPr>
          <p:cNvPr id="9" name="Rounded Rectangle 8"/>
          <p:cNvSpPr/>
          <p:nvPr/>
        </p:nvSpPr>
        <p:spPr>
          <a:xfrm>
            <a:off x="411480" y="1828800"/>
            <a:ext cx="5486400" cy="4206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57400"/>
            <a:ext cx="502920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16325C"/>
                </a:solidFill>
                <a:latin typeface="Calibri"/>
              </a:rPr>
              <a:t>What is stored for every analysis</a:t>
            </a:r>
          </a:p>
        </p:txBody>
      </p:sp>
      <p:sp>
        <p:nvSpPr>
          <p:cNvPr id="11" name="Rectangle 10"/>
          <p:cNvSpPr/>
          <p:nvPr/>
        </p:nvSpPr>
        <p:spPr>
          <a:xfrm>
            <a:off x="685800" y="2514600"/>
            <a:ext cx="82296" cy="50292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14600"/>
            <a:ext cx="4754880" cy="566928"/>
          </a:xfrm>
          <a:prstGeom prst="rect">
            <a:avLst/>
          </a:prstGeom>
          <a:noFill/>
        </p:spPr>
        <p:txBody>
          <a:bodyPr wrap="square" anchor="t" lIns="0" rIns="0" tIns="0" bIns="0">
            <a:spAutoFit/>
          </a:bodyPr>
          <a:lstStyle/>
          <a:p>
            <a:pPr algn="l">
              <a:lnSpc>
                <a:spcPct val="105000"/>
              </a:lnSpc>
              <a:spcAft>
                <a:spcPts val="400"/>
              </a:spcAft>
            </a:pPr>
            <a:r>
              <a:rPr sz="1250" b="1" i="0">
                <a:solidFill>
                  <a:srgbClr val="16325C"/>
                </a:solidFill>
                <a:latin typeface="Calibri"/>
              </a:rPr>
              <a:t>Part "fingerprint" — </a:t>
            </a:r>
            <a:r>
              <a:rPr sz="1250" b="0" i="0">
                <a:solidFill>
                  <a:srgbClr val="3A4356"/>
                </a:solidFill>
                <a:latin typeface="Calibri"/>
              </a:rPr>
              <a:t>process, material, weight, size, region, volume</a:t>
            </a:r>
          </a:p>
        </p:txBody>
      </p:sp>
      <p:sp>
        <p:nvSpPr>
          <p:cNvPr id="13" name="Rectangle 12"/>
          <p:cNvSpPr/>
          <p:nvPr/>
        </p:nvSpPr>
        <p:spPr>
          <a:xfrm>
            <a:off x="685800" y="3172968"/>
            <a:ext cx="82296" cy="50292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172968"/>
            <a:ext cx="4754880" cy="566928"/>
          </a:xfrm>
          <a:prstGeom prst="rect">
            <a:avLst/>
          </a:prstGeom>
          <a:noFill/>
        </p:spPr>
        <p:txBody>
          <a:bodyPr wrap="square" anchor="t" lIns="0" rIns="0" tIns="0" bIns="0">
            <a:spAutoFit/>
          </a:bodyPr>
          <a:lstStyle/>
          <a:p>
            <a:pPr algn="l">
              <a:lnSpc>
                <a:spcPct val="105000"/>
              </a:lnSpc>
              <a:spcAft>
                <a:spcPts val="400"/>
              </a:spcAft>
            </a:pPr>
            <a:r>
              <a:rPr sz="1250" b="1" i="0">
                <a:solidFill>
                  <a:srgbClr val="16325C"/>
                </a:solidFill>
                <a:latin typeface="Calibri"/>
              </a:rPr>
              <a:t>The full cost result — </a:t>
            </a:r>
            <a:r>
              <a:rPr sz="1250" b="0" i="0">
                <a:solidFill>
                  <a:srgbClr val="3A4356"/>
                </a:solidFill>
                <a:latin typeface="Calibri"/>
              </a:rPr>
              <a:t>total + breakdown by cost driver</a:t>
            </a:r>
          </a:p>
        </p:txBody>
      </p:sp>
      <p:sp>
        <p:nvSpPr>
          <p:cNvPr id="15" name="Rectangle 14"/>
          <p:cNvSpPr/>
          <p:nvPr/>
        </p:nvSpPr>
        <p:spPr>
          <a:xfrm>
            <a:off x="685800" y="3831335"/>
            <a:ext cx="82296" cy="50292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31335"/>
            <a:ext cx="4754880" cy="566928"/>
          </a:xfrm>
          <a:prstGeom prst="rect">
            <a:avLst/>
          </a:prstGeom>
          <a:noFill/>
        </p:spPr>
        <p:txBody>
          <a:bodyPr wrap="square" anchor="t" lIns="0" rIns="0" tIns="0" bIns="0">
            <a:spAutoFit/>
          </a:bodyPr>
          <a:lstStyle/>
          <a:p>
            <a:pPr algn="l">
              <a:lnSpc>
                <a:spcPct val="105000"/>
              </a:lnSpc>
              <a:spcAft>
                <a:spcPts val="400"/>
              </a:spcAft>
            </a:pPr>
            <a:r>
              <a:rPr sz="1250" b="1" i="0">
                <a:solidFill>
                  <a:srgbClr val="16325C"/>
                </a:solidFill>
                <a:latin typeface="Calibri"/>
              </a:rPr>
              <a:t>Real quotes — </a:t>
            </a:r>
            <a:r>
              <a:rPr sz="1250" b="0" i="0">
                <a:solidFill>
                  <a:srgbClr val="3A4356"/>
                </a:solidFill>
                <a:latin typeface="Calibri"/>
              </a:rPr>
              <a:t>actual supplier / PO prices, when logged</a:t>
            </a:r>
          </a:p>
        </p:txBody>
      </p:sp>
      <p:sp>
        <p:nvSpPr>
          <p:cNvPr id="17" name="Rectangle 16"/>
          <p:cNvSpPr/>
          <p:nvPr/>
        </p:nvSpPr>
        <p:spPr>
          <a:xfrm>
            <a:off x="685800" y="4489704"/>
            <a:ext cx="82296" cy="50292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489704"/>
            <a:ext cx="4754880" cy="566928"/>
          </a:xfrm>
          <a:prstGeom prst="rect">
            <a:avLst/>
          </a:prstGeom>
          <a:noFill/>
        </p:spPr>
        <p:txBody>
          <a:bodyPr wrap="square" anchor="t" lIns="0" rIns="0" tIns="0" bIns="0">
            <a:spAutoFit/>
          </a:bodyPr>
          <a:lstStyle/>
          <a:p>
            <a:pPr algn="l">
              <a:lnSpc>
                <a:spcPct val="105000"/>
              </a:lnSpc>
              <a:spcAft>
                <a:spcPts val="400"/>
              </a:spcAft>
            </a:pPr>
            <a:r>
              <a:rPr sz="1250" b="1" i="0">
                <a:solidFill>
                  <a:srgbClr val="16325C"/>
                </a:solidFill>
                <a:latin typeface="Calibri"/>
              </a:rPr>
              <a:t>Expert corrections — </a:t>
            </a:r>
            <a:r>
              <a:rPr sz="1250" b="0" i="0">
                <a:solidFill>
                  <a:srgbClr val="3A4356"/>
                </a:solidFill>
                <a:latin typeface="Calibri"/>
              </a:rPr>
              <a:t>where a person adjusted the AI's values</a:t>
            </a:r>
          </a:p>
        </p:txBody>
      </p:sp>
      <p:sp>
        <p:nvSpPr>
          <p:cNvPr id="19" name="Rectangle 18"/>
          <p:cNvSpPr/>
          <p:nvPr/>
        </p:nvSpPr>
        <p:spPr>
          <a:xfrm>
            <a:off x="685800" y="5148072"/>
            <a:ext cx="82296" cy="50292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148072"/>
            <a:ext cx="4754880" cy="566928"/>
          </a:xfrm>
          <a:prstGeom prst="rect">
            <a:avLst/>
          </a:prstGeom>
          <a:noFill/>
        </p:spPr>
        <p:txBody>
          <a:bodyPr wrap="square" anchor="t" lIns="0" rIns="0" tIns="0" bIns="0">
            <a:spAutoFit/>
          </a:bodyPr>
          <a:lstStyle/>
          <a:p>
            <a:pPr algn="l">
              <a:lnSpc>
                <a:spcPct val="105000"/>
              </a:lnSpc>
              <a:spcAft>
                <a:spcPts val="400"/>
              </a:spcAft>
            </a:pPr>
            <a:r>
              <a:rPr sz="1250" b="1" i="0">
                <a:solidFill>
                  <a:srgbClr val="16325C"/>
                </a:solidFill>
                <a:latin typeface="Calibri"/>
              </a:rPr>
              <a:t>CAD shape data — </a:t>
            </a:r>
            <a:r>
              <a:rPr sz="1250" b="0" i="0">
                <a:solidFill>
                  <a:srgbClr val="3A4356"/>
                </a:solidFill>
                <a:latin typeface="Calibri"/>
              </a:rPr>
              <a:t>dimensions &amp; features, when a CAD file was used</a:t>
            </a:r>
          </a:p>
        </p:txBody>
      </p:sp>
      <p:sp>
        <p:nvSpPr>
          <p:cNvPr id="21" name="Rounded Rectangle 20"/>
          <p:cNvSpPr/>
          <p:nvPr/>
        </p:nvSpPr>
        <p:spPr>
          <a:xfrm>
            <a:off x="6263640" y="1828800"/>
            <a:ext cx="5532120" cy="4206240"/>
          </a:xfrm>
          <a:prstGeom prst="roundRect">
            <a:avLst>
              <a:gd name="adj" fmla="val 5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2057400"/>
            <a:ext cx="502920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16325C"/>
                </a:solidFill>
                <a:latin typeface="Calibri"/>
              </a:rPr>
              <a:t>Why it matters to us</a:t>
            </a:r>
          </a:p>
        </p:txBody>
      </p:sp>
      <p:sp>
        <p:nvSpPr>
          <p:cNvPr id="23" name="TextBox 22"/>
          <p:cNvSpPr txBox="1"/>
          <p:nvPr/>
        </p:nvSpPr>
        <p:spPr>
          <a:xfrm>
            <a:off x="6537960" y="2514600"/>
            <a:ext cx="5029200" cy="777240"/>
          </a:xfrm>
          <a:prstGeom prst="rect">
            <a:avLst/>
          </a:prstGeom>
          <a:noFill/>
        </p:spPr>
        <p:txBody>
          <a:bodyPr wrap="square" anchor="t" lIns="0" rIns="0" tIns="0" bIns="0">
            <a:spAutoFit/>
          </a:bodyPr>
          <a:lstStyle/>
          <a:p>
            <a:pPr algn="l">
              <a:lnSpc>
                <a:spcPct val="105000"/>
              </a:lnSpc>
              <a:spcAft>
                <a:spcPts val="200"/>
              </a:spcAft>
            </a:pPr>
            <a:r>
              <a:rPr sz="1300" b="1" i="0">
                <a:solidFill>
                  <a:srgbClr val="2A7F50"/>
                </a:solidFill>
                <a:latin typeface="Calibri"/>
              </a:rPr>
              <a:t>✓  Shared, not personal</a:t>
            </a:r>
          </a:p>
          <a:p>
            <a:pPr algn="l">
              <a:lnSpc>
                <a:spcPct val="105000"/>
              </a:lnSpc>
              <a:spcAft>
                <a:spcPts val="200"/>
              </a:spcAft>
            </a:pPr>
            <a:r>
              <a:rPr sz="1150" b="0" i="0">
                <a:solidFill>
                  <a:srgbClr val="3A4356"/>
                </a:solidFill>
                <a:latin typeface="Calibri"/>
              </a:rPr>
              <a:t>One engineer's analysis instantly helps everyone — juniors inherit senior judgement.</a:t>
            </a:r>
          </a:p>
        </p:txBody>
      </p:sp>
      <p:sp>
        <p:nvSpPr>
          <p:cNvPr id="24" name="TextBox 23"/>
          <p:cNvSpPr txBox="1"/>
          <p:nvPr/>
        </p:nvSpPr>
        <p:spPr>
          <a:xfrm>
            <a:off x="6537960" y="3355848"/>
            <a:ext cx="5029200" cy="777240"/>
          </a:xfrm>
          <a:prstGeom prst="rect">
            <a:avLst/>
          </a:prstGeom>
          <a:noFill/>
        </p:spPr>
        <p:txBody>
          <a:bodyPr wrap="square" anchor="t" lIns="0" rIns="0" tIns="0" bIns="0">
            <a:spAutoFit/>
          </a:bodyPr>
          <a:lstStyle/>
          <a:p>
            <a:pPr algn="l">
              <a:lnSpc>
                <a:spcPct val="105000"/>
              </a:lnSpc>
              <a:spcAft>
                <a:spcPts val="200"/>
              </a:spcAft>
            </a:pPr>
            <a:r>
              <a:rPr sz="1300" b="1" i="0">
                <a:solidFill>
                  <a:srgbClr val="2A7F50"/>
                </a:solidFill>
                <a:latin typeface="Calibri"/>
              </a:rPr>
              <a:t>✓  Stays on our servers</a:t>
            </a:r>
          </a:p>
          <a:p>
            <a:pPr algn="l">
              <a:lnSpc>
                <a:spcPct val="105000"/>
              </a:lnSpc>
              <a:spcAft>
                <a:spcPts val="200"/>
              </a:spcAft>
            </a:pPr>
            <a:r>
              <a:rPr sz="1150" b="0" i="0">
                <a:solidFill>
                  <a:srgbClr val="3A4356"/>
                </a:solidFill>
                <a:latin typeface="Calibri"/>
              </a:rPr>
              <a:t>Our database, our infrastructure. The knowledge is a company asset, not a vendor's.</a:t>
            </a:r>
          </a:p>
        </p:txBody>
      </p:sp>
      <p:sp>
        <p:nvSpPr>
          <p:cNvPr id="25" name="TextBox 24"/>
          <p:cNvSpPr txBox="1"/>
          <p:nvPr/>
        </p:nvSpPr>
        <p:spPr>
          <a:xfrm>
            <a:off x="6537960" y="4197096"/>
            <a:ext cx="5029200" cy="777240"/>
          </a:xfrm>
          <a:prstGeom prst="rect">
            <a:avLst/>
          </a:prstGeom>
          <a:noFill/>
        </p:spPr>
        <p:txBody>
          <a:bodyPr wrap="square" anchor="t" lIns="0" rIns="0" tIns="0" bIns="0">
            <a:spAutoFit/>
          </a:bodyPr>
          <a:lstStyle/>
          <a:p>
            <a:pPr algn="l">
              <a:lnSpc>
                <a:spcPct val="105000"/>
              </a:lnSpc>
              <a:spcAft>
                <a:spcPts val="200"/>
              </a:spcAft>
            </a:pPr>
            <a:r>
              <a:rPr sz="1300" b="1" i="0">
                <a:solidFill>
                  <a:srgbClr val="2A7F50"/>
                </a:solidFill>
                <a:latin typeface="Calibri"/>
              </a:rPr>
              <a:t>✓  No duplicates</a:t>
            </a:r>
          </a:p>
          <a:p>
            <a:pPr algn="l">
              <a:lnSpc>
                <a:spcPct val="105000"/>
              </a:lnSpc>
              <a:spcAft>
                <a:spcPts val="200"/>
              </a:spcAft>
            </a:pPr>
            <a:r>
              <a:rPr sz="1150" b="0" i="0">
                <a:solidFill>
                  <a:srgbClr val="3A4356"/>
                </a:solidFill>
                <a:latin typeface="Calibri"/>
              </a:rPr>
              <a:t>Re-costing a part updates its case — the memory stays clean.</a:t>
            </a:r>
          </a:p>
        </p:txBody>
      </p:sp>
      <p:sp>
        <p:nvSpPr>
          <p:cNvPr id="26" name="TextBox 25"/>
          <p:cNvSpPr txBox="1"/>
          <p:nvPr/>
        </p:nvSpPr>
        <p:spPr>
          <a:xfrm>
            <a:off x="6537960" y="5038344"/>
            <a:ext cx="5029200" cy="777240"/>
          </a:xfrm>
          <a:prstGeom prst="rect">
            <a:avLst/>
          </a:prstGeom>
          <a:noFill/>
        </p:spPr>
        <p:txBody>
          <a:bodyPr wrap="square" anchor="t" lIns="0" rIns="0" tIns="0" bIns="0">
            <a:spAutoFit/>
          </a:bodyPr>
          <a:lstStyle/>
          <a:p>
            <a:pPr algn="l">
              <a:lnSpc>
                <a:spcPct val="105000"/>
              </a:lnSpc>
              <a:spcAft>
                <a:spcPts val="200"/>
              </a:spcAft>
            </a:pPr>
            <a:r>
              <a:rPr sz="1300" b="1" i="0">
                <a:solidFill>
                  <a:srgbClr val="2A7F50"/>
                </a:solidFill>
                <a:latin typeface="Calibri"/>
              </a:rPr>
              <a:t>✓  Compounds with use</a:t>
            </a:r>
          </a:p>
          <a:p>
            <a:pPr algn="l">
              <a:lnSpc>
                <a:spcPct val="105000"/>
              </a:lnSpc>
              <a:spcAft>
                <a:spcPts val="200"/>
              </a:spcAft>
            </a:pPr>
            <a:r>
              <a:rPr sz="1150" b="0" i="0">
                <a:solidFill>
                  <a:srgbClr val="3A4356"/>
                </a:solidFill>
                <a:latin typeface="Calibri"/>
              </a:rPr>
              <a:t>Useful from ~20–30 analyses; every costing from today is an investment.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CAPABILITY 2 OF 5</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Recognition — "we have costed this before"</a:t>
            </a:r>
          </a:p>
        </p:txBody>
      </p:sp>
      <p:sp>
        <p:nvSpPr>
          <p:cNvPr id="9" name="TextBox 8"/>
          <p:cNvSpPr txBox="1"/>
          <p:nvPr/>
        </p:nvSpPr>
        <p:spPr>
          <a:xfrm>
            <a:off x="411480" y="1691640"/>
            <a:ext cx="11338560" cy="365760"/>
          </a:xfrm>
          <a:prstGeom prst="rect">
            <a:avLst/>
          </a:prstGeom>
          <a:noFill/>
        </p:spPr>
        <p:txBody>
          <a:bodyPr wrap="square" anchor="t" lIns="0" rIns="0" tIns="0" bIns="0">
            <a:spAutoFit/>
          </a:bodyPr>
          <a:lstStyle/>
          <a:p>
            <a:pPr algn="l">
              <a:lnSpc>
                <a:spcPct val="100000"/>
              </a:lnSpc>
              <a:spcAft>
                <a:spcPts val="400"/>
              </a:spcAft>
            </a:pPr>
            <a:r>
              <a:rPr sz="1350" b="0" i="0">
                <a:solidFill>
                  <a:srgbClr val="3A4356"/>
                </a:solidFill>
                <a:latin typeface="Calibri"/>
              </a:rPr>
              <a:t>Live example: an engineer costs a new 0.85 kg aluminium bracket. The tool answers instantly:</a:t>
            </a:r>
          </a:p>
        </p:txBody>
      </p:sp>
      <p:sp>
        <p:nvSpPr>
          <p:cNvPr id="10" name="Rounded Rectangle 9"/>
          <p:cNvSpPr/>
          <p:nvPr/>
        </p:nvSpPr>
        <p:spPr>
          <a:xfrm>
            <a:off x="411480" y="2194560"/>
            <a:ext cx="11384280" cy="28346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194560"/>
            <a:ext cx="82296" cy="2834640"/>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377440"/>
            <a:ext cx="10789920" cy="320040"/>
          </a:xfrm>
          <a:prstGeom prst="rect">
            <a:avLst/>
          </a:prstGeom>
          <a:noFill/>
        </p:spPr>
        <p:txBody>
          <a:bodyPr wrap="square" anchor="t" lIns="0" rIns="0" tIns="0" bIns="0">
            <a:spAutoFit/>
          </a:bodyPr>
          <a:lstStyle/>
          <a:p>
            <a:pPr algn="l">
              <a:lnSpc>
                <a:spcPct val="100000"/>
              </a:lnSpc>
              <a:spcAft>
                <a:spcPts val="400"/>
              </a:spcAft>
            </a:pPr>
            <a:r>
              <a:rPr sz="1400" b="1" i="0">
                <a:solidFill>
                  <a:srgbClr val="16325C"/>
                </a:solidFill>
                <a:latin typeface="Segoe UI Emoji"/>
              </a:rPr>
              <a:t>🧠</a:t>
            </a:r>
            <a:r>
              <a:rPr sz="1400" b="1" i="0">
                <a:solidFill>
                  <a:srgbClr val="16325C"/>
                </a:solidFill>
                <a:latin typeface="Calibri"/>
              </a:rPr>
              <a:t>  AI memory — similar past parts</a:t>
            </a:r>
            <a:r>
              <a:rPr sz="1050" b="0" i="0">
                <a:solidFill>
                  <a:srgbClr val="686F7D"/>
                </a:solidFill>
                <a:latin typeface="Calibri"/>
              </a:rPr>
              <a:t>      (knowledge base: 3 analyses · 2 with actuals)</a:t>
            </a:r>
          </a:p>
        </p:txBody>
      </p:sp>
      <p:sp>
        <p:nvSpPr>
          <p:cNvPr id="13" name="TextBox 12"/>
          <p:cNvSpPr txBox="1"/>
          <p:nvPr/>
        </p:nvSpPr>
        <p:spPr>
          <a:xfrm>
            <a:off x="822960" y="2788920"/>
            <a:ext cx="6035040" cy="384048"/>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EV Battery Bracket</a:t>
            </a:r>
            <a:r>
              <a:rPr sz="1050" b="0" i="0">
                <a:solidFill>
                  <a:srgbClr val="686F7D"/>
                </a:solidFill>
                <a:latin typeface="Calibri"/>
              </a:rPr>
              <a:t>   99% match — material family, weight, region</a:t>
            </a:r>
          </a:p>
        </p:txBody>
      </p:sp>
      <p:sp>
        <p:nvSpPr>
          <p:cNvPr id="14" name="TextBox 13"/>
          <p:cNvSpPr txBox="1"/>
          <p:nvPr/>
        </p:nvSpPr>
        <p:spPr>
          <a:xfrm>
            <a:off x="7315200" y="2788920"/>
            <a:ext cx="4206240" cy="384048"/>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£41.20</a:t>
            </a:r>
            <a:r>
              <a:rPr sz="1100" b="1" i="0">
                <a:solidFill>
                  <a:srgbClr val="6B3FA0"/>
                </a:solidFill>
                <a:latin typeface="Calibri"/>
              </a:rPr>
              <a:t>   actual £46.50</a:t>
            </a:r>
          </a:p>
        </p:txBody>
      </p:sp>
      <p:sp>
        <p:nvSpPr>
          <p:cNvPr id="15" name="TextBox 14"/>
          <p:cNvSpPr txBox="1"/>
          <p:nvPr/>
        </p:nvSpPr>
        <p:spPr>
          <a:xfrm>
            <a:off x="822960" y="3246120"/>
            <a:ext cx="6035040" cy="384048"/>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Sensor Mount Bracket</a:t>
            </a:r>
            <a:r>
              <a:rPr sz="1050" b="0" i="0">
                <a:solidFill>
                  <a:srgbClr val="686F7D"/>
                </a:solidFill>
                <a:latin typeface="Calibri"/>
              </a:rPr>
              <a:t>   98% match — material family, weight, region</a:t>
            </a:r>
          </a:p>
        </p:txBody>
      </p:sp>
      <p:sp>
        <p:nvSpPr>
          <p:cNvPr id="16" name="TextBox 15"/>
          <p:cNvSpPr txBox="1"/>
          <p:nvPr/>
        </p:nvSpPr>
        <p:spPr>
          <a:xfrm>
            <a:off x="7315200" y="3246120"/>
            <a:ext cx="4206240" cy="384048"/>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£38.50</a:t>
            </a:r>
          </a:p>
        </p:txBody>
      </p:sp>
      <p:sp>
        <p:nvSpPr>
          <p:cNvPr id="17" name="TextBox 16"/>
          <p:cNvSpPr txBox="1"/>
          <p:nvPr/>
        </p:nvSpPr>
        <p:spPr>
          <a:xfrm>
            <a:off x="822960" y="3703320"/>
            <a:ext cx="6035040" cy="384048"/>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Inverter Bracket</a:t>
            </a:r>
            <a:r>
              <a:rPr sz="1050" b="0" i="0">
                <a:solidFill>
                  <a:srgbClr val="686F7D"/>
                </a:solidFill>
                <a:latin typeface="Calibri"/>
              </a:rPr>
              <a:t>   98% match — material family, weight, region</a:t>
            </a:r>
          </a:p>
        </p:txBody>
      </p:sp>
      <p:sp>
        <p:nvSpPr>
          <p:cNvPr id="18" name="TextBox 17"/>
          <p:cNvSpPr txBox="1"/>
          <p:nvPr/>
        </p:nvSpPr>
        <p:spPr>
          <a:xfrm>
            <a:off x="7315200" y="3703320"/>
            <a:ext cx="4206240" cy="384048"/>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£44.80</a:t>
            </a:r>
            <a:r>
              <a:rPr sz="1100" b="1" i="0">
                <a:solidFill>
                  <a:srgbClr val="6B3FA0"/>
                </a:solidFill>
                <a:latin typeface="Calibri"/>
              </a:rPr>
              <a:t>   actual £50.20</a:t>
            </a:r>
          </a:p>
        </p:txBody>
      </p:sp>
      <p:sp>
        <p:nvSpPr>
          <p:cNvPr id="19" name="TextBox 18"/>
          <p:cNvSpPr txBox="1"/>
          <p:nvPr/>
        </p:nvSpPr>
        <p:spPr>
          <a:xfrm>
            <a:off x="822960" y="4206240"/>
            <a:ext cx="1060704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  Median cost of 3 similar parts: £41.20</a:t>
            </a:r>
          </a:p>
        </p:txBody>
      </p:sp>
      <p:sp>
        <p:nvSpPr>
          <p:cNvPr id="20" name="TextBox 19"/>
          <p:cNvSpPr txBox="1"/>
          <p:nvPr/>
        </p:nvSpPr>
        <p:spPr>
          <a:xfrm>
            <a:off x="822960" y="4480559"/>
            <a:ext cx="1060704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  3 of 3 used the same material (aluminium 6061)</a:t>
            </a:r>
          </a:p>
        </p:txBody>
      </p:sp>
      <p:sp>
        <p:nvSpPr>
          <p:cNvPr id="21" name="TextBox 20"/>
          <p:cNvSpPr txBox="1"/>
          <p:nvPr/>
        </p:nvSpPr>
        <p:spPr>
          <a:xfrm>
            <a:off x="822960" y="4754879"/>
            <a:ext cx="1060704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6B3FA0"/>
                </a:solidFill>
                <a:latin typeface="Calibri"/>
              </a:rPr>
              <a:t>•  Real quotes logged for 2 of them — median actual £48.35</a:t>
            </a:r>
          </a:p>
        </p:txBody>
      </p:sp>
      <p:sp>
        <p:nvSpPr>
          <p:cNvPr id="22" name="Rounded Rectangle 21"/>
          <p:cNvSpPr/>
          <p:nvPr/>
        </p:nvSpPr>
        <p:spPr>
          <a:xfrm>
            <a:off x="411480" y="5303520"/>
            <a:ext cx="11384280" cy="914400"/>
          </a:xfrm>
          <a:prstGeom prst="roundRect">
            <a:avLst>
              <a:gd name="adj" fmla="val 8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458968"/>
            <a:ext cx="10881360" cy="685800"/>
          </a:xfrm>
          <a:prstGeom prst="rect">
            <a:avLst/>
          </a:prstGeom>
          <a:noFill/>
        </p:spPr>
        <p:txBody>
          <a:bodyPr wrap="square" anchor="t" lIns="0" rIns="0" tIns="0" bIns="0">
            <a:spAutoFit/>
          </a:bodyPr>
          <a:lstStyle/>
          <a:p>
            <a:pPr algn="l">
              <a:lnSpc>
                <a:spcPct val="115000"/>
              </a:lnSpc>
              <a:spcAft>
                <a:spcPts val="400"/>
              </a:spcAft>
            </a:pPr>
            <a:r>
              <a:rPr sz="1250" b="0" i="0">
                <a:solidFill>
                  <a:srgbClr val="3A4356"/>
                </a:solidFill>
                <a:latin typeface="Calibri"/>
              </a:rPr>
              <a:t>Every match is explained (what matched, and how strongly) and every suggestion names its source parts — </a:t>
            </a:r>
            <a:r>
              <a:rPr sz="1250" b="1" i="0">
                <a:solidFill>
                  <a:srgbClr val="16325C"/>
                </a:solidFill>
                <a:latin typeface="Calibri"/>
              </a:rPr>
              <a:t>no black box.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CAPABILITY 3 OF 5</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Self-correction — it learns from real quotes</a:t>
            </a:r>
          </a:p>
        </p:txBody>
      </p:sp>
      <p:graphicFrame>
        <p:nvGraphicFramePr>
          <p:cNvPr id="9" name="Chart 8"/>
          <p:cNvGraphicFramePr>
            <a:graphicFrameLocks noGrp="1"/>
          </p:cNvGraphicFramePr>
          <p:nvPr/>
        </p:nvGraphicFramePr>
        <p:xfrm>
          <a:off x="411480" y="1965960"/>
          <a:ext cx="6035040" cy="3657600"/>
        </p:xfrm>
        <a:graphic>
          <a:graphicData uri="http://schemas.openxmlformats.org/drawingml/2006/chart">
            <c:chart xmlns:c="http://schemas.openxmlformats.org/drawingml/2006/chart" r:id="rId2"/>
          </a:graphicData>
        </a:graphic>
      </p:graphicFrame>
      <p:sp>
        <p:nvSpPr>
          <p:cNvPr id="10" name="TextBox 9"/>
          <p:cNvSpPr txBox="1"/>
          <p:nvPr/>
        </p:nvSpPr>
        <p:spPr>
          <a:xfrm>
            <a:off x="411480" y="5715000"/>
            <a:ext cx="6035040" cy="457200"/>
          </a:xfrm>
          <a:prstGeom prst="rect">
            <a:avLst/>
          </a:prstGeom>
          <a:noFill/>
        </p:spPr>
        <p:txBody>
          <a:bodyPr wrap="square" anchor="t" lIns="0" rIns="0" tIns="0" bIns="0">
            <a:spAutoFit/>
          </a:bodyPr>
          <a:lstStyle/>
          <a:p>
            <a:pPr algn="l">
              <a:lnSpc>
                <a:spcPct val="100000"/>
              </a:lnSpc>
              <a:spcAft>
                <a:spcPts val="400"/>
              </a:spcAft>
            </a:pPr>
            <a:r>
              <a:rPr sz="1050" b="0" i="1">
                <a:solidFill>
                  <a:srgbClr val="686F7D"/>
                </a:solidFill>
                <a:latin typeface="Calibri"/>
              </a:rPr>
              <a:t>Estimating error (%) — measured against real supplier prices, live system run</a:t>
            </a:r>
          </a:p>
        </p:txBody>
      </p:sp>
      <p:sp>
        <p:nvSpPr>
          <p:cNvPr id="11" name="Rounded Rectangle 10"/>
          <p:cNvSpPr/>
          <p:nvPr/>
        </p:nvSpPr>
        <p:spPr>
          <a:xfrm>
            <a:off x="6812280" y="1965960"/>
            <a:ext cx="4983480" cy="4206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2194560"/>
            <a:ext cx="4480560" cy="3840480"/>
          </a:xfrm>
          <a:prstGeom prst="rect">
            <a:avLst/>
          </a:prstGeom>
          <a:noFill/>
        </p:spPr>
        <p:txBody>
          <a:bodyPr wrap="square" anchor="t" lIns="0" rIns="0" tIns="0" bIns="0">
            <a:spAutoFit/>
          </a:bodyPr>
          <a:lstStyle/>
          <a:p>
            <a:pPr algn="l">
              <a:lnSpc>
                <a:spcPct val="112000"/>
              </a:lnSpc>
              <a:spcAft>
                <a:spcPts val="1000"/>
              </a:spcAft>
            </a:pPr>
            <a:r>
              <a:rPr sz="1500" b="1" i="0">
                <a:solidFill>
                  <a:srgbClr val="16325C"/>
                </a:solidFill>
                <a:latin typeface="Calibri"/>
              </a:rPr>
              <a:t>How it works, simply</a:t>
            </a:r>
          </a:p>
          <a:p>
            <a:pPr algn="l">
              <a:lnSpc>
                <a:spcPct val="112000"/>
              </a:lnSpc>
              <a:spcAft>
                <a:spcPts val="1000"/>
              </a:spcAft>
            </a:pPr>
            <a:r>
              <a:rPr sz="1250" b="0" i="0">
                <a:solidFill>
                  <a:srgbClr val="3A4356"/>
                </a:solidFill>
                <a:latin typeface="Calibri"/>
              </a:rPr>
              <a:t>1.  A real supplier quote arrives → one click logs it.</a:t>
            </a:r>
          </a:p>
          <a:p>
            <a:pPr algn="l">
              <a:lnSpc>
                <a:spcPct val="112000"/>
              </a:lnSpc>
              <a:spcAft>
                <a:spcPts val="1000"/>
              </a:spcAft>
            </a:pPr>
            <a:r>
              <a:rPr sz="1250" b="0" i="0">
                <a:solidFill>
                  <a:srgbClr val="3A4356"/>
                </a:solidFill>
                <a:latin typeface="Calibri"/>
              </a:rPr>
              <a:t>2.  The tool compares its estimate with reality and measures its own error.</a:t>
            </a:r>
          </a:p>
          <a:p>
            <a:pPr algn="l">
              <a:lnSpc>
                <a:spcPct val="112000"/>
              </a:lnSpc>
              <a:spcAft>
                <a:spcPts val="1000"/>
              </a:spcAft>
            </a:pPr>
            <a:r>
              <a:rPr sz="1250" b="0" i="0">
                <a:solidFill>
                  <a:srgbClr val="3A4356"/>
                </a:solidFill>
                <a:latin typeface="Calibri"/>
              </a:rPr>
              <a:t>3.  From 3 quotes in a category, it corrects future estimates automatically — per process, material family and region.</a:t>
            </a:r>
          </a:p>
          <a:p>
            <a:pPr algn="l">
              <a:lnSpc>
                <a:spcPct val="112000"/>
              </a:lnSpc>
              <a:spcAft>
                <a:spcPts val="1000"/>
              </a:spcAft>
            </a:pPr>
            <a:r>
              <a:rPr sz="1250" b="0" i="0">
                <a:solidFill>
                  <a:srgbClr val="3A4356"/>
                </a:solidFill>
                <a:latin typeface="Calibri"/>
              </a:rPr>
              <a:t>4.  It reports its accuracy openly (error % before and after).</a:t>
            </a:r>
          </a:p>
          <a:p>
            <a:pPr algn="l">
              <a:lnSpc>
                <a:spcPct val="112000"/>
              </a:lnSpc>
              <a:spcAft>
                <a:spcPts val="1000"/>
              </a:spcAft>
            </a:pPr>
            <a:r>
              <a:rPr sz="1250" b="1" i="0">
                <a:solidFill>
                  <a:srgbClr val="16325C"/>
                </a:solidFill>
                <a:latin typeface="Calibri"/>
              </a:rPr>
              <a:t>Why per-category matters: </a:t>
            </a:r>
            <a:r>
              <a:rPr sz="1250" b="0" i="0">
                <a:solidFill>
                  <a:srgbClr val="3A4356"/>
                </a:solidFill>
                <a:latin typeface="Calibri"/>
              </a:rPr>
              <a:t>our machining ran 12% low while our China castings ran 8% high — averaged together they looked "fine". The tool catches what averages hide.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CAPABILITY 4 OF 5</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Honest ranges — from "±20%" to "±3%", earned with data</a:t>
            </a:r>
          </a:p>
        </p:txBody>
      </p:sp>
      <p:graphicFrame>
        <p:nvGraphicFramePr>
          <p:cNvPr id="9" name="Chart 8"/>
          <p:cNvGraphicFramePr>
            <a:graphicFrameLocks noGrp="1"/>
          </p:cNvGraphicFramePr>
          <p:nvPr/>
        </p:nvGraphicFramePr>
        <p:xfrm>
          <a:off x="411480" y="1965960"/>
          <a:ext cx="5394960" cy="3657600"/>
        </p:xfrm>
        <a:graphic>
          <a:graphicData uri="http://schemas.openxmlformats.org/drawingml/2006/chart">
            <c:chart xmlns:c="http://schemas.openxmlformats.org/drawingml/2006/chart" r:id="rId2"/>
          </a:graphicData>
        </a:graphic>
      </p:graphicFrame>
      <p:sp>
        <p:nvSpPr>
          <p:cNvPr id="10" name="TextBox 9"/>
          <p:cNvSpPr txBox="1"/>
          <p:nvPr/>
        </p:nvSpPr>
        <p:spPr>
          <a:xfrm>
            <a:off x="411480" y="5715000"/>
            <a:ext cx="5394960" cy="457200"/>
          </a:xfrm>
          <a:prstGeom prst="rect">
            <a:avLst/>
          </a:prstGeom>
          <a:noFill/>
        </p:spPr>
        <p:txBody>
          <a:bodyPr wrap="square" anchor="t" lIns="0" rIns="0" tIns="0" bIns="0">
            <a:spAutoFit/>
          </a:bodyPr>
          <a:lstStyle/>
          <a:p>
            <a:pPr algn="l">
              <a:lnSpc>
                <a:spcPct val="100000"/>
              </a:lnSpc>
              <a:spcAft>
                <a:spcPts val="400"/>
              </a:spcAft>
            </a:pPr>
            <a:r>
              <a:rPr sz="1050" b="0" i="1">
                <a:solidFill>
                  <a:srgbClr val="686F7D"/>
                </a:solidFill>
                <a:latin typeface="Calibri"/>
              </a:rPr>
              <a:t>Width of the cost confidence band on the same part (± % around the estimate)</a:t>
            </a:r>
          </a:p>
        </p:txBody>
      </p:sp>
      <p:sp>
        <p:nvSpPr>
          <p:cNvPr id="11" name="Rounded Rectangle 10"/>
          <p:cNvSpPr/>
          <p:nvPr/>
        </p:nvSpPr>
        <p:spPr>
          <a:xfrm>
            <a:off x="6172200" y="1965960"/>
            <a:ext cx="5623560" cy="4206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194560"/>
            <a:ext cx="5120640" cy="3840480"/>
          </a:xfrm>
          <a:prstGeom prst="rect">
            <a:avLst/>
          </a:prstGeom>
          <a:noFill/>
        </p:spPr>
        <p:txBody>
          <a:bodyPr wrap="square" anchor="t" lIns="0" rIns="0" tIns="0" bIns="0">
            <a:spAutoFit/>
          </a:bodyPr>
          <a:lstStyle/>
          <a:p>
            <a:pPr algn="l">
              <a:lnSpc>
                <a:spcPct val="115000"/>
              </a:lnSpc>
              <a:spcAft>
                <a:spcPts val="1000"/>
              </a:spcAft>
            </a:pPr>
            <a:r>
              <a:rPr sz="1500" b="1" i="0">
                <a:solidFill>
                  <a:srgbClr val="16325C"/>
                </a:solidFill>
                <a:latin typeface="Calibri"/>
              </a:rPr>
              <a:t>Every estimate now comes as a range</a:t>
            </a:r>
          </a:p>
          <a:p>
            <a:pPr algn="l">
              <a:lnSpc>
                <a:spcPct val="115000"/>
              </a:lnSpc>
              <a:spcAft>
                <a:spcPts val="1000"/>
              </a:spcAft>
            </a:pPr>
            <a:r>
              <a:rPr sz="1250" b="1" i="0">
                <a:solidFill>
                  <a:srgbClr val="1D6FB8"/>
                </a:solidFill>
                <a:latin typeface="Calibri"/>
              </a:rPr>
              <a:t>Optimistic (P10)  ·  Most likely (P50)  ·  Conservative (P90)</a:t>
            </a:r>
          </a:p>
          <a:p>
            <a:pPr algn="l">
              <a:lnSpc>
                <a:spcPct val="115000"/>
              </a:lnSpc>
              <a:spcAft>
                <a:spcPts val="1000"/>
              </a:spcAft>
            </a:pPr>
            <a:r>
              <a:rPr sz="1250" b="0" i="0">
                <a:solidFill>
                  <a:srgbClr val="3A4356"/>
                </a:solidFill>
                <a:latin typeface="Calibri"/>
              </a:rPr>
              <a:t>A single number implies a precision that early estimates don't have. The range tells buyers how much to trust the number — and what target to set in negotiation.</a:t>
            </a:r>
          </a:p>
          <a:p>
            <a:pPr algn="l">
              <a:lnSpc>
                <a:spcPct val="115000"/>
              </a:lnSpc>
              <a:spcAft>
                <a:spcPts val="1000"/>
              </a:spcAft>
            </a:pPr>
            <a:r>
              <a:rPr sz="1250" b="1" i="0">
                <a:solidFill>
                  <a:srgbClr val="16325C"/>
                </a:solidFill>
                <a:latin typeface="Calibri"/>
              </a:rPr>
              <a:t>The band is earned, not guessed: </a:t>
            </a:r>
            <a:r>
              <a:rPr sz="1250" b="0" i="0">
                <a:solidFill>
                  <a:srgbClr val="3A4356"/>
                </a:solidFill>
                <a:latin typeface="Calibri"/>
              </a:rPr>
              <a:t>it starts wide when the tool has no evidence, and tightens automatically as real quotes prove the accuracy. On our test part it went from ±20% to ±3% after three quotes.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CAPABILITY 5 OF 5</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The autonomous agent — finds money unattended</a:t>
            </a:r>
          </a:p>
        </p:txBody>
      </p:sp>
      <p:sp>
        <p:nvSpPr>
          <p:cNvPr id="9" name="TextBox 8"/>
          <p:cNvSpPr txBox="1"/>
          <p:nvPr/>
        </p:nvSpPr>
        <p:spPr>
          <a:xfrm>
            <a:off x="411480" y="1691640"/>
            <a:ext cx="11338560" cy="411480"/>
          </a:xfrm>
          <a:prstGeom prst="rect">
            <a:avLst/>
          </a:prstGeom>
          <a:noFill/>
        </p:spPr>
        <p:txBody>
          <a:bodyPr wrap="square" anchor="t" lIns="0" rIns="0" tIns="0" bIns="0">
            <a:spAutoFit/>
          </a:bodyPr>
          <a:lstStyle/>
          <a:p>
            <a:pPr algn="l">
              <a:lnSpc>
                <a:spcPct val="100000"/>
              </a:lnSpc>
              <a:spcAft>
                <a:spcPts val="400"/>
              </a:spcAft>
            </a:pPr>
            <a:r>
              <a:rPr sz="1300" b="0" i="0">
                <a:solidFill>
                  <a:srgbClr val="3A4356"/>
                </a:solidFill>
                <a:latin typeface="Calibri"/>
              </a:rPr>
              <a:t>A background monitor re-checks every stored part on a schedule. In the live demonstration it opened these findings </a:t>
            </a:r>
            <a:r>
              <a:rPr sz="1300" b="1" i="0">
                <a:solidFill>
                  <a:srgbClr val="16325C"/>
                </a:solidFill>
                <a:latin typeface="Calibri"/>
              </a:rPr>
              <a:t>entirely unattended:</a:t>
            </a:r>
          </a:p>
        </p:txBody>
      </p:sp>
      <p:sp>
        <p:nvSpPr>
          <p:cNvPr id="10" name="Rounded Rectangle 9"/>
          <p:cNvSpPr/>
          <p:nvPr/>
        </p:nvSpPr>
        <p:spPr>
          <a:xfrm>
            <a:off x="411480" y="2286000"/>
            <a:ext cx="11384280"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286000"/>
            <a:ext cx="82296" cy="9144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404872"/>
            <a:ext cx="301752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B03A2E"/>
                </a:solidFill>
                <a:latin typeface="Segoe UI Emoji"/>
              </a:rPr>
              <a:t>💰</a:t>
            </a:r>
            <a:r>
              <a:rPr sz="1300" b="1" i="0">
                <a:solidFill>
                  <a:srgbClr val="B03A2E"/>
                </a:solidFill>
                <a:latin typeface="Calibri"/>
              </a:rPr>
              <a:t>  RENEGOTIATION</a:t>
            </a:r>
          </a:p>
        </p:txBody>
      </p:sp>
      <p:sp>
        <p:nvSpPr>
          <p:cNvPr id="13" name="TextBox 12"/>
          <p:cNvSpPr txBox="1"/>
          <p:nvPr/>
        </p:nvSpPr>
        <p:spPr>
          <a:xfrm>
            <a:off x="731520" y="2743200"/>
            <a:ext cx="8229600" cy="41148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Supplier price £48.00 is 20% above should-cost £40.00 at 50,000 pcs — clear recovery opportunity.</a:t>
            </a:r>
          </a:p>
        </p:txBody>
      </p:sp>
      <p:sp>
        <p:nvSpPr>
          <p:cNvPr id="14" name="TextBox 13"/>
          <p:cNvSpPr txBox="1"/>
          <p:nvPr/>
        </p:nvSpPr>
        <p:spPr>
          <a:xfrm>
            <a:off x="9052560" y="2404872"/>
            <a:ext cx="2606040" cy="365760"/>
          </a:xfrm>
          <a:prstGeom prst="rect">
            <a:avLst/>
          </a:prstGeom>
          <a:noFill/>
        </p:spPr>
        <p:txBody>
          <a:bodyPr wrap="square" anchor="t" lIns="0" rIns="0" tIns="0" bIns="0">
            <a:spAutoFit/>
          </a:bodyPr>
          <a:lstStyle/>
          <a:p>
            <a:pPr algn="r">
              <a:lnSpc>
                <a:spcPct val="100000"/>
              </a:lnSpc>
              <a:spcAft>
                <a:spcPts val="400"/>
              </a:spcAft>
            </a:pPr>
            <a:r>
              <a:rPr sz="1400" b="1" i="0">
                <a:solidFill>
                  <a:srgbClr val="B03A2E"/>
                </a:solidFill>
                <a:latin typeface="Calibri"/>
              </a:rPr>
              <a:t>≈ £400,000 / yr</a:t>
            </a:r>
          </a:p>
        </p:txBody>
      </p:sp>
      <p:sp>
        <p:nvSpPr>
          <p:cNvPr id="15" name="Rounded Rectangle 14"/>
          <p:cNvSpPr/>
          <p:nvPr/>
        </p:nvSpPr>
        <p:spPr>
          <a:xfrm>
            <a:off x="411480" y="3337560"/>
            <a:ext cx="11384280"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337560"/>
            <a:ext cx="82296" cy="91440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456432"/>
            <a:ext cx="301752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99651A"/>
                </a:solidFill>
                <a:latin typeface="Segoe UI Emoji"/>
              </a:rPr>
              <a:t>🚨</a:t>
            </a:r>
            <a:r>
              <a:rPr sz="1300" b="1" i="0">
                <a:solidFill>
                  <a:srgbClr val="99651A"/>
                </a:solidFill>
                <a:latin typeface="Calibri"/>
              </a:rPr>
              <a:t>  UNDERWATER PRICE</a:t>
            </a:r>
          </a:p>
        </p:txBody>
      </p:sp>
      <p:sp>
        <p:nvSpPr>
          <p:cNvPr id="18" name="TextBox 17"/>
          <p:cNvSpPr txBox="1"/>
          <p:nvPr/>
        </p:nvSpPr>
        <p:spPr>
          <a:xfrm>
            <a:off x="731520" y="3794760"/>
            <a:ext cx="8229600" cy="41148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Supplier price 25% BELOW should-cost — verify scope and quality; pricing may be unsustainable.</a:t>
            </a:r>
          </a:p>
        </p:txBody>
      </p:sp>
      <p:sp>
        <p:nvSpPr>
          <p:cNvPr id="19" name="TextBox 18"/>
          <p:cNvSpPr txBox="1"/>
          <p:nvPr/>
        </p:nvSpPr>
        <p:spPr>
          <a:xfrm>
            <a:off x="9052560" y="3456432"/>
            <a:ext cx="2606040" cy="365760"/>
          </a:xfrm>
          <a:prstGeom prst="rect">
            <a:avLst/>
          </a:prstGeom>
          <a:noFill/>
        </p:spPr>
        <p:txBody>
          <a:bodyPr wrap="square" anchor="t" lIns="0" rIns="0" tIns="0" bIns="0">
            <a:spAutoFit/>
          </a:bodyPr>
          <a:lstStyle/>
          <a:p>
            <a:pPr algn="r">
              <a:lnSpc>
                <a:spcPct val="100000"/>
              </a:lnSpc>
              <a:spcAft>
                <a:spcPts val="400"/>
              </a:spcAft>
            </a:pPr>
            <a:r>
              <a:rPr sz="1400" b="1" i="0">
                <a:solidFill>
                  <a:srgbClr val="99651A"/>
                </a:solidFill>
                <a:latin typeface="Calibri"/>
              </a:rPr>
              <a:t>≈ £112,000 / yr exposure</a:t>
            </a:r>
          </a:p>
        </p:txBody>
      </p:sp>
      <p:sp>
        <p:nvSpPr>
          <p:cNvPr id="20" name="Rounded Rectangle 19"/>
          <p:cNvSpPr/>
          <p:nvPr/>
        </p:nvSpPr>
        <p:spPr>
          <a:xfrm>
            <a:off x="411480" y="4389120"/>
            <a:ext cx="11384280"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4389120"/>
            <a:ext cx="82296" cy="914400"/>
          </a:xfrm>
          <a:prstGeom prst="rect">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507992"/>
            <a:ext cx="301752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686F7D"/>
                </a:solidFill>
                <a:latin typeface="Calibri"/>
              </a:rPr>
              <a:t>⏳  STALE ESTIMATE</a:t>
            </a:r>
          </a:p>
        </p:txBody>
      </p:sp>
      <p:sp>
        <p:nvSpPr>
          <p:cNvPr id="23" name="TextBox 22"/>
          <p:cNvSpPr txBox="1"/>
          <p:nvPr/>
        </p:nvSpPr>
        <p:spPr>
          <a:xfrm>
            <a:off x="731520" y="4846320"/>
            <a:ext cx="8229600" cy="41148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A 120-day-old estimate was never validated with a real quote — the agent asks for a refresh.</a:t>
            </a:r>
          </a:p>
        </p:txBody>
      </p:sp>
      <p:sp>
        <p:nvSpPr>
          <p:cNvPr id="24" name="TextBox 23"/>
          <p:cNvSpPr txBox="1"/>
          <p:nvPr/>
        </p:nvSpPr>
        <p:spPr>
          <a:xfrm>
            <a:off x="9052560" y="4507992"/>
            <a:ext cx="2606040" cy="365760"/>
          </a:xfrm>
          <a:prstGeom prst="rect">
            <a:avLst/>
          </a:prstGeom>
          <a:noFill/>
        </p:spPr>
        <p:txBody>
          <a:bodyPr wrap="square" anchor="t" lIns="0" rIns="0" tIns="0" bIns="0">
            <a:spAutoFit/>
          </a:bodyPr>
          <a:lstStyle/>
          <a:p>
            <a:pPr algn="r">
              <a:lnSpc>
                <a:spcPct val="100000"/>
              </a:lnSpc>
              <a:spcAft>
                <a:spcPts val="400"/>
              </a:spcAft>
            </a:pPr>
            <a:r>
              <a:rPr sz="1400" b="1" i="0">
                <a:solidFill>
                  <a:srgbClr val="686F7D"/>
                </a:solidFill>
                <a:latin typeface="Calibri"/>
              </a:rPr>
              <a:t>Confidence decay</a:t>
            </a:r>
          </a:p>
        </p:txBody>
      </p:sp>
      <p:sp>
        <p:nvSpPr>
          <p:cNvPr id="25" name="Rounded Rectangle 24"/>
          <p:cNvSpPr/>
          <p:nvPr/>
        </p:nvSpPr>
        <p:spPr>
          <a:xfrm>
            <a:off x="411480" y="5532120"/>
            <a:ext cx="11384280" cy="777240"/>
          </a:xfrm>
          <a:prstGeom prst="roundRect">
            <a:avLst>
              <a:gd name="adj" fmla="val 1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669280"/>
            <a:ext cx="10881360" cy="548640"/>
          </a:xfrm>
          <a:prstGeom prst="rect">
            <a:avLst/>
          </a:prstGeom>
          <a:noFill/>
        </p:spPr>
        <p:txBody>
          <a:bodyPr wrap="square" anchor="t" lIns="0" rIns="0" tIns="0" bIns="0">
            <a:spAutoFit/>
          </a:bodyPr>
          <a:lstStyle/>
          <a:p>
            <a:pPr algn="l">
              <a:lnSpc>
                <a:spcPct val="100000"/>
              </a:lnSpc>
              <a:spcAft>
                <a:spcPts val="400"/>
              </a:spcAft>
            </a:pPr>
            <a:r>
              <a:rPr sz="1300" b="0" i="0">
                <a:solidFill>
                  <a:srgbClr val="3A4356"/>
                </a:solidFill>
                <a:latin typeface="Calibri"/>
              </a:rPr>
              <a:t>Total surfaced in the demo:  </a:t>
            </a:r>
            <a:r>
              <a:rPr sz="1500" b="1" i="0">
                <a:solidFill>
                  <a:srgbClr val="B03A2E"/>
                </a:solidFill>
                <a:latin typeface="Calibri"/>
              </a:rPr>
              <a:t>≈ £512,000 / yr</a:t>
            </a:r>
            <a:r>
              <a:rPr sz="1200" b="0" i="0">
                <a:solidFill>
                  <a:srgbClr val="686F7D"/>
                </a:solidFill>
                <a:latin typeface="Calibri"/>
              </a:rPr>
              <a:t>   — every finding shows its arithmetic, and one click dismisses it once handled.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THE WIDER AI PLATFORM</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Supporting AI capabilities already in the tool</a:t>
            </a:r>
          </a:p>
        </p:txBody>
      </p:sp>
      <p:sp>
        <p:nvSpPr>
          <p:cNvPr id="9" name="Rounded Rectangle 8"/>
          <p:cNvSpPr/>
          <p:nvPr/>
        </p:nvSpPr>
        <p:spPr>
          <a:xfrm>
            <a:off x="411480" y="1920240"/>
            <a:ext cx="5577840" cy="1874519"/>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920240"/>
            <a:ext cx="82296" cy="1874519"/>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03120"/>
            <a:ext cx="5120640" cy="411480"/>
          </a:xfrm>
          <a:prstGeom prst="rect">
            <a:avLst/>
          </a:prstGeom>
          <a:noFill/>
        </p:spPr>
        <p:txBody>
          <a:bodyPr wrap="square" anchor="t" lIns="0" rIns="0" tIns="0" bIns="0">
            <a:spAutoFit/>
          </a:bodyPr>
          <a:lstStyle/>
          <a:p>
            <a:pPr algn="l">
              <a:lnSpc>
                <a:spcPct val="100000"/>
              </a:lnSpc>
              <a:spcAft>
                <a:spcPts val="400"/>
              </a:spcAft>
            </a:pPr>
            <a:r>
              <a:rPr sz="1500" b="1" i="0">
                <a:solidFill>
                  <a:srgbClr val="1D6FB8"/>
                </a:solidFill>
                <a:latin typeface="Segoe UI Emoji"/>
              </a:rPr>
              <a:t>📚</a:t>
            </a:r>
            <a:r>
              <a:rPr sz="1500" b="1" i="0">
                <a:solidFill>
                  <a:srgbClr val="1D6FB8"/>
                </a:solidFill>
                <a:latin typeface="Calibri"/>
              </a:rPr>
              <a:t>  Grounded AI assistant</a:t>
            </a:r>
          </a:p>
        </p:txBody>
      </p:sp>
      <p:sp>
        <p:nvSpPr>
          <p:cNvPr id="12" name="TextBox 11"/>
          <p:cNvSpPr txBox="1"/>
          <p:nvPr/>
        </p:nvSpPr>
        <p:spPr>
          <a:xfrm>
            <a:off x="685800" y="2578608"/>
            <a:ext cx="5074920" cy="1143000"/>
          </a:xfrm>
          <a:prstGeom prst="rect">
            <a:avLst/>
          </a:prstGeom>
          <a:noFill/>
        </p:spPr>
        <p:txBody>
          <a:bodyPr wrap="square" anchor="t" lIns="0" rIns="0" tIns="0" bIns="0">
            <a:spAutoFit/>
          </a:bodyPr>
          <a:lstStyle/>
          <a:p>
            <a:pPr algn="l">
              <a:lnSpc>
                <a:spcPct val="115000"/>
              </a:lnSpc>
              <a:spcAft>
                <a:spcPts val="400"/>
              </a:spcAft>
            </a:pPr>
            <a:r>
              <a:rPr sz="1200" b="0" i="0">
                <a:solidFill>
                  <a:srgbClr val="3A4356"/>
                </a:solidFill>
                <a:latin typeface="Calibri"/>
              </a:rPr>
              <a:t>Answers cite our actual rate library and past costings — the AI quotes our data, it doesn't improvise. Every figure is traceable.</a:t>
            </a:r>
          </a:p>
        </p:txBody>
      </p:sp>
      <p:sp>
        <p:nvSpPr>
          <p:cNvPr id="13" name="Rounded Rectangle 12"/>
          <p:cNvSpPr/>
          <p:nvPr/>
        </p:nvSpPr>
        <p:spPr>
          <a:xfrm>
            <a:off x="6217920" y="1920240"/>
            <a:ext cx="5577840" cy="1874519"/>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920240"/>
            <a:ext cx="82296" cy="1874519"/>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103120"/>
            <a:ext cx="5120640" cy="411480"/>
          </a:xfrm>
          <a:prstGeom prst="rect">
            <a:avLst/>
          </a:prstGeom>
          <a:noFill/>
        </p:spPr>
        <p:txBody>
          <a:bodyPr wrap="square" anchor="t" lIns="0" rIns="0" tIns="0" bIns="0">
            <a:spAutoFit/>
          </a:bodyPr>
          <a:lstStyle/>
          <a:p>
            <a:pPr algn="l">
              <a:lnSpc>
                <a:spcPct val="100000"/>
              </a:lnSpc>
              <a:spcAft>
                <a:spcPts val="400"/>
              </a:spcAft>
            </a:pPr>
            <a:r>
              <a:rPr sz="1500" b="1" i="0">
                <a:solidFill>
                  <a:srgbClr val="6B3FA0"/>
                </a:solidFill>
                <a:latin typeface="Segoe UI Emoji"/>
              </a:rPr>
              <a:t>📄</a:t>
            </a:r>
            <a:r>
              <a:rPr sz="1500" b="1" i="0">
                <a:solidFill>
                  <a:srgbClr val="6B3FA0"/>
                </a:solidFill>
                <a:latin typeface="Calibri"/>
              </a:rPr>
              <a:t>  RFQ analyst</a:t>
            </a:r>
          </a:p>
        </p:txBody>
      </p:sp>
      <p:sp>
        <p:nvSpPr>
          <p:cNvPr id="16" name="TextBox 15"/>
          <p:cNvSpPr txBox="1"/>
          <p:nvPr/>
        </p:nvSpPr>
        <p:spPr>
          <a:xfrm>
            <a:off x="6492240" y="2578608"/>
            <a:ext cx="5074920" cy="1143000"/>
          </a:xfrm>
          <a:prstGeom prst="rect">
            <a:avLst/>
          </a:prstGeom>
          <a:noFill/>
        </p:spPr>
        <p:txBody>
          <a:bodyPr wrap="square" anchor="t" lIns="0" rIns="0" tIns="0" bIns="0">
            <a:spAutoFit/>
          </a:bodyPr>
          <a:lstStyle/>
          <a:p>
            <a:pPr algn="l">
              <a:lnSpc>
                <a:spcPct val="115000"/>
              </a:lnSpc>
              <a:spcAft>
                <a:spcPts val="400"/>
              </a:spcAft>
            </a:pPr>
            <a:r>
              <a:rPr sz="1200" b="0" i="0">
                <a:solidFill>
                  <a:srgbClr val="3A4356"/>
                </a:solidFill>
                <a:latin typeface="Calibri"/>
              </a:rPr>
              <a:t>Drop in an RFQ package: it costs every line, flags risky prices and single-source parts, and drafts a prioritised negotiation brief.</a:t>
            </a:r>
          </a:p>
        </p:txBody>
      </p:sp>
      <p:sp>
        <p:nvSpPr>
          <p:cNvPr id="17" name="Rounded Rectangle 16"/>
          <p:cNvSpPr/>
          <p:nvPr/>
        </p:nvSpPr>
        <p:spPr>
          <a:xfrm>
            <a:off x="411480" y="4023360"/>
            <a:ext cx="5577840" cy="1874519"/>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4023360"/>
            <a:ext cx="82296" cy="1874519"/>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06240"/>
            <a:ext cx="5120640" cy="411480"/>
          </a:xfrm>
          <a:prstGeom prst="rect">
            <a:avLst/>
          </a:prstGeom>
          <a:noFill/>
        </p:spPr>
        <p:txBody>
          <a:bodyPr wrap="square" anchor="t" lIns="0" rIns="0" tIns="0" bIns="0">
            <a:spAutoFit/>
          </a:bodyPr>
          <a:lstStyle/>
          <a:p>
            <a:pPr algn="l">
              <a:lnSpc>
                <a:spcPct val="100000"/>
              </a:lnSpc>
              <a:spcAft>
                <a:spcPts val="400"/>
              </a:spcAft>
            </a:pPr>
            <a:r>
              <a:rPr sz="1500" b="1" i="0">
                <a:solidFill>
                  <a:srgbClr val="0D7D71"/>
                </a:solidFill>
                <a:latin typeface="Segoe UI Emoji"/>
              </a:rPr>
              <a:t>📐</a:t>
            </a:r>
            <a:r>
              <a:rPr sz="1500" b="1" i="0">
                <a:solidFill>
                  <a:srgbClr val="0D7D71"/>
                </a:solidFill>
                <a:latin typeface="Calibri"/>
              </a:rPr>
              <a:t>  CAD feature costing</a:t>
            </a:r>
          </a:p>
        </p:txBody>
      </p:sp>
      <p:sp>
        <p:nvSpPr>
          <p:cNvPr id="20" name="TextBox 19"/>
          <p:cNvSpPr txBox="1"/>
          <p:nvPr/>
        </p:nvSpPr>
        <p:spPr>
          <a:xfrm>
            <a:off x="685800" y="4681728"/>
            <a:ext cx="5074920" cy="1143000"/>
          </a:xfrm>
          <a:prstGeom prst="rect">
            <a:avLst/>
          </a:prstGeom>
          <a:noFill/>
        </p:spPr>
        <p:txBody>
          <a:bodyPr wrap="square" anchor="t" lIns="0" rIns="0" tIns="0" bIns="0">
            <a:spAutoFit/>
          </a:bodyPr>
          <a:lstStyle/>
          <a:p>
            <a:pPr algn="l">
              <a:lnSpc>
                <a:spcPct val="115000"/>
              </a:lnSpc>
              <a:spcAft>
                <a:spcPts val="400"/>
              </a:spcAft>
            </a:pPr>
            <a:r>
              <a:rPr sz="1200" b="0" i="0">
                <a:solidFill>
                  <a:srgbClr val="3A4356"/>
                </a:solidFill>
                <a:latin typeface="Calibri"/>
              </a:rPr>
              <a:t>Reads the 3D model and prices individual design features — holes, threads, surfaces — so designers see exactly what drives cost.</a:t>
            </a:r>
          </a:p>
        </p:txBody>
      </p:sp>
      <p:sp>
        <p:nvSpPr>
          <p:cNvPr id="21" name="Rounded Rectangle 20"/>
          <p:cNvSpPr/>
          <p:nvPr/>
        </p:nvSpPr>
        <p:spPr>
          <a:xfrm>
            <a:off x="6217920" y="4023360"/>
            <a:ext cx="5577840" cy="1874519"/>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4023360"/>
            <a:ext cx="82296" cy="1874519"/>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4206240"/>
            <a:ext cx="5120640" cy="411480"/>
          </a:xfrm>
          <a:prstGeom prst="rect">
            <a:avLst/>
          </a:prstGeom>
          <a:noFill/>
        </p:spPr>
        <p:txBody>
          <a:bodyPr wrap="square" anchor="t" lIns="0" rIns="0" tIns="0" bIns="0">
            <a:spAutoFit/>
          </a:bodyPr>
          <a:lstStyle/>
          <a:p>
            <a:pPr algn="l">
              <a:lnSpc>
                <a:spcPct val="100000"/>
              </a:lnSpc>
              <a:spcAft>
                <a:spcPts val="400"/>
              </a:spcAft>
            </a:pPr>
            <a:r>
              <a:rPr sz="1500" b="1" i="0">
                <a:solidFill>
                  <a:srgbClr val="2A7F50"/>
                </a:solidFill>
                <a:latin typeface="Segoe UI Emoji"/>
              </a:rPr>
              <a:t>🌱</a:t>
            </a:r>
            <a:r>
              <a:rPr sz="1500" b="1" i="0">
                <a:solidFill>
                  <a:srgbClr val="2A7F50"/>
                </a:solidFill>
                <a:latin typeface="Calibri"/>
              </a:rPr>
              <a:t>  Carbon co-costing</a:t>
            </a:r>
          </a:p>
        </p:txBody>
      </p:sp>
      <p:sp>
        <p:nvSpPr>
          <p:cNvPr id="24" name="TextBox 23"/>
          <p:cNvSpPr txBox="1"/>
          <p:nvPr/>
        </p:nvSpPr>
        <p:spPr>
          <a:xfrm>
            <a:off x="6492240" y="4681728"/>
            <a:ext cx="5074920" cy="1143000"/>
          </a:xfrm>
          <a:prstGeom prst="rect">
            <a:avLst/>
          </a:prstGeom>
          <a:noFill/>
        </p:spPr>
        <p:txBody>
          <a:bodyPr wrap="square" anchor="t" lIns="0" rIns="0" tIns="0" bIns="0">
            <a:spAutoFit/>
          </a:bodyPr>
          <a:lstStyle/>
          <a:p>
            <a:pPr algn="l">
              <a:lnSpc>
                <a:spcPct val="115000"/>
              </a:lnSpc>
              <a:spcAft>
                <a:spcPts val="400"/>
              </a:spcAft>
            </a:pPr>
            <a:r>
              <a:rPr sz="1200" b="0" i="0">
                <a:solidFill>
                  <a:srgbClr val="3A4356"/>
                </a:solidFill>
                <a:latin typeface="Calibri"/>
              </a:rPr>
              <a:t>Every part gets a CO₂e figure alongside the £ — increasingly demanded in automotive &amp; aerospace RFQs.</a:t>
            </a:r>
          </a:p>
        </p:txBody>
      </p:sp>
      <p:sp>
        <p:nvSpPr>
          <p:cNvPr id="25" name="TextBox 24"/>
          <p:cNvSpPr txBox="1"/>
          <p:nvPr/>
        </p:nvSpPr>
        <p:spPr>
          <a:xfrm>
            <a:off x="411480" y="6126480"/>
            <a:ext cx="11338560" cy="457200"/>
          </a:xfrm>
          <a:prstGeom prst="rect">
            <a:avLst/>
          </a:prstGeom>
          <a:noFill/>
        </p:spPr>
        <p:txBody>
          <a:bodyPr wrap="square" anchor="t" lIns="0" rIns="0" tIns="0" bIns="0">
            <a:spAutoFit/>
          </a:bodyPr>
          <a:lstStyle/>
          <a:p>
            <a:pPr algn="l">
              <a:lnSpc>
                <a:spcPct val="100000"/>
              </a:lnSpc>
              <a:spcAft>
                <a:spcPts val="400"/>
              </a:spcAft>
            </a:pPr>
            <a:r>
              <a:rPr sz="1200" b="0" i="1">
                <a:solidFill>
                  <a:srgbClr val="686F7D"/>
                </a:solidFill>
                <a:latin typeface="Calibri"/>
              </a:rPr>
              <a:t>Together with 19 commodity cost engines, CAD-to-cost, and PCB photo-to-BOM — the agentic layer sits on top of all of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INPUTS REQUIRED</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it needs from us — honestly, very little</a:t>
            </a:r>
          </a:p>
        </p:txBody>
      </p:sp>
      <p:sp>
        <p:nvSpPr>
          <p:cNvPr id="9" name="Rounded Rectangle 8"/>
          <p:cNvSpPr/>
          <p:nvPr/>
        </p:nvSpPr>
        <p:spPr>
          <a:xfrm>
            <a:off x="411480" y="1874519"/>
            <a:ext cx="5486400" cy="3931920"/>
          </a:xfrm>
          <a:prstGeom prst="roundRect">
            <a:avLst>
              <a:gd name="adj" fmla="val 5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03120"/>
            <a:ext cx="4937760" cy="365760"/>
          </a:xfrm>
          <a:prstGeom prst="rect">
            <a:avLst/>
          </a:prstGeom>
          <a:noFill/>
        </p:spPr>
        <p:txBody>
          <a:bodyPr wrap="square" anchor="t" lIns="0" rIns="0" tIns="0" bIns="0">
            <a:spAutoFit/>
          </a:bodyPr>
          <a:lstStyle/>
          <a:p>
            <a:pPr algn="l">
              <a:lnSpc>
                <a:spcPct val="100000"/>
              </a:lnSpc>
              <a:spcAft>
                <a:spcPts val="400"/>
              </a:spcAft>
            </a:pPr>
            <a:r>
              <a:rPr sz="1600" b="1" i="0">
                <a:solidFill>
                  <a:srgbClr val="1D6FB8"/>
                </a:solidFill>
                <a:latin typeface="Calibri"/>
              </a:rPr>
              <a:t>You provide</a:t>
            </a:r>
          </a:p>
        </p:txBody>
      </p:sp>
      <p:sp>
        <p:nvSpPr>
          <p:cNvPr id="11" name="TextBox 10"/>
          <p:cNvSpPr txBox="1"/>
          <p:nvPr/>
        </p:nvSpPr>
        <p:spPr>
          <a:xfrm>
            <a:off x="685800" y="2606040"/>
            <a:ext cx="4937760" cy="731520"/>
          </a:xfrm>
          <a:prstGeom prst="rect">
            <a:avLst/>
          </a:prstGeom>
          <a:noFill/>
        </p:spPr>
        <p:txBody>
          <a:bodyPr wrap="square" anchor="t" lIns="0" rIns="0" tIns="0" bIns="0">
            <a:spAutoFit/>
          </a:bodyPr>
          <a:lstStyle/>
          <a:p>
            <a:pPr algn="l">
              <a:lnSpc>
                <a:spcPct val="100000"/>
              </a:lnSpc>
              <a:spcAft>
                <a:spcPts val="200"/>
              </a:spcAft>
            </a:pPr>
            <a:r>
              <a:rPr sz="1300" b="1" i="0">
                <a:solidFill>
                  <a:srgbClr val="16325C"/>
                </a:solidFill>
                <a:latin typeface="Calibri"/>
              </a:rPr>
              <a:t>1.  Keep costing parts as normal</a:t>
            </a:r>
          </a:p>
          <a:p>
            <a:pPr algn="l">
              <a:lnSpc>
                <a:spcPct val="100000"/>
              </a:lnSpc>
              <a:spcAft>
                <a:spcPts val="200"/>
              </a:spcAft>
            </a:pPr>
            <a:r>
              <a:rPr sz="1100" b="0" i="0">
                <a:solidFill>
                  <a:srgbClr val="686F7D"/>
                </a:solidFill>
                <a:latin typeface="Calibri"/>
              </a:rPr>
              <a:t>     every analysis feeds the memory automatically</a:t>
            </a:r>
          </a:p>
        </p:txBody>
      </p:sp>
      <p:sp>
        <p:nvSpPr>
          <p:cNvPr id="12" name="TextBox 11"/>
          <p:cNvSpPr txBox="1"/>
          <p:nvPr/>
        </p:nvSpPr>
        <p:spPr>
          <a:xfrm>
            <a:off x="685800" y="3383280"/>
            <a:ext cx="4937760" cy="731520"/>
          </a:xfrm>
          <a:prstGeom prst="rect">
            <a:avLst/>
          </a:prstGeom>
          <a:noFill/>
        </p:spPr>
        <p:txBody>
          <a:bodyPr wrap="square" anchor="t" lIns="0" rIns="0" tIns="0" bIns="0">
            <a:spAutoFit/>
          </a:bodyPr>
          <a:lstStyle/>
          <a:p>
            <a:pPr algn="l">
              <a:lnSpc>
                <a:spcPct val="100000"/>
              </a:lnSpc>
              <a:spcAft>
                <a:spcPts val="200"/>
              </a:spcAft>
            </a:pPr>
            <a:r>
              <a:rPr sz="1300" b="1" i="0">
                <a:solidFill>
                  <a:srgbClr val="16325C"/>
                </a:solidFill>
                <a:latin typeface="Calibri"/>
              </a:rPr>
              <a:t>2.  One click when a real quote arrives</a:t>
            </a:r>
          </a:p>
          <a:p>
            <a:pPr algn="l">
              <a:lnSpc>
                <a:spcPct val="100000"/>
              </a:lnSpc>
              <a:spcAft>
                <a:spcPts val="200"/>
              </a:spcAft>
            </a:pPr>
            <a:r>
              <a:rPr sz="1100" b="0" i="0">
                <a:solidFill>
                  <a:srgbClr val="686F7D"/>
                </a:solidFill>
                <a:latin typeface="Calibri"/>
              </a:rPr>
              <a:t>     "Log Actual £" — this is the learning fuel</a:t>
            </a:r>
          </a:p>
        </p:txBody>
      </p:sp>
      <p:sp>
        <p:nvSpPr>
          <p:cNvPr id="13" name="TextBox 12"/>
          <p:cNvSpPr txBox="1"/>
          <p:nvPr/>
        </p:nvSpPr>
        <p:spPr>
          <a:xfrm>
            <a:off x="685800" y="4160520"/>
            <a:ext cx="4937760" cy="731520"/>
          </a:xfrm>
          <a:prstGeom prst="rect">
            <a:avLst/>
          </a:prstGeom>
          <a:noFill/>
        </p:spPr>
        <p:txBody>
          <a:bodyPr wrap="square" anchor="t" lIns="0" rIns="0" tIns="0" bIns="0">
            <a:spAutoFit/>
          </a:bodyPr>
          <a:lstStyle/>
          <a:p>
            <a:pPr algn="l">
              <a:lnSpc>
                <a:spcPct val="100000"/>
              </a:lnSpc>
              <a:spcAft>
                <a:spcPts val="200"/>
              </a:spcAft>
            </a:pPr>
            <a:r>
              <a:rPr sz="1300" b="1" i="0">
                <a:solidFill>
                  <a:srgbClr val="16325C"/>
                </a:solidFill>
                <a:latin typeface="Calibri"/>
              </a:rPr>
              <a:t>3.  Optional: CAD file or BOM</a:t>
            </a:r>
          </a:p>
          <a:p>
            <a:pPr algn="l">
              <a:lnSpc>
                <a:spcPct val="100000"/>
              </a:lnSpc>
              <a:spcAft>
                <a:spcPts val="200"/>
              </a:spcAft>
            </a:pPr>
            <a:r>
              <a:rPr sz="1100" b="0" i="0">
                <a:solidFill>
                  <a:srgbClr val="686F7D"/>
                </a:solidFill>
                <a:latin typeface="Calibri"/>
              </a:rPr>
              <a:t>     sharper matching and better auto-fill</a:t>
            </a:r>
          </a:p>
        </p:txBody>
      </p:sp>
      <p:sp>
        <p:nvSpPr>
          <p:cNvPr id="14" name="TextBox 13"/>
          <p:cNvSpPr txBox="1"/>
          <p:nvPr/>
        </p:nvSpPr>
        <p:spPr>
          <a:xfrm>
            <a:off x="685800" y="4937760"/>
            <a:ext cx="4937760" cy="731520"/>
          </a:xfrm>
          <a:prstGeom prst="rect">
            <a:avLst/>
          </a:prstGeom>
          <a:noFill/>
        </p:spPr>
        <p:txBody>
          <a:bodyPr wrap="square" anchor="t" lIns="0" rIns="0" tIns="0" bIns="0">
            <a:spAutoFit/>
          </a:bodyPr>
          <a:lstStyle/>
          <a:p>
            <a:pPr algn="l">
              <a:lnSpc>
                <a:spcPct val="100000"/>
              </a:lnSpc>
              <a:spcAft>
                <a:spcPts val="200"/>
              </a:spcAft>
            </a:pPr>
            <a:r>
              <a:rPr sz="1300" b="1" i="0">
                <a:solidFill>
                  <a:srgbClr val="16325C"/>
                </a:solidFill>
                <a:latin typeface="Calibri"/>
              </a:rPr>
              <a:t>4.  Optional: historic quotes (CSV)</a:t>
            </a:r>
          </a:p>
          <a:p>
            <a:pPr algn="l">
              <a:lnSpc>
                <a:spcPct val="100000"/>
              </a:lnSpc>
              <a:spcAft>
                <a:spcPts val="200"/>
              </a:spcAft>
            </a:pPr>
            <a:r>
              <a:rPr sz="1100" b="0" i="0">
                <a:solidFill>
                  <a:srgbClr val="686F7D"/>
                </a:solidFill>
                <a:latin typeface="Calibri"/>
              </a:rPr>
              <a:t>     seeds the memory so it starts smart, not empty</a:t>
            </a:r>
          </a:p>
        </p:txBody>
      </p:sp>
      <p:sp>
        <p:nvSpPr>
          <p:cNvPr id="15" name="Rounded Rectangle 14"/>
          <p:cNvSpPr/>
          <p:nvPr/>
        </p:nvSpPr>
        <p:spPr>
          <a:xfrm>
            <a:off x="6263640" y="1874519"/>
            <a:ext cx="5532120" cy="3931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103120"/>
            <a:ext cx="4937760" cy="365760"/>
          </a:xfrm>
          <a:prstGeom prst="rect">
            <a:avLst/>
          </a:prstGeom>
          <a:noFill/>
        </p:spPr>
        <p:txBody>
          <a:bodyPr wrap="square" anchor="t" lIns="0" rIns="0" tIns="0" bIns="0">
            <a:spAutoFit/>
          </a:bodyPr>
          <a:lstStyle/>
          <a:p>
            <a:pPr algn="l">
              <a:lnSpc>
                <a:spcPct val="100000"/>
              </a:lnSpc>
              <a:spcAft>
                <a:spcPts val="400"/>
              </a:spcAft>
            </a:pPr>
            <a:r>
              <a:rPr sz="1600" b="1" i="0">
                <a:solidFill>
                  <a:srgbClr val="2A7F50"/>
                </a:solidFill>
                <a:latin typeface="Calibri"/>
              </a:rPr>
              <a:t>The tool does</a:t>
            </a:r>
          </a:p>
        </p:txBody>
      </p:sp>
      <p:sp>
        <p:nvSpPr>
          <p:cNvPr id="17" name="TextBox 16"/>
          <p:cNvSpPr txBox="1"/>
          <p:nvPr/>
        </p:nvSpPr>
        <p:spPr>
          <a:xfrm>
            <a:off x="6537960" y="2606040"/>
            <a:ext cx="5029200" cy="457200"/>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  </a:t>
            </a:r>
            <a:r>
              <a:rPr sz="1250" b="0" i="0">
                <a:solidFill>
                  <a:srgbClr val="3A4356"/>
                </a:solidFill>
                <a:latin typeface="Calibri"/>
              </a:rPr>
              <a:t>Remembers every analysis (no duplicates, org-wide)</a:t>
            </a:r>
          </a:p>
        </p:txBody>
      </p:sp>
      <p:sp>
        <p:nvSpPr>
          <p:cNvPr id="18" name="TextBox 17"/>
          <p:cNvSpPr txBox="1"/>
          <p:nvPr/>
        </p:nvSpPr>
        <p:spPr>
          <a:xfrm>
            <a:off x="6537960" y="3127248"/>
            <a:ext cx="5029200" cy="457200"/>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  </a:t>
            </a:r>
            <a:r>
              <a:rPr sz="1250" b="0" i="0">
                <a:solidFill>
                  <a:srgbClr val="3A4356"/>
                </a:solidFill>
                <a:latin typeface="Calibri"/>
              </a:rPr>
              <a:t>Finds &amp; explains similar past parts instantly</a:t>
            </a:r>
          </a:p>
        </p:txBody>
      </p:sp>
      <p:sp>
        <p:nvSpPr>
          <p:cNvPr id="19" name="TextBox 18"/>
          <p:cNvSpPr txBox="1"/>
          <p:nvPr/>
        </p:nvSpPr>
        <p:spPr>
          <a:xfrm>
            <a:off x="6537960" y="3648456"/>
            <a:ext cx="5029200" cy="457200"/>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  </a:t>
            </a:r>
            <a:r>
              <a:rPr sz="1250" b="0" i="0">
                <a:solidFill>
                  <a:srgbClr val="3A4356"/>
                </a:solidFill>
                <a:latin typeface="Calibri"/>
              </a:rPr>
              <a:t>Suggests benchmarks, materials and real prices</a:t>
            </a:r>
          </a:p>
        </p:txBody>
      </p:sp>
      <p:sp>
        <p:nvSpPr>
          <p:cNvPr id="20" name="TextBox 19"/>
          <p:cNvSpPr txBox="1"/>
          <p:nvPr/>
        </p:nvSpPr>
        <p:spPr>
          <a:xfrm>
            <a:off x="6537960" y="4169664"/>
            <a:ext cx="5029200" cy="457200"/>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  </a:t>
            </a:r>
            <a:r>
              <a:rPr sz="1250" b="0" i="0">
                <a:solidFill>
                  <a:srgbClr val="3A4356"/>
                </a:solidFill>
                <a:latin typeface="Calibri"/>
              </a:rPr>
              <a:t>Measures its own error and self-corrects per category</a:t>
            </a:r>
          </a:p>
        </p:txBody>
      </p:sp>
      <p:sp>
        <p:nvSpPr>
          <p:cNvPr id="21" name="TextBox 20"/>
          <p:cNvSpPr txBox="1"/>
          <p:nvPr/>
        </p:nvSpPr>
        <p:spPr>
          <a:xfrm>
            <a:off x="6537960" y="4690872"/>
            <a:ext cx="5029200" cy="457200"/>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  </a:t>
            </a:r>
            <a:r>
              <a:rPr sz="1250" b="0" i="0">
                <a:solidFill>
                  <a:srgbClr val="3A4356"/>
                </a:solidFill>
                <a:latin typeface="Calibri"/>
              </a:rPr>
              <a:t>Tightens confidence ranges as evidence grows</a:t>
            </a:r>
          </a:p>
        </p:txBody>
      </p:sp>
      <p:sp>
        <p:nvSpPr>
          <p:cNvPr id="22" name="TextBox 21"/>
          <p:cNvSpPr txBox="1"/>
          <p:nvPr/>
        </p:nvSpPr>
        <p:spPr>
          <a:xfrm>
            <a:off x="6537960" y="5212079"/>
            <a:ext cx="5029200" cy="457200"/>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  </a:t>
            </a:r>
            <a:r>
              <a:rPr sz="1250" b="0" i="0">
                <a:solidFill>
                  <a:srgbClr val="3A4356"/>
                </a:solidFill>
                <a:latin typeface="Calibri"/>
              </a:rPr>
              <a:t>Monitors all parts in the background &amp; raises findings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EVIDENCE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Results &amp; accuracy — measured, not promised</a:t>
            </a:r>
          </a:p>
        </p:txBody>
      </p:sp>
      <p:sp>
        <p:nvSpPr>
          <p:cNvPr id="9" name="Rounded Rectangle 8"/>
          <p:cNvSpPr/>
          <p:nvPr/>
        </p:nvSpPr>
        <p:spPr>
          <a:xfrm>
            <a:off x="411480" y="1920240"/>
            <a:ext cx="11384280"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20824"/>
            <a:ext cx="7498079" cy="365760"/>
          </a:xfrm>
          <a:prstGeom prst="rect">
            <a:avLst/>
          </a:prstGeom>
          <a:noFill/>
        </p:spPr>
        <p:txBody>
          <a:bodyPr wrap="square" anchor="t" lIns="0" rIns="0" tIns="0" bIns="0">
            <a:spAutoFit/>
          </a:bodyPr>
          <a:lstStyle/>
          <a:p>
            <a:pPr algn="l">
              <a:lnSpc>
                <a:spcPct val="100000"/>
              </a:lnSpc>
              <a:spcAft>
                <a:spcPts val="400"/>
              </a:spcAft>
            </a:pPr>
            <a:r>
              <a:rPr sz="1300" b="0" i="0">
                <a:solidFill>
                  <a:srgbClr val="3A4356"/>
                </a:solidFill>
                <a:latin typeface="Calibri"/>
              </a:rPr>
              <a:t>Estimating error after learning (machining segment)</a:t>
            </a:r>
          </a:p>
        </p:txBody>
      </p:sp>
      <p:sp>
        <p:nvSpPr>
          <p:cNvPr id="11" name="TextBox 10"/>
          <p:cNvSpPr txBox="1"/>
          <p:nvPr/>
        </p:nvSpPr>
        <p:spPr>
          <a:xfrm>
            <a:off x="7863840" y="2002536"/>
            <a:ext cx="3749039" cy="384048"/>
          </a:xfrm>
          <a:prstGeom prst="rect">
            <a:avLst/>
          </a:prstGeom>
          <a:noFill/>
        </p:spPr>
        <p:txBody>
          <a:bodyPr wrap="square" anchor="t" lIns="0" rIns="0" tIns="0" bIns="0">
            <a:spAutoFit/>
          </a:bodyPr>
          <a:lstStyle/>
          <a:p>
            <a:pPr algn="r">
              <a:lnSpc>
                <a:spcPct val="100000"/>
              </a:lnSpc>
              <a:spcAft>
                <a:spcPts val="400"/>
              </a:spcAft>
            </a:pPr>
            <a:r>
              <a:rPr sz="1400" b="1" i="0">
                <a:solidFill>
                  <a:srgbClr val="2A7F50"/>
                </a:solidFill>
                <a:latin typeface="Calibri"/>
              </a:rPr>
              <a:t>10.9%  →  0.3%</a:t>
            </a:r>
          </a:p>
        </p:txBody>
      </p:sp>
      <p:sp>
        <p:nvSpPr>
          <p:cNvPr id="12" name="Rounded Rectangle 11"/>
          <p:cNvSpPr/>
          <p:nvPr/>
        </p:nvSpPr>
        <p:spPr>
          <a:xfrm>
            <a:off x="411480" y="2578608"/>
            <a:ext cx="11384280" cy="548640"/>
          </a:xfrm>
          <a:prstGeom prst="roundRect">
            <a:avLst>
              <a:gd name="adj" fmla="val 15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679192"/>
            <a:ext cx="7498079" cy="365760"/>
          </a:xfrm>
          <a:prstGeom prst="rect">
            <a:avLst/>
          </a:prstGeom>
          <a:noFill/>
        </p:spPr>
        <p:txBody>
          <a:bodyPr wrap="square" anchor="t" lIns="0" rIns="0" tIns="0" bIns="0">
            <a:spAutoFit/>
          </a:bodyPr>
          <a:lstStyle/>
          <a:p>
            <a:pPr algn="l">
              <a:lnSpc>
                <a:spcPct val="100000"/>
              </a:lnSpc>
              <a:spcAft>
                <a:spcPts val="400"/>
              </a:spcAft>
            </a:pPr>
            <a:r>
              <a:rPr sz="1300" b="0" i="0">
                <a:solidFill>
                  <a:srgbClr val="3A4356"/>
                </a:solidFill>
                <a:latin typeface="Calibri"/>
              </a:rPr>
              <a:t>Estimating error after learning (casting · China)</a:t>
            </a:r>
          </a:p>
        </p:txBody>
      </p:sp>
      <p:sp>
        <p:nvSpPr>
          <p:cNvPr id="14" name="TextBox 13"/>
          <p:cNvSpPr txBox="1"/>
          <p:nvPr/>
        </p:nvSpPr>
        <p:spPr>
          <a:xfrm>
            <a:off x="7863840" y="2660904"/>
            <a:ext cx="3749039" cy="384048"/>
          </a:xfrm>
          <a:prstGeom prst="rect">
            <a:avLst/>
          </a:prstGeom>
          <a:noFill/>
        </p:spPr>
        <p:txBody>
          <a:bodyPr wrap="square" anchor="t" lIns="0" rIns="0" tIns="0" bIns="0">
            <a:spAutoFit/>
          </a:bodyPr>
          <a:lstStyle/>
          <a:p>
            <a:pPr algn="r">
              <a:lnSpc>
                <a:spcPct val="100000"/>
              </a:lnSpc>
              <a:spcAft>
                <a:spcPts val="400"/>
              </a:spcAft>
            </a:pPr>
            <a:r>
              <a:rPr sz="1400" b="1" i="0">
                <a:solidFill>
                  <a:srgbClr val="2A7F50"/>
                </a:solidFill>
                <a:latin typeface="Calibri"/>
              </a:rPr>
              <a:t>8.7%  →  0.6%</a:t>
            </a:r>
          </a:p>
        </p:txBody>
      </p:sp>
      <p:sp>
        <p:nvSpPr>
          <p:cNvPr id="15" name="Rounded Rectangle 14"/>
          <p:cNvSpPr/>
          <p:nvPr/>
        </p:nvSpPr>
        <p:spPr>
          <a:xfrm>
            <a:off x="411480" y="3236976"/>
            <a:ext cx="11384280"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37560"/>
            <a:ext cx="7498079" cy="365760"/>
          </a:xfrm>
          <a:prstGeom prst="rect">
            <a:avLst/>
          </a:prstGeom>
          <a:noFill/>
        </p:spPr>
        <p:txBody>
          <a:bodyPr wrap="square" anchor="t" lIns="0" rIns="0" tIns="0" bIns="0">
            <a:spAutoFit/>
          </a:bodyPr>
          <a:lstStyle/>
          <a:p>
            <a:pPr algn="l">
              <a:lnSpc>
                <a:spcPct val="100000"/>
              </a:lnSpc>
              <a:spcAft>
                <a:spcPts val="400"/>
              </a:spcAft>
            </a:pPr>
            <a:r>
              <a:rPr sz="1300" b="0" i="0">
                <a:solidFill>
                  <a:srgbClr val="3A4356"/>
                </a:solidFill>
                <a:latin typeface="Calibri"/>
              </a:rPr>
              <a:t>Confidence band on the same part</a:t>
            </a:r>
          </a:p>
        </p:txBody>
      </p:sp>
      <p:sp>
        <p:nvSpPr>
          <p:cNvPr id="17" name="TextBox 16"/>
          <p:cNvSpPr txBox="1"/>
          <p:nvPr/>
        </p:nvSpPr>
        <p:spPr>
          <a:xfrm>
            <a:off x="7863840" y="3319272"/>
            <a:ext cx="3749039" cy="384048"/>
          </a:xfrm>
          <a:prstGeom prst="rect">
            <a:avLst/>
          </a:prstGeom>
          <a:noFill/>
        </p:spPr>
        <p:txBody>
          <a:bodyPr wrap="square" anchor="t" lIns="0" rIns="0" tIns="0" bIns="0">
            <a:spAutoFit/>
          </a:bodyPr>
          <a:lstStyle/>
          <a:p>
            <a:pPr algn="r">
              <a:lnSpc>
                <a:spcPct val="100000"/>
              </a:lnSpc>
              <a:spcAft>
                <a:spcPts val="400"/>
              </a:spcAft>
            </a:pPr>
            <a:r>
              <a:rPr sz="1400" b="1" i="0">
                <a:solidFill>
                  <a:srgbClr val="2A7F50"/>
                </a:solidFill>
                <a:latin typeface="Calibri"/>
              </a:rPr>
              <a:t>±20.4%  →  ±2.8%</a:t>
            </a:r>
          </a:p>
        </p:txBody>
      </p:sp>
      <p:sp>
        <p:nvSpPr>
          <p:cNvPr id="18" name="Rounded Rectangle 17"/>
          <p:cNvSpPr/>
          <p:nvPr/>
        </p:nvSpPr>
        <p:spPr>
          <a:xfrm>
            <a:off x="411480" y="3895344"/>
            <a:ext cx="11384280" cy="548640"/>
          </a:xfrm>
          <a:prstGeom prst="roundRect">
            <a:avLst>
              <a:gd name="adj" fmla="val 15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995928"/>
            <a:ext cx="7498079" cy="365760"/>
          </a:xfrm>
          <a:prstGeom prst="rect">
            <a:avLst/>
          </a:prstGeom>
          <a:noFill/>
        </p:spPr>
        <p:txBody>
          <a:bodyPr wrap="square" anchor="t" lIns="0" rIns="0" tIns="0" bIns="0">
            <a:spAutoFit/>
          </a:bodyPr>
          <a:lstStyle/>
          <a:p>
            <a:pPr algn="l">
              <a:lnSpc>
                <a:spcPct val="100000"/>
              </a:lnSpc>
              <a:spcAft>
                <a:spcPts val="400"/>
              </a:spcAft>
            </a:pPr>
            <a:r>
              <a:rPr sz="1300" b="0" i="0">
                <a:solidFill>
                  <a:srgbClr val="3A4356"/>
                </a:solidFill>
                <a:latin typeface="Calibri"/>
              </a:rPr>
              <a:t>Similar-part recognition on live example</a:t>
            </a:r>
          </a:p>
        </p:txBody>
      </p:sp>
      <p:sp>
        <p:nvSpPr>
          <p:cNvPr id="20" name="TextBox 19"/>
          <p:cNvSpPr txBox="1"/>
          <p:nvPr/>
        </p:nvSpPr>
        <p:spPr>
          <a:xfrm>
            <a:off x="7863840" y="3977640"/>
            <a:ext cx="3749039" cy="384048"/>
          </a:xfrm>
          <a:prstGeom prst="rect">
            <a:avLst/>
          </a:prstGeom>
          <a:noFill/>
        </p:spPr>
        <p:txBody>
          <a:bodyPr wrap="square" anchor="t" lIns="0" rIns="0" tIns="0" bIns="0">
            <a:spAutoFit/>
          </a:bodyPr>
          <a:lstStyle/>
          <a:p>
            <a:pPr algn="r">
              <a:lnSpc>
                <a:spcPct val="100000"/>
              </a:lnSpc>
              <a:spcAft>
                <a:spcPts val="400"/>
              </a:spcAft>
            </a:pPr>
            <a:r>
              <a:rPr sz="1400" b="1" i="0">
                <a:solidFill>
                  <a:srgbClr val="0D7D71"/>
                </a:solidFill>
                <a:latin typeface="Calibri"/>
              </a:rPr>
              <a:t>98–99% match, reasons shown</a:t>
            </a:r>
          </a:p>
        </p:txBody>
      </p:sp>
      <p:sp>
        <p:nvSpPr>
          <p:cNvPr id="21" name="Rounded Rectangle 20"/>
          <p:cNvSpPr/>
          <p:nvPr/>
        </p:nvSpPr>
        <p:spPr>
          <a:xfrm>
            <a:off x="411480" y="4553712"/>
            <a:ext cx="11384280"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654296"/>
            <a:ext cx="7498079" cy="365760"/>
          </a:xfrm>
          <a:prstGeom prst="rect">
            <a:avLst/>
          </a:prstGeom>
          <a:noFill/>
        </p:spPr>
        <p:txBody>
          <a:bodyPr wrap="square" anchor="t" lIns="0" rIns="0" tIns="0" bIns="0">
            <a:spAutoFit/>
          </a:bodyPr>
          <a:lstStyle/>
          <a:p>
            <a:pPr algn="l">
              <a:lnSpc>
                <a:spcPct val="100000"/>
              </a:lnSpc>
              <a:spcAft>
                <a:spcPts val="400"/>
              </a:spcAft>
            </a:pPr>
            <a:r>
              <a:rPr sz="1300" b="0" i="0">
                <a:solidFill>
                  <a:srgbClr val="3A4356"/>
                </a:solidFill>
                <a:latin typeface="Calibri"/>
              </a:rPr>
              <a:t>Autonomous findings in unattended demo</a:t>
            </a:r>
          </a:p>
        </p:txBody>
      </p:sp>
      <p:sp>
        <p:nvSpPr>
          <p:cNvPr id="23" name="TextBox 22"/>
          <p:cNvSpPr txBox="1"/>
          <p:nvPr/>
        </p:nvSpPr>
        <p:spPr>
          <a:xfrm>
            <a:off x="7863840" y="4636008"/>
            <a:ext cx="3749039" cy="384048"/>
          </a:xfrm>
          <a:prstGeom prst="rect">
            <a:avLst/>
          </a:prstGeom>
          <a:noFill/>
        </p:spPr>
        <p:txBody>
          <a:bodyPr wrap="square" anchor="t" lIns="0" rIns="0" tIns="0" bIns="0">
            <a:spAutoFit/>
          </a:bodyPr>
          <a:lstStyle/>
          <a:p>
            <a:pPr algn="r">
              <a:lnSpc>
                <a:spcPct val="100000"/>
              </a:lnSpc>
              <a:spcAft>
                <a:spcPts val="400"/>
              </a:spcAft>
            </a:pPr>
            <a:r>
              <a:rPr sz="1400" b="1" i="0">
                <a:solidFill>
                  <a:srgbClr val="B03A2E"/>
                </a:solidFill>
                <a:latin typeface="Calibri"/>
              </a:rPr>
              <a:t>£512,000 / yr surfaced</a:t>
            </a:r>
          </a:p>
        </p:txBody>
      </p:sp>
      <p:sp>
        <p:nvSpPr>
          <p:cNvPr id="24" name="Rounded Rectangle 23"/>
          <p:cNvSpPr/>
          <p:nvPr/>
        </p:nvSpPr>
        <p:spPr>
          <a:xfrm>
            <a:off x="411480" y="5212079"/>
            <a:ext cx="11384280" cy="548640"/>
          </a:xfrm>
          <a:prstGeom prst="roundRect">
            <a:avLst>
              <a:gd name="adj" fmla="val 15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312663"/>
            <a:ext cx="7498079" cy="365760"/>
          </a:xfrm>
          <a:prstGeom prst="rect">
            <a:avLst/>
          </a:prstGeom>
          <a:noFill/>
        </p:spPr>
        <p:txBody>
          <a:bodyPr wrap="square" anchor="t" lIns="0" rIns="0" tIns="0" bIns="0">
            <a:spAutoFit/>
          </a:bodyPr>
          <a:lstStyle/>
          <a:p>
            <a:pPr algn="l">
              <a:lnSpc>
                <a:spcPct val="100000"/>
              </a:lnSpc>
              <a:spcAft>
                <a:spcPts val="400"/>
              </a:spcAft>
            </a:pPr>
            <a:r>
              <a:rPr sz="1300" b="0" i="0">
                <a:solidFill>
                  <a:srgbClr val="3A4356"/>
                </a:solidFill>
                <a:latin typeface="Calibri"/>
              </a:rPr>
              <a:t>Automated tests protecting all of this</a:t>
            </a:r>
          </a:p>
        </p:txBody>
      </p:sp>
      <p:sp>
        <p:nvSpPr>
          <p:cNvPr id="26" name="TextBox 25"/>
          <p:cNvSpPr txBox="1"/>
          <p:nvPr/>
        </p:nvSpPr>
        <p:spPr>
          <a:xfrm>
            <a:off x="7863840" y="5294375"/>
            <a:ext cx="3749039" cy="384048"/>
          </a:xfrm>
          <a:prstGeom prst="rect">
            <a:avLst/>
          </a:prstGeom>
          <a:noFill/>
        </p:spPr>
        <p:txBody>
          <a:bodyPr wrap="square" anchor="t" lIns="0" rIns="0" tIns="0" bIns="0">
            <a:spAutoFit/>
          </a:bodyPr>
          <a:lstStyle/>
          <a:p>
            <a:pPr algn="r">
              <a:lnSpc>
                <a:spcPct val="100000"/>
              </a:lnSpc>
              <a:spcAft>
                <a:spcPts val="400"/>
              </a:spcAft>
            </a:pPr>
            <a:r>
              <a:rPr sz="1400" b="1" i="0">
                <a:solidFill>
                  <a:srgbClr val="6B3FA0"/>
                </a:solidFill>
                <a:latin typeface="Calibri"/>
              </a:rPr>
              <a:t>1,777 passing (77 suites)</a:t>
            </a:r>
          </a:p>
        </p:txBody>
      </p:sp>
      <p:sp>
        <p:nvSpPr>
          <p:cNvPr id="27" name="Rounded Rectangle 26"/>
          <p:cNvSpPr/>
          <p:nvPr/>
        </p:nvSpPr>
        <p:spPr>
          <a:xfrm>
            <a:off x="411480" y="5943600"/>
            <a:ext cx="11384280" cy="658368"/>
          </a:xfrm>
          <a:prstGeom prst="roundRect">
            <a:avLst>
              <a:gd name="adj" fmla="val 1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6053328"/>
            <a:ext cx="10881360" cy="457200"/>
          </a:xfrm>
          <a:prstGeom prst="rect">
            <a:avLst/>
          </a:prstGeom>
          <a:noFill/>
        </p:spPr>
        <p:txBody>
          <a:bodyPr wrap="square" anchor="t" lIns="0" rIns="0" tIns="0" bIns="0">
            <a:spAutoFit/>
          </a:bodyPr>
          <a:lstStyle/>
          <a:p>
            <a:pPr algn="l">
              <a:lnSpc>
                <a:spcPct val="100000"/>
              </a:lnSpc>
              <a:spcAft>
                <a:spcPts val="400"/>
              </a:spcAft>
            </a:pPr>
            <a:r>
              <a:rPr sz="1200" b="1" i="0">
                <a:solidFill>
                  <a:srgbClr val="16325C"/>
                </a:solidFill>
                <a:latin typeface="Calibri"/>
              </a:rPr>
              <a:t>How we verified: </a:t>
            </a:r>
            <a:r>
              <a:rPr sz="1200" b="0" i="0">
                <a:solidFill>
                  <a:srgbClr val="3A4356"/>
                </a:solidFill>
                <a:latin typeface="Calibri"/>
              </a:rPr>
              <a:t>every number above comes from running the real system end-to-end — live server, real database, real API calls — not from slides or simulations.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BENEFITS</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this means for the business</a:t>
            </a:r>
          </a:p>
        </p:txBody>
      </p:sp>
      <p:sp>
        <p:nvSpPr>
          <p:cNvPr id="9" name="Rounded Rectangle 8"/>
          <p:cNvSpPr/>
          <p:nvPr/>
        </p:nvSpPr>
        <p:spPr>
          <a:xfrm>
            <a:off x="411480" y="1874519"/>
            <a:ext cx="5577840" cy="18288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74519"/>
            <a:ext cx="82296" cy="18288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39111"/>
            <a:ext cx="5029200" cy="457200"/>
          </a:xfrm>
          <a:prstGeom prst="rect">
            <a:avLst/>
          </a:prstGeom>
          <a:noFill/>
        </p:spPr>
        <p:txBody>
          <a:bodyPr wrap="square" anchor="t" lIns="0" rIns="0" tIns="0" bIns="0">
            <a:spAutoFit/>
          </a:bodyPr>
          <a:lstStyle/>
          <a:p>
            <a:pPr algn="l">
              <a:lnSpc>
                <a:spcPct val="100000"/>
              </a:lnSpc>
              <a:spcAft>
                <a:spcPts val="400"/>
              </a:spcAft>
            </a:pPr>
            <a:r>
              <a:rPr sz="1800" b="0" i="0">
                <a:solidFill>
                  <a:srgbClr val="1D6FB8"/>
                </a:solidFill>
                <a:latin typeface="Segoe UI Emoji"/>
              </a:rPr>
              <a:t>⚡</a:t>
            </a:r>
            <a:r>
              <a:rPr sz="1800" b="0" i="0">
                <a:solidFill>
                  <a:srgbClr val="1D6FB8"/>
                </a:solidFill>
                <a:latin typeface="Calibri"/>
              </a:rPr>
              <a:t>  </a:t>
            </a:r>
            <a:r>
              <a:rPr sz="1600" b="1" i="0">
                <a:solidFill>
                  <a:srgbClr val="1D6FB8"/>
                </a:solidFill>
                <a:latin typeface="Calibri"/>
              </a:rPr>
              <a:t>Faster costing</a:t>
            </a:r>
          </a:p>
        </p:txBody>
      </p:sp>
      <p:sp>
        <p:nvSpPr>
          <p:cNvPr id="12" name="TextBox 11"/>
          <p:cNvSpPr txBox="1"/>
          <p:nvPr/>
        </p:nvSpPr>
        <p:spPr>
          <a:xfrm>
            <a:off x="685800" y="2560319"/>
            <a:ext cx="5074920" cy="1051560"/>
          </a:xfrm>
          <a:prstGeom prst="rect">
            <a:avLst/>
          </a:prstGeom>
          <a:noFill/>
        </p:spPr>
        <p:txBody>
          <a:bodyPr wrap="square" anchor="t" lIns="0" rIns="0" tIns="0" bIns="0">
            <a:spAutoFit/>
          </a:bodyPr>
          <a:lstStyle/>
          <a:p>
            <a:pPr algn="l">
              <a:lnSpc>
                <a:spcPct val="118000"/>
              </a:lnSpc>
              <a:spcAft>
                <a:spcPts val="400"/>
              </a:spcAft>
            </a:pPr>
            <a:r>
              <a:rPr sz="1200" b="0" i="0">
                <a:solidFill>
                  <a:srgbClr val="3A4356"/>
                </a:solidFill>
                <a:latin typeface="Calibri"/>
              </a:rPr>
              <a:t>New parts start from proven history instead of a blank sheet — matches, materials and benchmarks appear instantly.</a:t>
            </a:r>
          </a:p>
        </p:txBody>
      </p:sp>
      <p:sp>
        <p:nvSpPr>
          <p:cNvPr id="13" name="Rounded Rectangle 12"/>
          <p:cNvSpPr/>
          <p:nvPr/>
        </p:nvSpPr>
        <p:spPr>
          <a:xfrm>
            <a:off x="6217920" y="1874519"/>
            <a:ext cx="5577840" cy="18288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874519"/>
            <a:ext cx="82296" cy="182880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039111"/>
            <a:ext cx="5029200" cy="457200"/>
          </a:xfrm>
          <a:prstGeom prst="rect">
            <a:avLst/>
          </a:prstGeom>
          <a:noFill/>
        </p:spPr>
        <p:txBody>
          <a:bodyPr wrap="square" anchor="t" lIns="0" rIns="0" tIns="0" bIns="0">
            <a:spAutoFit/>
          </a:bodyPr>
          <a:lstStyle/>
          <a:p>
            <a:pPr algn="l">
              <a:lnSpc>
                <a:spcPct val="100000"/>
              </a:lnSpc>
              <a:spcAft>
                <a:spcPts val="400"/>
              </a:spcAft>
            </a:pPr>
            <a:r>
              <a:rPr sz="1800" b="0" i="0">
                <a:solidFill>
                  <a:srgbClr val="2A7F50"/>
                </a:solidFill>
                <a:latin typeface="Segoe UI Emoji"/>
              </a:rPr>
              <a:t>🎯</a:t>
            </a:r>
            <a:r>
              <a:rPr sz="1800" b="0" i="0">
                <a:solidFill>
                  <a:srgbClr val="2A7F50"/>
                </a:solidFill>
                <a:latin typeface="Calibri"/>
              </a:rPr>
              <a:t>  </a:t>
            </a:r>
            <a:r>
              <a:rPr sz="1600" b="1" i="0">
                <a:solidFill>
                  <a:srgbClr val="2A7F50"/>
                </a:solidFill>
                <a:latin typeface="Calibri"/>
              </a:rPr>
              <a:t>Accuracy that compounds</a:t>
            </a:r>
          </a:p>
        </p:txBody>
      </p:sp>
      <p:sp>
        <p:nvSpPr>
          <p:cNvPr id="16" name="TextBox 15"/>
          <p:cNvSpPr txBox="1"/>
          <p:nvPr/>
        </p:nvSpPr>
        <p:spPr>
          <a:xfrm>
            <a:off x="6492240" y="2560319"/>
            <a:ext cx="5074920" cy="1051560"/>
          </a:xfrm>
          <a:prstGeom prst="rect">
            <a:avLst/>
          </a:prstGeom>
          <a:noFill/>
        </p:spPr>
        <p:txBody>
          <a:bodyPr wrap="square" anchor="t" lIns="0" rIns="0" tIns="0" bIns="0">
            <a:spAutoFit/>
          </a:bodyPr>
          <a:lstStyle/>
          <a:p>
            <a:pPr algn="l">
              <a:lnSpc>
                <a:spcPct val="118000"/>
              </a:lnSpc>
              <a:spcAft>
                <a:spcPts val="400"/>
              </a:spcAft>
            </a:pPr>
            <a:r>
              <a:rPr sz="1200" b="0" i="0">
                <a:solidFill>
                  <a:srgbClr val="3A4356"/>
                </a:solidFill>
                <a:latin typeface="Calibri"/>
              </a:rPr>
              <a:t>Every real quote makes the next estimate better. Accuracy is measured and reported — defensible in any negotiation.</a:t>
            </a:r>
          </a:p>
        </p:txBody>
      </p:sp>
      <p:sp>
        <p:nvSpPr>
          <p:cNvPr id="17" name="Rounded Rectangle 16"/>
          <p:cNvSpPr/>
          <p:nvPr/>
        </p:nvSpPr>
        <p:spPr>
          <a:xfrm>
            <a:off x="411480" y="3931920"/>
            <a:ext cx="5577840" cy="18288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931920"/>
            <a:ext cx="82296" cy="182880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096512"/>
            <a:ext cx="5029200" cy="457200"/>
          </a:xfrm>
          <a:prstGeom prst="rect">
            <a:avLst/>
          </a:prstGeom>
          <a:noFill/>
        </p:spPr>
        <p:txBody>
          <a:bodyPr wrap="square" anchor="t" lIns="0" rIns="0" tIns="0" bIns="0">
            <a:spAutoFit/>
          </a:bodyPr>
          <a:lstStyle/>
          <a:p>
            <a:pPr algn="l">
              <a:lnSpc>
                <a:spcPct val="100000"/>
              </a:lnSpc>
              <a:spcAft>
                <a:spcPts val="400"/>
              </a:spcAft>
            </a:pPr>
            <a:r>
              <a:rPr sz="1800" b="0" i="0">
                <a:solidFill>
                  <a:srgbClr val="6B3FA0"/>
                </a:solidFill>
                <a:latin typeface="Segoe UI Emoji"/>
              </a:rPr>
              <a:t>🏦</a:t>
            </a:r>
            <a:r>
              <a:rPr sz="1800" b="0" i="0">
                <a:solidFill>
                  <a:srgbClr val="6B3FA0"/>
                </a:solidFill>
                <a:latin typeface="Calibri"/>
              </a:rPr>
              <a:t>  </a:t>
            </a:r>
            <a:r>
              <a:rPr sz="1600" b="1" i="0">
                <a:solidFill>
                  <a:srgbClr val="6B3FA0"/>
                </a:solidFill>
                <a:latin typeface="Calibri"/>
              </a:rPr>
              <a:t>Knowledge stays</a:t>
            </a:r>
          </a:p>
        </p:txBody>
      </p:sp>
      <p:sp>
        <p:nvSpPr>
          <p:cNvPr id="20" name="TextBox 19"/>
          <p:cNvSpPr txBox="1"/>
          <p:nvPr/>
        </p:nvSpPr>
        <p:spPr>
          <a:xfrm>
            <a:off x="685800" y="4617720"/>
            <a:ext cx="5074920" cy="1051560"/>
          </a:xfrm>
          <a:prstGeom prst="rect">
            <a:avLst/>
          </a:prstGeom>
          <a:noFill/>
        </p:spPr>
        <p:txBody>
          <a:bodyPr wrap="square" anchor="t" lIns="0" rIns="0" tIns="0" bIns="0">
            <a:spAutoFit/>
          </a:bodyPr>
          <a:lstStyle/>
          <a:p>
            <a:pPr algn="l">
              <a:lnSpc>
                <a:spcPct val="118000"/>
              </a:lnSpc>
              <a:spcAft>
                <a:spcPts val="400"/>
              </a:spcAft>
            </a:pPr>
            <a:r>
              <a:rPr sz="1200" b="0" i="0">
                <a:solidFill>
                  <a:srgbClr val="3A4356"/>
                </a:solidFill>
                <a:latin typeface="Calibri"/>
              </a:rPr>
              <a:t>Senior engineers' judgement is captured as data. It doesn't leave when people do — and juniors inherit it from day one.</a:t>
            </a:r>
          </a:p>
        </p:txBody>
      </p:sp>
      <p:sp>
        <p:nvSpPr>
          <p:cNvPr id="21" name="Rounded Rectangle 20"/>
          <p:cNvSpPr/>
          <p:nvPr/>
        </p:nvSpPr>
        <p:spPr>
          <a:xfrm>
            <a:off x="6217920" y="3931920"/>
            <a:ext cx="5577840" cy="18288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931920"/>
            <a:ext cx="82296" cy="18288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4096512"/>
            <a:ext cx="5029200" cy="457200"/>
          </a:xfrm>
          <a:prstGeom prst="rect">
            <a:avLst/>
          </a:prstGeom>
          <a:noFill/>
        </p:spPr>
        <p:txBody>
          <a:bodyPr wrap="square" anchor="t" lIns="0" rIns="0" tIns="0" bIns="0">
            <a:spAutoFit/>
          </a:bodyPr>
          <a:lstStyle/>
          <a:p>
            <a:pPr algn="l">
              <a:lnSpc>
                <a:spcPct val="100000"/>
              </a:lnSpc>
              <a:spcAft>
                <a:spcPts val="400"/>
              </a:spcAft>
            </a:pPr>
            <a:r>
              <a:rPr sz="1800" b="0" i="0">
                <a:solidFill>
                  <a:srgbClr val="B03A2E"/>
                </a:solidFill>
                <a:latin typeface="Segoe UI Emoji"/>
              </a:rPr>
              <a:t>💰</a:t>
            </a:r>
            <a:r>
              <a:rPr sz="1800" b="0" i="0">
                <a:solidFill>
                  <a:srgbClr val="B03A2E"/>
                </a:solidFill>
                <a:latin typeface="Calibri"/>
              </a:rPr>
              <a:t>  </a:t>
            </a:r>
            <a:r>
              <a:rPr sz="1600" b="1" i="0">
                <a:solidFill>
                  <a:srgbClr val="B03A2E"/>
                </a:solidFill>
                <a:latin typeface="Calibri"/>
              </a:rPr>
              <a:t>Money found proactively</a:t>
            </a:r>
          </a:p>
        </p:txBody>
      </p:sp>
      <p:sp>
        <p:nvSpPr>
          <p:cNvPr id="24" name="TextBox 23"/>
          <p:cNvSpPr txBox="1"/>
          <p:nvPr/>
        </p:nvSpPr>
        <p:spPr>
          <a:xfrm>
            <a:off x="6492240" y="4617720"/>
            <a:ext cx="5074920" cy="1051560"/>
          </a:xfrm>
          <a:prstGeom prst="rect">
            <a:avLst/>
          </a:prstGeom>
          <a:noFill/>
        </p:spPr>
        <p:txBody>
          <a:bodyPr wrap="square" anchor="t" lIns="0" rIns="0" tIns="0" bIns="0">
            <a:spAutoFit/>
          </a:bodyPr>
          <a:lstStyle/>
          <a:p>
            <a:pPr algn="l">
              <a:lnSpc>
                <a:spcPct val="118000"/>
              </a:lnSpc>
              <a:spcAft>
                <a:spcPts val="400"/>
              </a:spcAft>
            </a:pPr>
            <a:r>
              <a:rPr sz="1200" b="0" i="0">
                <a:solidFill>
                  <a:srgbClr val="3A4356"/>
                </a:solidFill>
                <a:latin typeface="Calibri"/>
              </a:rPr>
              <a:t>The agent watches all parts continuously and flags overpayment and pricing risk by itself, quantified in £/yr.</a:t>
            </a:r>
          </a:p>
        </p:txBody>
      </p:sp>
      <p:sp>
        <p:nvSpPr>
          <p:cNvPr id="25" name="TextBox 24"/>
          <p:cNvSpPr txBox="1"/>
          <p:nvPr/>
        </p:nvSpPr>
        <p:spPr>
          <a:xfrm>
            <a:off x="411480" y="6035040"/>
            <a:ext cx="11338560" cy="54864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And it is ours: </a:t>
            </a:r>
            <a:r>
              <a:rPr sz="1300" b="0" i="0">
                <a:solidFill>
                  <a:srgbClr val="3A4356"/>
                </a:solidFill>
                <a:latin typeface="Calibri"/>
              </a:rPr>
              <a:t>the knowledge base runs on our infrastructure and grows into a proprietary asset competitors cannot buy.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NEW IN 2026 · ADVANCED INTELLIGENCE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Confidence you can defend — not just assert</a:t>
            </a:r>
          </a:p>
        </p:txBody>
      </p:sp>
      <p:sp>
        <p:nvSpPr>
          <p:cNvPr id="9" name="TextBox 8"/>
          <p:cNvSpPr txBox="1"/>
          <p:nvPr/>
        </p:nvSpPr>
        <p:spPr>
          <a:xfrm>
            <a:off x="411480" y="1691640"/>
            <a:ext cx="11338560" cy="411480"/>
          </a:xfrm>
          <a:prstGeom prst="rect">
            <a:avLst/>
          </a:prstGeom>
          <a:noFill/>
        </p:spPr>
        <p:txBody>
          <a:bodyPr wrap="square" anchor="t" lIns="0" rIns="0" tIns="0" bIns="0">
            <a:spAutoFit/>
          </a:bodyPr>
          <a:lstStyle/>
          <a:p>
            <a:pPr algn="l">
              <a:lnSpc>
                <a:spcPct val="100000"/>
              </a:lnSpc>
              <a:spcAft>
                <a:spcPts val="400"/>
              </a:spcAft>
            </a:pPr>
            <a:r>
              <a:rPr sz="1350" b="0" i="0">
                <a:solidFill>
                  <a:srgbClr val="3A4356"/>
                </a:solidFill>
                <a:latin typeface="Calibri"/>
              </a:rPr>
              <a:t>Every should-cost now carries two ranges — the physics estimate, and an </a:t>
            </a:r>
            <a:r>
              <a:rPr sz="1350" b="1" i="0">
                <a:solidFill>
                  <a:srgbClr val="16325C"/>
                </a:solidFill>
                <a:latin typeface="Calibri"/>
              </a:rPr>
              <a:t>empirical band proven against your own logged quotes.</a:t>
            </a:r>
          </a:p>
        </p:txBody>
      </p:sp>
      <p:sp>
        <p:nvSpPr>
          <p:cNvPr id="10" name="Rounded Rectangle 9"/>
          <p:cNvSpPr/>
          <p:nvPr/>
        </p:nvSpPr>
        <p:spPr>
          <a:xfrm>
            <a:off x="411480" y="2286000"/>
            <a:ext cx="5532120" cy="2286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286000"/>
            <a:ext cx="5532120" cy="822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487168"/>
            <a:ext cx="502920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1D6FB8"/>
                </a:solidFill>
                <a:latin typeface="Calibri"/>
              </a:rPr>
              <a:t>Physics prior (Monte-Carlo)</a:t>
            </a:r>
          </a:p>
        </p:txBody>
      </p:sp>
      <p:sp>
        <p:nvSpPr>
          <p:cNvPr id="13" name="TextBox 12"/>
          <p:cNvSpPr txBox="1"/>
          <p:nvPr/>
        </p:nvSpPr>
        <p:spPr>
          <a:xfrm>
            <a:off x="685800" y="2926080"/>
            <a:ext cx="5029200" cy="1554480"/>
          </a:xfrm>
          <a:prstGeom prst="rect">
            <a:avLst/>
          </a:prstGeom>
          <a:noFill/>
        </p:spPr>
        <p:txBody>
          <a:bodyPr wrap="square" anchor="t" lIns="0" rIns="0" tIns="0" bIns="0">
            <a:spAutoFit/>
          </a:bodyPr>
          <a:lstStyle/>
          <a:p>
            <a:pPr algn="l">
              <a:lnSpc>
                <a:spcPct val="115000"/>
              </a:lnSpc>
              <a:spcAft>
                <a:spcPts val="800"/>
              </a:spcAft>
            </a:pPr>
            <a:r>
              <a:rPr sz="1200" b="0" i="0">
                <a:solidFill>
                  <a:srgbClr val="3A4356"/>
                </a:solidFill>
                <a:latin typeface="Calibri"/>
              </a:rPr>
              <a:t>How well the inputs are known — before you have any real quotes.</a:t>
            </a:r>
          </a:p>
          <a:p>
            <a:pPr algn="l">
              <a:lnSpc>
                <a:spcPct val="115000"/>
              </a:lnSpc>
              <a:spcAft>
                <a:spcPts val="800"/>
              </a:spcAft>
            </a:pPr>
            <a:r>
              <a:rPr sz="1400" b="1" i="0">
                <a:solidFill>
                  <a:srgbClr val="16325C"/>
                </a:solidFill>
                <a:latin typeface="Calibri"/>
              </a:rPr>
              <a:t>Example:  £86.34  ± 3.4%</a:t>
            </a:r>
          </a:p>
          <a:p>
            <a:pPr algn="l">
              <a:lnSpc>
                <a:spcPct val="115000"/>
              </a:lnSpc>
              <a:spcAft>
                <a:spcPts val="800"/>
              </a:spcAft>
            </a:pPr>
            <a:r>
              <a:rPr sz="1100" b="0" i="1">
                <a:solidFill>
                  <a:srgbClr val="686F7D"/>
                </a:solidFill>
                <a:latin typeface="Calibri"/>
              </a:rPr>
              <a:t>Always available, every part, every commodity.</a:t>
            </a:r>
          </a:p>
        </p:txBody>
      </p:sp>
      <p:sp>
        <p:nvSpPr>
          <p:cNvPr id="14" name="Rounded Rectangle 13"/>
          <p:cNvSpPr/>
          <p:nvPr/>
        </p:nvSpPr>
        <p:spPr>
          <a:xfrm>
            <a:off x="6263640" y="2286000"/>
            <a:ext cx="5532120" cy="228600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2286000"/>
            <a:ext cx="5532120" cy="82296"/>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487168"/>
            <a:ext cx="502920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2A7F50"/>
                </a:solidFill>
                <a:latin typeface="Calibri"/>
              </a:rPr>
              <a:t>Empirical band (conformal)</a:t>
            </a:r>
          </a:p>
        </p:txBody>
      </p:sp>
      <p:sp>
        <p:nvSpPr>
          <p:cNvPr id="17" name="TextBox 16"/>
          <p:cNvSpPr txBox="1"/>
          <p:nvPr/>
        </p:nvSpPr>
        <p:spPr>
          <a:xfrm>
            <a:off x="6537960" y="2926080"/>
            <a:ext cx="5029200" cy="1554480"/>
          </a:xfrm>
          <a:prstGeom prst="rect">
            <a:avLst/>
          </a:prstGeom>
          <a:noFill/>
        </p:spPr>
        <p:txBody>
          <a:bodyPr wrap="square" anchor="t" lIns="0" rIns="0" tIns="0" bIns="0">
            <a:spAutoFit/>
          </a:bodyPr>
          <a:lstStyle/>
          <a:p>
            <a:pPr algn="l">
              <a:lnSpc>
                <a:spcPct val="115000"/>
              </a:lnSpc>
              <a:spcAft>
                <a:spcPts val="800"/>
              </a:spcAft>
            </a:pPr>
            <a:r>
              <a:rPr sz="1200" b="0" i="0">
                <a:solidFill>
                  <a:srgbClr val="3A4356"/>
                </a:solidFill>
                <a:latin typeface="Calibri"/>
              </a:rPr>
              <a:t>Proven against the quotes YOU logged — with a coverage guarantee.</a:t>
            </a:r>
          </a:p>
          <a:p>
            <a:pPr algn="l">
              <a:lnSpc>
                <a:spcPct val="115000"/>
              </a:lnSpc>
              <a:spcAft>
                <a:spcPts val="800"/>
              </a:spcAft>
            </a:pPr>
            <a:r>
              <a:rPr sz="1300" b="1" i="0">
                <a:solidFill>
                  <a:srgbClr val="16325C"/>
                </a:solidFill>
                <a:latin typeface="Calibri"/>
              </a:rPr>
              <a:t>Example:  90% of your quotes land within  ± 6.5%  →  £81.54 – £92.88</a:t>
            </a:r>
          </a:p>
          <a:p>
            <a:pPr algn="l">
              <a:lnSpc>
                <a:spcPct val="115000"/>
              </a:lnSpc>
              <a:spcAft>
                <a:spcPts val="800"/>
              </a:spcAft>
            </a:pPr>
            <a:r>
              <a:rPr sz="1100" b="0" i="1">
                <a:solidFill>
                  <a:srgbClr val="2A7F50"/>
                </a:solidFill>
                <a:latin typeface="Calibri"/>
              </a:rPr>
              <a:t>Tightens automatically as more quotes are logged.</a:t>
            </a:r>
          </a:p>
        </p:txBody>
      </p:sp>
      <p:sp>
        <p:nvSpPr>
          <p:cNvPr id="18" name="Rounded Rectangle 17"/>
          <p:cNvSpPr/>
          <p:nvPr/>
        </p:nvSpPr>
        <p:spPr>
          <a:xfrm>
            <a:off x="411480" y="4800600"/>
            <a:ext cx="11384280" cy="137160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983480"/>
            <a:ext cx="10881360" cy="1097280"/>
          </a:xfrm>
          <a:prstGeom prst="rect">
            <a:avLst/>
          </a:prstGeom>
          <a:noFill/>
        </p:spPr>
        <p:txBody>
          <a:bodyPr wrap="square" anchor="t" lIns="0" rIns="0" tIns="0" bIns="0">
            <a:spAutoFit/>
          </a:bodyPr>
          <a:lstStyle/>
          <a:p>
            <a:pPr algn="l">
              <a:lnSpc>
                <a:spcPct val="120000"/>
              </a:lnSpc>
              <a:spcAft>
                <a:spcPts val="400"/>
              </a:spcAft>
            </a:pPr>
            <a:r>
              <a:rPr sz="1300" b="1" i="0">
                <a:solidFill>
                  <a:srgbClr val="1D6FB8"/>
                </a:solidFill>
                <a:latin typeface="Calibri"/>
              </a:rPr>
              <a:t>Why it helps:  </a:t>
            </a:r>
            <a:r>
              <a:rPr sz="1250" b="0" i="0">
                <a:solidFill>
                  <a:srgbClr val="3A4356"/>
                </a:solidFill>
                <a:latin typeface="Calibri"/>
              </a:rPr>
              <a:t>a buyer can’t defend "trust me, ±5%". They CAN defend "90% of our real quotes for this family landed within ±6.5%." The band edge is an observed error — evidence, not an assertion. It is the honest uncertainty no competitor states this way.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NEW IN 2026 · ADVANCED INTELLIGENCE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The agent learns what actually earns money</a:t>
            </a:r>
          </a:p>
        </p:txBody>
      </p:sp>
      <p:sp>
        <p:nvSpPr>
          <p:cNvPr id="9" name="TextBox 8"/>
          <p:cNvSpPr txBox="1"/>
          <p:nvPr/>
        </p:nvSpPr>
        <p:spPr>
          <a:xfrm>
            <a:off x="411480" y="1691640"/>
            <a:ext cx="11338560" cy="411480"/>
          </a:xfrm>
          <a:prstGeom prst="rect">
            <a:avLst/>
          </a:prstGeom>
          <a:noFill/>
        </p:spPr>
        <p:txBody>
          <a:bodyPr wrap="square" anchor="t" lIns="0" rIns="0" tIns="0" bIns="0">
            <a:spAutoFit/>
          </a:bodyPr>
          <a:lstStyle/>
          <a:p>
            <a:pPr algn="l">
              <a:lnSpc>
                <a:spcPct val="100000"/>
              </a:lnSpc>
              <a:spcAft>
                <a:spcPts val="400"/>
              </a:spcAft>
            </a:pPr>
            <a:r>
              <a:rPr sz="1350" b="0" i="0">
                <a:solidFill>
                  <a:srgbClr val="3A4356"/>
                </a:solidFill>
                <a:latin typeface="Calibri"/>
              </a:rPr>
              <a:t>The autonomous agent no longer just finds gaps — it learns which findings </a:t>
            </a:r>
            <a:r>
              <a:rPr sz="1350" b="1" i="0">
                <a:solidFill>
                  <a:srgbClr val="16325C"/>
                </a:solidFill>
                <a:latin typeface="Calibri"/>
              </a:rPr>
              <a:t>actually convert into savings, and re-ranks by the money it can really recover.</a:t>
            </a:r>
          </a:p>
        </p:txBody>
      </p:sp>
      <p:sp>
        <p:nvSpPr>
          <p:cNvPr id="10" name="Rectangle 9"/>
          <p:cNvSpPr/>
          <p:nvPr/>
        </p:nvSpPr>
        <p:spPr>
          <a:xfrm>
            <a:off x="411480" y="2286000"/>
            <a:ext cx="11384280" cy="45720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59152"/>
            <a:ext cx="3474720" cy="320040"/>
          </a:xfrm>
          <a:prstGeom prst="rect">
            <a:avLst/>
          </a:prstGeom>
          <a:noFill/>
        </p:spPr>
        <p:txBody>
          <a:bodyPr wrap="square" anchor="t" lIns="0" rIns="0" tIns="0" bIns="0">
            <a:spAutoFit/>
          </a:bodyPr>
          <a:lstStyle/>
          <a:p>
            <a:pPr algn="l">
              <a:lnSpc>
                <a:spcPct val="100000"/>
              </a:lnSpc>
              <a:spcAft>
                <a:spcPts val="400"/>
              </a:spcAft>
            </a:pPr>
            <a:r>
              <a:rPr sz="1150" b="1" i="0">
                <a:solidFill>
                  <a:srgbClr val="FFFFFF"/>
                </a:solidFill>
                <a:latin typeface="Calibri"/>
              </a:rPr>
              <a:t>Finding</a:t>
            </a:r>
          </a:p>
        </p:txBody>
      </p:sp>
      <p:sp>
        <p:nvSpPr>
          <p:cNvPr id="12" name="TextBox 11"/>
          <p:cNvSpPr txBox="1"/>
          <p:nvPr/>
        </p:nvSpPr>
        <p:spPr>
          <a:xfrm>
            <a:off x="4023360" y="2359152"/>
            <a:ext cx="2743200" cy="320040"/>
          </a:xfrm>
          <a:prstGeom prst="rect">
            <a:avLst/>
          </a:prstGeom>
          <a:noFill/>
        </p:spPr>
        <p:txBody>
          <a:bodyPr wrap="square" anchor="t" lIns="0" rIns="0" tIns="0" bIns="0">
            <a:spAutoFit/>
          </a:bodyPr>
          <a:lstStyle/>
          <a:p>
            <a:pPr algn="l">
              <a:lnSpc>
                <a:spcPct val="100000"/>
              </a:lnSpc>
              <a:spcAft>
                <a:spcPts val="400"/>
              </a:spcAft>
            </a:pPr>
            <a:r>
              <a:rPr sz="1150" b="1" i="0">
                <a:solidFill>
                  <a:srgbClr val="FFFFFF"/>
                </a:solidFill>
                <a:latin typeface="Calibri"/>
              </a:rPr>
              <a:t>Raw gap (impact)</a:t>
            </a:r>
          </a:p>
        </p:txBody>
      </p:sp>
      <p:sp>
        <p:nvSpPr>
          <p:cNvPr id="13" name="TextBox 12"/>
          <p:cNvSpPr txBox="1"/>
          <p:nvPr/>
        </p:nvSpPr>
        <p:spPr>
          <a:xfrm>
            <a:off x="6766560" y="2359152"/>
            <a:ext cx="2560320" cy="320040"/>
          </a:xfrm>
          <a:prstGeom prst="rect">
            <a:avLst/>
          </a:prstGeom>
          <a:noFill/>
        </p:spPr>
        <p:txBody>
          <a:bodyPr wrap="square" anchor="t" lIns="0" rIns="0" tIns="0" bIns="0">
            <a:spAutoFit/>
          </a:bodyPr>
          <a:lstStyle/>
          <a:p>
            <a:pPr algn="l">
              <a:lnSpc>
                <a:spcPct val="100000"/>
              </a:lnSpc>
              <a:spcAft>
                <a:spcPts val="400"/>
              </a:spcAft>
            </a:pPr>
            <a:r>
              <a:rPr sz="1150" b="1" i="0">
                <a:solidFill>
                  <a:srgbClr val="FFFFFF"/>
                </a:solidFill>
                <a:latin typeface="Calibri"/>
              </a:rPr>
              <a:t>Learned conversion</a:t>
            </a:r>
          </a:p>
        </p:txBody>
      </p:sp>
      <p:sp>
        <p:nvSpPr>
          <p:cNvPr id="14" name="TextBox 13"/>
          <p:cNvSpPr txBox="1"/>
          <p:nvPr/>
        </p:nvSpPr>
        <p:spPr>
          <a:xfrm>
            <a:off x="9326880" y="2359152"/>
            <a:ext cx="2331720" cy="320040"/>
          </a:xfrm>
          <a:prstGeom prst="rect">
            <a:avLst/>
          </a:prstGeom>
          <a:noFill/>
        </p:spPr>
        <p:txBody>
          <a:bodyPr wrap="square" anchor="t" lIns="0" rIns="0" tIns="0" bIns="0">
            <a:spAutoFit/>
          </a:bodyPr>
          <a:lstStyle/>
          <a:p>
            <a:pPr algn="l">
              <a:lnSpc>
                <a:spcPct val="100000"/>
              </a:lnSpc>
              <a:spcAft>
                <a:spcPts val="400"/>
              </a:spcAft>
            </a:pPr>
            <a:r>
              <a:rPr sz="1150" b="1" i="0">
                <a:solidFill>
                  <a:srgbClr val="FFFFFF"/>
                </a:solidFill>
                <a:latin typeface="Calibri"/>
              </a:rPr>
              <a:t>Expected realizable</a:t>
            </a:r>
          </a:p>
        </p:txBody>
      </p:sp>
      <p:sp>
        <p:nvSpPr>
          <p:cNvPr id="15" name="Rectangle 14"/>
          <p:cNvSpPr/>
          <p:nvPr/>
        </p:nvSpPr>
        <p:spPr>
          <a:xfrm>
            <a:off x="411480" y="2743200"/>
            <a:ext cx="113842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871216"/>
            <a:ext cx="3474720" cy="32004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Cast Housing</a:t>
            </a:r>
          </a:p>
        </p:txBody>
      </p:sp>
      <p:sp>
        <p:nvSpPr>
          <p:cNvPr id="17" name="TextBox 16"/>
          <p:cNvSpPr txBox="1"/>
          <p:nvPr/>
        </p:nvSpPr>
        <p:spPr>
          <a:xfrm>
            <a:off x="4023360" y="2871216"/>
            <a:ext cx="2743200" cy="32004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£200k/yr</a:t>
            </a:r>
          </a:p>
        </p:txBody>
      </p:sp>
      <p:sp>
        <p:nvSpPr>
          <p:cNvPr id="18" name="TextBox 17"/>
          <p:cNvSpPr txBox="1"/>
          <p:nvPr/>
        </p:nvSpPr>
        <p:spPr>
          <a:xfrm>
            <a:off x="6766560" y="2871216"/>
            <a:ext cx="2560320" cy="32004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20% — rarely closes</a:t>
            </a:r>
          </a:p>
        </p:txBody>
      </p:sp>
      <p:sp>
        <p:nvSpPr>
          <p:cNvPr id="19" name="TextBox 18"/>
          <p:cNvSpPr txBox="1"/>
          <p:nvPr/>
        </p:nvSpPr>
        <p:spPr>
          <a:xfrm>
            <a:off x="9326880" y="2871216"/>
            <a:ext cx="2331720" cy="320040"/>
          </a:xfrm>
          <a:prstGeom prst="rect">
            <a:avLst/>
          </a:prstGeom>
          <a:noFill/>
        </p:spPr>
        <p:txBody>
          <a:bodyPr wrap="square" anchor="t" lIns="0" rIns="0" tIns="0" bIns="0">
            <a:spAutoFit/>
          </a:bodyPr>
          <a:lstStyle/>
          <a:p>
            <a:pPr algn="l">
              <a:lnSpc>
                <a:spcPct val="100000"/>
              </a:lnSpc>
              <a:spcAft>
                <a:spcPts val="400"/>
              </a:spcAft>
            </a:pPr>
            <a:r>
              <a:rPr sz="1300" b="1" i="0">
                <a:solidFill>
                  <a:srgbClr val="B03A2E"/>
                </a:solidFill>
                <a:latin typeface="Calibri"/>
              </a:rPr>
              <a:t>£40k</a:t>
            </a:r>
          </a:p>
        </p:txBody>
      </p:sp>
      <p:sp>
        <p:nvSpPr>
          <p:cNvPr id="20" name="Rectangle 19"/>
          <p:cNvSpPr/>
          <p:nvPr/>
        </p:nvSpPr>
        <p:spPr>
          <a:xfrm>
            <a:off x="411480" y="3310128"/>
            <a:ext cx="11384280" cy="5486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438144"/>
            <a:ext cx="3474720" cy="32004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Machined Knuckle</a:t>
            </a:r>
          </a:p>
        </p:txBody>
      </p:sp>
      <p:sp>
        <p:nvSpPr>
          <p:cNvPr id="22" name="TextBox 21"/>
          <p:cNvSpPr txBox="1"/>
          <p:nvPr/>
        </p:nvSpPr>
        <p:spPr>
          <a:xfrm>
            <a:off x="4023360" y="3438144"/>
            <a:ext cx="2743200" cy="32004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£100k/yr</a:t>
            </a:r>
          </a:p>
        </p:txBody>
      </p:sp>
      <p:sp>
        <p:nvSpPr>
          <p:cNvPr id="23" name="TextBox 22"/>
          <p:cNvSpPr txBox="1"/>
          <p:nvPr/>
        </p:nvSpPr>
        <p:spPr>
          <a:xfrm>
            <a:off x="6766560" y="3438144"/>
            <a:ext cx="2560320" cy="32004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80% — usually closes</a:t>
            </a:r>
          </a:p>
        </p:txBody>
      </p:sp>
      <p:sp>
        <p:nvSpPr>
          <p:cNvPr id="24" name="TextBox 23"/>
          <p:cNvSpPr txBox="1"/>
          <p:nvPr/>
        </p:nvSpPr>
        <p:spPr>
          <a:xfrm>
            <a:off x="9326880" y="3438144"/>
            <a:ext cx="2331720" cy="320040"/>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£80k</a:t>
            </a:r>
          </a:p>
        </p:txBody>
      </p:sp>
      <p:sp>
        <p:nvSpPr>
          <p:cNvPr id="25" name="Rounded Rectangle 24"/>
          <p:cNvSpPr/>
          <p:nvPr/>
        </p:nvSpPr>
        <p:spPr>
          <a:xfrm>
            <a:off x="411480" y="4114800"/>
            <a:ext cx="11384280" cy="868680"/>
          </a:xfrm>
          <a:prstGeom prst="roundRect">
            <a:avLst>
              <a:gd name="adj" fmla="val 8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61104"/>
            <a:ext cx="10881360" cy="640080"/>
          </a:xfrm>
          <a:prstGeom prst="rect">
            <a:avLst/>
          </a:prstGeom>
          <a:noFill/>
        </p:spPr>
        <p:txBody>
          <a:bodyPr wrap="square" anchor="t" lIns="0" rIns="0" tIns="0" bIns="0">
            <a:spAutoFit/>
          </a:bodyPr>
          <a:lstStyle/>
          <a:p>
            <a:pPr algn="l">
              <a:lnSpc>
                <a:spcPct val="120000"/>
              </a:lnSpc>
              <a:spcAft>
                <a:spcPts val="400"/>
              </a:spcAft>
            </a:pPr>
            <a:r>
              <a:rPr sz="1250" b="1" i="0">
                <a:solidFill>
                  <a:srgbClr val="1D6FB8"/>
                </a:solidFill>
                <a:latin typeface="Calibri"/>
              </a:rPr>
              <a:t>The result: </a:t>
            </a:r>
            <a:r>
              <a:rPr sz="1250" b="0" i="0">
                <a:solidFill>
                  <a:srgbClr val="3A4356"/>
                </a:solidFill>
                <a:latin typeface="Calibri"/>
              </a:rPr>
              <a:t>the machining finding — HALF the raw gap — now ranks ABOVE the casting one, because the agent learned casting renegotiations don’t close. It stops shouting about theoretical money and surfaces the money you can get.</a:t>
            </a:r>
          </a:p>
        </p:txBody>
      </p:sp>
      <p:sp>
        <p:nvSpPr>
          <p:cNvPr id="27" name="TextBox 26"/>
          <p:cNvSpPr txBox="1"/>
          <p:nvPr/>
        </p:nvSpPr>
        <p:spPr>
          <a:xfrm>
            <a:off x="411480" y="5212080"/>
            <a:ext cx="11338560" cy="914400"/>
          </a:xfrm>
          <a:prstGeom prst="rect">
            <a:avLst/>
          </a:prstGeom>
          <a:noFill/>
        </p:spPr>
        <p:txBody>
          <a:bodyPr wrap="square" anchor="t" lIns="0" rIns="0" tIns="0" bIns="0">
            <a:spAutoFit/>
          </a:bodyPr>
          <a:lstStyle/>
          <a:p>
            <a:pPr algn="l">
              <a:lnSpc>
                <a:spcPct val="120000"/>
              </a:lnSpc>
              <a:spcAft>
                <a:spcPts val="400"/>
              </a:spcAft>
            </a:pPr>
            <a:r>
              <a:rPr sz="1300" b="1" i="0">
                <a:solidFill>
                  <a:srgbClr val="2A7F50"/>
                </a:solidFill>
                <a:latin typeface="Calibri"/>
              </a:rPr>
              <a:t>Why it helps:  </a:t>
            </a:r>
            <a:r>
              <a:rPr sz="1250" b="0" i="0">
                <a:solidFill>
                  <a:srgbClr val="3A4356"/>
                </a:solidFill>
                <a:latin typeface="Calibri"/>
              </a:rPr>
              <a:t>sourcing time is scarce. The agent spends it where the return is real — and tracks the £ actually saved, so you can prove the tool paid for itself. One click ("Actioned £") teaches it after every negotiation.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NEW IN 2026 · ADVANCED INTELLIGENCE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The negotiation coach — it hands you the argument</a:t>
            </a:r>
          </a:p>
        </p:txBody>
      </p:sp>
      <p:sp>
        <p:nvSpPr>
          <p:cNvPr id="9" name="TextBox 8"/>
          <p:cNvSpPr txBox="1"/>
          <p:nvPr/>
        </p:nvSpPr>
        <p:spPr>
          <a:xfrm>
            <a:off x="411480" y="1691640"/>
            <a:ext cx="11338560" cy="411480"/>
          </a:xfrm>
          <a:prstGeom prst="rect">
            <a:avLst/>
          </a:prstGeom>
          <a:noFill/>
        </p:spPr>
        <p:txBody>
          <a:bodyPr wrap="square" anchor="t" lIns="0" rIns="0" tIns="0" bIns="0">
            <a:spAutoFit/>
          </a:bodyPr>
          <a:lstStyle/>
          <a:p>
            <a:pPr algn="l">
              <a:lnSpc>
                <a:spcPct val="100000"/>
              </a:lnSpc>
              <a:spcAft>
                <a:spcPts val="400"/>
              </a:spcAft>
            </a:pPr>
            <a:r>
              <a:rPr sz="1350" b="0" i="0">
                <a:solidFill>
                  <a:srgbClr val="3A4356"/>
                </a:solidFill>
                <a:latin typeface="Calibri"/>
              </a:rPr>
              <a:t>The tool now knows </a:t>
            </a:r>
            <a:r>
              <a:rPr sz="1350" b="1" i="1">
                <a:solidFill>
                  <a:srgbClr val="16325C"/>
                </a:solidFill>
                <a:latin typeface="Calibri"/>
              </a:rPr>
              <a:t>why</a:t>
            </a:r>
            <a:r>
              <a:rPr sz="1350" b="0" i="0">
                <a:solidFill>
                  <a:srgbClr val="3A4356"/>
                </a:solidFill>
                <a:latin typeface="Calibri"/>
              </a:rPr>
              <a:t> a part costs what it does — and turns that into the sentence that wins the negotiation.</a:t>
            </a:r>
          </a:p>
        </p:txBody>
      </p:sp>
      <p:sp>
        <p:nvSpPr>
          <p:cNvPr id="10" name="Rounded Rectangle 9"/>
          <p:cNvSpPr/>
          <p:nvPr/>
        </p:nvSpPr>
        <p:spPr>
          <a:xfrm>
            <a:off x="411480" y="2286000"/>
            <a:ext cx="11384280" cy="1828800"/>
          </a:xfrm>
          <a:prstGeom prst="roundRect">
            <a:avLst>
              <a:gd name="adj" fmla="val 5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286000"/>
            <a:ext cx="82296" cy="18288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487168"/>
            <a:ext cx="10789920" cy="320040"/>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Live example — real output from the tool</a:t>
            </a:r>
          </a:p>
        </p:txBody>
      </p:sp>
      <p:sp>
        <p:nvSpPr>
          <p:cNvPr id="13" name="TextBox 12"/>
          <p:cNvSpPr txBox="1"/>
          <p:nvPr/>
        </p:nvSpPr>
        <p:spPr>
          <a:xfrm>
            <a:off x="731520" y="2852928"/>
            <a:ext cx="10789920" cy="1188720"/>
          </a:xfrm>
          <a:prstGeom prst="rect">
            <a:avLst/>
          </a:prstGeom>
          <a:noFill/>
        </p:spPr>
        <p:txBody>
          <a:bodyPr wrap="square" anchor="t" lIns="0" rIns="0" tIns="0" bIns="0">
            <a:spAutoFit/>
          </a:bodyPr>
          <a:lstStyle/>
          <a:p>
            <a:pPr algn="l">
              <a:lnSpc>
                <a:spcPct val="130000"/>
              </a:lnSpc>
              <a:spcAft>
                <a:spcPts val="400"/>
              </a:spcAft>
            </a:pPr>
            <a:r>
              <a:rPr sz="1400" b="1" i="0">
                <a:solidFill>
                  <a:srgbClr val="16325C"/>
                </a:solidFill>
                <a:latin typeface="Calibri"/>
              </a:rPr>
              <a:t>“Material is £8.39 of this part, driven by Aluminium. Every 1% move in the Aluminium index shifts the piece price by £0.11. </a:t>
            </a:r>
            <a:r>
              <a:rPr sz="1400" b="1" i="0">
                <a:solidFill>
                  <a:srgbClr val="6B3FA0"/>
                </a:solidFill>
                <a:latin typeface="Calibri"/>
              </a:rPr>
              <a:t>A quote of £95 is only justified if Aluminium were ~14% above today’s index — ask the supplier to show that, or hold at £86.34.”</a:t>
            </a:r>
          </a:p>
        </p:txBody>
      </p:sp>
      <p:sp>
        <p:nvSpPr>
          <p:cNvPr id="14" name="Rounded Rectangle 13"/>
          <p:cNvSpPr/>
          <p:nvPr/>
        </p:nvSpPr>
        <p:spPr>
          <a:xfrm>
            <a:off x="411480" y="4343400"/>
            <a:ext cx="5532120" cy="1828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26280"/>
            <a:ext cx="5029200" cy="1554480"/>
          </a:xfrm>
          <a:prstGeom prst="rect">
            <a:avLst/>
          </a:prstGeom>
          <a:noFill/>
        </p:spPr>
        <p:txBody>
          <a:bodyPr wrap="square" anchor="t" lIns="0" rIns="0" tIns="0" bIns="0">
            <a:spAutoFit/>
          </a:bodyPr>
          <a:lstStyle/>
          <a:p>
            <a:pPr algn="l">
              <a:lnSpc>
                <a:spcPct val="118000"/>
              </a:lnSpc>
              <a:spcAft>
                <a:spcPts val="600"/>
              </a:spcAft>
            </a:pPr>
            <a:r>
              <a:rPr sz="1350" b="1" i="0">
                <a:solidFill>
                  <a:srgbClr val="16325C"/>
                </a:solidFill>
                <a:latin typeface="Calibri"/>
              </a:rPr>
              <a:t>What it does</a:t>
            </a:r>
          </a:p>
          <a:p>
            <a:pPr algn="l">
              <a:lnSpc>
                <a:spcPct val="118000"/>
              </a:lnSpc>
              <a:spcAft>
                <a:spcPts val="600"/>
              </a:spcAft>
            </a:pPr>
            <a:r>
              <a:rPr sz="1150" b="0" i="0">
                <a:solidFill>
                  <a:srgbClr val="3A4356"/>
                </a:solidFill>
                <a:latin typeface="Calibri"/>
              </a:rPr>
              <a:t>Links the material to its commodity index, then works out — through the same maths the engine uses — exactly how much a supplier’s price implies the metal has moved.</a:t>
            </a:r>
          </a:p>
        </p:txBody>
      </p:sp>
      <p:sp>
        <p:nvSpPr>
          <p:cNvPr id="16" name="Rounded Rectangle 15"/>
          <p:cNvSpPr/>
          <p:nvPr/>
        </p:nvSpPr>
        <p:spPr>
          <a:xfrm>
            <a:off x="6263640" y="4343400"/>
            <a:ext cx="5532120" cy="182880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4526280"/>
            <a:ext cx="5029200" cy="1554480"/>
          </a:xfrm>
          <a:prstGeom prst="rect">
            <a:avLst/>
          </a:prstGeom>
          <a:noFill/>
        </p:spPr>
        <p:txBody>
          <a:bodyPr wrap="square" anchor="t" lIns="0" rIns="0" tIns="0" bIns="0">
            <a:spAutoFit/>
          </a:bodyPr>
          <a:lstStyle/>
          <a:p>
            <a:pPr algn="l">
              <a:lnSpc>
                <a:spcPct val="118000"/>
              </a:lnSpc>
              <a:spcAft>
                <a:spcPts val="600"/>
              </a:spcAft>
            </a:pPr>
            <a:r>
              <a:rPr sz="1350" b="1" i="0">
                <a:solidFill>
                  <a:srgbClr val="2A7F50"/>
                </a:solidFill>
                <a:latin typeface="Calibri"/>
              </a:rPr>
              <a:t>Why it helps</a:t>
            </a:r>
          </a:p>
          <a:p>
            <a:pPr algn="l">
              <a:lnSpc>
                <a:spcPct val="118000"/>
              </a:lnSpc>
              <a:spcAft>
                <a:spcPts val="600"/>
              </a:spcAft>
            </a:pPr>
            <a:r>
              <a:rPr sz="1150" b="0" i="0">
                <a:solidFill>
                  <a:srgbClr val="3A4356"/>
                </a:solidFill>
                <a:latin typeface="Calibri"/>
              </a:rPr>
              <a:t>The buyer walks in with a defensible, arithmetic counter-argument instead of "that feels high". It converts should-cost into negotiating power — the number and the words to win with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NEW IN 2026 · ADVANCED INTELLIGENCE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Cost weather on demand — the what-if engine</a:t>
            </a:r>
          </a:p>
        </p:txBody>
      </p:sp>
      <p:sp>
        <p:nvSpPr>
          <p:cNvPr id="9" name="TextBox 8"/>
          <p:cNvSpPr txBox="1"/>
          <p:nvPr/>
        </p:nvSpPr>
        <p:spPr>
          <a:xfrm>
            <a:off x="411480" y="1691640"/>
            <a:ext cx="11338560" cy="411480"/>
          </a:xfrm>
          <a:prstGeom prst="rect">
            <a:avLst/>
          </a:prstGeom>
          <a:noFill/>
        </p:spPr>
        <p:txBody>
          <a:bodyPr wrap="square" anchor="t" lIns="0" rIns="0" tIns="0" bIns="0">
            <a:spAutoFit/>
          </a:bodyPr>
          <a:lstStyle/>
          <a:p>
            <a:pPr algn="l">
              <a:lnSpc>
                <a:spcPct val="100000"/>
              </a:lnSpc>
              <a:spcAft>
                <a:spcPts val="400"/>
              </a:spcAft>
            </a:pPr>
            <a:r>
              <a:rPr sz="1350" b="0" i="0">
                <a:solidFill>
                  <a:srgbClr val="3A4356"/>
                </a:solidFill>
                <a:latin typeface="Calibri"/>
              </a:rPr>
              <a:t>Ask "what if a commodity moves?" and get the answer instantly — for one part, or the whole portfolio.</a:t>
            </a:r>
          </a:p>
        </p:txBody>
      </p:sp>
      <p:sp>
        <p:nvSpPr>
          <p:cNvPr id="10" name="Rounded Rectangle 9"/>
          <p:cNvSpPr/>
          <p:nvPr/>
        </p:nvSpPr>
        <p:spPr>
          <a:xfrm>
            <a:off x="411480" y="2286000"/>
            <a:ext cx="5532120"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286000"/>
            <a:ext cx="5532120" cy="822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487168"/>
            <a:ext cx="502920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1D6FB8"/>
                </a:solidFill>
                <a:latin typeface="Calibri"/>
              </a:rPr>
              <a:t>One part — the live slider</a:t>
            </a:r>
          </a:p>
        </p:txBody>
      </p:sp>
      <p:sp>
        <p:nvSpPr>
          <p:cNvPr id="13" name="TextBox 12"/>
          <p:cNvSpPr txBox="1"/>
          <p:nvPr/>
        </p:nvSpPr>
        <p:spPr>
          <a:xfrm>
            <a:off x="685800" y="2926080"/>
            <a:ext cx="5029200" cy="1737360"/>
          </a:xfrm>
          <a:prstGeom prst="rect">
            <a:avLst/>
          </a:prstGeom>
          <a:noFill/>
        </p:spPr>
        <p:txBody>
          <a:bodyPr wrap="square" anchor="t" lIns="0" rIns="0" tIns="0" bIns="0">
            <a:spAutoFit/>
          </a:bodyPr>
          <a:lstStyle/>
          <a:p>
            <a:pPr algn="l">
              <a:lnSpc>
                <a:spcPct val="115000"/>
              </a:lnSpc>
              <a:spcAft>
                <a:spcPts val="800"/>
              </a:spcAft>
            </a:pPr>
            <a:r>
              <a:rPr sz="1200" b="0" i="0">
                <a:solidFill>
                  <a:srgbClr val="3A4356"/>
                </a:solidFill>
                <a:latin typeface="Calibri"/>
              </a:rPr>
              <a:t>Drag a commodity −20% … +20% and the piece price recomputes as you move.</a:t>
            </a:r>
          </a:p>
          <a:p>
            <a:pPr algn="l">
              <a:lnSpc>
                <a:spcPct val="115000"/>
              </a:lnSpc>
              <a:spcAft>
                <a:spcPts val="800"/>
              </a:spcAft>
            </a:pPr>
            <a:r>
              <a:rPr sz="1350" b="1" i="0">
                <a:solidFill>
                  <a:srgbClr val="16325C"/>
                </a:solidFill>
                <a:latin typeface="Calibri"/>
              </a:rPr>
              <a:t>Example:  Aluminium +15%  →  £86.34 → £87.92</a:t>
            </a:r>
          </a:p>
          <a:p>
            <a:pPr algn="l">
              <a:lnSpc>
                <a:spcPct val="115000"/>
              </a:lnSpc>
              <a:spcAft>
                <a:spcPts val="800"/>
              </a:spcAft>
            </a:pPr>
            <a:r>
              <a:rPr sz="1100" b="0" i="1">
                <a:solidFill>
                  <a:srgbClr val="686F7D"/>
                </a:solidFill>
                <a:latin typeface="Calibri"/>
              </a:rPr>
              <a:t>Instant sensitivity in a single gesture.</a:t>
            </a:r>
          </a:p>
        </p:txBody>
      </p:sp>
      <p:sp>
        <p:nvSpPr>
          <p:cNvPr id="14" name="Rounded Rectangle 13"/>
          <p:cNvSpPr/>
          <p:nvPr/>
        </p:nvSpPr>
        <p:spPr>
          <a:xfrm>
            <a:off x="6263640" y="2286000"/>
            <a:ext cx="5532120"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2286000"/>
            <a:ext cx="5532120" cy="82296"/>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487168"/>
            <a:ext cx="502920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6B3FA0"/>
                </a:solidFill>
                <a:latin typeface="Calibri"/>
              </a:rPr>
              <a:t>Whole portfolio — the scenario</a:t>
            </a:r>
          </a:p>
        </p:txBody>
      </p:sp>
      <p:sp>
        <p:nvSpPr>
          <p:cNvPr id="17" name="TextBox 16"/>
          <p:cNvSpPr txBox="1"/>
          <p:nvPr/>
        </p:nvSpPr>
        <p:spPr>
          <a:xfrm>
            <a:off x="6537960" y="2926080"/>
            <a:ext cx="5029200" cy="1737360"/>
          </a:xfrm>
          <a:prstGeom prst="rect">
            <a:avLst/>
          </a:prstGeom>
          <a:noFill/>
        </p:spPr>
        <p:txBody>
          <a:bodyPr wrap="square" anchor="t" lIns="0" rIns="0" tIns="0" bIns="0">
            <a:spAutoFit/>
          </a:bodyPr>
          <a:lstStyle/>
          <a:p>
            <a:pPr algn="l">
              <a:lnSpc>
                <a:spcPct val="115000"/>
              </a:lnSpc>
              <a:spcAft>
                <a:spcPts val="800"/>
              </a:spcAft>
            </a:pPr>
            <a:r>
              <a:rPr sz="1200" b="0" i="0">
                <a:solidFill>
                  <a:srgbClr val="3A4356"/>
                </a:solidFill>
                <a:latin typeface="Calibri"/>
              </a:rPr>
              <a:t>Apply a move across every part at once and see who changes status.</a:t>
            </a:r>
          </a:p>
          <a:p>
            <a:pPr algn="l">
              <a:lnSpc>
                <a:spcPct val="115000"/>
              </a:lnSpc>
              <a:spcAft>
                <a:spcPts val="800"/>
              </a:spcAft>
            </a:pPr>
            <a:r>
              <a:rPr sz="1350" b="1" i="0">
                <a:solidFill>
                  <a:srgbClr val="16325C"/>
                </a:solidFill>
                <a:latin typeface="Calibri"/>
              </a:rPr>
              <a:t>Example:  "If Steel +10% → 7 parts cross underwater, £X/yr at risk."</a:t>
            </a:r>
          </a:p>
          <a:p>
            <a:pPr algn="l">
              <a:lnSpc>
                <a:spcPct val="115000"/>
              </a:lnSpc>
              <a:spcAft>
                <a:spcPts val="800"/>
              </a:spcAft>
            </a:pPr>
            <a:r>
              <a:rPr sz="1100" b="0" i="1">
                <a:solidFill>
                  <a:srgbClr val="686F7D"/>
                </a:solidFill>
                <a:latin typeface="Calibri"/>
              </a:rPr>
              <a:t>Pre-empt losses before the market moves them.</a:t>
            </a:r>
          </a:p>
        </p:txBody>
      </p:sp>
      <p:sp>
        <p:nvSpPr>
          <p:cNvPr id="18" name="Rounded Rectangle 17"/>
          <p:cNvSpPr/>
          <p:nvPr/>
        </p:nvSpPr>
        <p:spPr>
          <a:xfrm>
            <a:off x="411480" y="4983480"/>
            <a:ext cx="11384280" cy="118872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138928"/>
            <a:ext cx="10881360" cy="960120"/>
          </a:xfrm>
          <a:prstGeom prst="rect">
            <a:avLst/>
          </a:prstGeom>
          <a:noFill/>
        </p:spPr>
        <p:txBody>
          <a:bodyPr wrap="square" anchor="t" lIns="0" rIns="0" tIns="0" bIns="0">
            <a:spAutoFit/>
          </a:bodyPr>
          <a:lstStyle/>
          <a:p>
            <a:pPr algn="l">
              <a:lnSpc>
                <a:spcPct val="120000"/>
              </a:lnSpc>
              <a:spcAft>
                <a:spcPts val="400"/>
              </a:spcAft>
            </a:pPr>
            <a:r>
              <a:rPr sz="1300" b="1" i="0">
                <a:solidFill>
                  <a:srgbClr val="99651A"/>
                </a:solidFill>
                <a:latin typeface="Calibri"/>
              </a:rPr>
              <a:t>Honest by design:  </a:t>
            </a:r>
            <a:r>
              <a:rPr sz="1250" b="0" i="0">
                <a:solidFill>
                  <a:srgbClr val="3A4356"/>
                </a:solidFill>
                <a:latin typeface="Calibri"/>
              </a:rPr>
              <a:t>this is a conditional — "IF the index moves" — never a price forecast. So it stays defensible even on an indicative commodity feed, and upgrades to a true forecast the day a live market feed is connected.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NEW IN 2026 · ADVANCED INTELLIGENCE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PCB photo → BOM → should-cost — now supplier-grade</a:t>
            </a:r>
          </a:p>
        </p:txBody>
      </p:sp>
      <p:sp>
        <p:nvSpPr>
          <p:cNvPr id="9" name="TextBox 8"/>
          <p:cNvSpPr txBox="1"/>
          <p:nvPr/>
        </p:nvSpPr>
        <p:spPr>
          <a:xfrm>
            <a:off x="411480" y="1664208"/>
            <a:ext cx="11338560" cy="384048"/>
          </a:xfrm>
          <a:prstGeom prst="rect">
            <a:avLst/>
          </a:prstGeom>
          <a:noFill/>
        </p:spPr>
        <p:txBody>
          <a:bodyPr wrap="square" anchor="t" lIns="0" rIns="0" tIns="0" bIns="0">
            <a:spAutoFit/>
          </a:bodyPr>
          <a:lstStyle/>
          <a:p>
            <a:pPr algn="l">
              <a:lnSpc>
                <a:spcPct val="100000"/>
              </a:lnSpc>
              <a:spcAft>
                <a:spcPts val="400"/>
              </a:spcAft>
            </a:pPr>
            <a:r>
              <a:rPr sz="1300" b="0" i="0">
                <a:solidFill>
                  <a:srgbClr val="3A4356"/>
                </a:solidFill>
                <a:latin typeface="Calibri"/>
              </a:rPr>
              <a:t>Photograph a circuit board, get a costed bill of materials in ~60 seconds. This year we hardened it from a clever demo into a </a:t>
            </a:r>
            <a:r>
              <a:rPr sz="1300" b="1" i="0">
                <a:solidFill>
                  <a:srgbClr val="16325C"/>
                </a:solidFill>
                <a:latin typeface="Calibri"/>
              </a:rPr>
              <a:t>number you can put in front of a supplier.</a:t>
            </a:r>
          </a:p>
        </p:txBody>
      </p:sp>
      <p:graphicFrame>
        <p:nvGraphicFramePr>
          <p:cNvPr id="10" name="Chart 9"/>
          <p:cNvGraphicFramePr>
            <a:graphicFrameLocks noGrp="1"/>
          </p:cNvGraphicFramePr>
          <p:nvPr/>
        </p:nvGraphicFramePr>
        <p:xfrm>
          <a:off x="411480" y="2240280"/>
          <a:ext cx="5623560" cy="3063240"/>
        </p:xfrm>
        <a:graphic>
          <a:graphicData uri="http://schemas.openxmlformats.org/drawingml/2006/chart">
            <c:chart xmlns:c="http://schemas.openxmlformats.org/drawingml/2006/chart" r:id="rId2"/>
          </a:graphicData>
        </a:graphic>
      </p:graphicFrame>
      <p:sp>
        <p:nvSpPr>
          <p:cNvPr id="11" name="TextBox 10"/>
          <p:cNvSpPr txBox="1"/>
          <p:nvPr/>
        </p:nvSpPr>
        <p:spPr>
          <a:xfrm>
            <a:off x="411480" y="5321808"/>
            <a:ext cx="5623560" cy="384048"/>
          </a:xfrm>
          <a:prstGeom prst="rect">
            <a:avLst/>
          </a:prstGeom>
          <a:noFill/>
        </p:spPr>
        <p:txBody>
          <a:bodyPr wrap="square" anchor="t" lIns="0" rIns="0" tIns="0" bIns="0">
            <a:spAutoFit/>
          </a:bodyPr>
          <a:lstStyle/>
          <a:p>
            <a:pPr algn="l">
              <a:lnSpc>
                <a:spcPct val="105000"/>
              </a:lnSpc>
              <a:spcAft>
                <a:spcPts val="400"/>
              </a:spcAft>
            </a:pPr>
            <a:r>
              <a:rPr sz="1000" b="0" i="1">
                <a:solidFill>
                  <a:srgbClr val="686F7D"/>
                </a:solidFill>
                <a:latin typeface="Calibri"/>
              </a:rPr>
              <a:t>Real automotive ECU, China @ 10k/yr — AI landed within ~5% of a half-day manual estimate, in ~60 s.</a:t>
            </a:r>
          </a:p>
        </p:txBody>
      </p:sp>
      <p:sp>
        <p:nvSpPr>
          <p:cNvPr id="12" name="Rounded Rectangle 11"/>
          <p:cNvSpPr/>
          <p:nvPr/>
        </p:nvSpPr>
        <p:spPr>
          <a:xfrm>
            <a:off x="6263640" y="2240280"/>
            <a:ext cx="5532120" cy="3063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395728"/>
            <a:ext cx="5029200" cy="320040"/>
          </a:xfrm>
          <a:prstGeom prst="rect">
            <a:avLst/>
          </a:prstGeom>
          <a:noFill/>
        </p:spPr>
        <p:txBody>
          <a:bodyPr wrap="square" anchor="t" lIns="0" rIns="0" tIns="0" bIns="0">
            <a:spAutoFit/>
          </a:bodyPr>
          <a:lstStyle/>
          <a:p>
            <a:pPr algn="l">
              <a:lnSpc>
                <a:spcPct val="100000"/>
              </a:lnSpc>
              <a:spcAft>
                <a:spcPts val="400"/>
              </a:spcAft>
            </a:pPr>
            <a:r>
              <a:rPr sz="1400" b="1" i="0">
                <a:solidFill>
                  <a:srgbClr val="16325C"/>
                </a:solidFill>
                <a:latin typeface="Calibri"/>
              </a:rPr>
              <a:t>What we fixed this year</a:t>
            </a:r>
          </a:p>
        </p:txBody>
      </p:sp>
      <p:sp>
        <p:nvSpPr>
          <p:cNvPr id="14" name="Rectangle 13"/>
          <p:cNvSpPr/>
          <p:nvPr/>
        </p:nvSpPr>
        <p:spPr>
          <a:xfrm>
            <a:off x="6537960" y="2834640"/>
            <a:ext cx="82296" cy="384048"/>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2843784"/>
            <a:ext cx="4892040" cy="384048"/>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  Complex boards no longer come back empty</a:t>
            </a:r>
          </a:p>
        </p:txBody>
      </p:sp>
      <p:sp>
        <p:nvSpPr>
          <p:cNvPr id="16" name="Rectangle 15"/>
          <p:cNvSpPr/>
          <p:nvPr/>
        </p:nvSpPr>
        <p:spPr>
          <a:xfrm>
            <a:off x="6537960" y="3337559"/>
            <a:ext cx="82296" cy="38404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84848" y="3346703"/>
            <a:ext cx="4892040" cy="384048"/>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  Part prices checked against a real catalogue</a:t>
            </a:r>
          </a:p>
        </p:txBody>
      </p:sp>
      <p:sp>
        <p:nvSpPr>
          <p:cNvPr id="18" name="Rectangle 17"/>
          <p:cNvSpPr/>
          <p:nvPr/>
        </p:nvSpPr>
        <p:spPr>
          <a:xfrm>
            <a:off x="6537960" y="3840480"/>
            <a:ext cx="82296" cy="384048"/>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84848" y="3849624"/>
            <a:ext cx="4892040" cy="384048"/>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  One misread part can no longer skew the total</a:t>
            </a:r>
          </a:p>
        </p:txBody>
      </p:sp>
      <p:sp>
        <p:nvSpPr>
          <p:cNvPr id="20" name="Rectangle 19"/>
          <p:cNvSpPr/>
          <p:nvPr/>
        </p:nvSpPr>
        <p:spPr>
          <a:xfrm>
            <a:off x="6537960" y="4343400"/>
            <a:ext cx="82296" cy="384048"/>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84848" y="4352544"/>
            <a:ext cx="4892040" cy="384048"/>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  Same photo, same answer, every run</a:t>
            </a:r>
          </a:p>
        </p:txBody>
      </p:sp>
      <p:sp>
        <p:nvSpPr>
          <p:cNvPr id="22" name="Rectangle 21"/>
          <p:cNvSpPr/>
          <p:nvPr/>
        </p:nvSpPr>
        <p:spPr>
          <a:xfrm>
            <a:off x="6537960" y="4846320"/>
            <a:ext cx="82296" cy="384048"/>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84848" y="4855464"/>
            <a:ext cx="4892040" cy="384048"/>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  It separates the £ you can trust from the £ to verify</a:t>
            </a:r>
          </a:p>
        </p:txBody>
      </p:sp>
      <p:sp>
        <p:nvSpPr>
          <p:cNvPr id="24" name="Rounded Rectangle 23"/>
          <p:cNvSpPr/>
          <p:nvPr/>
        </p:nvSpPr>
        <p:spPr>
          <a:xfrm>
            <a:off x="411480" y="5468112"/>
            <a:ext cx="11384280" cy="777240"/>
          </a:xfrm>
          <a:prstGeom prst="roundRect">
            <a:avLst>
              <a:gd name="adj" fmla="val 1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596128"/>
            <a:ext cx="10972800" cy="548640"/>
          </a:xfrm>
          <a:prstGeom prst="rect">
            <a:avLst/>
          </a:prstGeom>
          <a:noFill/>
        </p:spPr>
        <p:txBody>
          <a:bodyPr wrap="square" anchor="t" lIns="0" rIns="0" tIns="0" bIns="0">
            <a:spAutoFit/>
          </a:bodyPr>
          <a:lstStyle/>
          <a:p>
            <a:pPr algn="l">
              <a:lnSpc>
                <a:spcPct val="115000"/>
              </a:lnSpc>
              <a:spcAft>
                <a:spcPts val="400"/>
              </a:spcAft>
            </a:pPr>
            <a:r>
              <a:rPr sz="1250" b="1" i="0">
                <a:solidFill>
                  <a:srgbClr val="1D6FB8"/>
                </a:solidFill>
                <a:latin typeface="Calibri"/>
              </a:rPr>
              <a:t>Result:  </a:t>
            </a:r>
            <a:r>
              <a:rPr sz="1200" b="0" i="0">
                <a:solidFill>
                  <a:srgbClr val="3A4356"/>
                </a:solidFill>
                <a:latin typeface="Calibri"/>
              </a:rPr>
              <a:t>the over-costing is gone. That live ECU came back at £69.11 a board — £37.65 confirmed, £24.64 flagged to verify. From a photograph, in about a minute.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THE DIFFERENTIATOR</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Why ours is different — glass-box autonomy</a:t>
            </a:r>
          </a:p>
        </p:txBody>
      </p:sp>
      <p:sp>
        <p:nvSpPr>
          <p:cNvPr id="9" name="Rounded Rectangle 8"/>
          <p:cNvSpPr/>
          <p:nvPr/>
        </p:nvSpPr>
        <p:spPr>
          <a:xfrm>
            <a:off x="411480" y="1828800"/>
            <a:ext cx="11384280" cy="118872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1680"/>
            <a:ext cx="10881360" cy="914400"/>
          </a:xfrm>
          <a:prstGeom prst="rect">
            <a:avLst/>
          </a:prstGeom>
          <a:noFill/>
        </p:spPr>
        <p:txBody>
          <a:bodyPr wrap="square" anchor="t" lIns="0" rIns="0" tIns="0" bIns="0">
            <a:spAutoFit/>
          </a:bodyPr>
          <a:lstStyle/>
          <a:p>
            <a:pPr algn="l">
              <a:lnSpc>
                <a:spcPct val="120000"/>
              </a:lnSpc>
              <a:spcAft>
                <a:spcPts val="400"/>
              </a:spcAft>
            </a:pPr>
            <a:r>
              <a:rPr sz="1500" b="1" i="0">
                <a:solidFill>
                  <a:srgbClr val="1D6FB8"/>
                </a:solidFill>
                <a:latin typeface="Calibri"/>
              </a:rPr>
              <a:t>The principle:  </a:t>
            </a:r>
            <a:r>
              <a:rPr sz="1350" b="0" i="0">
                <a:solidFill>
                  <a:srgbClr val="3A4356"/>
                </a:solidFill>
                <a:latin typeface="Calibri"/>
              </a:rPr>
              <a:t>every learned or derived number stays auditable — a value a cost engineer can read and defend. No black-box weight ever touches the price. The AI narrates and explains; it never decides the number in secret.</a:t>
            </a:r>
          </a:p>
        </p:txBody>
      </p:sp>
      <p:sp>
        <p:nvSpPr>
          <p:cNvPr id="11" name="Rounded Rectangle 10"/>
          <p:cNvSpPr/>
          <p:nvPr/>
        </p:nvSpPr>
        <p:spPr>
          <a:xfrm>
            <a:off x="411480" y="3200400"/>
            <a:ext cx="11384280" cy="5303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200400"/>
            <a:ext cx="82296" cy="530352"/>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319272"/>
            <a:ext cx="3291840" cy="320040"/>
          </a:xfrm>
          <a:prstGeom prst="rect">
            <a:avLst/>
          </a:prstGeom>
          <a:noFill/>
        </p:spPr>
        <p:txBody>
          <a:bodyPr wrap="square" anchor="t" lIns="0" rIns="0" tIns="0" bIns="0">
            <a:spAutoFit/>
          </a:bodyPr>
          <a:lstStyle/>
          <a:p>
            <a:pPr algn="l">
              <a:lnSpc>
                <a:spcPct val="100000"/>
              </a:lnSpc>
              <a:spcAft>
                <a:spcPts val="400"/>
              </a:spcAft>
            </a:pPr>
            <a:r>
              <a:rPr sz="1250" b="1" i="0">
                <a:solidFill>
                  <a:srgbClr val="2A7F50"/>
                </a:solidFill>
                <a:latin typeface="Calibri"/>
              </a:rPr>
              <a:t>Continuous learning</a:t>
            </a:r>
          </a:p>
        </p:txBody>
      </p:sp>
      <p:sp>
        <p:nvSpPr>
          <p:cNvPr id="14" name="TextBox 13"/>
          <p:cNvSpPr txBox="1"/>
          <p:nvPr/>
        </p:nvSpPr>
        <p:spPr>
          <a:xfrm>
            <a:off x="4114800" y="3319272"/>
            <a:ext cx="7498079" cy="32004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Calibrates on YOUR quotes; conformal band with a guarantee</a:t>
            </a:r>
          </a:p>
        </p:txBody>
      </p:sp>
      <p:sp>
        <p:nvSpPr>
          <p:cNvPr id="15" name="Rounded Rectangle 14"/>
          <p:cNvSpPr/>
          <p:nvPr/>
        </p:nvSpPr>
        <p:spPr>
          <a:xfrm>
            <a:off x="411480" y="3803904"/>
            <a:ext cx="11384280" cy="530352"/>
          </a:xfrm>
          <a:prstGeom prst="roundRect">
            <a:avLst>
              <a:gd name="adj" fmla="val 10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803904"/>
            <a:ext cx="82296" cy="530352"/>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922776"/>
            <a:ext cx="3291840" cy="320040"/>
          </a:xfrm>
          <a:prstGeom prst="rect">
            <a:avLst/>
          </a:prstGeom>
          <a:noFill/>
        </p:spPr>
        <p:txBody>
          <a:bodyPr wrap="square" anchor="t" lIns="0" rIns="0" tIns="0" bIns="0">
            <a:spAutoFit/>
          </a:bodyPr>
          <a:lstStyle/>
          <a:p>
            <a:pPr algn="l">
              <a:lnSpc>
                <a:spcPct val="100000"/>
              </a:lnSpc>
              <a:spcAft>
                <a:spcPts val="400"/>
              </a:spcAft>
            </a:pPr>
            <a:r>
              <a:rPr sz="1250" b="1" i="0">
                <a:solidFill>
                  <a:srgbClr val="2A7F50"/>
                </a:solidFill>
                <a:latin typeface="Calibri"/>
              </a:rPr>
              <a:t>Autonomous action</a:t>
            </a:r>
          </a:p>
        </p:txBody>
      </p:sp>
      <p:sp>
        <p:nvSpPr>
          <p:cNvPr id="18" name="TextBox 17"/>
          <p:cNvSpPr txBox="1"/>
          <p:nvPr/>
        </p:nvSpPr>
        <p:spPr>
          <a:xfrm>
            <a:off x="4114800" y="3922776"/>
            <a:ext cx="7498079" cy="32004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Agent opens findings unattended AND learns which convert</a:t>
            </a:r>
          </a:p>
        </p:txBody>
      </p:sp>
      <p:sp>
        <p:nvSpPr>
          <p:cNvPr id="19" name="Rounded Rectangle 18"/>
          <p:cNvSpPr/>
          <p:nvPr/>
        </p:nvSpPr>
        <p:spPr>
          <a:xfrm>
            <a:off x="411480" y="4407408"/>
            <a:ext cx="11384280" cy="5303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4407408"/>
            <a:ext cx="82296" cy="530352"/>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526280"/>
            <a:ext cx="3291840" cy="320040"/>
          </a:xfrm>
          <a:prstGeom prst="rect">
            <a:avLst/>
          </a:prstGeom>
          <a:noFill/>
        </p:spPr>
        <p:txBody>
          <a:bodyPr wrap="square" anchor="t" lIns="0" rIns="0" tIns="0" bIns="0">
            <a:spAutoFit/>
          </a:bodyPr>
          <a:lstStyle/>
          <a:p>
            <a:pPr algn="l">
              <a:lnSpc>
                <a:spcPct val="100000"/>
              </a:lnSpc>
              <a:spcAft>
                <a:spcPts val="400"/>
              </a:spcAft>
            </a:pPr>
            <a:r>
              <a:rPr sz="1250" b="1" i="0">
                <a:solidFill>
                  <a:srgbClr val="2A7F50"/>
                </a:solidFill>
                <a:latin typeface="Calibri"/>
              </a:rPr>
              <a:t>Causal reasoning</a:t>
            </a:r>
          </a:p>
        </p:txBody>
      </p:sp>
      <p:sp>
        <p:nvSpPr>
          <p:cNvPr id="22" name="TextBox 21"/>
          <p:cNvSpPr txBox="1"/>
          <p:nvPr/>
        </p:nvSpPr>
        <p:spPr>
          <a:xfrm>
            <a:off x="4114800" y="4526280"/>
            <a:ext cx="7498079" cy="32004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Knows why a part costs what it does; coaches the negotiation</a:t>
            </a:r>
          </a:p>
        </p:txBody>
      </p:sp>
      <p:sp>
        <p:nvSpPr>
          <p:cNvPr id="23" name="Rounded Rectangle 22"/>
          <p:cNvSpPr/>
          <p:nvPr/>
        </p:nvSpPr>
        <p:spPr>
          <a:xfrm>
            <a:off x="411480" y="5010912"/>
            <a:ext cx="11384280" cy="530352"/>
          </a:xfrm>
          <a:prstGeom prst="roundRect">
            <a:avLst>
              <a:gd name="adj" fmla="val 10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5010912"/>
            <a:ext cx="82296" cy="530352"/>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129784"/>
            <a:ext cx="3291840" cy="320040"/>
          </a:xfrm>
          <a:prstGeom prst="rect">
            <a:avLst/>
          </a:prstGeom>
          <a:noFill/>
        </p:spPr>
        <p:txBody>
          <a:bodyPr wrap="square" anchor="t" lIns="0" rIns="0" tIns="0" bIns="0">
            <a:spAutoFit/>
          </a:bodyPr>
          <a:lstStyle/>
          <a:p>
            <a:pPr algn="l">
              <a:lnSpc>
                <a:spcPct val="100000"/>
              </a:lnSpc>
              <a:spcAft>
                <a:spcPts val="400"/>
              </a:spcAft>
            </a:pPr>
            <a:r>
              <a:rPr sz="1250" b="1" i="0">
                <a:solidFill>
                  <a:srgbClr val="1D6FB8"/>
                </a:solidFill>
                <a:latin typeface="Calibri"/>
              </a:rPr>
              <a:t>Explainable — always</a:t>
            </a:r>
          </a:p>
        </p:txBody>
      </p:sp>
      <p:sp>
        <p:nvSpPr>
          <p:cNvPr id="26" name="TextBox 25"/>
          <p:cNvSpPr txBox="1"/>
          <p:nvPr/>
        </p:nvSpPr>
        <p:spPr>
          <a:xfrm>
            <a:off x="4114800" y="5129784"/>
            <a:ext cx="7498079" cy="32004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Every number defensible line-by-line; the competitor’s edge is the opposite</a:t>
            </a:r>
          </a:p>
        </p:txBody>
      </p:sp>
      <p:sp>
        <p:nvSpPr>
          <p:cNvPr id="27" name="Rounded Rectangle 26"/>
          <p:cNvSpPr/>
          <p:nvPr/>
        </p:nvSpPr>
        <p:spPr>
          <a:xfrm>
            <a:off x="411480" y="5614416"/>
            <a:ext cx="11384280" cy="5303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5614416"/>
            <a:ext cx="82296" cy="530352"/>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733288"/>
            <a:ext cx="3291840" cy="320040"/>
          </a:xfrm>
          <a:prstGeom prst="rect">
            <a:avLst/>
          </a:prstGeom>
          <a:noFill/>
        </p:spPr>
        <p:txBody>
          <a:bodyPr wrap="square" anchor="t" lIns="0" rIns="0" tIns="0" bIns="0">
            <a:spAutoFit/>
          </a:bodyPr>
          <a:lstStyle/>
          <a:p>
            <a:pPr algn="l">
              <a:lnSpc>
                <a:spcPct val="100000"/>
              </a:lnSpc>
              <a:spcAft>
                <a:spcPts val="400"/>
              </a:spcAft>
            </a:pPr>
            <a:r>
              <a:rPr sz="1250" b="1" i="0">
                <a:solidFill>
                  <a:srgbClr val="6B3FA0"/>
                </a:solidFill>
                <a:latin typeface="Calibri"/>
              </a:rPr>
              <a:t>Runs in your walls</a:t>
            </a:r>
          </a:p>
        </p:txBody>
      </p:sp>
      <p:sp>
        <p:nvSpPr>
          <p:cNvPr id="30" name="TextBox 29"/>
          <p:cNvSpPr txBox="1"/>
          <p:nvPr/>
        </p:nvSpPr>
        <p:spPr>
          <a:xfrm>
            <a:off x="4114800" y="5733288"/>
            <a:ext cx="7498079" cy="32004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On-premise; the knowledge is your IP and never leaves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NEW CAPABILITY — GEOMETRIC DFM</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It now reads the part itself</a:t>
            </a:r>
          </a:p>
        </p:txBody>
      </p:sp>
      <p:sp>
        <p:nvSpPr>
          <p:cNvPr id="9" name="Rounded Rectangle 8"/>
          <p:cNvSpPr/>
          <p:nvPr/>
        </p:nvSpPr>
        <p:spPr>
          <a:xfrm>
            <a:off x="411480" y="1783080"/>
            <a:ext cx="11384280" cy="777240"/>
          </a:xfrm>
          <a:prstGeom prst="roundRect">
            <a:avLst>
              <a:gd name="adj" fmla="val 5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874519"/>
            <a:ext cx="10881360" cy="594360"/>
          </a:xfrm>
          <a:prstGeom prst="rect">
            <a:avLst/>
          </a:prstGeom>
          <a:noFill/>
        </p:spPr>
        <p:txBody>
          <a:bodyPr wrap="square" anchor="t" lIns="0" rIns="0" tIns="0" bIns="0">
            <a:spAutoFit/>
          </a:bodyPr>
          <a:lstStyle/>
          <a:p>
            <a:pPr algn="l">
              <a:lnSpc>
                <a:spcPct val="115000"/>
              </a:lnSpc>
              <a:spcAft>
                <a:spcPts val="400"/>
              </a:spcAft>
            </a:pPr>
            <a:r>
              <a:rPr sz="1250" b="1" i="0">
                <a:solidFill>
                  <a:srgbClr val="99651A"/>
                </a:solidFill>
                <a:latin typeface="Calibri"/>
              </a:rPr>
              <a:t>The old way: </a:t>
            </a:r>
            <a:r>
              <a:rPr sz="1250" b="0" i="0">
                <a:solidFill>
                  <a:srgbClr val="3A4356"/>
                </a:solidFill>
                <a:latin typeface="Calibri"/>
              </a:rPr>
              <a:t>look at the finished cost and infer what might be wrong.  </a:t>
            </a:r>
            <a:r>
              <a:rPr sz="1250" b="1" i="0">
                <a:solidFill>
                  <a:srgbClr val="2A7F50"/>
                </a:solidFill>
                <a:latin typeface="Calibri"/>
              </a:rPr>
              <a:t>Now: </a:t>
            </a:r>
            <a:r>
              <a:rPr sz="1250" b="0" i="0">
                <a:solidFill>
                  <a:srgbClr val="3A4356"/>
                </a:solidFill>
                <a:latin typeface="Calibri"/>
              </a:rPr>
              <a:t>scan the 3D model, measure every face, and name the exact features that cost money.</a:t>
            </a:r>
          </a:p>
        </p:txBody>
      </p:sp>
      <p:sp>
        <p:nvSpPr>
          <p:cNvPr id="11" name="Rounded Rectangle 10"/>
          <p:cNvSpPr/>
          <p:nvPr/>
        </p:nvSpPr>
        <p:spPr>
          <a:xfrm>
            <a:off x="411480" y="2743200"/>
            <a:ext cx="3611880" cy="16002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880360"/>
            <a:ext cx="3200400" cy="502920"/>
          </a:xfrm>
          <a:prstGeom prst="rect">
            <a:avLst/>
          </a:prstGeom>
          <a:noFill/>
        </p:spPr>
        <p:txBody>
          <a:bodyPr wrap="square" anchor="t" lIns="0" rIns="0" tIns="0" bIns="0">
            <a:spAutoFit/>
          </a:bodyPr>
          <a:lstStyle/>
          <a:p>
            <a:pPr algn="l">
              <a:lnSpc>
                <a:spcPct val="100000"/>
              </a:lnSpc>
              <a:spcAft>
                <a:spcPts val="400"/>
              </a:spcAft>
            </a:pPr>
            <a:r>
              <a:rPr sz="3000" b="1" i="0">
                <a:solidFill>
                  <a:srgbClr val="2A7F50"/>
                </a:solidFill>
                <a:latin typeface="Calibri"/>
              </a:rPr>
              <a:t>19</a:t>
            </a:r>
          </a:p>
        </p:txBody>
      </p:sp>
      <p:sp>
        <p:nvSpPr>
          <p:cNvPr id="13" name="TextBox 12"/>
          <p:cNvSpPr txBox="1"/>
          <p:nvPr/>
        </p:nvSpPr>
        <p:spPr>
          <a:xfrm>
            <a:off x="640080" y="3401568"/>
            <a:ext cx="3200400" cy="274320"/>
          </a:xfrm>
          <a:prstGeom prst="rect">
            <a:avLst/>
          </a:prstGeom>
          <a:noFill/>
        </p:spPr>
        <p:txBody>
          <a:bodyPr wrap="square" anchor="t" lIns="0" rIns="0" tIns="0" bIns="0">
            <a:spAutoFit/>
          </a:bodyPr>
          <a:lstStyle/>
          <a:p>
            <a:pPr algn="l">
              <a:lnSpc>
                <a:spcPct val="100000"/>
              </a:lnSpc>
              <a:spcAft>
                <a:spcPts val="400"/>
              </a:spcAft>
            </a:pPr>
            <a:r>
              <a:rPr sz="1200" b="1" i="0">
                <a:solidFill>
                  <a:srgbClr val="16325C"/>
                </a:solidFill>
                <a:latin typeface="Calibri"/>
              </a:rPr>
              <a:t>cited rules</a:t>
            </a:r>
          </a:p>
        </p:txBody>
      </p:sp>
      <p:sp>
        <p:nvSpPr>
          <p:cNvPr id="14" name="TextBox 13"/>
          <p:cNvSpPr txBox="1"/>
          <p:nvPr/>
        </p:nvSpPr>
        <p:spPr>
          <a:xfrm>
            <a:off x="640080" y="3703320"/>
            <a:ext cx="3200400" cy="594360"/>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Every rule names a published source — ASM Handbook, NADCA,
Machinery's Handbook. No citation, no ship.</a:t>
            </a:r>
          </a:p>
        </p:txBody>
      </p:sp>
      <p:sp>
        <p:nvSpPr>
          <p:cNvPr id="15" name="Rounded Rectangle 14"/>
          <p:cNvSpPr/>
          <p:nvPr/>
        </p:nvSpPr>
        <p:spPr>
          <a:xfrm>
            <a:off x="4251960" y="2743200"/>
            <a:ext cx="3611880" cy="16002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880360"/>
            <a:ext cx="3200400" cy="502920"/>
          </a:xfrm>
          <a:prstGeom prst="rect">
            <a:avLst/>
          </a:prstGeom>
          <a:noFill/>
        </p:spPr>
        <p:txBody>
          <a:bodyPr wrap="square" anchor="t" lIns="0" rIns="0" tIns="0" bIns="0">
            <a:spAutoFit/>
          </a:bodyPr>
          <a:lstStyle/>
          <a:p>
            <a:pPr algn="l">
              <a:lnSpc>
                <a:spcPct val="100000"/>
              </a:lnSpc>
              <a:spcAft>
                <a:spcPts val="400"/>
              </a:spcAft>
            </a:pPr>
            <a:r>
              <a:rPr sz="3000" b="1" i="0">
                <a:solidFill>
                  <a:srgbClr val="1D6FB8"/>
                </a:solidFill>
                <a:latin typeface="Calibri"/>
              </a:rPr>
              <a:t>6</a:t>
            </a:r>
          </a:p>
        </p:txBody>
      </p:sp>
      <p:sp>
        <p:nvSpPr>
          <p:cNvPr id="17" name="TextBox 16"/>
          <p:cNvSpPr txBox="1"/>
          <p:nvPr/>
        </p:nvSpPr>
        <p:spPr>
          <a:xfrm>
            <a:off x="4480560" y="3401568"/>
            <a:ext cx="3200400" cy="274320"/>
          </a:xfrm>
          <a:prstGeom prst="rect">
            <a:avLst/>
          </a:prstGeom>
          <a:noFill/>
        </p:spPr>
        <p:txBody>
          <a:bodyPr wrap="square" anchor="t" lIns="0" rIns="0" tIns="0" bIns="0">
            <a:spAutoFit/>
          </a:bodyPr>
          <a:lstStyle/>
          <a:p>
            <a:pPr algn="l">
              <a:lnSpc>
                <a:spcPct val="100000"/>
              </a:lnSpc>
              <a:spcAft>
                <a:spcPts val="400"/>
              </a:spcAft>
            </a:pPr>
            <a:r>
              <a:rPr sz="1200" b="1" i="0">
                <a:solidFill>
                  <a:srgbClr val="16325C"/>
                </a:solidFill>
                <a:latin typeface="Calibri"/>
              </a:rPr>
              <a:t>commodity packs</a:t>
            </a:r>
          </a:p>
        </p:txBody>
      </p:sp>
      <p:sp>
        <p:nvSpPr>
          <p:cNvPr id="18" name="TextBox 17"/>
          <p:cNvSpPr txBox="1"/>
          <p:nvPr/>
        </p:nvSpPr>
        <p:spPr>
          <a:xfrm>
            <a:off x="4480560" y="3703320"/>
            <a:ext cx="3200400" cy="594360"/>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Casting, forging, machining, injection &amp; blow moulding,
sheet metal — each with its own physics.</a:t>
            </a:r>
          </a:p>
        </p:txBody>
      </p:sp>
      <p:sp>
        <p:nvSpPr>
          <p:cNvPr id="19" name="Rounded Rectangle 18"/>
          <p:cNvSpPr/>
          <p:nvPr/>
        </p:nvSpPr>
        <p:spPr>
          <a:xfrm>
            <a:off x="8092440" y="2743200"/>
            <a:ext cx="3611880" cy="16002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880360"/>
            <a:ext cx="3200400" cy="502920"/>
          </a:xfrm>
          <a:prstGeom prst="rect">
            <a:avLst/>
          </a:prstGeom>
          <a:noFill/>
        </p:spPr>
        <p:txBody>
          <a:bodyPr wrap="square" anchor="t" lIns="0" rIns="0" tIns="0" bIns="0">
            <a:spAutoFit/>
          </a:bodyPr>
          <a:lstStyle/>
          <a:p>
            <a:pPr algn="l">
              <a:lnSpc>
                <a:spcPct val="100000"/>
              </a:lnSpc>
              <a:spcAft>
                <a:spcPts val="400"/>
              </a:spcAft>
            </a:pPr>
            <a:r>
              <a:rPr sz="3000" b="1" i="0">
                <a:solidFill>
                  <a:srgbClr val="1D6FB8"/>
                </a:solidFill>
                <a:latin typeface="Calibri"/>
              </a:rPr>
              <a:t>Faces</a:t>
            </a:r>
          </a:p>
        </p:txBody>
      </p:sp>
      <p:sp>
        <p:nvSpPr>
          <p:cNvPr id="21" name="TextBox 20"/>
          <p:cNvSpPr txBox="1"/>
          <p:nvPr/>
        </p:nvSpPr>
        <p:spPr>
          <a:xfrm>
            <a:off x="8321040" y="3401568"/>
            <a:ext cx="3200400" cy="274320"/>
          </a:xfrm>
          <a:prstGeom prst="rect">
            <a:avLst/>
          </a:prstGeom>
          <a:noFill/>
        </p:spPr>
        <p:txBody>
          <a:bodyPr wrap="square" anchor="t" lIns="0" rIns="0" tIns="0" bIns="0">
            <a:spAutoFit/>
          </a:bodyPr>
          <a:lstStyle/>
          <a:p>
            <a:pPr algn="l">
              <a:lnSpc>
                <a:spcPct val="100000"/>
              </a:lnSpc>
              <a:spcAft>
                <a:spcPts val="400"/>
              </a:spcAft>
            </a:pPr>
            <a:r>
              <a:rPr sz="1200" b="1" i="0">
                <a:solidFill>
                  <a:srgbClr val="16325C"/>
                </a:solidFill>
                <a:latin typeface="Calibri"/>
              </a:rPr>
              <a:t>named, not counted</a:t>
            </a:r>
          </a:p>
        </p:txBody>
      </p:sp>
      <p:sp>
        <p:nvSpPr>
          <p:cNvPr id="22" name="TextBox 21"/>
          <p:cNvSpPr txBox="1"/>
          <p:nvPr/>
        </p:nvSpPr>
        <p:spPr>
          <a:xfrm>
            <a:off x="8321040" y="3703320"/>
            <a:ext cx="3200400" cy="594360"/>
          </a:xfrm>
          <a:prstGeom prst="rect">
            <a:avLst/>
          </a:prstGeom>
          <a:noFill/>
        </p:spPr>
        <p:txBody>
          <a:bodyPr wrap="square" anchor="t" lIns="0" rIns="0" tIns="0" bIns="0">
            <a:spAutoFit/>
          </a:bodyPr>
          <a:lstStyle/>
          <a:p>
            <a:pPr algn="l">
              <a:lnSpc>
                <a:spcPct val="112000"/>
              </a:lnSpc>
              <a:spcAft>
                <a:spcPts val="400"/>
              </a:spcAft>
            </a:pPr>
            <a:r>
              <a:rPr sz="1000" b="0" i="0">
                <a:solidFill>
                  <a:srgbClr val="3A4356"/>
                </a:solidFill>
                <a:latin typeface="Calibri"/>
              </a:rPr>
              <a:t>A finding says "face 186 sits at 135° to the draw", not
"tooling looks high". You can click it and see it.</a:t>
            </a:r>
          </a:p>
        </p:txBody>
      </p:sp>
      <p:sp>
        <p:nvSpPr>
          <p:cNvPr id="23" name="Rounded Rectangle 22"/>
          <p:cNvSpPr/>
          <p:nvPr/>
        </p:nvSpPr>
        <p:spPr>
          <a:xfrm>
            <a:off x="411480" y="4526280"/>
            <a:ext cx="11384280" cy="13258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645152"/>
            <a:ext cx="10881360" cy="320040"/>
          </a:xfrm>
          <a:prstGeom prst="rect">
            <a:avLst/>
          </a:prstGeom>
          <a:noFill/>
        </p:spPr>
        <p:txBody>
          <a:bodyPr wrap="square" anchor="t" lIns="0" rIns="0" tIns="0" bIns="0">
            <a:spAutoFit/>
          </a:bodyPr>
          <a:lstStyle/>
          <a:p>
            <a:pPr algn="l">
              <a:lnSpc>
                <a:spcPct val="100000"/>
              </a:lnSpc>
              <a:spcAft>
                <a:spcPts val="400"/>
              </a:spcAft>
            </a:pPr>
            <a:r>
              <a:rPr sz="1400" b="1" i="0">
                <a:solidFill>
                  <a:srgbClr val="16325C"/>
                </a:solidFill>
                <a:latin typeface="Calibri"/>
              </a:rPr>
              <a:t>It runs on its own, and it says what it did NOT check</a:t>
            </a:r>
          </a:p>
        </p:txBody>
      </p:sp>
      <p:sp>
        <p:nvSpPr>
          <p:cNvPr id="25" name="TextBox 24"/>
          <p:cNvSpPr txBox="1"/>
          <p:nvPr/>
        </p:nvSpPr>
        <p:spPr>
          <a:xfrm>
            <a:off x="685800" y="5010912"/>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A7F50"/>
                </a:solidFill>
                <a:latin typeface="Calibri"/>
              </a:rPr>
              <a:t>•  </a:t>
            </a:r>
            <a:r>
              <a:rPr sz="1100" b="0" i="0">
                <a:solidFill>
                  <a:srgbClr val="3A4356"/>
                </a:solidFill>
                <a:latin typeface="Calibri"/>
              </a:rPr>
              <a:t>The scan runs in the background after upload — nobody waits for it.</a:t>
            </a:r>
          </a:p>
        </p:txBody>
      </p:sp>
      <p:sp>
        <p:nvSpPr>
          <p:cNvPr id="26" name="TextBox 25"/>
          <p:cNvSpPr txBox="1"/>
          <p:nvPr/>
        </p:nvSpPr>
        <p:spPr>
          <a:xfrm>
            <a:off x="685800" y="5294376"/>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A7F50"/>
                </a:solidFill>
                <a:latin typeface="Calibri"/>
              </a:rPr>
              <a:t>•  </a:t>
            </a:r>
            <a:r>
              <a:rPr sz="1100" b="0" i="0">
                <a:solidFill>
                  <a:srgbClr val="3A4356"/>
                </a:solidFill>
                <a:latin typeface="Calibri"/>
              </a:rPr>
              <a:t>Each finding carries the measured value, the threshold and the standard it came from.</a:t>
            </a:r>
          </a:p>
        </p:txBody>
      </p:sp>
      <p:sp>
        <p:nvSpPr>
          <p:cNvPr id="27" name="TextBox 26"/>
          <p:cNvSpPr txBox="1"/>
          <p:nvPr/>
        </p:nvSpPr>
        <p:spPr>
          <a:xfrm>
            <a:off x="685800" y="557784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A7F50"/>
                </a:solidFill>
                <a:latin typeface="Calibri"/>
              </a:rPr>
              <a:t>•  </a:t>
            </a:r>
            <a:r>
              <a:rPr sz="1100" b="0" i="0">
                <a:solidFill>
                  <a:srgbClr val="3A4356"/>
                </a:solidFill>
                <a:latin typeface="Calibri"/>
              </a:rPr>
              <a:t>Every part also lists what could not be checked, so a short list is never mistaken for a clean part.</a:t>
            </a:r>
          </a:p>
        </p:txBody>
      </p:sp>
      <p:sp>
        <p:nvSpPr>
          <p:cNvPr id="28" name="Rectangle 27"/>
          <p:cNvSpPr/>
          <p:nvPr/>
        </p:nvSpPr>
        <p:spPr>
          <a:xfrm>
            <a:off x="0" y="6711696"/>
            <a:ext cx="12191695" cy="14630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NEW COMMODITY — ASKED FOR BY COST ENGINEERING AND THE PLANT</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Gears: it now picks the process, not just the price</a:t>
            </a:r>
          </a:p>
        </p:txBody>
      </p:sp>
      <p:sp>
        <p:nvSpPr>
          <p:cNvPr id="9" name="Rounded Rectangle 8"/>
          <p:cNvSpPr/>
          <p:nvPr/>
        </p:nvSpPr>
        <p:spPr>
          <a:xfrm>
            <a:off x="411480" y="1783080"/>
            <a:ext cx="11384280" cy="731520"/>
          </a:xfrm>
          <a:prstGeom prst="roundRect">
            <a:avLst>
              <a:gd name="adj" fmla="val 5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874519"/>
            <a:ext cx="10881360" cy="548640"/>
          </a:xfrm>
          <a:prstGeom prst="rect">
            <a:avLst/>
          </a:prstGeom>
          <a:noFill/>
        </p:spPr>
        <p:txBody>
          <a:bodyPr wrap="square" anchor="t" lIns="0" rIns="0" tIns="0" bIns="0">
            <a:spAutoFit/>
          </a:bodyPr>
          <a:lstStyle/>
          <a:p>
            <a:pPr algn="l">
              <a:lnSpc>
                <a:spcPct val="115000"/>
              </a:lnSpc>
              <a:spcAft>
                <a:spcPts val="400"/>
              </a:spcAft>
            </a:pPr>
            <a:r>
              <a:rPr sz="1250" b="0" i="0">
                <a:solidFill>
                  <a:srgbClr val="3A4356"/>
                </a:solidFill>
                <a:latin typeface="Calibri"/>
              </a:rPr>
              <a:t>Ask for a more accurate gear and the tool does not multiply the price. </a:t>
            </a:r>
            <a:r>
              <a:rPr sz="1250" b="1" i="0">
                <a:solidFill>
                  <a:srgbClr val="2A7F50"/>
                </a:solidFill>
                <a:latin typeface="Calibri"/>
              </a:rPr>
              <a:t>It adds machines.</a:t>
            </a:r>
          </a:p>
        </p:txBody>
      </p:sp>
      <p:sp>
        <p:nvSpPr>
          <p:cNvPr id="11" name="Rounded Rectangle 10"/>
          <p:cNvSpPr/>
          <p:nvPr/>
        </p:nvSpPr>
        <p:spPr>
          <a:xfrm>
            <a:off x="411480" y="2697480"/>
            <a:ext cx="11384280" cy="6217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697480"/>
            <a:ext cx="2743200" cy="621792"/>
          </a:xfrm>
          <a:prstGeom prst="rect">
            <a:avLst/>
          </a:prstGeom>
          <a:noFill/>
        </p:spPr>
        <p:txBody>
          <a:bodyPr wrap="square" anchor="ctr" lIns="0" rIns="0" tIns="0" bIns="0">
            <a:spAutoFit/>
          </a:bodyPr>
          <a:lstStyle/>
          <a:p>
            <a:pPr algn="l">
              <a:lnSpc>
                <a:spcPct val="100000"/>
              </a:lnSpc>
              <a:spcAft>
                <a:spcPts val="400"/>
              </a:spcAft>
            </a:pPr>
            <a:r>
              <a:rPr sz="1200" b="1" i="0">
                <a:solidFill>
                  <a:srgbClr val="16325C"/>
                </a:solidFill>
                <a:latin typeface="Calibri"/>
              </a:rPr>
              <a:t>Loose gear (ISO 9)</a:t>
            </a:r>
          </a:p>
        </p:txBody>
      </p:sp>
      <p:sp>
        <p:nvSpPr>
          <p:cNvPr id="13" name="Rounded Rectangle 12"/>
          <p:cNvSpPr/>
          <p:nvPr/>
        </p:nvSpPr>
        <p:spPr>
          <a:xfrm>
            <a:off x="3520440" y="2816352"/>
            <a:ext cx="1143000" cy="384048"/>
          </a:xfrm>
          <a:prstGeom prst="roundRect">
            <a:avLst>
              <a:gd name="adj" fmla="val 6000"/>
            </a:avLst>
          </a:prstGeom>
          <a:solidFill>
            <a:srgbClr val="F4F7FB"/>
          </a:solidFill>
          <a:ln w="9525">
            <a:solidFill>
              <a:srgbClr val="686F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2816352"/>
            <a:ext cx="1143000" cy="384048"/>
          </a:xfrm>
          <a:prstGeom prst="rect">
            <a:avLst/>
          </a:prstGeom>
          <a:noFill/>
        </p:spPr>
        <p:txBody>
          <a:bodyPr wrap="square" anchor="ctr" lIns="0" rIns="0" tIns="0" bIns="0">
            <a:spAutoFit/>
          </a:bodyPr>
          <a:lstStyle/>
          <a:p>
            <a:pPr algn="ctr">
              <a:lnSpc>
                <a:spcPct val="100000"/>
              </a:lnSpc>
              <a:spcAft>
                <a:spcPts val="400"/>
              </a:spcAft>
            </a:pPr>
            <a:r>
              <a:rPr sz="950" b="0" i="0">
                <a:solidFill>
                  <a:srgbClr val="3A4356"/>
                </a:solidFill>
                <a:latin typeface="Calibri"/>
              </a:rPr>
              <a:t>Cut teeth</a:t>
            </a:r>
          </a:p>
        </p:txBody>
      </p:sp>
      <p:sp>
        <p:nvSpPr>
          <p:cNvPr id="15" name="Right Arrow 14"/>
          <p:cNvSpPr/>
          <p:nvPr/>
        </p:nvSpPr>
        <p:spPr>
          <a:xfrm>
            <a:off x="4700016" y="2944368"/>
            <a:ext cx="146304" cy="128016"/>
          </a:xfrm>
          <a:prstGeom prst="rightArrow">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82896" y="2816352"/>
            <a:ext cx="1143000" cy="384048"/>
          </a:xfrm>
          <a:prstGeom prst="roundRect">
            <a:avLst>
              <a:gd name="adj" fmla="val 6000"/>
            </a:avLst>
          </a:prstGeom>
          <a:solidFill>
            <a:srgbClr val="F4F7FB"/>
          </a:solidFill>
          <a:ln w="9525">
            <a:solidFill>
              <a:srgbClr val="686F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82896" y="2816352"/>
            <a:ext cx="1143000" cy="384048"/>
          </a:xfrm>
          <a:prstGeom prst="rect">
            <a:avLst/>
          </a:prstGeom>
          <a:noFill/>
        </p:spPr>
        <p:txBody>
          <a:bodyPr wrap="square" anchor="ctr" lIns="0" rIns="0" tIns="0" bIns="0">
            <a:spAutoFit/>
          </a:bodyPr>
          <a:lstStyle/>
          <a:p>
            <a:pPr algn="ctr">
              <a:lnSpc>
                <a:spcPct val="100000"/>
              </a:lnSpc>
              <a:spcAft>
                <a:spcPts val="400"/>
              </a:spcAft>
            </a:pPr>
            <a:r>
              <a:rPr sz="950" b="0" i="0">
                <a:solidFill>
                  <a:srgbClr val="3A4356"/>
                </a:solidFill>
                <a:latin typeface="Calibri"/>
              </a:rPr>
              <a:t>Deburr</a:t>
            </a:r>
          </a:p>
        </p:txBody>
      </p:sp>
      <p:sp>
        <p:nvSpPr>
          <p:cNvPr id="18" name="Right Arrow 17"/>
          <p:cNvSpPr/>
          <p:nvPr/>
        </p:nvSpPr>
        <p:spPr>
          <a:xfrm>
            <a:off x="6062472" y="2944368"/>
            <a:ext cx="146304" cy="128016"/>
          </a:xfrm>
          <a:prstGeom prst="rightArrow">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45352" y="2816352"/>
            <a:ext cx="1143000" cy="384048"/>
          </a:xfrm>
          <a:prstGeom prst="roundRect">
            <a:avLst>
              <a:gd name="adj" fmla="val 6000"/>
            </a:avLst>
          </a:prstGeom>
          <a:solidFill>
            <a:srgbClr val="F4F7FB"/>
          </a:solidFill>
          <a:ln w="9525">
            <a:solidFill>
              <a:srgbClr val="686F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5352" y="2816352"/>
            <a:ext cx="1143000" cy="384048"/>
          </a:xfrm>
          <a:prstGeom prst="rect">
            <a:avLst/>
          </a:prstGeom>
          <a:noFill/>
        </p:spPr>
        <p:txBody>
          <a:bodyPr wrap="square" anchor="ctr" lIns="0" rIns="0" tIns="0" bIns="0">
            <a:spAutoFit/>
          </a:bodyPr>
          <a:lstStyle/>
          <a:p>
            <a:pPr algn="ctr">
              <a:lnSpc>
                <a:spcPct val="100000"/>
              </a:lnSpc>
              <a:spcAft>
                <a:spcPts val="400"/>
              </a:spcAft>
            </a:pPr>
            <a:r>
              <a:rPr sz="950" b="0" i="0">
                <a:solidFill>
                  <a:srgbClr val="3A4356"/>
                </a:solidFill>
                <a:latin typeface="Calibri"/>
              </a:rPr>
              <a:t>Check</a:t>
            </a:r>
          </a:p>
        </p:txBody>
      </p:sp>
      <p:sp>
        <p:nvSpPr>
          <p:cNvPr id="21" name="TextBox 20"/>
          <p:cNvSpPr txBox="1"/>
          <p:nvPr/>
        </p:nvSpPr>
        <p:spPr>
          <a:xfrm>
            <a:off x="10241280" y="2697480"/>
            <a:ext cx="1417320" cy="621792"/>
          </a:xfrm>
          <a:prstGeom prst="rect">
            <a:avLst/>
          </a:prstGeom>
          <a:noFill/>
        </p:spPr>
        <p:txBody>
          <a:bodyPr wrap="square" anchor="ctr" lIns="0" rIns="0" tIns="0" bIns="0">
            <a:spAutoFit/>
          </a:bodyPr>
          <a:lstStyle/>
          <a:p>
            <a:pPr algn="r">
              <a:lnSpc>
                <a:spcPct val="100000"/>
              </a:lnSpc>
              <a:spcAft>
                <a:spcPts val="400"/>
              </a:spcAft>
            </a:pPr>
            <a:r>
              <a:rPr sz="1700" b="1" i="0">
                <a:solidFill>
                  <a:srgbClr val="2A7F50"/>
                </a:solidFill>
                <a:latin typeface="Calibri"/>
              </a:rPr>
              <a:t>£8.26</a:t>
            </a:r>
          </a:p>
        </p:txBody>
      </p:sp>
      <p:sp>
        <p:nvSpPr>
          <p:cNvPr id="22" name="Rounded Rectangle 21"/>
          <p:cNvSpPr/>
          <p:nvPr/>
        </p:nvSpPr>
        <p:spPr>
          <a:xfrm>
            <a:off x="411480" y="3410712"/>
            <a:ext cx="11384280" cy="6217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410712"/>
            <a:ext cx="2743200" cy="621792"/>
          </a:xfrm>
          <a:prstGeom prst="rect">
            <a:avLst/>
          </a:prstGeom>
          <a:noFill/>
        </p:spPr>
        <p:txBody>
          <a:bodyPr wrap="square" anchor="ctr" lIns="0" rIns="0" tIns="0" bIns="0">
            <a:spAutoFit/>
          </a:bodyPr>
          <a:lstStyle/>
          <a:p>
            <a:pPr algn="l">
              <a:lnSpc>
                <a:spcPct val="100000"/>
              </a:lnSpc>
              <a:spcAft>
                <a:spcPts val="400"/>
              </a:spcAft>
            </a:pPr>
            <a:r>
              <a:rPr sz="1200" b="1" i="0">
                <a:solidFill>
                  <a:srgbClr val="16325C"/>
                </a:solidFill>
                <a:latin typeface="Calibri"/>
              </a:rPr>
              <a:t>Accurate gear (ISO 6)</a:t>
            </a:r>
          </a:p>
        </p:txBody>
      </p:sp>
      <p:sp>
        <p:nvSpPr>
          <p:cNvPr id="24" name="Rounded Rectangle 23"/>
          <p:cNvSpPr/>
          <p:nvPr/>
        </p:nvSpPr>
        <p:spPr>
          <a:xfrm>
            <a:off x="3520440" y="3529584"/>
            <a:ext cx="1143000" cy="384048"/>
          </a:xfrm>
          <a:prstGeom prst="roundRect">
            <a:avLst>
              <a:gd name="adj" fmla="val 6000"/>
            </a:avLst>
          </a:prstGeom>
          <a:solidFill>
            <a:srgbClr val="F4F7FB"/>
          </a:solidFill>
          <a:ln w="9525">
            <a:solidFill>
              <a:srgbClr val="686F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0440" y="3529584"/>
            <a:ext cx="1143000" cy="384048"/>
          </a:xfrm>
          <a:prstGeom prst="rect">
            <a:avLst/>
          </a:prstGeom>
          <a:noFill/>
        </p:spPr>
        <p:txBody>
          <a:bodyPr wrap="square" anchor="ctr" lIns="0" rIns="0" tIns="0" bIns="0">
            <a:spAutoFit/>
          </a:bodyPr>
          <a:lstStyle/>
          <a:p>
            <a:pPr algn="ctr">
              <a:lnSpc>
                <a:spcPct val="100000"/>
              </a:lnSpc>
              <a:spcAft>
                <a:spcPts val="400"/>
              </a:spcAft>
            </a:pPr>
            <a:r>
              <a:rPr sz="950" b="0" i="0">
                <a:solidFill>
                  <a:srgbClr val="3A4356"/>
                </a:solidFill>
                <a:latin typeface="Calibri"/>
              </a:rPr>
              <a:t>Cut teeth</a:t>
            </a:r>
          </a:p>
        </p:txBody>
      </p:sp>
      <p:sp>
        <p:nvSpPr>
          <p:cNvPr id="26" name="Right Arrow 25"/>
          <p:cNvSpPr/>
          <p:nvPr/>
        </p:nvSpPr>
        <p:spPr>
          <a:xfrm>
            <a:off x="4700016" y="3657600"/>
            <a:ext cx="146304" cy="128016"/>
          </a:xfrm>
          <a:prstGeom prst="rightArrow">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882896" y="3529584"/>
            <a:ext cx="1143000" cy="384048"/>
          </a:xfrm>
          <a:prstGeom prst="roundRect">
            <a:avLst>
              <a:gd name="adj" fmla="val 6000"/>
            </a:avLst>
          </a:prstGeom>
          <a:solidFill>
            <a:srgbClr val="F4F7FB"/>
          </a:solidFill>
          <a:ln w="9525">
            <a:solidFill>
              <a:srgbClr val="686F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82896" y="3529584"/>
            <a:ext cx="1143000" cy="384048"/>
          </a:xfrm>
          <a:prstGeom prst="rect">
            <a:avLst/>
          </a:prstGeom>
          <a:noFill/>
        </p:spPr>
        <p:txBody>
          <a:bodyPr wrap="square" anchor="ctr" lIns="0" rIns="0" tIns="0" bIns="0">
            <a:spAutoFit/>
          </a:bodyPr>
          <a:lstStyle/>
          <a:p>
            <a:pPr algn="ctr">
              <a:lnSpc>
                <a:spcPct val="100000"/>
              </a:lnSpc>
              <a:spcAft>
                <a:spcPts val="400"/>
              </a:spcAft>
            </a:pPr>
            <a:r>
              <a:rPr sz="950" b="0" i="0">
                <a:solidFill>
                  <a:srgbClr val="3A4356"/>
                </a:solidFill>
                <a:latin typeface="Calibri"/>
              </a:rPr>
              <a:t>Deburr</a:t>
            </a:r>
          </a:p>
        </p:txBody>
      </p:sp>
      <p:sp>
        <p:nvSpPr>
          <p:cNvPr id="29" name="Right Arrow 28"/>
          <p:cNvSpPr/>
          <p:nvPr/>
        </p:nvSpPr>
        <p:spPr>
          <a:xfrm>
            <a:off x="6062472" y="3657600"/>
            <a:ext cx="146304" cy="128016"/>
          </a:xfrm>
          <a:prstGeom prst="rightArrow">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45352" y="3529584"/>
            <a:ext cx="1143000" cy="384048"/>
          </a:xfrm>
          <a:prstGeom prst="roundRect">
            <a:avLst>
              <a:gd name="adj" fmla="val 6000"/>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5352" y="3529584"/>
            <a:ext cx="1143000" cy="384048"/>
          </a:xfrm>
          <a:prstGeom prst="rect">
            <a:avLst/>
          </a:prstGeom>
          <a:noFill/>
        </p:spPr>
        <p:txBody>
          <a:bodyPr wrap="square" anchor="ctr" lIns="0" rIns="0" tIns="0" bIns="0">
            <a:spAutoFit/>
          </a:bodyPr>
          <a:lstStyle/>
          <a:p>
            <a:pPr algn="ctr">
              <a:lnSpc>
                <a:spcPct val="100000"/>
              </a:lnSpc>
              <a:spcAft>
                <a:spcPts val="400"/>
              </a:spcAft>
            </a:pPr>
            <a:r>
              <a:rPr sz="950" b="1" i="0">
                <a:solidFill>
                  <a:srgbClr val="FFFFFF"/>
                </a:solidFill>
                <a:latin typeface="Calibri"/>
              </a:rPr>
              <a:t>Harden</a:t>
            </a:r>
          </a:p>
        </p:txBody>
      </p:sp>
      <p:sp>
        <p:nvSpPr>
          <p:cNvPr id="32" name="Right Arrow 31"/>
          <p:cNvSpPr/>
          <p:nvPr/>
        </p:nvSpPr>
        <p:spPr>
          <a:xfrm>
            <a:off x="7424928" y="3657600"/>
            <a:ext cx="146304" cy="128016"/>
          </a:xfrm>
          <a:prstGeom prst="rightArrow">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607808" y="3529584"/>
            <a:ext cx="1143000" cy="384048"/>
          </a:xfrm>
          <a:prstGeom prst="roundRect">
            <a:avLst>
              <a:gd name="adj" fmla="val 6000"/>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07808" y="3529584"/>
            <a:ext cx="1143000" cy="384048"/>
          </a:xfrm>
          <a:prstGeom prst="rect">
            <a:avLst/>
          </a:prstGeom>
          <a:noFill/>
        </p:spPr>
        <p:txBody>
          <a:bodyPr wrap="square" anchor="ctr" lIns="0" rIns="0" tIns="0" bIns="0">
            <a:spAutoFit/>
          </a:bodyPr>
          <a:lstStyle/>
          <a:p>
            <a:pPr algn="ctr">
              <a:lnSpc>
                <a:spcPct val="100000"/>
              </a:lnSpc>
              <a:spcAft>
                <a:spcPts val="400"/>
              </a:spcAft>
            </a:pPr>
            <a:r>
              <a:rPr sz="950" b="1" i="0">
                <a:solidFill>
                  <a:srgbClr val="FFFFFF"/>
                </a:solidFill>
                <a:latin typeface="Calibri"/>
              </a:rPr>
              <a:t>Grind</a:t>
            </a:r>
          </a:p>
        </p:txBody>
      </p:sp>
      <p:sp>
        <p:nvSpPr>
          <p:cNvPr id="35" name="Right Arrow 34"/>
          <p:cNvSpPr/>
          <p:nvPr/>
        </p:nvSpPr>
        <p:spPr>
          <a:xfrm>
            <a:off x="8787384" y="3657600"/>
            <a:ext cx="146304" cy="128016"/>
          </a:xfrm>
          <a:prstGeom prst="rightArrow">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970264" y="3529584"/>
            <a:ext cx="1143000" cy="384048"/>
          </a:xfrm>
          <a:prstGeom prst="roundRect">
            <a:avLst>
              <a:gd name="adj" fmla="val 6000"/>
            </a:avLst>
          </a:prstGeom>
          <a:solidFill>
            <a:srgbClr val="F4F7FB"/>
          </a:solidFill>
          <a:ln w="9525">
            <a:solidFill>
              <a:srgbClr val="686F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70264" y="3529584"/>
            <a:ext cx="1143000" cy="384048"/>
          </a:xfrm>
          <a:prstGeom prst="rect">
            <a:avLst/>
          </a:prstGeom>
          <a:noFill/>
        </p:spPr>
        <p:txBody>
          <a:bodyPr wrap="square" anchor="ctr" lIns="0" rIns="0" tIns="0" bIns="0">
            <a:spAutoFit/>
          </a:bodyPr>
          <a:lstStyle/>
          <a:p>
            <a:pPr algn="ctr">
              <a:lnSpc>
                <a:spcPct val="100000"/>
              </a:lnSpc>
              <a:spcAft>
                <a:spcPts val="400"/>
              </a:spcAft>
            </a:pPr>
            <a:r>
              <a:rPr sz="950" b="0" i="0">
                <a:solidFill>
                  <a:srgbClr val="3A4356"/>
                </a:solidFill>
                <a:latin typeface="Calibri"/>
              </a:rPr>
              <a:t>Check</a:t>
            </a:r>
          </a:p>
        </p:txBody>
      </p:sp>
      <p:sp>
        <p:nvSpPr>
          <p:cNvPr id="38" name="TextBox 37"/>
          <p:cNvSpPr txBox="1"/>
          <p:nvPr/>
        </p:nvSpPr>
        <p:spPr>
          <a:xfrm>
            <a:off x="10241280" y="3410712"/>
            <a:ext cx="1417320" cy="621792"/>
          </a:xfrm>
          <a:prstGeom prst="rect">
            <a:avLst/>
          </a:prstGeom>
          <a:noFill/>
        </p:spPr>
        <p:txBody>
          <a:bodyPr wrap="square" anchor="ctr" lIns="0" rIns="0" tIns="0" bIns="0">
            <a:spAutoFit/>
          </a:bodyPr>
          <a:lstStyle/>
          <a:p>
            <a:pPr algn="r">
              <a:lnSpc>
                <a:spcPct val="100000"/>
              </a:lnSpc>
              <a:spcAft>
                <a:spcPts val="400"/>
              </a:spcAft>
            </a:pPr>
            <a:r>
              <a:rPr sz="1700" b="1" i="0">
                <a:solidFill>
                  <a:srgbClr val="99651A"/>
                </a:solidFill>
                <a:latin typeface="Calibri"/>
              </a:rPr>
              <a:t>£13.55</a:t>
            </a:r>
          </a:p>
        </p:txBody>
      </p:sp>
      <p:sp>
        <p:nvSpPr>
          <p:cNvPr id="39" name="Rounded Rectangle 38"/>
          <p:cNvSpPr/>
          <p:nvPr/>
        </p:nvSpPr>
        <p:spPr>
          <a:xfrm>
            <a:off x="411480" y="4123944"/>
            <a:ext cx="11384280" cy="6217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4123944"/>
            <a:ext cx="2743200" cy="621792"/>
          </a:xfrm>
          <a:prstGeom prst="rect">
            <a:avLst/>
          </a:prstGeom>
          <a:noFill/>
        </p:spPr>
        <p:txBody>
          <a:bodyPr wrap="square" anchor="ctr" lIns="0" rIns="0" tIns="0" bIns="0">
            <a:spAutoFit/>
          </a:bodyPr>
          <a:lstStyle/>
          <a:p>
            <a:pPr algn="l">
              <a:lnSpc>
                <a:spcPct val="100000"/>
              </a:lnSpc>
              <a:spcAft>
                <a:spcPts val="400"/>
              </a:spcAft>
            </a:pPr>
            <a:r>
              <a:rPr sz="1200" b="1" i="0">
                <a:solidFill>
                  <a:srgbClr val="16325C"/>
                </a:solidFill>
                <a:latin typeface="Calibri"/>
              </a:rPr>
              <a:t>Internal ring gear</a:t>
            </a:r>
          </a:p>
        </p:txBody>
      </p:sp>
      <p:sp>
        <p:nvSpPr>
          <p:cNvPr id="41" name="Rounded Rectangle 40"/>
          <p:cNvSpPr/>
          <p:nvPr/>
        </p:nvSpPr>
        <p:spPr>
          <a:xfrm>
            <a:off x="3520440" y="4242816"/>
            <a:ext cx="1143000" cy="384048"/>
          </a:xfrm>
          <a:prstGeom prst="roundRect">
            <a:avLst>
              <a:gd name="adj" fmla="val 6000"/>
            </a:avLst>
          </a:prstGeom>
          <a:solidFill>
            <a:srgbClr val="F4F7FB"/>
          </a:solidFill>
          <a:ln w="9525">
            <a:solidFill>
              <a:srgbClr val="686F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20440" y="4242816"/>
            <a:ext cx="1143000" cy="384048"/>
          </a:xfrm>
          <a:prstGeom prst="rect">
            <a:avLst/>
          </a:prstGeom>
          <a:noFill/>
        </p:spPr>
        <p:txBody>
          <a:bodyPr wrap="square" anchor="ctr" lIns="0" rIns="0" tIns="0" bIns="0">
            <a:spAutoFit/>
          </a:bodyPr>
          <a:lstStyle/>
          <a:p>
            <a:pPr algn="ctr">
              <a:lnSpc>
                <a:spcPct val="100000"/>
              </a:lnSpc>
              <a:spcAft>
                <a:spcPts val="400"/>
              </a:spcAft>
            </a:pPr>
            <a:r>
              <a:rPr sz="950" b="0" i="0">
                <a:solidFill>
                  <a:srgbClr val="3A4356"/>
                </a:solidFill>
                <a:latin typeface="Calibri"/>
              </a:rPr>
              <a:t>Power-skive</a:t>
            </a:r>
          </a:p>
        </p:txBody>
      </p:sp>
      <p:sp>
        <p:nvSpPr>
          <p:cNvPr id="43" name="Right Arrow 42"/>
          <p:cNvSpPr/>
          <p:nvPr/>
        </p:nvSpPr>
        <p:spPr>
          <a:xfrm>
            <a:off x="4700016" y="4370832"/>
            <a:ext cx="146304" cy="128016"/>
          </a:xfrm>
          <a:prstGeom prst="rightArrow">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82896" y="4242816"/>
            <a:ext cx="1143000" cy="384048"/>
          </a:xfrm>
          <a:prstGeom prst="roundRect">
            <a:avLst>
              <a:gd name="adj" fmla="val 6000"/>
            </a:avLst>
          </a:prstGeom>
          <a:solidFill>
            <a:srgbClr val="F4F7FB"/>
          </a:solidFill>
          <a:ln w="9525">
            <a:solidFill>
              <a:srgbClr val="686F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82896" y="4242816"/>
            <a:ext cx="1143000" cy="384048"/>
          </a:xfrm>
          <a:prstGeom prst="rect">
            <a:avLst/>
          </a:prstGeom>
          <a:noFill/>
        </p:spPr>
        <p:txBody>
          <a:bodyPr wrap="square" anchor="ctr" lIns="0" rIns="0" tIns="0" bIns="0">
            <a:spAutoFit/>
          </a:bodyPr>
          <a:lstStyle/>
          <a:p>
            <a:pPr algn="ctr">
              <a:lnSpc>
                <a:spcPct val="100000"/>
              </a:lnSpc>
              <a:spcAft>
                <a:spcPts val="400"/>
              </a:spcAft>
            </a:pPr>
            <a:r>
              <a:rPr sz="950" b="0" i="0">
                <a:solidFill>
                  <a:srgbClr val="3A4356"/>
                </a:solidFill>
                <a:latin typeface="Calibri"/>
              </a:rPr>
              <a:t>Deburr</a:t>
            </a:r>
          </a:p>
        </p:txBody>
      </p:sp>
      <p:sp>
        <p:nvSpPr>
          <p:cNvPr id="46" name="Right Arrow 45"/>
          <p:cNvSpPr/>
          <p:nvPr/>
        </p:nvSpPr>
        <p:spPr>
          <a:xfrm>
            <a:off x="6062472" y="4370832"/>
            <a:ext cx="146304" cy="128016"/>
          </a:xfrm>
          <a:prstGeom prst="rightArrow">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245352" y="4242816"/>
            <a:ext cx="1143000" cy="384048"/>
          </a:xfrm>
          <a:prstGeom prst="roundRect">
            <a:avLst>
              <a:gd name="adj" fmla="val 6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45352" y="4242816"/>
            <a:ext cx="1143000" cy="384048"/>
          </a:xfrm>
          <a:prstGeom prst="rect">
            <a:avLst/>
          </a:prstGeom>
          <a:noFill/>
        </p:spPr>
        <p:txBody>
          <a:bodyPr wrap="square" anchor="ctr" lIns="0" rIns="0" tIns="0" bIns="0">
            <a:spAutoFit/>
          </a:bodyPr>
          <a:lstStyle/>
          <a:p>
            <a:pPr algn="ctr">
              <a:lnSpc>
                <a:spcPct val="100000"/>
              </a:lnSpc>
              <a:spcAft>
                <a:spcPts val="400"/>
              </a:spcAft>
            </a:pPr>
            <a:r>
              <a:rPr sz="950" b="1" i="0">
                <a:solidFill>
                  <a:srgbClr val="FFFFFF"/>
                </a:solidFill>
                <a:latin typeface="Calibri"/>
              </a:rPr>
              <a:t>Harden</a:t>
            </a:r>
          </a:p>
        </p:txBody>
      </p:sp>
      <p:sp>
        <p:nvSpPr>
          <p:cNvPr id="49" name="Right Arrow 48"/>
          <p:cNvSpPr/>
          <p:nvPr/>
        </p:nvSpPr>
        <p:spPr>
          <a:xfrm>
            <a:off x="7424928" y="4370832"/>
            <a:ext cx="146304" cy="128016"/>
          </a:xfrm>
          <a:prstGeom prst="rightArrow">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7607808" y="4242816"/>
            <a:ext cx="1143000" cy="384048"/>
          </a:xfrm>
          <a:prstGeom prst="roundRect">
            <a:avLst>
              <a:gd name="adj" fmla="val 6000"/>
            </a:avLst>
          </a:prstGeom>
          <a:solidFill>
            <a:srgbClr val="F4F7FB"/>
          </a:solidFill>
          <a:ln w="9525">
            <a:solidFill>
              <a:srgbClr val="686F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07808" y="4242816"/>
            <a:ext cx="1143000" cy="384048"/>
          </a:xfrm>
          <a:prstGeom prst="rect">
            <a:avLst/>
          </a:prstGeom>
          <a:noFill/>
        </p:spPr>
        <p:txBody>
          <a:bodyPr wrap="square" anchor="ctr" lIns="0" rIns="0" tIns="0" bIns="0">
            <a:spAutoFit/>
          </a:bodyPr>
          <a:lstStyle/>
          <a:p>
            <a:pPr algn="ctr">
              <a:lnSpc>
                <a:spcPct val="100000"/>
              </a:lnSpc>
              <a:spcAft>
                <a:spcPts val="400"/>
              </a:spcAft>
            </a:pPr>
            <a:r>
              <a:rPr sz="950" b="0" i="0">
                <a:solidFill>
                  <a:srgbClr val="3A4356"/>
                </a:solidFill>
                <a:latin typeface="Calibri"/>
              </a:rPr>
              <a:t>Check</a:t>
            </a:r>
          </a:p>
        </p:txBody>
      </p:sp>
      <p:sp>
        <p:nvSpPr>
          <p:cNvPr id="52" name="TextBox 51"/>
          <p:cNvSpPr txBox="1"/>
          <p:nvPr/>
        </p:nvSpPr>
        <p:spPr>
          <a:xfrm>
            <a:off x="10241280" y="4123944"/>
            <a:ext cx="1417320" cy="621792"/>
          </a:xfrm>
          <a:prstGeom prst="rect">
            <a:avLst/>
          </a:prstGeom>
          <a:noFill/>
        </p:spPr>
        <p:txBody>
          <a:bodyPr wrap="square" anchor="ctr" lIns="0" rIns="0" tIns="0" bIns="0">
            <a:spAutoFit/>
          </a:bodyPr>
          <a:lstStyle/>
          <a:p>
            <a:pPr algn="r">
              <a:lnSpc>
                <a:spcPct val="100000"/>
              </a:lnSpc>
              <a:spcAft>
                <a:spcPts val="400"/>
              </a:spcAft>
            </a:pPr>
            <a:r>
              <a:rPr sz="1700" b="1" i="0">
                <a:solidFill>
                  <a:srgbClr val="1D6FB8"/>
                </a:solidFill>
                <a:latin typeface="Calibri"/>
              </a:rPr>
              <a:t>£11.19</a:t>
            </a:r>
          </a:p>
        </p:txBody>
      </p:sp>
      <p:sp>
        <p:nvSpPr>
          <p:cNvPr id="53" name="Rounded Rectangle 52"/>
          <p:cNvSpPr/>
          <p:nvPr/>
        </p:nvSpPr>
        <p:spPr>
          <a:xfrm>
            <a:off x="3520440" y="4892040"/>
            <a:ext cx="201168" cy="118872"/>
          </a:xfrm>
          <a:prstGeom prst="roundRect">
            <a:avLst>
              <a:gd name="adj" fmla="val 3000"/>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794760" y="4828032"/>
            <a:ext cx="7315200" cy="237744"/>
          </a:xfrm>
          <a:prstGeom prst="rect">
            <a:avLst/>
          </a:prstGeom>
          <a:noFill/>
        </p:spPr>
        <p:txBody>
          <a:bodyPr wrap="square" anchor="ctr" lIns="0" rIns="0" tIns="0" bIns="0">
            <a:spAutoFit/>
          </a:bodyPr>
          <a:lstStyle/>
          <a:p>
            <a:pPr algn="l">
              <a:lnSpc>
                <a:spcPct val="100000"/>
              </a:lnSpc>
              <a:spcAft>
                <a:spcPts val="400"/>
              </a:spcAft>
            </a:pPr>
            <a:r>
              <a:rPr sz="1000" b="0" i="1">
                <a:solidFill>
                  <a:srgbClr val="686F7D"/>
                </a:solidFill>
                <a:latin typeface="Calibri"/>
              </a:rPr>
              <a:t>= the station the tighter class ADDED — not the same work costing more</a:t>
            </a:r>
          </a:p>
        </p:txBody>
      </p:sp>
      <p:sp>
        <p:nvSpPr>
          <p:cNvPr id="55" name="Rounded Rectangle 54"/>
          <p:cNvSpPr/>
          <p:nvPr/>
        </p:nvSpPr>
        <p:spPr>
          <a:xfrm>
            <a:off x="411480" y="5138928"/>
            <a:ext cx="5577840" cy="10972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8368" y="5248656"/>
            <a:ext cx="512064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2A7F50"/>
                </a:solidFill>
                <a:latin typeface="Calibri"/>
              </a:rPr>
              <a:t>It refuses rather than guesses</a:t>
            </a:r>
          </a:p>
        </p:txBody>
      </p:sp>
      <p:sp>
        <p:nvSpPr>
          <p:cNvPr id="57" name="TextBox 56"/>
          <p:cNvSpPr txBox="1"/>
          <p:nvPr/>
        </p:nvSpPr>
        <p:spPr>
          <a:xfrm>
            <a:off x="658368" y="5550408"/>
            <a:ext cx="5120640" cy="594360"/>
          </a:xfrm>
          <a:prstGeom prst="rect">
            <a:avLst/>
          </a:prstGeom>
          <a:noFill/>
        </p:spPr>
        <p:txBody>
          <a:bodyPr wrap="square" anchor="t" lIns="0" rIns="0" tIns="0" bIns="0">
            <a:spAutoFit/>
          </a:bodyPr>
          <a:lstStyle/>
          <a:p>
            <a:pPr algn="l">
              <a:lnSpc>
                <a:spcPct val="112000"/>
              </a:lnSpc>
              <a:spcAft>
                <a:spcPts val="400"/>
              </a:spcAft>
            </a:pPr>
            <a:r>
              <a:rPr sz="1050" b="0" i="0">
                <a:solidFill>
                  <a:srgbClr val="3A4356"/>
                </a:solidFill>
                <a:latin typeface="Calibri"/>
              </a:rPr>
              <a:t>A gear no machine in the library can make is blocked outright — never quietly costed on the nearest machine.</a:t>
            </a:r>
          </a:p>
        </p:txBody>
      </p:sp>
      <p:sp>
        <p:nvSpPr>
          <p:cNvPr id="58" name="Rounded Rectangle 57"/>
          <p:cNvSpPr/>
          <p:nvPr/>
        </p:nvSpPr>
        <p:spPr>
          <a:xfrm>
            <a:off x="6217920" y="5138928"/>
            <a:ext cx="5577840" cy="10972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64808" y="5248656"/>
            <a:ext cx="512064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99651A"/>
                </a:solidFill>
                <a:latin typeface="Calibri"/>
              </a:rPr>
              <a:t>And it tells you what it does not know</a:t>
            </a:r>
          </a:p>
        </p:txBody>
      </p:sp>
      <p:sp>
        <p:nvSpPr>
          <p:cNvPr id="60" name="TextBox 59"/>
          <p:cNvSpPr txBox="1"/>
          <p:nvPr/>
        </p:nvSpPr>
        <p:spPr>
          <a:xfrm>
            <a:off x="6464808" y="5550408"/>
            <a:ext cx="5120640" cy="594360"/>
          </a:xfrm>
          <a:prstGeom prst="rect">
            <a:avLst/>
          </a:prstGeom>
          <a:noFill/>
        </p:spPr>
        <p:txBody>
          <a:bodyPr wrap="square" anchor="t" lIns="0" rIns="0" tIns="0" bIns="0">
            <a:spAutoFit/>
          </a:bodyPr>
          <a:lstStyle/>
          <a:p>
            <a:pPr algn="l">
              <a:lnSpc>
                <a:spcPct val="112000"/>
              </a:lnSpc>
              <a:spcAft>
                <a:spcPts val="400"/>
              </a:spcAft>
            </a:pPr>
            <a:r>
              <a:rPr sz="1050" b="0" i="0">
                <a:solidFill>
                  <a:srgbClr val="3A4356"/>
                </a:solidFill>
                <a:latin typeface="Calibri"/>
              </a:rPr>
              <a:t>All 80 shop figures are representative until the plant supplies its own. Every gear estimate prints that warning.</a:t>
            </a:r>
          </a:p>
        </p:txBody>
      </p:sp>
      <p:sp>
        <p:nvSpPr>
          <p:cNvPr id="61" name="Rectangle 60"/>
          <p:cNvSpPr/>
          <p:nvPr/>
        </p:nvSpPr>
        <p:spPr>
          <a:xfrm>
            <a:off x="0" y="6711696"/>
            <a:ext cx="12191695" cy="14630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NEXT STEPS</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Where we are, and the ask</a:t>
            </a:r>
          </a:p>
        </p:txBody>
      </p:sp>
      <p:sp>
        <p:nvSpPr>
          <p:cNvPr id="9" name="Rounded Rectangle 8"/>
          <p:cNvSpPr/>
          <p:nvPr/>
        </p:nvSpPr>
        <p:spPr>
          <a:xfrm>
            <a:off x="411480" y="1828800"/>
            <a:ext cx="5486400" cy="40233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57400"/>
            <a:ext cx="4937760" cy="365760"/>
          </a:xfrm>
          <a:prstGeom prst="rect">
            <a:avLst/>
          </a:prstGeom>
          <a:noFill/>
        </p:spPr>
        <p:txBody>
          <a:bodyPr wrap="square" anchor="t" lIns="0" rIns="0" tIns="0" bIns="0">
            <a:spAutoFit/>
          </a:bodyPr>
          <a:lstStyle/>
          <a:p>
            <a:pPr algn="l">
              <a:lnSpc>
                <a:spcPct val="100000"/>
              </a:lnSpc>
              <a:spcAft>
                <a:spcPts val="400"/>
              </a:spcAft>
            </a:pPr>
            <a:r>
              <a:rPr sz="1600" b="1" i="0">
                <a:solidFill>
                  <a:srgbClr val="2A7F50"/>
                </a:solidFill>
                <a:latin typeface="Calibri"/>
              </a:rPr>
              <a:t>Status today</a:t>
            </a:r>
          </a:p>
        </p:txBody>
      </p:sp>
      <p:sp>
        <p:nvSpPr>
          <p:cNvPr id="11" name="TextBox 10"/>
          <p:cNvSpPr txBox="1"/>
          <p:nvPr/>
        </p:nvSpPr>
        <p:spPr>
          <a:xfrm>
            <a:off x="685800" y="2560320"/>
            <a:ext cx="4937760" cy="457200"/>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  </a:t>
            </a:r>
            <a:r>
              <a:rPr sz="1250" b="0" i="0">
                <a:solidFill>
                  <a:srgbClr val="3A4356"/>
                </a:solidFill>
                <a:latin typeface="Calibri"/>
              </a:rPr>
              <a:t>All capabilities built, tested (1,777 tests) and live — incl. 6 new for 2026</a:t>
            </a:r>
          </a:p>
        </p:txBody>
      </p:sp>
      <p:sp>
        <p:nvSpPr>
          <p:cNvPr id="12" name="TextBox 11"/>
          <p:cNvSpPr txBox="1"/>
          <p:nvPr/>
        </p:nvSpPr>
        <p:spPr>
          <a:xfrm>
            <a:off x="685800" y="3063239"/>
            <a:ext cx="4937760" cy="457200"/>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  </a:t>
            </a:r>
            <a:r>
              <a:rPr sz="1250" b="0" i="0">
                <a:solidFill>
                  <a:srgbClr val="3A4356"/>
                </a:solidFill>
                <a:latin typeface="Calibri"/>
              </a:rPr>
              <a:t>Verified end-to-end on the running system</a:t>
            </a:r>
          </a:p>
        </p:txBody>
      </p:sp>
      <p:sp>
        <p:nvSpPr>
          <p:cNvPr id="13" name="TextBox 12"/>
          <p:cNvSpPr txBox="1"/>
          <p:nvPr/>
        </p:nvSpPr>
        <p:spPr>
          <a:xfrm>
            <a:off x="685800" y="3566160"/>
            <a:ext cx="4937760" cy="457200"/>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  </a:t>
            </a:r>
            <a:r>
              <a:rPr sz="1250" b="0" i="0">
                <a:solidFill>
                  <a:srgbClr val="3A4356"/>
                </a:solidFill>
                <a:latin typeface="Calibri"/>
              </a:rPr>
              <a:t>Zero extra licence cost — built into our tool</a:t>
            </a:r>
          </a:p>
        </p:txBody>
      </p:sp>
      <p:sp>
        <p:nvSpPr>
          <p:cNvPr id="14" name="TextBox 13"/>
          <p:cNvSpPr txBox="1"/>
          <p:nvPr/>
        </p:nvSpPr>
        <p:spPr>
          <a:xfrm>
            <a:off x="685800" y="4069080"/>
            <a:ext cx="4937760" cy="457200"/>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  </a:t>
            </a:r>
            <a:r>
              <a:rPr sz="1250" b="0" i="0">
                <a:solidFill>
                  <a:srgbClr val="3A4356"/>
                </a:solidFill>
                <a:latin typeface="Calibri"/>
              </a:rPr>
              <a:t>Runs on-premise; no data leaves the company</a:t>
            </a:r>
          </a:p>
        </p:txBody>
      </p:sp>
      <p:sp>
        <p:nvSpPr>
          <p:cNvPr id="15" name="TextBox 14"/>
          <p:cNvSpPr txBox="1"/>
          <p:nvPr/>
        </p:nvSpPr>
        <p:spPr>
          <a:xfrm>
            <a:off x="685800" y="4709160"/>
            <a:ext cx="4937760" cy="1005840"/>
          </a:xfrm>
          <a:prstGeom prst="rect">
            <a:avLst/>
          </a:prstGeom>
          <a:noFill/>
        </p:spPr>
        <p:txBody>
          <a:bodyPr wrap="square" anchor="t" lIns="0" rIns="0" tIns="0" bIns="0">
            <a:spAutoFit/>
          </a:bodyPr>
          <a:lstStyle/>
          <a:p>
            <a:pPr algn="l">
              <a:lnSpc>
                <a:spcPct val="115000"/>
              </a:lnSpc>
              <a:spcAft>
                <a:spcPts val="400"/>
              </a:spcAft>
            </a:pPr>
            <a:r>
              <a:rPr sz="1200" b="1" i="0">
                <a:solidFill>
                  <a:srgbClr val="16325C"/>
                </a:solidFill>
                <a:latin typeface="Calibri"/>
              </a:rPr>
              <a:t>Honest note: </a:t>
            </a:r>
            <a:r>
              <a:rPr sz="1200" b="0" i="0">
                <a:solidFill>
                  <a:srgbClr val="3A4356"/>
                </a:solidFill>
                <a:latin typeface="Calibri"/>
              </a:rPr>
              <a:t>the intelligence starts empty and grows with use. The mechanism is proven; the value builds as we feed it.</a:t>
            </a:r>
          </a:p>
        </p:txBody>
      </p:sp>
      <p:sp>
        <p:nvSpPr>
          <p:cNvPr id="16" name="Rounded Rectangle 15"/>
          <p:cNvSpPr/>
          <p:nvPr/>
        </p:nvSpPr>
        <p:spPr>
          <a:xfrm>
            <a:off x="6263640" y="1828800"/>
            <a:ext cx="5532120" cy="4023360"/>
          </a:xfrm>
          <a:prstGeom prst="roundRect">
            <a:avLst>
              <a:gd name="adj" fmla="val 5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2057400"/>
            <a:ext cx="4937760" cy="365760"/>
          </a:xfrm>
          <a:prstGeom prst="rect">
            <a:avLst/>
          </a:prstGeom>
          <a:noFill/>
        </p:spPr>
        <p:txBody>
          <a:bodyPr wrap="square" anchor="t" lIns="0" rIns="0" tIns="0" bIns="0">
            <a:spAutoFit/>
          </a:bodyPr>
          <a:lstStyle/>
          <a:p>
            <a:pPr algn="l">
              <a:lnSpc>
                <a:spcPct val="100000"/>
              </a:lnSpc>
              <a:spcAft>
                <a:spcPts val="400"/>
              </a:spcAft>
            </a:pPr>
            <a:r>
              <a:rPr sz="1600" b="1" i="0">
                <a:solidFill>
                  <a:srgbClr val="1D6FB8"/>
                </a:solidFill>
                <a:latin typeface="Calibri"/>
              </a:rPr>
              <a:t>The ask — three small decisions</a:t>
            </a:r>
          </a:p>
        </p:txBody>
      </p:sp>
      <p:sp>
        <p:nvSpPr>
          <p:cNvPr id="18" name="TextBox 17"/>
          <p:cNvSpPr txBox="1"/>
          <p:nvPr/>
        </p:nvSpPr>
        <p:spPr>
          <a:xfrm>
            <a:off x="6537960" y="2606040"/>
            <a:ext cx="5029200" cy="914400"/>
          </a:xfrm>
          <a:prstGeom prst="rect">
            <a:avLst/>
          </a:prstGeom>
          <a:noFill/>
        </p:spPr>
        <p:txBody>
          <a:bodyPr wrap="square" anchor="t" lIns="0" rIns="0" tIns="0" bIns="0">
            <a:spAutoFit/>
          </a:bodyPr>
          <a:lstStyle/>
          <a:p>
            <a:pPr algn="l">
              <a:lnSpc>
                <a:spcPct val="110000"/>
              </a:lnSpc>
              <a:spcAft>
                <a:spcPts val="300"/>
              </a:spcAft>
            </a:pPr>
            <a:r>
              <a:rPr sz="1350" b="1" i="0">
                <a:solidFill>
                  <a:srgbClr val="16325C"/>
                </a:solidFill>
                <a:latin typeface="Calibri"/>
              </a:rPr>
              <a:t>1.  Adopt the habit</a:t>
            </a:r>
          </a:p>
          <a:p>
            <a:pPr algn="l">
              <a:lnSpc>
                <a:spcPct val="110000"/>
              </a:lnSpc>
              <a:spcAft>
                <a:spcPts val="300"/>
              </a:spcAft>
            </a:pPr>
            <a:r>
              <a:rPr sz="1150" b="0" i="0">
                <a:solidFill>
                  <a:srgbClr val="3A4356"/>
                </a:solidFill>
                <a:latin typeface="Calibri"/>
              </a:rPr>
              <a:t>     Make "Log Actual £" part of the quote-handling routine. One click per quote.</a:t>
            </a:r>
          </a:p>
        </p:txBody>
      </p:sp>
      <p:sp>
        <p:nvSpPr>
          <p:cNvPr id="19" name="TextBox 18"/>
          <p:cNvSpPr txBox="1"/>
          <p:nvPr/>
        </p:nvSpPr>
        <p:spPr>
          <a:xfrm>
            <a:off x="6537960" y="3566160"/>
            <a:ext cx="5029200" cy="914400"/>
          </a:xfrm>
          <a:prstGeom prst="rect">
            <a:avLst/>
          </a:prstGeom>
          <a:noFill/>
        </p:spPr>
        <p:txBody>
          <a:bodyPr wrap="square" anchor="t" lIns="0" rIns="0" tIns="0" bIns="0">
            <a:spAutoFit/>
          </a:bodyPr>
          <a:lstStyle/>
          <a:p>
            <a:pPr algn="l">
              <a:lnSpc>
                <a:spcPct val="110000"/>
              </a:lnSpc>
              <a:spcAft>
                <a:spcPts val="300"/>
              </a:spcAft>
            </a:pPr>
            <a:r>
              <a:rPr sz="1350" b="1" i="0">
                <a:solidFill>
                  <a:srgbClr val="16325C"/>
                </a:solidFill>
                <a:latin typeface="Calibri"/>
              </a:rPr>
              <a:t>2.  Seed the memory</a:t>
            </a:r>
          </a:p>
          <a:p>
            <a:pPr algn="l">
              <a:lnSpc>
                <a:spcPct val="110000"/>
              </a:lnSpc>
              <a:spcAft>
                <a:spcPts val="300"/>
              </a:spcAft>
            </a:pPr>
            <a:r>
              <a:rPr sz="1150" b="0" i="0">
                <a:solidFill>
                  <a:srgbClr val="3A4356"/>
                </a:solidFill>
                <a:latin typeface="Calibri"/>
              </a:rPr>
              <a:t>     Approve a one-off import of historical quotes so the tool starts smart (~1–2 days of effort).</a:t>
            </a:r>
          </a:p>
        </p:txBody>
      </p:sp>
      <p:sp>
        <p:nvSpPr>
          <p:cNvPr id="20" name="TextBox 19"/>
          <p:cNvSpPr txBox="1"/>
          <p:nvPr/>
        </p:nvSpPr>
        <p:spPr>
          <a:xfrm>
            <a:off x="6537960" y="4526280"/>
            <a:ext cx="5029200" cy="914400"/>
          </a:xfrm>
          <a:prstGeom prst="rect">
            <a:avLst/>
          </a:prstGeom>
          <a:noFill/>
        </p:spPr>
        <p:txBody>
          <a:bodyPr wrap="square" anchor="t" lIns="0" rIns="0" tIns="0" bIns="0">
            <a:spAutoFit/>
          </a:bodyPr>
          <a:lstStyle/>
          <a:p>
            <a:pPr algn="l">
              <a:lnSpc>
                <a:spcPct val="110000"/>
              </a:lnSpc>
              <a:spcAft>
                <a:spcPts val="300"/>
              </a:spcAft>
            </a:pPr>
            <a:r>
              <a:rPr sz="1350" b="1" i="0">
                <a:solidFill>
                  <a:srgbClr val="16325C"/>
                </a:solidFill>
                <a:latin typeface="Calibri"/>
              </a:rPr>
              <a:t>3.  Review the findings</a:t>
            </a:r>
          </a:p>
          <a:p>
            <a:pPr algn="l">
              <a:lnSpc>
                <a:spcPct val="110000"/>
              </a:lnSpc>
              <a:spcAft>
                <a:spcPts val="300"/>
              </a:spcAft>
            </a:pPr>
            <a:r>
              <a:rPr sz="1150" b="0" i="0">
                <a:solidFill>
                  <a:srgbClr val="3A4356"/>
                </a:solidFill>
                <a:latin typeface="Calibri"/>
              </a:rPr>
              <a:t>     Put the agent's monthly findings on the sourcing team's agenda — it is already finding money.</a:t>
            </a:r>
          </a:p>
        </p:txBody>
      </p:sp>
      <p:sp>
        <p:nvSpPr>
          <p:cNvPr id="21" name="Rectangle 20"/>
          <p:cNvSpPr/>
          <p:nvPr/>
        </p:nvSpPr>
        <p:spPr>
          <a:xfrm>
            <a:off x="0" y="6711696"/>
            <a:ext cx="12191695" cy="14630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