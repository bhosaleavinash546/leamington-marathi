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learning</c:v>
                </c:pt>
              </c:strCache>
            </c:strRef>
          </c:tx>
          <c:spPr>
            <a:solidFill>
              <a:srgbClr val="64748B"/>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Sheet1!$C$2:$C$3</c:f>
              <c:numCache>
                <c:formatCode>General</c:formatCode>
                <c:ptCount val="2"/>
                <c:pt idx="0">
                  <c:v>0.3</c:v>
                </c:pt>
                <c:pt idx="1">
                  <c:v>0.6</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Confidence band (± %)</c:v>
                </c:pt>
              </c:strCache>
            </c:strRef>
          </c:tx>
          <c:spPr>
            <a:solidFill>
              <a:srgbClr val="D97706"/>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Before any real quotes</c:v>
                  </c:pt>
                  <c:pt idx="1">
                    <c:v>After 3 real quotes logged</c:v>
                  </c:pt>
                </c:lvl>
              </c:multiLvlStrCache>
            </c:multiLvlStrRef>
          </c:cat>
          <c:val>
            <c:numRef>
              <c:f>Sheet1!$B$2:$B$3</c:f>
              <c:numCache>
                <c:formatCode>General</c:formatCode>
                <c:ptCount val="2"/>
                <c:pt idx="0">
                  <c:v>20.4</c:v>
                </c:pt>
                <c:pt idx="1">
                  <c:v>2.8</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10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64748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strong, then pause. "Every costing tool on the market does maths. Ours does something none of them do — it learns." The tool remembers every part we've costed, recognises the next one, corrects itself against real quotes, and hunts for savings while nobody's watching. One promise before we start: every number in this deck is from a live run of the real system — no mock-ups.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four numbers, remember these. Error fell thirty-six-fold — eleven percent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nine hundred and seventeen automated tests. The one line that matters: costing intelligence used to live in people's heads and walk out the door. Now it accumulates as a company asset that gets more valuable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gets thrown around,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A number you can't defend is worthless in a negotiation. Ours you can defend,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 and the punchline is how little it asks of the engineer. They cost a part exactly as they do today. Everything automatic happens on its own: it remembers, recognises, suggests, and the agent keeps watch. There is exactly ONE new habit — a single click, 'Log Actual £,' when a real quote lands. That one click is the fuel for every loop, and every loop makes the next estimate sharper. No new workload, compounding returns. That's the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one — the memory. For every analysis we keep a fingerprint of the part, the full result, any real quotes, and — the clever bit — the exact places an expert overrode the AI. Those corrections are our engineers literally teaching the tool. On the right is why it matters to us: it's shared, so a junior inherits senior judgement on day one; it lives on our servers, so it's our asset; and it compounds — genuinely useful after only twenty or thirty analyses. Every costing we run from today is a deposit into an account that only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two, shown with the tool's actual live output. An engineer starts a new aluminium bracket. Before they've finished, the tool has surfaced the three most similar parts we've ever costed — at ninety-eight to ninety-nine percent — and it tells you WHY they matched: same material family, weight class, region. Then it hands over the gold: the median cost, the shared material, and the real prices we actually paid. A junior just stood on the shoulders of every senior before them. And every number names its source. No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three is the accuracy engine, and this is a real measured result. Our machining estimates ran about eleven percent LOW against real prices. After the tool learned from three logged quotes, the error was three-tenths of a percent. Now the subtle part: machining ran low; our China castings ran high. Average them and everything looks 'fine' — the errors cancel and hide. The tool refuses to average. It corrects each process, material and region separately, so it catches exactly what a portfolio average conceals. Measured against reality and reported out loud —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to three. Give a buyer this and you've handed them a script — the conservative end is the walk-away, the optimistic end is the stretch target. A single number pretends to a confidence early estimates don't have. This tells the truth, and the truth negotiates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five —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into a supplier meeting. The tool isn't waiting to be asked anymore. It's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drives the price. And carbon co-costing puts a CO2 figure next to every pound — which automotive and aerospace customers now demand in the RFQ itself. Eighteen commodity engines, CAD-to-cost, PCB photo-to-BOM — and the agentic layer sits on top of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management question: what does this cost the team in effort? Honestly — almost nothing. Engineers keep costing parts exactly as they do now; the memory builds itself.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was measured on the running system — live server, real database, real API calls — not projected. Segment error dropped to well under one percent in BOTH directions of bias. The confidence band tightened seven-fold. Recognition hit ninety-nine percent. The unattended agent surfaced half a million pounds. And nine hundred and seventeen tests stand guard so none of it quietly regresses. One honest caveat: these demos ran on small seeded datasets — real-world accuracy builds as OUR data accumulates. The mechanism is proven. The asset grows with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benefits, business language. Speed: new parts start from proven history, not a blank sheet. Accuracy: it compounds with every quote and it's always measured — which is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this year, and it sharpens the moat. Every should-cost now carries TWO ranges. Left, the physics prior — a Monte-Carlo band reflecting how well the inputs are known; always available. Right, the new one: an empirical band built from the actual quotes you've logged, using conformal prediction — a method that comes with a coverage guarantee. So the tool stops asserting a precision and states an observed fact: 'ninety percent of your real quotes for this family landed within plus-or-minus six-and-a-half percent.' That band edge is measured error, not a claim — which is why a buyer can defend it in the room. And it tightens on its own. No competitor states uncertainty with a guarantee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on the agent. It used to rank findings by the raw gap — the theoretical money. Now it learns which findings actually convert into cash. Watch the table: the cast housing shows a two-hundred-thousand-pound gap, but casting renegotiations almost never close — twenty percent — so realizable value is forty thousand. The machined knuckle has HALF the raw gap, but machining usually closes — eighty percent — so it's worth eighty thousand realizable. The agent now ranks the machining finding ABOVE the bigger one. Why? Sourcing time is scarce — it points at money you can actually get, and tracks pounds truly saved so the tool proves its own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number becomes leverage. The tool now builds a small causal model of the part — it knows the material bucket is driven by a specific commodity index, aluminium here — and runs the same overhead-and-margin maths the engine already uses to work out how sensitive the price is. Then it writes the argument for you. Read the live output: material is eight-thirty-nine, driven by aluminium; every one-percent move shifts the piece price by eleven pence; a quote of ninety-five is only justified if aluminium were about fourteen percent above today — so ask them to prove it, or hold at eighty-six thirty-four. That's a sentence a buyer can say out loud and not get argued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And the honest framing: it's always a conditional — IF the index moves — never a forecast we can't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feature I'm proudest of this year. Photograph a circuit board, and in about sixty seconds you get a costed bill of materials. The story is honesty about the journey: it started as a clever demo, and complex automotive boards would sometimes come back EMPTY — a lot of compute, no result. We fixed that at the root, then hardened the whole pipeline. The chart is the proof: the same real ECU, costed by an engineer in half a day versus the AI from one photo — sixty-nine pounds against seventy-three, within about five percent, in sixty seconds. On the right, the five fixes that got us there. Bottom line: the two-to-three-times over-costing is gone. Same photo, same answer, every run — and it tells you exactly which lines to firm up before you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competitive message away, take this. Rivals demo continuous learning and adaptive reasoning — but as a black box, a number you're told to trust. Our principle is the opposite, and it's harder to build: every learned or derived value stays auditable. The bias factor, the conformal band, the hit-rate, the coach's arithmetic — all a value a cost engineer can read and defend across the table. The AI narrates and explains; it never sets the price in secret. So we match the market on learning, autonomy and causal reasoning — and beat it on the one thing that wins deals: defensibility. Autonomous, self-improving, glass-box, AND on-premise. That combination doesn't exist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capability is built, tested — nine hundred and seventeen tests — and live, at no extra licence cost, on our own infrastructure. I'll be straight about the one dependency: the intelligence starts empty and grows with use. So the ask is three small decisions. One: make 'Log Actual £' a one-click habit. Two: approve a one-off import of our historical quotes so it starts smart — a day or two of effort. Three: put the agent's findings on the sourcing agenda each month; it's already finding money. Do those three things and this becomes a compounding asset from day one. Thank you — happy to take questions, or show you the live system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0" y="0"/>
            <a:ext cx="12191695" cy="146304"/>
          </a:xfrm>
          <a:prstGeom prst="rect">
            <a:avLst/>
          </a:prstGeom>
          <a:solidFill>
            <a:srgbClr val="4F46E5"/>
          </a:solidFill>
          <a:ln/>
        </p:spPr>
      </p:sp>
      <p:sp>
        <p:nvSpPr>
          <p:cNvPr id="4" name="Shape 2"/>
          <p:cNvSpPr/>
          <p:nvPr/>
        </p:nvSpPr>
        <p:spPr>
          <a:xfrm>
            <a:off x="457200" y="411480"/>
            <a:ext cx="480060" cy="480060"/>
          </a:xfrm>
          <a:prstGeom prst="roundRect">
            <a:avLst>
              <a:gd name="adj" fmla="val 19048"/>
            </a:avLst>
          </a:prstGeom>
          <a:solidFill>
            <a:srgbClr val="4F46E5"/>
          </a:solidFill>
          <a:ln/>
        </p:spPr>
      </p:sp>
      <p:sp>
        <p:nvSpPr>
          <p:cNvPr id="5" name="Text 3"/>
          <p:cNvSpPr/>
          <p:nvPr/>
        </p:nvSpPr>
        <p:spPr>
          <a:xfrm>
            <a:off x="457200" y="411480"/>
            <a:ext cx="480060" cy="480060"/>
          </a:xfrm>
          <a:prstGeom prst="rect">
            <a:avLst/>
          </a:prstGeom>
          <a:noFill/>
          <a:ln/>
        </p:spPr>
        <p:txBody>
          <a:bodyPr wrap="square" lIns="0" tIns="0" rIns="0" bIns="0" rtlCol="0" anchor="ctr"/>
          <a:lstStyle/>
          <a:p>
            <a:pPr algn="ctr" indent="0" marL="0">
              <a:buNone/>
            </a:pPr>
            <a:r>
              <a:rPr lang="en-US" sz="2125" b="1" dirty="0">
                <a:solidFill>
                  <a:srgbClr val="FFFFFF"/>
                </a:solidFill>
                <a:latin typeface="Calibri" pitchFamily="34" charset="0"/>
                <a:ea typeface="Calibri" pitchFamily="34" charset="-122"/>
                <a:cs typeface="Calibri" pitchFamily="34" charset="-120"/>
              </a:rPr>
              <a:t>cv</a:t>
            </a:r>
            <a:endParaRPr lang="en-US" sz="2125" dirty="0"/>
          </a:p>
        </p:txBody>
      </p:sp>
      <p:sp>
        <p:nvSpPr>
          <p:cNvPr id="6" name="Text 4"/>
          <p:cNvSpPr/>
          <p:nvPr/>
        </p:nvSpPr>
        <p:spPr>
          <a:xfrm>
            <a:off x="1051560" y="377190"/>
            <a:ext cx="2743200" cy="292608"/>
          </a:xfrm>
          <a:prstGeom prst="rect">
            <a:avLst/>
          </a:prstGeom>
          <a:noFill/>
          <a:ln/>
        </p:spPr>
        <p:txBody>
          <a:bodyPr wrap="square" lIns="0" tIns="0" rIns="0" bIns="0" rtlCol="0" anchor="t"/>
          <a:lstStyle/>
          <a:p>
            <a:pPr indent="0" marL="0">
              <a:buNone/>
            </a:pPr>
            <a:r>
              <a:rPr lang="en-US" sz="2250" b="1" dirty="0">
                <a:solidFill>
                  <a:srgbClr val="2563EB"/>
                </a:solidFill>
                <a:latin typeface="Calibri" pitchFamily="34" charset="0"/>
                <a:ea typeface="Calibri" pitchFamily="34" charset="-122"/>
                <a:cs typeface="Calibri" pitchFamily="34" charset="-120"/>
              </a:rPr>
              <a:t>CostVision</a:t>
            </a:r>
            <a:endParaRPr lang="en-US" sz="2250" dirty="0"/>
          </a:p>
        </p:txBody>
      </p:sp>
      <p:sp>
        <p:nvSpPr>
          <p:cNvPr id="7" name="Text 5"/>
          <p:cNvSpPr/>
          <p:nvPr/>
        </p:nvSpPr>
        <p:spPr>
          <a:xfrm>
            <a:off x="1051560" y="685800"/>
            <a:ext cx="2926080" cy="201168"/>
          </a:xfrm>
          <a:prstGeom prst="rect">
            <a:avLst/>
          </a:prstGeom>
          <a:noFill/>
          <a:ln/>
        </p:spPr>
        <p:txBody>
          <a:bodyPr wrap="square" lIns="0" tIns="0" rIns="0" bIns="0" rtlCol="0" anchor="t"/>
          <a:lstStyle/>
          <a:p>
            <a:pPr indent="0" marL="0">
              <a:buNone/>
            </a:pPr>
            <a:r>
              <a:rPr lang="en-US" sz="938" spc="100" kern="0" dirty="0">
                <a:solidFill>
                  <a:srgbClr val="64748B"/>
                </a:solidFill>
                <a:latin typeface="Calibri" pitchFamily="34" charset="0"/>
                <a:ea typeface="Calibri" pitchFamily="34" charset="-122"/>
                <a:cs typeface="Calibri" pitchFamily="34" charset="-120"/>
              </a:rPr>
              <a:t>AI  COST  INTELLIGENCE</a:t>
            </a:r>
            <a:endParaRPr lang="en-US" sz="938" dirty="0"/>
          </a:p>
        </p:txBody>
      </p:sp>
      <p:sp>
        <p:nvSpPr>
          <p:cNvPr id="8" name="Text 6"/>
          <p:cNvSpPr/>
          <p:nvPr/>
        </p:nvSpPr>
        <p:spPr>
          <a:xfrm>
            <a:off x="822960" y="2148840"/>
            <a:ext cx="10515600" cy="914400"/>
          </a:xfrm>
          <a:prstGeom prst="rect">
            <a:avLst/>
          </a:prstGeom>
          <a:noFill/>
          <a:ln/>
        </p:spPr>
        <p:txBody>
          <a:bodyPr wrap="square" lIns="0" tIns="0" rIns="0" bIns="0" rtlCol="0" anchor="t"/>
          <a:lstStyle/>
          <a:p>
            <a:pPr indent="0" marL="0">
              <a:buNone/>
            </a:pPr>
            <a:r>
              <a:rPr lang="en-US" sz="4600" b="1" dirty="0">
                <a:solidFill>
                  <a:srgbClr val="0F172A"/>
                </a:solidFill>
                <a:latin typeface="Calibri" pitchFamily="34" charset="0"/>
                <a:ea typeface="Calibri" pitchFamily="34" charset="-122"/>
                <a:cs typeface="Calibri" pitchFamily="34" charset="-120"/>
              </a:rPr>
              <a:t>Agentic AI in CostVision</a:t>
            </a:r>
            <a:endParaRPr lang="en-US" sz="4600" dirty="0"/>
          </a:p>
        </p:txBody>
      </p:sp>
      <p:sp>
        <p:nvSpPr>
          <p:cNvPr id="9" name="Text 7"/>
          <p:cNvSpPr/>
          <p:nvPr/>
        </p:nvSpPr>
        <p:spPr>
          <a:xfrm>
            <a:off x="822960" y="3063240"/>
            <a:ext cx="10058400" cy="822960"/>
          </a:xfrm>
          <a:prstGeom prst="rect">
            <a:avLst/>
          </a:prstGeom>
          <a:noFill/>
          <a:ln/>
        </p:spPr>
        <p:txBody>
          <a:bodyPr wrap="square" lIns="0" tIns="0" rIns="0" bIns="0" rtlCol="0" anchor="t"/>
          <a:lstStyle/>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 costing tool that learns from every analysis, remembers your parts,</a:t>
            </a:r>
            <a:endParaRPr lang="en-US" sz="1900" dirty="0"/>
          </a:p>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and finds savings on its own — while staying fully auditable.</a:t>
            </a:r>
            <a:endParaRPr lang="en-US" sz="1900" dirty="0"/>
          </a:p>
        </p:txBody>
      </p:sp>
      <p:sp>
        <p:nvSpPr>
          <p:cNvPr id="10" name="Shape 8"/>
          <p:cNvSpPr/>
          <p:nvPr/>
        </p:nvSpPr>
        <p:spPr>
          <a:xfrm>
            <a:off x="822960" y="4206240"/>
            <a:ext cx="2377440" cy="475488"/>
          </a:xfrm>
          <a:prstGeom prst="roundRect">
            <a:avLst>
              <a:gd name="adj" fmla="val 50000"/>
            </a:avLst>
          </a:prstGeom>
          <a:solidFill>
            <a:srgbClr val="F1F5F9"/>
          </a:solidFill>
          <a:ln/>
        </p:spPr>
      </p:sp>
      <p:sp>
        <p:nvSpPr>
          <p:cNvPr id="11" name="Text 9"/>
          <p:cNvSpPr/>
          <p:nvPr/>
        </p:nvSpPr>
        <p:spPr>
          <a:xfrm>
            <a:off x="822960" y="4206240"/>
            <a:ext cx="2377440" cy="475488"/>
          </a:xfrm>
          <a:prstGeom prst="rect">
            <a:avLst/>
          </a:prstGeom>
          <a:noFill/>
          <a:ln/>
        </p:spPr>
        <p:txBody>
          <a:bodyPr wrap="square" lIns="0" tIns="0" rIns="0" bIns="0" rtlCol="0" anchor="ctr"/>
          <a:lstStyle/>
          <a:p>
            <a:pPr algn="ctr" indent="0" marL="0">
              <a:buNone/>
            </a:pPr>
            <a:r>
              <a:rPr lang="en-US" sz="1300" b="1" dirty="0">
                <a:solidFill>
                  <a:srgbClr val="2563EB"/>
                </a:solidFill>
                <a:latin typeface="Calibri" pitchFamily="34" charset="0"/>
                <a:ea typeface="Calibri" pitchFamily="34" charset="-122"/>
                <a:cs typeface="Calibri" pitchFamily="34" charset="-120"/>
              </a:rPr>
              <a:t>Remembers</a:t>
            </a:r>
            <a:endParaRPr lang="en-US" sz="1300" dirty="0"/>
          </a:p>
        </p:txBody>
      </p:sp>
      <p:sp>
        <p:nvSpPr>
          <p:cNvPr id="12" name="Shape 10"/>
          <p:cNvSpPr/>
          <p:nvPr/>
        </p:nvSpPr>
        <p:spPr>
          <a:xfrm>
            <a:off x="3429000" y="4206240"/>
            <a:ext cx="2377440" cy="475488"/>
          </a:xfrm>
          <a:prstGeom prst="roundRect">
            <a:avLst>
              <a:gd name="adj" fmla="val 50000"/>
            </a:avLst>
          </a:prstGeom>
          <a:solidFill>
            <a:srgbClr val="F1F5F9"/>
          </a:solidFill>
          <a:ln/>
        </p:spPr>
      </p:sp>
      <p:sp>
        <p:nvSpPr>
          <p:cNvPr id="13" name="Text 11"/>
          <p:cNvSpPr/>
          <p:nvPr/>
        </p:nvSpPr>
        <p:spPr>
          <a:xfrm>
            <a:off x="3429000" y="4206240"/>
            <a:ext cx="2377440" cy="475488"/>
          </a:xfrm>
          <a:prstGeom prst="rect">
            <a:avLst/>
          </a:prstGeom>
          <a:noFill/>
          <a:ln/>
        </p:spPr>
        <p:txBody>
          <a:bodyPr wrap="square" lIns="0" tIns="0" rIns="0" bIns="0" rtlCol="0" anchor="ctr"/>
          <a:lstStyle/>
          <a:p>
            <a:pPr algn="ctr" indent="0" marL="0">
              <a:buNone/>
            </a:pPr>
            <a:r>
              <a:rPr lang="en-US" sz="1300" b="1" dirty="0">
                <a:solidFill>
                  <a:srgbClr val="0891B2"/>
                </a:solidFill>
                <a:latin typeface="Calibri" pitchFamily="34" charset="0"/>
                <a:ea typeface="Calibri" pitchFamily="34" charset="-122"/>
                <a:cs typeface="Calibri" pitchFamily="34" charset="-120"/>
              </a:rPr>
              <a:t>Recognises</a:t>
            </a:r>
            <a:endParaRPr lang="en-US" sz="1300" dirty="0"/>
          </a:p>
        </p:txBody>
      </p:sp>
      <p:sp>
        <p:nvSpPr>
          <p:cNvPr id="14" name="Shape 12"/>
          <p:cNvSpPr/>
          <p:nvPr/>
        </p:nvSpPr>
        <p:spPr>
          <a:xfrm>
            <a:off x="6035040" y="4206240"/>
            <a:ext cx="2377440" cy="475488"/>
          </a:xfrm>
          <a:prstGeom prst="roundRect">
            <a:avLst>
              <a:gd name="adj" fmla="val 50000"/>
            </a:avLst>
          </a:prstGeom>
          <a:solidFill>
            <a:srgbClr val="F1F5F9"/>
          </a:solidFill>
          <a:ln/>
        </p:spPr>
      </p:sp>
      <p:sp>
        <p:nvSpPr>
          <p:cNvPr id="15" name="Text 13"/>
          <p:cNvSpPr/>
          <p:nvPr/>
        </p:nvSpPr>
        <p:spPr>
          <a:xfrm>
            <a:off x="6035040" y="4206240"/>
            <a:ext cx="2377440" cy="475488"/>
          </a:xfrm>
          <a:prstGeom prst="rect">
            <a:avLst/>
          </a:prstGeom>
          <a:noFill/>
          <a:ln/>
        </p:spPr>
        <p:txBody>
          <a:bodyPr wrap="square" lIns="0" tIns="0" rIns="0" bIns="0" rtlCol="0" anchor="ctr"/>
          <a:lstStyle/>
          <a:p>
            <a:pPr algn="ctr" indent="0" marL="0">
              <a:buNone/>
            </a:pPr>
            <a:r>
              <a:rPr lang="en-US" sz="1300" b="1" dirty="0">
                <a:solidFill>
                  <a:srgbClr val="7C3AED"/>
                </a:solidFill>
                <a:latin typeface="Calibri" pitchFamily="34" charset="0"/>
                <a:ea typeface="Calibri" pitchFamily="34" charset="-122"/>
                <a:cs typeface="Calibri" pitchFamily="34" charset="-120"/>
              </a:rPr>
              <a:t>Self-corrects</a:t>
            </a:r>
            <a:endParaRPr lang="en-US" sz="1300" dirty="0"/>
          </a:p>
        </p:txBody>
      </p:sp>
      <p:sp>
        <p:nvSpPr>
          <p:cNvPr id="16" name="Shape 14"/>
          <p:cNvSpPr/>
          <p:nvPr/>
        </p:nvSpPr>
        <p:spPr>
          <a:xfrm>
            <a:off x="8641080" y="4206240"/>
            <a:ext cx="2377440" cy="475488"/>
          </a:xfrm>
          <a:prstGeom prst="roundRect">
            <a:avLst>
              <a:gd name="adj" fmla="val 50000"/>
            </a:avLst>
          </a:prstGeom>
          <a:solidFill>
            <a:srgbClr val="F1F5F9"/>
          </a:solidFill>
          <a:ln/>
        </p:spPr>
      </p:sp>
      <p:sp>
        <p:nvSpPr>
          <p:cNvPr id="17" name="Text 15"/>
          <p:cNvSpPr/>
          <p:nvPr/>
        </p:nvSpPr>
        <p:spPr>
          <a:xfrm>
            <a:off x="8641080" y="4206240"/>
            <a:ext cx="2377440" cy="475488"/>
          </a:xfrm>
          <a:prstGeom prst="rect">
            <a:avLst/>
          </a:prstGeom>
          <a:noFill/>
          <a:ln/>
        </p:spPr>
        <p:txBody>
          <a:bodyPr wrap="square" lIns="0" tIns="0" rIns="0" bIns="0" rtlCol="0" anchor="ctr"/>
          <a:lstStyle/>
          <a:p>
            <a:pPr algn="ctr" indent="0" marL="0">
              <a:buNone/>
            </a:pPr>
            <a:r>
              <a:rPr lang="en-US" sz="1300" b="1" dirty="0">
                <a:solidFill>
                  <a:srgbClr val="059669"/>
                </a:solidFill>
                <a:latin typeface="Calibri" pitchFamily="34" charset="0"/>
                <a:ea typeface="Calibri" pitchFamily="34" charset="-122"/>
                <a:cs typeface="Calibri" pitchFamily="34" charset="-120"/>
              </a:rPr>
              <a:t>Acts autonomously</a:t>
            </a:r>
            <a:endParaRPr lang="en-US" sz="1300" dirty="0"/>
          </a:p>
        </p:txBody>
      </p:sp>
      <p:sp>
        <p:nvSpPr>
          <p:cNvPr id="18" name="Text 16"/>
          <p:cNvSpPr/>
          <p:nvPr/>
        </p:nvSpPr>
        <p:spPr>
          <a:xfrm>
            <a:off x="822960" y="5943600"/>
            <a:ext cx="10058400" cy="3657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Management briefing  ·  July 2026  ·  All figures verified from live system runs</a:t>
            </a:r>
            <a:endParaRPr lang="en-US" sz="1200" dirty="0"/>
          </a:p>
        </p:txBody>
      </p:sp>
      <p:sp>
        <p:nvSpPr>
          <p:cNvPr id="19" name="Shape 17"/>
          <p:cNvSpPr/>
          <p:nvPr/>
        </p:nvSpPr>
        <p:spPr>
          <a:xfrm>
            <a:off x="0" y="6711696"/>
            <a:ext cx="12191695" cy="146304"/>
          </a:xfrm>
          <a:prstGeom prst="rect">
            <a:avLst/>
          </a:prstGeom>
          <a:solidFill>
            <a:srgbClr val="4F46E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EXECUTIVE SUMMARY</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we built — in one slide</a:t>
            </a:r>
            <a:endParaRPr lang="en-US" sz="2700" dirty="0"/>
          </a:p>
        </p:txBody>
      </p:sp>
      <p:sp>
        <p:nvSpPr>
          <p:cNvPr id="10" name="Shape 8"/>
          <p:cNvSpPr/>
          <p:nvPr/>
        </p:nvSpPr>
        <p:spPr>
          <a:xfrm>
            <a:off x="411480" y="1828800"/>
            <a:ext cx="2743200" cy="1600200"/>
          </a:xfrm>
          <a:prstGeom prst="roundRect">
            <a:avLst>
              <a:gd name="adj" fmla="val 5143"/>
            </a:avLst>
          </a:prstGeom>
          <a:solidFill>
            <a:srgbClr val="F1F5F9"/>
          </a:solidFill>
          <a:ln/>
        </p:spPr>
      </p:sp>
      <p:sp>
        <p:nvSpPr>
          <p:cNvPr id="11" name="Shape 9"/>
          <p:cNvSpPr/>
          <p:nvPr/>
        </p:nvSpPr>
        <p:spPr>
          <a:xfrm>
            <a:off x="411480" y="1828800"/>
            <a:ext cx="64008" cy="1600200"/>
          </a:xfrm>
          <a:prstGeom prst="rect">
            <a:avLst/>
          </a:prstGeom>
          <a:solidFill>
            <a:srgbClr val="059669"/>
          </a:solidFill>
          <a:ln/>
        </p:spPr>
      </p:sp>
      <p:sp>
        <p:nvSpPr>
          <p:cNvPr id="12" name="Text 10"/>
          <p:cNvSpPr/>
          <p:nvPr/>
        </p:nvSpPr>
        <p:spPr>
          <a:xfrm>
            <a:off x="612648" y="1956816"/>
            <a:ext cx="2423160" cy="502920"/>
          </a:xfrm>
          <a:prstGeom prst="rect">
            <a:avLst/>
          </a:prstGeom>
          <a:noFill/>
          <a:ln/>
        </p:spPr>
        <p:txBody>
          <a:bodyPr wrap="square" lIns="0" tIns="0" rIns="0" bIns="0" rtlCol="0" anchor="t"/>
          <a:lstStyle/>
          <a:p>
            <a:pPr indent="0" marL="0">
              <a:buNone/>
            </a:pPr>
            <a:r>
              <a:rPr lang="en-US" sz="2500" b="1" dirty="0">
                <a:solidFill>
                  <a:srgbClr val="059669"/>
                </a:solidFill>
                <a:latin typeface="Calibri" pitchFamily="34" charset="0"/>
                <a:ea typeface="Calibri" pitchFamily="34" charset="-122"/>
                <a:cs typeface="Calibri" pitchFamily="34" charset="-120"/>
              </a:rPr>
              <a:t>36×</a:t>
            </a:r>
            <a:endParaRPr lang="en-US" sz="2500" dirty="0"/>
          </a:p>
        </p:txBody>
      </p:sp>
      <p:sp>
        <p:nvSpPr>
          <p:cNvPr id="13" name="Text 11"/>
          <p:cNvSpPr/>
          <p:nvPr/>
        </p:nvSpPr>
        <p:spPr>
          <a:xfrm>
            <a:off x="61264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Error reduction</a:t>
            </a:r>
            <a:endParaRPr lang="en-US" sz="1250" dirty="0"/>
          </a:p>
        </p:txBody>
      </p:sp>
      <p:sp>
        <p:nvSpPr>
          <p:cNvPr id="14" name="Text 12"/>
          <p:cNvSpPr/>
          <p:nvPr/>
        </p:nvSpPr>
        <p:spPr>
          <a:xfrm>
            <a:off x="61264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Estimating error fell from 10.9% to 0.3% after the tool learned from just 3 real quotes (verified live).</a:t>
            </a:r>
            <a:endParaRPr lang="en-US" sz="1000" dirty="0"/>
          </a:p>
        </p:txBody>
      </p:sp>
      <p:sp>
        <p:nvSpPr>
          <p:cNvPr id="15" name="Shape 13"/>
          <p:cNvSpPr/>
          <p:nvPr/>
        </p:nvSpPr>
        <p:spPr>
          <a:xfrm>
            <a:off x="3337560" y="1828800"/>
            <a:ext cx="2743200" cy="1600200"/>
          </a:xfrm>
          <a:prstGeom prst="roundRect">
            <a:avLst>
              <a:gd name="adj" fmla="val 5143"/>
            </a:avLst>
          </a:prstGeom>
          <a:solidFill>
            <a:srgbClr val="F1F5F9"/>
          </a:solidFill>
          <a:ln/>
        </p:spPr>
      </p:sp>
      <p:sp>
        <p:nvSpPr>
          <p:cNvPr id="16" name="Shape 14"/>
          <p:cNvSpPr/>
          <p:nvPr/>
        </p:nvSpPr>
        <p:spPr>
          <a:xfrm>
            <a:off x="3337560" y="1828800"/>
            <a:ext cx="64008" cy="1600200"/>
          </a:xfrm>
          <a:prstGeom prst="rect">
            <a:avLst/>
          </a:prstGeom>
          <a:solidFill>
            <a:srgbClr val="DC2626"/>
          </a:solidFill>
          <a:ln/>
        </p:spPr>
      </p:sp>
      <p:sp>
        <p:nvSpPr>
          <p:cNvPr id="17" name="Text 15"/>
          <p:cNvSpPr/>
          <p:nvPr/>
        </p:nvSpPr>
        <p:spPr>
          <a:xfrm>
            <a:off x="3538728" y="1956816"/>
            <a:ext cx="2423160" cy="502920"/>
          </a:xfrm>
          <a:prstGeom prst="rect">
            <a:avLst/>
          </a:prstGeom>
          <a:noFill/>
          <a:ln/>
        </p:spPr>
        <p:txBody>
          <a:bodyPr wrap="square" lIns="0" tIns="0" rIns="0" bIns="0" rtlCol="0" anchor="t"/>
          <a:lstStyle/>
          <a:p>
            <a:pPr indent="0" marL="0">
              <a:buNone/>
            </a:pPr>
            <a:r>
              <a:rPr lang="en-US" sz="2500" b="1" dirty="0">
                <a:solidFill>
                  <a:srgbClr val="DC2626"/>
                </a:solidFill>
                <a:latin typeface="Calibri" pitchFamily="34" charset="0"/>
                <a:ea typeface="Calibri" pitchFamily="34" charset="-122"/>
                <a:cs typeface="Calibri" pitchFamily="34" charset="-120"/>
              </a:rPr>
              <a:t>£512k/yr</a:t>
            </a:r>
            <a:endParaRPr lang="en-US" sz="2500" dirty="0"/>
          </a:p>
        </p:txBody>
      </p:sp>
      <p:sp>
        <p:nvSpPr>
          <p:cNvPr id="18" name="Text 16"/>
          <p:cNvSpPr/>
          <p:nvPr/>
        </p:nvSpPr>
        <p:spPr>
          <a:xfrm>
            <a:off x="353872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Found autonomously</a:t>
            </a:r>
            <a:endParaRPr lang="en-US" sz="1250" dirty="0"/>
          </a:p>
        </p:txBody>
      </p:sp>
      <p:sp>
        <p:nvSpPr>
          <p:cNvPr id="19" name="Text 17"/>
          <p:cNvSpPr/>
          <p:nvPr/>
        </p:nvSpPr>
        <p:spPr>
          <a:xfrm>
            <a:off x="353872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In our live demo the background agent flagged £512k/yr of pricing issues — with nobody at the keyboard.</a:t>
            </a:r>
            <a:endParaRPr lang="en-US" sz="1000" dirty="0"/>
          </a:p>
        </p:txBody>
      </p:sp>
      <p:sp>
        <p:nvSpPr>
          <p:cNvPr id="20" name="Shape 18"/>
          <p:cNvSpPr/>
          <p:nvPr/>
        </p:nvSpPr>
        <p:spPr>
          <a:xfrm>
            <a:off x="6263640" y="1828800"/>
            <a:ext cx="2743200" cy="1600200"/>
          </a:xfrm>
          <a:prstGeom prst="roundRect">
            <a:avLst>
              <a:gd name="adj" fmla="val 5143"/>
            </a:avLst>
          </a:prstGeom>
          <a:solidFill>
            <a:srgbClr val="F1F5F9"/>
          </a:solidFill>
          <a:ln/>
        </p:spPr>
      </p:sp>
      <p:sp>
        <p:nvSpPr>
          <p:cNvPr id="21" name="Shape 19"/>
          <p:cNvSpPr/>
          <p:nvPr/>
        </p:nvSpPr>
        <p:spPr>
          <a:xfrm>
            <a:off x="6263640" y="1828800"/>
            <a:ext cx="64008" cy="1600200"/>
          </a:xfrm>
          <a:prstGeom prst="rect">
            <a:avLst/>
          </a:prstGeom>
          <a:solidFill>
            <a:srgbClr val="0891B2"/>
          </a:solidFill>
          <a:ln/>
        </p:spPr>
      </p:sp>
      <p:sp>
        <p:nvSpPr>
          <p:cNvPr id="22" name="Text 20"/>
          <p:cNvSpPr/>
          <p:nvPr/>
        </p:nvSpPr>
        <p:spPr>
          <a:xfrm>
            <a:off x="6464808" y="1956816"/>
            <a:ext cx="2423160" cy="502920"/>
          </a:xfrm>
          <a:prstGeom prst="rect">
            <a:avLst/>
          </a:prstGeom>
          <a:noFill/>
          <a:ln/>
        </p:spPr>
        <p:txBody>
          <a:bodyPr wrap="square" lIns="0" tIns="0" rIns="0" bIns="0" rtlCol="0" anchor="t"/>
          <a:lstStyle/>
          <a:p>
            <a:pPr indent="0" marL="0">
              <a:buNone/>
            </a:pPr>
            <a:r>
              <a:rPr lang="en-US" sz="2500" b="1" dirty="0">
                <a:solidFill>
                  <a:srgbClr val="0891B2"/>
                </a:solidFill>
                <a:latin typeface="Calibri" pitchFamily="34" charset="0"/>
                <a:ea typeface="Calibri" pitchFamily="34" charset="-122"/>
                <a:cs typeface="Calibri" pitchFamily="34" charset="-120"/>
              </a:rPr>
              <a:t>99%</a:t>
            </a:r>
            <a:endParaRPr lang="en-US" sz="2500" dirty="0"/>
          </a:p>
        </p:txBody>
      </p:sp>
      <p:sp>
        <p:nvSpPr>
          <p:cNvPr id="23" name="Text 21"/>
          <p:cNvSpPr/>
          <p:nvPr/>
        </p:nvSpPr>
        <p:spPr>
          <a:xfrm>
            <a:off x="646480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Part recognition</a:t>
            </a:r>
            <a:endParaRPr lang="en-US" sz="1250" dirty="0"/>
          </a:p>
        </p:txBody>
      </p:sp>
      <p:sp>
        <p:nvSpPr>
          <p:cNvPr id="24" name="Text 22"/>
          <p:cNvSpPr/>
          <p:nvPr/>
        </p:nvSpPr>
        <p:spPr>
          <a:xfrm>
            <a:off x="646480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A new bracket was matched to 3 past bracket analyses at 98–99% similarity, with reasons shown.</a:t>
            </a:r>
            <a:endParaRPr lang="en-US" sz="1000" dirty="0"/>
          </a:p>
        </p:txBody>
      </p:sp>
      <p:sp>
        <p:nvSpPr>
          <p:cNvPr id="25" name="Shape 23"/>
          <p:cNvSpPr/>
          <p:nvPr/>
        </p:nvSpPr>
        <p:spPr>
          <a:xfrm>
            <a:off x="9189720" y="1828800"/>
            <a:ext cx="2606040" cy="1600200"/>
          </a:xfrm>
          <a:prstGeom prst="roundRect">
            <a:avLst>
              <a:gd name="adj" fmla="val 5143"/>
            </a:avLst>
          </a:prstGeom>
          <a:solidFill>
            <a:srgbClr val="F1F5F9"/>
          </a:solidFill>
          <a:ln/>
        </p:spPr>
      </p:sp>
      <p:sp>
        <p:nvSpPr>
          <p:cNvPr id="26" name="Shape 24"/>
          <p:cNvSpPr/>
          <p:nvPr/>
        </p:nvSpPr>
        <p:spPr>
          <a:xfrm>
            <a:off x="9189720" y="1828800"/>
            <a:ext cx="64008" cy="1600200"/>
          </a:xfrm>
          <a:prstGeom prst="rect">
            <a:avLst/>
          </a:prstGeom>
          <a:solidFill>
            <a:srgbClr val="7C3AED"/>
          </a:solidFill>
          <a:ln/>
        </p:spPr>
      </p:sp>
      <p:sp>
        <p:nvSpPr>
          <p:cNvPr id="27" name="Text 25"/>
          <p:cNvSpPr/>
          <p:nvPr/>
        </p:nvSpPr>
        <p:spPr>
          <a:xfrm>
            <a:off x="9390888" y="1956816"/>
            <a:ext cx="2286000" cy="502920"/>
          </a:xfrm>
          <a:prstGeom prst="rect">
            <a:avLst/>
          </a:prstGeom>
          <a:noFill/>
          <a:ln/>
        </p:spPr>
        <p:txBody>
          <a:bodyPr wrap="square" lIns="0" tIns="0" rIns="0" bIns="0" rtlCol="0" anchor="t"/>
          <a:lstStyle/>
          <a:p>
            <a:pPr indent="0" marL="0">
              <a:buNone/>
            </a:pPr>
            <a:r>
              <a:rPr lang="en-US" sz="2500" b="1" dirty="0">
                <a:solidFill>
                  <a:srgbClr val="7C3AED"/>
                </a:solidFill>
                <a:latin typeface="Calibri" pitchFamily="34" charset="0"/>
                <a:ea typeface="Calibri" pitchFamily="34" charset="-122"/>
                <a:cs typeface="Calibri" pitchFamily="34" charset="-120"/>
              </a:rPr>
              <a:t>917</a:t>
            </a:r>
            <a:endParaRPr lang="en-US" sz="2500" dirty="0"/>
          </a:p>
        </p:txBody>
      </p:sp>
      <p:sp>
        <p:nvSpPr>
          <p:cNvPr id="28" name="Text 26"/>
          <p:cNvSpPr/>
          <p:nvPr/>
        </p:nvSpPr>
        <p:spPr>
          <a:xfrm>
            <a:off x="9390888" y="2450592"/>
            <a:ext cx="228600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Automated tests</a:t>
            </a:r>
            <a:endParaRPr lang="en-US" sz="1250" dirty="0"/>
          </a:p>
        </p:txBody>
      </p:sp>
      <p:sp>
        <p:nvSpPr>
          <p:cNvPr id="29" name="Text 27"/>
          <p:cNvSpPr/>
          <p:nvPr/>
        </p:nvSpPr>
        <p:spPr>
          <a:xfrm>
            <a:off x="9390888" y="2724912"/>
            <a:ext cx="228600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Every capability is covered by automated tests (77 suites) and was exercised end-to-end on the running system.</a:t>
            </a:r>
            <a:endParaRPr lang="en-US" sz="1000" dirty="0"/>
          </a:p>
        </p:txBody>
      </p:sp>
      <p:sp>
        <p:nvSpPr>
          <p:cNvPr id="30" name="Shape 28"/>
          <p:cNvSpPr/>
          <p:nvPr/>
        </p:nvSpPr>
        <p:spPr>
          <a:xfrm>
            <a:off x="411480" y="3749040"/>
            <a:ext cx="11384280" cy="2468880"/>
          </a:xfrm>
          <a:prstGeom prst="roundRect">
            <a:avLst>
              <a:gd name="adj" fmla="val 2222"/>
            </a:avLst>
          </a:prstGeom>
          <a:solidFill>
            <a:srgbClr val="EFF6FF"/>
          </a:solidFill>
          <a:ln/>
        </p:spPr>
      </p:sp>
      <p:sp>
        <p:nvSpPr>
          <p:cNvPr id="31" name="Text 29"/>
          <p:cNvSpPr/>
          <p:nvPr/>
        </p:nvSpPr>
        <p:spPr>
          <a:xfrm>
            <a:off x="685800" y="3977640"/>
            <a:ext cx="10881360" cy="2103120"/>
          </a:xfrm>
          <a:prstGeom prst="rect">
            <a:avLst/>
          </a:prstGeom>
          <a:noFill/>
          <a:ln/>
        </p:spPr>
        <p:txBody>
          <a:bodyPr wrap="square" lIns="0" tIns="0" rIns="0" bIns="0" rtlCol="0" anchor="t"/>
          <a:lstStyle/>
          <a:p>
            <a:pPr indent="0" marL="0">
              <a:lnSpc>
                <a:spcPct val="115000"/>
              </a:lnSpc>
              <a:spcAft>
                <a:spcPts val="800"/>
              </a:spcAft>
              <a:buNone/>
            </a:pPr>
            <a:r>
              <a:rPr lang="en-US" sz="1500" b="1" dirty="0">
                <a:solidFill>
                  <a:srgbClr val="0F172A"/>
                </a:solidFill>
                <a:latin typeface="Calibri" pitchFamily="34" charset="0"/>
                <a:ea typeface="Calibri" pitchFamily="34" charset="-122"/>
                <a:cs typeface="Calibri" pitchFamily="34" charset="-120"/>
              </a:rPr>
              <a:t>The idea, in plain words</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Until now, every costing started from zero and the result depended on who did it. </a:t>
            </a:r>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Now the tool keeps an organisational memory: </a:t>
            </a:r>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every analysis is stored, every real supplier quote teaches it, and every new part is compared against everything we have costed before.</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The knowledge stays in our database, on our servers — it becomes a company asset that gets more valuable with use, and it does not walk out of the door when an expert leaves.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CONCEPT</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"Agentic AI" means here — four plain words</a:t>
            </a:r>
            <a:endParaRPr lang="en-US" sz="2700" dirty="0"/>
          </a:p>
        </p:txBody>
      </p:sp>
      <p:sp>
        <p:nvSpPr>
          <p:cNvPr id="10" name="Shape 8"/>
          <p:cNvSpPr/>
          <p:nvPr/>
        </p:nvSpPr>
        <p:spPr>
          <a:xfrm>
            <a:off x="411480" y="1920240"/>
            <a:ext cx="2761488" cy="3291840"/>
          </a:xfrm>
          <a:prstGeom prst="roundRect">
            <a:avLst>
              <a:gd name="adj" fmla="val 2318"/>
            </a:avLst>
          </a:prstGeom>
          <a:solidFill>
            <a:srgbClr val="F1F5F9"/>
          </a:solidFill>
          <a:ln/>
        </p:spPr>
      </p:sp>
      <p:sp>
        <p:nvSpPr>
          <p:cNvPr id="11" name="Shape 9"/>
          <p:cNvSpPr/>
          <p:nvPr/>
        </p:nvSpPr>
        <p:spPr>
          <a:xfrm>
            <a:off x="411480" y="1920240"/>
            <a:ext cx="2761488" cy="82296"/>
          </a:xfrm>
          <a:prstGeom prst="rect">
            <a:avLst/>
          </a:prstGeom>
          <a:solidFill>
            <a:srgbClr val="2563EB"/>
          </a:solidFill>
          <a:ln/>
        </p:spPr>
      </p:sp>
      <p:sp>
        <p:nvSpPr>
          <p:cNvPr id="12" name="Text 10"/>
          <p:cNvSpPr/>
          <p:nvPr/>
        </p:nvSpPr>
        <p:spPr>
          <a:xfrm>
            <a:off x="640080" y="2148840"/>
            <a:ext cx="2286000" cy="548640"/>
          </a:xfrm>
          <a:prstGeom prst="rect">
            <a:avLst/>
          </a:prstGeom>
          <a:noFill/>
          <a:ln/>
        </p:spPr>
        <p:txBody>
          <a:bodyPr wrap="square" lIns="0" tIns="0" rIns="0" bIns="0" rtlCol="0" anchor="t"/>
          <a:lstStyle/>
          <a:p>
            <a:pPr indent="0" marL="0">
              <a:buNone/>
            </a:pPr>
            <a:r>
              <a:rPr lang="en-US" sz="2800" dirty="0">
                <a:solidFill>
                  <a:srgbClr val="2563EB"/>
                </a:solidFill>
                <a:latin typeface="Calibri" pitchFamily="34" charset="0"/>
                <a:ea typeface="Calibri" pitchFamily="34" charset="-122"/>
                <a:cs typeface="Calibri" pitchFamily="34" charset="-120"/>
              </a:rPr>
              <a:t>🧠</a:t>
            </a:r>
            <a:endParaRPr lang="en-US" sz="2800" dirty="0"/>
          </a:p>
        </p:txBody>
      </p:sp>
      <p:sp>
        <p:nvSpPr>
          <p:cNvPr id="13" name="Text 11"/>
          <p:cNvSpPr/>
          <p:nvPr/>
        </p:nvSpPr>
        <p:spPr>
          <a:xfrm>
            <a:off x="640080" y="2788920"/>
            <a:ext cx="2331720" cy="411480"/>
          </a:xfrm>
          <a:prstGeom prst="rect">
            <a:avLst/>
          </a:prstGeom>
          <a:noFill/>
          <a:ln/>
        </p:spPr>
        <p:txBody>
          <a:bodyPr wrap="square" lIns="0" tIns="0" rIns="0" bIns="0" rtlCol="0" anchor="t"/>
          <a:lstStyle/>
          <a:p>
            <a:pPr indent="0" marL="0">
              <a:buNone/>
            </a:pPr>
            <a:r>
              <a:rPr lang="en-US" sz="1700" b="1" dirty="0">
                <a:solidFill>
                  <a:srgbClr val="2563EB"/>
                </a:solidFill>
                <a:latin typeface="Calibri" pitchFamily="34" charset="0"/>
                <a:ea typeface="Calibri" pitchFamily="34" charset="-122"/>
                <a:cs typeface="Calibri" pitchFamily="34" charset="-120"/>
              </a:rPr>
              <a:t>Remembers</a:t>
            </a:r>
            <a:endParaRPr lang="en-US" sz="1700" dirty="0"/>
          </a:p>
        </p:txBody>
      </p:sp>
      <p:sp>
        <p:nvSpPr>
          <p:cNvPr id="14" name="Text 12"/>
          <p:cNvSpPr/>
          <p:nvPr/>
        </p:nvSpPr>
        <p:spPr>
          <a:xfrm>
            <a:off x="640080"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Every costing is saved as a "case": the part, the inputs, the result, and any real quote. Shared across the whole team.</a:t>
            </a:r>
            <a:endParaRPr lang="en-US" sz="1150" dirty="0"/>
          </a:p>
        </p:txBody>
      </p:sp>
      <p:sp>
        <p:nvSpPr>
          <p:cNvPr id="15" name="Shape 13"/>
          <p:cNvSpPr/>
          <p:nvPr/>
        </p:nvSpPr>
        <p:spPr>
          <a:xfrm>
            <a:off x="3374136" y="1920240"/>
            <a:ext cx="2761488" cy="3291840"/>
          </a:xfrm>
          <a:prstGeom prst="roundRect">
            <a:avLst>
              <a:gd name="adj" fmla="val 2318"/>
            </a:avLst>
          </a:prstGeom>
          <a:solidFill>
            <a:srgbClr val="F1F5F9"/>
          </a:solidFill>
          <a:ln/>
        </p:spPr>
      </p:sp>
      <p:sp>
        <p:nvSpPr>
          <p:cNvPr id="16" name="Shape 14"/>
          <p:cNvSpPr/>
          <p:nvPr/>
        </p:nvSpPr>
        <p:spPr>
          <a:xfrm>
            <a:off x="3374136" y="1920240"/>
            <a:ext cx="2761488" cy="82296"/>
          </a:xfrm>
          <a:prstGeom prst="rect">
            <a:avLst/>
          </a:prstGeom>
          <a:solidFill>
            <a:srgbClr val="0891B2"/>
          </a:solidFill>
          <a:ln/>
        </p:spPr>
      </p:sp>
      <p:sp>
        <p:nvSpPr>
          <p:cNvPr id="17" name="Text 15"/>
          <p:cNvSpPr/>
          <p:nvPr/>
        </p:nvSpPr>
        <p:spPr>
          <a:xfrm>
            <a:off x="3602736" y="2148840"/>
            <a:ext cx="2286000" cy="548640"/>
          </a:xfrm>
          <a:prstGeom prst="rect">
            <a:avLst/>
          </a:prstGeom>
          <a:noFill/>
          <a:ln/>
        </p:spPr>
        <p:txBody>
          <a:bodyPr wrap="square" lIns="0" tIns="0" rIns="0" bIns="0" rtlCol="0" anchor="t"/>
          <a:lstStyle/>
          <a:p>
            <a:pPr indent="0" marL="0">
              <a:buNone/>
            </a:pPr>
            <a:r>
              <a:rPr lang="en-US" sz="2800" dirty="0">
                <a:solidFill>
                  <a:srgbClr val="0891B2"/>
                </a:solidFill>
                <a:latin typeface="Calibri" pitchFamily="34" charset="0"/>
                <a:ea typeface="Calibri" pitchFamily="34" charset="-122"/>
                <a:cs typeface="Calibri" pitchFamily="34" charset="-120"/>
              </a:rPr>
              <a:t>🔎</a:t>
            </a:r>
            <a:endParaRPr lang="en-US" sz="2800" dirty="0"/>
          </a:p>
        </p:txBody>
      </p:sp>
      <p:sp>
        <p:nvSpPr>
          <p:cNvPr id="18" name="Text 16"/>
          <p:cNvSpPr/>
          <p:nvPr/>
        </p:nvSpPr>
        <p:spPr>
          <a:xfrm>
            <a:off x="3602736" y="2788920"/>
            <a:ext cx="2331720" cy="411480"/>
          </a:xfrm>
          <a:prstGeom prst="rect">
            <a:avLst/>
          </a:prstGeom>
          <a:noFill/>
          <a:ln/>
        </p:spPr>
        <p:txBody>
          <a:bodyPr wrap="square" lIns="0" tIns="0" rIns="0" bIns="0" rtlCol="0" anchor="t"/>
          <a:lstStyle/>
          <a:p>
            <a:pPr indent="0" marL="0">
              <a:buNone/>
            </a:pPr>
            <a:r>
              <a:rPr lang="en-US" sz="1700" b="1" dirty="0">
                <a:solidFill>
                  <a:srgbClr val="0891B2"/>
                </a:solidFill>
                <a:latin typeface="Calibri" pitchFamily="34" charset="0"/>
                <a:ea typeface="Calibri" pitchFamily="34" charset="-122"/>
                <a:cs typeface="Calibri" pitchFamily="34" charset="-120"/>
              </a:rPr>
              <a:t>Recognises</a:t>
            </a:r>
            <a:endParaRPr lang="en-US" sz="1700" dirty="0"/>
          </a:p>
        </p:txBody>
      </p:sp>
      <p:sp>
        <p:nvSpPr>
          <p:cNvPr id="19" name="Text 17"/>
          <p:cNvSpPr/>
          <p:nvPr/>
        </p:nvSpPr>
        <p:spPr>
          <a:xfrm>
            <a:off x="3602736"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Start a new part and it instantly finds the most similar past parts — like an experienced engineer saying "we've done this before".</a:t>
            </a:r>
            <a:endParaRPr lang="en-US" sz="1150" dirty="0"/>
          </a:p>
        </p:txBody>
      </p:sp>
      <p:sp>
        <p:nvSpPr>
          <p:cNvPr id="20" name="Shape 18"/>
          <p:cNvSpPr/>
          <p:nvPr/>
        </p:nvSpPr>
        <p:spPr>
          <a:xfrm>
            <a:off x="6336792" y="1920240"/>
            <a:ext cx="2761488" cy="3291840"/>
          </a:xfrm>
          <a:prstGeom prst="roundRect">
            <a:avLst>
              <a:gd name="adj" fmla="val 2318"/>
            </a:avLst>
          </a:prstGeom>
          <a:solidFill>
            <a:srgbClr val="F1F5F9"/>
          </a:solidFill>
          <a:ln/>
        </p:spPr>
      </p:sp>
      <p:sp>
        <p:nvSpPr>
          <p:cNvPr id="21" name="Shape 19"/>
          <p:cNvSpPr/>
          <p:nvPr/>
        </p:nvSpPr>
        <p:spPr>
          <a:xfrm>
            <a:off x="6336792" y="1920240"/>
            <a:ext cx="2761488" cy="82296"/>
          </a:xfrm>
          <a:prstGeom prst="rect">
            <a:avLst/>
          </a:prstGeom>
          <a:solidFill>
            <a:srgbClr val="7C3AED"/>
          </a:solidFill>
          <a:ln/>
        </p:spPr>
      </p:sp>
      <p:sp>
        <p:nvSpPr>
          <p:cNvPr id="22" name="Text 20"/>
          <p:cNvSpPr/>
          <p:nvPr/>
        </p:nvSpPr>
        <p:spPr>
          <a:xfrm>
            <a:off x="6565392" y="2148840"/>
            <a:ext cx="2286000" cy="548640"/>
          </a:xfrm>
          <a:prstGeom prst="rect">
            <a:avLst/>
          </a:prstGeom>
          <a:noFill/>
          <a:ln/>
        </p:spPr>
        <p:txBody>
          <a:bodyPr wrap="square" lIns="0" tIns="0" rIns="0" bIns="0" rtlCol="0" anchor="t"/>
          <a:lstStyle/>
          <a:p>
            <a:pPr indent="0" marL="0">
              <a:buNone/>
            </a:pPr>
            <a:r>
              <a:rPr lang="en-US" sz="2800" dirty="0">
                <a:solidFill>
                  <a:srgbClr val="7C3AED"/>
                </a:solidFill>
                <a:latin typeface="Calibri" pitchFamily="34" charset="0"/>
                <a:ea typeface="Calibri" pitchFamily="34" charset="-122"/>
                <a:cs typeface="Calibri" pitchFamily="34" charset="-120"/>
              </a:rPr>
              <a:t>🎯</a:t>
            </a:r>
            <a:endParaRPr lang="en-US" sz="2800" dirty="0"/>
          </a:p>
        </p:txBody>
      </p:sp>
      <p:sp>
        <p:nvSpPr>
          <p:cNvPr id="23" name="Text 21"/>
          <p:cNvSpPr/>
          <p:nvPr/>
        </p:nvSpPr>
        <p:spPr>
          <a:xfrm>
            <a:off x="6565392" y="2788920"/>
            <a:ext cx="2331720" cy="411480"/>
          </a:xfrm>
          <a:prstGeom prst="rect">
            <a:avLst/>
          </a:prstGeom>
          <a:noFill/>
          <a:ln/>
        </p:spPr>
        <p:txBody>
          <a:bodyPr wrap="square" lIns="0" tIns="0" rIns="0" bIns="0" rtlCol="0" anchor="t"/>
          <a:lstStyle/>
          <a:p>
            <a:pPr indent="0" marL="0">
              <a:buNone/>
            </a:pPr>
            <a:r>
              <a:rPr lang="en-US" sz="1700" b="1" dirty="0">
                <a:solidFill>
                  <a:srgbClr val="7C3AED"/>
                </a:solidFill>
                <a:latin typeface="Calibri" pitchFamily="34" charset="0"/>
                <a:ea typeface="Calibri" pitchFamily="34" charset="-122"/>
                <a:cs typeface="Calibri" pitchFamily="34" charset="-120"/>
              </a:rPr>
              <a:t>Self-corrects</a:t>
            </a:r>
            <a:endParaRPr lang="en-US" sz="1700" dirty="0"/>
          </a:p>
        </p:txBody>
      </p:sp>
      <p:sp>
        <p:nvSpPr>
          <p:cNvPr id="24" name="Text 22"/>
          <p:cNvSpPr/>
          <p:nvPr/>
        </p:nvSpPr>
        <p:spPr>
          <a:xfrm>
            <a:off x="6565392"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Log the real supplier price and the tool measures its own error, then corrects future estimates in that category. Accuracy is measured, not claimed.</a:t>
            </a:r>
            <a:endParaRPr lang="en-US" sz="1150" dirty="0"/>
          </a:p>
        </p:txBody>
      </p:sp>
      <p:sp>
        <p:nvSpPr>
          <p:cNvPr id="25" name="Shape 23"/>
          <p:cNvSpPr/>
          <p:nvPr/>
        </p:nvSpPr>
        <p:spPr>
          <a:xfrm>
            <a:off x="9299448" y="1920240"/>
            <a:ext cx="2761488" cy="3291840"/>
          </a:xfrm>
          <a:prstGeom prst="roundRect">
            <a:avLst>
              <a:gd name="adj" fmla="val 2318"/>
            </a:avLst>
          </a:prstGeom>
          <a:solidFill>
            <a:srgbClr val="F1F5F9"/>
          </a:solidFill>
          <a:ln/>
        </p:spPr>
      </p:sp>
      <p:sp>
        <p:nvSpPr>
          <p:cNvPr id="26" name="Shape 24"/>
          <p:cNvSpPr/>
          <p:nvPr/>
        </p:nvSpPr>
        <p:spPr>
          <a:xfrm>
            <a:off x="9299448" y="1920240"/>
            <a:ext cx="2761488" cy="82296"/>
          </a:xfrm>
          <a:prstGeom prst="rect">
            <a:avLst/>
          </a:prstGeom>
          <a:solidFill>
            <a:srgbClr val="059669"/>
          </a:solidFill>
          <a:ln/>
        </p:spPr>
      </p:sp>
      <p:sp>
        <p:nvSpPr>
          <p:cNvPr id="27" name="Text 25"/>
          <p:cNvSpPr/>
          <p:nvPr/>
        </p:nvSpPr>
        <p:spPr>
          <a:xfrm>
            <a:off x="9528048" y="2148840"/>
            <a:ext cx="2286000" cy="548640"/>
          </a:xfrm>
          <a:prstGeom prst="rect">
            <a:avLst/>
          </a:prstGeom>
          <a:noFill/>
          <a:ln/>
        </p:spPr>
        <p:txBody>
          <a:bodyPr wrap="square" lIns="0" tIns="0" rIns="0" bIns="0" rtlCol="0" anchor="t"/>
          <a:lstStyle/>
          <a:p>
            <a:pPr indent="0" marL="0">
              <a:buNone/>
            </a:pPr>
            <a:r>
              <a:rPr lang="en-US" sz="2800" dirty="0">
                <a:solidFill>
                  <a:srgbClr val="059669"/>
                </a:solidFill>
                <a:latin typeface="Calibri" pitchFamily="34" charset="0"/>
                <a:ea typeface="Calibri" pitchFamily="34" charset="-122"/>
                <a:cs typeface="Calibri" pitchFamily="34" charset="-120"/>
              </a:rPr>
              <a:t>🤖</a:t>
            </a:r>
            <a:endParaRPr lang="en-US" sz="2800" dirty="0"/>
          </a:p>
        </p:txBody>
      </p:sp>
      <p:sp>
        <p:nvSpPr>
          <p:cNvPr id="28" name="Text 26"/>
          <p:cNvSpPr/>
          <p:nvPr/>
        </p:nvSpPr>
        <p:spPr>
          <a:xfrm>
            <a:off x="9528048" y="2788920"/>
            <a:ext cx="2331720" cy="411480"/>
          </a:xfrm>
          <a:prstGeom prst="rect">
            <a:avLst/>
          </a:prstGeom>
          <a:noFill/>
          <a:ln/>
        </p:spPr>
        <p:txBody>
          <a:bodyPr wrap="square" lIns="0" tIns="0" rIns="0" bIns="0" rtlCol="0" anchor="t"/>
          <a:lstStyle/>
          <a:p>
            <a:pPr indent="0" marL="0">
              <a:buNone/>
            </a:pPr>
            <a:r>
              <a:rPr lang="en-US" sz="1700" b="1" dirty="0">
                <a:solidFill>
                  <a:srgbClr val="059669"/>
                </a:solidFill>
                <a:latin typeface="Calibri" pitchFamily="34" charset="0"/>
                <a:ea typeface="Calibri" pitchFamily="34" charset="-122"/>
                <a:cs typeface="Calibri" pitchFamily="34" charset="-120"/>
              </a:rPr>
              <a:t>Acts</a:t>
            </a:r>
            <a:endParaRPr lang="en-US" sz="1700" dirty="0"/>
          </a:p>
        </p:txBody>
      </p:sp>
      <p:sp>
        <p:nvSpPr>
          <p:cNvPr id="29" name="Text 27"/>
          <p:cNvSpPr/>
          <p:nvPr/>
        </p:nvSpPr>
        <p:spPr>
          <a:xfrm>
            <a:off x="9528048"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A background agent re-checks all stored parts on a schedule and raises findings by itself: "you are overpaying here — worth £400k/yr."</a:t>
            </a:r>
            <a:endParaRPr lang="en-US" sz="1150" dirty="0"/>
          </a:p>
        </p:txBody>
      </p:sp>
      <p:sp>
        <p:nvSpPr>
          <p:cNvPr id="30" name="Text 28"/>
          <p:cNvSpPr/>
          <p:nvPr/>
        </p:nvSpPr>
        <p:spPr>
          <a:xfrm>
            <a:off x="411480" y="5486400"/>
            <a:ext cx="11338560" cy="822960"/>
          </a:xfrm>
          <a:prstGeom prst="rect">
            <a:avLst/>
          </a:prstGeom>
          <a:noFill/>
          <a:ln/>
        </p:spPr>
        <p:txBody>
          <a:bodyPr wrap="square" lIns="0" tIns="0" rIns="0" bIns="0" rtlCol="0" anchor="t"/>
          <a:lstStyle/>
          <a:p>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Deliberate design choice: </a:t>
            </a:r>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the learning is statistics over our own data — every suggestion shows its source parts and its arithmetic. That makes it auditable and defensible in front of a supplier, which is where costing tools win or lose.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HOW IT WORKS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How it works — the learning loop</a:t>
            </a:r>
            <a:endParaRPr lang="en-US" sz="2700" dirty="0"/>
          </a:p>
        </p:txBody>
      </p:sp>
      <p:sp>
        <p:nvSpPr>
          <p:cNvPr id="10" name="Text 8"/>
          <p:cNvSpPr/>
          <p:nvPr/>
        </p:nvSpPr>
        <p:spPr>
          <a:xfrm>
            <a:off x="365760" y="2194560"/>
            <a:ext cx="2048256" cy="1051560"/>
          </a:xfrm>
          <a:prstGeom prst="chevron">
            <a:avLst/>
          </a:prstGeom>
          <a:solidFill>
            <a:srgbClr val="2563EB"/>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1 · Analyse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Engineer costs a part as usual</a:t>
            </a:r>
            <a:endParaRPr lang="en-US" sz="1250" dirty="0"/>
          </a:p>
        </p:txBody>
      </p:sp>
      <p:sp>
        <p:nvSpPr>
          <p:cNvPr id="11" name="Text 9"/>
          <p:cNvSpPr/>
          <p:nvPr/>
        </p:nvSpPr>
        <p:spPr>
          <a:xfrm>
            <a:off x="2127260" y="2194560"/>
            <a:ext cx="2048256" cy="1051560"/>
          </a:xfrm>
          <a:prstGeom prst="chevron">
            <a:avLst/>
          </a:prstGeom>
          <a:solidFill>
            <a:srgbClr val="4F46E5"/>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2 · Remember</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Saved automatically to the knowledge base</a:t>
            </a:r>
            <a:endParaRPr lang="en-US" sz="1250" dirty="0"/>
          </a:p>
        </p:txBody>
      </p:sp>
      <p:sp>
        <p:nvSpPr>
          <p:cNvPr id="12" name="Text 10"/>
          <p:cNvSpPr/>
          <p:nvPr/>
        </p:nvSpPr>
        <p:spPr>
          <a:xfrm>
            <a:off x="3888760" y="2194560"/>
            <a:ext cx="2048256" cy="1051560"/>
          </a:xfrm>
          <a:prstGeom prst="chevron">
            <a:avLst/>
          </a:prstGeom>
          <a:solidFill>
            <a:srgbClr val="0891B2"/>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3 · Recognise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Similar past parts found instantly</a:t>
            </a:r>
            <a:endParaRPr lang="en-US" sz="1250" dirty="0"/>
          </a:p>
        </p:txBody>
      </p:sp>
      <p:sp>
        <p:nvSpPr>
          <p:cNvPr id="13" name="Text 11"/>
          <p:cNvSpPr/>
          <p:nvPr/>
        </p:nvSpPr>
        <p:spPr>
          <a:xfrm>
            <a:off x="5650260" y="2194560"/>
            <a:ext cx="2048256" cy="1051560"/>
          </a:xfrm>
          <a:prstGeom prst="chevron">
            <a:avLst/>
          </a:prstGeom>
          <a:solidFill>
            <a:srgbClr val="7C3AED"/>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4 · Suggest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Benchmarks, materials, real quotes shown</a:t>
            </a:r>
            <a:endParaRPr lang="en-US" sz="1250" dirty="0"/>
          </a:p>
        </p:txBody>
      </p:sp>
      <p:sp>
        <p:nvSpPr>
          <p:cNvPr id="14" name="Text 12"/>
          <p:cNvSpPr/>
          <p:nvPr/>
        </p:nvSpPr>
        <p:spPr>
          <a:xfrm>
            <a:off x="7411761" y="2194560"/>
            <a:ext cx="2048256" cy="1051560"/>
          </a:xfrm>
          <a:prstGeom prst="chevron">
            <a:avLst/>
          </a:prstGeom>
          <a:solidFill>
            <a:srgbClr val="D97706"/>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5 · Learn</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Real quote logged → model self-corrects</a:t>
            </a:r>
            <a:endParaRPr lang="en-US" sz="1250" dirty="0"/>
          </a:p>
        </p:txBody>
      </p:sp>
      <p:sp>
        <p:nvSpPr>
          <p:cNvPr id="15" name="Text 13"/>
          <p:cNvSpPr/>
          <p:nvPr/>
        </p:nvSpPr>
        <p:spPr>
          <a:xfrm>
            <a:off x="9173261" y="2194560"/>
            <a:ext cx="2048256" cy="1051560"/>
          </a:xfrm>
          <a:prstGeom prst="chevron">
            <a:avLst/>
          </a:prstGeom>
          <a:solidFill>
            <a:srgbClr val="059669"/>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6 · Act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Background agent flags drift &amp; savings</a:t>
            </a:r>
            <a:endParaRPr lang="en-US" sz="1250" dirty="0"/>
          </a:p>
        </p:txBody>
      </p:sp>
      <p:sp>
        <p:nvSpPr>
          <p:cNvPr id="16" name="Text 14"/>
          <p:cNvSpPr/>
          <p:nvPr/>
        </p:nvSpPr>
        <p:spPr>
          <a:xfrm>
            <a:off x="4297680" y="4480560"/>
            <a:ext cx="4206240" cy="320040"/>
          </a:xfrm>
          <a:prstGeom prst="rect">
            <a:avLst/>
          </a:prstGeom>
          <a:noFill/>
          <a:ln/>
        </p:spPr>
        <p:txBody>
          <a:bodyPr wrap="square" lIns="0" tIns="0" rIns="0" bIns="0" rtlCol="0" anchor="t"/>
          <a:lstStyle/>
          <a:p>
            <a:pPr algn="ctr" indent="0" marL="0">
              <a:buNone/>
            </a:pPr>
            <a:r>
              <a:rPr lang="en-US" sz="1200" i="1" dirty="0">
                <a:solidFill>
                  <a:srgbClr val="64748B"/>
                </a:solidFill>
                <a:latin typeface="Calibri" pitchFamily="34" charset="0"/>
                <a:ea typeface="Calibri" pitchFamily="34" charset="-122"/>
                <a:cs typeface="Calibri" pitchFamily="34" charset="-120"/>
              </a:rPr>
              <a:t>…and every loop makes the next estimate better</a:t>
            </a:r>
            <a:endParaRPr lang="en-US" sz="1200" dirty="0"/>
          </a:p>
        </p:txBody>
      </p:sp>
      <p:sp>
        <p:nvSpPr>
          <p:cNvPr id="17" name="Shape 15"/>
          <p:cNvSpPr/>
          <p:nvPr/>
        </p:nvSpPr>
        <p:spPr>
          <a:xfrm>
            <a:off x="411480" y="5029200"/>
            <a:ext cx="11384280" cy="1234440"/>
          </a:xfrm>
          <a:prstGeom prst="roundRect">
            <a:avLst>
              <a:gd name="adj" fmla="val 5926"/>
            </a:avLst>
          </a:prstGeom>
          <a:solidFill>
            <a:srgbClr val="EFF6FF"/>
          </a:solidFill>
          <a:ln/>
        </p:spPr>
      </p:sp>
      <p:sp>
        <p:nvSpPr>
          <p:cNvPr id="18" name="Text 16"/>
          <p:cNvSpPr/>
          <p:nvPr/>
        </p:nvSpPr>
        <p:spPr>
          <a:xfrm>
            <a:off x="685800" y="5230368"/>
            <a:ext cx="10881360" cy="914400"/>
          </a:xfrm>
          <a:prstGeom prst="rect">
            <a:avLst/>
          </a:prstGeom>
          <a:noFill/>
          <a:ln/>
        </p:spPr>
        <p:txBody>
          <a:bodyPr wrap="square" lIns="0" tIns="0" rIns="0" bIns="0" rtlCol="0" anchor="t"/>
          <a:lstStyle/>
          <a:p>
            <a:pPr indent="0" marL="0">
              <a:lnSpc>
                <a:spcPct val="120000"/>
              </a:lnSpc>
              <a:buNone/>
            </a:pPr>
            <a:r>
              <a:rPr lang="en-US" sz="1300" b="1" dirty="0">
                <a:solidFill>
                  <a:srgbClr val="0F172A"/>
                </a:solidFill>
                <a:latin typeface="Calibri" pitchFamily="34" charset="0"/>
                <a:ea typeface="Calibri" pitchFamily="34" charset="-122"/>
                <a:cs typeface="Calibri" pitchFamily="34" charset="-120"/>
              </a:rPr>
              <a:t>No extra work for the engineer. </a:t>
            </a:r>
            <a:pPr indent="0" marL="0">
              <a:lnSpc>
                <a:spcPct val="120000"/>
              </a:lnSpc>
              <a:buNone/>
            </a:pPr>
            <a:r>
              <a:rPr lang="en-US" sz="1300" dirty="0">
                <a:solidFill>
                  <a:srgbClr val="334155"/>
                </a:solidFill>
                <a:latin typeface="Calibri" pitchFamily="34" charset="0"/>
                <a:ea typeface="Calibri" pitchFamily="34" charset="-122"/>
                <a:cs typeface="Calibri" pitchFamily="34" charset="-120"/>
              </a:rPr>
              <a:t>Steps 2, 3, 4 and 6 happen automatically. The only new habit is one click — "Log Actual £" — when a real supplier quote arrives. That single click is the fuel for everything on this slide.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1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memory — an organisational knowledge base</a:t>
            </a:r>
            <a:endParaRPr lang="en-US" sz="2700" dirty="0"/>
          </a:p>
        </p:txBody>
      </p:sp>
      <p:sp>
        <p:nvSpPr>
          <p:cNvPr id="10" name="Shape 8"/>
          <p:cNvSpPr/>
          <p:nvPr/>
        </p:nvSpPr>
        <p:spPr>
          <a:xfrm>
            <a:off x="411480" y="1828800"/>
            <a:ext cx="5486400" cy="4206240"/>
          </a:xfrm>
          <a:prstGeom prst="roundRect">
            <a:avLst>
              <a:gd name="adj" fmla="val 1087"/>
            </a:avLst>
          </a:prstGeom>
          <a:solidFill>
            <a:srgbClr val="F1F5F9"/>
          </a:solidFill>
          <a:ln/>
        </p:spPr>
      </p:sp>
      <p:sp>
        <p:nvSpPr>
          <p:cNvPr id="11" name="Text 9"/>
          <p:cNvSpPr/>
          <p:nvPr/>
        </p:nvSpPr>
        <p:spPr>
          <a:xfrm>
            <a:off x="68580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What is stored for every analysis</a:t>
            </a:r>
            <a:endParaRPr lang="en-US" sz="1500" dirty="0"/>
          </a:p>
        </p:txBody>
      </p:sp>
      <p:sp>
        <p:nvSpPr>
          <p:cNvPr id="12" name="Shape 10"/>
          <p:cNvSpPr/>
          <p:nvPr/>
        </p:nvSpPr>
        <p:spPr>
          <a:xfrm>
            <a:off x="685800" y="2514600"/>
            <a:ext cx="82296" cy="502920"/>
          </a:xfrm>
          <a:prstGeom prst="rect">
            <a:avLst/>
          </a:prstGeom>
          <a:solidFill>
            <a:srgbClr val="2563EB"/>
          </a:solidFill>
          <a:ln/>
        </p:spPr>
      </p:sp>
      <p:sp>
        <p:nvSpPr>
          <p:cNvPr id="13" name="Text 11"/>
          <p:cNvSpPr/>
          <p:nvPr/>
        </p:nvSpPr>
        <p:spPr>
          <a:xfrm>
            <a:off x="914400" y="2514600"/>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Part "fingerprint"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process, material, weight, size, region, volume</a:t>
            </a:r>
            <a:endParaRPr lang="en-US" sz="1250" dirty="0"/>
          </a:p>
        </p:txBody>
      </p:sp>
      <p:sp>
        <p:nvSpPr>
          <p:cNvPr id="14" name="Shape 12"/>
          <p:cNvSpPr/>
          <p:nvPr/>
        </p:nvSpPr>
        <p:spPr>
          <a:xfrm>
            <a:off x="685800" y="3172968"/>
            <a:ext cx="82296" cy="502920"/>
          </a:xfrm>
          <a:prstGeom prst="rect">
            <a:avLst/>
          </a:prstGeom>
          <a:solidFill>
            <a:srgbClr val="2563EB"/>
          </a:solidFill>
          <a:ln/>
        </p:spPr>
      </p:sp>
      <p:sp>
        <p:nvSpPr>
          <p:cNvPr id="15" name="Text 13"/>
          <p:cNvSpPr/>
          <p:nvPr/>
        </p:nvSpPr>
        <p:spPr>
          <a:xfrm>
            <a:off x="914400" y="3172968"/>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The full cost result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total + breakdown by cost driver</a:t>
            </a:r>
            <a:endParaRPr lang="en-US" sz="1250" dirty="0"/>
          </a:p>
        </p:txBody>
      </p:sp>
      <p:sp>
        <p:nvSpPr>
          <p:cNvPr id="16" name="Shape 14"/>
          <p:cNvSpPr/>
          <p:nvPr/>
        </p:nvSpPr>
        <p:spPr>
          <a:xfrm>
            <a:off x="685800" y="3831336"/>
            <a:ext cx="82296" cy="502920"/>
          </a:xfrm>
          <a:prstGeom prst="rect">
            <a:avLst/>
          </a:prstGeom>
          <a:solidFill>
            <a:srgbClr val="2563EB"/>
          </a:solidFill>
          <a:ln/>
        </p:spPr>
      </p:sp>
      <p:sp>
        <p:nvSpPr>
          <p:cNvPr id="17" name="Text 15"/>
          <p:cNvSpPr/>
          <p:nvPr/>
        </p:nvSpPr>
        <p:spPr>
          <a:xfrm>
            <a:off x="914400" y="3831336"/>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Real quotes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actual supplier / PO prices, when logged</a:t>
            </a:r>
            <a:endParaRPr lang="en-US" sz="1250" dirty="0"/>
          </a:p>
        </p:txBody>
      </p:sp>
      <p:sp>
        <p:nvSpPr>
          <p:cNvPr id="18" name="Shape 16"/>
          <p:cNvSpPr/>
          <p:nvPr/>
        </p:nvSpPr>
        <p:spPr>
          <a:xfrm>
            <a:off x="685800" y="4489704"/>
            <a:ext cx="82296" cy="502920"/>
          </a:xfrm>
          <a:prstGeom prst="rect">
            <a:avLst/>
          </a:prstGeom>
          <a:solidFill>
            <a:srgbClr val="2563EB"/>
          </a:solidFill>
          <a:ln/>
        </p:spPr>
      </p:sp>
      <p:sp>
        <p:nvSpPr>
          <p:cNvPr id="19" name="Text 17"/>
          <p:cNvSpPr/>
          <p:nvPr/>
        </p:nvSpPr>
        <p:spPr>
          <a:xfrm>
            <a:off x="914400" y="4489704"/>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Expert corrections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where a person adjusted the AI's values</a:t>
            </a:r>
            <a:endParaRPr lang="en-US" sz="1250" dirty="0"/>
          </a:p>
        </p:txBody>
      </p:sp>
      <p:sp>
        <p:nvSpPr>
          <p:cNvPr id="20" name="Shape 18"/>
          <p:cNvSpPr/>
          <p:nvPr/>
        </p:nvSpPr>
        <p:spPr>
          <a:xfrm>
            <a:off x="685800" y="5148072"/>
            <a:ext cx="82296" cy="502920"/>
          </a:xfrm>
          <a:prstGeom prst="rect">
            <a:avLst/>
          </a:prstGeom>
          <a:solidFill>
            <a:srgbClr val="2563EB"/>
          </a:solidFill>
          <a:ln/>
        </p:spPr>
      </p:sp>
      <p:sp>
        <p:nvSpPr>
          <p:cNvPr id="21" name="Text 19"/>
          <p:cNvSpPr/>
          <p:nvPr/>
        </p:nvSpPr>
        <p:spPr>
          <a:xfrm>
            <a:off x="914400" y="5148072"/>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CAD shape data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dimensions &amp; features, when a CAD file was used</a:t>
            </a:r>
            <a:endParaRPr lang="en-US" sz="1250" dirty="0"/>
          </a:p>
        </p:txBody>
      </p:sp>
      <p:sp>
        <p:nvSpPr>
          <p:cNvPr id="22" name="Shape 20"/>
          <p:cNvSpPr/>
          <p:nvPr/>
        </p:nvSpPr>
        <p:spPr>
          <a:xfrm>
            <a:off x="6263640" y="1828800"/>
            <a:ext cx="5532120" cy="4206240"/>
          </a:xfrm>
          <a:prstGeom prst="roundRect">
            <a:avLst>
              <a:gd name="adj" fmla="val 1087"/>
            </a:avLst>
          </a:prstGeom>
          <a:solidFill>
            <a:srgbClr val="EFF6FF"/>
          </a:solidFill>
          <a:ln/>
        </p:spPr>
      </p:sp>
      <p:sp>
        <p:nvSpPr>
          <p:cNvPr id="23" name="Text 21"/>
          <p:cNvSpPr/>
          <p:nvPr/>
        </p:nvSpPr>
        <p:spPr>
          <a:xfrm>
            <a:off x="653796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Why it matters to us</a:t>
            </a:r>
            <a:endParaRPr lang="en-US" sz="1500" dirty="0"/>
          </a:p>
        </p:txBody>
      </p:sp>
      <p:sp>
        <p:nvSpPr>
          <p:cNvPr id="24" name="Text 22"/>
          <p:cNvSpPr/>
          <p:nvPr/>
        </p:nvSpPr>
        <p:spPr>
          <a:xfrm>
            <a:off x="6537960" y="2514600"/>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Shared, not personal</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One engineer's analysis instantly helps everyone — juniors inherit senior judgement.</a:t>
            </a:r>
            <a:endParaRPr lang="en-US" sz="1300" dirty="0"/>
          </a:p>
        </p:txBody>
      </p:sp>
      <p:sp>
        <p:nvSpPr>
          <p:cNvPr id="25" name="Text 23"/>
          <p:cNvSpPr/>
          <p:nvPr/>
        </p:nvSpPr>
        <p:spPr>
          <a:xfrm>
            <a:off x="6537960" y="3355848"/>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Stays on our servers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Our database, our infrastructure. The knowledge is a company asset, not a vendor's.</a:t>
            </a:r>
            <a:endParaRPr lang="en-US" sz="1300" dirty="0"/>
          </a:p>
        </p:txBody>
      </p:sp>
      <p:sp>
        <p:nvSpPr>
          <p:cNvPr id="26" name="Text 24"/>
          <p:cNvSpPr/>
          <p:nvPr/>
        </p:nvSpPr>
        <p:spPr>
          <a:xfrm>
            <a:off x="6537960" y="4197096"/>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No duplicates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Re-costing a part updates its case — the memory stays clean.</a:t>
            </a:r>
            <a:endParaRPr lang="en-US" sz="1300" dirty="0"/>
          </a:p>
        </p:txBody>
      </p:sp>
      <p:sp>
        <p:nvSpPr>
          <p:cNvPr id="27" name="Text 25"/>
          <p:cNvSpPr/>
          <p:nvPr/>
        </p:nvSpPr>
        <p:spPr>
          <a:xfrm>
            <a:off x="6537960" y="5038344"/>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Compounds with use</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Useful from ~20–30 analyses; every costing from today is an investment.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2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Recognition — "we have costed this before"</a:t>
            </a:r>
            <a:endParaRPr lang="en-US" sz="2700" dirty="0"/>
          </a:p>
        </p:txBody>
      </p:sp>
      <p:sp>
        <p:nvSpPr>
          <p:cNvPr id="10" name="Text 8"/>
          <p:cNvSpPr/>
          <p:nvPr/>
        </p:nvSpPr>
        <p:spPr>
          <a:xfrm>
            <a:off x="411480" y="1691640"/>
            <a:ext cx="11338560" cy="36576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Live example: an engineer costs a new 0.85 kg aluminium bracket. The tool answers instantly:</a:t>
            </a:r>
            <a:endParaRPr lang="en-US" sz="1350" dirty="0"/>
          </a:p>
        </p:txBody>
      </p:sp>
      <p:sp>
        <p:nvSpPr>
          <p:cNvPr id="11" name="Shape 9"/>
          <p:cNvSpPr/>
          <p:nvPr/>
        </p:nvSpPr>
        <p:spPr>
          <a:xfrm>
            <a:off x="411480" y="2194560"/>
            <a:ext cx="11384280" cy="2834640"/>
          </a:xfrm>
          <a:prstGeom prst="roundRect">
            <a:avLst>
              <a:gd name="adj" fmla="val 1613"/>
            </a:avLst>
          </a:prstGeom>
          <a:solidFill>
            <a:srgbClr val="F1F5F9"/>
          </a:solidFill>
          <a:ln/>
        </p:spPr>
      </p:sp>
      <p:sp>
        <p:nvSpPr>
          <p:cNvPr id="12" name="Shape 10"/>
          <p:cNvSpPr/>
          <p:nvPr/>
        </p:nvSpPr>
        <p:spPr>
          <a:xfrm>
            <a:off x="411480" y="2194560"/>
            <a:ext cx="82296" cy="2834640"/>
          </a:xfrm>
          <a:prstGeom prst="rect">
            <a:avLst/>
          </a:prstGeom>
          <a:solidFill>
            <a:srgbClr val="0891B2"/>
          </a:solidFill>
          <a:ln/>
        </p:spPr>
      </p:sp>
      <p:sp>
        <p:nvSpPr>
          <p:cNvPr id="13" name="Text 11"/>
          <p:cNvSpPr/>
          <p:nvPr/>
        </p:nvSpPr>
        <p:spPr>
          <a:xfrm>
            <a:off x="731520" y="2377440"/>
            <a:ext cx="1078992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  AI memory — similar past parts</a:t>
            </a:r>
            <a:pPr indent="0" marL="0">
              <a:buNone/>
            </a:pPr>
            <a:r>
              <a:rPr lang="en-US" sz="1050" dirty="0">
                <a:solidFill>
                  <a:srgbClr val="64748B"/>
                </a:solidFill>
                <a:latin typeface="Calibri" pitchFamily="34" charset="0"/>
                <a:ea typeface="Calibri" pitchFamily="34" charset="-122"/>
                <a:cs typeface="Calibri" pitchFamily="34" charset="-120"/>
              </a:rPr>
              <a:t>      (knowledge base: 3 analyses · 2 with actuals)</a:t>
            </a:r>
            <a:endParaRPr lang="en-US" sz="1400" dirty="0"/>
          </a:p>
        </p:txBody>
      </p:sp>
      <p:sp>
        <p:nvSpPr>
          <p:cNvPr id="14" name="Text 12"/>
          <p:cNvSpPr/>
          <p:nvPr/>
        </p:nvSpPr>
        <p:spPr>
          <a:xfrm>
            <a:off x="822960" y="27889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EV Battery Bracket</a:t>
            </a:r>
            <a:pPr indent="0" marL="0">
              <a:buNone/>
            </a:pPr>
            <a:r>
              <a:rPr lang="en-US" sz="1050" dirty="0">
                <a:solidFill>
                  <a:srgbClr val="64748B"/>
                </a:solidFill>
                <a:latin typeface="Calibri" pitchFamily="34" charset="0"/>
                <a:ea typeface="Calibri" pitchFamily="34" charset="-122"/>
                <a:cs typeface="Calibri" pitchFamily="34" charset="-120"/>
              </a:rPr>
              <a:t>   99% match — material family, weight, region</a:t>
            </a:r>
            <a:endParaRPr lang="en-US" sz="1250" dirty="0"/>
          </a:p>
        </p:txBody>
      </p:sp>
      <p:sp>
        <p:nvSpPr>
          <p:cNvPr id="15" name="Text 13"/>
          <p:cNvSpPr/>
          <p:nvPr/>
        </p:nvSpPr>
        <p:spPr>
          <a:xfrm>
            <a:off x="7315200" y="27889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£41.20</a:t>
            </a:r>
            <a:pPr indent="0" marL="0">
              <a:buNone/>
            </a:pPr>
            <a:r>
              <a:rPr lang="en-US" sz="1100" b="1" dirty="0">
                <a:solidFill>
                  <a:srgbClr val="7C3AED"/>
                </a:solidFill>
                <a:latin typeface="Calibri" pitchFamily="34" charset="0"/>
                <a:ea typeface="Calibri" pitchFamily="34" charset="-122"/>
                <a:cs typeface="Calibri" pitchFamily="34" charset="-120"/>
              </a:rPr>
              <a:t>   actual £46.50</a:t>
            </a:r>
            <a:endParaRPr lang="en-US" sz="1250" dirty="0"/>
          </a:p>
        </p:txBody>
      </p:sp>
      <p:sp>
        <p:nvSpPr>
          <p:cNvPr id="16" name="Text 14"/>
          <p:cNvSpPr/>
          <p:nvPr/>
        </p:nvSpPr>
        <p:spPr>
          <a:xfrm>
            <a:off x="822960" y="32461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Sensor Mount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7" name="Text 15"/>
          <p:cNvSpPr/>
          <p:nvPr/>
        </p:nvSpPr>
        <p:spPr>
          <a:xfrm>
            <a:off x="7315200" y="32461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£38.50</a:t>
            </a:r>
            <a:pPr indent="0" marL="0">
              <a:buNone/>
            </a:pPr>
            <a:endParaRPr lang="en-US" sz="1250" dirty="0"/>
          </a:p>
        </p:txBody>
      </p:sp>
      <p:sp>
        <p:nvSpPr>
          <p:cNvPr id="18" name="Text 16"/>
          <p:cNvSpPr/>
          <p:nvPr/>
        </p:nvSpPr>
        <p:spPr>
          <a:xfrm>
            <a:off x="822960" y="37033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Inverter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9" name="Text 17"/>
          <p:cNvSpPr/>
          <p:nvPr/>
        </p:nvSpPr>
        <p:spPr>
          <a:xfrm>
            <a:off x="7315200" y="37033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£44.80</a:t>
            </a:r>
            <a:pPr indent="0" marL="0">
              <a:buNone/>
            </a:pPr>
            <a:r>
              <a:rPr lang="en-US" sz="1100" b="1" dirty="0">
                <a:solidFill>
                  <a:srgbClr val="7C3AED"/>
                </a:solidFill>
                <a:latin typeface="Calibri" pitchFamily="34" charset="0"/>
                <a:ea typeface="Calibri" pitchFamily="34" charset="-122"/>
                <a:cs typeface="Calibri" pitchFamily="34" charset="-120"/>
              </a:rPr>
              <a:t>   actual £50.20</a:t>
            </a:r>
            <a:endParaRPr lang="en-US" sz="1250" dirty="0"/>
          </a:p>
        </p:txBody>
      </p:sp>
      <p:sp>
        <p:nvSpPr>
          <p:cNvPr id="20" name="Text 18"/>
          <p:cNvSpPr/>
          <p:nvPr/>
        </p:nvSpPr>
        <p:spPr>
          <a:xfrm>
            <a:off x="822960" y="420624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Median cost of 3 similar parts: £41.20</a:t>
            </a:r>
            <a:endParaRPr lang="en-US" sz="1150" dirty="0"/>
          </a:p>
        </p:txBody>
      </p:sp>
      <p:sp>
        <p:nvSpPr>
          <p:cNvPr id="21" name="Text 19"/>
          <p:cNvSpPr/>
          <p:nvPr/>
        </p:nvSpPr>
        <p:spPr>
          <a:xfrm>
            <a:off x="822960" y="448056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3 of 3 used the same material (aluminium 6061)</a:t>
            </a:r>
            <a:endParaRPr lang="en-US" sz="1150" dirty="0"/>
          </a:p>
        </p:txBody>
      </p:sp>
      <p:sp>
        <p:nvSpPr>
          <p:cNvPr id="22" name="Text 20"/>
          <p:cNvSpPr/>
          <p:nvPr/>
        </p:nvSpPr>
        <p:spPr>
          <a:xfrm>
            <a:off x="822960" y="4754880"/>
            <a:ext cx="10607040" cy="274320"/>
          </a:xfrm>
          <a:prstGeom prst="rect">
            <a:avLst/>
          </a:prstGeom>
          <a:noFill/>
          <a:ln/>
        </p:spPr>
        <p:txBody>
          <a:bodyPr wrap="square" lIns="0" tIns="0" rIns="0" bIns="0" rtlCol="0" anchor="t"/>
          <a:lstStyle/>
          <a:p>
            <a:pPr indent="0" marL="0">
              <a:buNone/>
            </a:pPr>
            <a:r>
              <a:rPr lang="en-US" sz="1150" dirty="0">
                <a:solidFill>
                  <a:srgbClr val="7C3AED"/>
                </a:solidFill>
                <a:latin typeface="Calibri" pitchFamily="34" charset="0"/>
                <a:ea typeface="Calibri" pitchFamily="34" charset="-122"/>
                <a:cs typeface="Calibri" pitchFamily="34" charset="-120"/>
              </a:rPr>
              <a:t>•  Real quotes logged for 2 of them — median actual £48.35</a:t>
            </a:r>
            <a:endParaRPr lang="en-US" sz="1150" dirty="0"/>
          </a:p>
        </p:txBody>
      </p:sp>
      <p:sp>
        <p:nvSpPr>
          <p:cNvPr id="23" name="Shape 21"/>
          <p:cNvSpPr/>
          <p:nvPr/>
        </p:nvSpPr>
        <p:spPr>
          <a:xfrm>
            <a:off x="411480" y="5303520"/>
            <a:ext cx="11384280" cy="914400"/>
          </a:xfrm>
          <a:prstGeom prst="roundRect">
            <a:avLst>
              <a:gd name="adj" fmla="val 8000"/>
            </a:avLst>
          </a:prstGeom>
          <a:solidFill>
            <a:srgbClr val="EFF6FF"/>
          </a:solidFill>
          <a:ln/>
        </p:spPr>
      </p:sp>
      <p:sp>
        <p:nvSpPr>
          <p:cNvPr id="24" name="Text 22"/>
          <p:cNvSpPr/>
          <p:nvPr/>
        </p:nvSpPr>
        <p:spPr>
          <a:xfrm>
            <a:off x="685800" y="5458968"/>
            <a:ext cx="10881360" cy="68580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Every match is explained (what matched, and how strongly) and every suggestion names its source parts — </a:t>
            </a:r>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no black box.</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3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Self-correction — it learns from real quotes</a:t>
            </a:r>
            <a:endParaRPr lang="en-US" sz="2700" dirty="0"/>
          </a:p>
        </p:txBody>
      </p:sp>
      <p:graphicFrame>
        <p:nvGraphicFramePr>
          <p:cNvPr id="10" name="Chart 0" descr=""/>
          <p:cNvGraphicFramePr/>
          <p:nvPr/>
        </p:nvGraphicFramePr>
        <p:xfrm>
          <a:off x="411480" y="1965960"/>
          <a:ext cx="603504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603504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Estimating error (%) — measured against real supplier prices, live system run</a:t>
            </a:r>
            <a:endParaRPr lang="en-US" sz="1050" dirty="0"/>
          </a:p>
        </p:txBody>
      </p:sp>
      <p:sp>
        <p:nvSpPr>
          <p:cNvPr id="12" name="Shape 9"/>
          <p:cNvSpPr/>
          <p:nvPr/>
        </p:nvSpPr>
        <p:spPr>
          <a:xfrm>
            <a:off x="6812280" y="1965960"/>
            <a:ext cx="4983480" cy="4206240"/>
          </a:xfrm>
          <a:prstGeom prst="roundRect">
            <a:avLst>
              <a:gd name="adj" fmla="val 1087"/>
            </a:avLst>
          </a:prstGeom>
          <a:solidFill>
            <a:srgbClr val="F1F5F9"/>
          </a:solidFill>
          <a:ln/>
        </p:spPr>
      </p:sp>
      <p:sp>
        <p:nvSpPr>
          <p:cNvPr id="13" name="Text 10"/>
          <p:cNvSpPr/>
          <p:nvPr/>
        </p:nvSpPr>
        <p:spPr>
          <a:xfrm>
            <a:off x="7086600" y="2194560"/>
            <a:ext cx="4480560" cy="3840480"/>
          </a:xfrm>
          <a:prstGeom prst="rect">
            <a:avLst/>
          </a:prstGeom>
          <a:noFill/>
          <a:ln/>
        </p:spPr>
        <p:txBody>
          <a:bodyPr wrap="square" lIns="0" tIns="0" rIns="0" bIns="0" rtlCol="0" anchor="t"/>
          <a:lstStyle/>
          <a:p>
            <a:pPr indent="0" marL="0">
              <a:lnSpc>
                <a:spcPct val="112000"/>
              </a:lnSpc>
              <a:spcAft>
                <a:spcPts val="1000"/>
              </a:spcAft>
              <a:buNone/>
            </a:pPr>
            <a:r>
              <a:rPr lang="en-US" sz="1500" b="1" dirty="0">
                <a:solidFill>
                  <a:srgbClr val="0F172A"/>
                </a:solidFill>
                <a:latin typeface="Calibri" pitchFamily="34" charset="0"/>
                <a:ea typeface="Calibri" pitchFamily="34" charset="-122"/>
                <a:cs typeface="Calibri" pitchFamily="34" charset="-120"/>
              </a:rPr>
              <a:t>How it works, simply</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1.  A real supplier quote arrives → one click logs it.</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2.  The tool compares its estimate with reality and measures its own error.</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3.  From 3 quotes in a category, it corrects future estimates automatically — per process, material family and region.</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4.  It reports its accuracy openly (error % before and after).</a:t>
            </a:r>
            <a:endParaRPr lang="en-US" sz="1500" dirty="0"/>
          </a:p>
          <a:p>
            <a:pPr indent="0" marL="0">
              <a:lnSpc>
                <a:spcPct val="112000"/>
              </a:lnSpc>
              <a:spcAft>
                <a:spcPts val="1000"/>
              </a:spcAft>
              <a:buNone/>
            </a:pPr>
            <a:r>
              <a:rPr lang="en-US" sz="1250" b="1" dirty="0">
                <a:solidFill>
                  <a:srgbClr val="0F172A"/>
                </a:solidFill>
                <a:latin typeface="Calibri" pitchFamily="34" charset="0"/>
                <a:ea typeface="Calibri" pitchFamily="34" charset="-122"/>
                <a:cs typeface="Calibri" pitchFamily="34" charset="-120"/>
              </a:rPr>
              <a:t>Why per-category matters: </a:t>
            </a:r>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our machining ran 12% low while our China castings ran 8% high — averaged together they looked "fine". The tool catches what averages hide.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4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Honest ranges — from "±20%" to "±3%", earned with data</a:t>
            </a:r>
            <a:endParaRPr lang="en-US" sz="2700" dirty="0"/>
          </a:p>
        </p:txBody>
      </p:sp>
      <p:graphicFrame>
        <p:nvGraphicFramePr>
          <p:cNvPr id="10" name="Chart 0" descr=""/>
          <p:cNvGraphicFramePr/>
          <p:nvPr/>
        </p:nvGraphicFramePr>
        <p:xfrm>
          <a:off x="411480" y="1965960"/>
          <a:ext cx="539496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539496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Width of the cost confidence band on the same part (± % around the estimate)</a:t>
            </a:r>
            <a:endParaRPr lang="en-US" sz="1050" dirty="0"/>
          </a:p>
        </p:txBody>
      </p:sp>
      <p:sp>
        <p:nvSpPr>
          <p:cNvPr id="12" name="Shape 9"/>
          <p:cNvSpPr/>
          <p:nvPr/>
        </p:nvSpPr>
        <p:spPr>
          <a:xfrm>
            <a:off x="6172200" y="1965960"/>
            <a:ext cx="5623560" cy="4206240"/>
          </a:xfrm>
          <a:prstGeom prst="roundRect">
            <a:avLst>
              <a:gd name="adj" fmla="val 1087"/>
            </a:avLst>
          </a:prstGeom>
          <a:solidFill>
            <a:srgbClr val="F1F5F9"/>
          </a:solidFill>
          <a:ln/>
        </p:spPr>
      </p:sp>
      <p:sp>
        <p:nvSpPr>
          <p:cNvPr id="13" name="Text 10"/>
          <p:cNvSpPr/>
          <p:nvPr/>
        </p:nvSpPr>
        <p:spPr>
          <a:xfrm>
            <a:off x="6446520" y="2194560"/>
            <a:ext cx="5120640" cy="3840480"/>
          </a:xfrm>
          <a:prstGeom prst="rect">
            <a:avLst/>
          </a:prstGeom>
          <a:noFill/>
          <a:ln/>
        </p:spPr>
        <p:txBody>
          <a:bodyPr wrap="square" lIns="0" tIns="0" rIns="0" bIns="0" rtlCol="0" anchor="t"/>
          <a:lstStyle/>
          <a:p>
            <a:pPr indent="0" marL="0">
              <a:lnSpc>
                <a:spcPct val="115000"/>
              </a:lnSpc>
              <a:spcAft>
                <a:spcPts val="1000"/>
              </a:spcAft>
              <a:buNone/>
            </a:pPr>
            <a:r>
              <a:rPr lang="en-US" sz="1500" b="1" dirty="0">
                <a:solidFill>
                  <a:srgbClr val="0F172A"/>
                </a:solidFill>
                <a:latin typeface="Calibri" pitchFamily="34" charset="0"/>
                <a:ea typeface="Calibri" pitchFamily="34" charset="-122"/>
                <a:cs typeface="Calibri" pitchFamily="34" charset="-120"/>
              </a:rPr>
              <a:t>Every estimate now comes as a range</a:t>
            </a:r>
            <a:endParaRPr lang="en-US" sz="1500" dirty="0"/>
          </a:p>
          <a:p>
            <a:pPr indent="0" marL="0">
              <a:lnSpc>
                <a:spcPct val="115000"/>
              </a:lnSpc>
              <a:spcAft>
                <a:spcPts val="1000"/>
              </a:spcAft>
              <a:buNone/>
            </a:pPr>
            <a:r>
              <a:rPr lang="en-US" sz="1250" b="1" dirty="0">
                <a:solidFill>
                  <a:srgbClr val="2563EB"/>
                </a:solidFill>
                <a:latin typeface="Calibri" pitchFamily="34" charset="0"/>
                <a:ea typeface="Calibri" pitchFamily="34" charset="-122"/>
                <a:cs typeface="Calibri" pitchFamily="34" charset="-120"/>
              </a:rPr>
              <a:t>Optimistic (P10)  ·  Most likely (P50)  ·  Conservative (P90)</a:t>
            </a:r>
            <a:endParaRPr lang="en-US" sz="1500" dirty="0"/>
          </a:p>
          <a:p>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A single number implies a precision that early estimates don't have. The range tells buyers how much to trust the number — and what target to set in negotiation.</a:t>
            </a:r>
            <a:endParaRPr lang="en-US" sz="1500" dirty="0"/>
          </a:p>
          <a:p>
            <a:pPr indent="0" marL="0">
              <a:lnSpc>
                <a:spcPct val="115000"/>
              </a:lnSpc>
              <a:spcAft>
                <a:spcPts val="1000"/>
              </a:spcAft>
              <a:buNone/>
            </a:pPr>
            <a:r>
              <a:rPr lang="en-US" sz="1250" b="1" dirty="0">
                <a:solidFill>
                  <a:srgbClr val="0F172A"/>
                </a:solidFill>
                <a:latin typeface="Calibri" pitchFamily="34" charset="0"/>
                <a:ea typeface="Calibri" pitchFamily="34" charset="-122"/>
                <a:cs typeface="Calibri" pitchFamily="34" charset="-120"/>
              </a:rPr>
              <a:t>The band is earned, not guessed: </a:t>
            </a:r>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it starts wide when the tool has no evidence, and tightens automatically as real quotes prove the accuracy. On our test part it went from ±20% to ±3% after three quotes.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5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autonomous agent — finds money unattended</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 background monitor re-checks every stored part on a schedule. In the live demonstration it opened these findings </a:t>
            </a:r>
            <a:pPr indent="0" marL="0">
              <a:buNone/>
            </a:pPr>
            <a:r>
              <a:rPr lang="en-US" sz="1300" b="1" dirty="0">
                <a:solidFill>
                  <a:srgbClr val="0F172A"/>
                </a:solidFill>
                <a:latin typeface="Calibri" pitchFamily="34" charset="0"/>
                <a:ea typeface="Calibri" pitchFamily="34" charset="-122"/>
                <a:cs typeface="Calibri" pitchFamily="34" charset="-120"/>
              </a:rPr>
              <a:t>entirely unattended:</a:t>
            </a:r>
            <a:endParaRPr lang="en-US" sz="1300" dirty="0"/>
          </a:p>
        </p:txBody>
      </p:sp>
      <p:sp>
        <p:nvSpPr>
          <p:cNvPr id="11" name="Shape 9"/>
          <p:cNvSpPr/>
          <p:nvPr/>
        </p:nvSpPr>
        <p:spPr>
          <a:xfrm>
            <a:off x="411480" y="2286000"/>
            <a:ext cx="11384280" cy="914400"/>
          </a:xfrm>
          <a:prstGeom prst="roundRect">
            <a:avLst>
              <a:gd name="adj" fmla="val 10000"/>
            </a:avLst>
          </a:prstGeom>
          <a:solidFill>
            <a:srgbClr val="F1F5F9"/>
          </a:solidFill>
          <a:ln/>
        </p:spPr>
      </p:sp>
      <p:sp>
        <p:nvSpPr>
          <p:cNvPr id="12" name="Shape 10"/>
          <p:cNvSpPr/>
          <p:nvPr/>
        </p:nvSpPr>
        <p:spPr>
          <a:xfrm>
            <a:off x="411480" y="2286000"/>
            <a:ext cx="82296" cy="914400"/>
          </a:xfrm>
          <a:prstGeom prst="rect">
            <a:avLst/>
          </a:prstGeom>
          <a:solidFill>
            <a:srgbClr val="DC2626"/>
          </a:solidFill>
          <a:ln/>
        </p:spPr>
      </p:sp>
      <p:sp>
        <p:nvSpPr>
          <p:cNvPr id="13" name="Text 11"/>
          <p:cNvSpPr/>
          <p:nvPr/>
        </p:nvSpPr>
        <p:spPr>
          <a:xfrm>
            <a:off x="731520" y="2404872"/>
            <a:ext cx="3017520" cy="36576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  RENEGOTIATION</a:t>
            </a:r>
            <a:endParaRPr lang="en-US" sz="1300" dirty="0"/>
          </a:p>
        </p:txBody>
      </p:sp>
      <p:sp>
        <p:nvSpPr>
          <p:cNvPr id="14" name="Text 12"/>
          <p:cNvSpPr/>
          <p:nvPr/>
        </p:nvSpPr>
        <p:spPr>
          <a:xfrm>
            <a:off x="731520" y="274320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£48.00 is 20% above should-cost £40.00 at 50,000 pcs — clear recovery opportunity.</a:t>
            </a:r>
            <a:endParaRPr lang="en-US" sz="1150" dirty="0"/>
          </a:p>
        </p:txBody>
      </p:sp>
      <p:sp>
        <p:nvSpPr>
          <p:cNvPr id="15" name="Text 13"/>
          <p:cNvSpPr/>
          <p:nvPr/>
        </p:nvSpPr>
        <p:spPr>
          <a:xfrm>
            <a:off x="9052560" y="2404872"/>
            <a:ext cx="2606040" cy="365760"/>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 £400,000 / yr</a:t>
            </a:r>
            <a:endParaRPr lang="en-US" sz="1400" dirty="0"/>
          </a:p>
        </p:txBody>
      </p:sp>
      <p:sp>
        <p:nvSpPr>
          <p:cNvPr id="16" name="Shape 14"/>
          <p:cNvSpPr/>
          <p:nvPr/>
        </p:nvSpPr>
        <p:spPr>
          <a:xfrm>
            <a:off x="411480" y="3337560"/>
            <a:ext cx="11384280" cy="914400"/>
          </a:xfrm>
          <a:prstGeom prst="roundRect">
            <a:avLst>
              <a:gd name="adj" fmla="val 10000"/>
            </a:avLst>
          </a:prstGeom>
          <a:solidFill>
            <a:srgbClr val="F1F5F9"/>
          </a:solidFill>
          <a:ln/>
        </p:spPr>
      </p:sp>
      <p:sp>
        <p:nvSpPr>
          <p:cNvPr id="17" name="Shape 15"/>
          <p:cNvSpPr/>
          <p:nvPr/>
        </p:nvSpPr>
        <p:spPr>
          <a:xfrm>
            <a:off x="411480" y="3337560"/>
            <a:ext cx="82296" cy="914400"/>
          </a:xfrm>
          <a:prstGeom prst="rect">
            <a:avLst/>
          </a:prstGeom>
          <a:solidFill>
            <a:srgbClr val="D97706"/>
          </a:solidFill>
          <a:ln/>
        </p:spPr>
      </p:sp>
      <p:sp>
        <p:nvSpPr>
          <p:cNvPr id="18" name="Text 16"/>
          <p:cNvSpPr/>
          <p:nvPr/>
        </p:nvSpPr>
        <p:spPr>
          <a:xfrm>
            <a:off x="731520" y="3456432"/>
            <a:ext cx="3017520" cy="36576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  UNDERWATER PRICE</a:t>
            </a:r>
            <a:endParaRPr lang="en-US" sz="1300" dirty="0"/>
          </a:p>
        </p:txBody>
      </p:sp>
      <p:sp>
        <p:nvSpPr>
          <p:cNvPr id="19" name="Text 17"/>
          <p:cNvSpPr/>
          <p:nvPr/>
        </p:nvSpPr>
        <p:spPr>
          <a:xfrm>
            <a:off x="731520" y="379476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25% BELOW should-cost — verify scope and quality; pricing may be unsustainable.</a:t>
            </a:r>
            <a:endParaRPr lang="en-US" sz="1150" dirty="0"/>
          </a:p>
        </p:txBody>
      </p:sp>
      <p:sp>
        <p:nvSpPr>
          <p:cNvPr id="20" name="Text 18"/>
          <p:cNvSpPr/>
          <p:nvPr/>
        </p:nvSpPr>
        <p:spPr>
          <a:xfrm>
            <a:off x="9052560" y="3456432"/>
            <a:ext cx="2606040" cy="365760"/>
          </a:xfrm>
          <a:prstGeom prst="rect">
            <a:avLst/>
          </a:prstGeom>
          <a:noFill/>
          <a:ln/>
        </p:spPr>
        <p:txBody>
          <a:bodyPr wrap="square" lIns="0" tIns="0" rIns="0" bIns="0" rtlCol="0" anchor="t"/>
          <a:lstStyle/>
          <a:p>
            <a:pPr algn="r" indent="0" marL="0">
              <a:buNone/>
            </a:pPr>
            <a:r>
              <a:rPr lang="en-US" sz="1400" b="1" dirty="0">
                <a:solidFill>
                  <a:srgbClr val="D97706"/>
                </a:solidFill>
                <a:latin typeface="Calibri" pitchFamily="34" charset="0"/>
                <a:ea typeface="Calibri" pitchFamily="34" charset="-122"/>
                <a:cs typeface="Calibri" pitchFamily="34" charset="-120"/>
              </a:rPr>
              <a:t>≈ £112,000 / yr exposure</a:t>
            </a:r>
            <a:endParaRPr lang="en-US" sz="1400" dirty="0"/>
          </a:p>
        </p:txBody>
      </p:sp>
      <p:sp>
        <p:nvSpPr>
          <p:cNvPr id="21" name="Shape 19"/>
          <p:cNvSpPr/>
          <p:nvPr/>
        </p:nvSpPr>
        <p:spPr>
          <a:xfrm>
            <a:off x="411480" y="4389120"/>
            <a:ext cx="11384280" cy="914400"/>
          </a:xfrm>
          <a:prstGeom prst="roundRect">
            <a:avLst>
              <a:gd name="adj" fmla="val 10000"/>
            </a:avLst>
          </a:prstGeom>
          <a:solidFill>
            <a:srgbClr val="F1F5F9"/>
          </a:solidFill>
          <a:ln/>
        </p:spPr>
      </p:sp>
      <p:sp>
        <p:nvSpPr>
          <p:cNvPr id="22" name="Shape 20"/>
          <p:cNvSpPr/>
          <p:nvPr/>
        </p:nvSpPr>
        <p:spPr>
          <a:xfrm>
            <a:off x="411480" y="4389120"/>
            <a:ext cx="82296" cy="914400"/>
          </a:xfrm>
          <a:prstGeom prst="rect">
            <a:avLst/>
          </a:prstGeom>
          <a:solidFill>
            <a:srgbClr val="64748B"/>
          </a:solidFill>
          <a:ln/>
        </p:spPr>
      </p:sp>
      <p:sp>
        <p:nvSpPr>
          <p:cNvPr id="23" name="Text 21"/>
          <p:cNvSpPr/>
          <p:nvPr/>
        </p:nvSpPr>
        <p:spPr>
          <a:xfrm>
            <a:off x="731520" y="4507992"/>
            <a:ext cx="3017520" cy="365760"/>
          </a:xfrm>
          <a:prstGeom prst="rect">
            <a:avLst/>
          </a:prstGeom>
          <a:noFill/>
          <a:ln/>
        </p:spPr>
        <p:txBody>
          <a:bodyPr wrap="square" lIns="0" tIns="0" rIns="0" bIns="0" rtlCol="0" anchor="t"/>
          <a:lstStyle/>
          <a:p>
            <a:pPr indent="0" marL="0">
              <a:buNone/>
            </a:pPr>
            <a:r>
              <a:rPr lang="en-US" sz="1300" b="1" dirty="0">
                <a:solidFill>
                  <a:srgbClr val="64748B"/>
                </a:solidFill>
                <a:latin typeface="Calibri" pitchFamily="34" charset="0"/>
                <a:ea typeface="Calibri" pitchFamily="34" charset="-122"/>
                <a:cs typeface="Calibri" pitchFamily="34" charset="-120"/>
              </a:rPr>
              <a:t>⏳  STALE ESTIMATE</a:t>
            </a:r>
            <a:endParaRPr lang="en-US" sz="1300" dirty="0"/>
          </a:p>
        </p:txBody>
      </p:sp>
      <p:sp>
        <p:nvSpPr>
          <p:cNvPr id="24" name="Text 22"/>
          <p:cNvSpPr/>
          <p:nvPr/>
        </p:nvSpPr>
        <p:spPr>
          <a:xfrm>
            <a:off x="731520" y="484632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A 120-day-old estimate was never validated with a real quote — the agent asks for a refresh.</a:t>
            </a:r>
            <a:endParaRPr lang="en-US" sz="1150" dirty="0"/>
          </a:p>
        </p:txBody>
      </p:sp>
      <p:sp>
        <p:nvSpPr>
          <p:cNvPr id="25" name="Text 23"/>
          <p:cNvSpPr/>
          <p:nvPr/>
        </p:nvSpPr>
        <p:spPr>
          <a:xfrm>
            <a:off x="9052560" y="4507992"/>
            <a:ext cx="2606040" cy="365760"/>
          </a:xfrm>
          <a:prstGeom prst="rect">
            <a:avLst/>
          </a:prstGeom>
          <a:noFill/>
          <a:ln/>
        </p:spPr>
        <p:txBody>
          <a:bodyPr wrap="square" lIns="0" tIns="0" rIns="0" bIns="0" rtlCol="0" anchor="t"/>
          <a:lstStyle/>
          <a:p>
            <a:pPr algn="r" indent="0" marL="0">
              <a:buNone/>
            </a:pPr>
            <a:r>
              <a:rPr lang="en-US" sz="1400" b="1" dirty="0">
                <a:solidFill>
                  <a:srgbClr val="64748B"/>
                </a:solidFill>
                <a:latin typeface="Calibri" pitchFamily="34" charset="0"/>
                <a:ea typeface="Calibri" pitchFamily="34" charset="-122"/>
                <a:cs typeface="Calibri" pitchFamily="34" charset="-120"/>
              </a:rPr>
              <a:t>Confidence decay</a:t>
            </a:r>
            <a:endParaRPr lang="en-US" sz="1400" dirty="0"/>
          </a:p>
        </p:txBody>
      </p:sp>
      <p:sp>
        <p:nvSpPr>
          <p:cNvPr id="26" name="Shape 24"/>
          <p:cNvSpPr/>
          <p:nvPr/>
        </p:nvSpPr>
        <p:spPr>
          <a:xfrm>
            <a:off x="411480" y="5532120"/>
            <a:ext cx="11384280" cy="777240"/>
          </a:xfrm>
          <a:prstGeom prst="roundRect">
            <a:avLst>
              <a:gd name="adj" fmla="val 11765"/>
            </a:avLst>
          </a:prstGeom>
          <a:solidFill>
            <a:srgbClr val="EFF6FF"/>
          </a:solidFill>
          <a:ln/>
        </p:spPr>
      </p:sp>
      <p:sp>
        <p:nvSpPr>
          <p:cNvPr id="27" name="Text 25"/>
          <p:cNvSpPr/>
          <p:nvPr/>
        </p:nvSpPr>
        <p:spPr>
          <a:xfrm>
            <a:off x="685800" y="5669280"/>
            <a:ext cx="10881360" cy="54864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Total surfaced in the demo:  </a:t>
            </a:r>
            <a:pPr indent="0" marL="0">
              <a:buNone/>
            </a:pPr>
            <a:r>
              <a:rPr lang="en-US" sz="1500" b="1" dirty="0">
                <a:solidFill>
                  <a:srgbClr val="DC2626"/>
                </a:solidFill>
                <a:latin typeface="Calibri" pitchFamily="34" charset="0"/>
                <a:ea typeface="Calibri" pitchFamily="34" charset="-122"/>
                <a:cs typeface="Calibri" pitchFamily="34" charset="-120"/>
              </a:rPr>
              <a:t>≈ £512,000 / yr</a:t>
            </a:r>
            <a:pPr indent="0" marL="0">
              <a:buNone/>
            </a:pPr>
            <a:r>
              <a:rPr lang="en-US" sz="1300" dirty="0">
                <a:solidFill>
                  <a:srgbClr val="64748B"/>
                </a:solidFill>
                <a:latin typeface="Calibri" pitchFamily="34" charset="0"/>
                <a:ea typeface="Calibri" pitchFamily="34" charset="-122"/>
                <a:cs typeface="Calibri" pitchFamily="34" charset="-120"/>
              </a:rPr>
              <a:t>   — every finding shows its arithmetic, and one click dismisses it once handled.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WIDER AI PLATFORM</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Supporting AI capabilities already in the tool</a:t>
            </a:r>
            <a:endParaRPr lang="en-US" sz="2700" dirty="0"/>
          </a:p>
        </p:txBody>
      </p:sp>
      <p:sp>
        <p:nvSpPr>
          <p:cNvPr id="10" name="Shape 8"/>
          <p:cNvSpPr/>
          <p:nvPr/>
        </p:nvSpPr>
        <p:spPr>
          <a:xfrm>
            <a:off x="411480" y="1920240"/>
            <a:ext cx="5577840" cy="1874520"/>
          </a:xfrm>
          <a:prstGeom prst="roundRect">
            <a:avLst>
              <a:gd name="adj" fmla="val 3415"/>
            </a:avLst>
          </a:prstGeom>
          <a:solidFill>
            <a:srgbClr val="F1F5F9"/>
          </a:solidFill>
          <a:ln/>
        </p:spPr>
      </p:sp>
      <p:sp>
        <p:nvSpPr>
          <p:cNvPr id="11" name="Shape 9"/>
          <p:cNvSpPr/>
          <p:nvPr/>
        </p:nvSpPr>
        <p:spPr>
          <a:xfrm>
            <a:off x="411480" y="1920240"/>
            <a:ext cx="82296" cy="1874520"/>
          </a:xfrm>
          <a:prstGeom prst="rect">
            <a:avLst/>
          </a:prstGeom>
          <a:solidFill>
            <a:srgbClr val="2563EB"/>
          </a:solidFill>
          <a:ln/>
        </p:spPr>
      </p:sp>
      <p:sp>
        <p:nvSpPr>
          <p:cNvPr id="12" name="Text 10"/>
          <p:cNvSpPr/>
          <p:nvPr/>
        </p:nvSpPr>
        <p:spPr>
          <a:xfrm>
            <a:off x="685800" y="2103120"/>
            <a:ext cx="5120640" cy="411480"/>
          </a:xfrm>
          <a:prstGeom prst="rect">
            <a:avLst/>
          </a:prstGeom>
          <a:noFill/>
          <a:ln/>
        </p:spPr>
        <p:txBody>
          <a:bodyPr wrap="square" lIns="0" tIns="0" rIns="0" bIns="0" rtlCol="0" anchor="t"/>
          <a:lstStyle/>
          <a:p>
            <a:pPr indent="0" marL="0">
              <a:buNone/>
            </a:pPr>
            <a:r>
              <a:rPr lang="en-US" sz="1500" b="1" dirty="0">
                <a:solidFill>
                  <a:srgbClr val="2563EB"/>
                </a:solidFill>
                <a:latin typeface="Calibri" pitchFamily="34" charset="0"/>
                <a:ea typeface="Calibri" pitchFamily="34" charset="-122"/>
                <a:cs typeface="Calibri" pitchFamily="34" charset="-120"/>
              </a:rPr>
              <a:t>📚  Grounded AI assistant</a:t>
            </a:r>
            <a:endParaRPr lang="en-US" sz="1500" dirty="0"/>
          </a:p>
        </p:txBody>
      </p:sp>
      <p:sp>
        <p:nvSpPr>
          <p:cNvPr id="13" name="Text 11"/>
          <p:cNvSpPr/>
          <p:nvPr/>
        </p:nvSpPr>
        <p:spPr>
          <a:xfrm>
            <a:off x="68580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Answers cite our actual rate library and past costings — the AI quotes our data, it doesn't improvise. Every figure is traceable.</a:t>
            </a:r>
            <a:endParaRPr lang="en-US" sz="1200" dirty="0"/>
          </a:p>
        </p:txBody>
      </p:sp>
      <p:sp>
        <p:nvSpPr>
          <p:cNvPr id="14" name="Shape 12"/>
          <p:cNvSpPr/>
          <p:nvPr/>
        </p:nvSpPr>
        <p:spPr>
          <a:xfrm>
            <a:off x="6217920" y="1920240"/>
            <a:ext cx="5577840" cy="1874520"/>
          </a:xfrm>
          <a:prstGeom prst="roundRect">
            <a:avLst>
              <a:gd name="adj" fmla="val 3415"/>
            </a:avLst>
          </a:prstGeom>
          <a:solidFill>
            <a:srgbClr val="F1F5F9"/>
          </a:solidFill>
          <a:ln/>
        </p:spPr>
      </p:sp>
      <p:sp>
        <p:nvSpPr>
          <p:cNvPr id="15" name="Shape 13"/>
          <p:cNvSpPr/>
          <p:nvPr/>
        </p:nvSpPr>
        <p:spPr>
          <a:xfrm>
            <a:off x="6217920" y="1920240"/>
            <a:ext cx="82296" cy="1874520"/>
          </a:xfrm>
          <a:prstGeom prst="rect">
            <a:avLst/>
          </a:prstGeom>
          <a:solidFill>
            <a:srgbClr val="7C3AED"/>
          </a:solidFill>
          <a:ln/>
        </p:spPr>
      </p:sp>
      <p:sp>
        <p:nvSpPr>
          <p:cNvPr id="16" name="Text 14"/>
          <p:cNvSpPr/>
          <p:nvPr/>
        </p:nvSpPr>
        <p:spPr>
          <a:xfrm>
            <a:off x="6492240" y="2103120"/>
            <a:ext cx="5120640" cy="411480"/>
          </a:xfrm>
          <a:prstGeom prst="rect">
            <a:avLst/>
          </a:prstGeom>
          <a:noFill/>
          <a:ln/>
        </p:spPr>
        <p:txBody>
          <a:bodyPr wrap="square" lIns="0" tIns="0" rIns="0" bIns="0" rtlCol="0" anchor="t"/>
          <a:lstStyle/>
          <a:p>
            <a:pPr indent="0" marL="0">
              <a:buNone/>
            </a:pPr>
            <a:r>
              <a:rPr lang="en-US" sz="1500" b="1" dirty="0">
                <a:solidFill>
                  <a:srgbClr val="7C3AED"/>
                </a:solidFill>
                <a:latin typeface="Calibri" pitchFamily="34" charset="0"/>
                <a:ea typeface="Calibri" pitchFamily="34" charset="-122"/>
                <a:cs typeface="Calibri" pitchFamily="34" charset="-120"/>
              </a:rPr>
              <a:t>📄  RFQ analyst</a:t>
            </a:r>
            <a:endParaRPr lang="en-US" sz="1500" dirty="0"/>
          </a:p>
        </p:txBody>
      </p:sp>
      <p:sp>
        <p:nvSpPr>
          <p:cNvPr id="17" name="Text 15"/>
          <p:cNvSpPr/>
          <p:nvPr/>
        </p:nvSpPr>
        <p:spPr>
          <a:xfrm>
            <a:off x="649224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Drop in an RFQ package: it costs every line, flags risky prices and single-source parts, and drafts a prioritised negotiation brief.</a:t>
            </a:r>
            <a:endParaRPr lang="en-US" sz="1200" dirty="0"/>
          </a:p>
        </p:txBody>
      </p:sp>
      <p:sp>
        <p:nvSpPr>
          <p:cNvPr id="18" name="Shape 16"/>
          <p:cNvSpPr/>
          <p:nvPr/>
        </p:nvSpPr>
        <p:spPr>
          <a:xfrm>
            <a:off x="411480" y="4023360"/>
            <a:ext cx="5577840" cy="1874520"/>
          </a:xfrm>
          <a:prstGeom prst="roundRect">
            <a:avLst>
              <a:gd name="adj" fmla="val 3415"/>
            </a:avLst>
          </a:prstGeom>
          <a:solidFill>
            <a:srgbClr val="F1F5F9"/>
          </a:solidFill>
          <a:ln/>
        </p:spPr>
      </p:sp>
      <p:sp>
        <p:nvSpPr>
          <p:cNvPr id="19" name="Shape 17"/>
          <p:cNvSpPr/>
          <p:nvPr/>
        </p:nvSpPr>
        <p:spPr>
          <a:xfrm>
            <a:off x="411480" y="4023360"/>
            <a:ext cx="82296" cy="1874520"/>
          </a:xfrm>
          <a:prstGeom prst="rect">
            <a:avLst/>
          </a:prstGeom>
          <a:solidFill>
            <a:srgbClr val="0891B2"/>
          </a:solidFill>
          <a:ln/>
        </p:spPr>
      </p:sp>
      <p:sp>
        <p:nvSpPr>
          <p:cNvPr id="20" name="Text 18"/>
          <p:cNvSpPr/>
          <p:nvPr/>
        </p:nvSpPr>
        <p:spPr>
          <a:xfrm>
            <a:off x="685800" y="4206240"/>
            <a:ext cx="5120640" cy="411480"/>
          </a:xfrm>
          <a:prstGeom prst="rect">
            <a:avLst/>
          </a:prstGeom>
          <a:noFill/>
          <a:ln/>
        </p:spPr>
        <p:txBody>
          <a:bodyPr wrap="square" lIns="0" tIns="0" rIns="0" bIns="0" rtlCol="0" anchor="t"/>
          <a:lstStyle/>
          <a:p>
            <a:pPr indent="0" marL="0">
              <a:buNone/>
            </a:pPr>
            <a:r>
              <a:rPr lang="en-US" sz="1500" b="1" dirty="0">
                <a:solidFill>
                  <a:srgbClr val="0891B2"/>
                </a:solidFill>
                <a:latin typeface="Calibri" pitchFamily="34" charset="0"/>
                <a:ea typeface="Calibri" pitchFamily="34" charset="-122"/>
                <a:cs typeface="Calibri" pitchFamily="34" charset="-120"/>
              </a:rPr>
              <a:t>📐  CAD feature costing</a:t>
            </a:r>
            <a:endParaRPr lang="en-US" sz="1500" dirty="0"/>
          </a:p>
        </p:txBody>
      </p:sp>
      <p:sp>
        <p:nvSpPr>
          <p:cNvPr id="21" name="Text 19"/>
          <p:cNvSpPr/>
          <p:nvPr/>
        </p:nvSpPr>
        <p:spPr>
          <a:xfrm>
            <a:off x="68580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Reads the 3D model and prices individual design features — holes, threads, surfaces — so designers see exactly what drives cost.</a:t>
            </a:r>
            <a:endParaRPr lang="en-US" sz="1200" dirty="0"/>
          </a:p>
        </p:txBody>
      </p:sp>
      <p:sp>
        <p:nvSpPr>
          <p:cNvPr id="22" name="Shape 20"/>
          <p:cNvSpPr/>
          <p:nvPr/>
        </p:nvSpPr>
        <p:spPr>
          <a:xfrm>
            <a:off x="6217920" y="4023360"/>
            <a:ext cx="5577840" cy="1874520"/>
          </a:xfrm>
          <a:prstGeom prst="roundRect">
            <a:avLst>
              <a:gd name="adj" fmla="val 3415"/>
            </a:avLst>
          </a:prstGeom>
          <a:solidFill>
            <a:srgbClr val="F1F5F9"/>
          </a:solidFill>
          <a:ln/>
        </p:spPr>
      </p:sp>
      <p:sp>
        <p:nvSpPr>
          <p:cNvPr id="23" name="Shape 21"/>
          <p:cNvSpPr/>
          <p:nvPr/>
        </p:nvSpPr>
        <p:spPr>
          <a:xfrm>
            <a:off x="6217920" y="4023360"/>
            <a:ext cx="82296" cy="1874520"/>
          </a:xfrm>
          <a:prstGeom prst="rect">
            <a:avLst/>
          </a:prstGeom>
          <a:solidFill>
            <a:srgbClr val="059669"/>
          </a:solidFill>
          <a:ln/>
        </p:spPr>
      </p:sp>
      <p:sp>
        <p:nvSpPr>
          <p:cNvPr id="24" name="Text 22"/>
          <p:cNvSpPr/>
          <p:nvPr/>
        </p:nvSpPr>
        <p:spPr>
          <a:xfrm>
            <a:off x="6492240" y="4206240"/>
            <a:ext cx="5120640" cy="41148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  Carbon co-costing</a:t>
            </a:r>
            <a:endParaRPr lang="en-US" sz="1500" dirty="0"/>
          </a:p>
        </p:txBody>
      </p:sp>
      <p:sp>
        <p:nvSpPr>
          <p:cNvPr id="25" name="Text 23"/>
          <p:cNvSpPr/>
          <p:nvPr/>
        </p:nvSpPr>
        <p:spPr>
          <a:xfrm>
            <a:off x="649224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Every part gets a CO₂e figure alongside the £ — increasingly demanded in automotive &amp; aerospace RFQs.</a:t>
            </a:r>
            <a:endParaRPr lang="en-US" sz="1200" dirty="0"/>
          </a:p>
        </p:txBody>
      </p:sp>
      <p:sp>
        <p:nvSpPr>
          <p:cNvPr id="26" name="Text 24"/>
          <p:cNvSpPr/>
          <p:nvPr/>
        </p:nvSpPr>
        <p:spPr>
          <a:xfrm>
            <a:off x="411480" y="6126480"/>
            <a:ext cx="11338560" cy="457200"/>
          </a:xfrm>
          <a:prstGeom prst="rect">
            <a:avLst/>
          </a:prstGeom>
          <a:noFill/>
          <a:ln/>
        </p:spPr>
        <p:txBody>
          <a:bodyPr wrap="square" lIns="0" tIns="0" rIns="0" bIns="0" rtlCol="0" anchor="t"/>
          <a:lstStyle/>
          <a:p>
            <a:pPr indent="0" marL="0">
              <a:buNone/>
            </a:pPr>
            <a:r>
              <a:rPr lang="en-US" sz="1200" i="1" dirty="0">
                <a:solidFill>
                  <a:srgbClr val="64748B"/>
                </a:solidFill>
                <a:latin typeface="Calibri" pitchFamily="34" charset="0"/>
                <a:ea typeface="Calibri" pitchFamily="34" charset="-122"/>
                <a:cs typeface="Calibri" pitchFamily="34" charset="-120"/>
              </a:rPr>
              <a:t>Together with 18 commodity cost engines, CAD-to-cost, and PCB photo-to-BOM — the agentic layer sits on top of all of 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INPUTS REQUIRED</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it needs from us — honestly, very little</a:t>
            </a:r>
            <a:endParaRPr lang="en-US" sz="2700" dirty="0"/>
          </a:p>
        </p:txBody>
      </p:sp>
      <p:sp>
        <p:nvSpPr>
          <p:cNvPr id="10" name="Shape 8"/>
          <p:cNvSpPr/>
          <p:nvPr/>
        </p:nvSpPr>
        <p:spPr>
          <a:xfrm>
            <a:off x="411480" y="1874520"/>
            <a:ext cx="5486400" cy="3931920"/>
          </a:xfrm>
          <a:prstGeom prst="roundRect">
            <a:avLst>
              <a:gd name="adj" fmla="val 1163"/>
            </a:avLst>
          </a:prstGeom>
          <a:solidFill>
            <a:srgbClr val="EFF6FF"/>
          </a:solidFill>
          <a:ln/>
        </p:spPr>
      </p:sp>
      <p:sp>
        <p:nvSpPr>
          <p:cNvPr id="11" name="Text 9"/>
          <p:cNvSpPr/>
          <p:nvPr/>
        </p:nvSpPr>
        <p:spPr>
          <a:xfrm>
            <a:off x="685800" y="210312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You provide</a:t>
            </a:r>
            <a:endParaRPr lang="en-US" sz="1600" dirty="0"/>
          </a:p>
        </p:txBody>
      </p:sp>
      <p:sp>
        <p:nvSpPr>
          <p:cNvPr id="12" name="Text 10"/>
          <p:cNvSpPr/>
          <p:nvPr/>
        </p:nvSpPr>
        <p:spPr>
          <a:xfrm>
            <a:off x="685800" y="260604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1.  Keep costing parts as normal</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every analysis feeds the memory automatically</a:t>
            </a:r>
            <a:endParaRPr lang="en-US" sz="1300" dirty="0"/>
          </a:p>
        </p:txBody>
      </p:sp>
      <p:sp>
        <p:nvSpPr>
          <p:cNvPr id="13" name="Text 11"/>
          <p:cNvSpPr/>
          <p:nvPr/>
        </p:nvSpPr>
        <p:spPr>
          <a:xfrm>
            <a:off x="685800" y="338328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2.  One click when a real quote arrives</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"Log Actual £" — this is the learning fuel</a:t>
            </a:r>
            <a:endParaRPr lang="en-US" sz="1300" dirty="0"/>
          </a:p>
        </p:txBody>
      </p:sp>
      <p:sp>
        <p:nvSpPr>
          <p:cNvPr id="14" name="Text 12"/>
          <p:cNvSpPr/>
          <p:nvPr/>
        </p:nvSpPr>
        <p:spPr>
          <a:xfrm>
            <a:off x="685800" y="416052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3.  Optional: CAD file or BOM</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sharper matching and better auto-fill</a:t>
            </a:r>
            <a:endParaRPr lang="en-US" sz="1300" dirty="0"/>
          </a:p>
        </p:txBody>
      </p:sp>
      <p:sp>
        <p:nvSpPr>
          <p:cNvPr id="15" name="Text 13"/>
          <p:cNvSpPr/>
          <p:nvPr/>
        </p:nvSpPr>
        <p:spPr>
          <a:xfrm>
            <a:off x="685800" y="493776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4.  Optional: historic quotes (CSV)</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seeds the memory so it starts smart, not empty</a:t>
            </a:r>
            <a:endParaRPr lang="en-US" sz="1300" dirty="0"/>
          </a:p>
        </p:txBody>
      </p:sp>
      <p:sp>
        <p:nvSpPr>
          <p:cNvPr id="16" name="Shape 14"/>
          <p:cNvSpPr/>
          <p:nvPr/>
        </p:nvSpPr>
        <p:spPr>
          <a:xfrm>
            <a:off x="6263640" y="1874520"/>
            <a:ext cx="5532120" cy="3931920"/>
          </a:xfrm>
          <a:prstGeom prst="roundRect">
            <a:avLst>
              <a:gd name="adj" fmla="val 1163"/>
            </a:avLst>
          </a:prstGeom>
          <a:solidFill>
            <a:srgbClr val="F1F5F9"/>
          </a:solidFill>
          <a:ln/>
        </p:spPr>
      </p:sp>
      <p:sp>
        <p:nvSpPr>
          <p:cNvPr id="17" name="Text 15"/>
          <p:cNvSpPr/>
          <p:nvPr/>
        </p:nvSpPr>
        <p:spPr>
          <a:xfrm>
            <a:off x="6537960" y="210312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The tool does</a:t>
            </a:r>
            <a:endParaRPr lang="en-US" sz="1600" dirty="0"/>
          </a:p>
        </p:txBody>
      </p:sp>
      <p:sp>
        <p:nvSpPr>
          <p:cNvPr id="18" name="Text 16"/>
          <p:cNvSpPr/>
          <p:nvPr/>
        </p:nvSpPr>
        <p:spPr>
          <a:xfrm>
            <a:off x="6537960" y="260604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Remembers every analysis (no duplicates, org-wide)</a:t>
            </a:r>
            <a:endParaRPr lang="en-US" sz="1250" dirty="0"/>
          </a:p>
        </p:txBody>
      </p:sp>
      <p:sp>
        <p:nvSpPr>
          <p:cNvPr id="19" name="Text 17"/>
          <p:cNvSpPr/>
          <p:nvPr/>
        </p:nvSpPr>
        <p:spPr>
          <a:xfrm>
            <a:off x="6537960" y="3127248"/>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Finds &amp; explains similar past parts instantly</a:t>
            </a:r>
            <a:endParaRPr lang="en-US" sz="1250" dirty="0"/>
          </a:p>
        </p:txBody>
      </p:sp>
      <p:sp>
        <p:nvSpPr>
          <p:cNvPr id="20" name="Text 18"/>
          <p:cNvSpPr/>
          <p:nvPr/>
        </p:nvSpPr>
        <p:spPr>
          <a:xfrm>
            <a:off x="6537960" y="3648456"/>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Suggests benchmarks, materials and real prices</a:t>
            </a:r>
            <a:endParaRPr lang="en-US" sz="1250" dirty="0"/>
          </a:p>
        </p:txBody>
      </p:sp>
      <p:sp>
        <p:nvSpPr>
          <p:cNvPr id="21" name="Text 19"/>
          <p:cNvSpPr/>
          <p:nvPr/>
        </p:nvSpPr>
        <p:spPr>
          <a:xfrm>
            <a:off x="6537960" y="4169664"/>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Measures its own error and self-corrects per category</a:t>
            </a:r>
            <a:endParaRPr lang="en-US" sz="1250" dirty="0"/>
          </a:p>
        </p:txBody>
      </p:sp>
      <p:sp>
        <p:nvSpPr>
          <p:cNvPr id="22" name="Text 20"/>
          <p:cNvSpPr/>
          <p:nvPr/>
        </p:nvSpPr>
        <p:spPr>
          <a:xfrm>
            <a:off x="6537960" y="4690872"/>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Tightens confidence ranges as evidence grows</a:t>
            </a:r>
            <a:endParaRPr lang="en-US" sz="1250" dirty="0"/>
          </a:p>
        </p:txBody>
      </p:sp>
      <p:sp>
        <p:nvSpPr>
          <p:cNvPr id="23" name="Text 21"/>
          <p:cNvSpPr/>
          <p:nvPr/>
        </p:nvSpPr>
        <p:spPr>
          <a:xfrm>
            <a:off x="6537960" y="521208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Monitors all parts in the background &amp; raises findings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EVIDENCE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Results &amp; accuracy — measured, not promised</a:t>
            </a:r>
            <a:endParaRPr lang="en-US" sz="2700" dirty="0"/>
          </a:p>
        </p:txBody>
      </p:sp>
      <p:sp>
        <p:nvSpPr>
          <p:cNvPr id="10" name="Shape 8"/>
          <p:cNvSpPr/>
          <p:nvPr/>
        </p:nvSpPr>
        <p:spPr>
          <a:xfrm>
            <a:off x="411480" y="1920240"/>
            <a:ext cx="11384280" cy="548640"/>
          </a:xfrm>
          <a:prstGeom prst="roundRect">
            <a:avLst>
              <a:gd name="adj" fmla="val 23333"/>
            </a:avLst>
          </a:prstGeom>
          <a:solidFill>
            <a:srgbClr val="F1F5F9"/>
          </a:solidFill>
          <a:ln/>
        </p:spPr>
      </p:sp>
      <p:sp>
        <p:nvSpPr>
          <p:cNvPr id="11" name="Text 9"/>
          <p:cNvSpPr/>
          <p:nvPr/>
        </p:nvSpPr>
        <p:spPr>
          <a:xfrm>
            <a:off x="731520" y="202082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(machining segment)</a:t>
            </a:r>
            <a:endParaRPr lang="en-US" sz="1300" dirty="0"/>
          </a:p>
        </p:txBody>
      </p:sp>
      <p:sp>
        <p:nvSpPr>
          <p:cNvPr id="12" name="Text 10"/>
          <p:cNvSpPr/>
          <p:nvPr/>
        </p:nvSpPr>
        <p:spPr>
          <a:xfrm>
            <a:off x="7863840" y="2002536"/>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10.9%  →  0.3%</a:t>
            </a:r>
            <a:endParaRPr lang="en-US" sz="1400" dirty="0"/>
          </a:p>
        </p:txBody>
      </p:sp>
      <p:sp>
        <p:nvSpPr>
          <p:cNvPr id="13" name="Shape 11"/>
          <p:cNvSpPr/>
          <p:nvPr/>
        </p:nvSpPr>
        <p:spPr>
          <a:xfrm>
            <a:off x="411480" y="2578608"/>
            <a:ext cx="11384280" cy="548640"/>
          </a:xfrm>
          <a:prstGeom prst="roundRect">
            <a:avLst>
              <a:gd name="adj" fmla="val 23333"/>
            </a:avLst>
          </a:prstGeom>
          <a:solidFill>
            <a:srgbClr val="FFFFFF"/>
          </a:solidFill>
          <a:ln/>
        </p:spPr>
      </p:sp>
      <p:sp>
        <p:nvSpPr>
          <p:cNvPr id="14" name="Text 12"/>
          <p:cNvSpPr/>
          <p:nvPr/>
        </p:nvSpPr>
        <p:spPr>
          <a:xfrm>
            <a:off x="731520" y="2679192"/>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(casting · China)</a:t>
            </a:r>
            <a:endParaRPr lang="en-US" sz="1300" dirty="0"/>
          </a:p>
        </p:txBody>
      </p:sp>
      <p:sp>
        <p:nvSpPr>
          <p:cNvPr id="15" name="Text 13"/>
          <p:cNvSpPr/>
          <p:nvPr/>
        </p:nvSpPr>
        <p:spPr>
          <a:xfrm>
            <a:off x="7863840" y="2660904"/>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8.7%  →  0.6%</a:t>
            </a:r>
            <a:endParaRPr lang="en-US" sz="1400" dirty="0"/>
          </a:p>
        </p:txBody>
      </p:sp>
      <p:sp>
        <p:nvSpPr>
          <p:cNvPr id="16" name="Shape 14"/>
          <p:cNvSpPr/>
          <p:nvPr/>
        </p:nvSpPr>
        <p:spPr>
          <a:xfrm>
            <a:off x="411480" y="3236976"/>
            <a:ext cx="11384280" cy="548640"/>
          </a:xfrm>
          <a:prstGeom prst="roundRect">
            <a:avLst>
              <a:gd name="adj" fmla="val 23333"/>
            </a:avLst>
          </a:prstGeom>
          <a:solidFill>
            <a:srgbClr val="F1F5F9"/>
          </a:solidFill>
          <a:ln/>
        </p:spPr>
      </p:sp>
      <p:sp>
        <p:nvSpPr>
          <p:cNvPr id="17" name="Text 15"/>
          <p:cNvSpPr/>
          <p:nvPr/>
        </p:nvSpPr>
        <p:spPr>
          <a:xfrm>
            <a:off x="731520" y="3337560"/>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Confidence band on the same part</a:t>
            </a:r>
            <a:endParaRPr lang="en-US" sz="1300" dirty="0"/>
          </a:p>
        </p:txBody>
      </p:sp>
      <p:sp>
        <p:nvSpPr>
          <p:cNvPr id="18" name="Text 16"/>
          <p:cNvSpPr/>
          <p:nvPr/>
        </p:nvSpPr>
        <p:spPr>
          <a:xfrm>
            <a:off x="7863840" y="3319272"/>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±20.4%  →  ±2.8%</a:t>
            </a:r>
            <a:endParaRPr lang="en-US" sz="1400" dirty="0"/>
          </a:p>
        </p:txBody>
      </p:sp>
      <p:sp>
        <p:nvSpPr>
          <p:cNvPr id="19" name="Shape 17"/>
          <p:cNvSpPr/>
          <p:nvPr/>
        </p:nvSpPr>
        <p:spPr>
          <a:xfrm>
            <a:off x="411480" y="3895344"/>
            <a:ext cx="11384280" cy="548640"/>
          </a:xfrm>
          <a:prstGeom prst="roundRect">
            <a:avLst>
              <a:gd name="adj" fmla="val 23333"/>
            </a:avLst>
          </a:prstGeom>
          <a:solidFill>
            <a:srgbClr val="FFFFFF"/>
          </a:solidFill>
          <a:ln/>
        </p:spPr>
      </p:sp>
      <p:sp>
        <p:nvSpPr>
          <p:cNvPr id="20" name="Text 18"/>
          <p:cNvSpPr/>
          <p:nvPr/>
        </p:nvSpPr>
        <p:spPr>
          <a:xfrm>
            <a:off x="731520" y="3995928"/>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Similar-part recognition on live example</a:t>
            </a:r>
            <a:endParaRPr lang="en-US" sz="1300" dirty="0"/>
          </a:p>
        </p:txBody>
      </p:sp>
      <p:sp>
        <p:nvSpPr>
          <p:cNvPr id="21" name="Text 19"/>
          <p:cNvSpPr/>
          <p:nvPr/>
        </p:nvSpPr>
        <p:spPr>
          <a:xfrm>
            <a:off x="7863840" y="3977640"/>
            <a:ext cx="3749040" cy="384048"/>
          </a:xfrm>
          <a:prstGeom prst="rect">
            <a:avLst/>
          </a:prstGeom>
          <a:noFill/>
          <a:ln/>
        </p:spPr>
        <p:txBody>
          <a:bodyPr wrap="square" lIns="0" tIns="0" rIns="0" bIns="0" rtlCol="0" anchor="t"/>
          <a:lstStyle/>
          <a:p>
            <a:pPr algn="r" indent="0" marL="0">
              <a:buNone/>
            </a:pPr>
            <a:r>
              <a:rPr lang="en-US" sz="1400" b="1" dirty="0">
                <a:solidFill>
                  <a:srgbClr val="0891B2"/>
                </a:solidFill>
                <a:latin typeface="Calibri" pitchFamily="34" charset="0"/>
                <a:ea typeface="Calibri" pitchFamily="34" charset="-122"/>
                <a:cs typeface="Calibri" pitchFamily="34" charset="-120"/>
              </a:rPr>
              <a:t>98–99% match, reasons shown</a:t>
            </a:r>
            <a:endParaRPr lang="en-US" sz="1400" dirty="0"/>
          </a:p>
        </p:txBody>
      </p:sp>
      <p:sp>
        <p:nvSpPr>
          <p:cNvPr id="22" name="Shape 20"/>
          <p:cNvSpPr/>
          <p:nvPr/>
        </p:nvSpPr>
        <p:spPr>
          <a:xfrm>
            <a:off x="411480" y="4553712"/>
            <a:ext cx="11384280" cy="548640"/>
          </a:xfrm>
          <a:prstGeom prst="roundRect">
            <a:avLst>
              <a:gd name="adj" fmla="val 23333"/>
            </a:avLst>
          </a:prstGeom>
          <a:solidFill>
            <a:srgbClr val="F1F5F9"/>
          </a:solidFill>
          <a:ln/>
        </p:spPr>
      </p:sp>
      <p:sp>
        <p:nvSpPr>
          <p:cNvPr id="23" name="Text 21"/>
          <p:cNvSpPr/>
          <p:nvPr/>
        </p:nvSpPr>
        <p:spPr>
          <a:xfrm>
            <a:off x="731520" y="4654296"/>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Autonomous findings in unattended demo</a:t>
            </a:r>
            <a:endParaRPr lang="en-US" sz="1300" dirty="0"/>
          </a:p>
        </p:txBody>
      </p:sp>
      <p:sp>
        <p:nvSpPr>
          <p:cNvPr id="24" name="Text 22"/>
          <p:cNvSpPr/>
          <p:nvPr/>
        </p:nvSpPr>
        <p:spPr>
          <a:xfrm>
            <a:off x="7863840" y="4636008"/>
            <a:ext cx="3749040" cy="384048"/>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£512,000 / yr surfaced</a:t>
            </a:r>
            <a:endParaRPr lang="en-US" sz="1400" dirty="0"/>
          </a:p>
        </p:txBody>
      </p:sp>
      <p:sp>
        <p:nvSpPr>
          <p:cNvPr id="25" name="Shape 23"/>
          <p:cNvSpPr/>
          <p:nvPr/>
        </p:nvSpPr>
        <p:spPr>
          <a:xfrm>
            <a:off x="411480" y="5212080"/>
            <a:ext cx="11384280" cy="548640"/>
          </a:xfrm>
          <a:prstGeom prst="roundRect">
            <a:avLst>
              <a:gd name="adj" fmla="val 23333"/>
            </a:avLst>
          </a:prstGeom>
          <a:solidFill>
            <a:srgbClr val="FFFFFF"/>
          </a:solidFill>
          <a:ln/>
        </p:spPr>
      </p:sp>
      <p:sp>
        <p:nvSpPr>
          <p:cNvPr id="26" name="Text 24"/>
          <p:cNvSpPr/>
          <p:nvPr/>
        </p:nvSpPr>
        <p:spPr>
          <a:xfrm>
            <a:off x="731520" y="531266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Automated tests protecting all of this</a:t>
            </a:r>
            <a:endParaRPr lang="en-US" sz="1300" dirty="0"/>
          </a:p>
        </p:txBody>
      </p:sp>
      <p:sp>
        <p:nvSpPr>
          <p:cNvPr id="27" name="Text 25"/>
          <p:cNvSpPr/>
          <p:nvPr/>
        </p:nvSpPr>
        <p:spPr>
          <a:xfrm>
            <a:off x="7863840" y="5294376"/>
            <a:ext cx="3749040" cy="384048"/>
          </a:xfrm>
          <a:prstGeom prst="rect">
            <a:avLst/>
          </a:prstGeom>
          <a:noFill/>
          <a:ln/>
        </p:spPr>
        <p:txBody>
          <a:bodyPr wrap="square" lIns="0" tIns="0" rIns="0" bIns="0" rtlCol="0" anchor="t"/>
          <a:lstStyle/>
          <a:p>
            <a:pPr algn="r" indent="0" marL="0">
              <a:buNone/>
            </a:pPr>
            <a:r>
              <a:rPr lang="en-US" sz="1400" b="1" dirty="0">
                <a:solidFill>
                  <a:srgbClr val="7C3AED"/>
                </a:solidFill>
                <a:latin typeface="Calibri" pitchFamily="34" charset="0"/>
                <a:ea typeface="Calibri" pitchFamily="34" charset="-122"/>
                <a:cs typeface="Calibri" pitchFamily="34" charset="-120"/>
              </a:rPr>
              <a:t>917 passing (77 suites)</a:t>
            </a:r>
            <a:endParaRPr lang="en-US" sz="1400" dirty="0"/>
          </a:p>
        </p:txBody>
      </p:sp>
      <p:sp>
        <p:nvSpPr>
          <p:cNvPr id="28" name="Shape 26"/>
          <p:cNvSpPr/>
          <p:nvPr/>
        </p:nvSpPr>
        <p:spPr>
          <a:xfrm>
            <a:off x="411480" y="5943600"/>
            <a:ext cx="11384280" cy="658368"/>
          </a:xfrm>
          <a:prstGeom prst="roundRect">
            <a:avLst>
              <a:gd name="adj" fmla="val 13889"/>
            </a:avLst>
          </a:prstGeom>
          <a:solidFill>
            <a:srgbClr val="EFF6FF"/>
          </a:solidFill>
          <a:ln/>
        </p:spPr>
      </p:sp>
      <p:sp>
        <p:nvSpPr>
          <p:cNvPr id="29" name="Text 27"/>
          <p:cNvSpPr/>
          <p:nvPr/>
        </p:nvSpPr>
        <p:spPr>
          <a:xfrm>
            <a:off x="685800" y="6053328"/>
            <a:ext cx="10881360" cy="45720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How we verified: </a:t>
            </a:r>
            <a:pPr indent="0" marL="0">
              <a:buNone/>
            </a:pPr>
            <a:r>
              <a:rPr lang="en-US" sz="1200" dirty="0">
                <a:solidFill>
                  <a:srgbClr val="334155"/>
                </a:solidFill>
                <a:latin typeface="Calibri" pitchFamily="34" charset="0"/>
                <a:ea typeface="Calibri" pitchFamily="34" charset="-122"/>
                <a:cs typeface="Calibri" pitchFamily="34" charset="-120"/>
              </a:rPr>
              <a:t>every number above comes from running the real system end-to-end — live server, real database, real API calls — not from slides or simulations.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BENEFITS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this means for the business</a:t>
            </a:r>
            <a:endParaRPr lang="en-US" sz="2700" dirty="0"/>
          </a:p>
        </p:txBody>
      </p:sp>
      <p:sp>
        <p:nvSpPr>
          <p:cNvPr id="10" name="Shape 8"/>
          <p:cNvSpPr/>
          <p:nvPr/>
        </p:nvSpPr>
        <p:spPr>
          <a:xfrm>
            <a:off x="411480" y="1874520"/>
            <a:ext cx="5577840" cy="1828800"/>
          </a:xfrm>
          <a:prstGeom prst="roundRect">
            <a:avLst>
              <a:gd name="adj" fmla="val 3500"/>
            </a:avLst>
          </a:prstGeom>
          <a:solidFill>
            <a:srgbClr val="F1F5F9"/>
          </a:solidFill>
          <a:ln/>
        </p:spPr>
      </p:sp>
      <p:sp>
        <p:nvSpPr>
          <p:cNvPr id="11" name="Shape 9"/>
          <p:cNvSpPr/>
          <p:nvPr/>
        </p:nvSpPr>
        <p:spPr>
          <a:xfrm>
            <a:off x="411480" y="1874520"/>
            <a:ext cx="82296" cy="1828800"/>
          </a:xfrm>
          <a:prstGeom prst="rect">
            <a:avLst/>
          </a:prstGeom>
          <a:solidFill>
            <a:srgbClr val="2563EB"/>
          </a:solidFill>
          <a:ln/>
        </p:spPr>
      </p:sp>
      <p:sp>
        <p:nvSpPr>
          <p:cNvPr id="12" name="Text 10"/>
          <p:cNvSpPr/>
          <p:nvPr/>
        </p:nvSpPr>
        <p:spPr>
          <a:xfrm>
            <a:off x="685800" y="2039112"/>
            <a:ext cx="5029200" cy="457200"/>
          </a:xfrm>
          <a:prstGeom prst="rect">
            <a:avLst/>
          </a:prstGeom>
          <a:noFill/>
          <a:ln/>
        </p:spPr>
        <p:txBody>
          <a:bodyPr wrap="square" lIns="0" tIns="0" rIns="0" bIns="0" rtlCol="0" anchor="t"/>
          <a:lstStyle/>
          <a:p>
            <a:pPr indent="0" marL="0">
              <a:buNone/>
            </a:pPr>
            <a:r>
              <a:rPr lang="en-US" sz="1800" dirty="0">
                <a:solidFill>
                  <a:srgbClr val="2563EB"/>
                </a:solidFill>
                <a:latin typeface="Calibri" pitchFamily="34" charset="0"/>
                <a:ea typeface="Calibri" pitchFamily="34" charset="-122"/>
                <a:cs typeface="Calibri" pitchFamily="34" charset="-120"/>
              </a:rPr>
              <a:t>⚡  </a:t>
            </a:r>
            <a:pPr indent="0" marL="0">
              <a:buNone/>
            </a:pPr>
            <a:r>
              <a:rPr lang="en-US" sz="1600" b="1" dirty="0">
                <a:solidFill>
                  <a:srgbClr val="2563EB"/>
                </a:solidFill>
                <a:latin typeface="Calibri" pitchFamily="34" charset="0"/>
                <a:ea typeface="Calibri" pitchFamily="34" charset="-122"/>
                <a:cs typeface="Calibri" pitchFamily="34" charset="-120"/>
              </a:rPr>
              <a:t>Faster costing</a:t>
            </a:r>
            <a:endParaRPr lang="en-US" sz="1800" dirty="0"/>
          </a:p>
        </p:txBody>
      </p:sp>
      <p:sp>
        <p:nvSpPr>
          <p:cNvPr id="13" name="Text 11"/>
          <p:cNvSpPr/>
          <p:nvPr/>
        </p:nvSpPr>
        <p:spPr>
          <a:xfrm>
            <a:off x="68580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New parts start from proven history instead of a blank sheet — matches, materials and benchmarks appear instantly.</a:t>
            </a:r>
            <a:endParaRPr lang="en-US" sz="1200" dirty="0"/>
          </a:p>
        </p:txBody>
      </p:sp>
      <p:sp>
        <p:nvSpPr>
          <p:cNvPr id="14" name="Shape 12"/>
          <p:cNvSpPr/>
          <p:nvPr/>
        </p:nvSpPr>
        <p:spPr>
          <a:xfrm>
            <a:off x="6217920" y="1874520"/>
            <a:ext cx="5577840" cy="1828800"/>
          </a:xfrm>
          <a:prstGeom prst="roundRect">
            <a:avLst>
              <a:gd name="adj" fmla="val 3500"/>
            </a:avLst>
          </a:prstGeom>
          <a:solidFill>
            <a:srgbClr val="F1F5F9"/>
          </a:solidFill>
          <a:ln/>
        </p:spPr>
      </p:sp>
      <p:sp>
        <p:nvSpPr>
          <p:cNvPr id="15" name="Shape 13"/>
          <p:cNvSpPr/>
          <p:nvPr/>
        </p:nvSpPr>
        <p:spPr>
          <a:xfrm>
            <a:off x="6217920" y="1874520"/>
            <a:ext cx="82296" cy="1828800"/>
          </a:xfrm>
          <a:prstGeom prst="rect">
            <a:avLst/>
          </a:prstGeom>
          <a:solidFill>
            <a:srgbClr val="059669"/>
          </a:solidFill>
          <a:ln/>
        </p:spPr>
      </p:sp>
      <p:sp>
        <p:nvSpPr>
          <p:cNvPr id="16" name="Text 14"/>
          <p:cNvSpPr/>
          <p:nvPr/>
        </p:nvSpPr>
        <p:spPr>
          <a:xfrm>
            <a:off x="6492240" y="2039112"/>
            <a:ext cx="5029200" cy="457200"/>
          </a:xfrm>
          <a:prstGeom prst="rect">
            <a:avLst/>
          </a:prstGeom>
          <a:noFill/>
          <a:ln/>
        </p:spPr>
        <p:txBody>
          <a:bodyPr wrap="square" lIns="0" tIns="0" rIns="0" bIns="0" rtlCol="0" anchor="t"/>
          <a:lstStyle/>
          <a:p>
            <a:pPr indent="0" marL="0">
              <a:buNone/>
            </a:pPr>
            <a:r>
              <a:rPr lang="en-US" sz="1800" dirty="0">
                <a:solidFill>
                  <a:srgbClr val="059669"/>
                </a:solidFill>
                <a:latin typeface="Calibri" pitchFamily="34" charset="0"/>
                <a:ea typeface="Calibri" pitchFamily="34" charset="-122"/>
                <a:cs typeface="Calibri" pitchFamily="34" charset="-120"/>
              </a:rPr>
              <a:t>🎯  </a:t>
            </a:r>
            <a:pPr indent="0" marL="0">
              <a:buNone/>
            </a:pPr>
            <a:r>
              <a:rPr lang="en-US" sz="1600" b="1" dirty="0">
                <a:solidFill>
                  <a:srgbClr val="059669"/>
                </a:solidFill>
                <a:latin typeface="Calibri" pitchFamily="34" charset="0"/>
                <a:ea typeface="Calibri" pitchFamily="34" charset="-122"/>
                <a:cs typeface="Calibri" pitchFamily="34" charset="-120"/>
              </a:rPr>
              <a:t>Accuracy that compounds</a:t>
            </a:r>
            <a:endParaRPr lang="en-US" sz="1800" dirty="0"/>
          </a:p>
        </p:txBody>
      </p:sp>
      <p:sp>
        <p:nvSpPr>
          <p:cNvPr id="17" name="Text 15"/>
          <p:cNvSpPr/>
          <p:nvPr/>
        </p:nvSpPr>
        <p:spPr>
          <a:xfrm>
            <a:off x="649224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Every real quote makes the next estimate better. Accuracy is measured and reported — defensible in any negotiation.</a:t>
            </a:r>
            <a:endParaRPr lang="en-US" sz="1200" dirty="0"/>
          </a:p>
        </p:txBody>
      </p:sp>
      <p:sp>
        <p:nvSpPr>
          <p:cNvPr id="18" name="Shape 16"/>
          <p:cNvSpPr/>
          <p:nvPr/>
        </p:nvSpPr>
        <p:spPr>
          <a:xfrm>
            <a:off x="411480" y="3931920"/>
            <a:ext cx="5577840" cy="1828800"/>
          </a:xfrm>
          <a:prstGeom prst="roundRect">
            <a:avLst>
              <a:gd name="adj" fmla="val 3500"/>
            </a:avLst>
          </a:prstGeom>
          <a:solidFill>
            <a:srgbClr val="F1F5F9"/>
          </a:solidFill>
          <a:ln/>
        </p:spPr>
      </p:sp>
      <p:sp>
        <p:nvSpPr>
          <p:cNvPr id="19" name="Shape 17"/>
          <p:cNvSpPr/>
          <p:nvPr/>
        </p:nvSpPr>
        <p:spPr>
          <a:xfrm>
            <a:off x="411480" y="3931920"/>
            <a:ext cx="82296" cy="1828800"/>
          </a:xfrm>
          <a:prstGeom prst="rect">
            <a:avLst/>
          </a:prstGeom>
          <a:solidFill>
            <a:srgbClr val="7C3AED"/>
          </a:solidFill>
          <a:ln/>
        </p:spPr>
      </p:sp>
      <p:sp>
        <p:nvSpPr>
          <p:cNvPr id="20" name="Text 18"/>
          <p:cNvSpPr/>
          <p:nvPr/>
        </p:nvSpPr>
        <p:spPr>
          <a:xfrm>
            <a:off x="685800" y="4096512"/>
            <a:ext cx="5029200" cy="457200"/>
          </a:xfrm>
          <a:prstGeom prst="rect">
            <a:avLst/>
          </a:prstGeom>
          <a:noFill/>
          <a:ln/>
        </p:spPr>
        <p:txBody>
          <a:bodyPr wrap="square" lIns="0" tIns="0" rIns="0" bIns="0" rtlCol="0" anchor="t"/>
          <a:lstStyle/>
          <a:p>
            <a:pPr indent="0" marL="0">
              <a:buNone/>
            </a:pPr>
            <a:r>
              <a:rPr lang="en-US" sz="1800" dirty="0">
                <a:solidFill>
                  <a:srgbClr val="7C3AED"/>
                </a:solidFill>
                <a:latin typeface="Calibri" pitchFamily="34" charset="0"/>
                <a:ea typeface="Calibri" pitchFamily="34" charset="-122"/>
                <a:cs typeface="Calibri" pitchFamily="34" charset="-120"/>
              </a:rPr>
              <a:t>🏦  </a:t>
            </a:r>
            <a:pPr indent="0" marL="0">
              <a:buNone/>
            </a:pPr>
            <a:r>
              <a:rPr lang="en-US" sz="1600" b="1" dirty="0">
                <a:solidFill>
                  <a:srgbClr val="7C3AED"/>
                </a:solidFill>
                <a:latin typeface="Calibri" pitchFamily="34" charset="0"/>
                <a:ea typeface="Calibri" pitchFamily="34" charset="-122"/>
                <a:cs typeface="Calibri" pitchFamily="34" charset="-120"/>
              </a:rPr>
              <a:t>Knowledge stays</a:t>
            </a:r>
            <a:endParaRPr lang="en-US" sz="1800" dirty="0"/>
          </a:p>
        </p:txBody>
      </p:sp>
      <p:sp>
        <p:nvSpPr>
          <p:cNvPr id="21" name="Text 19"/>
          <p:cNvSpPr/>
          <p:nvPr/>
        </p:nvSpPr>
        <p:spPr>
          <a:xfrm>
            <a:off x="68580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Senior engineers' judgement is captured as data. It doesn't leave when people do — and juniors inherit it from day one.</a:t>
            </a:r>
            <a:endParaRPr lang="en-US" sz="1200" dirty="0"/>
          </a:p>
        </p:txBody>
      </p:sp>
      <p:sp>
        <p:nvSpPr>
          <p:cNvPr id="22" name="Shape 20"/>
          <p:cNvSpPr/>
          <p:nvPr/>
        </p:nvSpPr>
        <p:spPr>
          <a:xfrm>
            <a:off x="6217920" y="3931920"/>
            <a:ext cx="5577840" cy="1828800"/>
          </a:xfrm>
          <a:prstGeom prst="roundRect">
            <a:avLst>
              <a:gd name="adj" fmla="val 3500"/>
            </a:avLst>
          </a:prstGeom>
          <a:solidFill>
            <a:srgbClr val="F1F5F9"/>
          </a:solidFill>
          <a:ln/>
        </p:spPr>
      </p:sp>
      <p:sp>
        <p:nvSpPr>
          <p:cNvPr id="23" name="Shape 21"/>
          <p:cNvSpPr/>
          <p:nvPr/>
        </p:nvSpPr>
        <p:spPr>
          <a:xfrm>
            <a:off x="6217920" y="3931920"/>
            <a:ext cx="82296" cy="1828800"/>
          </a:xfrm>
          <a:prstGeom prst="rect">
            <a:avLst/>
          </a:prstGeom>
          <a:solidFill>
            <a:srgbClr val="DC2626"/>
          </a:solidFill>
          <a:ln/>
        </p:spPr>
      </p:sp>
      <p:sp>
        <p:nvSpPr>
          <p:cNvPr id="24" name="Text 22"/>
          <p:cNvSpPr/>
          <p:nvPr/>
        </p:nvSpPr>
        <p:spPr>
          <a:xfrm>
            <a:off x="6492240" y="4096512"/>
            <a:ext cx="5029200" cy="457200"/>
          </a:xfrm>
          <a:prstGeom prst="rect">
            <a:avLst/>
          </a:prstGeom>
          <a:noFill/>
          <a:ln/>
        </p:spPr>
        <p:txBody>
          <a:bodyPr wrap="square" lIns="0" tIns="0" rIns="0" bIns="0" rtlCol="0" anchor="t"/>
          <a:lstStyle/>
          <a:p>
            <a:pPr indent="0" marL="0">
              <a:buNone/>
            </a:pPr>
            <a:r>
              <a:rPr lang="en-US" sz="1800" dirty="0">
                <a:solidFill>
                  <a:srgbClr val="DC2626"/>
                </a:solidFill>
                <a:latin typeface="Calibri" pitchFamily="34" charset="0"/>
                <a:ea typeface="Calibri" pitchFamily="34" charset="-122"/>
                <a:cs typeface="Calibri" pitchFamily="34" charset="-120"/>
              </a:rPr>
              <a:t>💰  </a:t>
            </a:r>
            <a:pPr indent="0" marL="0">
              <a:buNone/>
            </a:pPr>
            <a:r>
              <a:rPr lang="en-US" sz="1600" b="1" dirty="0">
                <a:solidFill>
                  <a:srgbClr val="DC2626"/>
                </a:solidFill>
                <a:latin typeface="Calibri" pitchFamily="34" charset="0"/>
                <a:ea typeface="Calibri" pitchFamily="34" charset="-122"/>
                <a:cs typeface="Calibri" pitchFamily="34" charset="-120"/>
              </a:rPr>
              <a:t>Money found proactively</a:t>
            </a:r>
            <a:endParaRPr lang="en-US" sz="1800" dirty="0"/>
          </a:p>
        </p:txBody>
      </p:sp>
      <p:sp>
        <p:nvSpPr>
          <p:cNvPr id="25" name="Text 23"/>
          <p:cNvSpPr/>
          <p:nvPr/>
        </p:nvSpPr>
        <p:spPr>
          <a:xfrm>
            <a:off x="649224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The agent watches all parts continuously and flags overpayment and pricing risk by itself, quantified in £/yr.</a:t>
            </a:r>
            <a:endParaRPr lang="en-US" sz="1200" dirty="0"/>
          </a:p>
        </p:txBody>
      </p:sp>
      <p:sp>
        <p:nvSpPr>
          <p:cNvPr id="26" name="Text 24"/>
          <p:cNvSpPr/>
          <p:nvPr/>
        </p:nvSpPr>
        <p:spPr>
          <a:xfrm>
            <a:off x="411480" y="6035040"/>
            <a:ext cx="11338560" cy="5486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And it is ours: </a:t>
            </a:r>
            <a:pPr indent="0" marL="0">
              <a:buNone/>
            </a:pPr>
            <a:r>
              <a:rPr lang="en-US" sz="1300" dirty="0">
                <a:solidFill>
                  <a:srgbClr val="334155"/>
                </a:solidFill>
                <a:latin typeface="Calibri" pitchFamily="34" charset="0"/>
                <a:ea typeface="Calibri" pitchFamily="34" charset="-122"/>
                <a:cs typeface="Calibri" pitchFamily="34" charset="-120"/>
              </a:rPr>
              <a:t>the knowledge base runs on our infrastructure and grows into a proprietary asset competitors cannot buy.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Confidence you can defend — not just assert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Every should-cost now carries two ranges — the physics estimate, and an </a:t>
            </a:r>
            <a:pPr indent="0" marL="0">
              <a:buNone/>
            </a:pPr>
            <a:r>
              <a:rPr lang="en-US" sz="1350" b="1" dirty="0">
                <a:solidFill>
                  <a:srgbClr val="0F172A"/>
                </a:solidFill>
                <a:latin typeface="Calibri" pitchFamily="34" charset="0"/>
                <a:ea typeface="Calibri" pitchFamily="34" charset="-122"/>
                <a:cs typeface="Calibri" pitchFamily="34" charset="-120"/>
              </a:rPr>
              <a:t>empirical band proven against your own logged quotes.</a:t>
            </a:r>
            <a:endParaRPr lang="en-US" sz="1350" dirty="0"/>
          </a:p>
        </p:txBody>
      </p:sp>
      <p:sp>
        <p:nvSpPr>
          <p:cNvPr id="11" name="Shape 9"/>
          <p:cNvSpPr/>
          <p:nvPr/>
        </p:nvSpPr>
        <p:spPr>
          <a:xfrm>
            <a:off x="411480" y="2286000"/>
            <a:ext cx="5532120" cy="2286000"/>
          </a:xfrm>
          <a:prstGeom prst="roundRect">
            <a:avLst>
              <a:gd name="adj" fmla="val 2400"/>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Physics prior (Monte-Carlo)</a:t>
            </a:r>
            <a:endParaRPr lang="en-US" sz="1400" dirty="0"/>
          </a:p>
        </p:txBody>
      </p:sp>
      <p:sp>
        <p:nvSpPr>
          <p:cNvPr id="14" name="Text 12"/>
          <p:cNvSpPr/>
          <p:nvPr/>
        </p:nvSpPr>
        <p:spPr>
          <a:xfrm>
            <a:off x="68580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How well the inputs are known — before you have any real quotes.</a:t>
            </a:r>
            <a:endParaRPr lang="en-US" sz="1200" dirty="0"/>
          </a:p>
          <a:p>
            <a:pPr indent="0" marL="0">
              <a:lnSpc>
                <a:spcPct val="115000"/>
              </a:lnSpc>
              <a:spcAft>
                <a:spcPts val="800"/>
              </a:spcAft>
              <a:buNone/>
            </a:pPr>
            <a:r>
              <a:rPr lang="en-US" sz="1400" b="1" dirty="0">
                <a:solidFill>
                  <a:srgbClr val="0F172A"/>
                </a:solidFill>
                <a:latin typeface="Calibri" pitchFamily="34" charset="0"/>
                <a:ea typeface="Calibri" pitchFamily="34" charset="-122"/>
                <a:cs typeface="Calibri" pitchFamily="34" charset="-120"/>
              </a:rPr>
              <a:t>Example:  £86.34  ± 3.4%</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Always available, every part, every commodity.</a:t>
            </a:r>
            <a:endParaRPr lang="en-US" sz="1200" dirty="0"/>
          </a:p>
        </p:txBody>
      </p:sp>
      <p:sp>
        <p:nvSpPr>
          <p:cNvPr id="15" name="Shape 13"/>
          <p:cNvSpPr/>
          <p:nvPr/>
        </p:nvSpPr>
        <p:spPr>
          <a:xfrm>
            <a:off x="6263640" y="2286000"/>
            <a:ext cx="5532120" cy="2286000"/>
          </a:xfrm>
          <a:prstGeom prst="roundRect">
            <a:avLst>
              <a:gd name="adj" fmla="val 2400"/>
            </a:avLst>
          </a:prstGeom>
          <a:solidFill>
            <a:srgbClr val="EFF6FF"/>
          </a:solidFill>
          <a:ln/>
        </p:spPr>
      </p:sp>
      <p:sp>
        <p:nvSpPr>
          <p:cNvPr id="16" name="Shape 14"/>
          <p:cNvSpPr/>
          <p:nvPr/>
        </p:nvSpPr>
        <p:spPr>
          <a:xfrm>
            <a:off x="6263640" y="2286000"/>
            <a:ext cx="5532120" cy="82296"/>
          </a:xfrm>
          <a:prstGeom prst="rect">
            <a:avLst/>
          </a:prstGeom>
          <a:solidFill>
            <a:srgbClr val="059669"/>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059669"/>
                </a:solidFill>
                <a:latin typeface="Calibri" pitchFamily="34" charset="0"/>
                <a:ea typeface="Calibri" pitchFamily="34" charset="-122"/>
                <a:cs typeface="Calibri" pitchFamily="34" charset="-120"/>
              </a:rPr>
              <a:t>Empirical band (conformal)</a:t>
            </a:r>
            <a:endParaRPr lang="en-US" sz="1400" dirty="0"/>
          </a:p>
        </p:txBody>
      </p:sp>
      <p:sp>
        <p:nvSpPr>
          <p:cNvPr id="18" name="Text 16"/>
          <p:cNvSpPr/>
          <p:nvPr/>
        </p:nvSpPr>
        <p:spPr>
          <a:xfrm>
            <a:off x="653796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Proven against the quotes YOU logged — with a coverage guarantee.</a:t>
            </a:r>
            <a:endParaRPr lang="en-US" sz="1200" dirty="0"/>
          </a:p>
          <a:p>
            <a:pPr indent="0" marL="0">
              <a:lnSpc>
                <a:spcPct val="115000"/>
              </a:lnSpc>
              <a:spcAft>
                <a:spcPts val="800"/>
              </a:spcAft>
              <a:buNone/>
            </a:pPr>
            <a:r>
              <a:rPr lang="en-US" sz="1300" b="1" dirty="0">
                <a:solidFill>
                  <a:srgbClr val="0F172A"/>
                </a:solidFill>
                <a:latin typeface="Calibri" pitchFamily="34" charset="0"/>
                <a:ea typeface="Calibri" pitchFamily="34" charset="-122"/>
                <a:cs typeface="Calibri" pitchFamily="34" charset="-120"/>
              </a:rPr>
              <a:t>Example:  90% of your quotes land within  ± 6.5%  →  £81.54 – £92.88</a:t>
            </a:r>
            <a:endParaRPr lang="en-US" sz="1200" dirty="0"/>
          </a:p>
          <a:p>
            <a:pPr indent="0" marL="0">
              <a:lnSpc>
                <a:spcPct val="115000"/>
              </a:lnSpc>
              <a:spcAft>
                <a:spcPts val="800"/>
              </a:spcAft>
              <a:buNone/>
            </a:pPr>
            <a:r>
              <a:rPr lang="en-US" sz="1100" i="1" dirty="0">
                <a:solidFill>
                  <a:srgbClr val="059669"/>
                </a:solidFill>
                <a:latin typeface="Calibri" pitchFamily="34" charset="0"/>
                <a:ea typeface="Calibri" pitchFamily="34" charset="-122"/>
                <a:cs typeface="Calibri" pitchFamily="34" charset="-120"/>
              </a:rPr>
              <a:t>Tightens automatically as more quotes are logged.</a:t>
            </a:r>
            <a:endParaRPr lang="en-US" sz="1200" dirty="0"/>
          </a:p>
        </p:txBody>
      </p:sp>
      <p:sp>
        <p:nvSpPr>
          <p:cNvPr id="19" name="Shape 17"/>
          <p:cNvSpPr/>
          <p:nvPr/>
        </p:nvSpPr>
        <p:spPr>
          <a:xfrm>
            <a:off x="411480" y="4800600"/>
            <a:ext cx="11384280" cy="1371600"/>
          </a:xfrm>
          <a:prstGeom prst="roundRect">
            <a:avLst>
              <a:gd name="adj" fmla="val 4000"/>
            </a:avLst>
          </a:prstGeom>
          <a:solidFill>
            <a:srgbClr val="EFF6FF"/>
          </a:solidFill>
          <a:ln/>
        </p:spPr>
      </p:sp>
      <p:sp>
        <p:nvSpPr>
          <p:cNvPr id="20" name="Text 18"/>
          <p:cNvSpPr/>
          <p:nvPr/>
        </p:nvSpPr>
        <p:spPr>
          <a:xfrm>
            <a:off x="685800" y="4983480"/>
            <a:ext cx="10881360" cy="1097280"/>
          </a:xfrm>
          <a:prstGeom prst="rect">
            <a:avLst/>
          </a:prstGeom>
          <a:noFill/>
          <a:ln/>
        </p:spPr>
        <p:txBody>
          <a:bodyPr wrap="square" lIns="0" tIns="0" rIns="0" bIns="0" rtlCol="0" anchor="t"/>
          <a:lstStyle/>
          <a:p>
            <a:pPr indent="0" marL="0">
              <a:lnSpc>
                <a:spcPct val="120000"/>
              </a:lnSpc>
              <a:buNone/>
            </a:pPr>
            <a:r>
              <a:rPr lang="en-US" sz="1300" b="1" dirty="0">
                <a:solidFill>
                  <a:srgbClr val="2563EB"/>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a buyer can’t defend "trust me, ±5%". They CAN defend "90% of our real quotes for this family landed within ±6.5%." The band edge is an observed error — evidence, not an assertion. It is the honest uncertainty no competitor states this way.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agent learns what actually earns money</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autonomous agent no longer just finds gaps — it learns which findings </a:t>
            </a:r>
            <a:pPr indent="0" marL="0">
              <a:buNone/>
            </a:pPr>
            <a:r>
              <a:rPr lang="en-US" sz="1350" b="1" dirty="0">
                <a:solidFill>
                  <a:srgbClr val="0F172A"/>
                </a:solidFill>
                <a:latin typeface="Calibri" pitchFamily="34" charset="0"/>
                <a:ea typeface="Calibri" pitchFamily="34" charset="-122"/>
                <a:cs typeface="Calibri" pitchFamily="34" charset="-120"/>
              </a:rPr>
              <a:t>actually convert into savings, and re-ranks by the money it can really recover.</a:t>
            </a:r>
            <a:endParaRPr lang="en-US" sz="1350" dirty="0"/>
          </a:p>
        </p:txBody>
      </p:sp>
      <p:sp>
        <p:nvSpPr>
          <p:cNvPr id="11" name="Shape 9"/>
          <p:cNvSpPr/>
          <p:nvPr/>
        </p:nvSpPr>
        <p:spPr>
          <a:xfrm>
            <a:off x="411480" y="2286000"/>
            <a:ext cx="11384280" cy="457200"/>
          </a:xfrm>
          <a:prstGeom prst="rect">
            <a:avLst/>
          </a:prstGeom>
          <a:solidFill>
            <a:srgbClr val="0F172A"/>
          </a:solidFill>
          <a:ln/>
        </p:spPr>
      </p:sp>
      <p:sp>
        <p:nvSpPr>
          <p:cNvPr id="12" name="Text 10"/>
          <p:cNvSpPr/>
          <p:nvPr/>
        </p:nvSpPr>
        <p:spPr>
          <a:xfrm>
            <a:off x="54864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Finding</a:t>
            </a:r>
            <a:endParaRPr lang="en-US" sz="1150" dirty="0"/>
          </a:p>
        </p:txBody>
      </p:sp>
      <p:sp>
        <p:nvSpPr>
          <p:cNvPr id="13" name="Text 11"/>
          <p:cNvSpPr/>
          <p:nvPr/>
        </p:nvSpPr>
        <p:spPr>
          <a:xfrm>
            <a:off x="40233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Raw gap (impact)</a:t>
            </a:r>
            <a:endParaRPr lang="en-US" sz="1150" dirty="0"/>
          </a:p>
        </p:txBody>
      </p:sp>
      <p:sp>
        <p:nvSpPr>
          <p:cNvPr id="14" name="Text 12"/>
          <p:cNvSpPr/>
          <p:nvPr/>
        </p:nvSpPr>
        <p:spPr>
          <a:xfrm>
            <a:off x="67665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Learned conversion</a:t>
            </a:r>
            <a:endParaRPr lang="en-US" sz="1150" dirty="0"/>
          </a:p>
        </p:txBody>
      </p:sp>
      <p:sp>
        <p:nvSpPr>
          <p:cNvPr id="15" name="Text 13"/>
          <p:cNvSpPr/>
          <p:nvPr/>
        </p:nvSpPr>
        <p:spPr>
          <a:xfrm>
            <a:off x="932688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Expected realizable</a:t>
            </a:r>
            <a:endParaRPr lang="en-US" sz="1150" dirty="0"/>
          </a:p>
        </p:txBody>
      </p:sp>
      <p:sp>
        <p:nvSpPr>
          <p:cNvPr id="16" name="Shape 14"/>
          <p:cNvSpPr/>
          <p:nvPr/>
        </p:nvSpPr>
        <p:spPr>
          <a:xfrm>
            <a:off x="411480" y="2743200"/>
            <a:ext cx="11384280" cy="548640"/>
          </a:xfrm>
          <a:prstGeom prst="rect">
            <a:avLst/>
          </a:prstGeom>
          <a:solidFill>
            <a:srgbClr val="F1F5F9"/>
          </a:solidFill>
          <a:ln/>
        </p:spPr>
      </p:sp>
      <p:sp>
        <p:nvSpPr>
          <p:cNvPr id="17" name="Text 15"/>
          <p:cNvSpPr/>
          <p:nvPr/>
        </p:nvSpPr>
        <p:spPr>
          <a:xfrm>
            <a:off x="548640" y="2871216"/>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Cast Housing</a:t>
            </a:r>
            <a:endParaRPr lang="en-US" sz="1250" dirty="0"/>
          </a:p>
        </p:txBody>
      </p:sp>
      <p:sp>
        <p:nvSpPr>
          <p:cNvPr id="18" name="Text 16"/>
          <p:cNvSpPr/>
          <p:nvPr/>
        </p:nvSpPr>
        <p:spPr>
          <a:xfrm>
            <a:off x="4023360" y="2871216"/>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£200k/yr</a:t>
            </a:r>
            <a:endParaRPr lang="en-US" sz="1200" dirty="0"/>
          </a:p>
        </p:txBody>
      </p:sp>
      <p:sp>
        <p:nvSpPr>
          <p:cNvPr id="19" name="Text 17"/>
          <p:cNvSpPr/>
          <p:nvPr/>
        </p:nvSpPr>
        <p:spPr>
          <a:xfrm>
            <a:off x="6766560" y="2871216"/>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 — rarely closes</a:t>
            </a:r>
            <a:endParaRPr lang="en-US" sz="1200" dirty="0"/>
          </a:p>
        </p:txBody>
      </p:sp>
      <p:sp>
        <p:nvSpPr>
          <p:cNvPr id="20" name="Text 18"/>
          <p:cNvSpPr/>
          <p:nvPr/>
        </p:nvSpPr>
        <p:spPr>
          <a:xfrm>
            <a:off x="9326880" y="2871216"/>
            <a:ext cx="2377440" cy="32004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£40k</a:t>
            </a:r>
            <a:endParaRPr lang="en-US" sz="1300" dirty="0"/>
          </a:p>
        </p:txBody>
      </p:sp>
      <p:sp>
        <p:nvSpPr>
          <p:cNvPr id="21" name="Shape 19"/>
          <p:cNvSpPr/>
          <p:nvPr/>
        </p:nvSpPr>
        <p:spPr>
          <a:xfrm>
            <a:off x="411480" y="3310128"/>
            <a:ext cx="11384280" cy="548640"/>
          </a:xfrm>
          <a:prstGeom prst="rect">
            <a:avLst/>
          </a:prstGeom>
          <a:solidFill>
            <a:srgbClr val="FFFFFF"/>
          </a:solidFill>
          <a:ln/>
        </p:spPr>
      </p:sp>
      <p:sp>
        <p:nvSpPr>
          <p:cNvPr id="22" name="Text 20"/>
          <p:cNvSpPr/>
          <p:nvPr/>
        </p:nvSpPr>
        <p:spPr>
          <a:xfrm>
            <a:off x="548640" y="3438144"/>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Machined Knuckle</a:t>
            </a:r>
            <a:endParaRPr lang="en-US" sz="1250" dirty="0"/>
          </a:p>
        </p:txBody>
      </p:sp>
      <p:sp>
        <p:nvSpPr>
          <p:cNvPr id="23" name="Text 21"/>
          <p:cNvSpPr/>
          <p:nvPr/>
        </p:nvSpPr>
        <p:spPr>
          <a:xfrm>
            <a:off x="4023360" y="3438144"/>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£100k/yr</a:t>
            </a:r>
            <a:endParaRPr lang="en-US" sz="1200" dirty="0"/>
          </a:p>
        </p:txBody>
      </p:sp>
      <p:sp>
        <p:nvSpPr>
          <p:cNvPr id="24" name="Text 22"/>
          <p:cNvSpPr/>
          <p:nvPr/>
        </p:nvSpPr>
        <p:spPr>
          <a:xfrm>
            <a:off x="6766560" y="3438144"/>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80% — usually closes</a:t>
            </a:r>
            <a:endParaRPr lang="en-US" sz="1200" dirty="0"/>
          </a:p>
        </p:txBody>
      </p:sp>
      <p:sp>
        <p:nvSpPr>
          <p:cNvPr id="25" name="Text 23"/>
          <p:cNvSpPr/>
          <p:nvPr/>
        </p:nvSpPr>
        <p:spPr>
          <a:xfrm>
            <a:off x="9326880" y="3438144"/>
            <a:ext cx="2377440" cy="320040"/>
          </a:xfrm>
          <a:prstGeom prst="rect">
            <a:avLst/>
          </a:prstGeom>
          <a:noFill/>
          <a:ln/>
        </p:spPr>
        <p:txBody>
          <a:bodyPr wrap="square" lIns="0" tIns="0" rIns="0" bIns="0" rtlCol="0" anchor="t"/>
          <a:lstStyle/>
          <a:p>
            <a:pPr indent="0" marL="0">
              <a:buNone/>
            </a:pPr>
            <a:r>
              <a:rPr lang="en-US" sz="1300" b="1" dirty="0">
                <a:solidFill>
                  <a:srgbClr val="059669"/>
                </a:solidFill>
                <a:latin typeface="Calibri" pitchFamily="34" charset="0"/>
                <a:ea typeface="Calibri" pitchFamily="34" charset="-122"/>
                <a:cs typeface="Calibri" pitchFamily="34" charset="-120"/>
              </a:rPr>
              <a:t>£80k</a:t>
            </a:r>
            <a:endParaRPr lang="en-US" sz="1300" dirty="0"/>
          </a:p>
        </p:txBody>
      </p:sp>
      <p:sp>
        <p:nvSpPr>
          <p:cNvPr id="26" name="Shape 24"/>
          <p:cNvSpPr/>
          <p:nvPr/>
        </p:nvSpPr>
        <p:spPr>
          <a:xfrm>
            <a:off x="411480" y="4114800"/>
            <a:ext cx="11384280" cy="868680"/>
          </a:xfrm>
          <a:prstGeom prst="roundRect">
            <a:avLst>
              <a:gd name="adj" fmla="val 8421"/>
            </a:avLst>
          </a:prstGeom>
          <a:solidFill>
            <a:srgbClr val="EFF6FF"/>
          </a:solidFill>
          <a:ln/>
        </p:spPr>
      </p:sp>
      <p:sp>
        <p:nvSpPr>
          <p:cNvPr id="27" name="Text 25"/>
          <p:cNvSpPr/>
          <p:nvPr/>
        </p:nvSpPr>
        <p:spPr>
          <a:xfrm>
            <a:off x="685800" y="4261104"/>
            <a:ext cx="10881360" cy="640080"/>
          </a:xfrm>
          <a:prstGeom prst="rect">
            <a:avLst/>
          </a:prstGeom>
          <a:noFill/>
          <a:ln/>
        </p:spPr>
        <p:txBody>
          <a:bodyPr wrap="square" lIns="0" tIns="0" rIns="0" bIns="0" rtlCol="0" anchor="t"/>
          <a:lstStyle/>
          <a:p>
            <a:pPr indent="0" marL="0">
              <a:lnSpc>
                <a:spcPct val="120000"/>
              </a:lnSpc>
              <a:buNone/>
            </a:pPr>
            <a:r>
              <a:rPr lang="en-US" sz="1250" b="1" dirty="0">
                <a:solidFill>
                  <a:srgbClr val="2563EB"/>
                </a:solidFill>
                <a:latin typeface="Calibri" pitchFamily="34" charset="0"/>
                <a:ea typeface="Calibri" pitchFamily="34" charset="-122"/>
                <a:cs typeface="Calibri" pitchFamily="34" charset="-120"/>
              </a:rPr>
              <a:t>The result: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the machining finding — HALF the raw gap — now ranks ABOVE the casting one, because the agent learned casting renegotiations don’t close. It stops shouting about theoretical money and surfaces the money you can get.</a:t>
            </a:r>
            <a:endParaRPr lang="en-US" sz="1250" dirty="0"/>
          </a:p>
        </p:txBody>
      </p:sp>
      <p:sp>
        <p:nvSpPr>
          <p:cNvPr id="28" name="Text 26"/>
          <p:cNvSpPr/>
          <p:nvPr/>
        </p:nvSpPr>
        <p:spPr>
          <a:xfrm>
            <a:off x="411480" y="5212080"/>
            <a:ext cx="11338560" cy="914400"/>
          </a:xfrm>
          <a:prstGeom prst="rect">
            <a:avLst/>
          </a:prstGeom>
          <a:noFill/>
          <a:ln/>
        </p:spPr>
        <p:txBody>
          <a:bodyPr wrap="square" lIns="0" tIns="0" rIns="0" bIns="0" rtlCol="0" anchor="t"/>
          <a:lstStyle/>
          <a:p>
            <a:pPr indent="0" marL="0">
              <a:lnSpc>
                <a:spcPct val="120000"/>
              </a:lnSpc>
              <a:buNone/>
            </a:pPr>
            <a:r>
              <a:rPr lang="en-US" sz="1300" b="1" dirty="0">
                <a:solidFill>
                  <a:srgbClr val="059669"/>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sourcing time is scarce. The agent spends it where the return is real — and tracks the £ actually saved, so you can prove the tool paid for itself. One click ("Actioned £") teaches it after every negotiation.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negotiation coach — it hands you the argument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tool now knows </a:t>
            </a:r>
            <a:pPr indent="0" marL="0">
              <a:buNone/>
            </a:pPr>
            <a:r>
              <a:rPr lang="en-US" sz="1350" b="1" i="1" dirty="0">
                <a:solidFill>
                  <a:srgbClr val="0F172A"/>
                </a:solidFill>
                <a:latin typeface="Calibri" pitchFamily="34" charset="0"/>
                <a:ea typeface="Calibri" pitchFamily="34" charset="-122"/>
                <a:cs typeface="Calibri" pitchFamily="34" charset="-120"/>
              </a:rPr>
              <a:t>why</a:t>
            </a:r>
            <a:pPr indent="0" marL="0">
              <a:buNone/>
            </a:pPr>
            <a:r>
              <a:rPr lang="en-US" sz="1350" dirty="0">
                <a:solidFill>
                  <a:srgbClr val="334155"/>
                </a:solidFill>
                <a:latin typeface="Calibri" pitchFamily="34" charset="0"/>
                <a:ea typeface="Calibri" pitchFamily="34" charset="-122"/>
                <a:cs typeface="Calibri" pitchFamily="34" charset="-120"/>
              </a:rPr>
              <a:t> a part costs what it does — and turns that into the sentence that wins the negotiation.</a:t>
            </a:r>
            <a:endParaRPr lang="en-US" sz="1350" dirty="0"/>
          </a:p>
        </p:txBody>
      </p:sp>
      <p:sp>
        <p:nvSpPr>
          <p:cNvPr id="11" name="Shape 9"/>
          <p:cNvSpPr/>
          <p:nvPr/>
        </p:nvSpPr>
        <p:spPr>
          <a:xfrm>
            <a:off x="411480" y="2286000"/>
            <a:ext cx="11384280" cy="1828800"/>
          </a:xfrm>
          <a:prstGeom prst="roundRect">
            <a:avLst>
              <a:gd name="adj" fmla="val 2500"/>
            </a:avLst>
          </a:prstGeom>
          <a:solidFill>
            <a:srgbClr val="EFF6FF"/>
          </a:solidFill>
          <a:ln/>
        </p:spPr>
      </p:sp>
      <p:sp>
        <p:nvSpPr>
          <p:cNvPr id="12" name="Shape 10"/>
          <p:cNvSpPr/>
          <p:nvPr/>
        </p:nvSpPr>
        <p:spPr>
          <a:xfrm>
            <a:off x="411480" y="2286000"/>
            <a:ext cx="82296" cy="1828800"/>
          </a:xfrm>
          <a:prstGeom prst="rect">
            <a:avLst/>
          </a:prstGeom>
          <a:solidFill>
            <a:srgbClr val="2563EB"/>
          </a:solidFill>
          <a:ln/>
        </p:spPr>
      </p:sp>
      <p:sp>
        <p:nvSpPr>
          <p:cNvPr id="13" name="Text 11"/>
          <p:cNvSpPr/>
          <p:nvPr/>
        </p:nvSpPr>
        <p:spPr>
          <a:xfrm>
            <a:off x="731520" y="2487168"/>
            <a:ext cx="10789920" cy="320040"/>
          </a:xfrm>
          <a:prstGeom prst="rect">
            <a:avLst/>
          </a:prstGeom>
          <a:noFill/>
          <a:ln/>
        </p:spPr>
        <p:txBody>
          <a:bodyPr wrap="square" lIns="0" tIns="0" rIns="0" bIns="0" rtlCol="0" anchor="t"/>
          <a:lstStyle/>
          <a:p>
            <a:pPr indent="0" marL="0">
              <a:buNone/>
            </a:pPr>
            <a:r>
              <a:rPr lang="en-US" sz="1200" b="1" dirty="0">
                <a:solidFill>
                  <a:srgbClr val="2563EB"/>
                </a:solidFill>
                <a:latin typeface="Calibri" pitchFamily="34" charset="0"/>
                <a:ea typeface="Calibri" pitchFamily="34" charset="-122"/>
                <a:cs typeface="Calibri" pitchFamily="34" charset="-120"/>
              </a:rPr>
              <a:t>Live example — real output from the tool</a:t>
            </a:r>
            <a:endParaRPr lang="en-US" sz="1200" dirty="0"/>
          </a:p>
        </p:txBody>
      </p:sp>
      <p:sp>
        <p:nvSpPr>
          <p:cNvPr id="14" name="Text 12"/>
          <p:cNvSpPr/>
          <p:nvPr/>
        </p:nvSpPr>
        <p:spPr>
          <a:xfrm>
            <a:off x="731520" y="2852928"/>
            <a:ext cx="10789920" cy="1188720"/>
          </a:xfrm>
          <a:prstGeom prst="rect">
            <a:avLst/>
          </a:prstGeom>
          <a:noFill/>
          <a:ln/>
        </p:spPr>
        <p:txBody>
          <a:bodyPr wrap="square" lIns="0" tIns="0" rIns="0" bIns="0" rtlCol="0" anchor="t"/>
          <a:lstStyle/>
          <a:p>
            <a:pPr indent="0" marL="0">
              <a:lnSpc>
                <a:spcPct val="130000"/>
              </a:lnSpc>
              <a:buNone/>
            </a:pPr>
            <a:r>
              <a:rPr lang="en-US" sz="1400" b="1" dirty="0">
                <a:solidFill>
                  <a:srgbClr val="0F172A"/>
                </a:solidFill>
                <a:latin typeface="Calibri" pitchFamily="34" charset="0"/>
                <a:ea typeface="Calibri" pitchFamily="34" charset="-122"/>
                <a:cs typeface="Calibri" pitchFamily="34" charset="-120"/>
              </a:rPr>
              <a:t>“Material is £8.39 of this part, driven by Aluminium. Every 1% move in the Aluminium index shifts the piece price by £0.11. </a:t>
            </a:r>
            <a:pPr indent="0" marL="0">
              <a:lnSpc>
                <a:spcPct val="130000"/>
              </a:lnSpc>
              <a:buNone/>
            </a:pPr>
            <a:r>
              <a:rPr lang="en-US" sz="1400" b="1" dirty="0">
                <a:solidFill>
                  <a:srgbClr val="7C3AED"/>
                </a:solidFill>
                <a:latin typeface="Calibri" pitchFamily="34" charset="0"/>
                <a:ea typeface="Calibri" pitchFamily="34" charset="-122"/>
                <a:cs typeface="Calibri" pitchFamily="34" charset="-120"/>
              </a:rPr>
              <a:t>A quote of £95 is only justified if Aluminium were ~14% above today’s index — ask the supplier to show that, or hold at £86.34.”</a:t>
            </a:r>
            <a:endParaRPr lang="en-US" sz="1400" dirty="0"/>
          </a:p>
        </p:txBody>
      </p:sp>
      <p:sp>
        <p:nvSpPr>
          <p:cNvPr id="15" name="Shape 13"/>
          <p:cNvSpPr/>
          <p:nvPr/>
        </p:nvSpPr>
        <p:spPr>
          <a:xfrm>
            <a:off x="411480" y="4343400"/>
            <a:ext cx="5532120" cy="1828800"/>
          </a:xfrm>
          <a:prstGeom prst="roundRect">
            <a:avLst>
              <a:gd name="adj" fmla="val 3000"/>
            </a:avLst>
          </a:prstGeom>
          <a:solidFill>
            <a:srgbClr val="F1F5F9"/>
          </a:solidFill>
          <a:ln/>
        </p:spPr>
      </p:sp>
      <p:sp>
        <p:nvSpPr>
          <p:cNvPr id="16" name="Text 14"/>
          <p:cNvSpPr/>
          <p:nvPr/>
        </p:nvSpPr>
        <p:spPr>
          <a:xfrm>
            <a:off x="68580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F172A"/>
                </a:solidFill>
                <a:latin typeface="Calibri" pitchFamily="34" charset="0"/>
                <a:ea typeface="Calibri" pitchFamily="34" charset="-122"/>
                <a:cs typeface="Calibri" pitchFamily="34" charset="-120"/>
              </a:rPr>
              <a:t>What it does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Links the material to its commodity index, then works out — through the same maths the engine uses — exactly how much a supplier’s price implies the metal has moved.</a:t>
            </a:r>
            <a:endParaRPr lang="en-US" sz="1350" dirty="0"/>
          </a:p>
        </p:txBody>
      </p:sp>
      <p:sp>
        <p:nvSpPr>
          <p:cNvPr id="17" name="Shape 15"/>
          <p:cNvSpPr/>
          <p:nvPr/>
        </p:nvSpPr>
        <p:spPr>
          <a:xfrm>
            <a:off x="6263640" y="4343400"/>
            <a:ext cx="5532120" cy="1828800"/>
          </a:xfrm>
          <a:prstGeom prst="roundRect">
            <a:avLst>
              <a:gd name="adj" fmla="val 3000"/>
            </a:avLst>
          </a:prstGeom>
          <a:solidFill>
            <a:srgbClr val="EFF6FF"/>
          </a:solidFill>
          <a:ln/>
        </p:spPr>
      </p:sp>
      <p:sp>
        <p:nvSpPr>
          <p:cNvPr id="18" name="Text 16"/>
          <p:cNvSpPr/>
          <p:nvPr/>
        </p:nvSpPr>
        <p:spPr>
          <a:xfrm>
            <a:off x="653796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59669"/>
                </a:solidFill>
                <a:latin typeface="Calibri" pitchFamily="34" charset="0"/>
                <a:ea typeface="Calibri" pitchFamily="34" charset="-122"/>
                <a:cs typeface="Calibri" pitchFamily="34" charset="-120"/>
              </a:rPr>
              <a:t>Why it helps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The buyer walks in with a defensible, arithmetic counter-argument instead of "that feels high". It converts should-cost into negotiating power — the number and the words to win with it.</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Cost weather on demand — the what-if engine</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Ask "what if a commodity moves?" and get the answer instantly — for one part, or the whole portfolio.</a:t>
            </a:r>
            <a:endParaRPr lang="en-US" sz="1350" dirty="0"/>
          </a:p>
        </p:txBody>
      </p:sp>
      <p:sp>
        <p:nvSpPr>
          <p:cNvPr id="11" name="Shape 9"/>
          <p:cNvSpPr/>
          <p:nvPr/>
        </p:nvSpPr>
        <p:spPr>
          <a:xfrm>
            <a:off x="411480" y="2286000"/>
            <a:ext cx="5532120" cy="2468880"/>
          </a:xfrm>
          <a:prstGeom prst="roundRect">
            <a:avLst>
              <a:gd name="adj" fmla="val 2222"/>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One part — the live slider</a:t>
            </a:r>
            <a:endParaRPr lang="en-US" sz="1400" dirty="0"/>
          </a:p>
        </p:txBody>
      </p:sp>
      <p:sp>
        <p:nvSpPr>
          <p:cNvPr id="14" name="Text 12"/>
          <p:cNvSpPr/>
          <p:nvPr/>
        </p:nvSpPr>
        <p:spPr>
          <a:xfrm>
            <a:off x="68580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Drag a commodity −20% … +20% and the piece price recomputes as you move.</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Aluminium +15%  →  £86.34 → £87.92</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Instant sensitivity in a single gesture.</a:t>
            </a:r>
            <a:endParaRPr lang="en-US" sz="1200" dirty="0"/>
          </a:p>
        </p:txBody>
      </p:sp>
      <p:sp>
        <p:nvSpPr>
          <p:cNvPr id="15" name="Shape 13"/>
          <p:cNvSpPr/>
          <p:nvPr/>
        </p:nvSpPr>
        <p:spPr>
          <a:xfrm>
            <a:off x="6263640" y="2286000"/>
            <a:ext cx="5532120" cy="2468880"/>
          </a:xfrm>
          <a:prstGeom prst="roundRect">
            <a:avLst>
              <a:gd name="adj" fmla="val 2222"/>
            </a:avLst>
          </a:prstGeom>
          <a:solidFill>
            <a:srgbClr val="F1F5F9"/>
          </a:solidFill>
          <a:ln/>
        </p:spPr>
      </p:sp>
      <p:sp>
        <p:nvSpPr>
          <p:cNvPr id="16" name="Shape 14"/>
          <p:cNvSpPr/>
          <p:nvPr/>
        </p:nvSpPr>
        <p:spPr>
          <a:xfrm>
            <a:off x="6263640" y="2286000"/>
            <a:ext cx="5532120" cy="82296"/>
          </a:xfrm>
          <a:prstGeom prst="rect">
            <a:avLst/>
          </a:prstGeom>
          <a:solidFill>
            <a:srgbClr val="7C3AED"/>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7C3AED"/>
                </a:solidFill>
                <a:latin typeface="Calibri" pitchFamily="34" charset="0"/>
                <a:ea typeface="Calibri" pitchFamily="34" charset="-122"/>
                <a:cs typeface="Calibri" pitchFamily="34" charset="-120"/>
              </a:rPr>
              <a:t>Whole portfolio — the scenario</a:t>
            </a:r>
            <a:endParaRPr lang="en-US" sz="1400" dirty="0"/>
          </a:p>
        </p:txBody>
      </p:sp>
      <p:sp>
        <p:nvSpPr>
          <p:cNvPr id="18" name="Text 16"/>
          <p:cNvSpPr/>
          <p:nvPr/>
        </p:nvSpPr>
        <p:spPr>
          <a:xfrm>
            <a:off x="653796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Apply a move across every part at once and see who changes status.</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"If Steel +10% → 7 parts cross underwater, £X/yr at risk."</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Pre-empt losses before the market moves them.</a:t>
            </a:r>
            <a:endParaRPr lang="en-US" sz="1200" dirty="0"/>
          </a:p>
        </p:txBody>
      </p:sp>
      <p:sp>
        <p:nvSpPr>
          <p:cNvPr id="19" name="Shape 17"/>
          <p:cNvSpPr/>
          <p:nvPr/>
        </p:nvSpPr>
        <p:spPr>
          <a:xfrm>
            <a:off x="411480" y="4983480"/>
            <a:ext cx="11384280" cy="1188720"/>
          </a:xfrm>
          <a:prstGeom prst="roundRect">
            <a:avLst>
              <a:gd name="adj" fmla="val 4615"/>
            </a:avLst>
          </a:prstGeom>
          <a:solidFill>
            <a:srgbClr val="EFF6FF"/>
          </a:solidFill>
          <a:ln/>
        </p:spPr>
      </p:sp>
      <p:sp>
        <p:nvSpPr>
          <p:cNvPr id="20" name="Text 18"/>
          <p:cNvSpPr/>
          <p:nvPr/>
        </p:nvSpPr>
        <p:spPr>
          <a:xfrm>
            <a:off x="685800" y="5138928"/>
            <a:ext cx="10881360" cy="960120"/>
          </a:xfrm>
          <a:prstGeom prst="rect">
            <a:avLst/>
          </a:prstGeom>
          <a:noFill/>
          <a:ln/>
        </p:spPr>
        <p:txBody>
          <a:bodyPr wrap="square" lIns="0" tIns="0" rIns="0" bIns="0" rtlCol="0" anchor="t"/>
          <a:lstStyle/>
          <a:p>
            <a:pPr indent="0" marL="0">
              <a:lnSpc>
                <a:spcPct val="120000"/>
              </a:lnSpc>
              <a:buNone/>
            </a:pPr>
            <a:r>
              <a:rPr lang="en-US" sz="1300" b="1" dirty="0">
                <a:solidFill>
                  <a:srgbClr val="D97706"/>
                </a:solidFill>
                <a:latin typeface="Calibri" pitchFamily="34" charset="0"/>
                <a:ea typeface="Calibri" pitchFamily="34" charset="-122"/>
                <a:cs typeface="Calibri" pitchFamily="34" charset="-120"/>
              </a:rPr>
              <a:t>Honest by design: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this is a conditional — "IF the index moves" — never a price forecast. So it stays defensible even on an indicative commodity feed, and upgrades to a true forecast the day a live market feed is connected.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PCB photo → BOM → should-cost — now supplier-grade</a:t>
            </a:r>
            <a:endParaRPr lang="en-US" sz="2700" dirty="0"/>
          </a:p>
        </p:txBody>
      </p:sp>
      <p:sp>
        <p:nvSpPr>
          <p:cNvPr id="10" name="Text 8"/>
          <p:cNvSpPr/>
          <p:nvPr/>
        </p:nvSpPr>
        <p:spPr>
          <a:xfrm>
            <a:off x="411480" y="1664208"/>
            <a:ext cx="11338560" cy="384048"/>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Photograph a circuit board, get a costed bill of materials in ~60 seconds. This year we hardened it from a clever demo into a </a:t>
            </a:r>
            <a:pPr indent="0" marL="0">
              <a:buNone/>
            </a:pPr>
            <a:r>
              <a:rPr lang="en-US" sz="1300" b="1" dirty="0">
                <a:solidFill>
                  <a:srgbClr val="0F172A"/>
                </a:solidFill>
                <a:latin typeface="Calibri" pitchFamily="34" charset="0"/>
                <a:ea typeface="Calibri" pitchFamily="34" charset="-122"/>
                <a:cs typeface="Calibri" pitchFamily="34" charset="-120"/>
              </a:rPr>
              <a:t>number you can put in front of a supplier.</a:t>
            </a:r>
            <a:endParaRPr lang="en-US" sz="1300" dirty="0"/>
          </a:p>
        </p:txBody>
      </p:sp>
      <p:graphicFrame>
        <p:nvGraphicFramePr>
          <p:cNvPr id="11" name="Chart 0" descr=""/>
          <p:cNvGraphicFramePr/>
          <p:nvPr/>
        </p:nvGraphicFramePr>
        <p:xfrm>
          <a:off x="411480" y="2240280"/>
          <a:ext cx="5623560" cy="30632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411480" y="5321808"/>
            <a:ext cx="5623560" cy="384048"/>
          </a:xfrm>
          <a:prstGeom prst="rect">
            <a:avLst/>
          </a:prstGeom>
          <a:noFill/>
          <a:ln/>
        </p:spPr>
        <p:txBody>
          <a:bodyPr wrap="square" lIns="0" tIns="0" rIns="0" bIns="0" rtlCol="0" anchor="t"/>
          <a:lstStyle/>
          <a:p>
            <a:pPr indent="0" marL="0">
              <a:lnSpc>
                <a:spcPct val="105000"/>
              </a:lnSpc>
              <a:buNone/>
            </a:pPr>
            <a:r>
              <a:rPr lang="en-US" sz="1000" i="1" dirty="0">
                <a:solidFill>
                  <a:srgbClr val="64748B"/>
                </a:solidFill>
                <a:latin typeface="Calibri" pitchFamily="34" charset="0"/>
                <a:ea typeface="Calibri" pitchFamily="34" charset="-122"/>
                <a:cs typeface="Calibri" pitchFamily="34" charset="-120"/>
              </a:rPr>
              <a:t>Real automotive ECU, China @ 10k/yr — AI landed within ~5% of a half-day manual estimate, in ~60 s.</a:t>
            </a:r>
            <a:endParaRPr lang="en-US" sz="1000" dirty="0"/>
          </a:p>
        </p:txBody>
      </p:sp>
      <p:sp>
        <p:nvSpPr>
          <p:cNvPr id="13" name="Shape 10"/>
          <p:cNvSpPr/>
          <p:nvPr/>
        </p:nvSpPr>
        <p:spPr>
          <a:xfrm>
            <a:off x="6263640" y="2240280"/>
            <a:ext cx="5532120" cy="3063240"/>
          </a:xfrm>
          <a:prstGeom prst="roundRect">
            <a:avLst>
              <a:gd name="adj" fmla="val 1493"/>
            </a:avLst>
          </a:prstGeom>
          <a:solidFill>
            <a:srgbClr val="F1F5F9"/>
          </a:solidFill>
          <a:ln/>
        </p:spPr>
      </p:sp>
      <p:sp>
        <p:nvSpPr>
          <p:cNvPr id="14" name="Text 11"/>
          <p:cNvSpPr/>
          <p:nvPr/>
        </p:nvSpPr>
        <p:spPr>
          <a:xfrm>
            <a:off x="6537960" y="2395728"/>
            <a:ext cx="502920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What we fixed this year</a:t>
            </a:r>
            <a:endParaRPr lang="en-US" sz="1400" dirty="0"/>
          </a:p>
        </p:txBody>
      </p:sp>
      <p:sp>
        <p:nvSpPr>
          <p:cNvPr id="15" name="Shape 12"/>
          <p:cNvSpPr/>
          <p:nvPr/>
        </p:nvSpPr>
        <p:spPr>
          <a:xfrm>
            <a:off x="6537960" y="2834640"/>
            <a:ext cx="82296" cy="384048"/>
          </a:xfrm>
          <a:prstGeom prst="rect">
            <a:avLst/>
          </a:prstGeom>
          <a:solidFill>
            <a:srgbClr val="059669"/>
          </a:solidFill>
          <a:ln/>
        </p:spPr>
      </p:sp>
      <p:sp>
        <p:nvSpPr>
          <p:cNvPr id="16" name="Text 13"/>
          <p:cNvSpPr/>
          <p:nvPr/>
        </p:nvSpPr>
        <p:spPr>
          <a:xfrm>
            <a:off x="6784848" y="278892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Empty-BOM bug — killed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Complex boards used to return nothing; now we read every block the model emits.</a:t>
            </a:r>
            <a:endParaRPr lang="en-US" sz="1050" dirty="0"/>
          </a:p>
        </p:txBody>
      </p:sp>
      <p:sp>
        <p:nvSpPr>
          <p:cNvPr id="17" name="Shape 14"/>
          <p:cNvSpPr/>
          <p:nvPr/>
        </p:nvSpPr>
        <p:spPr>
          <a:xfrm>
            <a:off x="6537960" y="3337560"/>
            <a:ext cx="82296" cy="384048"/>
          </a:xfrm>
          <a:prstGeom prst="rect">
            <a:avLst/>
          </a:prstGeom>
          <a:solidFill>
            <a:srgbClr val="2563EB"/>
          </a:solidFill>
          <a:ln/>
        </p:spPr>
      </p:sp>
      <p:sp>
        <p:nvSpPr>
          <p:cNvPr id="18" name="Text 15"/>
          <p:cNvSpPr/>
          <p:nvPr/>
        </p:nvSpPr>
        <p:spPr>
          <a:xfrm>
            <a:off x="6784848" y="329184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Catalogue grounding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Confirmed parts snap to real market prices — offline, no external API.</a:t>
            </a:r>
            <a:endParaRPr lang="en-US" sz="1050" dirty="0"/>
          </a:p>
        </p:txBody>
      </p:sp>
      <p:sp>
        <p:nvSpPr>
          <p:cNvPr id="19" name="Shape 16"/>
          <p:cNvSpPr/>
          <p:nvPr/>
        </p:nvSpPr>
        <p:spPr>
          <a:xfrm>
            <a:off x="6537960" y="3840480"/>
            <a:ext cx="82296" cy="384048"/>
          </a:xfrm>
          <a:prstGeom prst="rect">
            <a:avLst/>
          </a:prstGeom>
          <a:solidFill>
            <a:srgbClr val="7C3AED"/>
          </a:solidFill>
          <a:ln/>
        </p:spPr>
      </p:sp>
      <p:sp>
        <p:nvSpPr>
          <p:cNvPr id="20" name="Text 17"/>
          <p:cNvSpPr/>
          <p:nvPr/>
        </p:nvSpPr>
        <p:spPr>
          <a:xfrm>
            <a:off x="6784848" y="379476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Class-median cap + magnitude guard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A misread part can no longer dominate: one MCU £84 → £18, capped &amp; flagged.</a:t>
            </a:r>
            <a:endParaRPr lang="en-US" sz="1050" dirty="0"/>
          </a:p>
        </p:txBody>
      </p:sp>
      <p:sp>
        <p:nvSpPr>
          <p:cNvPr id="21" name="Shape 18"/>
          <p:cNvSpPr/>
          <p:nvPr/>
        </p:nvSpPr>
        <p:spPr>
          <a:xfrm>
            <a:off x="6537960" y="4343400"/>
            <a:ext cx="82296" cy="384048"/>
          </a:xfrm>
          <a:prstGeom prst="rect">
            <a:avLst/>
          </a:prstGeom>
          <a:solidFill>
            <a:srgbClr val="0891B2"/>
          </a:solidFill>
          <a:ln/>
        </p:spPr>
      </p:sp>
      <p:sp>
        <p:nvSpPr>
          <p:cNvPr id="22" name="Text 19"/>
          <p:cNvSpPr/>
          <p:nvPr/>
        </p:nvSpPr>
        <p:spPr>
          <a:xfrm>
            <a:off x="6784848" y="429768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Deterministic fabrication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Fab is derived from stable board features — the headline no longer swings run-to-run.</a:t>
            </a:r>
            <a:endParaRPr lang="en-US" sz="1050" dirty="0"/>
          </a:p>
        </p:txBody>
      </p:sp>
      <p:sp>
        <p:nvSpPr>
          <p:cNvPr id="23" name="Shape 20"/>
          <p:cNvSpPr/>
          <p:nvPr/>
        </p:nvSpPr>
        <p:spPr>
          <a:xfrm>
            <a:off x="6537960" y="4846320"/>
            <a:ext cx="82296" cy="384048"/>
          </a:xfrm>
          <a:prstGeom prst="rect">
            <a:avLst/>
          </a:prstGeom>
          <a:solidFill>
            <a:srgbClr val="D97706"/>
          </a:solidFill>
          <a:ln/>
        </p:spPr>
      </p:sp>
      <p:sp>
        <p:nvSpPr>
          <p:cNvPr id="24" name="Text 21"/>
          <p:cNvSpPr/>
          <p:nvPr/>
        </p:nvSpPr>
        <p:spPr>
          <a:xfrm>
            <a:off x="6784848" y="480060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Confirmed vs needs-verification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The headline splits the £ you can trust from the £ to firm up.</a:t>
            </a:r>
            <a:endParaRPr lang="en-US" sz="1050" dirty="0"/>
          </a:p>
        </p:txBody>
      </p:sp>
      <p:sp>
        <p:nvSpPr>
          <p:cNvPr id="25" name="Shape 22"/>
          <p:cNvSpPr/>
          <p:nvPr/>
        </p:nvSpPr>
        <p:spPr>
          <a:xfrm>
            <a:off x="411480" y="5468112"/>
            <a:ext cx="11384280" cy="777240"/>
          </a:xfrm>
          <a:prstGeom prst="roundRect">
            <a:avLst>
              <a:gd name="adj" fmla="val 11765"/>
            </a:avLst>
          </a:prstGeom>
          <a:solidFill>
            <a:srgbClr val="EFF6FF"/>
          </a:solidFill>
          <a:ln/>
        </p:spPr>
      </p:sp>
      <p:sp>
        <p:nvSpPr>
          <p:cNvPr id="26" name="Text 23"/>
          <p:cNvSpPr/>
          <p:nvPr/>
        </p:nvSpPr>
        <p:spPr>
          <a:xfrm>
            <a:off x="685800" y="5596128"/>
            <a:ext cx="10972800" cy="548640"/>
          </a:xfrm>
          <a:prstGeom prst="rect">
            <a:avLst/>
          </a:prstGeom>
          <a:noFill/>
          <a:ln/>
        </p:spPr>
        <p:txBody>
          <a:bodyPr wrap="square" lIns="0" tIns="0" rIns="0" bIns="0" rtlCol="0" anchor="t"/>
          <a:lstStyle/>
          <a:p>
            <a:pPr indent="0" marL="0">
              <a:lnSpc>
                <a:spcPct val="115000"/>
              </a:lnSpc>
              <a:buNone/>
            </a:pPr>
            <a:r>
              <a:rPr lang="en-US" sz="1250" b="1" dirty="0">
                <a:solidFill>
                  <a:srgbClr val="2563EB"/>
                </a:solidFill>
                <a:latin typeface="Calibri" pitchFamily="34" charset="0"/>
                <a:ea typeface="Calibri" pitchFamily="34" charset="-122"/>
                <a:cs typeface="Calibri" pitchFamily="34" charset="-120"/>
              </a:rPr>
              <a:t>Result: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2–3× over-costing is gone. That live ECU came back ASIL-B, 23 BOM lines, £69.11/board — with £37.65 confirmed and £24.64 honestly flagged to verify. Same photo, same answer, every run.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DIFFERENTIATOR</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Why ours is different — glass-box autonomy</a:t>
            </a:r>
            <a:endParaRPr lang="en-US" sz="2700" dirty="0"/>
          </a:p>
        </p:txBody>
      </p:sp>
      <p:sp>
        <p:nvSpPr>
          <p:cNvPr id="10" name="Shape 8"/>
          <p:cNvSpPr/>
          <p:nvPr/>
        </p:nvSpPr>
        <p:spPr>
          <a:xfrm>
            <a:off x="411480" y="1828800"/>
            <a:ext cx="11384280" cy="1188720"/>
          </a:xfrm>
          <a:prstGeom prst="roundRect">
            <a:avLst>
              <a:gd name="adj" fmla="val 4615"/>
            </a:avLst>
          </a:prstGeom>
          <a:solidFill>
            <a:srgbClr val="EFF6FF"/>
          </a:solidFill>
          <a:ln/>
        </p:spPr>
      </p:sp>
      <p:sp>
        <p:nvSpPr>
          <p:cNvPr id="11" name="Text 9"/>
          <p:cNvSpPr/>
          <p:nvPr/>
        </p:nvSpPr>
        <p:spPr>
          <a:xfrm>
            <a:off x="685800" y="2011680"/>
            <a:ext cx="10881360" cy="914400"/>
          </a:xfrm>
          <a:prstGeom prst="rect">
            <a:avLst/>
          </a:prstGeom>
          <a:noFill/>
          <a:ln/>
        </p:spPr>
        <p:txBody>
          <a:bodyPr wrap="square" lIns="0" tIns="0" rIns="0" bIns="0" rtlCol="0" anchor="t"/>
          <a:lstStyle/>
          <a:p>
            <a:pPr indent="0" marL="0">
              <a:lnSpc>
                <a:spcPct val="120000"/>
              </a:lnSpc>
              <a:buNone/>
            </a:pPr>
            <a:r>
              <a:rPr lang="en-US" sz="1500" b="1" dirty="0">
                <a:solidFill>
                  <a:srgbClr val="2563EB"/>
                </a:solidFill>
                <a:latin typeface="Calibri" pitchFamily="34" charset="0"/>
                <a:ea typeface="Calibri" pitchFamily="34" charset="-122"/>
                <a:cs typeface="Calibri" pitchFamily="34" charset="-120"/>
              </a:rPr>
              <a:t>The principle:  </a:t>
            </a:r>
            <a:pPr indent="0" marL="0">
              <a:lnSpc>
                <a:spcPct val="120000"/>
              </a:lnSpc>
              <a:buNone/>
            </a:pPr>
            <a:r>
              <a:rPr lang="en-US" sz="1350" dirty="0">
                <a:solidFill>
                  <a:srgbClr val="334155"/>
                </a:solidFill>
                <a:latin typeface="Calibri" pitchFamily="34" charset="0"/>
                <a:ea typeface="Calibri" pitchFamily="34" charset="-122"/>
                <a:cs typeface="Calibri" pitchFamily="34" charset="-120"/>
              </a:rPr>
              <a:t>every learned or derived number stays auditable — a value a cost engineer can read and defend. No black-box weight ever touches the price. The AI narrates and explains; it never decides the number in secret.</a:t>
            </a:r>
            <a:endParaRPr lang="en-US" sz="1500" dirty="0"/>
          </a:p>
        </p:txBody>
      </p:sp>
      <p:sp>
        <p:nvSpPr>
          <p:cNvPr id="12" name="Shape 10"/>
          <p:cNvSpPr/>
          <p:nvPr/>
        </p:nvSpPr>
        <p:spPr>
          <a:xfrm>
            <a:off x="411480" y="3200400"/>
            <a:ext cx="11384280" cy="530352"/>
          </a:xfrm>
          <a:prstGeom prst="roundRect">
            <a:avLst>
              <a:gd name="adj" fmla="val 17241"/>
            </a:avLst>
          </a:prstGeom>
          <a:solidFill>
            <a:srgbClr val="F1F5F9"/>
          </a:solidFill>
          <a:ln/>
        </p:spPr>
      </p:sp>
      <p:sp>
        <p:nvSpPr>
          <p:cNvPr id="13" name="Shape 11"/>
          <p:cNvSpPr/>
          <p:nvPr/>
        </p:nvSpPr>
        <p:spPr>
          <a:xfrm>
            <a:off x="411480" y="3200400"/>
            <a:ext cx="82296" cy="530352"/>
          </a:xfrm>
          <a:prstGeom prst="rect">
            <a:avLst/>
          </a:prstGeom>
          <a:solidFill>
            <a:srgbClr val="059669"/>
          </a:solidFill>
          <a:ln/>
        </p:spPr>
      </p:sp>
      <p:sp>
        <p:nvSpPr>
          <p:cNvPr id="14" name="Text 12"/>
          <p:cNvSpPr/>
          <p:nvPr/>
        </p:nvSpPr>
        <p:spPr>
          <a:xfrm>
            <a:off x="685800" y="3319272"/>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Continuous learning</a:t>
            </a:r>
            <a:endParaRPr lang="en-US" sz="1250" dirty="0"/>
          </a:p>
        </p:txBody>
      </p:sp>
      <p:sp>
        <p:nvSpPr>
          <p:cNvPr id="15" name="Text 13"/>
          <p:cNvSpPr/>
          <p:nvPr/>
        </p:nvSpPr>
        <p:spPr>
          <a:xfrm>
            <a:off x="4114800" y="3319272"/>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Calibrates on YOUR quotes; conformal band with a guarantee</a:t>
            </a:r>
            <a:endParaRPr lang="en-US" sz="1200" dirty="0"/>
          </a:p>
        </p:txBody>
      </p:sp>
      <p:sp>
        <p:nvSpPr>
          <p:cNvPr id="16" name="Shape 14"/>
          <p:cNvSpPr/>
          <p:nvPr/>
        </p:nvSpPr>
        <p:spPr>
          <a:xfrm>
            <a:off x="411480" y="3803904"/>
            <a:ext cx="11384280" cy="530352"/>
          </a:xfrm>
          <a:prstGeom prst="roundRect">
            <a:avLst>
              <a:gd name="adj" fmla="val 17241"/>
            </a:avLst>
          </a:prstGeom>
          <a:solidFill>
            <a:srgbClr val="FFFFFF"/>
          </a:solidFill>
          <a:ln/>
        </p:spPr>
      </p:sp>
      <p:sp>
        <p:nvSpPr>
          <p:cNvPr id="17" name="Shape 15"/>
          <p:cNvSpPr/>
          <p:nvPr/>
        </p:nvSpPr>
        <p:spPr>
          <a:xfrm>
            <a:off x="411480" y="3803904"/>
            <a:ext cx="82296" cy="530352"/>
          </a:xfrm>
          <a:prstGeom prst="rect">
            <a:avLst/>
          </a:prstGeom>
          <a:solidFill>
            <a:srgbClr val="059669"/>
          </a:solidFill>
          <a:ln/>
        </p:spPr>
      </p:sp>
      <p:sp>
        <p:nvSpPr>
          <p:cNvPr id="18" name="Text 16"/>
          <p:cNvSpPr/>
          <p:nvPr/>
        </p:nvSpPr>
        <p:spPr>
          <a:xfrm>
            <a:off x="685800" y="3922776"/>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Autonomous action</a:t>
            </a:r>
            <a:endParaRPr lang="en-US" sz="1250" dirty="0"/>
          </a:p>
        </p:txBody>
      </p:sp>
      <p:sp>
        <p:nvSpPr>
          <p:cNvPr id="19" name="Text 17"/>
          <p:cNvSpPr/>
          <p:nvPr/>
        </p:nvSpPr>
        <p:spPr>
          <a:xfrm>
            <a:off x="4114800" y="3922776"/>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Agent opens findings unattended AND learns which convert</a:t>
            </a:r>
            <a:endParaRPr lang="en-US" sz="1200" dirty="0"/>
          </a:p>
        </p:txBody>
      </p:sp>
      <p:sp>
        <p:nvSpPr>
          <p:cNvPr id="20" name="Shape 18"/>
          <p:cNvSpPr/>
          <p:nvPr/>
        </p:nvSpPr>
        <p:spPr>
          <a:xfrm>
            <a:off x="411480" y="4407408"/>
            <a:ext cx="11384280" cy="530352"/>
          </a:xfrm>
          <a:prstGeom prst="roundRect">
            <a:avLst>
              <a:gd name="adj" fmla="val 17241"/>
            </a:avLst>
          </a:prstGeom>
          <a:solidFill>
            <a:srgbClr val="F1F5F9"/>
          </a:solidFill>
          <a:ln/>
        </p:spPr>
      </p:sp>
      <p:sp>
        <p:nvSpPr>
          <p:cNvPr id="21" name="Shape 19"/>
          <p:cNvSpPr/>
          <p:nvPr/>
        </p:nvSpPr>
        <p:spPr>
          <a:xfrm>
            <a:off x="411480" y="4407408"/>
            <a:ext cx="82296" cy="530352"/>
          </a:xfrm>
          <a:prstGeom prst="rect">
            <a:avLst/>
          </a:prstGeom>
          <a:solidFill>
            <a:srgbClr val="059669"/>
          </a:solidFill>
          <a:ln/>
        </p:spPr>
      </p:sp>
      <p:sp>
        <p:nvSpPr>
          <p:cNvPr id="22" name="Text 20"/>
          <p:cNvSpPr/>
          <p:nvPr/>
        </p:nvSpPr>
        <p:spPr>
          <a:xfrm>
            <a:off x="685800" y="4526280"/>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Causal reasoning</a:t>
            </a:r>
            <a:endParaRPr lang="en-US" sz="1250" dirty="0"/>
          </a:p>
        </p:txBody>
      </p:sp>
      <p:sp>
        <p:nvSpPr>
          <p:cNvPr id="23" name="Text 21"/>
          <p:cNvSpPr/>
          <p:nvPr/>
        </p:nvSpPr>
        <p:spPr>
          <a:xfrm>
            <a:off x="4114800" y="4526280"/>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Knows why a part costs what it does; coaches the negotiation</a:t>
            </a:r>
            <a:endParaRPr lang="en-US" sz="1200" dirty="0"/>
          </a:p>
        </p:txBody>
      </p:sp>
      <p:sp>
        <p:nvSpPr>
          <p:cNvPr id="24" name="Shape 22"/>
          <p:cNvSpPr/>
          <p:nvPr/>
        </p:nvSpPr>
        <p:spPr>
          <a:xfrm>
            <a:off x="411480" y="5010912"/>
            <a:ext cx="11384280" cy="530352"/>
          </a:xfrm>
          <a:prstGeom prst="roundRect">
            <a:avLst>
              <a:gd name="adj" fmla="val 17241"/>
            </a:avLst>
          </a:prstGeom>
          <a:solidFill>
            <a:srgbClr val="FFFFFF"/>
          </a:solidFill>
          <a:ln/>
        </p:spPr>
      </p:sp>
      <p:sp>
        <p:nvSpPr>
          <p:cNvPr id="25" name="Shape 23"/>
          <p:cNvSpPr/>
          <p:nvPr/>
        </p:nvSpPr>
        <p:spPr>
          <a:xfrm>
            <a:off x="411480" y="5010912"/>
            <a:ext cx="82296" cy="530352"/>
          </a:xfrm>
          <a:prstGeom prst="rect">
            <a:avLst/>
          </a:prstGeom>
          <a:solidFill>
            <a:srgbClr val="2563EB"/>
          </a:solidFill>
          <a:ln/>
        </p:spPr>
      </p:sp>
      <p:sp>
        <p:nvSpPr>
          <p:cNvPr id="26" name="Text 24"/>
          <p:cNvSpPr/>
          <p:nvPr/>
        </p:nvSpPr>
        <p:spPr>
          <a:xfrm>
            <a:off x="685800" y="5129784"/>
            <a:ext cx="3291840" cy="32004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Explainable — always</a:t>
            </a:r>
            <a:endParaRPr lang="en-US" sz="1250" dirty="0"/>
          </a:p>
        </p:txBody>
      </p:sp>
      <p:sp>
        <p:nvSpPr>
          <p:cNvPr id="27" name="Text 25"/>
          <p:cNvSpPr/>
          <p:nvPr/>
        </p:nvSpPr>
        <p:spPr>
          <a:xfrm>
            <a:off x="4114800" y="5129784"/>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Every number defensible line-by-line; the competitor’s edge is the opposite</a:t>
            </a:r>
            <a:endParaRPr lang="en-US" sz="1200" dirty="0"/>
          </a:p>
        </p:txBody>
      </p:sp>
      <p:sp>
        <p:nvSpPr>
          <p:cNvPr id="28" name="Shape 26"/>
          <p:cNvSpPr/>
          <p:nvPr/>
        </p:nvSpPr>
        <p:spPr>
          <a:xfrm>
            <a:off x="411480" y="5614416"/>
            <a:ext cx="11384280" cy="530352"/>
          </a:xfrm>
          <a:prstGeom prst="roundRect">
            <a:avLst>
              <a:gd name="adj" fmla="val 17241"/>
            </a:avLst>
          </a:prstGeom>
          <a:solidFill>
            <a:srgbClr val="F1F5F9"/>
          </a:solidFill>
          <a:ln/>
        </p:spPr>
      </p:sp>
      <p:sp>
        <p:nvSpPr>
          <p:cNvPr id="29" name="Shape 27"/>
          <p:cNvSpPr/>
          <p:nvPr/>
        </p:nvSpPr>
        <p:spPr>
          <a:xfrm>
            <a:off x="411480" y="5614416"/>
            <a:ext cx="82296" cy="530352"/>
          </a:xfrm>
          <a:prstGeom prst="rect">
            <a:avLst/>
          </a:prstGeom>
          <a:solidFill>
            <a:srgbClr val="7C3AED"/>
          </a:solidFill>
          <a:ln/>
        </p:spPr>
      </p:sp>
      <p:sp>
        <p:nvSpPr>
          <p:cNvPr id="30" name="Text 28"/>
          <p:cNvSpPr/>
          <p:nvPr/>
        </p:nvSpPr>
        <p:spPr>
          <a:xfrm>
            <a:off x="685800" y="5733288"/>
            <a:ext cx="3291840" cy="32004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Runs in your walls</a:t>
            </a:r>
            <a:endParaRPr lang="en-US" sz="1250" dirty="0"/>
          </a:p>
        </p:txBody>
      </p:sp>
      <p:sp>
        <p:nvSpPr>
          <p:cNvPr id="31" name="Text 29"/>
          <p:cNvSpPr/>
          <p:nvPr/>
        </p:nvSpPr>
        <p:spPr>
          <a:xfrm>
            <a:off x="4114800" y="5733288"/>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On-premise; the knowledge is your IP and never leaves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NEXT STEPS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Where we are, and the ask</a:t>
            </a:r>
            <a:endParaRPr lang="en-US" sz="2700" dirty="0"/>
          </a:p>
        </p:txBody>
      </p:sp>
      <p:sp>
        <p:nvSpPr>
          <p:cNvPr id="10" name="Shape 8"/>
          <p:cNvSpPr/>
          <p:nvPr/>
        </p:nvSpPr>
        <p:spPr>
          <a:xfrm>
            <a:off x="411480" y="1828800"/>
            <a:ext cx="5486400" cy="4023360"/>
          </a:xfrm>
          <a:prstGeom prst="roundRect">
            <a:avLst>
              <a:gd name="adj" fmla="val 1136"/>
            </a:avLst>
          </a:prstGeom>
          <a:solidFill>
            <a:srgbClr val="F1F5F9"/>
          </a:solidFill>
          <a:ln/>
        </p:spPr>
      </p:sp>
      <p:sp>
        <p:nvSpPr>
          <p:cNvPr id="11" name="Text 9"/>
          <p:cNvSpPr/>
          <p:nvPr/>
        </p:nvSpPr>
        <p:spPr>
          <a:xfrm>
            <a:off x="685800" y="205740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Status today</a:t>
            </a:r>
            <a:endParaRPr lang="en-US" sz="1600" dirty="0"/>
          </a:p>
        </p:txBody>
      </p:sp>
      <p:sp>
        <p:nvSpPr>
          <p:cNvPr id="12" name="Text 10"/>
          <p:cNvSpPr/>
          <p:nvPr/>
        </p:nvSpPr>
        <p:spPr>
          <a:xfrm>
            <a:off x="685800" y="256032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All capabilities built, tested (917 tests) and live — incl. 6 new for 2026</a:t>
            </a:r>
            <a:endParaRPr lang="en-US" sz="1250" dirty="0"/>
          </a:p>
        </p:txBody>
      </p:sp>
      <p:sp>
        <p:nvSpPr>
          <p:cNvPr id="13" name="Text 11"/>
          <p:cNvSpPr/>
          <p:nvPr/>
        </p:nvSpPr>
        <p:spPr>
          <a:xfrm>
            <a:off x="685800" y="306324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Verified end-to-end on the running system</a:t>
            </a:r>
            <a:endParaRPr lang="en-US" sz="1250" dirty="0"/>
          </a:p>
        </p:txBody>
      </p:sp>
      <p:sp>
        <p:nvSpPr>
          <p:cNvPr id="14" name="Text 12"/>
          <p:cNvSpPr/>
          <p:nvPr/>
        </p:nvSpPr>
        <p:spPr>
          <a:xfrm>
            <a:off x="685800" y="356616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Zero extra licence cost — built into our tool</a:t>
            </a:r>
            <a:endParaRPr lang="en-US" sz="1250" dirty="0"/>
          </a:p>
        </p:txBody>
      </p:sp>
      <p:sp>
        <p:nvSpPr>
          <p:cNvPr id="15" name="Text 13"/>
          <p:cNvSpPr/>
          <p:nvPr/>
        </p:nvSpPr>
        <p:spPr>
          <a:xfrm>
            <a:off x="685800" y="406908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Runs on-premise; no data leaves the company</a:t>
            </a:r>
            <a:endParaRPr lang="en-US" sz="1250" dirty="0"/>
          </a:p>
        </p:txBody>
      </p:sp>
      <p:sp>
        <p:nvSpPr>
          <p:cNvPr id="16" name="Text 14"/>
          <p:cNvSpPr/>
          <p:nvPr/>
        </p:nvSpPr>
        <p:spPr>
          <a:xfrm>
            <a:off x="685800" y="4709160"/>
            <a:ext cx="4937760" cy="1005840"/>
          </a:xfrm>
          <a:prstGeom prst="rect">
            <a:avLst/>
          </a:prstGeom>
          <a:noFill/>
          <a:ln/>
        </p:spPr>
        <p:txBody>
          <a:bodyPr wrap="square" lIns="0" tIns="0" rIns="0" bIns="0" rtlCol="0" anchor="t"/>
          <a:lstStyle/>
          <a:p>
            <a:pPr indent="0" marL="0">
              <a:lnSpc>
                <a:spcPct val="115000"/>
              </a:lnSpc>
              <a:buNone/>
            </a:pPr>
            <a:r>
              <a:rPr lang="en-US" sz="1200" b="1" dirty="0">
                <a:solidFill>
                  <a:srgbClr val="0F172A"/>
                </a:solidFill>
                <a:latin typeface="Calibri" pitchFamily="34" charset="0"/>
                <a:ea typeface="Calibri" pitchFamily="34" charset="-122"/>
                <a:cs typeface="Calibri" pitchFamily="34" charset="-120"/>
              </a:rPr>
              <a:t>Honest note: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intelligence starts empty and grows with use. The mechanism is proven; the value builds as we feed it.</a:t>
            </a:r>
            <a:endParaRPr lang="en-US" sz="1200" dirty="0"/>
          </a:p>
        </p:txBody>
      </p:sp>
      <p:sp>
        <p:nvSpPr>
          <p:cNvPr id="17" name="Shape 15"/>
          <p:cNvSpPr/>
          <p:nvPr/>
        </p:nvSpPr>
        <p:spPr>
          <a:xfrm>
            <a:off x="6263640" y="1828800"/>
            <a:ext cx="5532120" cy="4023360"/>
          </a:xfrm>
          <a:prstGeom prst="roundRect">
            <a:avLst>
              <a:gd name="adj" fmla="val 1136"/>
            </a:avLst>
          </a:prstGeom>
          <a:solidFill>
            <a:srgbClr val="EFF6FF"/>
          </a:solidFill>
          <a:ln/>
        </p:spPr>
      </p:sp>
      <p:sp>
        <p:nvSpPr>
          <p:cNvPr id="18" name="Text 16"/>
          <p:cNvSpPr/>
          <p:nvPr/>
        </p:nvSpPr>
        <p:spPr>
          <a:xfrm>
            <a:off x="6537960" y="205740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The ask — three small decisions</a:t>
            </a:r>
            <a:endParaRPr lang="en-US" sz="1600" dirty="0"/>
          </a:p>
        </p:txBody>
      </p:sp>
      <p:sp>
        <p:nvSpPr>
          <p:cNvPr id="19" name="Text 17"/>
          <p:cNvSpPr/>
          <p:nvPr/>
        </p:nvSpPr>
        <p:spPr>
          <a:xfrm>
            <a:off x="6537960" y="260604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1.  Adopt the habit</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Make "Log Actual £" part of the quote-handling routine. One click per quote.</a:t>
            </a:r>
            <a:endParaRPr lang="en-US" sz="1350" dirty="0"/>
          </a:p>
        </p:txBody>
      </p:sp>
      <p:sp>
        <p:nvSpPr>
          <p:cNvPr id="20" name="Text 18"/>
          <p:cNvSpPr/>
          <p:nvPr/>
        </p:nvSpPr>
        <p:spPr>
          <a:xfrm>
            <a:off x="6537960" y="356616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2.  Seed the memory</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Approve a one-off import of historical quotes so the tool starts smart (~1–2 days of effort).</a:t>
            </a:r>
            <a:endParaRPr lang="en-US" sz="1350" dirty="0"/>
          </a:p>
        </p:txBody>
      </p:sp>
      <p:sp>
        <p:nvSpPr>
          <p:cNvPr id="21" name="Text 19"/>
          <p:cNvSpPr/>
          <p:nvPr/>
        </p:nvSpPr>
        <p:spPr>
          <a:xfrm>
            <a:off x="6537960" y="452628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3.  Review the findings</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Put the agent's monthly findings on the sourcing team's agenda — it is already finding money.</a:t>
            </a:r>
            <a:endParaRPr lang="en-US" sz="1350" dirty="0"/>
          </a:p>
        </p:txBody>
      </p:sp>
      <p:sp>
        <p:nvSpPr>
          <p:cNvPr id="22" name="Shape 20"/>
          <p:cNvSpPr/>
          <p:nvPr/>
        </p:nvSpPr>
        <p:spPr>
          <a:xfrm>
            <a:off x="0" y="6711696"/>
            <a:ext cx="12191695" cy="146304"/>
          </a:xfrm>
          <a:prstGeom prst="rect">
            <a:avLst/>
          </a:prstGeom>
          <a:solidFill>
            <a:srgbClr val="4F46E5"/>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in CostVision</dc:title>
  <dc:subject>PptxGenJS Presentation</dc:subject>
  <dc:creator>CostVision</dc:creator>
  <cp:lastModifiedBy>CostVision</cp:lastModifiedBy>
  <cp:revision>1</cp:revision>
  <dcterms:created xsi:type="dcterms:W3CDTF">2026-07-20T10:38:48Z</dcterms:created>
  <dcterms:modified xsi:type="dcterms:W3CDTF">2026-07-20T10:38:48Z</dcterms:modified>
</cp:coreProperties>
</file>