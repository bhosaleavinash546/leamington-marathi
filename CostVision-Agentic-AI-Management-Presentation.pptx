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3.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Before learning</c:v>
                </c:pt>
              </c:strCache>
            </c:strRef>
          </c:tx>
          <c:spPr>
            <a:solidFill>
              <a:srgbClr val="64748B"/>
            </a:solidFill>
            <a:effectLst/>
          </c:spPr>
          <c:invertIfNegative val="0"/>
          <c:dLbls>
            <c:numFmt formatCode="#,##0" sourceLinked="0"/>
            <c:txPr>
              <a:bodyPr/>
              <a:lstStyle/>
              <a:p>
                <a:pPr>
                  <a:defRPr b="1" i="0" strike="noStrike" sz="1050" u="none">
                    <a:solidFill>
                      <a:srgbClr val="0F172A"/>
                    </a:solidFill>
                    <a:latin typeface="Arial"/>
                  </a:defRPr>
                </a:pPr>
              </a:p>
            </c:txPr>
            <c:showLegendKey val="0"/>
            <c:showVal val="1"/>
            <c:showCatName val="0"/>
            <c:showSerName val="0"/>
            <c:showPercent val="0"/>
            <c:showBubbleSize val="0"/>
            <c:showLeaderLines val="0"/>
          </c:dLbls>
          <c:cat>
            <c:multiLvlStrRef>
              <c:f>Sheet1!$A$2:$A$3</c:f>
              <c:multiLvlStrCache>
                <c:ptCount val="2"/>
                <c:lvl>
                  <c:pt idx="0">
                    <c:v>Machining · Aluminium · UK</c:v>
                  </c:pt>
                  <c:pt idx="1">
                    <c:v>Casting · Aluminium · China</c:v>
                  </c:pt>
                </c:lvl>
              </c:multiLvlStrCache>
            </c:multiLvlStrRef>
          </c:cat>
          <c:val>
            <c:numRef>
              <c:f>Sheet1!$B$2:$B$3</c:f>
              <c:numCache>
                <c:formatCode>General</c:formatCode>
                <c:ptCount val="2"/>
                <c:pt idx="0">
                  <c:v>10.9</c:v>
                </c:pt>
                <c:pt idx="1">
                  <c:v>8.7</c:v>
                </c:pt>
              </c:numCache>
            </c:numRef>
          </c:val>
        </c:ser>
        <c:ser>
          <c:idx val="1"/>
          <c:order val="1"/>
          <c:tx>
            <c:strRef>
              <c:f>Sheet1!$C$1</c:f>
              <c:strCache>
                <c:ptCount val="1"/>
                <c:pt idx="0">
                  <c:v>After 3 real quotes</c:v>
                </c:pt>
              </c:strCache>
            </c:strRef>
          </c:tx>
          <c:spPr>
            <a:solidFill>
              <a:srgbClr val="059669"/>
            </a:solidFill>
            <a:effectLst/>
          </c:spPr>
          <c:invertIfNegative val="0"/>
          <c:dLbls>
            <c:numFmt formatCode="#,##0" sourceLinked="0"/>
            <c:txPr>
              <a:bodyPr/>
              <a:lstStyle/>
              <a:p>
                <a:pPr>
                  <a:defRPr b="1" i="0" strike="noStrike" sz="1050" u="none">
                    <a:solidFill>
                      <a:srgbClr val="0F172A"/>
                    </a:solidFill>
                    <a:latin typeface="Arial"/>
                  </a:defRPr>
                </a:pPr>
              </a:p>
            </c:txPr>
            <c:showLegendKey val="0"/>
            <c:showVal val="1"/>
            <c:showCatName val="0"/>
            <c:showSerName val="0"/>
            <c:showPercent val="0"/>
            <c:showBubbleSize val="0"/>
            <c:showLeaderLines val="0"/>
          </c:dLbls>
          <c:cat>
            <c:multiLvlStrRef>
              <c:f>Sheet1!$A$2:$A$3</c:f>
              <c:multiLvlStrCache>
                <c:ptCount val="2"/>
                <c:lvl>
                  <c:pt idx="0">
                    <c:v>Machining · Aluminium · UK</c:v>
                  </c:pt>
                  <c:pt idx="1">
                    <c:v>Casting · Aluminium · China</c:v>
                  </c:pt>
                </c:lvl>
              </c:multiLvlStrCache>
            </c:multiLvlStrRef>
          </c:cat>
          <c:val>
            <c:numRef>
              <c:f>Sheet1!$C$2:$C$3</c:f>
              <c:numCache>
                <c:formatCode>General</c:formatCode>
                <c:ptCount val="2"/>
                <c:pt idx="0">
                  <c:v>0.3</c:v>
                </c:pt>
                <c:pt idx="1">
                  <c:v>0.6</c:v>
                </c:pt>
              </c:numCache>
            </c:numRef>
          </c:val>
        </c:ser>
        <c:dLbls>
          <c:numFmt formatCode="#,##0" sourceLinked="0"/>
          <c:txPr>
            <a:bodyPr/>
            <a:lstStyle/>
            <a:p>
              <a:pPr>
                <a:defRPr b="1" i="0" strike="noStrike" sz="1050" u="none">
                  <a:solidFill>
                    <a:srgbClr val="0F172A"/>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2E8F0"/>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2"/>
          <c:min val="0"/>
        </c:scaling>
        <c:delete val="0"/>
        <c:axPos val="l"/>
        <c:majorGridlines>
          <c:spPr>
            <a:ln w="9525" cap="flat">
              <a:solidFill>
                <a:srgbClr val="E2E8F0"/>
              </a:solidFill>
              <a:prstDash val="solid"/>
              <a:round/>
            </a:ln>
          </c:spPr>
        </c:majorGridlines>
        <c:numFmt formatCode="General" sourceLinked="0"/>
        <c:majorTickMark val="out"/>
        <c:minorTickMark val="none"/>
        <c:tickLblPos val="nextTo"/>
        <c:spPr>
          <a:ln w="12700" cap="flat">
            <a:solidFill>
              <a:srgbClr val="E2E8F0"/>
            </a:solidFill>
            <a:prstDash val="solid"/>
            <a:round/>
          </a:ln>
        </c:spPr>
        <c:txPr>
          <a:bodyPr/>
          <a:lstStyle/>
          <a:p>
            <a:pPr>
              <a:defRPr sz="1000" b="0" i="0" u="none" strike="noStrike">
                <a:solidFill>
                  <a:srgbClr val="64748B"/>
                </a:solidFill>
                <a:latin typeface="Arial"/>
              </a:defRPr>
            </a:pPr>
            <a:endParaRPr lang="en-US"/>
          </a:p>
        </c:txPr>
        <c:crossAx val="2094734554"/>
        <c:crosses val="autoZero"/>
        <c:crossBetween val="between"/>
        <c:majorUnit val="2"/>
      </c:valAx>
      <c:spPr>
        <a:noFill/>
        <a:ln>
          <a:noFill/>
        </a:ln>
        <a:effectLst/>
      </c:spPr>
    </c:plotArea>
    <c:legend>
      <c:legendPos val="b"/>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Confidence band (± %)</c:v>
                </c:pt>
              </c:strCache>
            </c:strRef>
          </c:tx>
          <c:spPr>
            <a:solidFill>
              <a:srgbClr val="D97706"/>
            </a:solidFill>
            <a:effectLst/>
          </c:spPr>
          <c:invertIfNegative val="0"/>
          <c:dLbls>
            <c:numFmt formatCode="#,##0" sourceLinked="0"/>
            <c:txPr>
              <a:bodyPr/>
              <a:lstStyle/>
              <a:p>
                <a:pPr>
                  <a:defRPr b="1" i="0" strike="noStrike" sz="1050" u="none">
                    <a:solidFill>
                      <a:srgbClr val="0F172A"/>
                    </a:solidFill>
                    <a:latin typeface="Arial"/>
                  </a:defRPr>
                </a:pPr>
              </a:p>
            </c:txPr>
            <c:showLegendKey val="0"/>
            <c:showVal val="1"/>
            <c:showCatName val="0"/>
            <c:showSerName val="0"/>
            <c:showPercent val="0"/>
            <c:showBubbleSize val="0"/>
            <c:showLeaderLines val="0"/>
          </c:dLbls>
          <c:cat>
            <c:multiLvlStrRef>
              <c:f>Sheet1!$A$2:$A$3</c:f>
              <c:multiLvlStrCache>
                <c:ptCount val="2"/>
                <c:lvl>
                  <c:pt idx="0">
                    <c:v>Before any real quotes</c:v>
                  </c:pt>
                  <c:pt idx="1">
                    <c:v>After 3 real quotes logged</c:v>
                  </c:pt>
                </c:lvl>
              </c:multiLvlStrCache>
            </c:multiLvlStrRef>
          </c:cat>
          <c:val>
            <c:numRef>
              <c:f>Sheet1!$B$2:$B$3</c:f>
              <c:numCache>
                <c:formatCode>General</c:formatCode>
                <c:ptCount val="2"/>
                <c:pt idx="0">
                  <c:v>20.4</c:v>
                </c:pt>
                <c:pt idx="1">
                  <c:v>2.8</c:v>
                </c:pt>
              </c:numCache>
            </c:numRef>
          </c:val>
        </c:ser>
        <c:dLbls>
          <c:numFmt formatCode="#,##0" sourceLinked="0"/>
          <c:txPr>
            <a:bodyPr/>
            <a:lstStyle/>
            <a:p>
              <a:pPr>
                <a:defRPr b="1" i="0" strike="noStrike" sz="1050" u="none">
                  <a:solidFill>
                    <a:srgbClr val="0F172A"/>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2E8F0"/>
            </a:solidFill>
            <a:prstDash val="solid"/>
            <a:round/>
          </a:ln>
        </c:spPr>
        <c:txPr>
          <a:bodyPr/>
          <a:lstStyle/>
          <a:p>
            <a:pPr>
              <a:defRPr sz="105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25"/>
          <c:min val="0"/>
        </c:scaling>
        <c:delete val="0"/>
        <c:axPos val="l"/>
        <c:majorGridlines>
          <c:spPr>
            <a:ln w="9525" cap="flat">
              <a:solidFill>
                <a:srgbClr val="E2E8F0"/>
              </a:solidFill>
              <a:prstDash val="solid"/>
              <a:round/>
            </a:ln>
          </c:spPr>
        </c:majorGridlines>
        <c:numFmt formatCode="General" sourceLinked="0"/>
        <c:majorTickMark val="out"/>
        <c:minorTickMark val="none"/>
        <c:tickLblPos val="nextTo"/>
        <c:spPr>
          <a:ln w="12700" cap="flat">
            <a:solidFill>
              <a:srgbClr val="E2E8F0"/>
            </a:solidFill>
            <a:prstDash val="solid"/>
            <a:round/>
          </a:ln>
        </c:spPr>
        <c:txPr>
          <a:bodyPr/>
          <a:lstStyle/>
          <a:p>
            <a:pPr>
              <a:defRPr sz="1000" b="0" i="0" u="none" strike="noStrike">
                <a:solidFill>
                  <a:srgbClr val="64748B"/>
                </a:solidFill>
                <a:latin typeface="Arial"/>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Manual (engineer)</c:v>
                </c:pt>
              </c:strCache>
            </c:strRef>
          </c:tx>
          <c:spPr>
            <a:solidFill>
              <a:srgbClr val="64748B"/>
            </a:solidFill>
            <a:effectLst/>
          </c:spPr>
          <c:invertIfNegative val="0"/>
          <c:dLbls>
            <c:numFmt formatCode="#,##0" sourceLinked="0"/>
            <c:txPr>
              <a:bodyPr/>
              <a:lstStyle/>
              <a:p>
                <a:pPr>
                  <a:defRPr b="1" i="0" strike="noStrike" sz="900" u="none">
                    <a:solidFill>
                      <a:srgbClr val="0F172A"/>
                    </a:solidFill>
                    <a:latin typeface="Arial"/>
                  </a:defRPr>
                </a:pPr>
              </a:p>
            </c:txPr>
            <c:showLegendKey val="0"/>
            <c:showVal val="1"/>
            <c:showCatName val="0"/>
            <c:showSerName val="0"/>
            <c:showPercent val="0"/>
            <c:showBubbleSize val="0"/>
            <c:showLeaderLines val="0"/>
          </c:dLbls>
          <c:cat>
            <c:multiLvlStrRef>
              <c:f>Sheet1!$A$2:$A$4</c:f>
              <c:multiLvlStrCache>
                <c:ptCount val="3"/>
                <c:lvl>
                  <c:pt idx="0">
                    <c:v>Components</c:v>
                  </c:pt>
                  <c:pt idx="1">
                    <c:v>Fab + assembly</c:v>
                  </c:pt>
                  <c:pt idx="2">
                    <c:v>Total / board</c:v>
                  </c:pt>
                </c:lvl>
              </c:multiLvlStrCache>
            </c:multiLvlStrRef>
          </c:cat>
          <c:val>
            <c:numRef>
              <c:f>Sheet1!$B$2:$B$4</c:f>
              <c:numCache>
                <c:formatCode>General</c:formatCode>
                <c:ptCount val="3"/>
                <c:pt idx="0">
                  <c:v>62</c:v>
                </c:pt>
                <c:pt idx="1">
                  <c:v>10</c:v>
                </c:pt>
                <c:pt idx="2">
                  <c:v>73</c:v>
                </c:pt>
              </c:numCache>
            </c:numRef>
          </c:val>
        </c:ser>
        <c:ser>
          <c:idx val="1"/>
          <c:order val="1"/>
          <c:tx>
            <c:strRef>
              <c:f>Sheet1!$C$1</c:f>
              <c:strCache>
                <c:ptCount val="1"/>
                <c:pt idx="0">
                  <c:v>AI (from photo)</c:v>
                </c:pt>
              </c:strCache>
            </c:strRef>
          </c:tx>
          <c:spPr>
            <a:solidFill>
              <a:srgbClr val="2563EB"/>
            </a:solidFill>
            <a:effectLst/>
          </c:spPr>
          <c:invertIfNegative val="0"/>
          <c:dLbls>
            <c:numFmt formatCode="#,##0" sourceLinked="0"/>
            <c:txPr>
              <a:bodyPr/>
              <a:lstStyle/>
              <a:p>
                <a:pPr>
                  <a:defRPr b="1" i="0" strike="noStrike" sz="900" u="none">
                    <a:solidFill>
                      <a:srgbClr val="0F172A"/>
                    </a:solidFill>
                    <a:latin typeface="Arial"/>
                  </a:defRPr>
                </a:pPr>
              </a:p>
            </c:txPr>
            <c:showLegendKey val="0"/>
            <c:showVal val="1"/>
            <c:showCatName val="0"/>
            <c:showSerName val="0"/>
            <c:showPercent val="0"/>
            <c:showBubbleSize val="0"/>
            <c:showLeaderLines val="0"/>
          </c:dLbls>
          <c:cat>
            <c:multiLvlStrRef>
              <c:f>Sheet1!$A$2:$A$4</c:f>
              <c:multiLvlStrCache>
                <c:ptCount val="3"/>
                <c:lvl>
                  <c:pt idx="0">
                    <c:v>Components</c:v>
                  </c:pt>
                  <c:pt idx="1">
                    <c:v>Fab + assembly</c:v>
                  </c:pt>
                  <c:pt idx="2">
                    <c:v>Total / board</c:v>
                  </c:pt>
                </c:lvl>
              </c:multiLvlStrCache>
            </c:multiLvlStrRef>
          </c:cat>
          <c:val>
            <c:numRef>
              <c:f>Sheet1!$C$2:$C$4</c:f>
              <c:numCache>
                <c:formatCode>General</c:formatCode>
                <c:ptCount val="3"/>
                <c:pt idx="0">
                  <c:v>62.29</c:v>
                </c:pt>
                <c:pt idx="1">
                  <c:v>6.82</c:v>
                </c:pt>
                <c:pt idx="2">
                  <c:v>69.11</c:v>
                </c:pt>
              </c:numCache>
            </c:numRef>
          </c:val>
        </c:ser>
        <c:dLbls>
          <c:numFmt formatCode="#,##0" sourceLinked="0"/>
          <c:txPr>
            <a:bodyPr/>
            <a:lstStyle/>
            <a:p>
              <a:pPr>
                <a:defRPr b="1" i="0" strike="noStrike" sz="900" u="none">
                  <a:solidFill>
                    <a:srgbClr val="0F172A"/>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2E8F0"/>
            </a:solidFill>
            <a:prstDash val="solid"/>
            <a:round/>
          </a:ln>
        </c:spPr>
        <c:txPr>
          <a:bodyPr/>
          <a:lstStyle/>
          <a:p>
            <a:pPr>
              <a:defRPr sz="95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2E8F0"/>
              </a:solidFill>
              <a:prstDash val="solid"/>
              <a:round/>
            </a:ln>
          </c:spPr>
        </c:majorGridlines>
        <c:numFmt formatCode="General" sourceLinked="0"/>
        <c:majorTickMark val="out"/>
        <c:minorTickMark val="none"/>
        <c:tickLblPos val="nextTo"/>
        <c:spPr>
          <a:ln w="12700" cap="flat">
            <a:solidFill>
              <a:srgbClr val="E2E8F0"/>
            </a:solidFill>
            <a:prstDash val="solid"/>
            <a:round/>
          </a:ln>
        </c:spPr>
        <c:txPr>
          <a:bodyPr/>
          <a:lstStyle/>
          <a:p>
            <a:pPr>
              <a:defRPr sz="1000" b="0" i="0" u="none" strike="noStrike">
                <a:solidFill>
                  <a:srgbClr val="64748B"/>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105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strong, then pause. "Every costing tool on the market does maths. Ours does something none of them do — it learns." The tool remembers every part we've costed, recognises the next one, corrects itself against real quotes, and hunts for savings while nobody's watching. One promise before we start: every number in this deck is from a live run of the real system — no mock-ups. Let's 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remember four numbers, remember these. Error fell thirty-six-fold — eleven percent to under one — after the tool learned from just three real quotes. The background agent found half a million pounds a year of pricing issues with nobody at the keyboard. It recognised a brand-new bracket against past parts at ninety-nine percent and told us why. And it's production-grade — just over a thousand automated tests, and it now runs as a deployable container with the build verified in CI. The one line that matters: costing intelligence used to live in people's heads and walk out the door. Now it accumulates as a company asset that gets more valuable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"Agentic" gets thrown around, so let me make it concrete — four plain verbs. It REMEMBERS: every analysis becomes a stored case. It RECOGNISES: new parts get matched to that memory instantly. It SELF-CORRECTS: real quotes teach it, and its accuracy is measured, not claimed. And it ACTS: an agent raises findings without being asked. One design choice underpins all of it — every suggestion shows its source parts and its arithmetic. A number you can't defend is worthless in a negotiation. Ours you can defend,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whole machine on one slide — and the punchline is how little it asks of the engineer. They cost a part exactly as they do today. Everything automatic happens on its own: it remembers, recognises, suggests, and the agent keeps watch. There is exactly ONE new habit — a single click, 'Log Actual £,' when a real quote lands. That one click is the fuel for every loop, and every loop makes the next estimate sharper. No new workload, compounding returns. That's the deal.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Capability one — the memory. For every analysis we keep a fingerprint of the part, the full result, any real quotes, and — the clever bit — the exact places an expert overrode the AI. Those corrections are our engineers literally teaching the tool. On the right is why it matters to us: it's shared, so a junior inherits senior judgement on day one; it lives on our servers, so it's our asset; and it compounds — genuinely useful after only twenty or thirty analyses. Every costing we run from today is a deposit into an account that only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Capability two, shown with the tool's actual live output. An engineer starts a new aluminium bracket. Before they've finished, the tool has surfaced the three most similar parts we've ever costed — at ninety-eight to ninety-nine percent — and it tells you WHY they matched: same material family, weight class, region. Then it hands over the gold: the median cost, the shared material, and the real prices we actually paid. A junior just stood on the shoulders of every senior before them. And every number names its source. No black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Capability three is the accuracy engine, and this is a real measured result. Our machining estimates ran about eleven percent LOW against real prices. After the tool learned from three logged quotes, the error was three-tenths of a percent. Now the subtle part: machining ran low; our China castings ran high. Average them and everything looks 'fine' — the errors cancel and hide. The tool refuses to average. It corrects each process, material and region separately, so it catches exactly what a portfolio average conceals. Measured against reality and reported out loud — not asserted.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Capability four — honesty about precision, which is a feature not a weakness. Every estimate now comes as a range: optimistic, most likely, conservative. Early on, with no evidence, that range is wide — and that IS the truth. As real quotes prove the tool right, the range tightens on its own: on our test part, from plus-or-minus twenty percent to three. Give a buyer this and you've handed them a script — the conservative end is the walk-away, the optimistic end is the stretch target. A single number pretends to a confidence early estimates don't have. This tells the truth, and the truth negotiates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Capability five — the one that earns the word 'agentic.' A monitor runs on our server on a schedule and compares what we PAY against what things SHOULD cost, using everything the tool has learned. In the live demo, with nobody at the keyboard, it opened three findings by itself: a renegotiation worth four hundred thousand a year, an 'underwater' price that flags supply risk, and a stale estimate that needs a fresh quote. Half a million pounds a year, surfaced unattended — and every finding shows its arithmetic, ready to carry into a supplier meeting. The tool isn't waiting to be asked anymore. It's already working.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learning loop is the headline, but it stands on a real platform. The assistant answers from our own rate data with citations — it quotes our numbers, it doesn't improvise. The RFQ analyst turns a full quote package into a costed, risk-flagged negotiation brief. CAD feature costing shows a designer which hole or surface drives the price. And carbon co-costing puts a CO2 figure next to every pound — which automotive and aerospace customers now demand in the RFQ itself. Eighteen commodity engines, CAD-to-cost, PCB photo-to-BOM — and the agentic layer sits on top of all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 management question: what does this cost the team in effort? Honestly — almost nothing. Engineers keep costing parts exactly as they do now; the memory builds itself. The one new habit is a single click when a real quote arrives. Two optional accelerants: attach CAD or BOM files for sharper matching, and — my recommended first move — a one-off import of our historical quotes so the system starts SMART instead of empty. Low effort in, compounding value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this slide was measured on the running system — live server, real database, real API calls — not projected. Segment error dropped to well under one percent in BOTH directions of bias. The confidence band tightened seven-fold. Recognition hit ninety-nine percent. The unattended agent surfaced half a million pounds. And just over a thousand tests stand guard so none of it quietly regresses. One honest caveat: these demos ran on small seeded datasets — real-world accuracy builds as OUR data accumulates. The mechanism is proven. The asset grows with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benefits, business language. Speed: new parts start from proven history, not a blank sheet. Accuracy: it compounds with every quote and it's always measured — which is what makes our numbers defensible with suppliers. Retention: your best engineers' judgement becomes company data instead of leaving in a leaver's head. And proactive savings: the agent finds money continuously, quantified per year. Then the strategic kicker — a competitor can buy the same software tomorrow. They cannot buy our accumulated costing intelligence. That's the moat, and it deepens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this year, and it sharpens the moat. Every should-cost now carries TWO ranges. Left, the physics prior — a Monte-Carlo band reflecting how well the inputs are known; always available. Right, the new one: an empirical band built from the actual quotes you've logged, using conformal prediction — a method that comes with a coverage guarantee. So the tool stops asserting a precision and states an observed fact: 'ninety percent of your real quotes for this family landed within plus-or-minus six-and-a-half percent.' That band edge is measured error, not a claim — which is why a buyer can defend it in the room. And it tightens on its own. No competitor states uncertainty with a guarantee like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the loop on the agent. It used to rank findings by the raw gap — the theoretical money. Now it learns which findings actually convert into cash. Watch the table: the cast housing shows a two-hundred-thousand-pound gap, but casting renegotiations almost never close — twenty percent — so realizable value is forty thousand. The machined knuckle has HALF the raw gap, but machining usually closes — eighty percent — so it's worth eighty thousand realizable. The agent now ranks the machining finding ABOVE the bigger one. Why? Sourcing time is scarce — it points at money you can actually get, and tracks pounds truly saved so the tool proves its own worth.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a number becomes leverage. The tool now builds a small causal model of the part — it knows the material bucket is driven by a specific commodity index, aluminium here — and runs the same overhead-and-margin maths the engine already uses to work out how sensitive the price is. Then it writes the argument for you. Read the live output: material is eight-thirty-nine, driven by aluminium; every one-percent move shifts the piece price by eleven pence; a quote of ninety-five is only justified if aluminium were about fourteen percent above today — so ask them to prove it, or hold at eighty-six thirty-four. That's a sentence a buyer can say out loud and not get argued out 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to ask 'what if a commodity moves?' Left, one part: drag a slider from minus twenty to plus twenty percent and the price recomputes live under your finger — plus fifteen percent aluminium takes this part from eighty-six thirty-four to eighty-seven ninety-two. Right, the whole portfolio at once: push a move across every part and watch who changes status — steel up ten percent, seven parts flip underwater, here's the money at risk. That's sourcing getting ahead of the market instead of reacting. And the honest framing: it's always a conditional — IF the index moves — never a forecast we can't stand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feature I'm proudest of this year. Photograph a circuit board, and in about sixty seconds you get a costed bill of materials. The story is honesty about the journey: it started as a clever demo, and complex automotive boards would sometimes come back EMPTY — a lot of compute, no result. We fixed that at the root, then hardened the whole pipeline. The chart is the proof: the same real ECU, costed by an engineer in half a day versus the AI from one photo — sixty-nine pounds against seventy-three, within about five percent, in sixty seconds. On the right, the five fixes that got us there. Bottom line: the two-to-three-times over-costing is gone. Same photo, same answer, every run — and it tells you exactly which lines to firm up before you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newest layer, and it's pure glass-box. Over the last stretch we hammered the tool against real automotive CAD and found a handful of ways an estimate could quietly go wrong — the wrong machine, a mis-read wall, a weight that doesn't match the shape. The important bit is what we did next: instead of just fixing each part, we turned every lesson into a deterministic check that now runs on EVERY estimate. It sizes the machine to the part across every process, sanity-checks the geometry, ties the weight to the measured volume, and makes sure tooling amortises over the real volume. And because it re-derives from the physics — here's the clever part — it catches a colleague overriding it, or a future code change breaking something, not only the original bug. Live proof: we put a forging on a two-tonne hand-hammer on purpose; it flagged it, named the right sixteen-hundred-tonne press, and one click fixed it. The tool checks its own homework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slide I'd stake the pitch on. We didn't test on toy shapes — we ran five real automotive parts, actual STEP files, end to end. And I'll be completely straight with you: on every one, the tool's FIRST answer had an error. A fuel tank came back as a two-hundred-pound sand casting, because to raw geometry a thin hollow tank looks a bit like a casting — it's really a twenty-four-pound blow-moulded part. A bumper priced as an aluminium casting instead of injection-moulded plastic. A three-gram horn with over four hours of imaginary machining. Each one we diagnosed, fixed at the root, and — crucially — pinned with a test so it can't come back. That's the line between a demo and a tool you trust: it has been wrong on real parts, in ways we can explain, and it's now guarded against every one of them. Being honest about the misses is exactly what earns trust in the hits.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take one competitive message away, take this. Rivals demo continuous learning and adaptive reasoning — but as a black box, a number you're told to trust. Our principle is the opposite, and it's harder to build: every learned or derived value stays auditable. The bias factor, the conformal band, the hit-rate, the coach's arithmetic — all a value a cost engineer can read and defend across the table. The AI narrates and explains; it never sets the price in secret. So we match the market on learning, autonomy and causal reasoning — and beat it on the one thing that wins deals: defensibility. Autonomous, self-improving, glass-box, AND on-premise. That combination doesn't exist anywhere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The capability is built, tested — just over a thousand tests — and live, at no extra licence cost, on our own infrastructure, now shipping as a deployable container. I'll be straight about the one dependency: the intelligence starts empty and grows with use. So the ask is three small decisions. One: make 'Log Actual £' a one-click habit. Two: approve a one-off import of our historical quotes so it starts smart — a day or two of effort. Three: put the agent's findings on the sourcing agenda each month; it's already finding money. Do those three things and this becomes a compounding asset from day one. Thank you — happy to take questions, or show you the live system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0" y="0"/>
            <a:ext cx="12191695" cy="146304"/>
          </a:xfrm>
          <a:prstGeom prst="rect">
            <a:avLst/>
          </a:prstGeom>
          <a:solidFill>
            <a:srgbClr val="4F46E5"/>
          </a:solidFill>
          <a:ln/>
        </p:spPr>
      </p:sp>
      <p:sp>
        <p:nvSpPr>
          <p:cNvPr id="4" name="Shape 2"/>
          <p:cNvSpPr/>
          <p:nvPr/>
        </p:nvSpPr>
        <p:spPr>
          <a:xfrm>
            <a:off x="457200" y="411480"/>
            <a:ext cx="480060" cy="480060"/>
          </a:xfrm>
          <a:prstGeom prst="roundRect">
            <a:avLst>
              <a:gd name="adj" fmla="val 19048"/>
            </a:avLst>
          </a:prstGeom>
          <a:solidFill>
            <a:srgbClr val="4F46E5"/>
          </a:solidFill>
          <a:ln/>
        </p:spPr>
      </p:sp>
      <p:sp>
        <p:nvSpPr>
          <p:cNvPr id="5" name="Text 3"/>
          <p:cNvSpPr/>
          <p:nvPr/>
        </p:nvSpPr>
        <p:spPr>
          <a:xfrm>
            <a:off x="457200" y="411480"/>
            <a:ext cx="480060" cy="480060"/>
          </a:xfrm>
          <a:prstGeom prst="rect">
            <a:avLst/>
          </a:prstGeom>
          <a:noFill/>
          <a:ln/>
        </p:spPr>
        <p:txBody>
          <a:bodyPr wrap="square" lIns="0" tIns="0" rIns="0" bIns="0" rtlCol="0" anchor="ctr"/>
          <a:lstStyle/>
          <a:p>
            <a:pPr algn="ctr" indent="0" marL="0">
              <a:buNone/>
            </a:pPr>
            <a:r>
              <a:rPr lang="en-US" sz="2125" b="1" dirty="0">
                <a:solidFill>
                  <a:srgbClr val="FFFFFF"/>
                </a:solidFill>
                <a:latin typeface="Calibri" pitchFamily="34" charset="0"/>
                <a:ea typeface="Calibri" pitchFamily="34" charset="-122"/>
                <a:cs typeface="Calibri" pitchFamily="34" charset="-120"/>
              </a:rPr>
              <a:t>cv</a:t>
            </a:r>
            <a:endParaRPr lang="en-US" sz="2125" dirty="0"/>
          </a:p>
        </p:txBody>
      </p:sp>
      <p:sp>
        <p:nvSpPr>
          <p:cNvPr id="6" name="Text 4"/>
          <p:cNvSpPr/>
          <p:nvPr/>
        </p:nvSpPr>
        <p:spPr>
          <a:xfrm>
            <a:off x="1051560" y="377190"/>
            <a:ext cx="2743200" cy="292608"/>
          </a:xfrm>
          <a:prstGeom prst="rect">
            <a:avLst/>
          </a:prstGeom>
          <a:noFill/>
          <a:ln/>
        </p:spPr>
        <p:txBody>
          <a:bodyPr wrap="square" lIns="0" tIns="0" rIns="0" bIns="0" rtlCol="0" anchor="t"/>
          <a:lstStyle/>
          <a:p>
            <a:pPr indent="0" marL="0">
              <a:buNone/>
            </a:pPr>
            <a:r>
              <a:rPr lang="en-US" sz="2250" b="1" dirty="0">
                <a:solidFill>
                  <a:srgbClr val="2563EB"/>
                </a:solidFill>
                <a:latin typeface="Calibri" pitchFamily="34" charset="0"/>
                <a:ea typeface="Calibri" pitchFamily="34" charset="-122"/>
                <a:cs typeface="Calibri" pitchFamily="34" charset="-120"/>
              </a:rPr>
              <a:t>CostVision</a:t>
            </a:r>
            <a:endParaRPr lang="en-US" sz="2250" dirty="0"/>
          </a:p>
        </p:txBody>
      </p:sp>
      <p:sp>
        <p:nvSpPr>
          <p:cNvPr id="7" name="Text 5"/>
          <p:cNvSpPr/>
          <p:nvPr/>
        </p:nvSpPr>
        <p:spPr>
          <a:xfrm>
            <a:off x="1051560" y="685800"/>
            <a:ext cx="2926080" cy="201168"/>
          </a:xfrm>
          <a:prstGeom prst="rect">
            <a:avLst/>
          </a:prstGeom>
          <a:noFill/>
          <a:ln/>
        </p:spPr>
        <p:txBody>
          <a:bodyPr wrap="square" lIns="0" tIns="0" rIns="0" bIns="0" rtlCol="0" anchor="t"/>
          <a:lstStyle/>
          <a:p>
            <a:pPr indent="0" marL="0">
              <a:buNone/>
            </a:pPr>
            <a:r>
              <a:rPr lang="en-US" sz="938" spc="100" kern="0" dirty="0">
                <a:solidFill>
                  <a:srgbClr val="64748B"/>
                </a:solidFill>
                <a:latin typeface="Calibri" pitchFamily="34" charset="0"/>
                <a:ea typeface="Calibri" pitchFamily="34" charset="-122"/>
                <a:cs typeface="Calibri" pitchFamily="34" charset="-120"/>
              </a:rPr>
              <a:t>AI  COST  INTELLIGENCE</a:t>
            </a:r>
            <a:endParaRPr lang="en-US" sz="938" dirty="0"/>
          </a:p>
        </p:txBody>
      </p:sp>
      <p:sp>
        <p:nvSpPr>
          <p:cNvPr id="8" name="Text 6"/>
          <p:cNvSpPr/>
          <p:nvPr/>
        </p:nvSpPr>
        <p:spPr>
          <a:xfrm>
            <a:off x="822960" y="2148840"/>
            <a:ext cx="10515600" cy="914400"/>
          </a:xfrm>
          <a:prstGeom prst="rect">
            <a:avLst/>
          </a:prstGeom>
          <a:noFill/>
          <a:ln/>
        </p:spPr>
        <p:txBody>
          <a:bodyPr wrap="square" lIns="0" tIns="0" rIns="0" bIns="0" rtlCol="0" anchor="t"/>
          <a:lstStyle/>
          <a:p>
            <a:pPr indent="0" marL="0">
              <a:buNone/>
            </a:pPr>
            <a:r>
              <a:rPr lang="en-US" sz="4600" b="1" dirty="0">
                <a:solidFill>
                  <a:srgbClr val="0F172A"/>
                </a:solidFill>
                <a:latin typeface="Calibri" pitchFamily="34" charset="0"/>
                <a:ea typeface="Calibri" pitchFamily="34" charset="-122"/>
                <a:cs typeface="Calibri" pitchFamily="34" charset="-120"/>
              </a:rPr>
              <a:t>Agentic AI in CostVision</a:t>
            </a:r>
            <a:endParaRPr lang="en-US" sz="4600" dirty="0"/>
          </a:p>
        </p:txBody>
      </p:sp>
      <p:sp>
        <p:nvSpPr>
          <p:cNvPr id="9" name="Text 7"/>
          <p:cNvSpPr/>
          <p:nvPr/>
        </p:nvSpPr>
        <p:spPr>
          <a:xfrm>
            <a:off x="822960" y="3063240"/>
            <a:ext cx="10058400" cy="822960"/>
          </a:xfrm>
          <a:prstGeom prst="rect">
            <a:avLst/>
          </a:prstGeom>
          <a:noFill/>
          <a:ln/>
        </p:spPr>
        <p:txBody>
          <a:bodyPr wrap="square" lIns="0" tIns="0" rIns="0" bIns="0" rtlCol="0" anchor="t"/>
          <a:lstStyle/>
          <a:p>
            <a:pPr indent="0" marL="0">
              <a:lnSpc>
                <a:spcPct val="110000"/>
              </a:lnSpc>
              <a:buNone/>
            </a:pPr>
            <a:r>
              <a:rPr lang="en-US" sz="1900" dirty="0">
                <a:solidFill>
                  <a:srgbClr val="334155"/>
                </a:solidFill>
                <a:latin typeface="Calibri" pitchFamily="34" charset="0"/>
                <a:ea typeface="Calibri" pitchFamily="34" charset="-122"/>
                <a:cs typeface="Calibri" pitchFamily="34" charset="-120"/>
              </a:rPr>
              <a:t>A costing tool that learns from every analysis, remembers your parts,</a:t>
            </a:r>
            <a:endParaRPr lang="en-US" sz="1900" dirty="0"/>
          </a:p>
          <a:p>
            <a:pPr indent="0" marL="0">
              <a:lnSpc>
                <a:spcPct val="110000"/>
              </a:lnSpc>
              <a:buNone/>
            </a:pPr>
            <a:r>
              <a:rPr lang="en-US" sz="1900" dirty="0">
                <a:solidFill>
                  <a:srgbClr val="334155"/>
                </a:solidFill>
                <a:latin typeface="Calibri" pitchFamily="34" charset="0"/>
                <a:ea typeface="Calibri" pitchFamily="34" charset="-122"/>
                <a:cs typeface="Calibri" pitchFamily="34" charset="-120"/>
              </a:rPr>
              <a:t>and finds savings on its own — while staying fully auditable.</a:t>
            </a:r>
            <a:endParaRPr lang="en-US" sz="1900" dirty="0"/>
          </a:p>
        </p:txBody>
      </p:sp>
      <p:sp>
        <p:nvSpPr>
          <p:cNvPr id="10" name="Shape 8"/>
          <p:cNvSpPr/>
          <p:nvPr/>
        </p:nvSpPr>
        <p:spPr>
          <a:xfrm>
            <a:off x="822960" y="4206240"/>
            <a:ext cx="2377440" cy="475488"/>
          </a:xfrm>
          <a:prstGeom prst="roundRect">
            <a:avLst>
              <a:gd name="adj" fmla="val 50000"/>
            </a:avLst>
          </a:prstGeom>
          <a:solidFill>
            <a:srgbClr val="F1F5F9"/>
          </a:solidFill>
          <a:ln/>
        </p:spPr>
      </p:sp>
      <p:sp>
        <p:nvSpPr>
          <p:cNvPr id="11" name="Text 9"/>
          <p:cNvSpPr/>
          <p:nvPr/>
        </p:nvSpPr>
        <p:spPr>
          <a:xfrm>
            <a:off x="822960" y="4206240"/>
            <a:ext cx="2377440" cy="475488"/>
          </a:xfrm>
          <a:prstGeom prst="rect">
            <a:avLst/>
          </a:prstGeom>
          <a:noFill/>
          <a:ln/>
        </p:spPr>
        <p:txBody>
          <a:bodyPr wrap="square" lIns="0" tIns="0" rIns="0" bIns="0" rtlCol="0" anchor="ctr"/>
          <a:lstStyle/>
          <a:p>
            <a:pPr algn="ctr" indent="0" marL="0">
              <a:buNone/>
            </a:pPr>
            <a:r>
              <a:rPr lang="en-US" sz="1300" b="1" dirty="0">
                <a:solidFill>
                  <a:srgbClr val="2563EB"/>
                </a:solidFill>
                <a:latin typeface="Calibri" pitchFamily="34" charset="0"/>
                <a:ea typeface="Calibri" pitchFamily="34" charset="-122"/>
                <a:cs typeface="Calibri" pitchFamily="34" charset="-120"/>
              </a:rPr>
              <a:t>Remembers</a:t>
            </a:r>
            <a:endParaRPr lang="en-US" sz="1300" dirty="0"/>
          </a:p>
        </p:txBody>
      </p:sp>
      <p:sp>
        <p:nvSpPr>
          <p:cNvPr id="12" name="Shape 10"/>
          <p:cNvSpPr/>
          <p:nvPr/>
        </p:nvSpPr>
        <p:spPr>
          <a:xfrm>
            <a:off x="3429000" y="4206240"/>
            <a:ext cx="2377440" cy="475488"/>
          </a:xfrm>
          <a:prstGeom prst="roundRect">
            <a:avLst>
              <a:gd name="adj" fmla="val 50000"/>
            </a:avLst>
          </a:prstGeom>
          <a:solidFill>
            <a:srgbClr val="F1F5F9"/>
          </a:solidFill>
          <a:ln/>
        </p:spPr>
      </p:sp>
      <p:sp>
        <p:nvSpPr>
          <p:cNvPr id="13" name="Text 11"/>
          <p:cNvSpPr/>
          <p:nvPr/>
        </p:nvSpPr>
        <p:spPr>
          <a:xfrm>
            <a:off x="3429000" y="4206240"/>
            <a:ext cx="2377440" cy="475488"/>
          </a:xfrm>
          <a:prstGeom prst="rect">
            <a:avLst/>
          </a:prstGeom>
          <a:noFill/>
          <a:ln/>
        </p:spPr>
        <p:txBody>
          <a:bodyPr wrap="square" lIns="0" tIns="0" rIns="0" bIns="0" rtlCol="0" anchor="ctr"/>
          <a:lstStyle/>
          <a:p>
            <a:pPr algn="ctr" indent="0" marL="0">
              <a:buNone/>
            </a:pPr>
            <a:r>
              <a:rPr lang="en-US" sz="1300" b="1" dirty="0">
                <a:solidFill>
                  <a:srgbClr val="0891B2"/>
                </a:solidFill>
                <a:latin typeface="Calibri" pitchFamily="34" charset="0"/>
                <a:ea typeface="Calibri" pitchFamily="34" charset="-122"/>
                <a:cs typeface="Calibri" pitchFamily="34" charset="-120"/>
              </a:rPr>
              <a:t>Recognises</a:t>
            </a:r>
            <a:endParaRPr lang="en-US" sz="1300" dirty="0"/>
          </a:p>
        </p:txBody>
      </p:sp>
      <p:sp>
        <p:nvSpPr>
          <p:cNvPr id="14" name="Shape 12"/>
          <p:cNvSpPr/>
          <p:nvPr/>
        </p:nvSpPr>
        <p:spPr>
          <a:xfrm>
            <a:off x="6035040" y="4206240"/>
            <a:ext cx="2377440" cy="475488"/>
          </a:xfrm>
          <a:prstGeom prst="roundRect">
            <a:avLst>
              <a:gd name="adj" fmla="val 50000"/>
            </a:avLst>
          </a:prstGeom>
          <a:solidFill>
            <a:srgbClr val="F1F5F9"/>
          </a:solidFill>
          <a:ln/>
        </p:spPr>
      </p:sp>
      <p:sp>
        <p:nvSpPr>
          <p:cNvPr id="15" name="Text 13"/>
          <p:cNvSpPr/>
          <p:nvPr/>
        </p:nvSpPr>
        <p:spPr>
          <a:xfrm>
            <a:off x="6035040" y="4206240"/>
            <a:ext cx="2377440" cy="475488"/>
          </a:xfrm>
          <a:prstGeom prst="rect">
            <a:avLst/>
          </a:prstGeom>
          <a:noFill/>
          <a:ln/>
        </p:spPr>
        <p:txBody>
          <a:bodyPr wrap="square" lIns="0" tIns="0" rIns="0" bIns="0" rtlCol="0" anchor="ctr"/>
          <a:lstStyle/>
          <a:p>
            <a:pPr algn="ctr" indent="0" marL="0">
              <a:buNone/>
            </a:pPr>
            <a:r>
              <a:rPr lang="en-US" sz="1300" b="1" dirty="0">
                <a:solidFill>
                  <a:srgbClr val="7C3AED"/>
                </a:solidFill>
                <a:latin typeface="Calibri" pitchFamily="34" charset="0"/>
                <a:ea typeface="Calibri" pitchFamily="34" charset="-122"/>
                <a:cs typeface="Calibri" pitchFamily="34" charset="-120"/>
              </a:rPr>
              <a:t>Self-corrects</a:t>
            </a:r>
            <a:endParaRPr lang="en-US" sz="1300" dirty="0"/>
          </a:p>
        </p:txBody>
      </p:sp>
      <p:sp>
        <p:nvSpPr>
          <p:cNvPr id="16" name="Shape 14"/>
          <p:cNvSpPr/>
          <p:nvPr/>
        </p:nvSpPr>
        <p:spPr>
          <a:xfrm>
            <a:off x="8641080" y="4206240"/>
            <a:ext cx="2377440" cy="475488"/>
          </a:xfrm>
          <a:prstGeom prst="roundRect">
            <a:avLst>
              <a:gd name="adj" fmla="val 50000"/>
            </a:avLst>
          </a:prstGeom>
          <a:solidFill>
            <a:srgbClr val="F1F5F9"/>
          </a:solidFill>
          <a:ln/>
        </p:spPr>
      </p:sp>
      <p:sp>
        <p:nvSpPr>
          <p:cNvPr id="17" name="Text 15"/>
          <p:cNvSpPr/>
          <p:nvPr/>
        </p:nvSpPr>
        <p:spPr>
          <a:xfrm>
            <a:off x="8641080" y="4206240"/>
            <a:ext cx="2377440" cy="475488"/>
          </a:xfrm>
          <a:prstGeom prst="rect">
            <a:avLst/>
          </a:prstGeom>
          <a:noFill/>
          <a:ln/>
        </p:spPr>
        <p:txBody>
          <a:bodyPr wrap="square" lIns="0" tIns="0" rIns="0" bIns="0" rtlCol="0" anchor="ctr"/>
          <a:lstStyle/>
          <a:p>
            <a:pPr algn="ctr" indent="0" marL="0">
              <a:buNone/>
            </a:pPr>
            <a:r>
              <a:rPr lang="en-US" sz="1300" b="1" dirty="0">
                <a:solidFill>
                  <a:srgbClr val="059669"/>
                </a:solidFill>
                <a:latin typeface="Calibri" pitchFamily="34" charset="0"/>
                <a:ea typeface="Calibri" pitchFamily="34" charset="-122"/>
                <a:cs typeface="Calibri" pitchFamily="34" charset="-120"/>
              </a:rPr>
              <a:t>Acts autonomously</a:t>
            </a:r>
            <a:endParaRPr lang="en-US" sz="1300" dirty="0"/>
          </a:p>
        </p:txBody>
      </p:sp>
      <p:sp>
        <p:nvSpPr>
          <p:cNvPr id="18" name="Text 16"/>
          <p:cNvSpPr/>
          <p:nvPr/>
        </p:nvSpPr>
        <p:spPr>
          <a:xfrm>
            <a:off x="822960" y="5943600"/>
            <a:ext cx="10058400" cy="365760"/>
          </a:xfrm>
          <a:prstGeom prst="rect">
            <a:avLst/>
          </a:prstGeom>
          <a:noFill/>
          <a:ln/>
        </p:spPr>
        <p:txBody>
          <a:bodyPr wrap="square" lIns="0" tIns="0" rIns="0" bIns="0" rtlCol="0" anchor="t"/>
          <a:lstStyle/>
          <a:p>
            <a:pPr indent="0" marL="0">
              <a:buNone/>
            </a:pPr>
            <a:r>
              <a:rPr lang="en-US" sz="1200" dirty="0">
                <a:solidFill>
                  <a:srgbClr val="64748B"/>
                </a:solidFill>
                <a:latin typeface="Calibri" pitchFamily="34" charset="0"/>
                <a:ea typeface="Calibri" pitchFamily="34" charset="-122"/>
                <a:cs typeface="Calibri" pitchFamily="34" charset="-120"/>
              </a:rPr>
              <a:t>Management briefing  ·  July 2026  ·  All figures verified from live system runs</a:t>
            </a:r>
            <a:endParaRPr lang="en-US" sz="1200" dirty="0"/>
          </a:p>
        </p:txBody>
      </p:sp>
      <p:sp>
        <p:nvSpPr>
          <p:cNvPr id="19" name="Shape 17"/>
          <p:cNvSpPr/>
          <p:nvPr/>
        </p:nvSpPr>
        <p:spPr>
          <a:xfrm>
            <a:off x="0" y="6711696"/>
            <a:ext cx="12191695" cy="146304"/>
          </a:xfrm>
          <a:prstGeom prst="rect">
            <a:avLst/>
          </a:prstGeom>
          <a:solidFill>
            <a:srgbClr val="4F46E5"/>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EXECUTIVE SUMMARY</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What we built — in one slide</a:t>
            </a:r>
            <a:endParaRPr lang="en-US" sz="2700" dirty="0"/>
          </a:p>
        </p:txBody>
      </p:sp>
      <p:sp>
        <p:nvSpPr>
          <p:cNvPr id="10" name="Shape 8"/>
          <p:cNvSpPr/>
          <p:nvPr/>
        </p:nvSpPr>
        <p:spPr>
          <a:xfrm>
            <a:off x="411480" y="1828800"/>
            <a:ext cx="2743200" cy="1600200"/>
          </a:xfrm>
          <a:prstGeom prst="roundRect">
            <a:avLst>
              <a:gd name="adj" fmla="val 5143"/>
            </a:avLst>
          </a:prstGeom>
          <a:solidFill>
            <a:srgbClr val="F1F5F9"/>
          </a:solidFill>
          <a:ln/>
        </p:spPr>
      </p:sp>
      <p:sp>
        <p:nvSpPr>
          <p:cNvPr id="11" name="Shape 9"/>
          <p:cNvSpPr/>
          <p:nvPr/>
        </p:nvSpPr>
        <p:spPr>
          <a:xfrm>
            <a:off x="411480" y="1828800"/>
            <a:ext cx="64008" cy="1600200"/>
          </a:xfrm>
          <a:prstGeom prst="rect">
            <a:avLst/>
          </a:prstGeom>
          <a:solidFill>
            <a:srgbClr val="059669"/>
          </a:solidFill>
          <a:ln/>
        </p:spPr>
      </p:sp>
      <p:sp>
        <p:nvSpPr>
          <p:cNvPr id="12" name="Text 10"/>
          <p:cNvSpPr/>
          <p:nvPr/>
        </p:nvSpPr>
        <p:spPr>
          <a:xfrm>
            <a:off x="612648" y="1956816"/>
            <a:ext cx="2423160" cy="502920"/>
          </a:xfrm>
          <a:prstGeom prst="rect">
            <a:avLst/>
          </a:prstGeom>
          <a:noFill/>
          <a:ln/>
        </p:spPr>
        <p:txBody>
          <a:bodyPr wrap="square" lIns="0" tIns="0" rIns="0" bIns="0" rtlCol="0" anchor="t"/>
          <a:lstStyle/>
          <a:p>
            <a:pPr indent="0" marL="0">
              <a:buNone/>
            </a:pPr>
            <a:r>
              <a:rPr lang="en-US" sz="2500" b="1" dirty="0">
                <a:solidFill>
                  <a:srgbClr val="059669"/>
                </a:solidFill>
                <a:latin typeface="Calibri" pitchFamily="34" charset="0"/>
                <a:ea typeface="Calibri" pitchFamily="34" charset="-122"/>
                <a:cs typeface="Calibri" pitchFamily="34" charset="-120"/>
              </a:rPr>
              <a:t>36×</a:t>
            </a:r>
            <a:endParaRPr lang="en-US" sz="2500" dirty="0"/>
          </a:p>
        </p:txBody>
      </p:sp>
      <p:sp>
        <p:nvSpPr>
          <p:cNvPr id="13" name="Text 11"/>
          <p:cNvSpPr/>
          <p:nvPr/>
        </p:nvSpPr>
        <p:spPr>
          <a:xfrm>
            <a:off x="612648" y="2450592"/>
            <a:ext cx="2423160" cy="274320"/>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Error reduction</a:t>
            </a:r>
            <a:endParaRPr lang="en-US" sz="1250" dirty="0"/>
          </a:p>
        </p:txBody>
      </p:sp>
      <p:sp>
        <p:nvSpPr>
          <p:cNvPr id="14" name="Text 12"/>
          <p:cNvSpPr/>
          <p:nvPr/>
        </p:nvSpPr>
        <p:spPr>
          <a:xfrm>
            <a:off x="612648" y="2724912"/>
            <a:ext cx="2423160" cy="640080"/>
          </a:xfrm>
          <a:prstGeom prst="rect">
            <a:avLst/>
          </a:prstGeom>
          <a:noFill/>
          <a:ln/>
        </p:spPr>
        <p:txBody>
          <a:bodyPr wrap="square" lIns="0" tIns="0" rIns="0" bIns="0" rtlCol="0" anchor="t"/>
          <a:lstStyle/>
          <a:p>
            <a:pPr indent="0" marL="0">
              <a:lnSpc>
                <a:spcPct val="105000"/>
              </a:lnSpc>
              <a:buNone/>
            </a:pPr>
            <a:r>
              <a:rPr lang="en-US" sz="1000" dirty="0">
                <a:solidFill>
                  <a:srgbClr val="64748B"/>
                </a:solidFill>
                <a:latin typeface="Calibri" pitchFamily="34" charset="0"/>
                <a:ea typeface="Calibri" pitchFamily="34" charset="-122"/>
                <a:cs typeface="Calibri" pitchFamily="34" charset="-120"/>
              </a:rPr>
              <a:t>Estimating error fell from 10.9% to 0.3% after the tool learned from just 3 real quotes (verified live).</a:t>
            </a:r>
            <a:endParaRPr lang="en-US" sz="1000" dirty="0"/>
          </a:p>
        </p:txBody>
      </p:sp>
      <p:sp>
        <p:nvSpPr>
          <p:cNvPr id="15" name="Shape 13"/>
          <p:cNvSpPr/>
          <p:nvPr/>
        </p:nvSpPr>
        <p:spPr>
          <a:xfrm>
            <a:off x="3337560" y="1828800"/>
            <a:ext cx="2743200" cy="1600200"/>
          </a:xfrm>
          <a:prstGeom prst="roundRect">
            <a:avLst>
              <a:gd name="adj" fmla="val 5143"/>
            </a:avLst>
          </a:prstGeom>
          <a:solidFill>
            <a:srgbClr val="F1F5F9"/>
          </a:solidFill>
          <a:ln/>
        </p:spPr>
      </p:sp>
      <p:sp>
        <p:nvSpPr>
          <p:cNvPr id="16" name="Shape 14"/>
          <p:cNvSpPr/>
          <p:nvPr/>
        </p:nvSpPr>
        <p:spPr>
          <a:xfrm>
            <a:off x="3337560" y="1828800"/>
            <a:ext cx="64008" cy="1600200"/>
          </a:xfrm>
          <a:prstGeom prst="rect">
            <a:avLst/>
          </a:prstGeom>
          <a:solidFill>
            <a:srgbClr val="DC2626"/>
          </a:solidFill>
          <a:ln/>
        </p:spPr>
      </p:sp>
      <p:sp>
        <p:nvSpPr>
          <p:cNvPr id="17" name="Text 15"/>
          <p:cNvSpPr/>
          <p:nvPr/>
        </p:nvSpPr>
        <p:spPr>
          <a:xfrm>
            <a:off x="3538728" y="1956816"/>
            <a:ext cx="2423160" cy="502920"/>
          </a:xfrm>
          <a:prstGeom prst="rect">
            <a:avLst/>
          </a:prstGeom>
          <a:noFill/>
          <a:ln/>
        </p:spPr>
        <p:txBody>
          <a:bodyPr wrap="square" lIns="0" tIns="0" rIns="0" bIns="0" rtlCol="0" anchor="t"/>
          <a:lstStyle/>
          <a:p>
            <a:pPr indent="0" marL="0">
              <a:buNone/>
            </a:pPr>
            <a:r>
              <a:rPr lang="en-US" sz="2500" b="1" dirty="0">
                <a:solidFill>
                  <a:srgbClr val="DC2626"/>
                </a:solidFill>
                <a:latin typeface="Calibri" pitchFamily="34" charset="0"/>
                <a:ea typeface="Calibri" pitchFamily="34" charset="-122"/>
                <a:cs typeface="Calibri" pitchFamily="34" charset="-120"/>
              </a:rPr>
              <a:t>£512k/yr</a:t>
            </a:r>
            <a:endParaRPr lang="en-US" sz="2500" dirty="0"/>
          </a:p>
        </p:txBody>
      </p:sp>
      <p:sp>
        <p:nvSpPr>
          <p:cNvPr id="18" name="Text 16"/>
          <p:cNvSpPr/>
          <p:nvPr/>
        </p:nvSpPr>
        <p:spPr>
          <a:xfrm>
            <a:off x="3538728" y="2450592"/>
            <a:ext cx="2423160" cy="274320"/>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Found autonomously</a:t>
            </a:r>
            <a:endParaRPr lang="en-US" sz="1250" dirty="0"/>
          </a:p>
        </p:txBody>
      </p:sp>
      <p:sp>
        <p:nvSpPr>
          <p:cNvPr id="19" name="Text 17"/>
          <p:cNvSpPr/>
          <p:nvPr/>
        </p:nvSpPr>
        <p:spPr>
          <a:xfrm>
            <a:off x="3538728" y="2724912"/>
            <a:ext cx="2423160" cy="640080"/>
          </a:xfrm>
          <a:prstGeom prst="rect">
            <a:avLst/>
          </a:prstGeom>
          <a:noFill/>
          <a:ln/>
        </p:spPr>
        <p:txBody>
          <a:bodyPr wrap="square" lIns="0" tIns="0" rIns="0" bIns="0" rtlCol="0" anchor="t"/>
          <a:lstStyle/>
          <a:p>
            <a:pPr indent="0" marL="0">
              <a:lnSpc>
                <a:spcPct val="105000"/>
              </a:lnSpc>
              <a:buNone/>
            </a:pPr>
            <a:r>
              <a:rPr lang="en-US" sz="1000" dirty="0">
                <a:solidFill>
                  <a:srgbClr val="64748B"/>
                </a:solidFill>
                <a:latin typeface="Calibri" pitchFamily="34" charset="0"/>
                <a:ea typeface="Calibri" pitchFamily="34" charset="-122"/>
                <a:cs typeface="Calibri" pitchFamily="34" charset="-120"/>
              </a:rPr>
              <a:t>In our live demo the background agent flagged £512k/yr of pricing issues — with nobody at the keyboard.</a:t>
            </a:r>
            <a:endParaRPr lang="en-US" sz="1000" dirty="0"/>
          </a:p>
        </p:txBody>
      </p:sp>
      <p:sp>
        <p:nvSpPr>
          <p:cNvPr id="20" name="Shape 18"/>
          <p:cNvSpPr/>
          <p:nvPr/>
        </p:nvSpPr>
        <p:spPr>
          <a:xfrm>
            <a:off x="6263640" y="1828800"/>
            <a:ext cx="2743200" cy="1600200"/>
          </a:xfrm>
          <a:prstGeom prst="roundRect">
            <a:avLst>
              <a:gd name="adj" fmla="val 5143"/>
            </a:avLst>
          </a:prstGeom>
          <a:solidFill>
            <a:srgbClr val="F1F5F9"/>
          </a:solidFill>
          <a:ln/>
        </p:spPr>
      </p:sp>
      <p:sp>
        <p:nvSpPr>
          <p:cNvPr id="21" name="Shape 19"/>
          <p:cNvSpPr/>
          <p:nvPr/>
        </p:nvSpPr>
        <p:spPr>
          <a:xfrm>
            <a:off x="6263640" y="1828800"/>
            <a:ext cx="64008" cy="1600200"/>
          </a:xfrm>
          <a:prstGeom prst="rect">
            <a:avLst/>
          </a:prstGeom>
          <a:solidFill>
            <a:srgbClr val="0891B2"/>
          </a:solidFill>
          <a:ln/>
        </p:spPr>
      </p:sp>
      <p:sp>
        <p:nvSpPr>
          <p:cNvPr id="22" name="Text 20"/>
          <p:cNvSpPr/>
          <p:nvPr/>
        </p:nvSpPr>
        <p:spPr>
          <a:xfrm>
            <a:off x="6464808" y="1956816"/>
            <a:ext cx="2423160" cy="502920"/>
          </a:xfrm>
          <a:prstGeom prst="rect">
            <a:avLst/>
          </a:prstGeom>
          <a:noFill/>
          <a:ln/>
        </p:spPr>
        <p:txBody>
          <a:bodyPr wrap="square" lIns="0" tIns="0" rIns="0" bIns="0" rtlCol="0" anchor="t"/>
          <a:lstStyle/>
          <a:p>
            <a:pPr indent="0" marL="0">
              <a:buNone/>
            </a:pPr>
            <a:r>
              <a:rPr lang="en-US" sz="2500" b="1" dirty="0">
                <a:solidFill>
                  <a:srgbClr val="0891B2"/>
                </a:solidFill>
                <a:latin typeface="Calibri" pitchFamily="34" charset="0"/>
                <a:ea typeface="Calibri" pitchFamily="34" charset="-122"/>
                <a:cs typeface="Calibri" pitchFamily="34" charset="-120"/>
              </a:rPr>
              <a:t>99%</a:t>
            </a:r>
            <a:endParaRPr lang="en-US" sz="2500" dirty="0"/>
          </a:p>
        </p:txBody>
      </p:sp>
      <p:sp>
        <p:nvSpPr>
          <p:cNvPr id="23" name="Text 21"/>
          <p:cNvSpPr/>
          <p:nvPr/>
        </p:nvSpPr>
        <p:spPr>
          <a:xfrm>
            <a:off x="6464808" y="2450592"/>
            <a:ext cx="2423160" cy="274320"/>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Part recognition</a:t>
            </a:r>
            <a:endParaRPr lang="en-US" sz="1250" dirty="0"/>
          </a:p>
        </p:txBody>
      </p:sp>
      <p:sp>
        <p:nvSpPr>
          <p:cNvPr id="24" name="Text 22"/>
          <p:cNvSpPr/>
          <p:nvPr/>
        </p:nvSpPr>
        <p:spPr>
          <a:xfrm>
            <a:off x="6464808" y="2724912"/>
            <a:ext cx="2423160" cy="640080"/>
          </a:xfrm>
          <a:prstGeom prst="rect">
            <a:avLst/>
          </a:prstGeom>
          <a:noFill/>
          <a:ln/>
        </p:spPr>
        <p:txBody>
          <a:bodyPr wrap="square" lIns="0" tIns="0" rIns="0" bIns="0" rtlCol="0" anchor="t"/>
          <a:lstStyle/>
          <a:p>
            <a:pPr indent="0" marL="0">
              <a:lnSpc>
                <a:spcPct val="105000"/>
              </a:lnSpc>
              <a:buNone/>
            </a:pPr>
            <a:r>
              <a:rPr lang="en-US" sz="1000" dirty="0">
                <a:solidFill>
                  <a:srgbClr val="64748B"/>
                </a:solidFill>
                <a:latin typeface="Calibri" pitchFamily="34" charset="0"/>
                <a:ea typeface="Calibri" pitchFamily="34" charset="-122"/>
                <a:cs typeface="Calibri" pitchFamily="34" charset="-120"/>
              </a:rPr>
              <a:t>A new bracket was matched to 3 past bracket analyses at 98–99% similarity, with reasons shown.</a:t>
            </a:r>
            <a:endParaRPr lang="en-US" sz="1000" dirty="0"/>
          </a:p>
        </p:txBody>
      </p:sp>
      <p:sp>
        <p:nvSpPr>
          <p:cNvPr id="25" name="Shape 23"/>
          <p:cNvSpPr/>
          <p:nvPr/>
        </p:nvSpPr>
        <p:spPr>
          <a:xfrm>
            <a:off x="9189720" y="1828800"/>
            <a:ext cx="2606040" cy="1600200"/>
          </a:xfrm>
          <a:prstGeom prst="roundRect">
            <a:avLst>
              <a:gd name="adj" fmla="val 5143"/>
            </a:avLst>
          </a:prstGeom>
          <a:solidFill>
            <a:srgbClr val="F1F5F9"/>
          </a:solidFill>
          <a:ln/>
        </p:spPr>
      </p:sp>
      <p:sp>
        <p:nvSpPr>
          <p:cNvPr id="26" name="Shape 24"/>
          <p:cNvSpPr/>
          <p:nvPr/>
        </p:nvSpPr>
        <p:spPr>
          <a:xfrm>
            <a:off x="9189720" y="1828800"/>
            <a:ext cx="64008" cy="1600200"/>
          </a:xfrm>
          <a:prstGeom prst="rect">
            <a:avLst/>
          </a:prstGeom>
          <a:solidFill>
            <a:srgbClr val="7C3AED"/>
          </a:solidFill>
          <a:ln/>
        </p:spPr>
      </p:sp>
      <p:sp>
        <p:nvSpPr>
          <p:cNvPr id="27" name="Text 25"/>
          <p:cNvSpPr/>
          <p:nvPr/>
        </p:nvSpPr>
        <p:spPr>
          <a:xfrm>
            <a:off x="9390888" y="1956816"/>
            <a:ext cx="2286000" cy="502920"/>
          </a:xfrm>
          <a:prstGeom prst="rect">
            <a:avLst/>
          </a:prstGeom>
          <a:noFill/>
          <a:ln/>
        </p:spPr>
        <p:txBody>
          <a:bodyPr wrap="square" lIns="0" tIns="0" rIns="0" bIns="0" rtlCol="0" anchor="t"/>
          <a:lstStyle/>
          <a:p>
            <a:pPr indent="0" marL="0">
              <a:buNone/>
            </a:pPr>
            <a:r>
              <a:rPr lang="en-US" sz="2500" b="1" dirty="0">
                <a:solidFill>
                  <a:srgbClr val="7C3AED"/>
                </a:solidFill>
                <a:latin typeface="Calibri" pitchFamily="34" charset="0"/>
                <a:ea typeface="Calibri" pitchFamily="34" charset="-122"/>
                <a:cs typeface="Calibri" pitchFamily="34" charset="-120"/>
              </a:rPr>
              <a:t>1,005</a:t>
            </a:r>
            <a:endParaRPr lang="en-US" sz="2500" dirty="0"/>
          </a:p>
        </p:txBody>
      </p:sp>
      <p:sp>
        <p:nvSpPr>
          <p:cNvPr id="28" name="Text 26"/>
          <p:cNvSpPr/>
          <p:nvPr/>
        </p:nvSpPr>
        <p:spPr>
          <a:xfrm>
            <a:off x="9390888" y="2450592"/>
            <a:ext cx="2286000" cy="274320"/>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Automated tests</a:t>
            </a:r>
            <a:endParaRPr lang="en-US" sz="1250" dirty="0"/>
          </a:p>
        </p:txBody>
      </p:sp>
      <p:sp>
        <p:nvSpPr>
          <p:cNvPr id="29" name="Text 27"/>
          <p:cNvSpPr/>
          <p:nvPr/>
        </p:nvSpPr>
        <p:spPr>
          <a:xfrm>
            <a:off x="9390888" y="2724912"/>
            <a:ext cx="2286000" cy="640080"/>
          </a:xfrm>
          <a:prstGeom prst="rect">
            <a:avLst/>
          </a:prstGeom>
          <a:noFill/>
          <a:ln/>
        </p:spPr>
        <p:txBody>
          <a:bodyPr wrap="square" lIns="0" tIns="0" rIns="0" bIns="0" rtlCol="0" anchor="t"/>
          <a:lstStyle/>
          <a:p>
            <a:pPr indent="0" marL="0">
              <a:lnSpc>
                <a:spcPct val="105000"/>
              </a:lnSpc>
              <a:buNone/>
            </a:pPr>
            <a:r>
              <a:rPr lang="en-US" sz="1000" dirty="0">
                <a:solidFill>
                  <a:srgbClr val="64748B"/>
                </a:solidFill>
                <a:latin typeface="Calibri" pitchFamily="34" charset="0"/>
                <a:ea typeface="Calibri" pitchFamily="34" charset="-122"/>
                <a:cs typeface="Calibri" pitchFamily="34" charset="-120"/>
              </a:rPr>
              <a:t>Every capability is covered by automated tests (86 suites), exercised end-to-end on the running system — and the container build is CI-verified.</a:t>
            </a:r>
            <a:endParaRPr lang="en-US" sz="1000" dirty="0"/>
          </a:p>
        </p:txBody>
      </p:sp>
      <p:sp>
        <p:nvSpPr>
          <p:cNvPr id="30" name="Shape 28"/>
          <p:cNvSpPr/>
          <p:nvPr/>
        </p:nvSpPr>
        <p:spPr>
          <a:xfrm>
            <a:off x="411480" y="3749040"/>
            <a:ext cx="11384280" cy="2468880"/>
          </a:xfrm>
          <a:prstGeom prst="roundRect">
            <a:avLst>
              <a:gd name="adj" fmla="val 2222"/>
            </a:avLst>
          </a:prstGeom>
          <a:solidFill>
            <a:srgbClr val="EFF6FF"/>
          </a:solidFill>
          <a:ln/>
        </p:spPr>
      </p:sp>
      <p:sp>
        <p:nvSpPr>
          <p:cNvPr id="31" name="Text 29"/>
          <p:cNvSpPr/>
          <p:nvPr/>
        </p:nvSpPr>
        <p:spPr>
          <a:xfrm>
            <a:off x="685800" y="3977640"/>
            <a:ext cx="10881360" cy="2103120"/>
          </a:xfrm>
          <a:prstGeom prst="rect">
            <a:avLst/>
          </a:prstGeom>
          <a:noFill/>
          <a:ln/>
        </p:spPr>
        <p:txBody>
          <a:bodyPr wrap="square" lIns="0" tIns="0" rIns="0" bIns="0" rtlCol="0" anchor="t"/>
          <a:lstStyle/>
          <a:p>
            <a:pPr indent="0" marL="0">
              <a:lnSpc>
                <a:spcPct val="115000"/>
              </a:lnSpc>
              <a:spcAft>
                <a:spcPts val="800"/>
              </a:spcAft>
              <a:buNone/>
            </a:pPr>
            <a:r>
              <a:rPr lang="en-US" sz="1500" b="1" dirty="0">
                <a:solidFill>
                  <a:srgbClr val="0F172A"/>
                </a:solidFill>
                <a:latin typeface="Calibri" pitchFamily="34" charset="0"/>
                <a:ea typeface="Calibri" pitchFamily="34" charset="-122"/>
                <a:cs typeface="Calibri" pitchFamily="34" charset="-120"/>
              </a:rPr>
              <a:t>The idea, in plain words</a:t>
            </a:r>
            <a:endParaRPr lang="en-US" sz="1500" dirty="0"/>
          </a:p>
          <a:p>
            <a:pPr indent="0" marL="0">
              <a:lnSpc>
                <a:spcPct val="115000"/>
              </a:lnSpc>
              <a:spcAft>
                <a:spcPts val="800"/>
              </a:spcAft>
              <a:buNone/>
            </a:pPr>
            <a:r>
              <a:rPr lang="en-US" sz="1350" dirty="0">
                <a:solidFill>
                  <a:srgbClr val="334155"/>
                </a:solidFill>
                <a:latin typeface="Calibri" pitchFamily="34" charset="0"/>
                <a:ea typeface="Calibri" pitchFamily="34" charset="-122"/>
                <a:cs typeface="Calibri" pitchFamily="34" charset="-120"/>
              </a:rPr>
              <a:t>Until now, every costing started from zero and the result depended on who did it. </a:t>
            </a:r>
            <a:pPr indent="0" marL="0">
              <a:lnSpc>
                <a:spcPct val="115000"/>
              </a:lnSpc>
              <a:spcAft>
                <a:spcPts val="800"/>
              </a:spcAft>
              <a:buNone/>
            </a:pPr>
            <a:r>
              <a:rPr lang="en-US" sz="1350" b="1" dirty="0">
                <a:solidFill>
                  <a:srgbClr val="0F172A"/>
                </a:solidFill>
                <a:latin typeface="Calibri" pitchFamily="34" charset="0"/>
                <a:ea typeface="Calibri" pitchFamily="34" charset="-122"/>
                <a:cs typeface="Calibri" pitchFamily="34" charset="-120"/>
              </a:rPr>
              <a:t>Now the tool keeps an organisational memory: </a:t>
            </a:r>
            <a:pPr indent="0" marL="0">
              <a:lnSpc>
                <a:spcPct val="115000"/>
              </a:lnSpc>
              <a:spcAft>
                <a:spcPts val="800"/>
              </a:spcAft>
              <a:buNone/>
            </a:pPr>
            <a:r>
              <a:rPr lang="en-US" sz="1350" dirty="0">
                <a:solidFill>
                  <a:srgbClr val="334155"/>
                </a:solidFill>
                <a:latin typeface="Calibri" pitchFamily="34" charset="0"/>
                <a:ea typeface="Calibri" pitchFamily="34" charset="-122"/>
                <a:cs typeface="Calibri" pitchFamily="34" charset="-120"/>
              </a:rPr>
              <a:t>every analysis is stored, every real supplier quote teaches it, and every new part is compared against everything we have costed before.</a:t>
            </a:r>
            <a:endParaRPr lang="en-US" sz="1500" dirty="0"/>
          </a:p>
          <a:p>
            <a:pPr indent="0" marL="0">
              <a:lnSpc>
                <a:spcPct val="115000"/>
              </a:lnSpc>
              <a:spcAft>
                <a:spcPts val="800"/>
              </a:spcAft>
              <a:buNone/>
            </a:pPr>
            <a:r>
              <a:rPr lang="en-US" sz="1350" dirty="0">
                <a:solidFill>
                  <a:srgbClr val="334155"/>
                </a:solidFill>
                <a:latin typeface="Calibri" pitchFamily="34" charset="0"/>
                <a:ea typeface="Calibri" pitchFamily="34" charset="-122"/>
                <a:cs typeface="Calibri" pitchFamily="34" charset="-120"/>
              </a:rPr>
              <a:t>The knowledge stays in our database, on our servers — it becomes a company asset that gets more valuable with use, and it does not walk out of the door when an expert leaves.</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THE CONCEPT</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What "Agentic AI" means here — four plain words</a:t>
            </a:r>
            <a:endParaRPr lang="en-US" sz="2700" dirty="0"/>
          </a:p>
        </p:txBody>
      </p:sp>
      <p:sp>
        <p:nvSpPr>
          <p:cNvPr id="10" name="Shape 8"/>
          <p:cNvSpPr/>
          <p:nvPr/>
        </p:nvSpPr>
        <p:spPr>
          <a:xfrm>
            <a:off x="411480" y="1920240"/>
            <a:ext cx="2761488" cy="3291840"/>
          </a:xfrm>
          <a:prstGeom prst="roundRect">
            <a:avLst>
              <a:gd name="adj" fmla="val 2318"/>
            </a:avLst>
          </a:prstGeom>
          <a:solidFill>
            <a:srgbClr val="F1F5F9"/>
          </a:solidFill>
          <a:ln/>
        </p:spPr>
      </p:sp>
      <p:sp>
        <p:nvSpPr>
          <p:cNvPr id="11" name="Shape 9"/>
          <p:cNvSpPr/>
          <p:nvPr/>
        </p:nvSpPr>
        <p:spPr>
          <a:xfrm>
            <a:off x="411480" y="1920240"/>
            <a:ext cx="2761488" cy="82296"/>
          </a:xfrm>
          <a:prstGeom prst="rect">
            <a:avLst/>
          </a:prstGeom>
          <a:solidFill>
            <a:srgbClr val="2563EB"/>
          </a:solidFill>
          <a:ln/>
        </p:spPr>
      </p:sp>
      <p:sp>
        <p:nvSpPr>
          <p:cNvPr id="12" name="Text 10"/>
          <p:cNvSpPr/>
          <p:nvPr/>
        </p:nvSpPr>
        <p:spPr>
          <a:xfrm>
            <a:off x="640080" y="2148840"/>
            <a:ext cx="2286000" cy="548640"/>
          </a:xfrm>
          <a:prstGeom prst="rect">
            <a:avLst/>
          </a:prstGeom>
          <a:noFill/>
          <a:ln/>
        </p:spPr>
        <p:txBody>
          <a:bodyPr wrap="square" lIns="0" tIns="0" rIns="0" bIns="0" rtlCol="0" anchor="t"/>
          <a:lstStyle/>
          <a:p>
            <a:pPr indent="0" marL="0">
              <a:buNone/>
            </a:pPr>
            <a:r>
              <a:rPr lang="en-US" sz="2800" dirty="0">
                <a:solidFill>
                  <a:srgbClr val="2563EB"/>
                </a:solidFill>
                <a:latin typeface="Calibri" pitchFamily="34" charset="0"/>
                <a:ea typeface="Calibri" pitchFamily="34" charset="-122"/>
                <a:cs typeface="Calibri" pitchFamily="34" charset="-120"/>
              </a:rPr>
              <a:t>🧠</a:t>
            </a:r>
            <a:endParaRPr lang="en-US" sz="2800" dirty="0"/>
          </a:p>
        </p:txBody>
      </p:sp>
      <p:sp>
        <p:nvSpPr>
          <p:cNvPr id="13" name="Text 11"/>
          <p:cNvSpPr/>
          <p:nvPr/>
        </p:nvSpPr>
        <p:spPr>
          <a:xfrm>
            <a:off x="640080" y="2788920"/>
            <a:ext cx="2331720" cy="411480"/>
          </a:xfrm>
          <a:prstGeom prst="rect">
            <a:avLst/>
          </a:prstGeom>
          <a:noFill/>
          <a:ln/>
        </p:spPr>
        <p:txBody>
          <a:bodyPr wrap="square" lIns="0" tIns="0" rIns="0" bIns="0" rtlCol="0" anchor="t"/>
          <a:lstStyle/>
          <a:p>
            <a:pPr indent="0" marL="0">
              <a:buNone/>
            </a:pPr>
            <a:r>
              <a:rPr lang="en-US" sz="1700" b="1" dirty="0">
                <a:solidFill>
                  <a:srgbClr val="2563EB"/>
                </a:solidFill>
                <a:latin typeface="Calibri" pitchFamily="34" charset="0"/>
                <a:ea typeface="Calibri" pitchFamily="34" charset="-122"/>
                <a:cs typeface="Calibri" pitchFamily="34" charset="-120"/>
              </a:rPr>
              <a:t>Remembers</a:t>
            </a:r>
            <a:endParaRPr lang="en-US" sz="1700" dirty="0"/>
          </a:p>
        </p:txBody>
      </p:sp>
      <p:sp>
        <p:nvSpPr>
          <p:cNvPr id="14" name="Text 12"/>
          <p:cNvSpPr/>
          <p:nvPr/>
        </p:nvSpPr>
        <p:spPr>
          <a:xfrm>
            <a:off x="640080" y="3246120"/>
            <a:ext cx="2331720" cy="1828800"/>
          </a:xfrm>
          <a:prstGeom prst="rect">
            <a:avLst/>
          </a:prstGeom>
          <a:noFill/>
          <a:ln/>
        </p:spPr>
        <p:txBody>
          <a:bodyPr wrap="square" lIns="0" tIns="0" rIns="0" bIns="0" rtlCol="0" anchor="t"/>
          <a:lstStyle/>
          <a:p>
            <a:pPr indent="0" marL="0">
              <a:lnSpc>
                <a:spcPct val="115000"/>
              </a:lnSpc>
              <a:buNone/>
            </a:pPr>
            <a:r>
              <a:rPr lang="en-US" sz="1150" dirty="0">
                <a:solidFill>
                  <a:srgbClr val="334155"/>
                </a:solidFill>
                <a:latin typeface="Calibri" pitchFamily="34" charset="0"/>
                <a:ea typeface="Calibri" pitchFamily="34" charset="-122"/>
                <a:cs typeface="Calibri" pitchFamily="34" charset="-120"/>
              </a:rPr>
              <a:t>Every costing is saved as a "case": the part, the inputs, the result, and any real quote. Shared across the whole team.</a:t>
            </a:r>
            <a:endParaRPr lang="en-US" sz="1150" dirty="0"/>
          </a:p>
        </p:txBody>
      </p:sp>
      <p:sp>
        <p:nvSpPr>
          <p:cNvPr id="15" name="Shape 13"/>
          <p:cNvSpPr/>
          <p:nvPr/>
        </p:nvSpPr>
        <p:spPr>
          <a:xfrm>
            <a:off x="3374136" y="1920240"/>
            <a:ext cx="2761488" cy="3291840"/>
          </a:xfrm>
          <a:prstGeom prst="roundRect">
            <a:avLst>
              <a:gd name="adj" fmla="val 2318"/>
            </a:avLst>
          </a:prstGeom>
          <a:solidFill>
            <a:srgbClr val="F1F5F9"/>
          </a:solidFill>
          <a:ln/>
        </p:spPr>
      </p:sp>
      <p:sp>
        <p:nvSpPr>
          <p:cNvPr id="16" name="Shape 14"/>
          <p:cNvSpPr/>
          <p:nvPr/>
        </p:nvSpPr>
        <p:spPr>
          <a:xfrm>
            <a:off x="3374136" y="1920240"/>
            <a:ext cx="2761488" cy="82296"/>
          </a:xfrm>
          <a:prstGeom prst="rect">
            <a:avLst/>
          </a:prstGeom>
          <a:solidFill>
            <a:srgbClr val="0891B2"/>
          </a:solidFill>
          <a:ln/>
        </p:spPr>
      </p:sp>
      <p:sp>
        <p:nvSpPr>
          <p:cNvPr id="17" name="Text 15"/>
          <p:cNvSpPr/>
          <p:nvPr/>
        </p:nvSpPr>
        <p:spPr>
          <a:xfrm>
            <a:off x="3602736" y="2148840"/>
            <a:ext cx="2286000" cy="548640"/>
          </a:xfrm>
          <a:prstGeom prst="rect">
            <a:avLst/>
          </a:prstGeom>
          <a:noFill/>
          <a:ln/>
        </p:spPr>
        <p:txBody>
          <a:bodyPr wrap="square" lIns="0" tIns="0" rIns="0" bIns="0" rtlCol="0" anchor="t"/>
          <a:lstStyle/>
          <a:p>
            <a:pPr indent="0" marL="0">
              <a:buNone/>
            </a:pPr>
            <a:r>
              <a:rPr lang="en-US" sz="2800" dirty="0">
                <a:solidFill>
                  <a:srgbClr val="0891B2"/>
                </a:solidFill>
                <a:latin typeface="Calibri" pitchFamily="34" charset="0"/>
                <a:ea typeface="Calibri" pitchFamily="34" charset="-122"/>
                <a:cs typeface="Calibri" pitchFamily="34" charset="-120"/>
              </a:rPr>
              <a:t>🔎</a:t>
            </a:r>
            <a:endParaRPr lang="en-US" sz="2800" dirty="0"/>
          </a:p>
        </p:txBody>
      </p:sp>
      <p:sp>
        <p:nvSpPr>
          <p:cNvPr id="18" name="Text 16"/>
          <p:cNvSpPr/>
          <p:nvPr/>
        </p:nvSpPr>
        <p:spPr>
          <a:xfrm>
            <a:off x="3602736" y="2788920"/>
            <a:ext cx="2331720" cy="411480"/>
          </a:xfrm>
          <a:prstGeom prst="rect">
            <a:avLst/>
          </a:prstGeom>
          <a:noFill/>
          <a:ln/>
        </p:spPr>
        <p:txBody>
          <a:bodyPr wrap="square" lIns="0" tIns="0" rIns="0" bIns="0" rtlCol="0" anchor="t"/>
          <a:lstStyle/>
          <a:p>
            <a:pPr indent="0" marL="0">
              <a:buNone/>
            </a:pPr>
            <a:r>
              <a:rPr lang="en-US" sz="1700" b="1" dirty="0">
                <a:solidFill>
                  <a:srgbClr val="0891B2"/>
                </a:solidFill>
                <a:latin typeface="Calibri" pitchFamily="34" charset="0"/>
                <a:ea typeface="Calibri" pitchFamily="34" charset="-122"/>
                <a:cs typeface="Calibri" pitchFamily="34" charset="-120"/>
              </a:rPr>
              <a:t>Recognises</a:t>
            </a:r>
            <a:endParaRPr lang="en-US" sz="1700" dirty="0"/>
          </a:p>
        </p:txBody>
      </p:sp>
      <p:sp>
        <p:nvSpPr>
          <p:cNvPr id="19" name="Text 17"/>
          <p:cNvSpPr/>
          <p:nvPr/>
        </p:nvSpPr>
        <p:spPr>
          <a:xfrm>
            <a:off x="3602736" y="3246120"/>
            <a:ext cx="2331720" cy="1828800"/>
          </a:xfrm>
          <a:prstGeom prst="rect">
            <a:avLst/>
          </a:prstGeom>
          <a:noFill/>
          <a:ln/>
        </p:spPr>
        <p:txBody>
          <a:bodyPr wrap="square" lIns="0" tIns="0" rIns="0" bIns="0" rtlCol="0" anchor="t"/>
          <a:lstStyle/>
          <a:p>
            <a:pPr indent="0" marL="0">
              <a:lnSpc>
                <a:spcPct val="115000"/>
              </a:lnSpc>
              <a:buNone/>
            </a:pPr>
            <a:r>
              <a:rPr lang="en-US" sz="1150" dirty="0">
                <a:solidFill>
                  <a:srgbClr val="334155"/>
                </a:solidFill>
                <a:latin typeface="Calibri" pitchFamily="34" charset="0"/>
                <a:ea typeface="Calibri" pitchFamily="34" charset="-122"/>
                <a:cs typeface="Calibri" pitchFamily="34" charset="-120"/>
              </a:rPr>
              <a:t>Start a new part and it instantly finds the most similar past parts — like an experienced engineer saying "we've done this before".</a:t>
            </a:r>
            <a:endParaRPr lang="en-US" sz="1150" dirty="0"/>
          </a:p>
        </p:txBody>
      </p:sp>
      <p:sp>
        <p:nvSpPr>
          <p:cNvPr id="20" name="Shape 18"/>
          <p:cNvSpPr/>
          <p:nvPr/>
        </p:nvSpPr>
        <p:spPr>
          <a:xfrm>
            <a:off x="6336792" y="1920240"/>
            <a:ext cx="2761488" cy="3291840"/>
          </a:xfrm>
          <a:prstGeom prst="roundRect">
            <a:avLst>
              <a:gd name="adj" fmla="val 2318"/>
            </a:avLst>
          </a:prstGeom>
          <a:solidFill>
            <a:srgbClr val="F1F5F9"/>
          </a:solidFill>
          <a:ln/>
        </p:spPr>
      </p:sp>
      <p:sp>
        <p:nvSpPr>
          <p:cNvPr id="21" name="Shape 19"/>
          <p:cNvSpPr/>
          <p:nvPr/>
        </p:nvSpPr>
        <p:spPr>
          <a:xfrm>
            <a:off x="6336792" y="1920240"/>
            <a:ext cx="2761488" cy="82296"/>
          </a:xfrm>
          <a:prstGeom prst="rect">
            <a:avLst/>
          </a:prstGeom>
          <a:solidFill>
            <a:srgbClr val="7C3AED"/>
          </a:solidFill>
          <a:ln/>
        </p:spPr>
      </p:sp>
      <p:sp>
        <p:nvSpPr>
          <p:cNvPr id="22" name="Text 20"/>
          <p:cNvSpPr/>
          <p:nvPr/>
        </p:nvSpPr>
        <p:spPr>
          <a:xfrm>
            <a:off x="6565392" y="2148840"/>
            <a:ext cx="2286000" cy="548640"/>
          </a:xfrm>
          <a:prstGeom prst="rect">
            <a:avLst/>
          </a:prstGeom>
          <a:noFill/>
          <a:ln/>
        </p:spPr>
        <p:txBody>
          <a:bodyPr wrap="square" lIns="0" tIns="0" rIns="0" bIns="0" rtlCol="0" anchor="t"/>
          <a:lstStyle/>
          <a:p>
            <a:pPr indent="0" marL="0">
              <a:buNone/>
            </a:pPr>
            <a:r>
              <a:rPr lang="en-US" sz="2800" dirty="0">
                <a:solidFill>
                  <a:srgbClr val="7C3AED"/>
                </a:solidFill>
                <a:latin typeface="Calibri" pitchFamily="34" charset="0"/>
                <a:ea typeface="Calibri" pitchFamily="34" charset="-122"/>
                <a:cs typeface="Calibri" pitchFamily="34" charset="-120"/>
              </a:rPr>
              <a:t>🎯</a:t>
            </a:r>
            <a:endParaRPr lang="en-US" sz="2800" dirty="0"/>
          </a:p>
        </p:txBody>
      </p:sp>
      <p:sp>
        <p:nvSpPr>
          <p:cNvPr id="23" name="Text 21"/>
          <p:cNvSpPr/>
          <p:nvPr/>
        </p:nvSpPr>
        <p:spPr>
          <a:xfrm>
            <a:off x="6565392" y="2788920"/>
            <a:ext cx="2331720" cy="411480"/>
          </a:xfrm>
          <a:prstGeom prst="rect">
            <a:avLst/>
          </a:prstGeom>
          <a:noFill/>
          <a:ln/>
        </p:spPr>
        <p:txBody>
          <a:bodyPr wrap="square" lIns="0" tIns="0" rIns="0" bIns="0" rtlCol="0" anchor="t"/>
          <a:lstStyle/>
          <a:p>
            <a:pPr indent="0" marL="0">
              <a:buNone/>
            </a:pPr>
            <a:r>
              <a:rPr lang="en-US" sz="1700" b="1" dirty="0">
                <a:solidFill>
                  <a:srgbClr val="7C3AED"/>
                </a:solidFill>
                <a:latin typeface="Calibri" pitchFamily="34" charset="0"/>
                <a:ea typeface="Calibri" pitchFamily="34" charset="-122"/>
                <a:cs typeface="Calibri" pitchFamily="34" charset="-120"/>
              </a:rPr>
              <a:t>Self-corrects</a:t>
            </a:r>
            <a:endParaRPr lang="en-US" sz="1700" dirty="0"/>
          </a:p>
        </p:txBody>
      </p:sp>
      <p:sp>
        <p:nvSpPr>
          <p:cNvPr id="24" name="Text 22"/>
          <p:cNvSpPr/>
          <p:nvPr/>
        </p:nvSpPr>
        <p:spPr>
          <a:xfrm>
            <a:off x="6565392" y="3246120"/>
            <a:ext cx="2331720" cy="1828800"/>
          </a:xfrm>
          <a:prstGeom prst="rect">
            <a:avLst/>
          </a:prstGeom>
          <a:noFill/>
          <a:ln/>
        </p:spPr>
        <p:txBody>
          <a:bodyPr wrap="square" lIns="0" tIns="0" rIns="0" bIns="0" rtlCol="0" anchor="t"/>
          <a:lstStyle/>
          <a:p>
            <a:pPr indent="0" marL="0">
              <a:lnSpc>
                <a:spcPct val="115000"/>
              </a:lnSpc>
              <a:buNone/>
            </a:pPr>
            <a:r>
              <a:rPr lang="en-US" sz="1150" dirty="0">
                <a:solidFill>
                  <a:srgbClr val="334155"/>
                </a:solidFill>
                <a:latin typeface="Calibri" pitchFamily="34" charset="0"/>
                <a:ea typeface="Calibri" pitchFamily="34" charset="-122"/>
                <a:cs typeface="Calibri" pitchFamily="34" charset="-120"/>
              </a:rPr>
              <a:t>Log the real supplier price and the tool measures its own error, then corrects future estimates in that category. Accuracy is measured, not claimed.</a:t>
            </a:r>
            <a:endParaRPr lang="en-US" sz="1150" dirty="0"/>
          </a:p>
        </p:txBody>
      </p:sp>
      <p:sp>
        <p:nvSpPr>
          <p:cNvPr id="25" name="Shape 23"/>
          <p:cNvSpPr/>
          <p:nvPr/>
        </p:nvSpPr>
        <p:spPr>
          <a:xfrm>
            <a:off x="9299448" y="1920240"/>
            <a:ext cx="2761488" cy="3291840"/>
          </a:xfrm>
          <a:prstGeom prst="roundRect">
            <a:avLst>
              <a:gd name="adj" fmla="val 2318"/>
            </a:avLst>
          </a:prstGeom>
          <a:solidFill>
            <a:srgbClr val="F1F5F9"/>
          </a:solidFill>
          <a:ln/>
        </p:spPr>
      </p:sp>
      <p:sp>
        <p:nvSpPr>
          <p:cNvPr id="26" name="Shape 24"/>
          <p:cNvSpPr/>
          <p:nvPr/>
        </p:nvSpPr>
        <p:spPr>
          <a:xfrm>
            <a:off x="9299448" y="1920240"/>
            <a:ext cx="2761488" cy="82296"/>
          </a:xfrm>
          <a:prstGeom prst="rect">
            <a:avLst/>
          </a:prstGeom>
          <a:solidFill>
            <a:srgbClr val="059669"/>
          </a:solidFill>
          <a:ln/>
        </p:spPr>
      </p:sp>
      <p:sp>
        <p:nvSpPr>
          <p:cNvPr id="27" name="Text 25"/>
          <p:cNvSpPr/>
          <p:nvPr/>
        </p:nvSpPr>
        <p:spPr>
          <a:xfrm>
            <a:off x="9528048" y="2148840"/>
            <a:ext cx="2286000" cy="548640"/>
          </a:xfrm>
          <a:prstGeom prst="rect">
            <a:avLst/>
          </a:prstGeom>
          <a:noFill/>
          <a:ln/>
        </p:spPr>
        <p:txBody>
          <a:bodyPr wrap="square" lIns="0" tIns="0" rIns="0" bIns="0" rtlCol="0" anchor="t"/>
          <a:lstStyle/>
          <a:p>
            <a:pPr indent="0" marL="0">
              <a:buNone/>
            </a:pPr>
            <a:r>
              <a:rPr lang="en-US" sz="2800" dirty="0">
                <a:solidFill>
                  <a:srgbClr val="059669"/>
                </a:solidFill>
                <a:latin typeface="Calibri" pitchFamily="34" charset="0"/>
                <a:ea typeface="Calibri" pitchFamily="34" charset="-122"/>
                <a:cs typeface="Calibri" pitchFamily="34" charset="-120"/>
              </a:rPr>
              <a:t>🤖</a:t>
            </a:r>
            <a:endParaRPr lang="en-US" sz="2800" dirty="0"/>
          </a:p>
        </p:txBody>
      </p:sp>
      <p:sp>
        <p:nvSpPr>
          <p:cNvPr id="28" name="Text 26"/>
          <p:cNvSpPr/>
          <p:nvPr/>
        </p:nvSpPr>
        <p:spPr>
          <a:xfrm>
            <a:off x="9528048" y="2788920"/>
            <a:ext cx="2331720" cy="411480"/>
          </a:xfrm>
          <a:prstGeom prst="rect">
            <a:avLst/>
          </a:prstGeom>
          <a:noFill/>
          <a:ln/>
        </p:spPr>
        <p:txBody>
          <a:bodyPr wrap="square" lIns="0" tIns="0" rIns="0" bIns="0" rtlCol="0" anchor="t"/>
          <a:lstStyle/>
          <a:p>
            <a:pPr indent="0" marL="0">
              <a:buNone/>
            </a:pPr>
            <a:r>
              <a:rPr lang="en-US" sz="1700" b="1" dirty="0">
                <a:solidFill>
                  <a:srgbClr val="059669"/>
                </a:solidFill>
                <a:latin typeface="Calibri" pitchFamily="34" charset="0"/>
                <a:ea typeface="Calibri" pitchFamily="34" charset="-122"/>
                <a:cs typeface="Calibri" pitchFamily="34" charset="-120"/>
              </a:rPr>
              <a:t>Acts</a:t>
            </a:r>
            <a:endParaRPr lang="en-US" sz="1700" dirty="0"/>
          </a:p>
        </p:txBody>
      </p:sp>
      <p:sp>
        <p:nvSpPr>
          <p:cNvPr id="29" name="Text 27"/>
          <p:cNvSpPr/>
          <p:nvPr/>
        </p:nvSpPr>
        <p:spPr>
          <a:xfrm>
            <a:off x="9528048" y="3246120"/>
            <a:ext cx="2331720" cy="1828800"/>
          </a:xfrm>
          <a:prstGeom prst="rect">
            <a:avLst/>
          </a:prstGeom>
          <a:noFill/>
          <a:ln/>
        </p:spPr>
        <p:txBody>
          <a:bodyPr wrap="square" lIns="0" tIns="0" rIns="0" bIns="0" rtlCol="0" anchor="t"/>
          <a:lstStyle/>
          <a:p>
            <a:pPr indent="0" marL="0">
              <a:lnSpc>
                <a:spcPct val="115000"/>
              </a:lnSpc>
              <a:buNone/>
            </a:pPr>
            <a:r>
              <a:rPr lang="en-US" sz="1150" dirty="0">
                <a:solidFill>
                  <a:srgbClr val="334155"/>
                </a:solidFill>
                <a:latin typeface="Calibri" pitchFamily="34" charset="0"/>
                <a:ea typeface="Calibri" pitchFamily="34" charset="-122"/>
                <a:cs typeface="Calibri" pitchFamily="34" charset="-120"/>
              </a:rPr>
              <a:t>A background agent re-checks all stored parts on a schedule and raises findings by itself: "you are overpaying here — worth £400k/yr."</a:t>
            </a:r>
            <a:endParaRPr lang="en-US" sz="1150" dirty="0"/>
          </a:p>
        </p:txBody>
      </p:sp>
      <p:sp>
        <p:nvSpPr>
          <p:cNvPr id="30" name="Text 28"/>
          <p:cNvSpPr/>
          <p:nvPr/>
        </p:nvSpPr>
        <p:spPr>
          <a:xfrm>
            <a:off x="411480" y="5486400"/>
            <a:ext cx="11338560" cy="822960"/>
          </a:xfrm>
          <a:prstGeom prst="rect">
            <a:avLst/>
          </a:prstGeom>
          <a:noFill/>
          <a:ln/>
        </p:spPr>
        <p:txBody>
          <a:bodyPr wrap="square" lIns="0" tIns="0" rIns="0" bIns="0" rtlCol="0" anchor="t"/>
          <a:lstStyle/>
          <a:p>
            <a:pPr indent="0" marL="0">
              <a:lnSpc>
                <a:spcPct val="115000"/>
              </a:lnSpc>
              <a:buNone/>
            </a:pPr>
            <a:r>
              <a:rPr lang="en-US" sz="1250" b="1" dirty="0">
                <a:solidFill>
                  <a:srgbClr val="0F172A"/>
                </a:solidFill>
                <a:latin typeface="Calibri" pitchFamily="34" charset="0"/>
                <a:ea typeface="Calibri" pitchFamily="34" charset="-122"/>
                <a:cs typeface="Calibri" pitchFamily="34" charset="-120"/>
              </a:rPr>
              <a:t>Deliberate design choice: </a:t>
            </a:r>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the learning is statistics over our own data — every suggestion shows its source parts and its arithmetic. That makes it auditable and defensible in front of a supplier, which is where costing tools win or lose.</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HOW IT WORKS</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How it works — the learning loop</a:t>
            </a:r>
            <a:endParaRPr lang="en-US" sz="2700" dirty="0"/>
          </a:p>
        </p:txBody>
      </p:sp>
      <p:sp>
        <p:nvSpPr>
          <p:cNvPr id="10" name="Text 8"/>
          <p:cNvSpPr/>
          <p:nvPr/>
        </p:nvSpPr>
        <p:spPr>
          <a:xfrm>
            <a:off x="365760" y="2194560"/>
            <a:ext cx="2048256" cy="1051560"/>
          </a:xfrm>
          <a:prstGeom prst="chevron">
            <a:avLst/>
          </a:prstGeom>
          <a:solidFill>
            <a:srgbClr val="2563EB"/>
          </a:solidFill>
          <a:ln/>
        </p:spPr>
        <p:txBody>
          <a:bodyPr wrap="square" lIns="38100" tIns="152400" rIns="50800" bIns="38100" rtlCol="0" anchor="ctr"/>
          <a:lstStyle/>
          <a:p>
            <a:pPr algn="l" indent="0" marL="0">
              <a:buNone/>
            </a:pPr>
            <a:r>
              <a:rPr lang="en-US" sz="1250" b="1" dirty="0">
                <a:solidFill>
                  <a:srgbClr val="FFFFFF"/>
                </a:solidFill>
                <a:latin typeface="Calibri" pitchFamily="34" charset="0"/>
                <a:ea typeface="Calibri" pitchFamily="34" charset="-122"/>
                <a:cs typeface="Calibri" pitchFamily="34" charset="-120"/>
              </a:rPr>
              <a:t>1 · Analyse</a:t>
            </a:r>
            <a:endParaRPr lang="en-US" sz="1250" dirty="0"/>
          </a:p>
          <a:p>
            <a:pPr algn="l" indent="0" marL="0">
              <a:buNone/>
            </a:pPr>
            <a:r>
              <a:rPr lang="en-US" sz="850" dirty="0">
                <a:solidFill>
                  <a:srgbClr val="E8EEFF"/>
                </a:solidFill>
                <a:latin typeface="Calibri" pitchFamily="34" charset="0"/>
                <a:ea typeface="Calibri" pitchFamily="34" charset="-122"/>
                <a:cs typeface="Calibri" pitchFamily="34" charset="-120"/>
              </a:rPr>
              <a:t>Engineer costs a part as usual</a:t>
            </a:r>
            <a:endParaRPr lang="en-US" sz="1250" dirty="0"/>
          </a:p>
        </p:txBody>
      </p:sp>
      <p:sp>
        <p:nvSpPr>
          <p:cNvPr id="11" name="Text 9"/>
          <p:cNvSpPr/>
          <p:nvPr/>
        </p:nvSpPr>
        <p:spPr>
          <a:xfrm>
            <a:off x="2127260" y="2194560"/>
            <a:ext cx="2048256" cy="1051560"/>
          </a:xfrm>
          <a:prstGeom prst="chevron">
            <a:avLst/>
          </a:prstGeom>
          <a:solidFill>
            <a:srgbClr val="4F46E5"/>
          </a:solidFill>
          <a:ln/>
        </p:spPr>
        <p:txBody>
          <a:bodyPr wrap="square" lIns="38100" tIns="152400" rIns="50800" bIns="38100" rtlCol="0" anchor="ctr"/>
          <a:lstStyle/>
          <a:p>
            <a:pPr algn="l" indent="0" marL="0">
              <a:buNone/>
            </a:pPr>
            <a:r>
              <a:rPr lang="en-US" sz="1250" b="1" dirty="0">
                <a:solidFill>
                  <a:srgbClr val="FFFFFF"/>
                </a:solidFill>
                <a:latin typeface="Calibri" pitchFamily="34" charset="0"/>
                <a:ea typeface="Calibri" pitchFamily="34" charset="-122"/>
                <a:cs typeface="Calibri" pitchFamily="34" charset="-120"/>
              </a:rPr>
              <a:t>2 · Remember</a:t>
            </a:r>
            <a:endParaRPr lang="en-US" sz="1250" dirty="0"/>
          </a:p>
          <a:p>
            <a:pPr algn="l" indent="0" marL="0">
              <a:buNone/>
            </a:pPr>
            <a:r>
              <a:rPr lang="en-US" sz="850" dirty="0">
                <a:solidFill>
                  <a:srgbClr val="E8EEFF"/>
                </a:solidFill>
                <a:latin typeface="Calibri" pitchFamily="34" charset="0"/>
                <a:ea typeface="Calibri" pitchFamily="34" charset="-122"/>
                <a:cs typeface="Calibri" pitchFamily="34" charset="-120"/>
              </a:rPr>
              <a:t>Saved automatically to the knowledge base</a:t>
            </a:r>
            <a:endParaRPr lang="en-US" sz="1250" dirty="0"/>
          </a:p>
        </p:txBody>
      </p:sp>
      <p:sp>
        <p:nvSpPr>
          <p:cNvPr id="12" name="Text 10"/>
          <p:cNvSpPr/>
          <p:nvPr/>
        </p:nvSpPr>
        <p:spPr>
          <a:xfrm>
            <a:off x="3888760" y="2194560"/>
            <a:ext cx="2048256" cy="1051560"/>
          </a:xfrm>
          <a:prstGeom prst="chevron">
            <a:avLst/>
          </a:prstGeom>
          <a:solidFill>
            <a:srgbClr val="0891B2"/>
          </a:solidFill>
          <a:ln/>
        </p:spPr>
        <p:txBody>
          <a:bodyPr wrap="square" lIns="38100" tIns="152400" rIns="50800" bIns="38100" rtlCol="0" anchor="ctr"/>
          <a:lstStyle/>
          <a:p>
            <a:pPr algn="l" indent="0" marL="0">
              <a:buNone/>
            </a:pPr>
            <a:r>
              <a:rPr lang="en-US" sz="1250" b="1" dirty="0">
                <a:solidFill>
                  <a:srgbClr val="FFFFFF"/>
                </a:solidFill>
                <a:latin typeface="Calibri" pitchFamily="34" charset="0"/>
                <a:ea typeface="Calibri" pitchFamily="34" charset="-122"/>
                <a:cs typeface="Calibri" pitchFamily="34" charset="-120"/>
              </a:rPr>
              <a:t>3 · Recognise</a:t>
            </a:r>
            <a:endParaRPr lang="en-US" sz="1250" dirty="0"/>
          </a:p>
          <a:p>
            <a:pPr algn="l" indent="0" marL="0">
              <a:buNone/>
            </a:pPr>
            <a:r>
              <a:rPr lang="en-US" sz="850" dirty="0">
                <a:solidFill>
                  <a:srgbClr val="E8EEFF"/>
                </a:solidFill>
                <a:latin typeface="Calibri" pitchFamily="34" charset="0"/>
                <a:ea typeface="Calibri" pitchFamily="34" charset="-122"/>
                <a:cs typeface="Calibri" pitchFamily="34" charset="-120"/>
              </a:rPr>
              <a:t>Similar past parts found instantly</a:t>
            </a:r>
            <a:endParaRPr lang="en-US" sz="1250" dirty="0"/>
          </a:p>
        </p:txBody>
      </p:sp>
      <p:sp>
        <p:nvSpPr>
          <p:cNvPr id="13" name="Text 11"/>
          <p:cNvSpPr/>
          <p:nvPr/>
        </p:nvSpPr>
        <p:spPr>
          <a:xfrm>
            <a:off x="5650260" y="2194560"/>
            <a:ext cx="2048256" cy="1051560"/>
          </a:xfrm>
          <a:prstGeom prst="chevron">
            <a:avLst/>
          </a:prstGeom>
          <a:solidFill>
            <a:srgbClr val="7C3AED"/>
          </a:solidFill>
          <a:ln/>
        </p:spPr>
        <p:txBody>
          <a:bodyPr wrap="square" lIns="38100" tIns="152400" rIns="50800" bIns="38100" rtlCol="0" anchor="ctr"/>
          <a:lstStyle/>
          <a:p>
            <a:pPr algn="l" indent="0" marL="0">
              <a:buNone/>
            </a:pPr>
            <a:r>
              <a:rPr lang="en-US" sz="1250" b="1" dirty="0">
                <a:solidFill>
                  <a:srgbClr val="FFFFFF"/>
                </a:solidFill>
                <a:latin typeface="Calibri" pitchFamily="34" charset="0"/>
                <a:ea typeface="Calibri" pitchFamily="34" charset="-122"/>
                <a:cs typeface="Calibri" pitchFamily="34" charset="-120"/>
              </a:rPr>
              <a:t>4 · Suggest</a:t>
            </a:r>
            <a:endParaRPr lang="en-US" sz="1250" dirty="0"/>
          </a:p>
          <a:p>
            <a:pPr algn="l" indent="0" marL="0">
              <a:buNone/>
            </a:pPr>
            <a:r>
              <a:rPr lang="en-US" sz="850" dirty="0">
                <a:solidFill>
                  <a:srgbClr val="E8EEFF"/>
                </a:solidFill>
                <a:latin typeface="Calibri" pitchFamily="34" charset="0"/>
                <a:ea typeface="Calibri" pitchFamily="34" charset="-122"/>
                <a:cs typeface="Calibri" pitchFamily="34" charset="-120"/>
              </a:rPr>
              <a:t>Benchmarks, materials, real quotes shown</a:t>
            </a:r>
            <a:endParaRPr lang="en-US" sz="1250" dirty="0"/>
          </a:p>
        </p:txBody>
      </p:sp>
      <p:sp>
        <p:nvSpPr>
          <p:cNvPr id="14" name="Text 12"/>
          <p:cNvSpPr/>
          <p:nvPr/>
        </p:nvSpPr>
        <p:spPr>
          <a:xfrm>
            <a:off x="7411761" y="2194560"/>
            <a:ext cx="2048256" cy="1051560"/>
          </a:xfrm>
          <a:prstGeom prst="chevron">
            <a:avLst/>
          </a:prstGeom>
          <a:solidFill>
            <a:srgbClr val="D97706"/>
          </a:solidFill>
          <a:ln/>
        </p:spPr>
        <p:txBody>
          <a:bodyPr wrap="square" lIns="38100" tIns="152400" rIns="50800" bIns="38100" rtlCol="0" anchor="ctr"/>
          <a:lstStyle/>
          <a:p>
            <a:pPr algn="l" indent="0" marL="0">
              <a:buNone/>
            </a:pPr>
            <a:r>
              <a:rPr lang="en-US" sz="1250" b="1" dirty="0">
                <a:solidFill>
                  <a:srgbClr val="FFFFFF"/>
                </a:solidFill>
                <a:latin typeface="Calibri" pitchFamily="34" charset="0"/>
                <a:ea typeface="Calibri" pitchFamily="34" charset="-122"/>
                <a:cs typeface="Calibri" pitchFamily="34" charset="-120"/>
              </a:rPr>
              <a:t>5 · Learn</a:t>
            </a:r>
            <a:endParaRPr lang="en-US" sz="1250" dirty="0"/>
          </a:p>
          <a:p>
            <a:pPr algn="l" indent="0" marL="0">
              <a:buNone/>
            </a:pPr>
            <a:r>
              <a:rPr lang="en-US" sz="850" dirty="0">
                <a:solidFill>
                  <a:srgbClr val="E8EEFF"/>
                </a:solidFill>
                <a:latin typeface="Calibri" pitchFamily="34" charset="0"/>
                <a:ea typeface="Calibri" pitchFamily="34" charset="-122"/>
                <a:cs typeface="Calibri" pitchFamily="34" charset="-120"/>
              </a:rPr>
              <a:t>Real quote logged → model self-corrects</a:t>
            </a:r>
            <a:endParaRPr lang="en-US" sz="1250" dirty="0"/>
          </a:p>
        </p:txBody>
      </p:sp>
      <p:sp>
        <p:nvSpPr>
          <p:cNvPr id="15" name="Text 13"/>
          <p:cNvSpPr/>
          <p:nvPr/>
        </p:nvSpPr>
        <p:spPr>
          <a:xfrm>
            <a:off x="9173261" y="2194560"/>
            <a:ext cx="2048256" cy="1051560"/>
          </a:xfrm>
          <a:prstGeom prst="chevron">
            <a:avLst/>
          </a:prstGeom>
          <a:solidFill>
            <a:srgbClr val="059669"/>
          </a:solidFill>
          <a:ln/>
        </p:spPr>
        <p:txBody>
          <a:bodyPr wrap="square" lIns="38100" tIns="152400" rIns="50800" bIns="38100" rtlCol="0" anchor="ctr"/>
          <a:lstStyle/>
          <a:p>
            <a:pPr algn="l" indent="0" marL="0">
              <a:buNone/>
            </a:pPr>
            <a:r>
              <a:rPr lang="en-US" sz="1250" b="1" dirty="0">
                <a:solidFill>
                  <a:srgbClr val="FFFFFF"/>
                </a:solidFill>
                <a:latin typeface="Calibri" pitchFamily="34" charset="0"/>
                <a:ea typeface="Calibri" pitchFamily="34" charset="-122"/>
                <a:cs typeface="Calibri" pitchFamily="34" charset="-120"/>
              </a:rPr>
              <a:t>6 · Act</a:t>
            </a:r>
            <a:endParaRPr lang="en-US" sz="1250" dirty="0"/>
          </a:p>
          <a:p>
            <a:pPr algn="l" indent="0" marL="0">
              <a:buNone/>
            </a:pPr>
            <a:r>
              <a:rPr lang="en-US" sz="850" dirty="0">
                <a:solidFill>
                  <a:srgbClr val="E8EEFF"/>
                </a:solidFill>
                <a:latin typeface="Calibri" pitchFamily="34" charset="0"/>
                <a:ea typeface="Calibri" pitchFamily="34" charset="-122"/>
                <a:cs typeface="Calibri" pitchFamily="34" charset="-120"/>
              </a:rPr>
              <a:t>Background agent flags drift &amp; savings</a:t>
            </a:r>
            <a:endParaRPr lang="en-US" sz="1250" dirty="0"/>
          </a:p>
        </p:txBody>
      </p:sp>
      <p:sp>
        <p:nvSpPr>
          <p:cNvPr id="16" name="Text 14"/>
          <p:cNvSpPr/>
          <p:nvPr/>
        </p:nvSpPr>
        <p:spPr>
          <a:xfrm>
            <a:off x="4297680" y="4480560"/>
            <a:ext cx="4206240" cy="320040"/>
          </a:xfrm>
          <a:prstGeom prst="rect">
            <a:avLst/>
          </a:prstGeom>
          <a:noFill/>
          <a:ln/>
        </p:spPr>
        <p:txBody>
          <a:bodyPr wrap="square" lIns="0" tIns="0" rIns="0" bIns="0" rtlCol="0" anchor="t"/>
          <a:lstStyle/>
          <a:p>
            <a:pPr algn="ctr" indent="0" marL="0">
              <a:buNone/>
            </a:pPr>
            <a:r>
              <a:rPr lang="en-US" sz="1200" i="1" dirty="0">
                <a:solidFill>
                  <a:srgbClr val="64748B"/>
                </a:solidFill>
                <a:latin typeface="Calibri" pitchFamily="34" charset="0"/>
                <a:ea typeface="Calibri" pitchFamily="34" charset="-122"/>
                <a:cs typeface="Calibri" pitchFamily="34" charset="-120"/>
              </a:rPr>
              <a:t>…and every loop makes the next estimate better</a:t>
            </a:r>
            <a:endParaRPr lang="en-US" sz="1200" dirty="0"/>
          </a:p>
        </p:txBody>
      </p:sp>
      <p:sp>
        <p:nvSpPr>
          <p:cNvPr id="17" name="Shape 15"/>
          <p:cNvSpPr/>
          <p:nvPr/>
        </p:nvSpPr>
        <p:spPr>
          <a:xfrm>
            <a:off x="411480" y="5029200"/>
            <a:ext cx="11384280" cy="1234440"/>
          </a:xfrm>
          <a:prstGeom prst="roundRect">
            <a:avLst>
              <a:gd name="adj" fmla="val 5926"/>
            </a:avLst>
          </a:prstGeom>
          <a:solidFill>
            <a:srgbClr val="EFF6FF"/>
          </a:solidFill>
          <a:ln/>
        </p:spPr>
      </p:sp>
      <p:sp>
        <p:nvSpPr>
          <p:cNvPr id="18" name="Text 16"/>
          <p:cNvSpPr/>
          <p:nvPr/>
        </p:nvSpPr>
        <p:spPr>
          <a:xfrm>
            <a:off x="685800" y="5230368"/>
            <a:ext cx="10881360" cy="914400"/>
          </a:xfrm>
          <a:prstGeom prst="rect">
            <a:avLst/>
          </a:prstGeom>
          <a:noFill/>
          <a:ln/>
        </p:spPr>
        <p:txBody>
          <a:bodyPr wrap="square" lIns="0" tIns="0" rIns="0" bIns="0" rtlCol="0" anchor="t"/>
          <a:lstStyle/>
          <a:p>
            <a:pPr indent="0" marL="0">
              <a:lnSpc>
                <a:spcPct val="120000"/>
              </a:lnSpc>
              <a:buNone/>
            </a:pPr>
            <a:r>
              <a:rPr lang="en-US" sz="1300" b="1" dirty="0">
                <a:solidFill>
                  <a:srgbClr val="0F172A"/>
                </a:solidFill>
                <a:latin typeface="Calibri" pitchFamily="34" charset="0"/>
                <a:ea typeface="Calibri" pitchFamily="34" charset="-122"/>
                <a:cs typeface="Calibri" pitchFamily="34" charset="-120"/>
              </a:rPr>
              <a:t>No extra work for the engineer. </a:t>
            </a:r>
            <a:pPr indent="0" marL="0">
              <a:lnSpc>
                <a:spcPct val="120000"/>
              </a:lnSpc>
              <a:buNone/>
            </a:pPr>
            <a:r>
              <a:rPr lang="en-US" sz="1300" dirty="0">
                <a:solidFill>
                  <a:srgbClr val="334155"/>
                </a:solidFill>
                <a:latin typeface="Calibri" pitchFamily="34" charset="0"/>
                <a:ea typeface="Calibri" pitchFamily="34" charset="-122"/>
                <a:cs typeface="Calibri" pitchFamily="34" charset="-120"/>
              </a:rPr>
              <a:t>Steps 2, 3, 4 and 6 happen automatically. The only new habit is one click — "Log Actual £" — when a real supplier quote arrives. That single click is the fuel for everything on this slide.</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CAPABILITY 1 OF 5</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The memory — an organisational knowledge base</a:t>
            </a:r>
            <a:endParaRPr lang="en-US" sz="2700" dirty="0"/>
          </a:p>
        </p:txBody>
      </p:sp>
      <p:sp>
        <p:nvSpPr>
          <p:cNvPr id="10" name="Shape 8"/>
          <p:cNvSpPr/>
          <p:nvPr/>
        </p:nvSpPr>
        <p:spPr>
          <a:xfrm>
            <a:off x="411480" y="1828800"/>
            <a:ext cx="5486400" cy="4206240"/>
          </a:xfrm>
          <a:prstGeom prst="roundRect">
            <a:avLst>
              <a:gd name="adj" fmla="val 1087"/>
            </a:avLst>
          </a:prstGeom>
          <a:solidFill>
            <a:srgbClr val="F1F5F9"/>
          </a:solidFill>
          <a:ln/>
        </p:spPr>
      </p:sp>
      <p:sp>
        <p:nvSpPr>
          <p:cNvPr id="11" name="Text 9"/>
          <p:cNvSpPr/>
          <p:nvPr/>
        </p:nvSpPr>
        <p:spPr>
          <a:xfrm>
            <a:off x="685800" y="2057400"/>
            <a:ext cx="5029200" cy="365760"/>
          </a:xfrm>
          <a:prstGeom prst="rect">
            <a:avLst/>
          </a:prstGeom>
          <a:noFill/>
          <a:ln/>
        </p:spPr>
        <p:txBody>
          <a:bodyPr wrap="square" lIns="0" tIns="0" rIns="0" bIns="0" rtlCol="0" anchor="t"/>
          <a:lstStyle/>
          <a:p>
            <a:pPr indent="0" marL="0">
              <a:buNone/>
            </a:pPr>
            <a:r>
              <a:rPr lang="en-US" sz="1500" b="1" dirty="0">
                <a:solidFill>
                  <a:srgbClr val="0F172A"/>
                </a:solidFill>
                <a:latin typeface="Calibri" pitchFamily="34" charset="0"/>
                <a:ea typeface="Calibri" pitchFamily="34" charset="-122"/>
                <a:cs typeface="Calibri" pitchFamily="34" charset="-120"/>
              </a:rPr>
              <a:t>What is stored for every analysis</a:t>
            </a:r>
            <a:endParaRPr lang="en-US" sz="1500" dirty="0"/>
          </a:p>
        </p:txBody>
      </p:sp>
      <p:sp>
        <p:nvSpPr>
          <p:cNvPr id="12" name="Shape 10"/>
          <p:cNvSpPr/>
          <p:nvPr/>
        </p:nvSpPr>
        <p:spPr>
          <a:xfrm>
            <a:off x="685800" y="2514600"/>
            <a:ext cx="82296" cy="502920"/>
          </a:xfrm>
          <a:prstGeom prst="rect">
            <a:avLst/>
          </a:prstGeom>
          <a:solidFill>
            <a:srgbClr val="2563EB"/>
          </a:solidFill>
          <a:ln/>
        </p:spPr>
      </p:sp>
      <p:sp>
        <p:nvSpPr>
          <p:cNvPr id="13" name="Text 11"/>
          <p:cNvSpPr/>
          <p:nvPr/>
        </p:nvSpPr>
        <p:spPr>
          <a:xfrm>
            <a:off x="914400" y="2514600"/>
            <a:ext cx="4754880" cy="566928"/>
          </a:xfrm>
          <a:prstGeom prst="rect">
            <a:avLst/>
          </a:prstGeom>
          <a:noFill/>
          <a:ln/>
        </p:spPr>
        <p:txBody>
          <a:bodyPr wrap="square" lIns="0" tIns="0" rIns="0" bIns="0" rtlCol="0" anchor="t"/>
          <a:lstStyle/>
          <a:p>
            <a:pPr indent="0" marL="0">
              <a:lnSpc>
                <a:spcPct val="105000"/>
              </a:lnSpc>
              <a:buNone/>
            </a:pPr>
            <a:r>
              <a:rPr lang="en-US" sz="1250" b="1" dirty="0">
                <a:solidFill>
                  <a:srgbClr val="0F172A"/>
                </a:solidFill>
                <a:latin typeface="Calibri" pitchFamily="34" charset="0"/>
                <a:ea typeface="Calibri" pitchFamily="34" charset="-122"/>
                <a:cs typeface="Calibri" pitchFamily="34" charset="-120"/>
              </a:rPr>
              <a:t>Part "fingerprint" — </a:t>
            </a:r>
            <a:pPr indent="0" marL="0">
              <a:lnSpc>
                <a:spcPct val="105000"/>
              </a:lnSpc>
              <a:buNone/>
            </a:pPr>
            <a:r>
              <a:rPr lang="en-US" sz="1250" dirty="0">
                <a:solidFill>
                  <a:srgbClr val="334155"/>
                </a:solidFill>
                <a:latin typeface="Calibri" pitchFamily="34" charset="0"/>
                <a:ea typeface="Calibri" pitchFamily="34" charset="-122"/>
                <a:cs typeface="Calibri" pitchFamily="34" charset="-120"/>
              </a:rPr>
              <a:t>process, material, weight, size, region, volume</a:t>
            </a:r>
            <a:endParaRPr lang="en-US" sz="1250" dirty="0"/>
          </a:p>
        </p:txBody>
      </p:sp>
      <p:sp>
        <p:nvSpPr>
          <p:cNvPr id="14" name="Shape 12"/>
          <p:cNvSpPr/>
          <p:nvPr/>
        </p:nvSpPr>
        <p:spPr>
          <a:xfrm>
            <a:off x="685800" y="3172968"/>
            <a:ext cx="82296" cy="502920"/>
          </a:xfrm>
          <a:prstGeom prst="rect">
            <a:avLst/>
          </a:prstGeom>
          <a:solidFill>
            <a:srgbClr val="2563EB"/>
          </a:solidFill>
          <a:ln/>
        </p:spPr>
      </p:sp>
      <p:sp>
        <p:nvSpPr>
          <p:cNvPr id="15" name="Text 13"/>
          <p:cNvSpPr/>
          <p:nvPr/>
        </p:nvSpPr>
        <p:spPr>
          <a:xfrm>
            <a:off x="914400" y="3172968"/>
            <a:ext cx="4754880" cy="566928"/>
          </a:xfrm>
          <a:prstGeom prst="rect">
            <a:avLst/>
          </a:prstGeom>
          <a:noFill/>
          <a:ln/>
        </p:spPr>
        <p:txBody>
          <a:bodyPr wrap="square" lIns="0" tIns="0" rIns="0" bIns="0" rtlCol="0" anchor="t"/>
          <a:lstStyle/>
          <a:p>
            <a:pPr indent="0" marL="0">
              <a:lnSpc>
                <a:spcPct val="105000"/>
              </a:lnSpc>
              <a:buNone/>
            </a:pPr>
            <a:r>
              <a:rPr lang="en-US" sz="1250" b="1" dirty="0">
                <a:solidFill>
                  <a:srgbClr val="0F172A"/>
                </a:solidFill>
                <a:latin typeface="Calibri" pitchFamily="34" charset="0"/>
                <a:ea typeface="Calibri" pitchFamily="34" charset="-122"/>
                <a:cs typeface="Calibri" pitchFamily="34" charset="-120"/>
              </a:rPr>
              <a:t>The full cost result — </a:t>
            </a:r>
            <a:pPr indent="0" marL="0">
              <a:lnSpc>
                <a:spcPct val="105000"/>
              </a:lnSpc>
              <a:buNone/>
            </a:pPr>
            <a:r>
              <a:rPr lang="en-US" sz="1250" dirty="0">
                <a:solidFill>
                  <a:srgbClr val="334155"/>
                </a:solidFill>
                <a:latin typeface="Calibri" pitchFamily="34" charset="0"/>
                <a:ea typeface="Calibri" pitchFamily="34" charset="-122"/>
                <a:cs typeface="Calibri" pitchFamily="34" charset="-120"/>
              </a:rPr>
              <a:t>total + breakdown by cost driver</a:t>
            </a:r>
            <a:endParaRPr lang="en-US" sz="1250" dirty="0"/>
          </a:p>
        </p:txBody>
      </p:sp>
      <p:sp>
        <p:nvSpPr>
          <p:cNvPr id="16" name="Shape 14"/>
          <p:cNvSpPr/>
          <p:nvPr/>
        </p:nvSpPr>
        <p:spPr>
          <a:xfrm>
            <a:off x="685800" y="3831336"/>
            <a:ext cx="82296" cy="502920"/>
          </a:xfrm>
          <a:prstGeom prst="rect">
            <a:avLst/>
          </a:prstGeom>
          <a:solidFill>
            <a:srgbClr val="2563EB"/>
          </a:solidFill>
          <a:ln/>
        </p:spPr>
      </p:sp>
      <p:sp>
        <p:nvSpPr>
          <p:cNvPr id="17" name="Text 15"/>
          <p:cNvSpPr/>
          <p:nvPr/>
        </p:nvSpPr>
        <p:spPr>
          <a:xfrm>
            <a:off x="914400" y="3831336"/>
            <a:ext cx="4754880" cy="566928"/>
          </a:xfrm>
          <a:prstGeom prst="rect">
            <a:avLst/>
          </a:prstGeom>
          <a:noFill/>
          <a:ln/>
        </p:spPr>
        <p:txBody>
          <a:bodyPr wrap="square" lIns="0" tIns="0" rIns="0" bIns="0" rtlCol="0" anchor="t"/>
          <a:lstStyle/>
          <a:p>
            <a:pPr indent="0" marL="0">
              <a:lnSpc>
                <a:spcPct val="105000"/>
              </a:lnSpc>
              <a:buNone/>
            </a:pPr>
            <a:r>
              <a:rPr lang="en-US" sz="1250" b="1" dirty="0">
                <a:solidFill>
                  <a:srgbClr val="0F172A"/>
                </a:solidFill>
                <a:latin typeface="Calibri" pitchFamily="34" charset="0"/>
                <a:ea typeface="Calibri" pitchFamily="34" charset="-122"/>
                <a:cs typeface="Calibri" pitchFamily="34" charset="-120"/>
              </a:rPr>
              <a:t>Real quotes — </a:t>
            </a:r>
            <a:pPr indent="0" marL="0">
              <a:lnSpc>
                <a:spcPct val="105000"/>
              </a:lnSpc>
              <a:buNone/>
            </a:pPr>
            <a:r>
              <a:rPr lang="en-US" sz="1250" dirty="0">
                <a:solidFill>
                  <a:srgbClr val="334155"/>
                </a:solidFill>
                <a:latin typeface="Calibri" pitchFamily="34" charset="0"/>
                <a:ea typeface="Calibri" pitchFamily="34" charset="-122"/>
                <a:cs typeface="Calibri" pitchFamily="34" charset="-120"/>
              </a:rPr>
              <a:t>actual supplier / PO prices, when logged</a:t>
            </a:r>
            <a:endParaRPr lang="en-US" sz="1250" dirty="0"/>
          </a:p>
        </p:txBody>
      </p:sp>
      <p:sp>
        <p:nvSpPr>
          <p:cNvPr id="18" name="Shape 16"/>
          <p:cNvSpPr/>
          <p:nvPr/>
        </p:nvSpPr>
        <p:spPr>
          <a:xfrm>
            <a:off x="685800" y="4489704"/>
            <a:ext cx="82296" cy="502920"/>
          </a:xfrm>
          <a:prstGeom prst="rect">
            <a:avLst/>
          </a:prstGeom>
          <a:solidFill>
            <a:srgbClr val="2563EB"/>
          </a:solidFill>
          <a:ln/>
        </p:spPr>
      </p:sp>
      <p:sp>
        <p:nvSpPr>
          <p:cNvPr id="19" name="Text 17"/>
          <p:cNvSpPr/>
          <p:nvPr/>
        </p:nvSpPr>
        <p:spPr>
          <a:xfrm>
            <a:off x="914400" y="4489704"/>
            <a:ext cx="4754880" cy="566928"/>
          </a:xfrm>
          <a:prstGeom prst="rect">
            <a:avLst/>
          </a:prstGeom>
          <a:noFill/>
          <a:ln/>
        </p:spPr>
        <p:txBody>
          <a:bodyPr wrap="square" lIns="0" tIns="0" rIns="0" bIns="0" rtlCol="0" anchor="t"/>
          <a:lstStyle/>
          <a:p>
            <a:pPr indent="0" marL="0">
              <a:lnSpc>
                <a:spcPct val="105000"/>
              </a:lnSpc>
              <a:buNone/>
            </a:pPr>
            <a:r>
              <a:rPr lang="en-US" sz="1250" b="1" dirty="0">
                <a:solidFill>
                  <a:srgbClr val="0F172A"/>
                </a:solidFill>
                <a:latin typeface="Calibri" pitchFamily="34" charset="0"/>
                <a:ea typeface="Calibri" pitchFamily="34" charset="-122"/>
                <a:cs typeface="Calibri" pitchFamily="34" charset="-120"/>
              </a:rPr>
              <a:t>Expert corrections — </a:t>
            </a:r>
            <a:pPr indent="0" marL="0">
              <a:lnSpc>
                <a:spcPct val="105000"/>
              </a:lnSpc>
              <a:buNone/>
            </a:pPr>
            <a:r>
              <a:rPr lang="en-US" sz="1250" dirty="0">
                <a:solidFill>
                  <a:srgbClr val="334155"/>
                </a:solidFill>
                <a:latin typeface="Calibri" pitchFamily="34" charset="0"/>
                <a:ea typeface="Calibri" pitchFamily="34" charset="-122"/>
                <a:cs typeface="Calibri" pitchFamily="34" charset="-120"/>
              </a:rPr>
              <a:t>where a person adjusted the AI's values</a:t>
            </a:r>
            <a:endParaRPr lang="en-US" sz="1250" dirty="0"/>
          </a:p>
        </p:txBody>
      </p:sp>
      <p:sp>
        <p:nvSpPr>
          <p:cNvPr id="20" name="Shape 18"/>
          <p:cNvSpPr/>
          <p:nvPr/>
        </p:nvSpPr>
        <p:spPr>
          <a:xfrm>
            <a:off x="685800" y="5148072"/>
            <a:ext cx="82296" cy="502920"/>
          </a:xfrm>
          <a:prstGeom prst="rect">
            <a:avLst/>
          </a:prstGeom>
          <a:solidFill>
            <a:srgbClr val="2563EB"/>
          </a:solidFill>
          <a:ln/>
        </p:spPr>
      </p:sp>
      <p:sp>
        <p:nvSpPr>
          <p:cNvPr id="21" name="Text 19"/>
          <p:cNvSpPr/>
          <p:nvPr/>
        </p:nvSpPr>
        <p:spPr>
          <a:xfrm>
            <a:off x="914400" y="5148072"/>
            <a:ext cx="4754880" cy="566928"/>
          </a:xfrm>
          <a:prstGeom prst="rect">
            <a:avLst/>
          </a:prstGeom>
          <a:noFill/>
          <a:ln/>
        </p:spPr>
        <p:txBody>
          <a:bodyPr wrap="square" lIns="0" tIns="0" rIns="0" bIns="0" rtlCol="0" anchor="t"/>
          <a:lstStyle/>
          <a:p>
            <a:pPr indent="0" marL="0">
              <a:lnSpc>
                <a:spcPct val="105000"/>
              </a:lnSpc>
              <a:buNone/>
            </a:pPr>
            <a:r>
              <a:rPr lang="en-US" sz="1250" b="1" dirty="0">
                <a:solidFill>
                  <a:srgbClr val="0F172A"/>
                </a:solidFill>
                <a:latin typeface="Calibri" pitchFamily="34" charset="0"/>
                <a:ea typeface="Calibri" pitchFamily="34" charset="-122"/>
                <a:cs typeface="Calibri" pitchFamily="34" charset="-120"/>
              </a:rPr>
              <a:t>CAD shape data — </a:t>
            </a:r>
            <a:pPr indent="0" marL="0">
              <a:lnSpc>
                <a:spcPct val="105000"/>
              </a:lnSpc>
              <a:buNone/>
            </a:pPr>
            <a:r>
              <a:rPr lang="en-US" sz="1250" dirty="0">
                <a:solidFill>
                  <a:srgbClr val="334155"/>
                </a:solidFill>
                <a:latin typeface="Calibri" pitchFamily="34" charset="0"/>
                <a:ea typeface="Calibri" pitchFamily="34" charset="-122"/>
                <a:cs typeface="Calibri" pitchFamily="34" charset="-120"/>
              </a:rPr>
              <a:t>dimensions &amp; features, when a CAD file was used</a:t>
            </a:r>
            <a:endParaRPr lang="en-US" sz="1250" dirty="0"/>
          </a:p>
        </p:txBody>
      </p:sp>
      <p:sp>
        <p:nvSpPr>
          <p:cNvPr id="22" name="Shape 20"/>
          <p:cNvSpPr/>
          <p:nvPr/>
        </p:nvSpPr>
        <p:spPr>
          <a:xfrm>
            <a:off x="6263640" y="1828800"/>
            <a:ext cx="5532120" cy="4206240"/>
          </a:xfrm>
          <a:prstGeom prst="roundRect">
            <a:avLst>
              <a:gd name="adj" fmla="val 1087"/>
            </a:avLst>
          </a:prstGeom>
          <a:solidFill>
            <a:srgbClr val="EFF6FF"/>
          </a:solidFill>
          <a:ln/>
        </p:spPr>
      </p:sp>
      <p:sp>
        <p:nvSpPr>
          <p:cNvPr id="23" name="Text 21"/>
          <p:cNvSpPr/>
          <p:nvPr/>
        </p:nvSpPr>
        <p:spPr>
          <a:xfrm>
            <a:off x="6537960" y="2057400"/>
            <a:ext cx="5029200" cy="365760"/>
          </a:xfrm>
          <a:prstGeom prst="rect">
            <a:avLst/>
          </a:prstGeom>
          <a:noFill/>
          <a:ln/>
        </p:spPr>
        <p:txBody>
          <a:bodyPr wrap="square" lIns="0" tIns="0" rIns="0" bIns="0" rtlCol="0" anchor="t"/>
          <a:lstStyle/>
          <a:p>
            <a:pPr indent="0" marL="0">
              <a:buNone/>
            </a:pPr>
            <a:r>
              <a:rPr lang="en-US" sz="1500" b="1" dirty="0">
                <a:solidFill>
                  <a:srgbClr val="0F172A"/>
                </a:solidFill>
                <a:latin typeface="Calibri" pitchFamily="34" charset="0"/>
                <a:ea typeface="Calibri" pitchFamily="34" charset="-122"/>
                <a:cs typeface="Calibri" pitchFamily="34" charset="-120"/>
              </a:rPr>
              <a:t>Why it matters to us</a:t>
            </a:r>
            <a:endParaRPr lang="en-US" sz="1500" dirty="0"/>
          </a:p>
        </p:txBody>
      </p:sp>
      <p:sp>
        <p:nvSpPr>
          <p:cNvPr id="24" name="Text 22"/>
          <p:cNvSpPr/>
          <p:nvPr/>
        </p:nvSpPr>
        <p:spPr>
          <a:xfrm>
            <a:off x="6537960" y="2514600"/>
            <a:ext cx="5029200" cy="777240"/>
          </a:xfrm>
          <a:prstGeom prst="rect">
            <a:avLst/>
          </a:prstGeom>
          <a:noFill/>
          <a:ln/>
        </p:spPr>
        <p:txBody>
          <a:bodyPr wrap="square" lIns="0" tIns="0" rIns="0" bIns="0" rtlCol="0" anchor="t"/>
          <a:lstStyle/>
          <a:p>
            <a:pPr indent="0" marL="0">
              <a:lnSpc>
                <a:spcPct val="105000"/>
              </a:lnSpc>
              <a:buNone/>
            </a:pPr>
            <a:r>
              <a:rPr lang="en-US" sz="1300" b="1" dirty="0">
                <a:solidFill>
                  <a:srgbClr val="059669"/>
                </a:solidFill>
                <a:latin typeface="Calibri" pitchFamily="34" charset="0"/>
                <a:ea typeface="Calibri" pitchFamily="34" charset="-122"/>
                <a:cs typeface="Calibri" pitchFamily="34" charset="-120"/>
              </a:rPr>
              <a:t>✓  Shared, not personal</a:t>
            </a:r>
            <a:endParaRPr lang="en-US" sz="1300" dirty="0"/>
          </a:p>
          <a:p>
            <a:pPr indent="0" marL="0">
              <a:lnSpc>
                <a:spcPct val="105000"/>
              </a:lnSpc>
              <a:buNone/>
            </a:pPr>
            <a:r>
              <a:rPr lang="en-US" sz="1150" dirty="0">
                <a:solidFill>
                  <a:srgbClr val="334155"/>
                </a:solidFill>
                <a:latin typeface="Calibri" pitchFamily="34" charset="0"/>
                <a:ea typeface="Calibri" pitchFamily="34" charset="-122"/>
                <a:cs typeface="Calibri" pitchFamily="34" charset="-120"/>
              </a:rPr>
              <a:t>One engineer's analysis instantly helps everyone — juniors inherit senior judgement.</a:t>
            </a:r>
            <a:endParaRPr lang="en-US" sz="1300" dirty="0"/>
          </a:p>
        </p:txBody>
      </p:sp>
      <p:sp>
        <p:nvSpPr>
          <p:cNvPr id="25" name="Text 23"/>
          <p:cNvSpPr/>
          <p:nvPr/>
        </p:nvSpPr>
        <p:spPr>
          <a:xfrm>
            <a:off x="6537960" y="3355848"/>
            <a:ext cx="5029200" cy="777240"/>
          </a:xfrm>
          <a:prstGeom prst="rect">
            <a:avLst/>
          </a:prstGeom>
          <a:noFill/>
          <a:ln/>
        </p:spPr>
        <p:txBody>
          <a:bodyPr wrap="square" lIns="0" tIns="0" rIns="0" bIns="0" rtlCol="0" anchor="t"/>
          <a:lstStyle/>
          <a:p>
            <a:pPr indent="0" marL="0">
              <a:lnSpc>
                <a:spcPct val="105000"/>
              </a:lnSpc>
              <a:buNone/>
            </a:pPr>
            <a:r>
              <a:rPr lang="en-US" sz="1300" b="1" dirty="0">
                <a:solidFill>
                  <a:srgbClr val="059669"/>
                </a:solidFill>
                <a:latin typeface="Calibri" pitchFamily="34" charset="0"/>
                <a:ea typeface="Calibri" pitchFamily="34" charset="-122"/>
                <a:cs typeface="Calibri" pitchFamily="34" charset="-120"/>
              </a:rPr>
              <a:t>✓  Stays on our servers</a:t>
            </a:r>
            <a:endParaRPr lang="en-US" sz="1300" dirty="0"/>
          </a:p>
          <a:p>
            <a:pPr indent="0" marL="0">
              <a:lnSpc>
                <a:spcPct val="105000"/>
              </a:lnSpc>
              <a:buNone/>
            </a:pPr>
            <a:r>
              <a:rPr lang="en-US" sz="1150" dirty="0">
                <a:solidFill>
                  <a:srgbClr val="334155"/>
                </a:solidFill>
                <a:latin typeface="Calibri" pitchFamily="34" charset="0"/>
                <a:ea typeface="Calibri" pitchFamily="34" charset="-122"/>
                <a:cs typeface="Calibri" pitchFamily="34" charset="-120"/>
              </a:rPr>
              <a:t>Our database, our infrastructure. The knowledge is a company asset, not a vendor's.</a:t>
            </a:r>
            <a:endParaRPr lang="en-US" sz="1300" dirty="0"/>
          </a:p>
        </p:txBody>
      </p:sp>
      <p:sp>
        <p:nvSpPr>
          <p:cNvPr id="26" name="Text 24"/>
          <p:cNvSpPr/>
          <p:nvPr/>
        </p:nvSpPr>
        <p:spPr>
          <a:xfrm>
            <a:off x="6537960" y="4197096"/>
            <a:ext cx="5029200" cy="777240"/>
          </a:xfrm>
          <a:prstGeom prst="rect">
            <a:avLst/>
          </a:prstGeom>
          <a:noFill/>
          <a:ln/>
        </p:spPr>
        <p:txBody>
          <a:bodyPr wrap="square" lIns="0" tIns="0" rIns="0" bIns="0" rtlCol="0" anchor="t"/>
          <a:lstStyle/>
          <a:p>
            <a:pPr indent="0" marL="0">
              <a:lnSpc>
                <a:spcPct val="105000"/>
              </a:lnSpc>
              <a:buNone/>
            </a:pPr>
            <a:r>
              <a:rPr lang="en-US" sz="1300" b="1" dirty="0">
                <a:solidFill>
                  <a:srgbClr val="059669"/>
                </a:solidFill>
                <a:latin typeface="Calibri" pitchFamily="34" charset="0"/>
                <a:ea typeface="Calibri" pitchFamily="34" charset="-122"/>
                <a:cs typeface="Calibri" pitchFamily="34" charset="-120"/>
              </a:rPr>
              <a:t>✓  No duplicates</a:t>
            </a:r>
            <a:endParaRPr lang="en-US" sz="1300" dirty="0"/>
          </a:p>
          <a:p>
            <a:pPr indent="0" marL="0">
              <a:lnSpc>
                <a:spcPct val="105000"/>
              </a:lnSpc>
              <a:buNone/>
            </a:pPr>
            <a:r>
              <a:rPr lang="en-US" sz="1150" dirty="0">
                <a:solidFill>
                  <a:srgbClr val="334155"/>
                </a:solidFill>
                <a:latin typeface="Calibri" pitchFamily="34" charset="0"/>
                <a:ea typeface="Calibri" pitchFamily="34" charset="-122"/>
                <a:cs typeface="Calibri" pitchFamily="34" charset="-120"/>
              </a:rPr>
              <a:t>Re-costing a part updates its case — the memory stays clean.</a:t>
            </a:r>
            <a:endParaRPr lang="en-US" sz="1300" dirty="0"/>
          </a:p>
        </p:txBody>
      </p:sp>
      <p:sp>
        <p:nvSpPr>
          <p:cNvPr id="27" name="Text 25"/>
          <p:cNvSpPr/>
          <p:nvPr/>
        </p:nvSpPr>
        <p:spPr>
          <a:xfrm>
            <a:off x="6537960" y="5038344"/>
            <a:ext cx="5029200" cy="777240"/>
          </a:xfrm>
          <a:prstGeom prst="rect">
            <a:avLst/>
          </a:prstGeom>
          <a:noFill/>
          <a:ln/>
        </p:spPr>
        <p:txBody>
          <a:bodyPr wrap="square" lIns="0" tIns="0" rIns="0" bIns="0" rtlCol="0" anchor="t"/>
          <a:lstStyle/>
          <a:p>
            <a:pPr indent="0" marL="0">
              <a:lnSpc>
                <a:spcPct val="105000"/>
              </a:lnSpc>
              <a:buNone/>
            </a:pPr>
            <a:r>
              <a:rPr lang="en-US" sz="1300" b="1" dirty="0">
                <a:solidFill>
                  <a:srgbClr val="059669"/>
                </a:solidFill>
                <a:latin typeface="Calibri" pitchFamily="34" charset="0"/>
                <a:ea typeface="Calibri" pitchFamily="34" charset="-122"/>
                <a:cs typeface="Calibri" pitchFamily="34" charset="-120"/>
              </a:rPr>
              <a:t>✓  Compounds with use</a:t>
            </a:r>
            <a:endParaRPr lang="en-US" sz="1300" dirty="0"/>
          </a:p>
          <a:p>
            <a:pPr indent="0" marL="0">
              <a:lnSpc>
                <a:spcPct val="105000"/>
              </a:lnSpc>
              <a:buNone/>
            </a:pPr>
            <a:r>
              <a:rPr lang="en-US" sz="1150" dirty="0">
                <a:solidFill>
                  <a:srgbClr val="334155"/>
                </a:solidFill>
                <a:latin typeface="Calibri" pitchFamily="34" charset="0"/>
                <a:ea typeface="Calibri" pitchFamily="34" charset="-122"/>
                <a:cs typeface="Calibri" pitchFamily="34" charset="-120"/>
              </a:rPr>
              <a:t>Useful from ~20–30 analyses; every costing from today is an investment.</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CAPABILITY 2 OF 5</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Recognition — "we have costed this before"</a:t>
            </a:r>
            <a:endParaRPr lang="en-US" sz="2700" dirty="0"/>
          </a:p>
        </p:txBody>
      </p:sp>
      <p:sp>
        <p:nvSpPr>
          <p:cNvPr id="10" name="Text 8"/>
          <p:cNvSpPr/>
          <p:nvPr/>
        </p:nvSpPr>
        <p:spPr>
          <a:xfrm>
            <a:off x="411480" y="1691640"/>
            <a:ext cx="11338560" cy="365760"/>
          </a:xfrm>
          <a:prstGeom prst="rect">
            <a:avLst/>
          </a:prstGeom>
          <a:noFill/>
          <a:ln/>
        </p:spPr>
        <p:txBody>
          <a:bodyPr wrap="square" lIns="0" tIns="0" rIns="0" bIns="0" rtlCol="0" anchor="t"/>
          <a:lstStyle/>
          <a:p>
            <a:pPr indent="0" marL="0">
              <a:buNone/>
            </a:pPr>
            <a:r>
              <a:rPr lang="en-US" sz="1350" dirty="0">
                <a:solidFill>
                  <a:srgbClr val="334155"/>
                </a:solidFill>
                <a:latin typeface="Calibri" pitchFamily="34" charset="0"/>
                <a:ea typeface="Calibri" pitchFamily="34" charset="-122"/>
                <a:cs typeface="Calibri" pitchFamily="34" charset="-120"/>
              </a:rPr>
              <a:t>Live example: an engineer costs a new 0.85 kg aluminium bracket. The tool answers instantly:</a:t>
            </a:r>
            <a:endParaRPr lang="en-US" sz="1350" dirty="0"/>
          </a:p>
        </p:txBody>
      </p:sp>
      <p:sp>
        <p:nvSpPr>
          <p:cNvPr id="11" name="Shape 9"/>
          <p:cNvSpPr/>
          <p:nvPr/>
        </p:nvSpPr>
        <p:spPr>
          <a:xfrm>
            <a:off x="411480" y="2194560"/>
            <a:ext cx="11384280" cy="2834640"/>
          </a:xfrm>
          <a:prstGeom prst="roundRect">
            <a:avLst>
              <a:gd name="adj" fmla="val 1613"/>
            </a:avLst>
          </a:prstGeom>
          <a:solidFill>
            <a:srgbClr val="F1F5F9"/>
          </a:solidFill>
          <a:ln/>
        </p:spPr>
      </p:sp>
      <p:sp>
        <p:nvSpPr>
          <p:cNvPr id="12" name="Shape 10"/>
          <p:cNvSpPr/>
          <p:nvPr/>
        </p:nvSpPr>
        <p:spPr>
          <a:xfrm>
            <a:off x="411480" y="2194560"/>
            <a:ext cx="82296" cy="2834640"/>
          </a:xfrm>
          <a:prstGeom prst="rect">
            <a:avLst/>
          </a:prstGeom>
          <a:solidFill>
            <a:srgbClr val="0891B2"/>
          </a:solidFill>
          <a:ln/>
        </p:spPr>
      </p:sp>
      <p:sp>
        <p:nvSpPr>
          <p:cNvPr id="13" name="Text 11"/>
          <p:cNvSpPr/>
          <p:nvPr/>
        </p:nvSpPr>
        <p:spPr>
          <a:xfrm>
            <a:off x="731520" y="2377440"/>
            <a:ext cx="10789920" cy="320040"/>
          </a:xfrm>
          <a:prstGeom prst="rect">
            <a:avLst/>
          </a:prstGeom>
          <a:noFill/>
          <a:ln/>
        </p:spPr>
        <p:txBody>
          <a:bodyPr wrap="square" lIns="0" tIns="0" rIns="0" bIns="0" rtlCol="0" anchor="t"/>
          <a:lstStyle/>
          <a:p>
            <a:pPr indent="0" marL="0">
              <a:buNone/>
            </a:pPr>
            <a:r>
              <a:rPr lang="en-US" sz="1400" b="1" dirty="0">
                <a:solidFill>
                  <a:srgbClr val="0F172A"/>
                </a:solidFill>
                <a:latin typeface="Calibri" pitchFamily="34" charset="0"/>
                <a:ea typeface="Calibri" pitchFamily="34" charset="-122"/>
                <a:cs typeface="Calibri" pitchFamily="34" charset="-120"/>
              </a:rPr>
              <a:t>🧠  AI memory — similar past parts</a:t>
            </a:r>
            <a:pPr indent="0" marL="0">
              <a:buNone/>
            </a:pPr>
            <a:r>
              <a:rPr lang="en-US" sz="1050" dirty="0">
                <a:solidFill>
                  <a:srgbClr val="64748B"/>
                </a:solidFill>
                <a:latin typeface="Calibri" pitchFamily="34" charset="0"/>
                <a:ea typeface="Calibri" pitchFamily="34" charset="-122"/>
                <a:cs typeface="Calibri" pitchFamily="34" charset="-120"/>
              </a:rPr>
              <a:t>      (knowledge base: 3 analyses · 2 with actuals)</a:t>
            </a:r>
            <a:endParaRPr lang="en-US" sz="1400" dirty="0"/>
          </a:p>
        </p:txBody>
      </p:sp>
      <p:sp>
        <p:nvSpPr>
          <p:cNvPr id="14" name="Text 12"/>
          <p:cNvSpPr/>
          <p:nvPr/>
        </p:nvSpPr>
        <p:spPr>
          <a:xfrm>
            <a:off x="822960" y="2788920"/>
            <a:ext cx="6035040" cy="384048"/>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EV Battery Bracket</a:t>
            </a:r>
            <a:pPr indent="0" marL="0">
              <a:buNone/>
            </a:pPr>
            <a:r>
              <a:rPr lang="en-US" sz="1050" dirty="0">
                <a:solidFill>
                  <a:srgbClr val="64748B"/>
                </a:solidFill>
                <a:latin typeface="Calibri" pitchFamily="34" charset="0"/>
                <a:ea typeface="Calibri" pitchFamily="34" charset="-122"/>
                <a:cs typeface="Calibri" pitchFamily="34" charset="-120"/>
              </a:rPr>
              <a:t>   99% match — material family, weight, region</a:t>
            </a:r>
            <a:endParaRPr lang="en-US" sz="1250" dirty="0"/>
          </a:p>
        </p:txBody>
      </p:sp>
      <p:sp>
        <p:nvSpPr>
          <p:cNvPr id="15" name="Text 13"/>
          <p:cNvSpPr/>
          <p:nvPr/>
        </p:nvSpPr>
        <p:spPr>
          <a:xfrm>
            <a:off x="7315200" y="2788920"/>
            <a:ext cx="4206240" cy="384048"/>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£41.20</a:t>
            </a:r>
            <a:pPr indent="0" marL="0">
              <a:buNone/>
            </a:pPr>
            <a:r>
              <a:rPr lang="en-US" sz="1100" b="1" dirty="0">
                <a:solidFill>
                  <a:srgbClr val="7C3AED"/>
                </a:solidFill>
                <a:latin typeface="Calibri" pitchFamily="34" charset="0"/>
                <a:ea typeface="Calibri" pitchFamily="34" charset="-122"/>
                <a:cs typeface="Calibri" pitchFamily="34" charset="-120"/>
              </a:rPr>
              <a:t>   actual £46.50</a:t>
            </a:r>
            <a:endParaRPr lang="en-US" sz="1250" dirty="0"/>
          </a:p>
        </p:txBody>
      </p:sp>
      <p:sp>
        <p:nvSpPr>
          <p:cNvPr id="16" name="Text 14"/>
          <p:cNvSpPr/>
          <p:nvPr/>
        </p:nvSpPr>
        <p:spPr>
          <a:xfrm>
            <a:off x="822960" y="3246120"/>
            <a:ext cx="6035040" cy="384048"/>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Sensor Mount Bracket</a:t>
            </a:r>
            <a:pPr indent="0" marL="0">
              <a:buNone/>
            </a:pPr>
            <a:r>
              <a:rPr lang="en-US" sz="1050" dirty="0">
                <a:solidFill>
                  <a:srgbClr val="64748B"/>
                </a:solidFill>
                <a:latin typeface="Calibri" pitchFamily="34" charset="0"/>
                <a:ea typeface="Calibri" pitchFamily="34" charset="-122"/>
                <a:cs typeface="Calibri" pitchFamily="34" charset="-120"/>
              </a:rPr>
              <a:t>   98% match — material family, weight, region</a:t>
            </a:r>
            <a:endParaRPr lang="en-US" sz="1250" dirty="0"/>
          </a:p>
        </p:txBody>
      </p:sp>
      <p:sp>
        <p:nvSpPr>
          <p:cNvPr id="17" name="Text 15"/>
          <p:cNvSpPr/>
          <p:nvPr/>
        </p:nvSpPr>
        <p:spPr>
          <a:xfrm>
            <a:off x="7315200" y="3246120"/>
            <a:ext cx="4206240" cy="384048"/>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£38.50</a:t>
            </a:r>
            <a:pPr indent="0" marL="0">
              <a:buNone/>
            </a:pPr>
            <a:endParaRPr lang="en-US" sz="1250" dirty="0"/>
          </a:p>
        </p:txBody>
      </p:sp>
      <p:sp>
        <p:nvSpPr>
          <p:cNvPr id="18" name="Text 16"/>
          <p:cNvSpPr/>
          <p:nvPr/>
        </p:nvSpPr>
        <p:spPr>
          <a:xfrm>
            <a:off x="822960" y="3703320"/>
            <a:ext cx="6035040" cy="384048"/>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Inverter Bracket</a:t>
            </a:r>
            <a:pPr indent="0" marL="0">
              <a:buNone/>
            </a:pPr>
            <a:r>
              <a:rPr lang="en-US" sz="1050" dirty="0">
                <a:solidFill>
                  <a:srgbClr val="64748B"/>
                </a:solidFill>
                <a:latin typeface="Calibri" pitchFamily="34" charset="0"/>
                <a:ea typeface="Calibri" pitchFamily="34" charset="-122"/>
                <a:cs typeface="Calibri" pitchFamily="34" charset="-120"/>
              </a:rPr>
              <a:t>   98% match — material family, weight, region</a:t>
            </a:r>
            <a:endParaRPr lang="en-US" sz="1250" dirty="0"/>
          </a:p>
        </p:txBody>
      </p:sp>
      <p:sp>
        <p:nvSpPr>
          <p:cNvPr id="19" name="Text 17"/>
          <p:cNvSpPr/>
          <p:nvPr/>
        </p:nvSpPr>
        <p:spPr>
          <a:xfrm>
            <a:off x="7315200" y="3703320"/>
            <a:ext cx="4206240" cy="384048"/>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£44.80</a:t>
            </a:r>
            <a:pPr indent="0" marL="0">
              <a:buNone/>
            </a:pPr>
            <a:r>
              <a:rPr lang="en-US" sz="1100" b="1" dirty="0">
                <a:solidFill>
                  <a:srgbClr val="7C3AED"/>
                </a:solidFill>
                <a:latin typeface="Calibri" pitchFamily="34" charset="0"/>
                <a:ea typeface="Calibri" pitchFamily="34" charset="-122"/>
                <a:cs typeface="Calibri" pitchFamily="34" charset="-120"/>
              </a:rPr>
              <a:t>   actual £50.20</a:t>
            </a:r>
            <a:endParaRPr lang="en-US" sz="1250" dirty="0"/>
          </a:p>
        </p:txBody>
      </p:sp>
      <p:sp>
        <p:nvSpPr>
          <p:cNvPr id="20" name="Text 18"/>
          <p:cNvSpPr/>
          <p:nvPr/>
        </p:nvSpPr>
        <p:spPr>
          <a:xfrm>
            <a:off x="822960" y="4206240"/>
            <a:ext cx="10607040" cy="274320"/>
          </a:xfrm>
          <a:prstGeom prst="rect">
            <a:avLst/>
          </a:prstGeom>
          <a:noFill/>
          <a:ln/>
        </p:spPr>
        <p:txBody>
          <a:bodyPr wrap="square" lIns="0" tIns="0" rIns="0" bIns="0" rtlCol="0" anchor="t"/>
          <a:lstStyle/>
          <a:p>
            <a:pPr indent="0" marL="0">
              <a:buNone/>
            </a:pPr>
            <a:r>
              <a:rPr lang="en-US" sz="1150" dirty="0">
                <a:solidFill>
                  <a:srgbClr val="334155"/>
                </a:solidFill>
                <a:latin typeface="Calibri" pitchFamily="34" charset="0"/>
                <a:ea typeface="Calibri" pitchFamily="34" charset="-122"/>
                <a:cs typeface="Calibri" pitchFamily="34" charset="-120"/>
              </a:rPr>
              <a:t>•  Median cost of 3 similar parts: £41.20</a:t>
            </a:r>
            <a:endParaRPr lang="en-US" sz="1150" dirty="0"/>
          </a:p>
        </p:txBody>
      </p:sp>
      <p:sp>
        <p:nvSpPr>
          <p:cNvPr id="21" name="Text 19"/>
          <p:cNvSpPr/>
          <p:nvPr/>
        </p:nvSpPr>
        <p:spPr>
          <a:xfrm>
            <a:off x="822960" y="4480560"/>
            <a:ext cx="10607040" cy="274320"/>
          </a:xfrm>
          <a:prstGeom prst="rect">
            <a:avLst/>
          </a:prstGeom>
          <a:noFill/>
          <a:ln/>
        </p:spPr>
        <p:txBody>
          <a:bodyPr wrap="square" lIns="0" tIns="0" rIns="0" bIns="0" rtlCol="0" anchor="t"/>
          <a:lstStyle/>
          <a:p>
            <a:pPr indent="0" marL="0">
              <a:buNone/>
            </a:pPr>
            <a:r>
              <a:rPr lang="en-US" sz="1150" dirty="0">
                <a:solidFill>
                  <a:srgbClr val="334155"/>
                </a:solidFill>
                <a:latin typeface="Calibri" pitchFamily="34" charset="0"/>
                <a:ea typeface="Calibri" pitchFamily="34" charset="-122"/>
                <a:cs typeface="Calibri" pitchFamily="34" charset="-120"/>
              </a:rPr>
              <a:t>•  3 of 3 used the same material (aluminium 6061)</a:t>
            </a:r>
            <a:endParaRPr lang="en-US" sz="1150" dirty="0"/>
          </a:p>
        </p:txBody>
      </p:sp>
      <p:sp>
        <p:nvSpPr>
          <p:cNvPr id="22" name="Text 20"/>
          <p:cNvSpPr/>
          <p:nvPr/>
        </p:nvSpPr>
        <p:spPr>
          <a:xfrm>
            <a:off x="822960" y="4754880"/>
            <a:ext cx="10607040" cy="274320"/>
          </a:xfrm>
          <a:prstGeom prst="rect">
            <a:avLst/>
          </a:prstGeom>
          <a:noFill/>
          <a:ln/>
        </p:spPr>
        <p:txBody>
          <a:bodyPr wrap="square" lIns="0" tIns="0" rIns="0" bIns="0" rtlCol="0" anchor="t"/>
          <a:lstStyle/>
          <a:p>
            <a:pPr indent="0" marL="0">
              <a:buNone/>
            </a:pPr>
            <a:r>
              <a:rPr lang="en-US" sz="1150" dirty="0">
                <a:solidFill>
                  <a:srgbClr val="7C3AED"/>
                </a:solidFill>
                <a:latin typeface="Calibri" pitchFamily="34" charset="0"/>
                <a:ea typeface="Calibri" pitchFamily="34" charset="-122"/>
                <a:cs typeface="Calibri" pitchFamily="34" charset="-120"/>
              </a:rPr>
              <a:t>•  Real quotes logged for 2 of them — median actual £48.35</a:t>
            </a:r>
            <a:endParaRPr lang="en-US" sz="1150" dirty="0"/>
          </a:p>
        </p:txBody>
      </p:sp>
      <p:sp>
        <p:nvSpPr>
          <p:cNvPr id="23" name="Shape 21"/>
          <p:cNvSpPr/>
          <p:nvPr/>
        </p:nvSpPr>
        <p:spPr>
          <a:xfrm>
            <a:off x="411480" y="5303520"/>
            <a:ext cx="11384280" cy="914400"/>
          </a:xfrm>
          <a:prstGeom prst="roundRect">
            <a:avLst>
              <a:gd name="adj" fmla="val 8000"/>
            </a:avLst>
          </a:prstGeom>
          <a:solidFill>
            <a:srgbClr val="EFF6FF"/>
          </a:solidFill>
          <a:ln/>
        </p:spPr>
      </p:sp>
      <p:sp>
        <p:nvSpPr>
          <p:cNvPr id="24" name="Text 22"/>
          <p:cNvSpPr/>
          <p:nvPr/>
        </p:nvSpPr>
        <p:spPr>
          <a:xfrm>
            <a:off x="685800" y="5458968"/>
            <a:ext cx="10881360" cy="685800"/>
          </a:xfrm>
          <a:prstGeom prst="rect">
            <a:avLst/>
          </a:prstGeom>
          <a:noFill/>
          <a:ln/>
        </p:spPr>
        <p:txBody>
          <a:bodyPr wrap="square" lIns="0" tIns="0" rIns="0" bIns="0" rtlCol="0" anchor="t"/>
          <a:lstStyle/>
          <a:p>
            <a:pPr indent="0" marL="0">
              <a:lnSpc>
                <a:spcPct val="115000"/>
              </a:lnSpc>
              <a:buNone/>
            </a:pPr>
            <a:r>
              <a:rPr lang="en-US" sz="1250" dirty="0">
                <a:solidFill>
                  <a:srgbClr val="334155"/>
                </a:solidFill>
                <a:latin typeface="Calibri" pitchFamily="34" charset="0"/>
                <a:ea typeface="Calibri" pitchFamily="34" charset="-122"/>
                <a:cs typeface="Calibri" pitchFamily="34" charset="-120"/>
              </a:rPr>
              <a:t>Every match is explained (what matched, and how strongly) and every suggestion names its source parts — </a:t>
            </a:r>
            <a:pPr indent="0" marL="0">
              <a:lnSpc>
                <a:spcPct val="115000"/>
              </a:lnSpc>
              <a:buNone/>
            </a:pPr>
            <a:r>
              <a:rPr lang="en-US" sz="1250" b="1" dirty="0">
                <a:solidFill>
                  <a:srgbClr val="0F172A"/>
                </a:solidFill>
                <a:latin typeface="Calibri" pitchFamily="34" charset="0"/>
                <a:ea typeface="Calibri" pitchFamily="34" charset="-122"/>
                <a:cs typeface="Calibri" pitchFamily="34" charset="-120"/>
              </a:rPr>
              <a:t>no black box.</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CAPABILITY 3 OF 5</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Self-correction — it learns from real quotes</a:t>
            </a:r>
            <a:endParaRPr lang="en-US" sz="2700" dirty="0"/>
          </a:p>
        </p:txBody>
      </p:sp>
      <p:graphicFrame>
        <p:nvGraphicFramePr>
          <p:cNvPr id="10" name="Chart 0" descr=""/>
          <p:cNvGraphicFramePr/>
          <p:nvPr/>
        </p:nvGraphicFramePr>
        <p:xfrm>
          <a:off x="411480" y="1965960"/>
          <a:ext cx="6035040" cy="365760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p:nvPr/>
        </p:nvSpPr>
        <p:spPr>
          <a:xfrm>
            <a:off x="411480" y="5715000"/>
            <a:ext cx="6035040" cy="457200"/>
          </a:xfrm>
          <a:prstGeom prst="rect">
            <a:avLst/>
          </a:prstGeom>
          <a:noFill/>
          <a:ln/>
        </p:spPr>
        <p:txBody>
          <a:bodyPr wrap="square" lIns="0" tIns="0" rIns="0" bIns="0" rtlCol="0" anchor="t"/>
          <a:lstStyle/>
          <a:p>
            <a:pPr indent="0" marL="0">
              <a:buNone/>
            </a:pPr>
            <a:r>
              <a:rPr lang="en-US" sz="1050" i="1" dirty="0">
                <a:solidFill>
                  <a:srgbClr val="64748B"/>
                </a:solidFill>
                <a:latin typeface="Calibri" pitchFamily="34" charset="0"/>
                <a:ea typeface="Calibri" pitchFamily="34" charset="-122"/>
                <a:cs typeface="Calibri" pitchFamily="34" charset="-120"/>
              </a:rPr>
              <a:t>Estimating error (%) — measured against real supplier prices, live system run</a:t>
            </a:r>
            <a:endParaRPr lang="en-US" sz="1050" dirty="0"/>
          </a:p>
        </p:txBody>
      </p:sp>
      <p:sp>
        <p:nvSpPr>
          <p:cNvPr id="12" name="Shape 9"/>
          <p:cNvSpPr/>
          <p:nvPr/>
        </p:nvSpPr>
        <p:spPr>
          <a:xfrm>
            <a:off x="6812280" y="1965960"/>
            <a:ext cx="4983480" cy="4206240"/>
          </a:xfrm>
          <a:prstGeom prst="roundRect">
            <a:avLst>
              <a:gd name="adj" fmla="val 1087"/>
            </a:avLst>
          </a:prstGeom>
          <a:solidFill>
            <a:srgbClr val="F1F5F9"/>
          </a:solidFill>
          <a:ln/>
        </p:spPr>
      </p:sp>
      <p:sp>
        <p:nvSpPr>
          <p:cNvPr id="13" name="Text 10"/>
          <p:cNvSpPr/>
          <p:nvPr/>
        </p:nvSpPr>
        <p:spPr>
          <a:xfrm>
            <a:off x="7086600" y="2194560"/>
            <a:ext cx="4480560" cy="3840480"/>
          </a:xfrm>
          <a:prstGeom prst="rect">
            <a:avLst/>
          </a:prstGeom>
          <a:noFill/>
          <a:ln/>
        </p:spPr>
        <p:txBody>
          <a:bodyPr wrap="square" lIns="0" tIns="0" rIns="0" bIns="0" rtlCol="0" anchor="t"/>
          <a:lstStyle/>
          <a:p>
            <a:pPr indent="0" marL="0">
              <a:lnSpc>
                <a:spcPct val="112000"/>
              </a:lnSpc>
              <a:spcAft>
                <a:spcPts val="1000"/>
              </a:spcAft>
              <a:buNone/>
            </a:pPr>
            <a:r>
              <a:rPr lang="en-US" sz="1500" b="1" dirty="0">
                <a:solidFill>
                  <a:srgbClr val="0F172A"/>
                </a:solidFill>
                <a:latin typeface="Calibri" pitchFamily="34" charset="0"/>
                <a:ea typeface="Calibri" pitchFamily="34" charset="-122"/>
                <a:cs typeface="Calibri" pitchFamily="34" charset="-120"/>
              </a:rPr>
              <a:t>How it works, simply</a:t>
            </a:r>
            <a:endParaRPr lang="en-US" sz="1500" dirty="0"/>
          </a:p>
          <a:p>
            <a:pPr indent="0" marL="0">
              <a:lnSpc>
                <a:spcPct val="112000"/>
              </a:lnSpc>
              <a:spcAft>
                <a:spcPts val="1000"/>
              </a:spcAft>
              <a:buNone/>
            </a:pPr>
            <a:r>
              <a:rPr lang="en-US" sz="1250" dirty="0">
                <a:solidFill>
                  <a:srgbClr val="334155"/>
                </a:solidFill>
                <a:latin typeface="Calibri" pitchFamily="34" charset="0"/>
                <a:ea typeface="Calibri" pitchFamily="34" charset="-122"/>
                <a:cs typeface="Calibri" pitchFamily="34" charset="-120"/>
              </a:rPr>
              <a:t>1.  A real supplier quote arrives → one click logs it.</a:t>
            </a:r>
            <a:endParaRPr lang="en-US" sz="1500" dirty="0"/>
          </a:p>
          <a:p>
            <a:pPr indent="0" marL="0">
              <a:lnSpc>
                <a:spcPct val="112000"/>
              </a:lnSpc>
              <a:spcAft>
                <a:spcPts val="1000"/>
              </a:spcAft>
              <a:buNone/>
            </a:pPr>
            <a:r>
              <a:rPr lang="en-US" sz="1250" dirty="0">
                <a:solidFill>
                  <a:srgbClr val="334155"/>
                </a:solidFill>
                <a:latin typeface="Calibri" pitchFamily="34" charset="0"/>
                <a:ea typeface="Calibri" pitchFamily="34" charset="-122"/>
                <a:cs typeface="Calibri" pitchFamily="34" charset="-120"/>
              </a:rPr>
              <a:t>2.  The tool compares its estimate with reality and measures its own error.</a:t>
            </a:r>
            <a:endParaRPr lang="en-US" sz="1500" dirty="0"/>
          </a:p>
          <a:p>
            <a:pPr indent="0" marL="0">
              <a:lnSpc>
                <a:spcPct val="112000"/>
              </a:lnSpc>
              <a:spcAft>
                <a:spcPts val="1000"/>
              </a:spcAft>
              <a:buNone/>
            </a:pPr>
            <a:r>
              <a:rPr lang="en-US" sz="1250" dirty="0">
                <a:solidFill>
                  <a:srgbClr val="334155"/>
                </a:solidFill>
                <a:latin typeface="Calibri" pitchFamily="34" charset="0"/>
                <a:ea typeface="Calibri" pitchFamily="34" charset="-122"/>
                <a:cs typeface="Calibri" pitchFamily="34" charset="-120"/>
              </a:rPr>
              <a:t>3.  From 3 quotes in a category, it corrects future estimates automatically — per process, material family and region.</a:t>
            </a:r>
            <a:endParaRPr lang="en-US" sz="1500" dirty="0"/>
          </a:p>
          <a:p>
            <a:pPr indent="0" marL="0">
              <a:lnSpc>
                <a:spcPct val="112000"/>
              </a:lnSpc>
              <a:spcAft>
                <a:spcPts val="1000"/>
              </a:spcAft>
              <a:buNone/>
            </a:pPr>
            <a:r>
              <a:rPr lang="en-US" sz="1250" dirty="0">
                <a:solidFill>
                  <a:srgbClr val="334155"/>
                </a:solidFill>
                <a:latin typeface="Calibri" pitchFamily="34" charset="0"/>
                <a:ea typeface="Calibri" pitchFamily="34" charset="-122"/>
                <a:cs typeface="Calibri" pitchFamily="34" charset="-120"/>
              </a:rPr>
              <a:t>4.  It reports its accuracy openly (error % before and after).</a:t>
            </a:r>
            <a:endParaRPr lang="en-US" sz="1500" dirty="0"/>
          </a:p>
          <a:p>
            <a:pPr indent="0" marL="0">
              <a:lnSpc>
                <a:spcPct val="112000"/>
              </a:lnSpc>
              <a:spcAft>
                <a:spcPts val="1000"/>
              </a:spcAft>
              <a:buNone/>
            </a:pPr>
            <a:r>
              <a:rPr lang="en-US" sz="1250" b="1" dirty="0">
                <a:solidFill>
                  <a:srgbClr val="0F172A"/>
                </a:solidFill>
                <a:latin typeface="Calibri" pitchFamily="34" charset="0"/>
                <a:ea typeface="Calibri" pitchFamily="34" charset="-122"/>
                <a:cs typeface="Calibri" pitchFamily="34" charset="-120"/>
              </a:rPr>
              <a:t>Why per-category matters: </a:t>
            </a:r>
            <a:pPr indent="0" marL="0">
              <a:lnSpc>
                <a:spcPct val="112000"/>
              </a:lnSpc>
              <a:spcAft>
                <a:spcPts val="1000"/>
              </a:spcAft>
              <a:buNone/>
            </a:pPr>
            <a:r>
              <a:rPr lang="en-US" sz="1250" dirty="0">
                <a:solidFill>
                  <a:srgbClr val="334155"/>
                </a:solidFill>
                <a:latin typeface="Calibri" pitchFamily="34" charset="0"/>
                <a:ea typeface="Calibri" pitchFamily="34" charset="-122"/>
                <a:cs typeface="Calibri" pitchFamily="34" charset="-120"/>
              </a:rPr>
              <a:t>our machining ran 12% low while our China castings ran 8% high — averaged together they looked "fine". The tool catches what averages hide.</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CAPABILITY 4 OF 5</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Honest ranges — from "±20%" to "±3%", earned with data</a:t>
            </a:r>
            <a:endParaRPr lang="en-US" sz="2700" dirty="0"/>
          </a:p>
        </p:txBody>
      </p:sp>
      <p:graphicFrame>
        <p:nvGraphicFramePr>
          <p:cNvPr id="10" name="Chart 0" descr=""/>
          <p:cNvGraphicFramePr/>
          <p:nvPr/>
        </p:nvGraphicFramePr>
        <p:xfrm>
          <a:off x="411480" y="1965960"/>
          <a:ext cx="5394960" cy="365760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p:nvPr/>
        </p:nvSpPr>
        <p:spPr>
          <a:xfrm>
            <a:off x="411480" y="5715000"/>
            <a:ext cx="5394960" cy="457200"/>
          </a:xfrm>
          <a:prstGeom prst="rect">
            <a:avLst/>
          </a:prstGeom>
          <a:noFill/>
          <a:ln/>
        </p:spPr>
        <p:txBody>
          <a:bodyPr wrap="square" lIns="0" tIns="0" rIns="0" bIns="0" rtlCol="0" anchor="t"/>
          <a:lstStyle/>
          <a:p>
            <a:pPr indent="0" marL="0">
              <a:buNone/>
            </a:pPr>
            <a:r>
              <a:rPr lang="en-US" sz="1050" i="1" dirty="0">
                <a:solidFill>
                  <a:srgbClr val="64748B"/>
                </a:solidFill>
                <a:latin typeface="Calibri" pitchFamily="34" charset="0"/>
                <a:ea typeface="Calibri" pitchFamily="34" charset="-122"/>
                <a:cs typeface="Calibri" pitchFamily="34" charset="-120"/>
              </a:rPr>
              <a:t>Width of the cost confidence band on the same part (± % around the estimate)</a:t>
            </a:r>
            <a:endParaRPr lang="en-US" sz="1050" dirty="0"/>
          </a:p>
        </p:txBody>
      </p:sp>
      <p:sp>
        <p:nvSpPr>
          <p:cNvPr id="12" name="Shape 9"/>
          <p:cNvSpPr/>
          <p:nvPr/>
        </p:nvSpPr>
        <p:spPr>
          <a:xfrm>
            <a:off x="6172200" y="1965960"/>
            <a:ext cx="5623560" cy="4206240"/>
          </a:xfrm>
          <a:prstGeom prst="roundRect">
            <a:avLst>
              <a:gd name="adj" fmla="val 1087"/>
            </a:avLst>
          </a:prstGeom>
          <a:solidFill>
            <a:srgbClr val="F1F5F9"/>
          </a:solidFill>
          <a:ln/>
        </p:spPr>
      </p:sp>
      <p:sp>
        <p:nvSpPr>
          <p:cNvPr id="13" name="Text 10"/>
          <p:cNvSpPr/>
          <p:nvPr/>
        </p:nvSpPr>
        <p:spPr>
          <a:xfrm>
            <a:off x="6446520" y="2194560"/>
            <a:ext cx="5120640" cy="3840480"/>
          </a:xfrm>
          <a:prstGeom prst="rect">
            <a:avLst/>
          </a:prstGeom>
          <a:noFill/>
          <a:ln/>
        </p:spPr>
        <p:txBody>
          <a:bodyPr wrap="square" lIns="0" tIns="0" rIns="0" bIns="0" rtlCol="0" anchor="t"/>
          <a:lstStyle/>
          <a:p>
            <a:pPr indent="0" marL="0">
              <a:lnSpc>
                <a:spcPct val="115000"/>
              </a:lnSpc>
              <a:spcAft>
                <a:spcPts val="1000"/>
              </a:spcAft>
              <a:buNone/>
            </a:pPr>
            <a:r>
              <a:rPr lang="en-US" sz="1500" b="1" dirty="0">
                <a:solidFill>
                  <a:srgbClr val="0F172A"/>
                </a:solidFill>
                <a:latin typeface="Calibri" pitchFamily="34" charset="0"/>
                <a:ea typeface="Calibri" pitchFamily="34" charset="-122"/>
                <a:cs typeface="Calibri" pitchFamily="34" charset="-120"/>
              </a:rPr>
              <a:t>Every estimate now comes as a range</a:t>
            </a:r>
            <a:endParaRPr lang="en-US" sz="1500" dirty="0"/>
          </a:p>
          <a:p>
            <a:pPr indent="0" marL="0">
              <a:lnSpc>
                <a:spcPct val="115000"/>
              </a:lnSpc>
              <a:spcAft>
                <a:spcPts val="1000"/>
              </a:spcAft>
              <a:buNone/>
            </a:pPr>
            <a:r>
              <a:rPr lang="en-US" sz="1250" b="1" dirty="0">
                <a:solidFill>
                  <a:srgbClr val="2563EB"/>
                </a:solidFill>
                <a:latin typeface="Calibri" pitchFamily="34" charset="0"/>
                <a:ea typeface="Calibri" pitchFamily="34" charset="-122"/>
                <a:cs typeface="Calibri" pitchFamily="34" charset="-120"/>
              </a:rPr>
              <a:t>Optimistic (P10)  ·  Most likely (P50)  ·  Conservative (P90)</a:t>
            </a:r>
            <a:endParaRPr lang="en-US" sz="1500" dirty="0"/>
          </a:p>
          <a:p>
            <a:pPr indent="0" marL="0">
              <a:lnSpc>
                <a:spcPct val="115000"/>
              </a:lnSpc>
              <a:spcAft>
                <a:spcPts val="1000"/>
              </a:spcAft>
              <a:buNone/>
            </a:pPr>
            <a:r>
              <a:rPr lang="en-US" sz="1250" dirty="0">
                <a:solidFill>
                  <a:srgbClr val="334155"/>
                </a:solidFill>
                <a:latin typeface="Calibri" pitchFamily="34" charset="0"/>
                <a:ea typeface="Calibri" pitchFamily="34" charset="-122"/>
                <a:cs typeface="Calibri" pitchFamily="34" charset="-120"/>
              </a:rPr>
              <a:t>A single number implies a precision that early estimates don't have. The range tells buyers how much to trust the number — and what target to set in negotiation.</a:t>
            </a:r>
            <a:endParaRPr lang="en-US" sz="1500" dirty="0"/>
          </a:p>
          <a:p>
            <a:pPr indent="0" marL="0">
              <a:lnSpc>
                <a:spcPct val="115000"/>
              </a:lnSpc>
              <a:spcAft>
                <a:spcPts val="1000"/>
              </a:spcAft>
              <a:buNone/>
            </a:pPr>
            <a:r>
              <a:rPr lang="en-US" sz="1250" b="1" dirty="0">
                <a:solidFill>
                  <a:srgbClr val="0F172A"/>
                </a:solidFill>
                <a:latin typeface="Calibri" pitchFamily="34" charset="0"/>
                <a:ea typeface="Calibri" pitchFamily="34" charset="-122"/>
                <a:cs typeface="Calibri" pitchFamily="34" charset="-120"/>
              </a:rPr>
              <a:t>The band is earned, not guessed: </a:t>
            </a:r>
            <a:pPr indent="0" marL="0">
              <a:lnSpc>
                <a:spcPct val="115000"/>
              </a:lnSpc>
              <a:spcAft>
                <a:spcPts val="1000"/>
              </a:spcAft>
              <a:buNone/>
            </a:pPr>
            <a:r>
              <a:rPr lang="en-US" sz="1250" dirty="0">
                <a:solidFill>
                  <a:srgbClr val="334155"/>
                </a:solidFill>
                <a:latin typeface="Calibri" pitchFamily="34" charset="0"/>
                <a:ea typeface="Calibri" pitchFamily="34" charset="-122"/>
                <a:cs typeface="Calibri" pitchFamily="34" charset="-120"/>
              </a:rPr>
              <a:t>it starts wide when the tool has no evidence, and tightens automatically as real quotes prove the accuracy. On our test part it went from ±20% to ±3% after three quotes.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CAPABILITY 5 OF 5</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The autonomous agent — finds money unattended</a:t>
            </a:r>
            <a:endParaRPr lang="en-US" sz="2700" dirty="0"/>
          </a:p>
        </p:txBody>
      </p:sp>
      <p:sp>
        <p:nvSpPr>
          <p:cNvPr id="10" name="Text 8"/>
          <p:cNvSpPr/>
          <p:nvPr/>
        </p:nvSpPr>
        <p:spPr>
          <a:xfrm>
            <a:off x="411480" y="1691640"/>
            <a:ext cx="11338560" cy="41148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A background monitor re-checks every stored part on a schedule. In the live demonstration it opened these findings </a:t>
            </a:r>
            <a:pPr indent="0" marL="0">
              <a:buNone/>
            </a:pPr>
            <a:r>
              <a:rPr lang="en-US" sz="1300" b="1" dirty="0">
                <a:solidFill>
                  <a:srgbClr val="0F172A"/>
                </a:solidFill>
                <a:latin typeface="Calibri" pitchFamily="34" charset="0"/>
                <a:ea typeface="Calibri" pitchFamily="34" charset="-122"/>
                <a:cs typeface="Calibri" pitchFamily="34" charset="-120"/>
              </a:rPr>
              <a:t>entirely unattended:</a:t>
            </a:r>
            <a:endParaRPr lang="en-US" sz="1300" dirty="0"/>
          </a:p>
        </p:txBody>
      </p:sp>
      <p:sp>
        <p:nvSpPr>
          <p:cNvPr id="11" name="Shape 9"/>
          <p:cNvSpPr/>
          <p:nvPr/>
        </p:nvSpPr>
        <p:spPr>
          <a:xfrm>
            <a:off x="411480" y="2286000"/>
            <a:ext cx="11384280" cy="914400"/>
          </a:xfrm>
          <a:prstGeom prst="roundRect">
            <a:avLst>
              <a:gd name="adj" fmla="val 10000"/>
            </a:avLst>
          </a:prstGeom>
          <a:solidFill>
            <a:srgbClr val="F1F5F9"/>
          </a:solidFill>
          <a:ln/>
        </p:spPr>
      </p:sp>
      <p:sp>
        <p:nvSpPr>
          <p:cNvPr id="12" name="Shape 10"/>
          <p:cNvSpPr/>
          <p:nvPr/>
        </p:nvSpPr>
        <p:spPr>
          <a:xfrm>
            <a:off x="411480" y="2286000"/>
            <a:ext cx="82296" cy="914400"/>
          </a:xfrm>
          <a:prstGeom prst="rect">
            <a:avLst/>
          </a:prstGeom>
          <a:solidFill>
            <a:srgbClr val="DC2626"/>
          </a:solidFill>
          <a:ln/>
        </p:spPr>
      </p:sp>
      <p:sp>
        <p:nvSpPr>
          <p:cNvPr id="13" name="Text 11"/>
          <p:cNvSpPr/>
          <p:nvPr/>
        </p:nvSpPr>
        <p:spPr>
          <a:xfrm>
            <a:off x="731520" y="2404872"/>
            <a:ext cx="3017520" cy="365760"/>
          </a:xfrm>
          <a:prstGeom prst="rect">
            <a:avLst/>
          </a:prstGeom>
          <a:noFill/>
          <a:ln/>
        </p:spPr>
        <p:txBody>
          <a:bodyPr wrap="square" lIns="0" tIns="0" rIns="0" bIns="0" rtlCol="0" anchor="t"/>
          <a:lstStyle/>
          <a:p>
            <a:pPr indent="0" marL="0">
              <a:buNone/>
            </a:pPr>
            <a:r>
              <a:rPr lang="en-US" sz="1300" b="1" dirty="0">
                <a:solidFill>
                  <a:srgbClr val="DC2626"/>
                </a:solidFill>
                <a:latin typeface="Calibri" pitchFamily="34" charset="0"/>
                <a:ea typeface="Calibri" pitchFamily="34" charset="-122"/>
                <a:cs typeface="Calibri" pitchFamily="34" charset="-120"/>
              </a:rPr>
              <a:t>💰  RENEGOTIATION</a:t>
            </a:r>
            <a:endParaRPr lang="en-US" sz="1300" dirty="0"/>
          </a:p>
        </p:txBody>
      </p:sp>
      <p:sp>
        <p:nvSpPr>
          <p:cNvPr id="14" name="Text 12"/>
          <p:cNvSpPr/>
          <p:nvPr/>
        </p:nvSpPr>
        <p:spPr>
          <a:xfrm>
            <a:off x="731520" y="2743200"/>
            <a:ext cx="8229600" cy="411480"/>
          </a:xfrm>
          <a:prstGeom prst="rect">
            <a:avLst/>
          </a:prstGeom>
          <a:noFill/>
          <a:ln/>
        </p:spPr>
        <p:txBody>
          <a:bodyPr wrap="square" lIns="0" tIns="0" rIns="0" bIns="0" rtlCol="0" anchor="t"/>
          <a:lstStyle/>
          <a:p>
            <a:pPr indent="0" marL="0">
              <a:buNone/>
            </a:pPr>
            <a:r>
              <a:rPr lang="en-US" sz="1150" dirty="0">
                <a:solidFill>
                  <a:srgbClr val="334155"/>
                </a:solidFill>
                <a:latin typeface="Calibri" pitchFamily="34" charset="0"/>
                <a:ea typeface="Calibri" pitchFamily="34" charset="-122"/>
                <a:cs typeface="Calibri" pitchFamily="34" charset="-120"/>
              </a:rPr>
              <a:t>Supplier price £48.00 is 20% above should-cost £40.00 at 50,000 pcs — clear recovery opportunity.</a:t>
            </a:r>
            <a:endParaRPr lang="en-US" sz="1150" dirty="0"/>
          </a:p>
        </p:txBody>
      </p:sp>
      <p:sp>
        <p:nvSpPr>
          <p:cNvPr id="15" name="Text 13"/>
          <p:cNvSpPr/>
          <p:nvPr/>
        </p:nvSpPr>
        <p:spPr>
          <a:xfrm>
            <a:off x="9052560" y="2404872"/>
            <a:ext cx="2606040" cy="365760"/>
          </a:xfrm>
          <a:prstGeom prst="rect">
            <a:avLst/>
          </a:prstGeom>
          <a:noFill/>
          <a:ln/>
        </p:spPr>
        <p:txBody>
          <a:bodyPr wrap="square" lIns="0" tIns="0" rIns="0" bIns="0" rtlCol="0" anchor="t"/>
          <a:lstStyle/>
          <a:p>
            <a:pPr algn="r" indent="0" marL="0">
              <a:buNone/>
            </a:pPr>
            <a:r>
              <a:rPr lang="en-US" sz="1400" b="1" dirty="0">
                <a:solidFill>
                  <a:srgbClr val="DC2626"/>
                </a:solidFill>
                <a:latin typeface="Calibri" pitchFamily="34" charset="0"/>
                <a:ea typeface="Calibri" pitchFamily="34" charset="-122"/>
                <a:cs typeface="Calibri" pitchFamily="34" charset="-120"/>
              </a:rPr>
              <a:t>≈ £400,000 / yr</a:t>
            </a:r>
            <a:endParaRPr lang="en-US" sz="1400" dirty="0"/>
          </a:p>
        </p:txBody>
      </p:sp>
      <p:sp>
        <p:nvSpPr>
          <p:cNvPr id="16" name="Shape 14"/>
          <p:cNvSpPr/>
          <p:nvPr/>
        </p:nvSpPr>
        <p:spPr>
          <a:xfrm>
            <a:off x="411480" y="3337560"/>
            <a:ext cx="11384280" cy="914400"/>
          </a:xfrm>
          <a:prstGeom prst="roundRect">
            <a:avLst>
              <a:gd name="adj" fmla="val 10000"/>
            </a:avLst>
          </a:prstGeom>
          <a:solidFill>
            <a:srgbClr val="F1F5F9"/>
          </a:solidFill>
          <a:ln/>
        </p:spPr>
      </p:sp>
      <p:sp>
        <p:nvSpPr>
          <p:cNvPr id="17" name="Shape 15"/>
          <p:cNvSpPr/>
          <p:nvPr/>
        </p:nvSpPr>
        <p:spPr>
          <a:xfrm>
            <a:off x="411480" y="3337560"/>
            <a:ext cx="82296" cy="914400"/>
          </a:xfrm>
          <a:prstGeom prst="rect">
            <a:avLst/>
          </a:prstGeom>
          <a:solidFill>
            <a:srgbClr val="D97706"/>
          </a:solidFill>
          <a:ln/>
        </p:spPr>
      </p:sp>
      <p:sp>
        <p:nvSpPr>
          <p:cNvPr id="18" name="Text 16"/>
          <p:cNvSpPr/>
          <p:nvPr/>
        </p:nvSpPr>
        <p:spPr>
          <a:xfrm>
            <a:off x="731520" y="3456432"/>
            <a:ext cx="3017520" cy="365760"/>
          </a:xfrm>
          <a:prstGeom prst="rect">
            <a:avLst/>
          </a:prstGeom>
          <a:noFill/>
          <a:ln/>
        </p:spPr>
        <p:txBody>
          <a:bodyPr wrap="square" lIns="0" tIns="0" rIns="0" bIns="0" rtlCol="0" anchor="t"/>
          <a:lstStyle/>
          <a:p>
            <a:pPr indent="0" marL="0">
              <a:buNone/>
            </a:pPr>
            <a:r>
              <a:rPr lang="en-US" sz="1300" b="1" dirty="0">
                <a:solidFill>
                  <a:srgbClr val="D97706"/>
                </a:solidFill>
                <a:latin typeface="Calibri" pitchFamily="34" charset="0"/>
                <a:ea typeface="Calibri" pitchFamily="34" charset="-122"/>
                <a:cs typeface="Calibri" pitchFamily="34" charset="-120"/>
              </a:rPr>
              <a:t>🚨  UNDERWATER PRICE</a:t>
            </a:r>
            <a:endParaRPr lang="en-US" sz="1300" dirty="0"/>
          </a:p>
        </p:txBody>
      </p:sp>
      <p:sp>
        <p:nvSpPr>
          <p:cNvPr id="19" name="Text 17"/>
          <p:cNvSpPr/>
          <p:nvPr/>
        </p:nvSpPr>
        <p:spPr>
          <a:xfrm>
            <a:off x="731520" y="3794760"/>
            <a:ext cx="8229600" cy="411480"/>
          </a:xfrm>
          <a:prstGeom prst="rect">
            <a:avLst/>
          </a:prstGeom>
          <a:noFill/>
          <a:ln/>
        </p:spPr>
        <p:txBody>
          <a:bodyPr wrap="square" lIns="0" tIns="0" rIns="0" bIns="0" rtlCol="0" anchor="t"/>
          <a:lstStyle/>
          <a:p>
            <a:pPr indent="0" marL="0">
              <a:buNone/>
            </a:pPr>
            <a:r>
              <a:rPr lang="en-US" sz="1150" dirty="0">
                <a:solidFill>
                  <a:srgbClr val="334155"/>
                </a:solidFill>
                <a:latin typeface="Calibri" pitchFamily="34" charset="0"/>
                <a:ea typeface="Calibri" pitchFamily="34" charset="-122"/>
                <a:cs typeface="Calibri" pitchFamily="34" charset="-120"/>
              </a:rPr>
              <a:t>Supplier price 25% BELOW should-cost — verify scope and quality; pricing may be unsustainable.</a:t>
            </a:r>
            <a:endParaRPr lang="en-US" sz="1150" dirty="0"/>
          </a:p>
        </p:txBody>
      </p:sp>
      <p:sp>
        <p:nvSpPr>
          <p:cNvPr id="20" name="Text 18"/>
          <p:cNvSpPr/>
          <p:nvPr/>
        </p:nvSpPr>
        <p:spPr>
          <a:xfrm>
            <a:off x="9052560" y="3456432"/>
            <a:ext cx="2606040" cy="365760"/>
          </a:xfrm>
          <a:prstGeom prst="rect">
            <a:avLst/>
          </a:prstGeom>
          <a:noFill/>
          <a:ln/>
        </p:spPr>
        <p:txBody>
          <a:bodyPr wrap="square" lIns="0" tIns="0" rIns="0" bIns="0" rtlCol="0" anchor="t"/>
          <a:lstStyle/>
          <a:p>
            <a:pPr algn="r" indent="0" marL="0">
              <a:buNone/>
            </a:pPr>
            <a:r>
              <a:rPr lang="en-US" sz="1400" b="1" dirty="0">
                <a:solidFill>
                  <a:srgbClr val="D97706"/>
                </a:solidFill>
                <a:latin typeface="Calibri" pitchFamily="34" charset="0"/>
                <a:ea typeface="Calibri" pitchFamily="34" charset="-122"/>
                <a:cs typeface="Calibri" pitchFamily="34" charset="-120"/>
              </a:rPr>
              <a:t>≈ £112,000 / yr exposure</a:t>
            </a:r>
            <a:endParaRPr lang="en-US" sz="1400" dirty="0"/>
          </a:p>
        </p:txBody>
      </p:sp>
      <p:sp>
        <p:nvSpPr>
          <p:cNvPr id="21" name="Shape 19"/>
          <p:cNvSpPr/>
          <p:nvPr/>
        </p:nvSpPr>
        <p:spPr>
          <a:xfrm>
            <a:off x="411480" y="4389120"/>
            <a:ext cx="11384280" cy="914400"/>
          </a:xfrm>
          <a:prstGeom prst="roundRect">
            <a:avLst>
              <a:gd name="adj" fmla="val 10000"/>
            </a:avLst>
          </a:prstGeom>
          <a:solidFill>
            <a:srgbClr val="F1F5F9"/>
          </a:solidFill>
          <a:ln/>
        </p:spPr>
      </p:sp>
      <p:sp>
        <p:nvSpPr>
          <p:cNvPr id="22" name="Shape 20"/>
          <p:cNvSpPr/>
          <p:nvPr/>
        </p:nvSpPr>
        <p:spPr>
          <a:xfrm>
            <a:off x="411480" y="4389120"/>
            <a:ext cx="82296" cy="914400"/>
          </a:xfrm>
          <a:prstGeom prst="rect">
            <a:avLst/>
          </a:prstGeom>
          <a:solidFill>
            <a:srgbClr val="64748B"/>
          </a:solidFill>
          <a:ln/>
        </p:spPr>
      </p:sp>
      <p:sp>
        <p:nvSpPr>
          <p:cNvPr id="23" name="Text 21"/>
          <p:cNvSpPr/>
          <p:nvPr/>
        </p:nvSpPr>
        <p:spPr>
          <a:xfrm>
            <a:off x="731520" y="4507992"/>
            <a:ext cx="3017520" cy="365760"/>
          </a:xfrm>
          <a:prstGeom prst="rect">
            <a:avLst/>
          </a:prstGeom>
          <a:noFill/>
          <a:ln/>
        </p:spPr>
        <p:txBody>
          <a:bodyPr wrap="square" lIns="0" tIns="0" rIns="0" bIns="0" rtlCol="0" anchor="t"/>
          <a:lstStyle/>
          <a:p>
            <a:pPr indent="0" marL="0">
              <a:buNone/>
            </a:pPr>
            <a:r>
              <a:rPr lang="en-US" sz="1300" b="1" dirty="0">
                <a:solidFill>
                  <a:srgbClr val="64748B"/>
                </a:solidFill>
                <a:latin typeface="Calibri" pitchFamily="34" charset="0"/>
                <a:ea typeface="Calibri" pitchFamily="34" charset="-122"/>
                <a:cs typeface="Calibri" pitchFamily="34" charset="-120"/>
              </a:rPr>
              <a:t>⏳  STALE ESTIMATE</a:t>
            </a:r>
            <a:endParaRPr lang="en-US" sz="1300" dirty="0"/>
          </a:p>
        </p:txBody>
      </p:sp>
      <p:sp>
        <p:nvSpPr>
          <p:cNvPr id="24" name="Text 22"/>
          <p:cNvSpPr/>
          <p:nvPr/>
        </p:nvSpPr>
        <p:spPr>
          <a:xfrm>
            <a:off x="731520" y="4846320"/>
            <a:ext cx="8229600" cy="411480"/>
          </a:xfrm>
          <a:prstGeom prst="rect">
            <a:avLst/>
          </a:prstGeom>
          <a:noFill/>
          <a:ln/>
        </p:spPr>
        <p:txBody>
          <a:bodyPr wrap="square" lIns="0" tIns="0" rIns="0" bIns="0" rtlCol="0" anchor="t"/>
          <a:lstStyle/>
          <a:p>
            <a:pPr indent="0" marL="0">
              <a:buNone/>
            </a:pPr>
            <a:r>
              <a:rPr lang="en-US" sz="1150" dirty="0">
                <a:solidFill>
                  <a:srgbClr val="334155"/>
                </a:solidFill>
                <a:latin typeface="Calibri" pitchFamily="34" charset="0"/>
                <a:ea typeface="Calibri" pitchFamily="34" charset="-122"/>
                <a:cs typeface="Calibri" pitchFamily="34" charset="-120"/>
              </a:rPr>
              <a:t>A 120-day-old estimate was never validated with a real quote — the agent asks for a refresh.</a:t>
            </a:r>
            <a:endParaRPr lang="en-US" sz="1150" dirty="0"/>
          </a:p>
        </p:txBody>
      </p:sp>
      <p:sp>
        <p:nvSpPr>
          <p:cNvPr id="25" name="Text 23"/>
          <p:cNvSpPr/>
          <p:nvPr/>
        </p:nvSpPr>
        <p:spPr>
          <a:xfrm>
            <a:off x="9052560" y="4507992"/>
            <a:ext cx="2606040" cy="365760"/>
          </a:xfrm>
          <a:prstGeom prst="rect">
            <a:avLst/>
          </a:prstGeom>
          <a:noFill/>
          <a:ln/>
        </p:spPr>
        <p:txBody>
          <a:bodyPr wrap="square" lIns="0" tIns="0" rIns="0" bIns="0" rtlCol="0" anchor="t"/>
          <a:lstStyle/>
          <a:p>
            <a:pPr algn="r" indent="0" marL="0">
              <a:buNone/>
            </a:pPr>
            <a:r>
              <a:rPr lang="en-US" sz="1400" b="1" dirty="0">
                <a:solidFill>
                  <a:srgbClr val="64748B"/>
                </a:solidFill>
                <a:latin typeface="Calibri" pitchFamily="34" charset="0"/>
                <a:ea typeface="Calibri" pitchFamily="34" charset="-122"/>
                <a:cs typeface="Calibri" pitchFamily="34" charset="-120"/>
              </a:rPr>
              <a:t>Confidence decay</a:t>
            </a:r>
            <a:endParaRPr lang="en-US" sz="1400" dirty="0"/>
          </a:p>
        </p:txBody>
      </p:sp>
      <p:sp>
        <p:nvSpPr>
          <p:cNvPr id="26" name="Shape 24"/>
          <p:cNvSpPr/>
          <p:nvPr/>
        </p:nvSpPr>
        <p:spPr>
          <a:xfrm>
            <a:off x="411480" y="5532120"/>
            <a:ext cx="11384280" cy="777240"/>
          </a:xfrm>
          <a:prstGeom prst="roundRect">
            <a:avLst>
              <a:gd name="adj" fmla="val 11765"/>
            </a:avLst>
          </a:prstGeom>
          <a:solidFill>
            <a:srgbClr val="EFF6FF"/>
          </a:solidFill>
          <a:ln/>
        </p:spPr>
      </p:sp>
      <p:sp>
        <p:nvSpPr>
          <p:cNvPr id="27" name="Text 25"/>
          <p:cNvSpPr/>
          <p:nvPr/>
        </p:nvSpPr>
        <p:spPr>
          <a:xfrm>
            <a:off x="685800" y="5669280"/>
            <a:ext cx="10881360" cy="54864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Total surfaced in the demo:  </a:t>
            </a:r>
            <a:pPr indent="0" marL="0">
              <a:buNone/>
            </a:pPr>
            <a:r>
              <a:rPr lang="en-US" sz="1500" b="1" dirty="0">
                <a:solidFill>
                  <a:srgbClr val="DC2626"/>
                </a:solidFill>
                <a:latin typeface="Calibri" pitchFamily="34" charset="0"/>
                <a:ea typeface="Calibri" pitchFamily="34" charset="-122"/>
                <a:cs typeface="Calibri" pitchFamily="34" charset="-120"/>
              </a:rPr>
              <a:t>≈ £512,000 / yr</a:t>
            </a:r>
            <a:pPr indent="0" marL="0">
              <a:buNone/>
            </a:pPr>
            <a:r>
              <a:rPr lang="en-US" sz="1300" dirty="0">
                <a:solidFill>
                  <a:srgbClr val="64748B"/>
                </a:solidFill>
                <a:latin typeface="Calibri" pitchFamily="34" charset="0"/>
                <a:ea typeface="Calibri" pitchFamily="34" charset="-122"/>
                <a:cs typeface="Calibri" pitchFamily="34" charset="-120"/>
              </a:rPr>
              <a:t>   — every finding shows its arithmetic, and one click dismisses it once handled.</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THE WIDER AI PLATFORM</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Supporting AI capabilities already in the tool</a:t>
            </a:r>
            <a:endParaRPr lang="en-US" sz="2700" dirty="0"/>
          </a:p>
        </p:txBody>
      </p:sp>
      <p:sp>
        <p:nvSpPr>
          <p:cNvPr id="10" name="Shape 8"/>
          <p:cNvSpPr/>
          <p:nvPr/>
        </p:nvSpPr>
        <p:spPr>
          <a:xfrm>
            <a:off x="411480" y="1920240"/>
            <a:ext cx="5577840" cy="1874520"/>
          </a:xfrm>
          <a:prstGeom prst="roundRect">
            <a:avLst>
              <a:gd name="adj" fmla="val 3415"/>
            </a:avLst>
          </a:prstGeom>
          <a:solidFill>
            <a:srgbClr val="F1F5F9"/>
          </a:solidFill>
          <a:ln/>
        </p:spPr>
      </p:sp>
      <p:sp>
        <p:nvSpPr>
          <p:cNvPr id="11" name="Shape 9"/>
          <p:cNvSpPr/>
          <p:nvPr/>
        </p:nvSpPr>
        <p:spPr>
          <a:xfrm>
            <a:off x="411480" y="1920240"/>
            <a:ext cx="82296" cy="1874520"/>
          </a:xfrm>
          <a:prstGeom prst="rect">
            <a:avLst/>
          </a:prstGeom>
          <a:solidFill>
            <a:srgbClr val="2563EB"/>
          </a:solidFill>
          <a:ln/>
        </p:spPr>
      </p:sp>
      <p:sp>
        <p:nvSpPr>
          <p:cNvPr id="12" name="Text 10"/>
          <p:cNvSpPr/>
          <p:nvPr/>
        </p:nvSpPr>
        <p:spPr>
          <a:xfrm>
            <a:off x="685800" y="2103120"/>
            <a:ext cx="5120640" cy="411480"/>
          </a:xfrm>
          <a:prstGeom prst="rect">
            <a:avLst/>
          </a:prstGeom>
          <a:noFill/>
          <a:ln/>
        </p:spPr>
        <p:txBody>
          <a:bodyPr wrap="square" lIns="0" tIns="0" rIns="0" bIns="0" rtlCol="0" anchor="t"/>
          <a:lstStyle/>
          <a:p>
            <a:pPr indent="0" marL="0">
              <a:buNone/>
            </a:pPr>
            <a:r>
              <a:rPr lang="en-US" sz="1500" b="1" dirty="0">
                <a:solidFill>
                  <a:srgbClr val="2563EB"/>
                </a:solidFill>
                <a:latin typeface="Calibri" pitchFamily="34" charset="0"/>
                <a:ea typeface="Calibri" pitchFamily="34" charset="-122"/>
                <a:cs typeface="Calibri" pitchFamily="34" charset="-120"/>
              </a:rPr>
              <a:t>📚  Grounded AI assistant</a:t>
            </a:r>
            <a:endParaRPr lang="en-US" sz="1500" dirty="0"/>
          </a:p>
        </p:txBody>
      </p:sp>
      <p:sp>
        <p:nvSpPr>
          <p:cNvPr id="13" name="Text 11"/>
          <p:cNvSpPr/>
          <p:nvPr/>
        </p:nvSpPr>
        <p:spPr>
          <a:xfrm>
            <a:off x="685800" y="2578608"/>
            <a:ext cx="5074920" cy="1143000"/>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Answers cite our actual rate library and past costings — the AI quotes our data, it doesn't improvise. Every figure is traceable.</a:t>
            </a:r>
            <a:endParaRPr lang="en-US" sz="1200" dirty="0"/>
          </a:p>
        </p:txBody>
      </p:sp>
      <p:sp>
        <p:nvSpPr>
          <p:cNvPr id="14" name="Shape 12"/>
          <p:cNvSpPr/>
          <p:nvPr/>
        </p:nvSpPr>
        <p:spPr>
          <a:xfrm>
            <a:off x="6217920" y="1920240"/>
            <a:ext cx="5577840" cy="1874520"/>
          </a:xfrm>
          <a:prstGeom prst="roundRect">
            <a:avLst>
              <a:gd name="adj" fmla="val 3415"/>
            </a:avLst>
          </a:prstGeom>
          <a:solidFill>
            <a:srgbClr val="F1F5F9"/>
          </a:solidFill>
          <a:ln/>
        </p:spPr>
      </p:sp>
      <p:sp>
        <p:nvSpPr>
          <p:cNvPr id="15" name="Shape 13"/>
          <p:cNvSpPr/>
          <p:nvPr/>
        </p:nvSpPr>
        <p:spPr>
          <a:xfrm>
            <a:off x="6217920" y="1920240"/>
            <a:ext cx="82296" cy="1874520"/>
          </a:xfrm>
          <a:prstGeom prst="rect">
            <a:avLst/>
          </a:prstGeom>
          <a:solidFill>
            <a:srgbClr val="7C3AED"/>
          </a:solidFill>
          <a:ln/>
        </p:spPr>
      </p:sp>
      <p:sp>
        <p:nvSpPr>
          <p:cNvPr id="16" name="Text 14"/>
          <p:cNvSpPr/>
          <p:nvPr/>
        </p:nvSpPr>
        <p:spPr>
          <a:xfrm>
            <a:off x="6492240" y="2103120"/>
            <a:ext cx="5120640" cy="411480"/>
          </a:xfrm>
          <a:prstGeom prst="rect">
            <a:avLst/>
          </a:prstGeom>
          <a:noFill/>
          <a:ln/>
        </p:spPr>
        <p:txBody>
          <a:bodyPr wrap="square" lIns="0" tIns="0" rIns="0" bIns="0" rtlCol="0" anchor="t"/>
          <a:lstStyle/>
          <a:p>
            <a:pPr indent="0" marL="0">
              <a:buNone/>
            </a:pPr>
            <a:r>
              <a:rPr lang="en-US" sz="1500" b="1" dirty="0">
                <a:solidFill>
                  <a:srgbClr val="7C3AED"/>
                </a:solidFill>
                <a:latin typeface="Calibri" pitchFamily="34" charset="0"/>
                <a:ea typeface="Calibri" pitchFamily="34" charset="-122"/>
                <a:cs typeface="Calibri" pitchFamily="34" charset="-120"/>
              </a:rPr>
              <a:t>📄  RFQ analyst</a:t>
            </a:r>
            <a:endParaRPr lang="en-US" sz="1500" dirty="0"/>
          </a:p>
        </p:txBody>
      </p:sp>
      <p:sp>
        <p:nvSpPr>
          <p:cNvPr id="17" name="Text 15"/>
          <p:cNvSpPr/>
          <p:nvPr/>
        </p:nvSpPr>
        <p:spPr>
          <a:xfrm>
            <a:off x="6492240" y="2578608"/>
            <a:ext cx="5074920" cy="1143000"/>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Drop in an RFQ package: it costs every line, flags risky prices and single-source parts, and drafts a prioritised negotiation brief.</a:t>
            </a:r>
            <a:endParaRPr lang="en-US" sz="1200" dirty="0"/>
          </a:p>
        </p:txBody>
      </p:sp>
      <p:sp>
        <p:nvSpPr>
          <p:cNvPr id="18" name="Shape 16"/>
          <p:cNvSpPr/>
          <p:nvPr/>
        </p:nvSpPr>
        <p:spPr>
          <a:xfrm>
            <a:off x="411480" y="4023360"/>
            <a:ext cx="5577840" cy="1874520"/>
          </a:xfrm>
          <a:prstGeom prst="roundRect">
            <a:avLst>
              <a:gd name="adj" fmla="val 3415"/>
            </a:avLst>
          </a:prstGeom>
          <a:solidFill>
            <a:srgbClr val="F1F5F9"/>
          </a:solidFill>
          <a:ln/>
        </p:spPr>
      </p:sp>
      <p:sp>
        <p:nvSpPr>
          <p:cNvPr id="19" name="Shape 17"/>
          <p:cNvSpPr/>
          <p:nvPr/>
        </p:nvSpPr>
        <p:spPr>
          <a:xfrm>
            <a:off x="411480" y="4023360"/>
            <a:ext cx="82296" cy="1874520"/>
          </a:xfrm>
          <a:prstGeom prst="rect">
            <a:avLst/>
          </a:prstGeom>
          <a:solidFill>
            <a:srgbClr val="0891B2"/>
          </a:solidFill>
          <a:ln/>
        </p:spPr>
      </p:sp>
      <p:sp>
        <p:nvSpPr>
          <p:cNvPr id="20" name="Text 18"/>
          <p:cNvSpPr/>
          <p:nvPr/>
        </p:nvSpPr>
        <p:spPr>
          <a:xfrm>
            <a:off x="685800" y="4206240"/>
            <a:ext cx="5120640" cy="411480"/>
          </a:xfrm>
          <a:prstGeom prst="rect">
            <a:avLst/>
          </a:prstGeom>
          <a:noFill/>
          <a:ln/>
        </p:spPr>
        <p:txBody>
          <a:bodyPr wrap="square" lIns="0" tIns="0" rIns="0" bIns="0" rtlCol="0" anchor="t"/>
          <a:lstStyle/>
          <a:p>
            <a:pPr indent="0" marL="0">
              <a:buNone/>
            </a:pPr>
            <a:r>
              <a:rPr lang="en-US" sz="1500" b="1" dirty="0">
                <a:solidFill>
                  <a:srgbClr val="0891B2"/>
                </a:solidFill>
                <a:latin typeface="Calibri" pitchFamily="34" charset="0"/>
                <a:ea typeface="Calibri" pitchFamily="34" charset="-122"/>
                <a:cs typeface="Calibri" pitchFamily="34" charset="-120"/>
              </a:rPr>
              <a:t>📐  CAD feature costing</a:t>
            </a:r>
            <a:endParaRPr lang="en-US" sz="1500" dirty="0"/>
          </a:p>
        </p:txBody>
      </p:sp>
      <p:sp>
        <p:nvSpPr>
          <p:cNvPr id="21" name="Text 19"/>
          <p:cNvSpPr/>
          <p:nvPr/>
        </p:nvSpPr>
        <p:spPr>
          <a:xfrm>
            <a:off x="685800" y="4681728"/>
            <a:ext cx="5074920" cy="1143000"/>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Reads the 3D model and prices individual design features — holes, threads, surfaces — so designers see exactly what drives cost.</a:t>
            </a:r>
            <a:endParaRPr lang="en-US" sz="1200" dirty="0"/>
          </a:p>
        </p:txBody>
      </p:sp>
      <p:sp>
        <p:nvSpPr>
          <p:cNvPr id="22" name="Shape 20"/>
          <p:cNvSpPr/>
          <p:nvPr/>
        </p:nvSpPr>
        <p:spPr>
          <a:xfrm>
            <a:off x="6217920" y="4023360"/>
            <a:ext cx="5577840" cy="1874520"/>
          </a:xfrm>
          <a:prstGeom prst="roundRect">
            <a:avLst>
              <a:gd name="adj" fmla="val 3415"/>
            </a:avLst>
          </a:prstGeom>
          <a:solidFill>
            <a:srgbClr val="F1F5F9"/>
          </a:solidFill>
          <a:ln/>
        </p:spPr>
      </p:sp>
      <p:sp>
        <p:nvSpPr>
          <p:cNvPr id="23" name="Shape 21"/>
          <p:cNvSpPr/>
          <p:nvPr/>
        </p:nvSpPr>
        <p:spPr>
          <a:xfrm>
            <a:off x="6217920" y="4023360"/>
            <a:ext cx="82296" cy="1874520"/>
          </a:xfrm>
          <a:prstGeom prst="rect">
            <a:avLst/>
          </a:prstGeom>
          <a:solidFill>
            <a:srgbClr val="059669"/>
          </a:solidFill>
          <a:ln/>
        </p:spPr>
      </p:sp>
      <p:sp>
        <p:nvSpPr>
          <p:cNvPr id="24" name="Text 22"/>
          <p:cNvSpPr/>
          <p:nvPr/>
        </p:nvSpPr>
        <p:spPr>
          <a:xfrm>
            <a:off x="6492240" y="4206240"/>
            <a:ext cx="5120640" cy="411480"/>
          </a:xfrm>
          <a:prstGeom prst="rect">
            <a:avLst/>
          </a:prstGeom>
          <a:noFill/>
          <a:ln/>
        </p:spPr>
        <p:txBody>
          <a:bodyPr wrap="square" lIns="0" tIns="0" rIns="0" bIns="0" rtlCol="0" anchor="t"/>
          <a:lstStyle/>
          <a:p>
            <a:pPr indent="0" marL="0">
              <a:buNone/>
            </a:pPr>
            <a:r>
              <a:rPr lang="en-US" sz="1500" b="1" dirty="0">
                <a:solidFill>
                  <a:srgbClr val="059669"/>
                </a:solidFill>
                <a:latin typeface="Calibri" pitchFamily="34" charset="0"/>
                <a:ea typeface="Calibri" pitchFamily="34" charset="-122"/>
                <a:cs typeface="Calibri" pitchFamily="34" charset="-120"/>
              </a:rPr>
              <a:t>🌱  Carbon co-costing</a:t>
            </a:r>
            <a:endParaRPr lang="en-US" sz="1500" dirty="0"/>
          </a:p>
        </p:txBody>
      </p:sp>
      <p:sp>
        <p:nvSpPr>
          <p:cNvPr id="25" name="Text 23"/>
          <p:cNvSpPr/>
          <p:nvPr/>
        </p:nvSpPr>
        <p:spPr>
          <a:xfrm>
            <a:off x="6492240" y="4681728"/>
            <a:ext cx="5074920" cy="1143000"/>
          </a:xfrm>
          <a:prstGeom prst="rect">
            <a:avLst/>
          </a:prstGeom>
          <a:noFill/>
          <a:ln/>
        </p:spPr>
        <p:txBody>
          <a:bodyPr wrap="square" lIns="0" tIns="0" rIns="0" bIns="0" rtlCol="0" anchor="t"/>
          <a:lstStyle/>
          <a:p>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Every part gets a CO₂e figure alongside the £ — increasingly demanded in automotive &amp; aerospace RFQs.</a:t>
            </a:r>
            <a:endParaRPr lang="en-US" sz="1200" dirty="0"/>
          </a:p>
        </p:txBody>
      </p:sp>
      <p:sp>
        <p:nvSpPr>
          <p:cNvPr id="26" name="Text 24"/>
          <p:cNvSpPr/>
          <p:nvPr/>
        </p:nvSpPr>
        <p:spPr>
          <a:xfrm>
            <a:off x="411480" y="6126480"/>
            <a:ext cx="11338560" cy="457200"/>
          </a:xfrm>
          <a:prstGeom prst="rect">
            <a:avLst/>
          </a:prstGeom>
          <a:noFill/>
          <a:ln/>
        </p:spPr>
        <p:txBody>
          <a:bodyPr wrap="square" lIns="0" tIns="0" rIns="0" bIns="0" rtlCol="0" anchor="t"/>
          <a:lstStyle/>
          <a:p>
            <a:pPr indent="0" marL="0">
              <a:buNone/>
            </a:pPr>
            <a:r>
              <a:rPr lang="en-US" sz="1200" i="1" dirty="0">
                <a:solidFill>
                  <a:srgbClr val="64748B"/>
                </a:solidFill>
                <a:latin typeface="Calibri" pitchFamily="34" charset="0"/>
                <a:ea typeface="Calibri" pitchFamily="34" charset="-122"/>
                <a:cs typeface="Calibri" pitchFamily="34" charset="-120"/>
              </a:rPr>
              <a:t>Together with 18 commodity cost engines, CAD-to-cost, and PCB photo-to-BOM — the agentic layer sits on top of all of it.</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INPUTS REQUIRED</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What it needs from us — honestly, very little</a:t>
            </a:r>
            <a:endParaRPr lang="en-US" sz="2700" dirty="0"/>
          </a:p>
        </p:txBody>
      </p:sp>
      <p:sp>
        <p:nvSpPr>
          <p:cNvPr id="10" name="Shape 8"/>
          <p:cNvSpPr/>
          <p:nvPr/>
        </p:nvSpPr>
        <p:spPr>
          <a:xfrm>
            <a:off x="411480" y="1874520"/>
            <a:ext cx="5486400" cy="3931920"/>
          </a:xfrm>
          <a:prstGeom prst="roundRect">
            <a:avLst>
              <a:gd name="adj" fmla="val 1163"/>
            </a:avLst>
          </a:prstGeom>
          <a:solidFill>
            <a:srgbClr val="EFF6FF"/>
          </a:solidFill>
          <a:ln/>
        </p:spPr>
      </p:sp>
      <p:sp>
        <p:nvSpPr>
          <p:cNvPr id="11" name="Text 9"/>
          <p:cNvSpPr/>
          <p:nvPr/>
        </p:nvSpPr>
        <p:spPr>
          <a:xfrm>
            <a:off x="685800" y="2103120"/>
            <a:ext cx="4937760" cy="365760"/>
          </a:xfrm>
          <a:prstGeom prst="rect">
            <a:avLst/>
          </a:prstGeom>
          <a:noFill/>
          <a:ln/>
        </p:spPr>
        <p:txBody>
          <a:bodyPr wrap="square" lIns="0" tIns="0" rIns="0" bIns="0" rtlCol="0" anchor="t"/>
          <a:lstStyle/>
          <a:p>
            <a:pPr indent="0" marL="0">
              <a:buNone/>
            </a:pPr>
            <a:r>
              <a:rPr lang="en-US" sz="1600" b="1" dirty="0">
                <a:solidFill>
                  <a:srgbClr val="2563EB"/>
                </a:solidFill>
                <a:latin typeface="Calibri" pitchFamily="34" charset="0"/>
                <a:ea typeface="Calibri" pitchFamily="34" charset="-122"/>
                <a:cs typeface="Calibri" pitchFamily="34" charset="-120"/>
              </a:rPr>
              <a:t>You provide</a:t>
            </a:r>
            <a:endParaRPr lang="en-US" sz="1600" dirty="0"/>
          </a:p>
        </p:txBody>
      </p:sp>
      <p:sp>
        <p:nvSpPr>
          <p:cNvPr id="12" name="Text 10"/>
          <p:cNvSpPr/>
          <p:nvPr/>
        </p:nvSpPr>
        <p:spPr>
          <a:xfrm>
            <a:off x="685800" y="2606040"/>
            <a:ext cx="4937760" cy="7315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1.  Keep costing parts as normal</a:t>
            </a:r>
            <a:endParaRPr lang="en-US" sz="1300" dirty="0"/>
          </a:p>
          <a:p>
            <a:pPr indent="0" marL="0">
              <a:buNone/>
            </a:pPr>
            <a:r>
              <a:rPr lang="en-US" sz="1100" dirty="0">
                <a:solidFill>
                  <a:srgbClr val="64748B"/>
                </a:solidFill>
                <a:latin typeface="Calibri" pitchFamily="34" charset="0"/>
                <a:ea typeface="Calibri" pitchFamily="34" charset="-122"/>
                <a:cs typeface="Calibri" pitchFamily="34" charset="-120"/>
              </a:rPr>
              <a:t>     every analysis feeds the memory automatically</a:t>
            </a:r>
            <a:endParaRPr lang="en-US" sz="1300" dirty="0"/>
          </a:p>
        </p:txBody>
      </p:sp>
      <p:sp>
        <p:nvSpPr>
          <p:cNvPr id="13" name="Text 11"/>
          <p:cNvSpPr/>
          <p:nvPr/>
        </p:nvSpPr>
        <p:spPr>
          <a:xfrm>
            <a:off x="685800" y="3383280"/>
            <a:ext cx="4937760" cy="7315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2.  One click when a real quote arrives</a:t>
            </a:r>
            <a:endParaRPr lang="en-US" sz="1300" dirty="0"/>
          </a:p>
          <a:p>
            <a:pPr indent="0" marL="0">
              <a:buNone/>
            </a:pPr>
            <a:r>
              <a:rPr lang="en-US" sz="1100" dirty="0">
                <a:solidFill>
                  <a:srgbClr val="64748B"/>
                </a:solidFill>
                <a:latin typeface="Calibri" pitchFamily="34" charset="0"/>
                <a:ea typeface="Calibri" pitchFamily="34" charset="-122"/>
                <a:cs typeface="Calibri" pitchFamily="34" charset="-120"/>
              </a:rPr>
              <a:t>     "Log Actual £" — this is the learning fuel</a:t>
            </a:r>
            <a:endParaRPr lang="en-US" sz="1300" dirty="0"/>
          </a:p>
        </p:txBody>
      </p:sp>
      <p:sp>
        <p:nvSpPr>
          <p:cNvPr id="14" name="Text 12"/>
          <p:cNvSpPr/>
          <p:nvPr/>
        </p:nvSpPr>
        <p:spPr>
          <a:xfrm>
            <a:off x="685800" y="4160520"/>
            <a:ext cx="4937760" cy="7315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3.  Optional: CAD file or BOM</a:t>
            </a:r>
            <a:endParaRPr lang="en-US" sz="1300" dirty="0"/>
          </a:p>
          <a:p>
            <a:pPr indent="0" marL="0">
              <a:buNone/>
            </a:pPr>
            <a:r>
              <a:rPr lang="en-US" sz="1100" dirty="0">
                <a:solidFill>
                  <a:srgbClr val="64748B"/>
                </a:solidFill>
                <a:latin typeface="Calibri" pitchFamily="34" charset="0"/>
                <a:ea typeface="Calibri" pitchFamily="34" charset="-122"/>
                <a:cs typeface="Calibri" pitchFamily="34" charset="-120"/>
              </a:rPr>
              <a:t>     sharper matching and better auto-fill</a:t>
            </a:r>
            <a:endParaRPr lang="en-US" sz="1300" dirty="0"/>
          </a:p>
        </p:txBody>
      </p:sp>
      <p:sp>
        <p:nvSpPr>
          <p:cNvPr id="15" name="Text 13"/>
          <p:cNvSpPr/>
          <p:nvPr/>
        </p:nvSpPr>
        <p:spPr>
          <a:xfrm>
            <a:off x="685800" y="4937760"/>
            <a:ext cx="4937760" cy="7315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4.  Optional: historic quotes (CSV)</a:t>
            </a:r>
            <a:endParaRPr lang="en-US" sz="1300" dirty="0"/>
          </a:p>
          <a:p>
            <a:pPr indent="0" marL="0">
              <a:buNone/>
            </a:pPr>
            <a:r>
              <a:rPr lang="en-US" sz="1100" dirty="0">
                <a:solidFill>
                  <a:srgbClr val="64748B"/>
                </a:solidFill>
                <a:latin typeface="Calibri" pitchFamily="34" charset="0"/>
                <a:ea typeface="Calibri" pitchFamily="34" charset="-122"/>
                <a:cs typeface="Calibri" pitchFamily="34" charset="-120"/>
              </a:rPr>
              <a:t>     seeds the memory so it starts smart, not empty</a:t>
            </a:r>
            <a:endParaRPr lang="en-US" sz="1300" dirty="0"/>
          </a:p>
        </p:txBody>
      </p:sp>
      <p:sp>
        <p:nvSpPr>
          <p:cNvPr id="16" name="Shape 14"/>
          <p:cNvSpPr/>
          <p:nvPr/>
        </p:nvSpPr>
        <p:spPr>
          <a:xfrm>
            <a:off x="6263640" y="1874520"/>
            <a:ext cx="5532120" cy="3931920"/>
          </a:xfrm>
          <a:prstGeom prst="roundRect">
            <a:avLst>
              <a:gd name="adj" fmla="val 1163"/>
            </a:avLst>
          </a:prstGeom>
          <a:solidFill>
            <a:srgbClr val="F1F5F9"/>
          </a:solidFill>
          <a:ln/>
        </p:spPr>
      </p:sp>
      <p:sp>
        <p:nvSpPr>
          <p:cNvPr id="17" name="Text 15"/>
          <p:cNvSpPr/>
          <p:nvPr/>
        </p:nvSpPr>
        <p:spPr>
          <a:xfrm>
            <a:off x="6537960" y="2103120"/>
            <a:ext cx="4937760" cy="365760"/>
          </a:xfrm>
          <a:prstGeom prst="rect">
            <a:avLst/>
          </a:prstGeom>
          <a:noFill/>
          <a:ln/>
        </p:spPr>
        <p:txBody>
          <a:bodyPr wrap="square" lIns="0" tIns="0" rIns="0" bIns="0" rtlCol="0" anchor="t"/>
          <a:lstStyle/>
          <a:p>
            <a:pPr indent="0" marL="0">
              <a:buNone/>
            </a:pPr>
            <a:r>
              <a:rPr lang="en-US" sz="1600" b="1" dirty="0">
                <a:solidFill>
                  <a:srgbClr val="059669"/>
                </a:solidFill>
                <a:latin typeface="Calibri" pitchFamily="34" charset="0"/>
                <a:ea typeface="Calibri" pitchFamily="34" charset="-122"/>
                <a:cs typeface="Calibri" pitchFamily="34" charset="-120"/>
              </a:rPr>
              <a:t>The tool does</a:t>
            </a:r>
            <a:endParaRPr lang="en-US" sz="1600" dirty="0"/>
          </a:p>
        </p:txBody>
      </p:sp>
      <p:sp>
        <p:nvSpPr>
          <p:cNvPr id="18" name="Text 16"/>
          <p:cNvSpPr/>
          <p:nvPr/>
        </p:nvSpPr>
        <p:spPr>
          <a:xfrm>
            <a:off x="6537960" y="2606040"/>
            <a:ext cx="502920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Remembers every analysis (no duplicates, org-wide)</a:t>
            </a:r>
            <a:endParaRPr lang="en-US" sz="1250" dirty="0"/>
          </a:p>
        </p:txBody>
      </p:sp>
      <p:sp>
        <p:nvSpPr>
          <p:cNvPr id="19" name="Text 17"/>
          <p:cNvSpPr/>
          <p:nvPr/>
        </p:nvSpPr>
        <p:spPr>
          <a:xfrm>
            <a:off x="6537960" y="3127248"/>
            <a:ext cx="502920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Finds &amp; explains similar past parts instantly</a:t>
            </a:r>
            <a:endParaRPr lang="en-US" sz="1250" dirty="0"/>
          </a:p>
        </p:txBody>
      </p:sp>
      <p:sp>
        <p:nvSpPr>
          <p:cNvPr id="20" name="Text 18"/>
          <p:cNvSpPr/>
          <p:nvPr/>
        </p:nvSpPr>
        <p:spPr>
          <a:xfrm>
            <a:off x="6537960" y="3648456"/>
            <a:ext cx="502920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Suggests benchmarks, materials and real prices</a:t>
            </a:r>
            <a:endParaRPr lang="en-US" sz="1250" dirty="0"/>
          </a:p>
        </p:txBody>
      </p:sp>
      <p:sp>
        <p:nvSpPr>
          <p:cNvPr id="21" name="Text 19"/>
          <p:cNvSpPr/>
          <p:nvPr/>
        </p:nvSpPr>
        <p:spPr>
          <a:xfrm>
            <a:off x="6537960" y="4169664"/>
            <a:ext cx="502920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Measures its own error and self-corrects per category</a:t>
            </a:r>
            <a:endParaRPr lang="en-US" sz="1250" dirty="0"/>
          </a:p>
        </p:txBody>
      </p:sp>
      <p:sp>
        <p:nvSpPr>
          <p:cNvPr id="22" name="Text 20"/>
          <p:cNvSpPr/>
          <p:nvPr/>
        </p:nvSpPr>
        <p:spPr>
          <a:xfrm>
            <a:off x="6537960" y="4690872"/>
            <a:ext cx="502920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Tightens confidence ranges as evidence grows</a:t>
            </a:r>
            <a:endParaRPr lang="en-US" sz="1250" dirty="0"/>
          </a:p>
        </p:txBody>
      </p:sp>
      <p:sp>
        <p:nvSpPr>
          <p:cNvPr id="23" name="Text 21"/>
          <p:cNvSpPr/>
          <p:nvPr/>
        </p:nvSpPr>
        <p:spPr>
          <a:xfrm>
            <a:off x="6537960" y="5212080"/>
            <a:ext cx="502920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Monitors all parts in the background &amp; raises findings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EVIDENCE</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Results &amp; accuracy — measured, not promised</a:t>
            </a:r>
            <a:endParaRPr lang="en-US" sz="2700" dirty="0"/>
          </a:p>
        </p:txBody>
      </p:sp>
      <p:sp>
        <p:nvSpPr>
          <p:cNvPr id="10" name="Shape 8"/>
          <p:cNvSpPr/>
          <p:nvPr/>
        </p:nvSpPr>
        <p:spPr>
          <a:xfrm>
            <a:off x="411480" y="1920240"/>
            <a:ext cx="11384280" cy="548640"/>
          </a:xfrm>
          <a:prstGeom prst="roundRect">
            <a:avLst>
              <a:gd name="adj" fmla="val 23333"/>
            </a:avLst>
          </a:prstGeom>
          <a:solidFill>
            <a:srgbClr val="F1F5F9"/>
          </a:solidFill>
          <a:ln/>
        </p:spPr>
      </p:sp>
      <p:sp>
        <p:nvSpPr>
          <p:cNvPr id="11" name="Text 9"/>
          <p:cNvSpPr/>
          <p:nvPr/>
        </p:nvSpPr>
        <p:spPr>
          <a:xfrm>
            <a:off x="731520" y="2020824"/>
            <a:ext cx="7498080" cy="36576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Estimating error after learning (machining segment)</a:t>
            </a:r>
            <a:endParaRPr lang="en-US" sz="1300" dirty="0"/>
          </a:p>
        </p:txBody>
      </p:sp>
      <p:sp>
        <p:nvSpPr>
          <p:cNvPr id="12" name="Text 10"/>
          <p:cNvSpPr/>
          <p:nvPr/>
        </p:nvSpPr>
        <p:spPr>
          <a:xfrm>
            <a:off x="7863840" y="2002536"/>
            <a:ext cx="3749040" cy="384048"/>
          </a:xfrm>
          <a:prstGeom prst="rect">
            <a:avLst/>
          </a:prstGeom>
          <a:noFill/>
          <a:ln/>
        </p:spPr>
        <p:txBody>
          <a:bodyPr wrap="square" lIns="0" tIns="0" rIns="0" bIns="0" rtlCol="0" anchor="t"/>
          <a:lstStyle/>
          <a:p>
            <a:pPr algn="r" indent="0" marL="0">
              <a:buNone/>
            </a:pPr>
            <a:r>
              <a:rPr lang="en-US" sz="1400" b="1" dirty="0">
                <a:solidFill>
                  <a:srgbClr val="059669"/>
                </a:solidFill>
                <a:latin typeface="Calibri" pitchFamily="34" charset="0"/>
                <a:ea typeface="Calibri" pitchFamily="34" charset="-122"/>
                <a:cs typeface="Calibri" pitchFamily="34" charset="-120"/>
              </a:rPr>
              <a:t>10.9%  →  0.3%</a:t>
            </a:r>
            <a:endParaRPr lang="en-US" sz="1400" dirty="0"/>
          </a:p>
        </p:txBody>
      </p:sp>
      <p:sp>
        <p:nvSpPr>
          <p:cNvPr id="13" name="Shape 11"/>
          <p:cNvSpPr/>
          <p:nvPr/>
        </p:nvSpPr>
        <p:spPr>
          <a:xfrm>
            <a:off x="411480" y="2578608"/>
            <a:ext cx="11384280" cy="548640"/>
          </a:xfrm>
          <a:prstGeom prst="roundRect">
            <a:avLst>
              <a:gd name="adj" fmla="val 23333"/>
            </a:avLst>
          </a:prstGeom>
          <a:solidFill>
            <a:srgbClr val="FFFFFF"/>
          </a:solidFill>
          <a:ln/>
        </p:spPr>
      </p:sp>
      <p:sp>
        <p:nvSpPr>
          <p:cNvPr id="14" name="Text 12"/>
          <p:cNvSpPr/>
          <p:nvPr/>
        </p:nvSpPr>
        <p:spPr>
          <a:xfrm>
            <a:off x="731520" y="2679192"/>
            <a:ext cx="7498080" cy="36576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Estimating error after learning (casting · China)</a:t>
            </a:r>
            <a:endParaRPr lang="en-US" sz="1300" dirty="0"/>
          </a:p>
        </p:txBody>
      </p:sp>
      <p:sp>
        <p:nvSpPr>
          <p:cNvPr id="15" name="Text 13"/>
          <p:cNvSpPr/>
          <p:nvPr/>
        </p:nvSpPr>
        <p:spPr>
          <a:xfrm>
            <a:off x="7863840" y="2660904"/>
            <a:ext cx="3749040" cy="384048"/>
          </a:xfrm>
          <a:prstGeom prst="rect">
            <a:avLst/>
          </a:prstGeom>
          <a:noFill/>
          <a:ln/>
        </p:spPr>
        <p:txBody>
          <a:bodyPr wrap="square" lIns="0" tIns="0" rIns="0" bIns="0" rtlCol="0" anchor="t"/>
          <a:lstStyle/>
          <a:p>
            <a:pPr algn="r" indent="0" marL="0">
              <a:buNone/>
            </a:pPr>
            <a:r>
              <a:rPr lang="en-US" sz="1400" b="1" dirty="0">
                <a:solidFill>
                  <a:srgbClr val="059669"/>
                </a:solidFill>
                <a:latin typeface="Calibri" pitchFamily="34" charset="0"/>
                <a:ea typeface="Calibri" pitchFamily="34" charset="-122"/>
                <a:cs typeface="Calibri" pitchFamily="34" charset="-120"/>
              </a:rPr>
              <a:t>8.7%  →  0.6%</a:t>
            </a:r>
            <a:endParaRPr lang="en-US" sz="1400" dirty="0"/>
          </a:p>
        </p:txBody>
      </p:sp>
      <p:sp>
        <p:nvSpPr>
          <p:cNvPr id="16" name="Shape 14"/>
          <p:cNvSpPr/>
          <p:nvPr/>
        </p:nvSpPr>
        <p:spPr>
          <a:xfrm>
            <a:off x="411480" y="3236976"/>
            <a:ext cx="11384280" cy="548640"/>
          </a:xfrm>
          <a:prstGeom prst="roundRect">
            <a:avLst>
              <a:gd name="adj" fmla="val 23333"/>
            </a:avLst>
          </a:prstGeom>
          <a:solidFill>
            <a:srgbClr val="F1F5F9"/>
          </a:solidFill>
          <a:ln/>
        </p:spPr>
      </p:sp>
      <p:sp>
        <p:nvSpPr>
          <p:cNvPr id="17" name="Text 15"/>
          <p:cNvSpPr/>
          <p:nvPr/>
        </p:nvSpPr>
        <p:spPr>
          <a:xfrm>
            <a:off x="731520" y="3337560"/>
            <a:ext cx="7498080" cy="36576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Confidence band on the same part</a:t>
            </a:r>
            <a:endParaRPr lang="en-US" sz="1300" dirty="0"/>
          </a:p>
        </p:txBody>
      </p:sp>
      <p:sp>
        <p:nvSpPr>
          <p:cNvPr id="18" name="Text 16"/>
          <p:cNvSpPr/>
          <p:nvPr/>
        </p:nvSpPr>
        <p:spPr>
          <a:xfrm>
            <a:off x="7863840" y="3319272"/>
            <a:ext cx="3749040" cy="384048"/>
          </a:xfrm>
          <a:prstGeom prst="rect">
            <a:avLst/>
          </a:prstGeom>
          <a:noFill/>
          <a:ln/>
        </p:spPr>
        <p:txBody>
          <a:bodyPr wrap="square" lIns="0" tIns="0" rIns="0" bIns="0" rtlCol="0" anchor="t"/>
          <a:lstStyle/>
          <a:p>
            <a:pPr algn="r" indent="0" marL="0">
              <a:buNone/>
            </a:pPr>
            <a:r>
              <a:rPr lang="en-US" sz="1400" b="1" dirty="0">
                <a:solidFill>
                  <a:srgbClr val="059669"/>
                </a:solidFill>
                <a:latin typeface="Calibri" pitchFamily="34" charset="0"/>
                <a:ea typeface="Calibri" pitchFamily="34" charset="-122"/>
                <a:cs typeface="Calibri" pitchFamily="34" charset="-120"/>
              </a:rPr>
              <a:t>±20.4%  →  ±2.8%</a:t>
            </a:r>
            <a:endParaRPr lang="en-US" sz="1400" dirty="0"/>
          </a:p>
        </p:txBody>
      </p:sp>
      <p:sp>
        <p:nvSpPr>
          <p:cNvPr id="19" name="Shape 17"/>
          <p:cNvSpPr/>
          <p:nvPr/>
        </p:nvSpPr>
        <p:spPr>
          <a:xfrm>
            <a:off x="411480" y="3895344"/>
            <a:ext cx="11384280" cy="548640"/>
          </a:xfrm>
          <a:prstGeom prst="roundRect">
            <a:avLst>
              <a:gd name="adj" fmla="val 23333"/>
            </a:avLst>
          </a:prstGeom>
          <a:solidFill>
            <a:srgbClr val="FFFFFF"/>
          </a:solidFill>
          <a:ln/>
        </p:spPr>
      </p:sp>
      <p:sp>
        <p:nvSpPr>
          <p:cNvPr id="20" name="Text 18"/>
          <p:cNvSpPr/>
          <p:nvPr/>
        </p:nvSpPr>
        <p:spPr>
          <a:xfrm>
            <a:off x="731520" y="3995928"/>
            <a:ext cx="7498080" cy="36576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Similar-part recognition on live example</a:t>
            </a:r>
            <a:endParaRPr lang="en-US" sz="1300" dirty="0"/>
          </a:p>
        </p:txBody>
      </p:sp>
      <p:sp>
        <p:nvSpPr>
          <p:cNvPr id="21" name="Text 19"/>
          <p:cNvSpPr/>
          <p:nvPr/>
        </p:nvSpPr>
        <p:spPr>
          <a:xfrm>
            <a:off x="7863840" y="3977640"/>
            <a:ext cx="3749040" cy="384048"/>
          </a:xfrm>
          <a:prstGeom prst="rect">
            <a:avLst/>
          </a:prstGeom>
          <a:noFill/>
          <a:ln/>
        </p:spPr>
        <p:txBody>
          <a:bodyPr wrap="square" lIns="0" tIns="0" rIns="0" bIns="0" rtlCol="0" anchor="t"/>
          <a:lstStyle/>
          <a:p>
            <a:pPr algn="r" indent="0" marL="0">
              <a:buNone/>
            </a:pPr>
            <a:r>
              <a:rPr lang="en-US" sz="1400" b="1" dirty="0">
                <a:solidFill>
                  <a:srgbClr val="0891B2"/>
                </a:solidFill>
                <a:latin typeface="Calibri" pitchFamily="34" charset="0"/>
                <a:ea typeface="Calibri" pitchFamily="34" charset="-122"/>
                <a:cs typeface="Calibri" pitchFamily="34" charset="-120"/>
              </a:rPr>
              <a:t>98–99% match, reasons shown</a:t>
            </a:r>
            <a:endParaRPr lang="en-US" sz="1400" dirty="0"/>
          </a:p>
        </p:txBody>
      </p:sp>
      <p:sp>
        <p:nvSpPr>
          <p:cNvPr id="22" name="Shape 20"/>
          <p:cNvSpPr/>
          <p:nvPr/>
        </p:nvSpPr>
        <p:spPr>
          <a:xfrm>
            <a:off x="411480" y="4553712"/>
            <a:ext cx="11384280" cy="548640"/>
          </a:xfrm>
          <a:prstGeom prst="roundRect">
            <a:avLst>
              <a:gd name="adj" fmla="val 23333"/>
            </a:avLst>
          </a:prstGeom>
          <a:solidFill>
            <a:srgbClr val="F1F5F9"/>
          </a:solidFill>
          <a:ln/>
        </p:spPr>
      </p:sp>
      <p:sp>
        <p:nvSpPr>
          <p:cNvPr id="23" name="Text 21"/>
          <p:cNvSpPr/>
          <p:nvPr/>
        </p:nvSpPr>
        <p:spPr>
          <a:xfrm>
            <a:off x="731520" y="4654296"/>
            <a:ext cx="7498080" cy="36576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Autonomous findings in unattended demo</a:t>
            </a:r>
            <a:endParaRPr lang="en-US" sz="1300" dirty="0"/>
          </a:p>
        </p:txBody>
      </p:sp>
      <p:sp>
        <p:nvSpPr>
          <p:cNvPr id="24" name="Text 22"/>
          <p:cNvSpPr/>
          <p:nvPr/>
        </p:nvSpPr>
        <p:spPr>
          <a:xfrm>
            <a:off x="7863840" y="4636008"/>
            <a:ext cx="3749040" cy="384048"/>
          </a:xfrm>
          <a:prstGeom prst="rect">
            <a:avLst/>
          </a:prstGeom>
          <a:noFill/>
          <a:ln/>
        </p:spPr>
        <p:txBody>
          <a:bodyPr wrap="square" lIns="0" tIns="0" rIns="0" bIns="0" rtlCol="0" anchor="t"/>
          <a:lstStyle/>
          <a:p>
            <a:pPr algn="r" indent="0" marL="0">
              <a:buNone/>
            </a:pPr>
            <a:r>
              <a:rPr lang="en-US" sz="1400" b="1" dirty="0">
                <a:solidFill>
                  <a:srgbClr val="DC2626"/>
                </a:solidFill>
                <a:latin typeface="Calibri" pitchFamily="34" charset="0"/>
                <a:ea typeface="Calibri" pitchFamily="34" charset="-122"/>
                <a:cs typeface="Calibri" pitchFamily="34" charset="-120"/>
              </a:rPr>
              <a:t>£512,000 / yr surfaced</a:t>
            </a:r>
            <a:endParaRPr lang="en-US" sz="1400" dirty="0"/>
          </a:p>
        </p:txBody>
      </p:sp>
      <p:sp>
        <p:nvSpPr>
          <p:cNvPr id="25" name="Shape 23"/>
          <p:cNvSpPr/>
          <p:nvPr/>
        </p:nvSpPr>
        <p:spPr>
          <a:xfrm>
            <a:off x="411480" y="5212080"/>
            <a:ext cx="11384280" cy="548640"/>
          </a:xfrm>
          <a:prstGeom prst="roundRect">
            <a:avLst>
              <a:gd name="adj" fmla="val 23333"/>
            </a:avLst>
          </a:prstGeom>
          <a:solidFill>
            <a:srgbClr val="FFFFFF"/>
          </a:solidFill>
          <a:ln/>
        </p:spPr>
      </p:sp>
      <p:sp>
        <p:nvSpPr>
          <p:cNvPr id="26" name="Text 24"/>
          <p:cNvSpPr/>
          <p:nvPr/>
        </p:nvSpPr>
        <p:spPr>
          <a:xfrm>
            <a:off x="731520" y="5312664"/>
            <a:ext cx="7498080" cy="36576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Automated tests protecting all of this</a:t>
            </a:r>
            <a:endParaRPr lang="en-US" sz="1300" dirty="0"/>
          </a:p>
        </p:txBody>
      </p:sp>
      <p:sp>
        <p:nvSpPr>
          <p:cNvPr id="27" name="Text 25"/>
          <p:cNvSpPr/>
          <p:nvPr/>
        </p:nvSpPr>
        <p:spPr>
          <a:xfrm>
            <a:off x="7863840" y="5294376"/>
            <a:ext cx="3749040" cy="384048"/>
          </a:xfrm>
          <a:prstGeom prst="rect">
            <a:avLst/>
          </a:prstGeom>
          <a:noFill/>
          <a:ln/>
        </p:spPr>
        <p:txBody>
          <a:bodyPr wrap="square" lIns="0" tIns="0" rIns="0" bIns="0" rtlCol="0" anchor="t"/>
          <a:lstStyle/>
          <a:p>
            <a:pPr algn="r" indent="0" marL="0">
              <a:buNone/>
            </a:pPr>
            <a:r>
              <a:rPr lang="en-US" sz="1400" b="1" dirty="0">
                <a:solidFill>
                  <a:srgbClr val="7C3AED"/>
                </a:solidFill>
                <a:latin typeface="Calibri" pitchFamily="34" charset="0"/>
                <a:ea typeface="Calibri" pitchFamily="34" charset="-122"/>
                <a:cs typeface="Calibri" pitchFamily="34" charset="-120"/>
              </a:rPr>
              <a:t>1,005 passing (86 suites)</a:t>
            </a:r>
            <a:endParaRPr lang="en-US" sz="1400" dirty="0"/>
          </a:p>
        </p:txBody>
      </p:sp>
      <p:sp>
        <p:nvSpPr>
          <p:cNvPr id="28" name="Shape 26"/>
          <p:cNvSpPr/>
          <p:nvPr/>
        </p:nvSpPr>
        <p:spPr>
          <a:xfrm>
            <a:off x="411480" y="5943600"/>
            <a:ext cx="11384280" cy="658368"/>
          </a:xfrm>
          <a:prstGeom prst="roundRect">
            <a:avLst>
              <a:gd name="adj" fmla="val 13889"/>
            </a:avLst>
          </a:prstGeom>
          <a:solidFill>
            <a:srgbClr val="EFF6FF"/>
          </a:solidFill>
          <a:ln/>
        </p:spPr>
      </p:sp>
      <p:sp>
        <p:nvSpPr>
          <p:cNvPr id="29" name="Text 27"/>
          <p:cNvSpPr/>
          <p:nvPr/>
        </p:nvSpPr>
        <p:spPr>
          <a:xfrm>
            <a:off x="685800" y="6053328"/>
            <a:ext cx="10881360" cy="457200"/>
          </a:xfrm>
          <a:prstGeom prst="rect">
            <a:avLst/>
          </a:prstGeom>
          <a:noFill/>
          <a:ln/>
        </p:spPr>
        <p:txBody>
          <a:bodyPr wrap="square" lIns="0" tIns="0" rIns="0" bIns="0" rtlCol="0" anchor="t"/>
          <a:lstStyle/>
          <a:p>
            <a:pPr indent="0" marL="0">
              <a:buNone/>
            </a:pPr>
            <a:r>
              <a:rPr lang="en-US" sz="1200" b="1" dirty="0">
                <a:solidFill>
                  <a:srgbClr val="0F172A"/>
                </a:solidFill>
                <a:latin typeface="Calibri" pitchFamily="34" charset="0"/>
                <a:ea typeface="Calibri" pitchFamily="34" charset="-122"/>
                <a:cs typeface="Calibri" pitchFamily="34" charset="-120"/>
              </a:rPr>
              <a:t>How we verified: </a:t>
            </a:r>
            <a:pPr indent="0" marL="0">
              <a:buNone/>
            </a:pPr>
            <a:r>
              <a:rPr lang="en-US" sz="1200" dirty="0">
                <a:solidFill>
                  <a:srgbClr val="334155"/>
                </a:solidFill>
                <a:latin typeface="Calibri" pitchFamily="34" charset="0"/>
                <a:ea typeface="Calibri" pitchFamily="34" charset="-122"/>
                <a:cs typeface="Calibri" pitchFamily="34" charset="-120"/>
              </a:rPr>
              <a:t>every number above comes from running the real system end-to-end — live server, real database, real API calls — not from slides or simulations.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BENEFITS</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What this means for the business</a:t>
            </a:r>
            <a:endParaRPr lang="en-US" sz="2700" dirty="0"/>
          </a:p>
        </p:txBody>
      </p:sp>
      <p:sp>
        <p:nvSpPr>
          <p:cNvPr id="10" name="Shape 8"/>
          <p:cNvSpPr/>
          <p:nvPr/>
        </p:nvSpPr>
        <p:spPr>
          <a:xfrm>
            <a:off x="411480" y="1874520"/>
            <a:ext cx="5577840" cy="1828800"/>
          </a:xfrm>
          <a:prstGeom prst="roundRect">
            <a:avLst>
              <a:gd name="adj" fmla="val 3500"/>
            </a:avLst>
          </a:prstGeom>
          <a:solidFill>
            <a:srgbClr val="F1F5F9"/>
          </a:solidFill>
          <a:ln/>
        </p:spPr>
      </p:sp>
      <p:sp>
        <p:nvSpPr>
          <p:cNvPr id="11" name="Shape 9"/>
          <p:cNvSpPr/>
          <p:nvPr/>
        </p:nvSpPr>
        <p:spPr>
          <a:xfrm>
            <a:off x="411480" y="1874520"/>
            <a:ext cx="82296" cy="1828800"/>
          </a:xfrm>
          <a:prstGeom prst="rect">
            <a:avLst/>
          </a:prstGeom>
          <a:solidFill>
            <a:srgbClr val="2563EB"/>
          </a:solidFill>
          <a:ln/>
        </p:spPr>
      </p:sp>
      <p:sp>
        <p:nvSpPr>
          <p:cNvPr id="12" name="Text 10"/>
          <p:cNvSpPr/>
          <p:nvPr/>
        </p:nvSpPr>
        <p:spPr>
          <a:xfrm>
            <a:off x="685800" y="2039112"/>
            <a:ext cx="5029200" cy="457200"/>
          </a:xfrm>
          <a:prstGeom prst="rect">
            <a:avLst/>
          </a:prstGeom>
          <a:noFill/>
          <a:ln/>
        </p:spPr>
        <p:txBody>
          <a:bodyPr wrap="square" lIns="0" tIns="0" rIns="0" bIns="0" rtlCol="0" anchor="t"/>
          <a:lstStyle/>
          <a:p>
            <a:pPr indent="0" marL="0">
              <a:buNone/>
            </a:pPr>
            <a:r>
              <a:rPr lang="en-US" sz="1800" dirty="0">
                <a:solidFill>
                  <a:srgbClr val="2563EB"/>
                </a:solidFill>
                <a:latin typeface="Calibri" pitchFamily="34" charset="0"/>
                <a:ea typeface="Calibri" pitchFamily="34" charset="-122"/>
                <a:cs typeface="Calibri" pitchFamily="34" charset="-120"/>
              </a:rPr>
              <a:t>⚡  </a:t>
            </a:r>
            <a:pPr indent="0" marL="0">
              <a:buNone/>
            </a:pPr>
            <a:r>
              <a:rPr lang="en-US" sz="1600" b="1" dirty="0">
                <a:solidFill>
                  <a:srgbClr val="2563EB"/>
                </a:solidFill>
                <a:latin typeface="Calibri" pitchFamily="34" charset="0"/>
                <a:ea typeface="Calibri" pitchFamily="34" charset="-122"/>
                <a:cs typeface="Calibri" pitchFamily="34" charset="-120"/>
              </a:rPr>
              <a:t>Faster costing</a:t>
            </a:r>
            <a:endParaRPr lang="en-US" sz="1800" dirty="0"/>
          </a:p>
        </p:txBody>
      </p:sp>
      <p:sp>
        <p:nvSpPr>
          <p:cNvPr id="13" name="Text 11"/>
          <p:cNvSpPr/>
          <p:nvPr/>
        </p:nvSpPr>
        <p:spPr>
          <a:xfrm>
            <a:off x="685800" y="2560320"/>
            <a:ext cx="5074920" cy="1051560"/>
          </a:xfrm>
          <a:prstGeom prst="rect">
            <a:avLst/>
          </a:prstGeom>
          <a:noFill/>
          <a:ln/>
        </p:spPr>
        <p:txBody>
          <a:bodyPr wrap="square" lIns="0" tIns="0" rIns="0" bIns="0" rtlCol="0" anchor="t"/>
          <a:lstStyle/>
          <a:p>
            <a:pPr indent="0" marL="0">
              <a:lnSpc>
                <a:spcPct val="118000"/>
              </a:lnSpc>
              <a:buNone/>
            </a:pPr>
            <a:r>
              <a:rPr lang="en-US" sz="1200" dirty="0">
                <a:solidFill>
                  <a:srgbClr val="334155"/>
                </a:solidFill>
                <a:latin typeface="Calibri" pitchFamily="34" charset="0"/>
                <a:ea typeface="Calibri" pitchFamily="34" charset="-122"/>
                <a:cs typeface="Calibri" pitchFamily="34" charset="-120"/>
              </a:rPr>
              <a:t>New parts start from proven history instead of a blank sheet — matches, materials and benchmarks appear instantly.</a:t>
            </a:r>
            <a:endParaRPr lang="en-US" sz="1200" dirty="0"/>
          </a:p>
        </p:txBody>
      </p:sp>
      <p:sp>
        <p:nvSpPr>
          <p:cNvPr id="14" name="Shape 12"/>
          <p:cNvSpPr/>
          <p:nvPr/>
        </p:nvSpPr>
        <p:spPr>
          <a:xfrm>
            <a:off x="6217920" y="1874520"/>
            <a:ext cx="5577840" cy="1828800"/>
          </a:xfrm>
          <a:prstGeom prst="roundRect">
            <a:avLst>
              <a:gd name="adj" fmla="val 3500"/>
            </a:avLst>
          </a:prstGeom>
          <a:solidFill>
            <a:srgbClr val="F1F5F9"/>
          </a:solidFill>
          <a:ln/>
        </p:spPr>
      </p:sp>
      <p:sp>
        <p:nvSpPr>
          <p:cNvPr id="15" name="Shape 13"/>
          <p:cNvSpPr/>
          <p:nvPr/>
        </p:nvSpPr>
        <p:spPr>
          <a:xfrm>
            <a:off x="6217920" y="1874520"/>
            <a:ext cx="82296" cy="1828800"/>
          </a:xfrm>
          <a:prstGeom prst="rect">
            <a:avLst/>
          </a:prstGeom>
          <a:solidFill>
            <a:srgbClr val="059669"/>
          </a:solidFill>
          <a:ln/>
        </p:spPr>
      </p:sp>
      <p:sp>
        <p:nvSpPr>
          <p:cNvPr id="16" name="Text 14"/>
          <p:cNvSpPr/>
          <p:nvPr/>
        </p:nvSpPr>
        <p:spPr>
          <a:xfrm>
            <a:off x="6492240" y="2039112"/>
            <a:ext cx="5029200" cy="457200"/>
          </a:xfrm>
          <a:prstGeom prst="rect">
            <a:avLst/>
          </a:prstGeom>
          <a:noFill/>
          <a:ln/>
        </p:spPr>
        <p:txBody>
          <a:bodyPr wrap="square" lIns="0" tIns="0" rIns="0" bIns="0" rtlCol="0" anchor="t"/>
          <a:lstStyle/>
          <a:p>
            <a:pPr indent="0" marL="0">
              <a:buNone/>
            </a:pPr>
            <a:r>
              <a:rPr lang="en-US" sz="1800" dirty="0">
                <a:solidFill>
                  <a:srgbClr val="059669"/>
                </a:solidFill>
                <a:latin typeface="Calibri" pitchFamily="34" charset="0"/>
                <a:ea typeface="Calibri" pitchFamily="34" charset="-122"/>
                <a:cs typeface="Calibri" pitchFamily="34" charset="-120"/>
              </a:rPr>
              <a:t>🎯  </a:t>
            </a:r>
            <a:pPr indent="0" marL="0">
              <a:buNone/>
            </a:pPr>
            <a:r>
              <a:rPr lang="en-US" sz="1600" b="1" dirty="0">
                <a:solidFill>
                  <a:srgbClr val="059669"/>
                </a:solidFill>
                <a:latin typeface="Calibri" pitchFamily="34" charset="0"/>
                <a:ea typeface="Calibri" pitchFamily="34" charset="-122"/>
                <a:cs typeface="Calibri" pitchFamily="34" charset="-120"/>
              </a:rPr>
              <a:t>Accuracy that compounds</a:t>
            </a:r>
            <a:endParaRPr lang="en-US" sz="1800" dirty="0"/>
          </a:p>
        </p:txBody>
      </p:sp>
      <p:sp>
        <p:nvSpPr>
          <p:cNvPr id="17" name="Text 15"/>
          <p:cNvSpPr/>
          <p:nvPr/>
        </p:nvSpPr>
        <p:spPr>
          <a:xfrm>
            <a:off x="6492240" y="2560320"/>
            <a:ext cx="5074920" cy="1051560"/>
          </a:xfrm>
          <a:prstGeom prst="rect">
            <a:avLst/>
          </a:prstGeom>
          <a:noFill/>
          <a:ln/>
        </p:spPr>
        <p:txBody>
          <a:bodyPr wrap="square" lIns="0" tIns="0" rIns="0" bIns="0" rtlCol="0" anchor="t"/>
          <a:lstStyle/>
          <a:p>
            <a:pPr indent="0" marL="0">
              <a:lnSpc>
                <a:spcPct val="118000"/>
              </a:lnSpc>
              <a:buNone/>
            </a:pPr>
            <a:r>
              <a:rPr lang="en-US" sz="1200" dirty="0">
                <a:solidFill>
                  <a:srgbClr val="334155"/>
                </a:solidFill>
                <a:latin typeface="Calibri" pitchFamily="34" charset="0"/>
                <a:ea typeface="Calibri" pitchFamily="34" charset="-122"/>
                <a:cs typeface="Calibri" pitchFamily="34" charset="-120"/>
              </a:rPr>
              <a:t>Every real quote makes the next estimate better. Accuracy is measured and reported — defensible in any negotiation.</a:t>
            </a:r>
            <a:endParaRPr lang="en-US" sz="1200" dirty="0"/>
          </a:p>
        </p:txBody>
      </p:sp>
      <p:sp>
        <p:nvSpPr>
          <p:cNvPr id="18" name="Shape 16"/>
          <p:cNvSpPr/>
          <p:nvPr/>
        </p:nvSpPr>
        <p:spPr>
          <a:xfrm>
            <a:off x="411480" y="3931920"/>
            <a:ext cx="5577840" cy="1828800"/>
          </a:xfrm>
          <a:prstGeom prst="roundRect">
            <a:avLst>
              <a:gd name="adj" fmla="val 3500"/>
            </a:avLst>
          </a:prstGeom>
          <a:solidFill>
            <a:srgbClr val="F1F5F9"/>
          </a:solidFill>
          <a:ln/>
        </p:spPr>
      </p:sp>
      <p:sp>
        <p:nvSpPr>
          <p:cNvPr id="19" name="Shape 17"/>
          <p:cNvSpPr/>
          <p:nvPr/>
        </p:nvSpPr>
        <p:spPr>
          <a:xfrm>
            <a:off x="411480" y="3931920"/>
            <a:ext cx="82296" cy="1828800"/>
          </a:xfrm>
          <a:prstGeom prst="rect">
            <a:avLst/>
          </a:prstGeom>
          <a:solidFill>
            <a:srgbClr val="7C3AED"/>
          </a:solidFill>
          <a:ln/>
        </p:spPr>
      </p:sp>
      <p:sp>
        <p:nvSpPr>
          <p:cNvPr id="20" name="Text 18"/>
          <p:cNvSpPr/>
          <p:nvPr/>
        </p:nvSpPr>
        <p:spPr>
          <a:xfrm>
            <a:off x="685800" y="4096512"/>
            <a:ext cx="5029200" cy="457200"/>
          </a:xfrm>
          <a:prstGeom prst="rect">
            <a:avLst/>
          </a:prstGeom>
          <a:noFill/>
          <a:ln/>
        </p:spPr>
        <p:txBody>
          <a:bodyPr wrap="square" lIns="0" tIns="0" rIns="0" bIns="0" rtlCol="0" anchor="t"/>
          <a:lstStyle/>
          <a:p>
            <a:pPr indent="0" marL="0">
              <a:buNone/>
            </a:pPr>
            <a:r>
              <a:rPr lang="en-US" sz="1800" dirty="0">
                <a:solidFill>
                  <a:srgbClr val="7C3AED"/>
                </a:solidFill>
                <a:latin typeface="Calibri" pitchFamily="34" charset="0"/>
                <a:ea typeface="Calibri" pitchFamily="34" charset="-122"/>
                <a:cs typeface="Calibri" pitchFamily="34" charset="-120"/>
              </a:rPr>
              <a:t>🏦  </a:t>
            </a:r>
            <a:pPr indent="0" marL="0">
              <a:buNone/>
            </a:pPr>
            <a:r>
              <a:rPr lang="en-US" sz="1600" b="1" dirty="0">
                <a:solidFill>
                  <a:srgbClr val="7C3AED"/>
                </a:solidFill>
                <a:latin typeface="Calibri" pitchFamily="34" charset="0"/>
                <a:ea typeface="Calibri" pitchFamily="34" charset="-122"/>
                <a:cs typeface="Calibri" pitchFamily="34" charset="-120"/>
              </a:rPr>
              <a:t>Knowledge stays</a:t>
            </a:r>
            <a:endParaRPr lang="en-US" sz="1800" dirty="0"/>
          </a:p>
        </p:txBody>
      </p:sp>
      <p:sp>
        <p:nvSpPr>
          <p:cNvPr id="21" name="Text 19"/>
          <p:cNvSpPr/>
          <p:nvPr/>
        </p:nvSpPr>
        <p:spPr>
          <a:xfrm>
            <a:off x="685800" y="4617720"/>
            <a:ext cx="5074920" cy="1051560"/>
          </a:xfrm>
          <a:prstGeom prst="rect">
            <a:avLst/>
          </a:prstGeom>
          <a:noFill/>
          <a:ln/>
        </p:spPr>
        <p:txBody>
          <a:bodyPr wrap="square" lIns="0" tIns="0" rIns="0" bIns="0" rtlCol="0" anchor="t"/>
          <a:lstStyle/>
          <a:p>
            <a:pPr indent="0" marL="0">
              <a:lnSpc>
                <a:spcPct val="118000"/>
              </a:lnSpc>
              <a:buNone/>
            </a:pPr>
            <a:r>
              <a:rPr lang="en-US" sz="1200" dirty="0">
                <a:solidFill>
                  <a:srgbClr val="334155"/>
                </a:solidFill>
                <a:latin typeface="Calibri" pitchFamily="34" charset="0"/>
                <a:ea typeface="Calibri" pitchFamily="34" charset="-122"/>
                <a:cs typeface="Calibri" pitchFamily="34" charset="-120"/>
              </a:rPr>
              <a:t>Senior engineers' judgement is captured as data. It doesn't leave when people do — and juniors inherit it from day one.</a:t>
            </a:r>
            <a:endParaRPr lang="en-US" sz="1200" dirty="0"/>
          </a:p>
        </p:txBody>
      </p:sp>
      <p:sp>
        <p:nvSpPr>
          <p:cNvPr id="22" name="Shape 20"/>
          <p:cNvSpPr/>
          <p:nvPr/>
        </p:nvSpPr>
        <p:spPr>
          <a:xfrm>
            <a:off x="6217920" y="3931920"/>
            <a:ext cx="5577840" cy="1828800"/>
          </a:xfrm>
          <a:prstGeom prst="roundRect">
            <a:avLst>
              <a:gd name="adj" fmla="val 3500"/>
            </a:avLst>
          </a:prstGeom>
          <a:solidFill>
            <a:srgbClr val="F1F5F9"/>
          </a:solidFill>
          <a:ln/>
        </p:spPr>
      </p:sp>
      <p:sp>
        <p:nvSpPr>
          <p:cNvPr id="23" name="Shape 21"/>
          <p:cNvSpPr/>
          <p:nvPr/>
        </p:nvSpPr>
        <p:spPr>
          <a:xfrm>
            <a:off x="6217920" y="3931920"/>
            <a:ext cx="82296" cy="1828800"/>
          </a:xfrm>
          <a:prstGeom prst="rect">
            <a:avLst/>
          </a:prstGeom>
          <a:solidFill>
            <a:srgbClr val="DC2626"/>
          </a:solidFill>
          <a:ln/>
        </p:spPr>
      </p:sp>
      <p:sp>
        <p:nvSpPr>
          <p:cNvPr id="24" name="Text 22"/>
          <p:cNvSpPr/>
          <p:nvPr/>
        </p:nvSpPr>
        <p:spPr>
          <a:xfrm>
            <a:off x="6492240" y="4096512"/>
            <a:ext cx="5029200" cy="457200"/>
          </a:xfrm>
          <a:prstGeom prst="rect">
            <a:avLst/>
          </a:prstGeom>
          <a:noFill/>
          <a:ln/>
        </p:spPr>
        <p:txBody>
          <a:bodyPr wrap="square" lIns="0" tIns="0" rIns="0" bIns="0" rtlCol="0" anchor="t"/>
          <a:lstStyle/>
          <a:p>
            <a:pPr indent="0" marL="0">
              <a:buNone/>
            </a:pPr>
            <a:r>
              <a:rPr lang="en-US" sz="1800" dirty="0">
                <a:solidFill>
                  <a:srgbClr val="DC2626"/>
                </a:solidFill>
                <a:latin typeface="Calibri" pitchFamily="34" charset="0"/>
                <a:ea typeface="Calibri" pitchFamily="34" charset="-122"/>
                <a:cs typeface="Calibri" pitchFamily="34" charset="-120"/>
              </a:rPr>
              <a:t>💰  </a:t>
            </a:r>
            <a:pPr indent="0" marL="0">
              <a:buNone/>
            </a:pPr>
            <a:r>
              <a:rPr lang="en-US" sz="1600" b="1" dirty="0">
                <a:solidFill>
                  <a:srgbClr val="DC2626"/>
                </a:solidFill>
                <a:latin typeface="Calibri" pitchFamily="34" charset="0"/>
                <a:ea typeface="Calibri" pitchFamily="34" charset="-122"/>
                <a:cs typeface="Calibri" pitchFamily="34" charset="-120"/>
              </a:rPr>
              <a:t>Money found proactively</a:t>
            </a:r>
            <a:endParaRPr lang="en-US" sz="1800" dirty="0"/>
          </a:p>
        </p:txBody>
      </p:sp>
      <p:sp>
        <p:nvSpPr>
          <p:cNvPr id="25" name="Text 23"/>
          <p:cNvSpPr/>
          <p:nvPr/>
        </p:nvSpPr>
        <p:spPr>
          <a:xfrm>
            <a:off x="6492240" y="4617720"/>
            <a:ext cx="5074920" cy="1051560"/>
          </a:xfrm>
          <a:prstGeom prst="rect">
            <a:avLst/>
          </a:prstGeom>
          <a:noFill/>
          <a:ln/>
        </p:spPr>
        <p:txBody>
          <a:bodyPr wrap="square" lIns="0" tIns="0" rIns="0" bIns="0" rtlCol="0" anchor="t"/>
          <a:lstStyle/>
          <a:p>
            <a:pPr indent="0" marL="0">
              <a:lnSpc>
                <a:spcPct val="118000"/>
              </a:lnSpc>
              <a:buNone/>
            </a:pPr>
            <a:r>
              <a:rPr lang="en-US" sz="1200" dirty="0">
                <a:solidFill>
                  <a:srgbClr val="334155"/>
                </a:solidFill>
                <a:latin typeface="Calibri" pitchFamily="34" charset="0"/>
                <a:ea typeface="Calibri" pitchFamily="34" charset="-122"/>
                <a:cs typeface="Calibri" pitchFamily="34" charset="-120"/>
              </a:rPr>
              <a:t>The agent watches all parts continuously and flags overpayment and pricing risk by itself, quantified in £/yr.</a:t>
            </a:r>
            <a:endParaRPr lang="en-US" sz="1200" dirty="0"/>
          </a:p>
        </p:txBody>
      </p:sp>
      <p:sp>
        <p:nvSpPr>
          <p:cNvPr id="26" name="Text 24"/>
          <p:cNvSpPr/>
          <p:nvPr/>
        </p:nvSpPr>
        <p:spPr>
          <a:xfrm>
            <a:off x="411480" y="6035040"/>
            <a:ext cx="11338560" cy="54864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And it is ours: </a:t>
            </a:r>
            <a:pPr indent="0" marL="0">
              <a:buNone/>
            </a:pPr>
            <a:r>
              <a:rPr lang="en-US" sz="1300" dirty="0">
                <a:solidFill>
                  <a:srgbClr val="334155"/>
                </a:solidFill>
                <a:latin typeface="Calibri" pitchFamily="34" charset="0"/>
                <a:ea typeface="Calibri" pitchFamily="34" charset="-122"/>
                <a:cs typeface="Calibri" pitchFamily="34" charset="-120"/>
              </a:rPr>
              <a:t>the knowledge base runs on our infrastructure and grows into a proprietary asset competitors cannot buy.</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NEW IN 2026 · ADVANCED INTELLIGENCE</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Confidence you can defend — not just assert</a:t>
            </a:r>
            <a:endParaRPr lang="en-US" sz="2700" dirty="0"/>
          </a:p>
        </p:txBody>
      </p:sp>
      <p:sp>
        <p:nvSpPr>
          <p:cNvPr id="10" name="Text 8"/>
          <p:cNvSpPr/>
          <p:nvPr/>
        </p:nvSpPr>
        <p:spPr>
          <a:xfrm>
            <a:off x="411480" y="1691640"/>
            <a:ext cx="11338560" cy="411480"/>
          </a:xfrm>
          <a:prstGeom prst="rect">
            <a:avLst/>
          </a:prstGeom>
          <a:noFill/>
          <a:ln/>
        </p:spPr>
        <p:txBody>
          <a:bodyPr wrap="square" lIns="0" tIns="0" rIns="0" bIns="0" rtlCol="0" anchor="t"/>
          <a:lstStyle/>
          <a:p>
            <a:pPr indent="0" marL="0">
              <a:buNone/>
            </a:pPr>
            <a:r>
              <a:rPr lang="en-US" sz="1350" dirty="0">
                <a:solidFill>
                  <a:srgbClr val="334155"/>
                </a:solidFill>
                <a:latin typeface="Calibri" pitchFamily="34" charset="0"/>
                <a:ea typeface="Calibri" pitchFamily="34" charset="-122"/>
                <a:cs typeface="Calibri" pitchFamily="34" charset="-120"/>
              </a:rPr>
              <a:t>Every should-cost now carries two ranges — the physics estimate, and an </a:t>
            </a:r>
            <a:pPr indent="0" marL="0">
              <a:buNone/>
            </a:pPr>
            <a:r>
              <a:rPr lang="en-US" sz="1350" b="1" dirty="0">
                <a:solidFill>
                  <a:srgbClr val="0F172A"/>
                </a:solidFill>
                <a:latin typeface="Calibri" pitchFamily="34" charset="0"/>
                <a:ea typeface="Calibri" pitchFamily="34" charset="-122"/>
                <a:cs typeface="Calibri" pitchFamily="34" charset="-120"/>
              </a:rPr>
              <a:t>empirical band proven against your own logged quotes.</a:t>
            </a:r>
            <a:endParaRPr lang="en-US" sz="1350" dirty="0"/>
          </a:p>
        </p:txBody>
      </p:sp>
      <p:sp>
        <p:nvSpPr>
          <p:cNvPr id="11" name="Shape 9"/>
          <p:cNvSpPr/>
          <p:nvPr/>
        </p:nvSpPr>
        <p:spPr>
          <a:xfrm>
            <a:off x="411480" y="2286000"/>
            <a:ext cx="5532120" cy="2286000"/>
          </a:xfrm>
          <a:prstGeom prst="roundRect">
            <a:avLst>
              <a:gd name="adj" fmla="val 2400"/>
            </a:avLst>
          </a:prstGeom>
          <a:solidFill>
            <a:srgbClr val="F1F5F9"/>
          </a:solidFill>
          <a:ln/>
        </p:spPr>
      </p:sp>
      <p:sp>
        <p:nvSpPr>
          <p:cNvPr id="12" name="Shape 10"/>
          <p:cNvSpPr/>
          <p:nvPr/>
        </p:nvSpPr>
        <p:spPr>
          <a:xfrm>
            <a:off x="411480" y="2286000"/>
            <a:ext cx="5532120" cy="82296"/>
          </a:xfrm>
          <a:prstGeom prst="rect">
            <a:avLst/>
          </a:prstGeom>
          <a:solidFill>
            <a:srgbClr val="2563EB"/>
          </a:solidFill>
          <a:ln/>
        </p:spPr>
      </p:sp>
      <p:sp>
        <p:nvSpPr>
          <p:cNvPr id="13" name="Text 11"/>
          <p:cNvSpPr/>
          <p:nvPr/>
        </p:nvSpPr>
        <p:spPr>
          <a:xfrm>
            <a:off x="685800" y="2487168"/>
            <a:ext cx="5029200" cy="365760"/>
          </a:xfrm>
          <a:prstGeom prst="rect">
            <a:avLst/>
          </a:prstGeom>
          <a:noFill/>
          <a:ln/>
        </p:spPr>
        <p:txBody>
          <a:bodyPr wrap="square" lIns="0" tIns="0" rIns="0" bIns="0" rtlCol="0" anchor="t"/>
          <a:lstStyle/>
          <a:p>
            <a:pPr indent="0" marL="0">
              <a:buNone/>
            </a:pPr>
            <a:r>
              <a:rPr lang="en-US" sz="1400" b="1" dirty="0">
                <a:solidFill>
                  <a:srgbClr val="2563EB"/>
                </a:solidFill>
                <a:latin typeface="Calibri" pitchFamily="34" charset="0"/>
                <a:ea typeface="Calibri" pitchFamily="34" charset="-122"/>
                <a:cs typeface="Calibri" pitchFamily="34" charset="-120"/>
              </a:rPr>
              <a:t>Physics prior (Monte-Carlo)</a:t>
            </a:r>
            <a:endParaRPr lang="en-US" sz="1400" dirty="0"/>
          </a:p>
        </p:txBody>
      </p:sp>
      <p:sp>
        <p:nvSpPr>
          <p:cNvPr id="14" name="Text 12"/>
          <p:cNvSpPr/>
          <p:nvPr/>
        </p:nvSpPr>
        <p:spPr>
          <a:xfrm>
            <a:off x="685800" y="2926080"/>
            <a:ext cx="5029200" cy="1554480"/>
          </a:xfrm>
          <a:prstGeom prst="rect">
            <a:avLst/>
          </a:prstGeom>
          <a:noFill/>
          <a:ln/>
        </p:spPr>
        <p:txBody>
          <a:bodyPr wrap="square" lIns="0" tIns="0" rIns="0" bIns="0" rtlCol="0" anchor="t"/>
          <a:lstStyle/>
          <a:p>
            <a:pPr indent="0" marL="0">
              <a:lnSpc>
                <a:spcPct val="115000"/>
              </a:lnSpc>
              <a:spcAft>
                <a:spcPts val="800"/>
              </a:spcAft>
              <a:buNone/>
            </a:pPr>
            <a:r>
              <a:rPr lang="en-US" sz="1200" dirty="0">
                <a:solidFill>
                  <a:srgbClr val="334155"/>
                </a:solidFill>
                <a:latin typeface="Calibri" pitchFamily="34" charset="0"/>
                <a:ea typeface="Calibri" pitchFamily="34" charset="-122"/>
                <a:cs typeface="Calibri" pitchFamily="34" charset="-120"/>
              </a:rPr>
              <a:t>How well the inputs are known — before you have any real quotes.</a:t>
            </a:r>
            <a:endParaRPr lang="en-US" sz="1200" dirty="0"/>
          </a:p>
          <a:p>
            <a:pPr indent="0" marL="0">
              <a:lnSpc>
                <a:spcPct val="115000"/>
              </a:lnSpc>
              <a:spcAft>
                <a:spcPts val="800"/>
              </a:spcAft>
              <a:buNone/>
            </a:pPr>
            <a:r>
              <a:rPr lang="en-US" sz="1400" b="1" dirty="0">
                <a:solidFill>
                  <a:srgbClr val="0F172A"/>
                </a:solidFill>
                <a:latin typeface="Calibri" pitchFamily="34" charset="0"/>
                <a:ea typeface="Calibri" pitchFamily="34" charset="-122"/>
                <a:cs typeface="Calibri" pitchFamily="34" charset="-120"/>
              </a:rPr>
              <a:t>Example:  £86.34  ± 3.4%</a:t>
            </a:r>
            <a:endParaRPr lang="en-US" sz="1200" dirty="0"/>
          </a:p>
          <a:p>
            <a:pPr indent="0" marL="0">
              <a:lnSpc>
                <a:spcPct val="115000"/>
              </a:lnSpc>
              <a:spcAft>
                <a:spcPts val="800"/>
              </a:spcAft>
              <a:buNone/>
            </a:pPr>
            <a:r>
              <a:rPr lang="en-US" sz="1100" i="1" dirty="0">
                <a:solidFill>
                  <a:srgbClr val="64748B"/>
                </a:solidFill>
                <a:latin typeface="Calibri" pitchFamily="34" charset="0"/>
                <a:ea typeface="Calibri" pitchFamily="34" charset="-122"/>
                <a:cs typeface="Calibri" pitchFamily="34" charset="-120"/>
              </a:rPr>
              <a:t>Always available, every part, every commodity.</a:t>
            </a:r>
            <a:endParaRPr lang="en-US" sz="1200" dirty="0"/>
          </a:p>
        </p:txBody>
      </p:sp>
      <p:sp>
        <p:nvSpPr>
          <p:cNvPr id="15" name="Shape 13"/>
          <p:cNvSpPr/>
          <p:nvPr/>
        </p:nvSpPr>
        <p:spPr>
          <a:xfrm>
            <a:off x="6263640" y="2286000"/>
            <a:ext cx="5532120" cy="2286000"/>
          </a:xfrm>
          <a:prstGeom prst="roundRect">
            <a:avLst>
              <a:gd name="adj" fmla="val 2400"/>
            </a:avLst>
          </a:prstGeom>
          <a:solidFill>
            <a:srgbClr val="EFF6FF"/>
          </a:solidFill>
          <a:ln/>
        </p:spPr>
      </p:sp>
      <p:sp>
        <p:nvSpPr>
          <p:cNvPr id="16" name="Shape 14"/>
          <p:cNvSpPr/>
          <p:nvPr/>
        </p:nvSpPr>
        <p:spPr>
          <a:xfrm>
            <a:off x="6263640" y="2286000"/>
            <a:ext cx="5532120" cy="82296"/>
          </a:xfrm>
          <a:prstGeom prst="rect">
            <a:avLst/>
          </a:prstGeom>
          <a:solidFill>
            <a:srgbClr val="059669"/>
          </a:solidFill>
          <a:ln/>
        </p:spPr>
      </p:sp>
      <p:sp>
        <p:nvSpPr>
          <p:cNvPr id="17" name="Text 15"/>
          <p:cNvSpPr/>
          <p:nvPr/>
        </p:nvSpPr>
        <p:spPr>
          <a:xfrm>
            <a:off x="6537960" y="2487168"/>
            <a:ext cx="5029200" cy="365760"/>
          </a:xfrm>
          <a:prstGeom prst="rect">
            <a:avLst/>
          </a:prstGeom>
          <a:noFill/>
          <a:ln/>
        </p:spPr>
        <p:txBody>
          <a:bodyPr wrap="square" lIns="0" tIns="0" rIns="0" bIns="0" rtlCol="0" anchor="t"/>
          <a:lstStyle/>
          <a:p>
            <a:pPr indent="0" marL="0">
              <a:buNone/>
            </a:pPr>
            <a:r>
              <a:rPr lang="en-US" sz="1400" b="1" dirty="0">
                <a:solidFill>
                  <a:srgbClr val="059669"/>
                </a:solidFill>
                <a:latin typeface="Calibri" pitchFamily="34" charset="0"/>
                <a:ea typeface="Calibri" pitchFamily="34" charset="-122"/>
                <a:cs typeface="Calibri" pitchFamily="34" charset="-120"/>
              </a:rPr>
              <a:t>Empirical band (conformal)</a:t>
            </a:r>
            <a:endParaRPr lang="en-US" sz="1400" dirty="0"/>
          </a:p>
        </p:txBody>
      </p:sp>
      <p:sp>
        <p:nvSpPr>
          <p:cNvPr id="18" name="Text 16"/>
          <p:cNvSpPr/>
          <p:nvPr/>
        </p:nvSpPr>
        <p:spPr>
          <a:xfrm>
            <a:off x="6537960" y="2926080"/>
            <a:ext cx="5029200" cy="1554480"/>
          </a:xfrm>
          <a:prstGeom prst="rect">
            <a:avLst/>
          </a:prstGeom>
          <a:noFill/>
          <a:ln/>
        </p:spPr>
        <p:txBody>
          <a:bodyPr wrap="square" lIns="0" tIns="0" rIns="0" bIns="0" rtlCol="0" anchor="t"/>
          <a:lstStyle/>
          <a:p>
            <a:pPr indent="0" marL="0">
              <a:lnSpc>
                <a:spcPct val="115000"/>
              </a:lnSpc>
              <a:spcAft>
                <a:spcPts val="800"/>
              </a:spcAft>
              <a:buNone/>
            </a:pPr>
            <a:r>
              <a:rPr lang="en-US" sz="1200" dirty="0">
                <a:solidFill>
                  <a:srgbClr val="334155"/>
                </a:solidFill>
                <a:latin typeface="Calibri" pitchFamily="34" charset="0"/>
                <a:ea typeface="Calibri" pitchFamily="34" charset="-122"/>
                <a:cs typeface="Calibri" pitchFamily="34" charset="-120"/>
              </a:rPr>
              <a:t>Proven against the quotes YOU logged — with a coverage guarantee.</a:t>
            </a:r>
            <a:endParaRPr lang="en-US" sz="1200" dirty="0"/>
          </a:p>
          <a:p>
            <a:pPr indent="0" marL="0">
              <a:lnSpc>
                <a:spcPct val="115000"/>
              </a:lnSpc>
              <a:spcAft>
                <a:spcPts val="800"/>
              </a:spcAft>
              <a:buNone/>
            </a:pPr>
            <a:r>
              <a:rPr lang="en-US" sz="1300" b="1" dirty="0">
                <a:solidFill>
                  <a:srgbClr val="0F172A"/>
                </a:solidFill>
                <a:latin typeface="Calibri" pitchFamily="34" charset="0"/>
                <a:ea typeface="Calibri" pitchFamily="34" charset="-122"/>
                <a:cs typeface="Calibri" pitchFamily="34" charset="-120"/>
              </a:rPr>
              <a:t>Example:  90% of your quotes land within  ± 6.5%  →  £81.54 – £92.88</a:t>
            </a:r>
            <a:endParaRPr lang="en-US" sz="1200" dirty="0"/>
          </a:p>
          <a:p>
            <a:pPr indent="0" marL="0">
              <a:lnSpc>
                <a:spcPct val="115000"/>
              </a:lnSpc>
              <a:spcAft>
                <a:spcPts val="800"/>
              </a:spcAft>
              <a:buNone/>
            </a:pPr>
            <a:r>
              <a:rPr lang="en-US" sz="1100" i="1" dirty="0">
                <a:solidFill>
                  <a:srgbClr val="059669"/>
                </a:solidFill>
                <a:latin typeface="Calibri" pitchFamily="34" charset="0"/>
                <a:ea typeface="Calibri" pitchFamily="34" charset="-122"/>
                <a:cs typeface="Calibri" pitchFamily="34" charset="-120"/>
              </a:rPr>
              <a:t>Tightens automatically as more quotes are logged.</a:t>
            </a:r>
            <a:endParaRPr lang="en-US" sz="1200" dirty="0"/>
          </a:p>
        </p:txBody>
      </p:sp>
      <p:sp>
        <p:nvSpPr>
          <p:cNvPr id="19" name="Shape 17"/>
          <p:cNvSpPr/>
          <p:nvPr/>
        </p:nvSpPr>
        <p:spPr>
          <a:xfrm>
            <a:off x="411480" y="4800600"/>
            <a:ext cx="11384280" cy="1371600"/>
          </a:xfrm>
          <a:prstGeom prst="roundRect">
            <a:avLst>
              <a:gd name="adj" fmla="val 4000"/>
            </a:avLst>
          </a:prstGeom>
          <a:solidFill>
            <a:srgbClr val="EFF6FF"/>
          </a:solidFill>
          <a:ln/>
        </p:spPr>
      </p:sp>
      <p:sp>
        <p:nvSpPr>
          <p:cNvPr id="20" name="Text 18"/>
          <p:cNvSpPr/>
          <p:nvPr/>
        </p:nvSpPr>
        <p:spPr>
          <a:xfrm>
            <a:off x="685800" y="4983480"/>
            <a:ext cx="10881360" cy="1097280"/>
          </a:xfrm>
          <a:prstGeom prst="rect">
            <a:avLst/>
          </a:prstGeom>
          <a:noFill/>
          <a:ln/>
        </p:spPr>
        <p:txBody>
          <a:bodyPr wrap="square" lIns="0" tIns="0" rIns="0" bIns="0" rtlCol="0" anchor="t"/>
          <a:lstStyle/>
          <a:p>
            <a:pPr indent="0" marL="0">
              <a:lnSpc>
                <a:spcPct val="120000"/>
              </a:lnSpc>
              <a:buNone/>
            </a:pPr>
            <a:r>
              <a:rPr lang="en-US" sz="1300" b="1" dirty="0">
                <a:solidFill>
                  <a:srgbClr val="2563EB"/>
                </a:solidFill>
                <a:latin typeface="Calibri" pitchFamily="34" charset="0"/>
                <a:ea typeface="Calibri" pitchFamily="34" charset="-122"/>
                <a:cs typeface="Calibri" pitchFamily="34" charset="-120"/>
              </a:rPr>
              <a:t>Why it helps:  </a:t>
            </a:r>
            <a:pPr indent="0" marL="0">
              <a:lnSpc>
                <a:spcPct val="120000"/>
              </a:lnSpc>
              <a:buNone/>
            </a:pPr>
            <a:r>
              <a:rPr lang="en-US" sz="1250" dirty="0">
                <a:solidFill>
                  <a:srgbClr val="334155"/>
                </a:solidFill>
                <a:latin typeface="Calibri" pitchFamily="34" charset="0"/>
                <a:ea typeface="Calibri" pitchFamily="34" charset="-122"/>
                <a:cs typeface="Calibri" pitchFamily="34" charset="-120"/>
              </a:rPr>
              <a:t>a buyer can’t defend "trust me, ±5%". They CAN defend "90% of our real quotes for this family landed within ±6.5%." The band edge is an observed error — evidence, not an assertion. It is the honest uncertainty no competitor states this way.</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NEW IN 2026 · ADVANCED INTELLIGENCE</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The agent learns what actually earns money</a:t>
            </a:r>
            <a:endParaRPr lang="en-US" sz="2700" dirty="0"/>
          </a:p>
        </p:txBody>
      </p:sp>
      <p:sp>
        <p:nvSpPr>
          <p:cNvPr id="10" name="Text 8"/>
          <p:cNvSpPr/>
          <p:nvPr/>
        </p:nvSpPr>
        <p:spPr>
          <a:xfrm>
            <a:off x="411480" y="1691640"/>
            <a:ext cx="11338560" cy="411480"/>
          </a:xfrm>
          <a:prstGeom prst="rect">
            <a:avLst/>
          </a:prstGeom>
          <a:noFill/>
          <a:ln/>
        </p:spPr>
        <p:txBody>
          <a:bodyPr wrap="square" lIns="0" tIns="0" rIns="0" bIns="0" rtlCol="0" anchor="t"/>
          <a:lstStyle/>
          <a:p>
            <a:pPr indent="0" marL="0">
              <a:buNone/>
            </a:pPr>
            <a:r>
              <a:rPr lang="en-US" sz="1350" dirty="0">
                <a:solidFill>
                  <a:srgbClr val="334155"/>
                </a:solidFill>
                <a:latin typeface="Calibri" pitchFamily="34" charset="0"/>
                <a:ea typeface="Calibri" pitchFamily="34" charset="-122"/>
                <a:cs typeface="Calibri" pitchFamily="34" charset="-120"/>
              </a:rPr>
              <a:t>The autonomous agent no longer just finds gaps — it learns which findings </a:t>
            </a:r>
            <a:pPr indent="0" marL="0">
              <a:buNone/>
            </a:pPr>
            <a:r>
              <a:rPr lang="en-US" sz="1350" b="1" dirty="0">
                <a:solidFill>
                  <a:srgbClr val="0F172A"/>
                </a:solidFill>
                <a:latin typeface="Calibri" pitchFamily="34" charset="0"/>
                <a:ea typeface="Calibri" pitchFamily="34" charset="-122"/>
                <a:cs typeface="Calibri" pitchFamily="34" charset="-120"/>
              </a:rPr>
              <a:t>actually convert into savings, and re-ranks by the money it can really recover.</a:t>
            </a:r>
            <a:endParaRPr lang="en-US" sz="1350" dirty="0"/>
          </a:p>
        </p:txBody>
      </p:sp>
      <p:sp>
        <p:nvSpPr>
          <p:cNvPr id="11" name="Shape 9"/>
          <p:cNvSpPr/>
          <p:nvPr/>
        </p:nvSpPr>
        <p:spPr>
          <a:xfrm>
            <a:off x="411480" y="2286000"/>
            <a:ext cx="11384280" cy="457200"/>
          </a:xfrm>
          <a:prstGeom prst="rect">
            <a:avLst/>
          </a:prstGeom>
          <a:solidFill>
            <a:srgbClr val="0F172A"/>
          </a:solidFill>
          <a:ln/>
        </p:spPr>
      </p:sp>
      <p:sp>
        <p:nvSpPr>
          <p:cNvPr id="12" name="Text 10"/>
          <p:cNvSpPr/>
          <p:nvPr/>
        </p:nvSpPr>
        <p:spPr>
          <a:xfrm>
            <a:off x="548640" y="2359152"/>
            <a:ext cx="3108960" cy="32004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Finding</a:t>
            </a:r>
            <a:endParaRPr lang="en-US" sz="1150" dirty="0"/>
          </a:p>
        </p:txBody>
      </p:sp>
      <p:sp>
        <p:nvSpPr>
          <p:cNvPr id="13" name="Text 11"/>
          <p:cNvSpPr/>
          <p:nvPr/>
        </p:nvSpPr>
        <p:spPr>
          <a:xfrm>
            <a:off x="4023360" y="2359152"/>
            <a:ext cx="3108960" cy="32004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Raw gap (impact)</a:t>
            </a:r>
            <a:endParaRPr lang="en-US" sz="1150" dirty="0"/>
          </a:p>
        </p:txBody>
      </p:sp>
      <p:sp>
        <p:nvSpPr>
          <p:cNvPr id="14" name="Text 12"/>
          <p:cNvSpPr/>
          <p:nvPr/>
        </p:nvSpPr>
        <p:spPr>
          <a:xfrm>
            <a:off x="6766560" y="2359152"/>
            <a:ext cx="3108960" cy="32004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Learned conversion</a:t>
            </a:r>
            <a:endParaRPr lang="en-US" sz="1150" dirty="0"/>
          </a:p>
        </p:txBody>
      </p:sp>
      <p:sp>
        <p:nvSpPr>
          <p:cNvPr id="15" name="Text 13"/>
          <p:cNvSpPr/>
          <p:nvPr/>
        </p:nvSpPr>
        <p:spPr>
          <a:xfrm>
            <a:off x="9326880" y="2359152"/>
            <a:ext cx="3108960" cy="320040"/>
          </a:xfrm>
          <a:prstGeom prst="rect">
            <a:avLst/>
          </a:prstGeom>
          <a:noFill/>
          <a:ln/>
        </p:spPr>
        <p:txBody>
          <a:bodyPr wrap="square" lIns="0" tIns="0" rIns="0" bIns="0" rtlCol="0" anchor="t"/>
          <a:lstStyle/>
          <a:p>
            <a:pPr indent="0" marL="0">
              <a:buNone/>
            </a:pPr>
            <a:r>
              <a:rPr lang="en-US" sz="1150" b="1" dirty="0">
                <a:solidFill>
                  <a:srgbClr val="FFFFFF"/>
                </a:solidFill>
                <a:latin typeface="Calibri" pitchFamily="34" charset="0"/>
                <a:ea typeface="Calibri" pitchFamily="34" charset="-122"/>
                <a:cs typeface="Calibri" pitchFamily="34" charset="-120"/>
              </a:rPr>
              <a:t>Expected realizable</a:t>
            </a:r>
            <a:endParaRPr lang="en-US" sz="1150" dirty="0"/>
          </a:p>
        </p:txBody>
      </p:sp>
      <p:sp>
        <p:nvSpPr>
          <p:cNvPr id="16" name="Shape 14"/>
          <p:cNvSpPr/>
          <p:nvPr/>
        </p:nvSpPr>
        <p:spPr>
          <a:xfrm>
            <a:off x="411480" y="2743200"/>
            <a:ext cx="11384280" cy="548640"/>
          </a:xfrm>
          <a:prstGeom prst="rect">
            <a:avLst/>
          </a:prstGeom>
          <a:solidFill>
            <a:srgbClr val="F1F5F9"/>
          </a:solidFill>
          <a:ln/>
        </p:spPr>
      </p:sp>
      <p:sp>
        <p:nvSpPr>
          <p:cNvPr id="17" name="Text 15"/>
          <p:cNvSpPr/>
          <p:nvPr/>
        </p:nvSpPr>
        <p:spPr>
          <a:xfrm>
            <a:off x="548640" y="2871216"/>
            <a:ext cx="3291840" cy="320040"/>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Cast Housing</a:t>
            </a:r>
            <a:endParaRPr lang="en-US" sz="1250" dirty="0"/>
          </a:p>
        </p:txBody>
      </p:sp>
      <p:sp>
        <p:nvSpPr>
          <p:cNvPr id="18" name="Text 16"/>
          <p:cNvSpPr/>
          <p:nvPr/>
        </p:nvSpPr>
        <p:spPr>
          <a:xfrm>
            <a:off x="4023360" y="2871216"/>
            <a:ext cx="2743200" cy="320040"/>
          </a:xfrm>
          <a:prstGeom prst="rect">
            <a:avLst/>
          </a:prstGeom>
          <a:noFill/>
          <a:ln/>
        </p:spPr>
        <p:txBody>
          <a:bodyPr wrap="square" lIns="0" tIns="0" rIns="0" bIns="0" rtlCol="0" anchor="t"/>
          <a:lstStyle/>
          <a:p>
            <a:pPr indent="0" marL="0">
              <a:buNone/>
            </a:pPr>
            <a:r>
              <a:rPr lang="en-US" sz="1200" dirty="0">
                <a:solidFill>
                  <a:srgbClr val="334155"/>
                </a:solidFill>
                <a:latin typeface="Calibri" pitchFamily="34" charset="0"/>
                <a:ea typeface="Calibri" pitchFamily="34" charset="-122"/>
                <a:cs typeface="Calibri" pitchFamily="34" charset="-120"/>
              </a:rPr>
              <a:t>£200k/yr</a:t>
            </a:r>
            <a:endParaRPr lang="en-US" sz="1200" dirty="0"/>
          </a:p>
        </p:txBody>
      </p:sp>
      <p:sp>
        <p:nvSpPr>
          <p:cNvPr id="19" name="Text 17"/>
          <p:cNvSpPr/>
          <p:nvPr/>
        </p:nvSpPr>
        <p:spPr>
          <a:xfrm>
            <a:off x="6766560" y="2871216"/>
            <a:ext cx="2560320" cy="320040"/>
          </a:xfrm>
          <a:prstGeom prst="rect">
            <a:avLst/>
          </a:prstGeom>
          <a:noFill/>
          <a:ln/>
        </p:spPr>
        <p:txBody>
          <a:bodyPr wrap="square" lIns="0" tIns="0" rIns="0" bIns="0" rtlCol="0" anchor="t"/>
          <a:lstStyle/>
          <a:p>
            <a:pPr indent="0" marL="0">
              <a:buNone/>
            </a:pPr>
            <a:r>
              <a:rPr lang="en-US" sz="1200" dirty="0">
                <a:solidFill>
                  <a:srgbClr val="334155"/>
                </a:solidFill>
                <a:latin typeface="Calibri" pitchFamily="34" charset="0"/>
                <a:ea typeface="Calibri" pitchFamily="34" charset="-122"/>
                <a:cs typeface="Calibri" pitchFamily="34" charset="-120"/>
              </a:rPr>
              <a:t>20% — rarely closes</a:t>
            </a:r>
            <a:endParaRPr lang="en-US" sz="1200" dirty="0"/>
          </a:p>
        </p:txBody>
      </p:sp>
      <p:sp>
        <p:nvSpPr>
          <p:cNvPr id="20" name="Text 18"/>
          <p:cNvSpPr/>
          <p:nvPr/>
        </p:nvSpPr>
        <p:spPr>
          <a:xfrm>
            <a:off x="9326880" y="2871216"/>
            <a:ext cx="2377440" cy="320040"/>
          </a:xfrm>
          <a:prstGeom prst="rect">
            <a:avLst/>
          </a:prstGeom>
          <a:noFill/>
          <a:ln/>
        </p:spPr>
        <p:txBody>
          <a:bodyPr wrap="square" lIns="0" tIns="0" rIns="0" bIns="0" rtlCol="0" anchor="t"/>
          <a:lstStyle/>
          <a:p>
            <a:pPr indent="0" marL="0">
              <a:buNone/>
            </a:pPr>
            <a:r>
              <a:rPr lang="en-US" sz="1300" b="1" dirty="0">
                <a:solidFill>
                  <a:srgbClr val="DC2626"/>
                </a:solidFill>
                <a:latin typeface="Calibri" pitchFamily="34" charset="0"/>
                <a:ea typeface="Calibri" pitchFamily="34" charset="-122"/>
                <a:cs typeface="Calibri" pitchFamily="34" charset="-120"/>
              </a:rPr>
              <a:t>£40k</a:t>
            </a:r>
            <a:endParaRPr lang="en-US" sz="1300" dirty="0"/>
          </a:p>
        </p:txBody>
      </p:sp>
      <p:sp>
        <p:nvSpPr>
          <p:cNvPr id="21" name="Shape 19"/>
          <p:cNvSpPr/>
          <p:nvPr/>
        </p:nvSpPr>
        <p:spPr>
          <a:xfrm>
            <a:off x="411480" y="3310128"/>
            <a:ext cx="11384280" cy="548640"/>
          </a:xfrm>
          <a:prstGeom prst="rect">
            <a:avLst/>
          </a:prstGeom>
          <a:solidFill>
            <a:srgbClr val="FFFFFF"/>
          </a:solidFill>
          <a:ln/>
        </p:spPr>
      </p:sp>
      <p:sp>
        <p:nvSpPr>
          <p:cNvPr id="22" name="Text 20"/>
          <p:cNvSpPr/>
          <p:nvPr/>
        </p:nvSpPr>
        <p:spPr>
          <a:xfrm>
            <a:off x="548640" y="3438144"/>
            <a:ext cx="3291840" cy="320040"/>
          </a:xfrm>
          <a:prstGeom prst="rect">
            <a:avLst/>
          </a:prstGeom>
          <a:noFill/>
          <a:ln/>
        </p:spPr>
        <p:txBody>
          <a:bodyPr wrap="square" lIns="0" tIns="0" rIns="0" bIns="0" rtlCol="0" anchor="t"/>
          <a:lstStyle/>
          <a:p>
            <a:pPr indent="0" marL="0">
              <a:buNone/>
            </a:pPr>
            <a:r>
              <a:rPr lang="en-US" sz="1250" b="1" dirty="0">
                <a:solidFill>
                  <a:srgbClr val="0F172A"/>
                </a:solidFill>
                <a:latin typeface="Calibri" pitchFamily="34" charset="0"/>
                <a:ea typeface="Calibri" pitchFamily="34" charset="-122"/>
                <a:cs typeface="Calibri" pitchFamily="34" charset="-120"/>
              </a:rPr>
              <a:t>Machined Knuckle</a:t>
            </a:r>
            <a:endParaRPr lang="en-US" sz="1250" dirty="0"/>
          </a:p>
        </p:txBody>
      </p:sp>
      <p:sp>
        <p:nvSpPr>
          <p:cNvPr id="23" name="Text 21"/>
          <p:cNvSpPr/>
          <p:nvPr/>
        </p:nvSpPr>
        <p:spPr>
          <a:xfrm>
            <a:off x="4023360" y="3438144"/>
            <a:ext cx="2743200" cy="320040"/>
          </a:xfrm>
          <a:prstGeom prst="rect">
            <a:avLst/>
          </a:prstGeom>
          <a:noFill/>
          <a:ln/>
        </p:spPr>
        <p:txBody>
          <a:bodyPr wrap="square" lIns="0" tIns="0" rIns="0" bIns="0" rtlCol="0" anchor="t"/>
          <a:lstStyle/>
          <a:p>
            <a:pPr indent="0" marL="0">
              <a:buNone/>
            </a:pPr>
            <a:r>
              <a:rPr lang="en-US" sz="1200" dirty="0">
                <a:solidFill>
                  <a:srgbClr val="334155"/>
                </a:solidFill>
                <a:latin typeface="Calibri" pitchFamily="34" charset="0"/>
                <a:ea typeface="Calibri" pitchFamily="34" charset="-122"/>
                <a:cs typeface="Calibri" pitchFamily="34" charset="-120"/>
              </a:rPr>
              <a:t>£100k/yr</a:t>
            </a:r>
            <a:endParaRPr lang="en-US" sz="1200" dirty="0"/>
          </a:p>
        </p:txBody>
      </p:sp>
      <p:sp>
        <p:nvSpPr>
          <p:cNvPr id="24" name="Text 22"/>
          <p:cNvSpPr/>
          <p:nvPr/>
        </p:nvSpPr>
        <p:spPr>
          <a:xfrm>
            <a:off x="6766560" y="3438144"/>
            <a:ext cx="2560320" cy="320040"/>
          </a:xfrm>
          <a:prstGeom prst="rect">
            <a:avLst/>
          </a:prstGeom>
          <a:noFill/>
          <a:ln/>
        </p:spPr>
        <p:txBody>
          <a:bodyPr wrap="square" lIns="0" tIns="0" rIns="0" bIns="0" rtlCol="0" anchor="t"/>
          <a:lstStyle/>
          <a:p>
            <a:pPr indent="0" marL="0">
              <a:buNone/>
            </a:pPr>
            <a:r>
              <a:rPr lang="en-US" sz="1200" dirty="0">
                <a:solidFill>
                  <a:srgbClr val="334155"/>
                </a:solidFill>
                <a:latin typeface="Calibri" pitchFamily="34" charset="0"/>
                <a:ea typeface="Calibri" pitchFamily="34" charset="-122"/>
                <a:cs typeface="Calibri" pitchFamily="34" charset="-120"/>
              </a:rPr>
              <a:t>80% — usually closes</a:t>
            </a:r>
            <a:endParaRPr lang="en-US" sz="1200" dirty="0"/>
          </a:p>
        </p:txBody>
      </p:sp>
      <p:sp>
        <p:nvSpPr>
          <p:cNvPr id="25" name="Text 23"/>
          <p:cNvSpPr/>
          <p:nvPr/>
        </p:nvSpPr>
        <p:spPr>
          <a:xfrm>
            <a:off x="9326880" y="3438144"/>
            <a:ext cx="2377440" cy="320040"/>
          </a:xfrm>
          <a:prstGeom prst="rect">
            <a:avLst/>
          </a:prstGeom>
          <a:noFill/>
          <a:ln/>
        </p:spPr>
        <p:txBody>
          <a:bodyPr wrap="square" lIns="0" tIns="0" rIns="0" bIns="0" rtlCol="0" anchor="t"/>
          <a:lstStyle/>
          <a:p>
            <a:pPr indent="0" marL="0">
              <a:buNone/>
            </a:pPr>
            <a:r>
              <a:rPr lang="en-US" sz="1300" b="1" dirty="0">
                <a:solidFill>
                  <a:srgbClr val="059669"/>
                </a:solidFill>
                <a:latin typeface="Calibri" pitchFamily="34" charset="0"/>
                <a:ea typeface="Calibri" pitchFamily="34" charset="-122"/>
                <a:cs typeface="Calibri" pitchFamily="34" charset="-120"/>
              </a:rPr>
              <a:t>£80k</a:t>
            </a:r>
            <a:endParaRPr lang="en-US" sz="1300" dirty="0"/>
          </a:p>
        </p:txBody>
      </p:sp>
      <p:sp>
        <p:nvSpPr>
          <p:cNvPr id="26" name="Shape 24"/>
          <p:cNvSpPr/>
          <p:nvPr/>
        </p:nvSpPr>
        <p:spPr>
          <a:xfrm>
            <a:off x="411480" y="4114800"/>
            <a:ext cx="11384280" cy="868680"/>
          </a:xfrm>
          <a:prstGeom prst="roundRect">
            <a:avLst>
              <a:gd name="adj" fmla="val 8421"/>
            </a:avLst>
          </a:prstGeom>
          <a:solidFill>
            <a:srgbClr val="EFF6FF"/>
          </a:solidFill>
          <a:ln/>
        </p:spPr>
      </p:sp>
      <p:sp>
        <p:nvSpPr>
          <p:cNvPr id="27" name="Text 25"/>
          <p:cNvSpPr/>
          <p:nvPr/>
        </p:nvSpPr>
        <p:spPr>
          <a:xfrm>
            <a:off x="685800" y="4261104"/>
            <a:ext cx="10881360" cy="640080"/>
          </a:xfrm>
          <a:prstGeom prst="rect">
            <a:avLst/>
          </a:prstGeom>
          <a:noFill/>
          <a:ln/>
        </p:spPr>
        <p:txBody>
          <a:bodyPr wrap="square" lIns="0" tIns="0" rIns="0" bIns="0" rtlCol="0" anchor="t"/>
          <a:lstStyle/>
          <a:p>
            <a:pPr indent="0" marL="0">
              <a:lnSpc>
                <a:spcPct val="120000"/>
              </a:lnSpc>
              <a:buNone/>
            </a:pPr>
            <a:r>
              <a:rPr lang="en-US" sz="1250" b="1" dirty="0">
                <a:solidFill>
                  <a:srgbClr val="2563EB"/>
                </a:solidFill>
                <a:latin typeface="Calibri" pitchFamily="34" charset="0"/>
                <a:ea typeface="Calibri" pitchFamily="34" charset="-122"/>
                <a:cs typeface="Calibri" pitchFamily="34" charset="-120"/>
              </a:rPr>
              <a:t>The result: </a:t>
            </a:r>
            <a:pPr indent="0" marL="0">
              <a:lnSpc>
                <a:spcPct val="120000"/>
              </a:lnSpc>
              <a:buNone/>
            </a:pPr>
            <a:r>
              <a:rPr lang="en-US" sz="1250" dirty="0">
                <a:solidFill>
                  <a:srgbClr val="334155"/>
                </a:solidFill>
                <a:latin typeface="Calibri" pitchFamily="34" charset="0"/>
                <a:ea typeface="Calibri" pitchFamily="34" charset="-122"/>
                <a:cs typeface="Calibri" pitchFamily="34" charset="-120"/>
              </a:rPr>
              <a:t>the machining finding — HALF the raw gap — now ranks ABOVE the casting one, because the agent learned casting renegotiations don’t close. It stops shouting about theoretical money and surfaces the money you can get.</a:t>
            </a:r>
            <a:endParaRPr lang="en-US" sz="1250" dirty="0"/>
          </a:p>
        </p:txBody>
      </p:sp>
      <p:sp>
        <p:nvSpPr>
          <p:cNvPr id="28" name="Text 26"/>
          <p:cNvSpPr/>
          <p:nvPr/>
        </p:nvSpPr>
        <p:spPr>
          <a:xfrm>
            <a:off x="411480" y="5212080"/>
            <a:ext cx="11338560" cy="914400"/>
          </a:xfrm>
          <a:prstGeom prst="rect">
            <a:avLst/>
          </a:prstGeom>
          <a:noFill/>
          <a:ln/>
        </p:spPr>
        <p:txBody>
          <a:bodyPr wrap="square" lIns="0" tIns="0" rIns="0" bIns="0" rtlCol="0" anchor="t"/>
          <a:lstStyle/>
          <a:p>
            <a:pPr indent="0" marL="0">
              <a:lnSpc>
                <a:spcPct val="120000"/>
              </a:lnSpc>
              <a:buNone/>
            </a:pPr>
            <a:r>
              <a:rPr lang="en-US" sz="1300" b="1" dirty="0">
                <a:solidFill>
                  <a:srgbClr val="059669"/>
                </a:solidFill>
                <a:latin typeface="Calibri" pitchFamily="34" charset="0"/>
                <a:ea typeface="Calibri" pitchFamily="34" charset="-122"/>
                <a:cs typeface="Calibri" pitchFamily="34" charset="-120"/>
              </a:rPr>
              <a:t>Why it helps:  </a:t>
            </a:r>
            <a:pPr indent="0" marL="0">
              <a:lnSpc>
                <a:spcPct val="120000"/>
              </a:lnSpc>
              <a:buNone/>
            </a:pPr>
            <a:r>
              <a:rPr lang="en-US" sz="1250" dirty="0">
                <a:solidFill>
                  <a:srgbClr val="334155"/>
                </a:solidFill>
                <a:latin typeface="Calibri" pitchFamily="34" charset="0"/>
                <a:ea typeface="Calibri" pitchFamily="34" charset="-122"/>
                <a:cs typeface="Calibri" pitchFamily="34" charset="-120"/>
              </a:rPr>
              <a:t>sourcing time is scarce. The agent spends it where the return is real — and tracks the £ actually saved, so you can prove the tool paid for itself. One click ("Actioned £") teaches it after every negotiation.</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NEW IN 2026 · ADVANCED INTELLIGENCE</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The negotiation coach — it hands you the argument</a:t>
            </a:r>
            <a:endParaRPr lang="en-US" sz="2700" dirty="0"/>
          </a:p>
        </p:txBody>
      </p:sp>
      <p:sp>
        <p:nvSpPr>
          <p:cNvPr id="10" name="Text 8"/>
          <p:cNvSpPr/>
          <p:nvPr/>
        </p:nvSpPr>
        <p:spPr>
          <a:xfrm>
            <a:off x="411480" y="1691640"/>
            <a:ext cx="11338560" cy="411480"/>
          </a:xfrm>
          <a:prstGeom prst="rect">
            <a:avLst/>
          </a:prstGeom>
          <a:noFill/>
          <a:ln/>
        </p:spPr>
        <p:txBody>
          <a:bodyPr wrap="square" lIns="0" tIns="0" rIns="0" bIns="0" rtlCol="0" anchor="t"/>
          <a:lstStyle/>
          <a:p>
            <a:pPr indent="0" marL="0">
              <a:buNone/>
            </a:pPr>
            <a:r>
              <a:rPr lang="en-US" sz="1350" dirty="0">
                <a:solidFill>
                  <a:srgbClr val="334155"/>
                </a:solidFill>
                <a:latin typeface="Calibri" pitchFamily="34" charset="0"/>
                <a:ea typeface="Calibri" pitchFamily="34" charset="-122"/>
                <a:cs typeface="Calibri" pitchFamily="34" charset="-120"/>
              </a:rPr>
              <a:t>The tool now knows </a:t>
            </a:r>
            <a:pPr indent="0" marL="0">
              <a:buNone/>
            </a:pPr>
            <a:r>
              <a:rPr lang="en-US" sz="1350" b="1" i="1" dirty="0">
                <a:solidFill>
                  <a:srgbClr val="0F172A"/>
                </a:solidFill>
                <a:latin typeface="Calibri" pitchFamily="34" charset="0"/>
                <a:ea typeface="Calibri" pitchFamily="34" charset="-122"/>
                <a:cs typeface="Calibri" pitchFamily="34" charset="-120"/>
              </a:rPr>
              <a:t>why</a:t>
            </a:r>
            <a:pPr indent="0" marL="0">
              <a:buNone/>
            </a:pPr>
            <a:r>
              <a:rPr lang="en-US" sz="1350" dirty="0">
                <a:solidFill>
                  <a:srgbClr val="334155"/>
                </a:solidFill>
                <a:latin typeface="Calibri" pitchFamily="34" charset="0"/>
                <a:ea typeface="Calibri" pitchFamily="34" charset="-122"/>
                <a:cs typeface="Calibri" pitchFamily="34" charset="-120"/>
              </a:rPr>
              <a:t> a part costs what it does — and turns that into the sentence that wins the negotiation.</a:t>
            </a:r>
            <a:endParaRPr lang="en-US" sz="1350" dirty="0"/>
          </a:p>
        </p:txBody>
      </p:sp>
      <p:sp>
        <p:nvSpPr>
          <p:cNvPr id="11" name="Shape 9"/>
          <p:cNvSpPr/>
          <p:nvPr/>
        </p:nvSpPr>
        <p:spPr>
          <a:xfrm>
            <a:off x="411480" y="2286000"/>
            <a:ext cx="11384280" cy="1828800"/>
          </a:xfrm>
          <a:prstGeom prst="roundRect">
            <a:avLst>
              <a:gd name="adj" fmla="val 2500"/>
            </a:avLst>
          </a:prstGeom>
          <a:solidFill>
            <a:srgbClr val="EFF6FF"/>
          </a:solidFill>
          <a:ln/>
        </p:spPr>
      </p:sp>
      <p:sp>
        <p:nvSpPr>
          <p:cNvPr id="12" name="Shape 10"/>
          <p:cNvSpPr/>
          <p:nvPr/>
        </p:nvSpPr>
        <p:spPr>
          <a:xfrm>
            <a:off x="411480" y="2286000"/>
            <a:ext cx="82296" cy="1828800"/>
          </a:xfrm>
          <a:prstGeom prst="rect">
            <a:avLst/>
          </a:prstGeom>
          <a:solidFill>
            <a:srgbClr val="2563EB"/>
          </a:solidFill>
          <a:ln/>
        </p:spPr>
      </p:sp>
      <p:sp>
        <p:nvSpPr>
          <p:cNvPr id="13" name="Text 11"/>
          <p:cNvSpPr/>
          <p:nvPr/>
        </p:nvSpPr>
        <p:spPr>
          <a:xfrm>
            <a:off x="731520" y="2487168"/>
            <a:ext cx="10789920" cy="320040"/>
          </a:xfrm>
          <a:prstGeom prst="rect">
            <a:avLst/>
          </a:prstGeom>
          <a:noFill/>
          <a:ln/>
        </p:spPr>
        <p:txBody>
          <a:bodyPr wrap="square" lIns="0" tIns="0" rIns="0" bIns="0" rtlCol="0" anchor="t"/>
          <a:lstStyle/>
          <a:p>
            <a:pPr indent="0" marL="0">
              <a:buNone/>
            </a:pPr>
            <a:r>
              <a:rPr lang="en-US" sz="1200" b="1" dirty="0">
                <a:solidFill>
                  <a:srgbClr val="2563EB"/>
                </a:solidFill>
                <a:latin typeface="Calibri" pitchFamily="34" charset="0"/>
                <a:ea typeface="Calibri" pitchFamily="34" charset="-122"/>
                <a:cs typeface="Calibri" pitchFamily="34" charset="-120"/>
              </a:rPr>
              <a:t>Live example — real output from the tool</a:t>
            </a:r>
            <a:endParaRPr lang="en-US" sz="1200" dirty="0"/>
          </a:p>
        </p:txBody>
      </p:sp>
      <p:sp>
        <p:nvSpPr>
          <p:cNvPr id="14" name="Text 12"/>
          <p:cNvSpPr/>
          <p:nvPr/>
        </p:nvSpPr>
        <p:spPr>
          <a:xfrm>
            <a:off x="731520" y="2852928"/>
            <a:ext cx="10789920" cy="1188720"/>
          </a:xfrm>
          <a:prstGeom prst="rect">
            <a:avLst/>
          </a:prstGeom>
          <a:noFill/>
          <a:ln/>
        </p:spPr>
        <p:txBody>
          <a:bodyPr wrap="square" lIns="0" tIns="0" rIns="0" bIns="0" rtlCol="0" anchor="t"/>
          <a:lstStyle/>
          <a:p>
            <a:pPr indent="0" marL="0">
              <a:lnSpc>
                <a:spcPct val="130000"/>
              </a:lnSpc>
              <a:buNone/>
            </a:pPr>
            <a:r>
              <a:rPr lang="en-US" sz="1400" b="1" dirty="0">
                <a:solidFill>
                  <a:srgbClr val="0F172A"/>
                </a:solidFill>
                <a:latin typeface="Calibri" pitchFamily="34" charset="0"/>
                <a:ea typeface="Calibri" pitchFamily="34" charset="-122"/>
                <a:cs typeface="Calibri" pitchFamily="34" charset="-120"/>
              </a:rPr>
              <a:t>“Material is £8.39 of this part, driven by Aluminium. Every 1% move in the Aluminium index shifts the piece price by £0.11. </a:t>
            </a:r>
            <a:pPr indent="0" marL="0">
              <a:lnSpc>
                <a:spcPct val="130000"/>
              </a:lnSpc>
              <a:buNone/>
            </a:pPr>
            <a:r>
              <a:rPr lang="en-US" sz="1400" b="1" dirty="0">
                <a:solidFill>
                  <a:srgbClr val="7C3AED"/>
                </a:solidFill>
                <a:latin typeface="Calibri" pitchFamily="34" charset="0"/>
                <a:ea typeface="Calibri" pitchFamily="34" charset="-122"/>
                <a:cs typeface="Calibri" pitchFamily="34" charset="-120"/>
              </a:rPr>
              <a:t>A quote of £95 is only justified if Aluminium were ~14% above today’s index — ask the supplier to show that, or hold at £86.34.”</a:t>
            </a:r>
            <a:endParaRPr lang="en-US" sz="1400" dirty="0"/>
          </a:p>
        </p:txBody>
      </p:sp>
      <p:sp>
        <p:nvSpPr>
          <p:cNvPr id="15" name="Shape 13"/>
          <p:cNvSpPr/>
          <p:nvPr/>
        </p:nvSpPr>
        <p:spPr>
          <a:xfrm>
            <a:off x="411480" y="4343400"/>
            <a:ext cx="5532120" cy="1828800"/>
          </a:xfrm>
          <a:prstGeom prst="roundRect">
            <a:avLst>
              <a:gd name="adj" fmla="val 3000"/>
            </a:avLst>
          </a:prstGeom>
          <a:solidFill>
            <a:srgbClr val="F1F5F9"/>
          </a:solidFill>
          <a:ln/>
        </p:spPr>
      </p:sp>
      <p:sp>
        <p:nvSpPr>
          <p:cNvPr id="16" name="Text 14"/>
          <p:cNvSpPr/>
          <p:nvPr/>
        </p:nvSpPr>
        <p:spPr>
          <a:xfrm>
            <a:off x="685800" y="4526280"/>
            <a:ext cx="5029200" cy="1554480"/>
          </a:xfrm>
          <a:prstGeom prst="rect">
            <a:avLst/>
          </a:prstGeom>
          <a:noFill/>
          <a:ln/>
        </p:spPr>
        <p:txBody>
          <a:bodyPr wrap="square" lIns="0" tIns="0" rIns="0" bIns="0" rtlCol="0" anchor="t"/>
          <a:lstStyle/>
          <a:p>
            <a:pPr indent="0" marL="0">
              <a:lnSpc>
                <a:spcPct val="118000"/>
              </a:lnSpc>
              <a:spcAft>
                <a:spcPts val="600"/>
              </a:spcAft>
              <a:buNone/>
            </a:pPr>
            <a:r>
              <a:rPr lang="en-US" sz="1350" b="1" dirty="0">
                <a:solidFill>
                  <a:srgbClr val="0F172A"/>
                </a:solidFill>
                <a:latin typeface="Calibri" pitchFamily="34" charset="0"/>
                <a:ea typeface="Calibri" pitchFamily="34" charset="-122"/>
                <a:cs typeface="Calibri" pitchFamily="34" charset="-120"/>
              </a:rPr>
              <a:t>What it does</a:t>
            </a:r>
            <a:endParaRPr lang="en-US" sz="1350" dirty="0"/>
          </a:p>
          <a:p>
            <a:pPr indent="0" marL="0">
              <a:lnSpc>
                <a:spcPct val="118000"/>
              </a:lnSpc>
              <a:spcAft>
                <a:spcPts val="600"/>
              </a:spcAft>
              <a:buNone/>
            </a:pPr>
            <a:r>
              <a:rPr lang="en-US" sz="1150" dirty="0">
                <a:solidFill>
                  <a:srgbClr val="334155"/>
                </a:solidFill>
                <a:latin typeface="Calibri" pitchFamily="34" charset="0"/>
                <a:ea typeface="Calibri" pitchFamily="34" charset="-122"/>
                <a:cs typeface="Calibri" pitchFamily="34" charset="-120"/>
              </a:rPr>
              <a:t>Links the material to its commodity index, then works out — through the same maths the engine uses — exactly how much a supplier’s price implies the metal has moved.</a:t>
            </a:r>
            <a:endParaRPr lang="en-US" sz="1350" dirty="0"/>
          </a:p>
        </p:txBody>
      </p:sp>
      <p:sp>
        <p:nvSpPr>
          <p:cNvPr id="17" name="Shape 15"/>
          <p:cNvSpPr/>
          <p:nvPr/>
        </p:nvSpPr>
        <p:spPr>
          <a:xfrm>
            <a:off x="6263640" y="4343400"/>
            <a:ext cx="5532120" cy="1828800"/>
          </a:xfrm>
          <a:prstGeom prst="roundRect">
            <a:avLst>
              <a:gd name="adj" fmla="val 3000"/>
            </a:avLst>
          </a:prstGeom>
          <a:solidFill>
            <a:srgbClr val="EFF6FF"/>
          </a:solidFill>
          <a:ln/>
        </p:spPr>
      </p:sp>
      <p:sp>
        <p:nvSpPr>
          <p:cNvPr id="18" name="Text 16"/>
          <p:cNvSpPr/>
          <p:nvPr/>
        </p:nvSpPr>
        <p:spPr>
          <a:xfrm>
            <a:off x="6537960" y="4526280"/>
            <a:ext cx="5029200" cy="1554480"/>
          </a:xfrm>
          <a:prstGeom prst="rect">
            <a:avLst/>
          </a:prstGeom>
          <a:noFill/>
          <a:ln/>
        </p:spPr>
        <p:txBody>
          <a:bodyPr wrap="square" lIns="0" tIns="0" rIns="0" bIns="0" rtlCol="0" anchor="t"/>
          <a:lstStyle/>
          <a:p>
            <a:pPr indent="0" marL="0">
              <a:lnSpc>
                <a:spcPct val="118000"/>
              </a:lnSpc>
              <a:spcAft>
                <a:spcPts val="600"/>
              </a:spcAft>
              <a:buNone/>
            </a:pPr>
            <a:r>
              <a:rPr lang="en-US" sz="1350" b="1" dirty="0">
                <a:solidFill>
                  <a:srgbClr val="059669"/>
                </a:solidFill>
                <a:latin typeface="Calibri" pitchFamily="34" charset="0"/>
                <a:ea typeface="Calibri" pitchFamily="34" charset="-122"/>
                <a:cs typeface="Calibri" pitchFamily="34" charset="-120"/>
              </a:rPr>
              <a:t>Why it helps</a:t>
            </a:r>
            <a:endParaRPr lang="en-US" sz="1350" dirty="0"/>
          </a:p>
          <a:p>
            <a:pPr indent="0" marL="0">
              <a:lnSpc>
                <a:spcPct val="118000"/>
              </a:lnSpc>
              <a:spcAft>
                <a:spcPts val="600"/>
              </a:spcAft>
              <a:buNone/>
            </a:pPr>
            <a:r>
              <a:rPr lang="en-US" sz="1150" dirty="0">
                <a:solidFill>
                  <a:srgbClr val="334155"/>
                </a:solidFill>
                <a:latin typeface="Calibri" pitchFamily="34" charset="0"/>
                <a:ea typeface="Calibri" pitchFamily="34" charset="-122"/>
                <a:cs typeface="Calibri" pitchFamily="34" charset="-120"/>
              </a:rPr>
              <a:t>The buyer walks in with a defensible, arithmetic counter-argument instead of "that feels high". It converts should-cost into negotiating power — the number and the words to win with it.</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NEW IN 2026 · ADVANCED INTELLIGENCE</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Cost weather on demand — the what-if engine</a:t>
            </a:r>
            <a:endParaRPr lang="en-US" sz="2700" dirty="0"/>
          </a:p>
        </p:txBody>
      </p:sp>
      <p:sp>
        <p:nvSpPr>
          <p:cNvPr id="10" name="Text 8"/>
          <p:cNvSpPr/>
          <p:nvPr/>
        </p:nvSpPr>
        <p:spPr>
          <a:xfrm>
            <a:off x="411480" y="1691640"/>
            <a:ext cx="11338560" cy="411480"/>
          </a:xfrm>
          <a:prstGeom prst="rect">
            <a:avLst/>
          </a:prstGeom>
          <a:noFill/>
          <a:ln/>
        </p:spPr>
        <p:txBody>
          <a:bodyPr wrap="square" lIns="0" tIns="0" rIns="0" bIns="0" rtlCol="0" anchor="t"/>
          <a:lstStyle/>
          <a:p>
            <a:pPr indent="0" marL="0">
              <a:buNone/>
            </a:pPr>
            <a:r>
              <a:rPr lang="en-US" sz="1350" dirty="0">
                <a:solidFill>
                  <a:srgbClr val="334155"/>
                </a:solidFill>
                <a:latin typeface="Calibri" pitchFamily="34" charset="0"/>
                <a:ea typeface="Calibri" pitchFamily="34" charset="-122"/>
                <a:cs typeface="Calibri" pitchFamily="34" charset="-120"/>
              </a:rPr>
              <a:t>Ask "what if a commodity moves?" and get the answer instantly — for one part, or the whole portfolio.</a:t>
            </a:r>
            <a:endParaRPr lang="en-US" sz="1350" dirty="0"/>
          </a:p>
        </p:txBody>
      </p:sp>
      <p:sp>
        <p:nvSpPr>
          <p:cNvPr id="11" name="Shape 9"/>
          <p:cNvSpPr/>
          <p:nvPr/>
        </p:nvSpPr>
        <p:spPr>
          <a:xfrm>
            <a:off x="411480" y="2286000"/>
            <a:ext cx="5532120" cy="2468880"/>
          </a:xfrm>
          <a:prstGeom prst="roundRect">
            <a:avLst>
              <a:gd name="adj" fmla="val 2222"/>
            </a:avLst>
          </a:prstGeom>
          <a:solidFill>
            <a:srgbClr val="F1F5F9"/>
          </a:solidFill>
          <a:ln/>
        </p:spPr>
      </p:sp>
      <p:sp>
        <p:nvSpPr>
          <p:cNvPr id="12" name="Shape 10"/>
          <p:cNvSpPr/>
          <p:nvPr/>
        </p:nvSpPr>
        <p:spPr>
          <a:xfrm>
            <a:off x="411480" y="2286000"/>
            <a:ext cx="5532120" cy="82296"/>
          </a:xfrm>
          <a:prstGeom prst="rect">
            <a:avLst/>
          </a:prstGeom>
          <a:solidFill>
            <a:srgbClr val="2563EB"/>
          </a:solidFill>
          <a:ln/>
        </p:spPr>
      </p:sp>
      <p:sp>
        <p:nvSpPr>
          <p:cNvPr id="13" name="Text 11"/>
          <p:cNvSpPr/>
          <p:nvPr/>
        </p:nvSpPr>
        <p:spPr>
          <a:xfrm>
            <a:off x="685800" y="2487168"/>
            <a:ext cx="5029200" cy="365760"/>
          </a:xfrm>
          <a:prstGeom prst="rect">
            <a:avLst/>
          </a:prstGeom>
          <a:noFill/>
          <a:ln/>
        </p:spPr>
        <p:txBody>
          <a:bodyPr wrap="square" lIns="0" tIns="0" rIns="0" bIns="0" rtlCol="0" anchor="t"/>
          <a:lstStyle/>
          <a:p>
            <a:pPr indent="0" marL="0">
              <a:buNone/>
            </a:pPr>
            <a:r>
              <a:rPr lang="en-US" sz="1400" b="1" dirty="0">
                <a:solidFill>
                  <a:srgbClr val="2563EB"/>
                </a:solidFill>
                <a:latin typeface="Calibri" pitchFamily="34" charset="0"/>
                <a:ea typeface="Calibri" pitchFamily="34" charset="-122"/>
                <a:cs typeface="Calibri" pitchFamily="34" charset="-120"/>
              </a:rPr>
              <a:t>One part — the live slider</a:t>
            </a:r>
            <a:endParaRPr lang="en-US" sz="1400" dirty="0"/>
          </a:p>
        </p:txBody>
      </p:sp>
      <p:sp>
        <p:nvSpPr>
          <p:cNvPr id="14" name="Text 12"/>
          <p:cNvSpPr/>
          <p:nvPr/>
        </p:nvSpPr>
        <p:spPr>
          <a:xfrm>
            <a:off x="685800" y="2926080"/>
            <a:ext cx="5029200" cy="1737360"/>
          </a:xfrm>
          <a:prstGeom prst="rect">
            <a:avLst/>
          </a:prstGeom>
          <a:noFill/>
          <a:ln/>
        </p:spPr>
        <p:txBody>
          <a:bodyPr wrap="square" lIns="0" tIns="0" rIns="0" bIns="0" rtlCol="0" anchor="t"/>
          <a:lstStyle/>
          <a:p>
            <a:pPr indent="0" marL="0">
              <a:lnSpc>
                <a:spcPct val="115000"/>
              </a:lnSpc>
              <a:spcAft>
                <a:spcPts val="800"/>
              </a:spcAft>
              <a:buNone/>
            </a:pPr>
            <a:r>
              <a:rPr lang="en-US" sz="1200" dirty="0">
                <a:solidFill>
                  <a:srgbClr val="334155"/>
                </a:solidFill>
                <a:latin typeface="Calibri" pitchFamily="34" charset="0"/>
                <a:ea typeface="Calibri" pitchFamily="34" charset="-122"/>
                <a:cs typeface="Calibri" pitchFamily="34" charset="-120"/>
              </a:rPr>
              <a:t>Drag a commodity −20% … +20% and the piece price recomputes as you move.</a:t>
            </a:r>
            <a:endParaRPr lang="en-US" sz="1200" dirty="0"/>
          </a:p>
          <a:p>
            <a:pPr indent="0" marL="0">
              <a:lnSpc>
                <a:spcPct val="115000"/>
              </a:lnSpc>
              <a:spcAft>
                <a:spcPts val="800"/>
              </a:spcAft>
              <a:buNone/>
            </a:pPr>
            <a:r>
              <a:rPr lang="en-US" sz="1350" b="1" dirty="0">
                <a:solidFill>
                  <a:srgbClr val="0F172A"/>
                </a:solidFill>
                <a:latin typeface="Calibri" pitchFamily="34" charset="0"/>
                <a:ea typeface="Calibri" pitchFamily="34" charset="-122"/>
                <a:cs typeface="Calibri" pitchFamily="34" charset="-120"/>
              </a:rPr>
              <a:t>Example:  Aluminium +15%  →  £86.34 → £87.92</a:t>
            </a:r>
            <a:endParaRPr lang="en-US" sz="1200" dirty="0"/>
          </a:p>
          <a:p>
            <a:pPr indent="0" marL="0">
              <a:lnSpc>
                <a:spcPct val="115000"/>
              </a:lnSpc>
              <a:spcAft>
                <a:spcPts val="800"/>
              </a:spcAft>
              <a:buNone/>
            </a:pPr>
            <a:r>
              <a:rPr lang="en-US" sz="1100" i="1" dirty="0">
                <a:solidFill>
                  <a:srgbClr val="64748B"/>
                </a:solidFill>
                <a:latin typeface="Calibri" pitchFamily="34" charset="0"/>
                <a:ea typeface="Calibri" pitchFamily="34" charset="-122"/>
                <a:cs typeface="Calibri" pitchFamily="34" charset="-120"/>
              </a:rPr>
              <a:t>Instant sensitivity in a single gesture.</a:t>
            </a:r>
            <a:endParaRPr lang="en-US" sz="1200" dirty="0"/>
          </a:p>
        </p:txBody>
      </p:sp>
      <p:sp>
        <p:nvSpPr>
          <p:cNvPr id="15" name="Shape 13"/>
          <p:cNvSpPr/>
          <p:nvPr/>
        </p:nvSpPr>
        <p:spPr>
          <a:xfrm>
            <a:off x="6263640" y="2286000"/>
            <a:ext cx="5532120" cy="2468880"/>
          </a:xfrm>
          <a:prstGeom prst="roundRect">
            <a:avLst>
              <a:gd name="adj" fmla="val 2222"/>
            </a:avLst>
          </a:prstGeom>
          <a:solidFill>
            <a:srgbClr val="F1F5F9"/>
          </a:solidFill>
          <a:ln/>
        </p:spPr>
      </p:sp>
      <p:sp>
        <p:nvSpPr>
          <p:cNvPr id="16" name="Shape 14"/>
          <p:cNvSpPr/>
          <p:nvPr/>
        </p:nvSpPr>
        <p:spPr>
          <a:xfrm>
            <a:off x="6263640" y="2286000"/>
            <a:ext cx="5532120" cy="82296"/>
          </a:xfrm>
          <a:prstGeom prst="rect">
            <a:avLst/>
          </a:prstGeom>
          <a:solidFill>
            <a:srgbClr val="7C3AED"/>
          </a:solidFill>
          <a:ln/>
        </p:spPr>
      </p:sp>
      <p:sp>
        <p:nvSpPr>
          <p:cNvPr id="17" name="Text 15"/>
          <p:cNvSpPr/>
          <p:nvPr/>
        </p:nvSpPr>
        <p:spPr>
          <a:xfrm>
            <a:off x="6537960" y="2487168"/>
            <a:ext cx="5029200" cy="365760"/>
          </a:xfrm>
          <a:prstGeom prst="rect">
            <a:avLst/>
          </a:prstGeom>
          <a:noFill/>
          <a:ln/>
        </p:spPr>
        <p:txBody>
          <a:bodyPr wrap="square" lIns="0" tIns="0" rIns="0" bIns="0" rtlCol="0" anchor="t"/>
          <a:lstStyle/>
          <a:p>
            <a:pPr indent="0" marL="0">
              <a:buNone/>
            </a:pPr>
            <a:r>
              <a:rPr lang="en-US" sz="1400" b="1" dirty="0">
                <a:solidFill>
                  <a:srgbClr val="7C3AED"/>
                </a:solidFill>
                <a:latin typeface="Calibri" pitchFamily="34" charset="0"/>
                <a:ea typeface="Calibri" pitchFamily="34" charset="-122"/>
                <a:cs typeface="Calibri" pitchFamily="34" charset="-120"/>
              </a:rPr>
              <a:t>Whole portfolio — the scenario</a:t>
            </a:r>
            <a:endParaRPr lang="en-US" sz="1400" dirty="0"/>
          </a:p>
        </p:txBody>
      </p:sp>
      <p:sp>
        <p:nvSpPr>
          <p:cNvPr id="18" name="Text 16"/>
          <p:cNvSpPr/>
          <p:nvPr/>
        </p:nvSpPr>
        <p:spPr>
          <a:xfrm>
            <a:off x="6537960" y="2926080"/>
            <a:ext cx="5029200" cy="1737360"/>
          </a:xfrm>
          <a:prstGeom prst="rect">
            <a:avLst/>
          </a:prstGeom>
          <a:noFill/>
          <a:ln/>
        </p:spPr>
        <p:txBody>
          <a:bodyPr wrap="square" lIns="0" tIns="0" rIns="0" bIns="0" rtlCol="0" anchor="t"/>
          <a:lstStyle/>
          <a:p>
            <a:pPr indent="0" marL="0">
              <a:lnSpc>
                <a:spcPct val="115000"/>
              </a:lnSpc>
              <a:spcAft>
                <a:spcPts val="800"/>
              </a:spcAft>
              <a:buNone/>
            </a:pPr>
            <a:r>
              <a:rPr lang="en-US" sz="1200" dirty="0">
                <a:solidFill>
                  <a:srgbClr val="334155"/>
                </a:solidFill>
                <a:latin typeface="Calibri" pitchFamily="34" charset="0"/>
                <a:ea typeface="Calibri" pitchFamily="34" charset="-122"/>
                <a:cs typeface="Calibri" pitchFamily="34" charset="-120"/>
              </a:rPr>
              <a:t>Apply a move across every part at once and see who changes status.</a:t>
            </a:r>
            <a:endParaRPr lang="en-US" sz="1200" dirty="0"/>
          </a:p>
          <a:p>
            <a:pPr indent="0" marL="0">
              <a:lnSpc>
                <a:spcPct val="115000"/>
              </a:lnSpc>
              <a:spcAft>
                <a:spcPts val="800"/>
              </a:spcAft>
              <a:buNone/>
            </a:pPr>
            <a:r>
              <a:rPr lang="en-US" sz="1350" b="1" dirty="0">
                <a:solidFill>
                  <a:srgbClr val="0F172A"/>
                </a:solidFill>
                <a:latin typeface="Calibri" pitchFamily="34" charset="0"/>
                <a:ea typeface="Calibri" pitchFamily="34" charset="-122"/>
                <a:cs typeface="Calibri" pitchFamily="34" charset="-120"/>
              </a:rPr>
              <a:t>Example:  "If Steel +10% → 7 parts cross underwater, £X/yr at risk."</a:t>
            </a:r>
            <a:endParaRPr lang="en-US" sz="1200" dirty="0"/>
          </a:p>
          <a:p>
            <a:pPr indent="0" marL="0">
              <a:lnSpc>
                <a:spcPct val="115000"/>
              </a:lnSpc>
              <a:spcAft>
                <a:spcPts val="800"/>
              </a:spcAft>
              <a:buNone/>
            </a:pPr>
            <a:r>
              <a:rPr lang="en-US" sz="1100" i="1" dirty="0">
                <a:solidFill>
                  <a:srgbClr val="64748B"/>
                </a:solidFill>
                <a:latin typeface="Calibri" pitchFamily="34" charset="0"/>
                <a:ea typeface="Calibri" pitchFamily="34" charset="-122"/>
                <a:cs typeface="Calibri" pitchFamily="34" charset="-120"/>
              </a:rPr>
              <a:t>Pre-empt losses before the market moves them.</a:t>
            </a:r>
            <a:endParaRPr lang="en-US" sz="1200" dirty="0"/>
          </a:p>
        </p:txBody>
      </p:sp>
      <p:sp>
        <p:nvSpPr>
          <p:cNvPr id="19" name="Shape 17"/>
          <p:cNvSpPr/>
          <p:nvPr/>
        </p:nvSpPr>
        <p:spPr>
          <a:xfrm>
            <a:off x="411480" y="4983480"/>
            <a:ext cx="11384280" cy="1188720"/>
          </a:xfrm>
          <a:prstGeom prst="roundRect">
            <a:avLst>
              <a:gd name="adj" fmla="val 4615"/>
            </a:avLst>
          </a:prstGeom>
          <a:solidFill>
            <a:srgbClr val="EFF6FF"/>
          </a:solidFill>
          <a:ln/>
        </p:spPr>
      </p:sp>
      <p:sp>
        <p:nvSpPr>
          <p:cNvPr id="20" name="Text 18"/>
          <p:cNvSpPr/>
          <p:nvPr/>
        </p:nvSpPr>
        <p:spPr>
          <a:xfrm>
            <a:off x="685800" y="5138928"/>
            <a:ext cx="10881360" cy="960120"/>
          </a:xfrm>
          <a:prstGeom prst="rect">
            <a:avLst/>
          </a:prstGeom>
          <a:noFill/>
          <a:ln/>
        </p:spPr>
        <p:txBody>
          <a:bodyPr wrap="square" lIns="0" tIns="0" rIns="0" bIns="0" rtlCol="0" anchor="t"/>
          <a:lstStyle/>
          <a:p>
            <a:pPr indent="0" marL="0">
              <a:lnSpc>
                <a:spcPct val="120000"/>
              </a:lnSpc>
              <a:buNone/>
            </a:pPr>
            <a:r>
              <a:rPr lang="en-US" sz="1300" b="1" dirty="0">
                <a:solidFill>
                  <a:srgbClr val="D97706"/>
                </a:solidFill>
                <a:latin typeface="Calibri" pitchFamily="34" charset="0"/>
                <a:ea typeface="Calibri" pitchFamily="34" charset="-122"/>
                <a:cs typeface="Calibri" pitchFamily="34" charset="-120"/>
              </a:rPr>
              <a:t>Honest by design:  </a:t>
            </a:r>
            <a:pPr indent="0" marL="0">
              <a:lnSpc>
                <a:spcPct val="120000"/>
              </a:lnSpc>
              <a:buNone/>
            </a:pPr>
            <a:r>
              <a:rPr lang="en-US" sz="1250" dirty="0">
                <a:solidFill>
                  <a:srgbClr val="334155"/>
                </a:solidFill>
                <a:latin typeface="Calibri" pitchFamily="34" charset="0"/>
                <a:ea typeface="Calibri" pitchFamily="34" charset="-122"/>
                <a:cs typeface="Calibri" pitchFamily="34" charset="-120"/>
              </a:rPr>
              <a:t>this is a conditional — "IF the index moves" — never a price forecast. So it stays defensible even on an indicative commodity feed, and upgrades to a true forecast the day a live market feed is connected.</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NEW IN 2026 · ADVANCED INTELLIGENCE</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PCB photo → BOM → should-cost — now supplier-grade</a:t>
            </a:r>
            <a:endParaRPr lang="en-US" sz="2700" dirty="0"/>
          </a:p>
        </p:txBody>
      </p:sp>
      <p:sp>
        <p:nvSpPr>
          <p:cNvPr id="10" name="Text 8"/>
          <p:cNvSpPr/>
          <p:nvPr/>
        </p:nvSpPr>
        <p:spPr>
          <a:xfrm>
            <a:off x="411480" y="1664208"/>
            <a:ext cx="11338560" cy="384048"/>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Photograph a circuit board, get a costed bill of materials in ~60 seconds. This year we hardened it from a clever demo into a </a:t>
            </a:r>
            <a:pPr indent="0" marL="0">
              <a:buNone/>
            </a:pPr>
            <a:r>
              <a:rPr lang="en-US" sz="1300" b="1" dirty="0">
                <a:solidFill>
                  <a:srgbClr val="0F172A"/>
                </a:solidFill>
                <a:latin typeface="Calibri" pitchFamily="34" charset="0"/>
                <a:ea typeface="Calibri" pitchFamily="34" charset="-122"/>
                <a:cs typeface="Calibri" pitchFamily="34" charset="-120"/>
              </a:rPr>
              <a:t>number you can put in front of a supplier.</a:t>
            </a:r>
            <a:endParaRPr lang="en-US" sz="1300" dirty="0"/>
          </a:p>
        </p:txBody>
      </p:sp>
      <p:graphicFrame>
        <p:nvGraphicFramePr>
          <p:cNvPr id="11" name="Chart 0" descr=""/>
          <p:cNvGraphicFramePr/>
          <p:nvPr/>
        </p:nvGraphicFramePr>
        <p:xfrm>
          <a:off x="411480" y="2240280"/>
          <a:ext cx="5623560" cy="3063240"/>
        </p:xfrm>
        <a:graphic xmlns:a="http://schemas.openxmlformats.org/drawingml/2006/main">
          <a:graphicData uri="http://schemas.openxmlformats.org/drawingml/2006/chart">
            <c:chart xmlns:c="http://schemas.openxmlformats.org/drawingml/2006/chart" r:id="rId1"/>
          </a:graphicData>
        </a:graphic>
      </p:graphicFrame>
      <p:sp>
        <p:nvSpPr>
          <p:cNvPr id="12" name="Text 9"/>
          <p:cNvSpPr/>
          <p:nvPr/>
        </p:nvSpPr>
        <p:spPr>
          <a:xfrm>
            <a:off x="411480" y="5321808"/>
            <a:ext cx="5623560" cy="384048"/>
          </a:xfrm>
          <a:prstGeom prst="rect">
            <a:avLst/>
          </a:prstGeom>
          <a:noFill/>
          <a:ln/>
        </p:spPr>
        <p:txBody>
          <a:bodyPr wrap="square" lIns="0" tIns="0" rIns="0" bIns="0" rtlCol="0" anchor="t"/>
          <a:lstStyle/>
          <a:p>
            <a:pPr indent="0" marL="0">
              <a:lnSpc>
                <a:spcPct val="105000"/>
              </a:lnSpc>
              <a:buNone/>
            </a:pPr>
            <a:r>
              <a:rPr lang="en-US" sz="1000" i="1" dirty="0">
                <a:solidFill>
                  <a:srgbClr val="64748B"/>
                </a:solidFill>
                <a:latin typeface="Calibri" pitchFamily="34" charset="0"/>
                <a:ea typeface="Calibri" pitchFamily="34" charset="-122"/>
                <a:cs typeface="Calibri" pitchFamily="34" charset="-120"/>
              </a:rPr>
              <a:t>Real automotive ECU, China @ 10k/yr — AI landed within ~5% of a half-day manual estimate, in ~60 s.</a:t>
            </a:r>
            <a:endParaRPr lang="en-US" sz="1000" dirty="0"/>
          </a:p>
        </p:txBody>
      </p:sp>
      <p:sp>
        <p:nvSpPr>
          <p:cNvPr id="13" name="Shape 10"/>
          <p:cNvSpPr/>
          <p:nvPr/>
        </p:nvSpPr>
        <p:spPr>
          <a:xfrm>
            <a:off x="6263640" y="2240280"/>
            <a:ext cx="5532120" cy="3063240"/>
          </a:xfrm>
          <a:prstGeom prst="roundRect">
            <a:avLst>
              <a:gd name="adj" fmla="val 1493"/>
            </a:avLst>
          </a:prstGeom>
          <a:solidFill>
            <a:srgbClr val="F1F5F9"/>
          </a:solidFill>
          <a:ln/>
        </p:spPr>
      </p:sp>
      <p:sp>
        <p:nvSpPr>
          <p:cNvPr id="14" name="Text 11"/>
          <p:cNvSpPr/>
          <p:nvPr/>
        </p:nvSpPr>
        <p:spPr>
          <a:xfrm>
            <a:off x="6537960" y="2395728"/>
            <a:ext cx="5029200" cy="320040"/>
          </a:xfrm>
          <a:prstGeom prst="rect">
            <a:avLst/>
          </a:prstGeom>
          <a:noFill/>
          <a:ln/>
        </p:spPr>
        <p:txBody>
          <a:bodyPr wrap="square" lIns="0" tIns="0" rIns="0" bIns="0" rtlCol="0" anchor="t"/>
          <a:lstStyle/>
          <a:p>
            <a:pPr indent="0" marL="0">
              <a:buNone/>
            </a:pPr>
            <a:r>
              <a:rPr lang="en-US" sz="1400" b="1" dirty="0">
                <a:solidFill>
                  <a:srgbClr val="0F172A"/>
                </a:solidFill>
                <a:latin typeface="Calibri" pitchFamily="34" charset="0"/>
                <a:ea typeface="Calibri" pitchFamily="34" charset="-122"/>
                <a:cs typeface="Calibri" pitchFamily="34" charset="-120"/>
              </a:rPr>
              <a:t>What we fixed this year</a:t>
            </a:r>
            <a:endParaRPr lang="en-US" sz="1400" dirty="0"/>
          </a:p>
        </p:txBody>
      </p:sp>
      <p:sp>
        <p:nvSpPr>
          <p:cNvPr id="15" name="Shape 12"/>
          <p:cNvSpPr/>
          <p:nvPr/>
        </p:nvSpPr>
        <p:spPr>
          <a:xfrm>
            <a:off x="6537960" y="2834640"/>
            <a:ext cx="82296" cy="384048"/>
          </a:xfrm>
          <a:prstGeom prst="rect">
            <a:avLst/>
          </a:prstGeom>
          <a:solidFill>
            <a:srgbClr val="059669"/>
          </a:solidFill>
          <a:ln/>
        </p:spPr>
      </p:sp>
      <p:sp>
        <p:nvSpPr>
          <p:cNvPr id="16" name="Text 13"/>
          <p:cNvSpPr/>
          <p:nvPr/>
        </p:nvSpPr>
        <p:spPr>
          <a:xfrm>
            <a:off x="6784848" y="2788920"/>
            <a:ext cx="4892040" cy="502920"/>
          </a:xfrm>
          <a:prstGeom prst="rect">
            <a:avLst/>
          </a:prstGeom>
          <a:noFill/>
          <a:ln/>
        </p:spPr>
        <p:txBody>
          <a:bodyPr wrap="square" lIns="0" tIns="0" rIns="0" bIns="0" rtlCol="0" anchor="t"/>
          <a:lstStyle/>
          <a:p>
            <a:pPr indent="0" marL="0">
              <a:lnSpc>
                <a:spcPct val="100000"/>
              </a:lnSpc>
              <a:buNone/>
            </a:pPr>
            <a:r>
              <a:rPr lang="en-US" sz="1050" b="1" dirty="0">
                <a:solidFill>
                  <a:srgbClr val="0F172A"/>
                </a:solidFill>
                <a:latin typeface="Calibri" pitchFamily="34" charset="0"/>
                <a:ea typeface="Calibri" pitchFamily="34" charset="-122"/>
                <a:cs typeface="Calibri" pitchFamily="34" charset="-120"/>
              </a:rPr>
              <a:t>✓  Empty-BOM bug — killed — </a:t>
            </a:r>
            <a:pPr indent="0" marL="0">
              <a:lnSpc>
                <a:spcPct val="100000"/>
              </a:lnSpc>
              <a:buNone/>
            </a:pPr>
            <a:r>
              <a:rPr lang="en-US" sz="1050" dirty="0">
                <a:solidFill>
                  <a:srgbClr val="334155"/>
                </a:solidFill>
                <a:latin typeface="Calibri" pitchFamily="34" charset="0"/>
                <a:ea typeface="Calibri" pitchFamily="34" charset="-122"/>
                <a:cs typeface="Calibri" pitchFamily="34" charset="-120"/>
              </a:rPr>
              <a:t>Complex boards used to return nothing; now we read every block the model emits.</a:t>
            </a:r>
            <a:endParaRPr lang="en-US" sz="1050" dirty="0"/>
          </a:p>
        </p:txBody>
      </p:sp>
      <p:sp>
        <p:nvSpPr>
          <p:cNvPr id="17" name="Shape 14"/>
          <p:cNvSpPr/>
          <p:nvPr/>
        </p:nvSpPr>
        <p:spPr>
          <a:xfrm>
            <a:off x="6537960" y="3337560"/>
            <a:ext cx="82296" cy="384048"/>
          </a:xfrm>
          <a:prstGeom prst="rect">
            <a:avLst/>
          </a:prstGeom>
          <a:solidFill>
            <a:srgbClr val="2563EB"/>
          </a:solidFill>
          <a:ln/>
        </p:spPr>
      </p:sp>
      <p:sp>
        <p:nvSpPr>
          <p:cNvPr id="18" name="Text 15"/>
          <p:cNvSpPr/>
          <p:nvPr/>
        </p:nvSpPr>
        <p:spPr>
          <a:xfrm>
            <a:off x="6784848" y="3291840"/>
            <a:ext cx="4892040" cy="502920"/>
          </a:xfrm>
          <a:prstGeom prst="rect">
            <a:avLst/>
          </a:prstGeom>
          <a:noFill/>
          <a:ln/>
        </p:spPr>
        <p:txBody>
          <a:bodyPr wrap="square" lIns="0" tIns="0" rIns="0" bIns="0" rtlCol="0" anchor="t"/>
          <a:lstStyle/>
          <a:p>
            <a:pPr indent="0" marL="0">
              <a:lnSpc>
                <a:spcPct val="100000"/>
              </a:lnSpc>
              <a:buNone/>
            </a:pPr>
            <a:r>
              <a:rPr lang="en-US" sz="1050" b="1" dirty="0">
                <a:solidFill>
                  <a:srgbClr val="0F172A"/>
                </a:solidFill>
                <a:latin typeface="Calibri" pitchFamily="34" charset="0"/>
                <a:ea typeface="Calibri" pitchFamily="34" charset="-122"/>
                <a:cs typeface="Calibri" pitchFamily="34" charset="-120"/>
              </a:rPr>
              <a:t>✓  Catalogue grounding — </a:t>
            </a:r>
            <a:pPr indent="0" marL="0">
              <a:lnSpc>
                <a:spcPct val="100000"/>
              </a:lnSpc>
              <a:buNone/>
            </a:pPr>
            <a:r>
              <a:rPr lang="en-US" sz="1050" dirty="0">
                <a:solidFill>
                  <a:srgbClr val="334155"/>
                </a:solidFill>
                <a:latin typeface="Calibri" pitchFamily="34" charset="0"/>
                <a:ea typeface="Calibri" pitchFamily="34" charset="-122"/>
                <a:cs typeface="Calibri" pitchFamily="34" charset="-120"/>
              </a:rPr>
              <a:t>Confirmed parts snap to real market prices — offline, no external API.</a:t>
            </a:r>
            <a:endParaRPr lang="en-US" sz="1050" dirty="0"/>
          </a:p>
        </p:txBody>
      </p:sp>
      <p:sp>
        <p:nvSpPr>
          <p:cNvPr id="19" name="Shape 16"/>
          <p:cNvSpPr/>
          <p:nvPr/>
        </p:nvSpPr>
        <p:spPr>
          <a:xfrm>
            <a:off x="6537960" y="3840480"/>
            <a:ext cx="82296" cy="384048"/>
          </a:xfrm>
          <a:prstGeom prst="rect">
            <a:avLst/>
          </a:prstGeom>
          <a:solidFill>
            <a:srgbClr val="7C3AED"/>
          </a:solidFill>
          <a:ln/>
        </p:spPr>
      </p:sp>
      <p:sp>
        <p:nvSpPr>
          <p:cNvPr id="20" name="Text 17"/>
          <p:cNvSpPr/>
          <p:nvPr/>
        </p:nvSpPr>
        <p:spPr>
          <a:xfrm>
            <a:off x="6784848" y="3794760"/>
            <a:ext cx="4892040" cy="502920"/>
          </a:xfrm>
          <a:prstGeom prst="rect">
            <a:avLst/>
          </a:prstGeom>
          <a:noFill/>
          <a:ln/>
        </p:spPr>
        <p:txBody>
          <a:bodyPr wrap="square" lIns="0" tIns="0" rIns="0" bIns="0" rtlCol="0" anchor="t"/>
          <a:lstStyle/>
          <a:p>
            <a:pPr indent="0" marL="0">
              <a:lnSpc>
                <a:spcPct val="100000"/>
              </a:lnSpc>
              <a:buNone/>
            </a:pPr>
            <a:r>
              <a:rPr lang="en-US" sz="1050" b="1" dirty="0">
                <a:solidFill>
                  <a:srgbClr val="0F172A"/>
                </a:solidFill>
                <a:latin typeface="Calibri" pitchFamily="34" charset="0"/>
                <a:ea typeface="Calibri" pitchFamily="34" charset="-122"/>
                <a:cs typeface="Calibri" pitchFamily="34" charset="-120"/>
              </a:rPr>
              <a:t>✓  Class-median cap + magnitude guard — </a:t>
            </a:r>
            <a:pPr indent="0" marL="0">
              <a:lnSpc>
                <a:spcPct val="100000"/>
              </a:lnSpc>
              <a:buNone/>
            </a:pPr>
            <a:r>
              <a:rPr lang="en-US" sz="1050" dirty="0">
                <a:solidFill>
                  <a:srgbClr val="334155"/>
                </a:solidFill>
                <a:latin typeface="Calibri" pitchFamily="34" charset="0"/>
                <a:ea typeface="Calibri" pitchFamily="34" charset="-122"/>
                <a:cs typeface="Calibri" pitchFamily="34" charset="-120"/>
              </a:rPr>
              <a:t>A misread part can no longer dominate: one MCU £84 → £18, capped &amp; flagged.</a:t>
            </a:r>
            <a:endParaRPr lang="en-US" sz="1050" dirty="0"/>
          </a:p>
        </p:txBody>
      </p:sp>
      <p:sp>
        <p:nvSpPr>
          <p:cNvPr id="21" name="Shape 18"/>
          <p:cNvSpPr/>
          <p:nvPr/>
        </p:nvSpPr>
        <p:spPr>
          <a:xfrm>
            <a:off x="6537960" y="4343400"/>
            <a:ext cx="82296" cy="384048"/>
          </a:xfrm>
          <a:prstGeom prst="rect">
            <a:avLst/>
          </a:prstGeom>
          <a:solidFill>
            <a:srgbClr val="0891B2"/>
          </a:solidFill>
          <a:ln/>
        </p:spPr>
      </p:sp>
      <p:sp>
        <p:nvSpPr>
          <p:cNvPr id="22" name="Text 19"/>
          <p:cNvSpPr/>
          <p:nvPr/>
        </p:nvSpPr>
        <p:spPr>
          <a:xfrm>
            <a:off x="6784848" y="4297680"/>
            <a:ext cx="4892040" cy="502920"/>
          </a:xfrm>
          <a:prstGeom prst="rect">
            <a:avLst/>
          </a:prstGeom>
          <a:noFill/>
          <a:ln/>
        </p:spPr>
        <p:txBody>
          <a:bodyPr wrap="square" lIns="0" tIns="0" rIns="0" bIns="0" rtlCol="0" anchor="t"/>
          <a:lstStyle/>
          <a:p>
            <a:pPr indent="0" marL="0">
              <a:lnSpc>
                <a:spcPct val="100000"/>
              </a:lnSpc>
              <a:buNone/>
            </a:pPr>
            <a:r>
              <a:rPr lang="en-US" sz="1050" b="1" dirty="0">
                <a:solidFill>
                  <a:srgbClr val="0F172A"/>
                </a:solidFill>
                <a:latin typeface="Calibri" pitchFamily="34" charset="0"/>
                <a:ea typeface="Calibri" pitchFamily="34" charset="-122"/>
                <a:cs typeface="Calibri" pitchFamily="34" charset="-120"/>
              </a:rPr>
              <a:t>✓  Deterministic fabrication — </a:t>
            </a:r>
            <a:pPr indent="0" marL="0">
              <a:lnSpc>
                <a:spcPct val="100000"/>
              </a:lnSpc>
              <a:buNone/>
            </a:pPr>
            <a:r>
              <a:rPr lang="en-US" sz="1050" dirty="0">
                <a:solidFill>
                  <a:srgbClr val="334155"/>
                </a:solidFill>
                <a:latin typeface="Calibri" pitchFamily="34" charset="0"/>
                <a:ea typeface="Calibri" pitchFamily="34" charset="-122"/>
                <a:cs typeface="Calibri" pitchFamily="34" charset="-120"/>
              </a:rPr>
              <a:t>Fab is derived from stable board features — the headline no longer swings run-to-run.</a:t>
            </a:r>
            <a:endParaRPr lang="en-US" sz="1050" dirty="0"/>
          </a:p>
        </p:txBody>
      </p:sp>
      <p:sp>
        <p:nvSpPr>
          <p:cNvPr id="23" name="Shape 20"/>
          <p:cNvSpPr/>
          <p:nvPr/>
        </p:nvSpPr>
        <p:spPr>
          <a:xfrm>
            <a:off x="6537960" y="4846320"/>
            <a:ext cx="82296" cy="384048"/>
          </a:xfrm>
          <a:prstGeom prst="rect">
            <a:avLst/>
          </a:prstGeom>
          <a:solidFill>
            <a:srgbClr val="D97706"/>
          </a:solidFill>
          <a:ln/>
        </p:spPr>
      </p:sp>
      <p:sp>
        <p:nvSpPr>
          <p:cNvPr id="24" name="Text 21"/>
          <p:cNvSpPr/>
          <p:nvPr/>
        </p:nvSpPr>
        <p:spPr>
          <a:xfrm>
            <a:off x="6784848" y="4800600"/>
            <a:ext cx="4892040" cy="502920"/>
          </a:xfrm>
          <a:prstGeom prst="rect">
            <a:avLst/>
          </a:prstGeom>
          <a:noFill/>
          <a:ln/>
        </p:spPr>
        <p:txBody>
          <a:bodyPr wrap="square" lIns="0" tIns="0" rIns="0" bIns="0" rtlCol="0" anchor="t"/>
          <a:lstStyle/>
          <a:p>
            <a:pPr indent="0" marL="0">
              <a:lnSpc>
                <a:spcPct val="100000"/>
              </a:lnSpc>
              <a:buNone/>
            </a:pPr>
            <a:r>
              <a:rPr lang="en-US" sz="1050" b="1" dirty="0">
                <a:solidFill>
                  <a:srgbClr val="0F172A"/>
                </a:solidFill>
                <a:latin typeface="Calibri" pitchFamily="34" charset="0"/>
                <a:ea typeface="Calibri" pitchFamily="34" charset="-122"/>
                <a:cs typeface="Calibri" pitchFamily="34" charset="-120"/>
              </a:rPr>
              <a:t>✓  Confirmed vs needs-verification — </a:t>
            </a:r>
            <a:pPr indent="0" marL="0">
              <a:lnSpc>
                <a:spcPct val="100000"/>
              </a:lnSpc>
              <a:buNone/>
            </a:pPr>
            <a:r>
              <a:rPr lang="en-US" sz="1050" dirty="0">
                <a:solidFill>
                  <a:srgbClr val="334155"/>
                </a:solidFill>
                <a:latin typeface="Calibri" pitchFamily="34" charset="0"/>
                <a:ea typeface="Calibri" pitchFamily="34" charset="-122"/>
                <a:cs typeface="Calibri" pitchFamily="34" charset="-120"/>
              </a:rPr>
              <a:t>The headline splits the £ you can trust from the £ to firm up.</a:t>
            </a:r>
            <a:endParaRPr lang="en-US" sz="1050" dirty="0"/>
          </a:p>
        </p:txBody>
      </p:sp>
      <p:sp>
        <p:nvSpPr>
          <p:cNvPr id="25" name="Shape 22"/>
          <p:cNvSpPr/>
          <p:nvPr/>
        </p:nvSpPr>
        <p:spPr>
          <a:xfrm>
            <a:off x="411480" y="5468112"/>
            <a:ext cx="11384280" cy="777240"/>
          </a:xfrm>
          <a:prstGeom prst="roundRect">
            <a:avLst>
              <a:gd name="adj" fmla="val 11765"/>
            </a:avLst>
          </a:prstGeom>
          <a:solidFill>
            <a:srgbClr val="EFF6FF"/>
          </a:solidFill>
          <a:ln/>
        </p:spPr>
      </p:sp>
      <p:sp>
        <p:nvSpPr>
          <p:cNvPr id="26" name="Text 23"/>
          <p:cNvSpPr/>
          <p:nvPr/>
        </p:nvSpPr>
        <p:spPr>
          <a:xfrm>
            <a:off x="685800" y="5596128"/>
            <a:ext cx="10972800" cy="548640"/>
          </a:xfrm>
          <a:prstGeom prst="rect">
            <a:avLst/>
          </a:prstGeom>
          <a:noFill/>
          <a:ln/>
        </p:spPr>
        <p:txBody>
          <a:bodyPr wrap="square" lIns="0" tIns="0" rIns="0" bIns="0" rtlCol="0" anchor="t"/>
          <a:lstStyle/>
          <a:p>
            <a:pPr indent="0" marL="0">
              <a:lnSpc>
                <a:spcPct val="115000"/>
              </a:lnSpc>
              <a:buNone/>
            </a:pPr>
            <a:r>
              <a:rPr lang="en-US" sz="1250" b="1" dirty="0">
                <a:solidFill>
                  <a:srgbClr val="2563EB"/>
                </a:solidFill>
                <a:latin typeface="Calibri" pitchFamily="34" charset="0"/>
                <a:ea typeface="Calibri" pitchFamily="34" charset="-122"/>
                <a:cs typeface="Calibri" pitchFamily="34" charset="-120"/>
              </a:rPr>
              <a:t>Result:  </a:t>
            </a:r>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the 2–3× over-costing is gone. That live ECU came back ASIL-B, 23 BOM lines, £69.11/board — with £37.65 confirmed and £24.64 honestly flagged to verify. Same photo, same answer, every run.</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NEW IN 2026 · ADVANCED INTELLIGENCE</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The tool now checks its own homework</a:t>
            </a:r>
            <a:endParaRPr lang="en-US" sz="2700" dirty="0"/>
          </a:p>
        </p:txBody>
      </p:sp>
      <p:sp>
        <p:nvSpPr>
          <p:cNvPr id="10" name="Text 8"/>
          <p:cNvSpPr/>
          <p:nvPr/>
        </p:nvSpPr>
        <p:spPr>
          <a:xfrm>
            <a:off x="411480" y="1664208"/>
            <a:ext cx="11338560" cy="45720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Every lesson we learned fixing real parts became a </a:t>
            </a:r>
            <a:pPr indent="0" marL="0">
              <a:buNone/>
            </a:pPr>
            <a:r>
              <a:rPr lang="en-US" sz="1300" b="1" dirty="0">
                <a:solidFill>
                  <a:srgbClr val="0F172A"/>
                </a:solidFill>
                <a:latin typeface="Calibri" pitchFamily="34" charset="0"/>
                <a:ea typeface="Calibri" pitchFamily="34" charset="-122"/>
                <a:cs typeface="Calibri" pitchFamily="34" charset="-120"/>
              </a:rPr>
              <a:t>deterministic check that runs on every single estimate</a:t>
            </a:r>
            <a:pPr indent="0" marL="0">
              <a:buNone/>
            </a:pPr>
            <a:r>
              <a:rPr lang="en-US" sz="1300" dirty="0">
                <a:solidFill>
                  <a:srgbClr val="334155"/>
                </a:solidFill>
                <a:latin typeface="Calibri" pitchFamily="34" charset="0"/>
                <a:ea typeface="Calibri" pitchFamily="34" charset="-122"/>
                <a:cs typeface="Calibri" pitchFamily="34" charset="-120"/>
              </a:rPr>
              <a:t> — catching a wrong machine, an implausible wall, or a mis-set weight before it ever reaches a supplier.</a:t>
            </a:r>
            <a:endParaRPr lang="en-US" sz="1300" dirty="0"/>
          </a:p>
        </p:txBody>
      </p:sp>
      <p:sp>
        <p:nvSpPr>
          <p:cNvPr id="11" name="Shape 9"/>
          <p:cNvSpPr/>
          <p:nvPr/>
        </p:nvSpPr>
        <p:spPr>
          <a:xfrm>
            <a:off x="411480" y="2286000"/>
            <a:ext cx="11384280" cy="640080"/>
          </a:xfrm>
          <a:prstGeom prst="roundRect">
            <a:avLst>
              <a:gd name="adj" fmla="val 14286"/>
            </a:avLst>
          </a:prstGeom>
          <a:solidFill>
            <a:srgbClr val="F1F5F9"/>
          </a:solidFill>
          <a:ln/>
        </p:spPr>
      </p:sp>
      <p:sp>
        <p:nvSpPr>
          <p:cNvPr id="12" name="Shape 10"/>
          <p:cNvSpPr/>
          <p:nvPr/>
        </p:nvSpPr>
        <p:spPr>
          <a:xfrm>
            <a:off x="411480" y="2286000"/>
            <a:ext cx="82296" cy="640080"/>
          </a:xfrm>
          <a:prstGeom prst="rect">
            <a:avLst/>
          </a:prstGeom>
          <a:solidFill>
            <a:srgbClr val="2563EB"/>
          </a:solidFill>
          <a:ln/>
        </p:spPr>
      </p:sp>
      <p:sp>
        <p:nvSpPr>
          <p:cNvPr id="13" name="Text 11"/>
          <p:cNvSpPr/>
          <p:nvPr/>
        </p:nvSpPr>
        <p:spPr>
          <a:xfrm>
            <a:off x="685800" y="2459736"/>
            <a:ext cx="4114800" cy="365760"/>
          </a:xfrm>
          <a:prstGeom prst="rect">
            <a:avLst/>
          </a:prstGeom>
          <a:noFill/>
          <a:ln/>
        </p:spPr>
        <p:txBody>
          <a:bodyPr wrap="square" lIns="0" tIns="0" rIns="0" bIns="0" rtlCol="0" anchor="t"/>
          <a:lstStyle/>
          <a:p>
            <a:pPr indent="0" marL="0">
              <a:buNone/>
            </a:pPr>
            <a:r>
              <a:rPr lang="en-US" sz="1250" b="1" dirty="0">
                <a:solidFill>
                  <a:srgbClr val="2563EB"/>
                </a:solidFill>
                <a:latin typeface="Calibri" pitchFamily="34" charset="0"/>
                <a:ea typeface="Calibri" pitchFamily="34" charset="-122"/>
                <a:cs typeface="Calibri" pitchFamily="34" charset="-120"/>
              </a:rPr>
              <a:t>✓  Machine sized to the part</a:t>
            </a:r>
            <a:endParaRPr lang="en-US" sz="1250" dirty="0"/>
          </a:p>
        </p:txBody>
      </p:sp>
      <p:sp>
        <p:nvSpPr>
          <p:cNvPr id="14" name="Text 12"/>
          <p:cNvSpPr/>
          <p:nvPr/>
        </p:nvSpPr>
        <p:spPr>
          <a:xfrm>
            <a:off x="4846320" y="2459736"/>
            <a:ext cx="6766560" cy="365760"/>
          </a:xfrm>
          <a:prstGeom prst="rect">
            <a:avLst/>
          </a:prstGeom>
          <a:noFill/>
          <a:ln/>
        </p:spPr>
        <p:txBody>
          <a:bodyPr wrap="square" lIns="0" tIns="0" rIns="0" bIns="0" rtlCol="0" anchor="t"/>
          <a:lstStyle/>
          <a:p>
            <a:pPr indent="0" marL="0">
              <a:buNone/>
            </a:pPr>
            <a:r>
              <a:rPr lang="en-US" sz="1150" dirty="0">
                <a:solidFill>
                  <a:srgbClr val="334155"/>
                </a:solidFill>
                <a:latin typeface="Calibri" pitchFamily="34" charset="0"/>
                <a:ea typeface="Calibri" pitchFamily="34" charset="-122"/>
                <a:cs typeface="Calibri" pitchFamily="34" charset="-120"/>
              </a:rPr>
              <a:t>Flags an under-sized press or mould and offers the right one in one click</a:t>
            </a:r>
            <a:endParaRPr lang="en-US" sz="1150" dirty="0"/>
          </a:p>
        </p:txBody>
      </p:sp>
      <p:sp>
        <p:nvSpPr>
          <p:cNvPr id="15" name="Shape 13"/>
          <p:cNvSpPr/>
          <p:nvPr/>
        </p:nvSpPr>
        <p:spPr>
          <a:xfrm>
            <a:off x="411480" y="3035808"/>
            <a:ext cx="11384280" cy="640080"/>
          </a:xfrm>
          <a:prstGeom prst="roundRect">
            <a:avLst>
              <a:gd name="adj" fmla="val 14286"/>
            </a:avLst>
          </a:prstGeom>
          <a:solidFill>
            <a:srgbClr val="FFFFFF"/>
          </a:solidFill>
          <a:ln/>
        </p:spPr>
      </p:sp>
      <p:sp>
        <p:nvSpPr>
          <p:cNvPr id="16" name="Shape 14"/>
          <p:cNvSpPr/>
          <p:nvPr/>
        </p:nvSpPr>
        <p:spPr>
          <a:xfrm>
            <a:off x="411480" y="3035808"/>
            <a:ext cx="82296" cy="640080"/>
          </a:xfrm>
          <a:prstGeom prst="rect">
            <a:avLst/>
          </a:prstGeom>
          <a:solidFill>
            <a:srgbClr val="0891B2"/>
          </a:solidFill>
          <a:ln/>
        </p:spPr>
      </p:sp>
      <p:sp>
        <p:nvSpPr>
          <p:cNvPr id="17" name="Text 15"/>
          <p:cNvSpPr/>
          <p:nvPr/>
        </p:nvSpPr>
        <p:spPr>
          <a:xfrm>
            <a:off x="685800" y="3209544"/>
            <a:ext cx="4114800" cy="365760"/>
          </a:xfrm>
          <a:prstGeom prst="rect">
            <a:avLst/>
          </a:prstGeom>
          <a:noFill/>
          <a:ln/>
        </p:spPr>
        <p:txBody>
          <a:bodyPr wrap="square" lIns="0" tIns="0" rIns="0" bIns="0" rtlCol="0" anchor="t"/>
          <a:lstStyle/>
          <a:p>
            <a:pPr indent="0" marL="0">
              <a:buNone/>
            </a:pPr>
            <a:r>
              <a:rPr lang="en-US" sz="1250" b="1" dirty="0">
                <a:solidFill>
                  <a:srgbClr val="0891B2"/>
                </a:solidFill>
                <a:latin typeface="Calibri" pitchFamily="34" charset="0"/>
                <a:ea typeface="Calibri" pitchFamily="34" charset="-122"/>
                <a:cs typeface="Calibri" pitchFamily="34" charset="-120"/>
              </a:rPr>
              <a:t>✓  Geometry sanity</a:t>
            </a:r>
            <a:endParaRPr lang="en-US" sz="1250" dirty="0"/>
          </a:p>
        </p:txBody>
      </p:sp>
      <p:sp>
        <p:nvSpPr>
          <p:cNvPr id="18" name="Text 16"/>
          <p:cNvSpPr/>
          <p:nvPr/>
        </p:nvSpPr>
        <p:spPr>
          <a:xfrm>
            <a:off x="4846320" y="3209544"/>
            <a:ext cx="6766560" cy="365760"/>
          </a:xfrm>
          <a:prstGeom prst="rect">
            <a:avLst/>
          </a:prstGeom>
          <a:noFill/>
          <a:ln/>
        </p:spPr>
        <p:txBody>
          <a:bodyPr wrap="square" lIns="0" tIns="0" rIns="0" bIns="0" rtlCol="0" anchor="t"/>
          <a:lstStyle/>
          <a:p>
            <a:pPr indent="0" marL="0">
              <a:buNone/>
            </a:pPr>
            <a:r>
              <a:rPr lang="en-US" sz="1150" dirty="0">
                <a:solidFill>
                  <a:srgbClr val="334155"/>
                </a:solidFill>
                <a:latin typeface="Calibri" pitchFamily="34" charset="0"/>
                <a:ea typeface="Calibri" pitchFamily="34" charset="-122"/>
                <a:cs typeface="Calibri" pitchFamily="34" charset="-120"/>
              </a:rPr>
              <a:t>A wall thicker than the part, or a thin hollow shell mis-read as solid — caught</a:t>
            </a:r>
            <a:endParaRPr lang="en-US" sz="1150" dirty="0"/>
          </a:p>
        </p:txBody>
      </p:sp>
      <p:sp>
        <p:nvSpPr>
          <p:cNvPr id="19" name="Shape 17"/>
          <p:cNvSpPr/>
          <p:nvPr/>
        </p:nvSpPr>
        <p:spPr>
          <a:xfrm>
            <a:off x="411480" y="3785616"/>
            <a:ext cx="11384280" cy="640080"/>
          </a:xfrm>
          <a:prstGeom prst="roundRect">
            <a:avLst>
              <a:gd name="adj" fmla="val 14286"/>
            </a:avLst>
          </a:prstGeom>
          <a:solidFill>
            <a:srgbClr val="F1F5F9"/>
          </a:solidFill>
          <a:ln/>
        </p:spPr>
      </p:sp>
      <p:sp>
        <p:nvSpPr>
          <p:cNvPr id="20" name="Shape 18"/>
          <p:cNvSpPr/>
          <p:nvPr/>
        </p:nvSpPr>
        <p:spPr>
          <a:xfrm>
            <a:off x="411480" y="3785616"/>
            <a:ext cx="82296" cy="640080"/>
          </a:xfrm>
          <a:prstGeom prst="rect">
            <a:avLst/>
          </a:prstGeom>
          <a:solidFill>
            <a:srgbClr val="7C3AED"/>
          </a:solidFill>
          <a:ln/>
        </p:spPr>
      </p:sp>
      <p:sp>
        <p:nvSpPr>
          <p:cNvPr id="21" name="Text 19"/>
          <p:cNvSpPr/>
          <p:nvPr/>
        </p:nvSpPr>
        <p:spPr>
          <a:xfrm>
            <a:off x="685800" y="3959352"/>
            <a:ext cx="4114800" cy="365760"/>
          </a:xfrm>
          <a:prstGeom prst="rect">
            <a:avLst/>
          </a:prstGeom>
          <a:noFill/>
          <a:ln/>
        </p:spPr>
        <p:txBody>
          <a:bodyPr wrap="square" lIns="0" tIns="0" rIns="0" bIns="0" rtlCol="0" anchor="t"/>
          <a:lstStyle/>
          <a:p>
            <a:pPr indent="0" marL="0">
              <a:buNone/>
            </a:pPr>
            <a:r>
              <a:rPr lang="en-US" sz="1250" b="1" dirty="0">
                <a:solidFill>
                  <a:srgbClr val="7C3AED"/>
                </a:solidFill>
                <a:latin typeface="Calibri" pitchFamily="34" charset="0"/>
                <a:ea typeface="Calibri" pitchFamily="34" charset="-122"/>
                <a:cs typeface="Calibri" pitchFamily="34" charset="-120"/>
              </a:rPr>
              <a:t>✓  Weight vs. geometry</a:t>
            </a:r>
            <a:endParaRPr lang="en-US" sz="1250" dirty="0"/>
          </a:p>
        </p:txBody>
      </p:sp>
      <p:sp>
        <p:nvSpPr>
          <p:cNvPr id="22" name="Text 20"/>
          <p:cNvSpPr/>
          <p:nvPr/>
        </p:nvSpPr>
        <p:spPr>
          <a:xfrm>
            <a:off x="4846320" y="3959352"/>
            <a:ext cx="6766560" cy="365760"/>
          </a:xfrm>
          <a:prstGeom prst="rect">
            <a:avLst/>
          </a:prstGeom>
          <a:noFill/>
          <a:ln/>
        </p:spPr>
        <p:txBody>
          <a:bodyPr wrap="square" lIns="0" tIns="0" rIns="0" bIns="0" rtlCol="0" anchor="t"/>
          <a:lstStyle/>
          <a:p>
            <a:pPr indent="0" marL="0">
              <a:buNone/>
            </a:pPr>
            <a:r>
              <a:rPr lang="en-US" sz="1150" dirty="0">
                <a:solidFill>
                  <a:srgbClr val="334155"/>
                </a:solidFill>
                <a:latin typeface="Calibri" pitchFamily="34" charset="0"/>
                <a:ea typeface="Calibri" pitchFamily="34" charset="-122"/>
                <a:cs typeface="Calibri" pitchFamily="34" charset="-120"/>
              </a:rPr>
              <a:t>Costed weight must match the measured volume × the chosen material’s density</a:t>
            </a:r>
            <a:endParaRPr lang="en-US" sz="1150" dirty="0"/>
          </a:p>
        </p:txBody>
      </p:sp>
      <p:sp>
        <p:nvSpPr>
          <p:cNvPr id="23" name="Shape 21"/>
          <p:cNvSpPr/>
          <p:nvPr/>
        </p:nvSpPr>
        <p:spPr>
          <a:xfrm>
            <a:off x="411480" y="4535424"/>
            <a:ext cx="11384280" cy="640080"/>
          </a:xfrm>
          <a:prstGeom prst="roundRect">
            <a:avLst>
              <a:gd name="adj" fmla="val 14286"/>
            </a:avLst>
          </a:prstGeom>
          <a:solidFill>
            <a:srgbClr val="FFFFFF"/>
          </a:solidFill>
          <a:ln/>
        </p:spPr>
      </p:sp>
      <p:sp>
        <p:nvSpPr>
          <p:cNvPr id="24" name="Shape 22"/>
          <p:cNvSpPr/>
          <p:nvPr/>
        </p:nvSpPr>
        <p:spPr>
          <a:xfrm>
            <a:off x="411480" y="4535424"/>
            <a:ext cx="82296" cy="640080"/>
          </a:xfrm>
          <a:prstGeom prst="rect">
            <a:avLst/>
          </a:prstGeom>
          <a:solidFill>
            <a:srgbClr val="059669"/>
          </a:solidFill>
          <a:ln/>
        </p:spPr>
      </p:sp>
      <p:sp>
        <p:nvSpPr>
          <p:cNvPr id="25" name="Text 23"/>
          <p:cNvSpPr/>
          <p:nvPr/>
        </p:nvSpPr>
        <p:spPr>
          <a:xfrm>
            <a:off x="685800" y="4709160"/>
            <a:ext cx="4114800" cy="36576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Tooling amortised right</a:t>
            </a:r>
            <a:endParaRPr lang="en-US" sz="1250" dirty="0"/>
          </a:p>
        </p:txBody>
      </p:sp>
      <p:sp>
        <p:nvSpPr>
          <p:cNvPr id="26" name="Text 24"/>
          <p:cNvSpPr/>
          <p:nvPr/>
        </p:nvSpPr>
        <p:spPr>
          <a:xfrm>
            <a:off x="4846320" y="4709160"/>
            <a:ext cx="6766560" cy="365760"/>
          </a:xfrm>
          <a:prstGeom prst="rect">
            <a:avLst/>
          </a:prstGeom>
          <a:noFill/>
          <a:ln/>
        </p:spPr>
        <p:txBody>
          <a:bodyPr wrap="square" lIns="0" tIns="0" rIns="0" bIns="0" rtlCol="0" anchor="t"/>
          <a:lstStyle/>
          <a:p>
            <a:pPr indent="0" marL="0">
              <a:buNone/>
            </a:pPr>
            <a:r>
              <a:rPr lang="en-US" sz="1150" dirty="0">
                <a:solidFill>
                  <a:srgbClr val="334155"/>
                </a:solidFill>
                <a:latin typeface="Calibri" pitchFamily="34" charset="0"/>
                <a:ea typeface="Calibri" pitchFamily="34" charset="-122"/>
                <a:cs typeface="Calibri" pitchFamily="34" charset="-120"/>
              </a:rPr>
              <a:t>Tooling must amortise over the stated annual volume — every commodity, no exceptions</a:t>
            </a:r>
            <a:endParaRPr lang="en-US" sz="1150" dirty="0"/>
          </a:p>
        </p:txBody>
      </p:sp>
      <p:sp>
        <p:nvSpPr>
          <p:cNvPr id="27" name="Shape 25"/>
          <p:cNvSpPr/>
          <p:nvPr/>
        </p:nvSpPr>
        <p:spPr>
          <a:xfrm>
            <a:off x="411480" y="5440680"/>
            <a:ext cx="11384280" cy="868680"/>
          </a:xfrm>
          <a:prstGeom prst="roundRect">
            <a:avLst>
              <a:gd name="adj" fmla="val 8421"/>
            </a:avLst>
          </a:prstGeom>
          <a:solidFill>
            <a:srgbClr val="EFF6FF"/>
          </a:solidFill>
          <a:ln/>
        </p:spPr>
      </p:sp>
      <p:sp>
        <p:nvSpPr>
          <p:cNvPr id="28" name="Text 26"/>
          <p:cNvSpPr/>
          <p:nvPr/>
        </p:nvSpPr>
        <p:spPr>
          <a:xfrm>
            <a:off x="685800" y="5596128"/>
            <a:ext cx="10881360" cy="685800"/>
          </a:xfrm>
          <a:prstGeom prst="rect">
            <a:avLst/>
          </a:prstGeom>
          <a:noFill/>
          <a:ln/>
        </p:spPr>
        <p:txBody>
          <a:bodyPr wrap="square" lIns="0" tIns="0" rIns="0" bIns="0" rtlCol="0" anchor="t"/>
          <a:lstStyle/>
          <a:p>
            <a:pPr indent="0" marL="0">
              <a:lnSpc>
                <a:spcPct val="115000"/>
              </a:lnSpc>
              <a:buNone/>
            </a:pPr>
            <a:r>
              <a:rPr lang="en-US" sz="1250" b="1" dirty="0">
                <a:solidFill>
                  <a:srgbClr val="059669"/>
                </a:solidFill>
                <a:latin typeface="Calibri" pitchFamily="34" charset="0"/>
                <a:ea typeface="Calibri" pitchFamily="34" charset="-122"/>
                <a:cs typeface="Calibri" pitchFamily="34" charset="-120"/>
              </a:rPr>
              <a:t>Live proof:  </a:t>
            </a:r>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we deliberately put a forging on a 2-tonne hand-hammer; the tool flagged it HIGH, named the right 1,600-tonne press, and one click restored it. It re-derives from physics — so it also catches a colleague’s override or a future code regression, not just yesterday’s bug.</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NEW IN 2026 · ADVANCED INTELLIGENCE</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Proven on five real automotive CAD parts</a:t>
            </a:r>
            <a:endParaRPr lang="en-US" sz="2700" dirty="0"/>
          </a:p>
        </p:txBody>
      </p:sp>
      <p:sp>
        <p:nvSpPr>
          <p:cNvPr id="10" name="Text 8"/>
          <p:cNvSpPr/>
          <p:nvPr/>
        </p:nvSpPr>
        <p:spPr>
          <a:xfrm>
            <a:off x="411480" y="1664208"/>
            <a:ext cx="11338560" cy="457200"/>
          </a:xfrm>
          <a:prstGeom prst="rect">
            <a:avLst/>
          </a:prstGeom>
          <a:noFill/>
          <a:ln/>
        </p:spPr>
        <p:txBody>
          <a:bodyPr wrap="square" lIns="0" tIns="0" rIns="0" bIns="0" rtlCol="0" anchor="t"/>
          <a:lstStyle/>
          <a:p>
            <a:pPr indent="0" marL="0">
              <a:buNone/>
            </a:pPr>
            <a:r>
              <a:rPr lang="en-US" sz="1300" dirty="0">
                <a:solidFill>
                  <a:srgbClr val="334155"/>
                </a:solidFill>
                <a:latin typeface="Calibri" pitchFamily="34" charset="0"/>
                <a:ea typeface="Calibri" pitchFamily="34" charset="-122"/>
                <a:cs typeface="Calibri" pitchFamily="34" charset="-120"/>
              </a:rPr>
              <a:t>Five real STEP files, run end-to-end. On each, the tool’s first answer had a specific, explainable error — every one is now fixed and guarded by a test.</a:t>
            </a:r>
            <a:endParaRPr lang="en-US" sz="1300" dirty="0"/>
          </a:p>
        </p:txBody>
      </p:sp>
      <p:sp>
        <p:nvSpPr>
          <p:cNvPr id="11" name="Shape 9"/>
          <p:cNvSpPr/>
          <p:nvPr/>
        </p:nvSpPr>
        <p:spPr>
          <a:xfrm>
            <a:off x="411480" y="2331720"/>
            <a:ext cx="11384280" cy="457200"/>
          </a:xfrm>
          <a:prstGeom prst="rect">
            <a:avLst/>
          </a:prstGeom>
          <a:solidFill>
            <a:srgbClr val="0F172A"/>
          </a:solidFill>
          <a:ln/>
        </p:spPr>
      </p:sp>
      <p:sp>
        <p:nvSpPr>
          <p:cNvPr id="12" name="Text 10"/>
          <p:cNvSpPr/>
          <p:nvPr/>
        </p:nvSpPr>
        <p:spPr>
          <a:xfrm>
            <a:off x="594360" y="2404872"/>
            <a:ext cx="2743200" cy="32004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Part</a:t>
            </a:r>
            <a:endParaRPr lang="en-US" sz="1100" dirty="0"/>
          </a:p>
        </p:txBody>
      </p:sp>
      <p:sp>
        <p:nvSpPr>
          <p:cNvPr id="13" name="Text 11"/>
          <p:cNvSpPr/>
          <p:nvPr/>
        </p:nvSpPr>
        <p:spPr>
          <a:xfrm>
            <a:off x="2971800" y="2404872"/>
            <a:ext cx="2743200" cy="32004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First answer</a:t>
            </a:r>
            <a:endParaRPr lang="en-US" sz="1100" dirty="0"/>
          </a:p>
        </p:txBody>
      </p:sp>
      <p:sp>
        <p:nvSpPr>
          <p:cNvPr id="14" name="Text 12"/>
          <p:cNvSpPr/>
          <p:nvPr/>
        </p:nvSpPr>
        <p:spPr>
          <a:xfrm>
            <a:off x="5623560" y="2404872"/>
            <a:ext cx="2743200" cy="32004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Corrected</a:t>
            </a:r>
            <a:endParaRPr lang="en-US" sz="1100" dirty="0"/>
          </a:p>
        </p:txBody>
      </p:sp>
      <p:sp>
        <p:nvSpPr>
          <p:cNvPr id="15" name="Text 13"/>
          <p:cNvSpPr/>
          <p:nvPr/>
        </p:nvSpPr>
        <p:spPr>
          <a:xfrm>
            <a:off x="7955280" y="2404872"/>
            <a:ext cx="2743200" cy="320040"/>
          </a:xfrm>
          <a:prstGeom prst="rect">
            <a:avLst/>
          </a:prstGeom>
          <a:noFill/>
          <a:ln/>
        </p:spPr>
        <p:txBody>
          <a:bodyPr wrap="square" lIns="0" tIns="0" rIns="0" bIns="0" rtlCol="0" anchor="t"/>
          <a:lstStyle/>
          <a:p>
            <a:pPr indent="0" marL="0">
              <a:buNone/>
            </a:pPr>
            <a:r>
              <a:rPr lang="en-US" sz="1100" b="1" dirty="0">
                <a:solidFill>
                  <a:srgbClr val="FFFFFF"/>
                </a:solidFill>
                <a:latin typeface="Calibri" pitchFamily="34" charset="0"/>
                <a:ea typeface="Calibri" pitchFamily="34" charset="-122"/>
                <a:cs typeface="Calibri" pitchFamily="34" charset="-120"/>
              </a:rPr>
              <a:t>What it caught</a:t>
            </a:r>
            <a:endParaRPr lang="en-US" sz="1100" dirty="0"/>
          </a:p>
        </p:txBody>
      </p:sp>
      <p:sp>
        <p:nvSpPr>
          <p:cNvPr id="16" name="Shape 14"/>
          <p:cNvSpPr/>
          <p:nvPr/>
        </p:nvSpPr>
        <p:spPr>
          <a:xfrm>
            <a:off x="411480" y="2788920"/>
            <a:ext cx="11384280" cy="548640"/>
          </a:xfrm>
          <a:prstGeom prst="rect">
            <a:avLst/>
          </a:prstGeom>
          <a:solidFill>
            <a:srgbClr val="F1F5F9"/>
          </a:solidFill>
          <a:ln/>
        </p:spPr>
      </p:sp>
      <p:sp>
        <p:nvSpPr>
          <p:cNvPr id="17" name="Text 15"/>
          <p:cNvSpPr/>
          <p:nvPr/>
        </p:nvSpPr>
        <p:spPr>
          <a:xfrm>
            <a:off x="594360" y="2926080"/>
            <a:ext cx="2286000" cy="320040"/>
          </a:xfrm>
          <a:prstGeom prst="rect">
            <a:avLst/>
          </a:prstGeom>
          <a:noFill/>
          <a:ln/>
        </p:spPr>
        <p:txBody>
          <a:bodyPr wrap="square" lIns="0" tIns="0" rIns="0" bIns="0" rtlCol="0" anchor="t"/>
          <a:lstStyle/>
          <a:p>
            <a:pPr indent="0" marL="0">
              <a:buNone/>
            </a:pPr>
            <a:r>
              <a:rPr lang="en-US" sz="1200" b="1" dirty="0">
                <a:solidFill>
                  <a:srgbClr val="0F172A"/>
                </a:solidFill>
                <a:latin typeface="Calibri" pitchFamily="34" charset="0"/>
                <a:ea typeface="Calibri" pitchFamily="34" charset="-122"/>
                <a:cs typeface="Calibri" pitchFamily="34" charset="-120"/>
              </a:rPr>
              <a:t>Fuel tank</a:t>
            </a:r>
            <a:endParaRPr lang="en-US" sz="1200" dirty="0"/>
          </a:p>
        </p:txBody>
      </p:sp>
      <p:sp>
        <p:nvSpPr>
          <p:cNvPr id="18" name="Text 16"/>
          <p:cNvSpPr/>
          <p:nvPr/>
        </p:nvSpPr>
        <p:spPr>
          <a:xfrm>
            <a:off x="2971800" y="2926080"/>
            <a:ext cx="2651760" cy="32004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£216.97 sand casting</a:t>
            </a:r>
            <a:endParaRPr lang="en-US" sz="1100" dirty="0"/>
          </a:p>
        </p:txBody>
      </p:sp>
      <p:sp>
        <p:nvSpPr>
          <p:cNvPr id="19" name="Text 17"/>
          <p:cNvSpPr/>
          <p:nvPr/>
        </p:nvSpPr>
        <p:spPr>
          <a:xfrm>
            <a:off x="5623560" y="2926080"/>
            <a:ext cx="2286000" cy="320040"/>
          </a:xfrm>
          <a:prstGeom prst="rect">
            <a:avLst/>
          </a:prstGeom>
          <a:noFill/>
          <a:ln/>
        </p:spPr>
        <p:txBody>
          <a:bodyPr wrap="square" lIns="0" tIns="0" rIns="0" bIns="0" rtlCol="0" anchor="t"/>
          <a:lstStyle/>
          <a:p>
            <a:pPr indent="0" marL="0">
              <a:buNone/>
            </a:pPr>
            <a:r>
              <a:rPr lang="en-US" sz="1150" b="1" dirty="0">
                <a:solidFill>
                  <a:srgbClr val="059669"/>
                </a:solidFill>
                <a:latin typeface="Calibri" pitchFamily="34" charset="0"/>
                <a:ea typeface="Calibri" pitchFamily="34" charset="-122"/>
                <a:cs typeface="Calibri" pitchFamily="34" charset="-120"/>
              </a:rPr>
              <a:t>£24.62 blow-moulded</a:t>
            </a:r>
            <a:endParaRPr lang="en-US" sz="1150" dirty="0"/>
          </a:p>
        </p:txBody>
      </p:sp>
      <p:sp>
        <p:nvSpPr>
          <p:cNvPr id="20" name="Text 18"/>
          <p:cNvSpPr/>
          <p:nvPr/>
        </p:nvSpPr>
        <p:spPr>
          <a:xfrm>
            <a:off x="7955280" y="2926080"/>
            <a:ext cx="4160520" cy="32004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thin hollow shell ≠ a metal casting</a:t>
            </a:r>
            <a:endParaRPr lang="en-US" sz="1050" dirty="0"/>
          </a:p>
        </p:txBody>
      </p:sp>
      <p:sp>
        <p:nvSpPr>
          <p:cNvPr id="21" name="Shape 19"/>
          <p:cNvSpPr/>
          <p:nvPr/>
        </p:nvSpPr>
        <p:spPr>
          <a:xfrm>
            <a:off x="411480" y="3355848"/>
            <a:ext cx="11384280" cy="548640"/>
          </a:xfrm>
          <a:prstGeom prst="rect">
            <a:avLst/>
          </a:prstGeom>
          <a:solidFill>
            <a:srgbClr val="FFFFFF"/>
          </a:solidFill>
          <a:ln/>
        </p:spPr>
      </p:sp>
      <p:sp>
        <p:nvSpPr>
          <p:cNvPr id="22" name="Text 20"/>
          <p:cNvSpPr/>
          <p:nvPr/>
        </p:nvSpPr>
        <p:spPr>
          <a:xfrm>
            <a:off x="594360" y="3493008"/>
            <a:ext cx="2286000" cy="320040"/>
          </a:xfrm>
          <a:prstGeom prst="rect">
            <a:avLst/>
          </a:prstGeom>
          <a:noFill/>
          <a:ln/>
        </p:spPr>
        <p:txBody>
          <a:bodyPr wrap="square" lIns="0" tIns="0" rIns="0" bIns="0" rtlCol="0" anchor="t"/>
          <a:lstStyle/>
          <a:p>
            <a:pPr indent="0" marL="0">
              <a:buNone/>
            </a:pPr>
            <a:r>
              <a:rPr lang="en-US" sz="1200" b="1" dirty="0">
                <a:solidFill>
                  <a:srgbClr val="0F172A"/>
                </a:solidFill>
                <a:latin typeface="Calibri" pitchFamily="34" charset="0"/>
                <a:ea typeface="Calibri" pitchFamily="34" charset="-122"/>
                <a:cs typeface="Calibri" pitchFamily="34" charset="-120"/>
              </a:rPr>
              <a:t>Front bumper</a:t>
            </a:r>
            <a:endParaRPr lang="en-US" sz="1200" dirty="0"/>
          </a:p>
        </p:txBody>
      </p:sp>
      <p:sp>
        <p:nvSpPr>
          <p:cNvPr id="23" name="Text 21"/>
          <p:cNvSpPr/>
          <p:nvPr/>
        </p:nvSpPr>
        <p:spPr>
          <a:xfrm>
            <a:off x="2971800" y="3493008"/>
            <a:ext cx="2651760" cy="32004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£29.18 Al casting</a:t>
            </a:r>
            <a:endParaRPr lang="en-US" sz="1100" dirty="0"/>
          </a:p>
        </p:txBody>
      </p:sp>
      <p:sp>
        <p:nvSpPr>
          <p:cNvPr id="24" name="Text 22"/>
          <p:cNvSpPr/>
          <p:nvPr/>
        </p:nvSpPr>
        <p:spPr>
          <a:xfrm>
            <a:off x="5623560" y="3493008"/>
            <a:ext cx="2286000" cy="320040"/>
          </a:xfrm>
          <a:prstGeom prst="rect">
            <a:avLst/>
          </a:prstGeom>
          <a:noFill/>
          <a:ln/>
        </p:spPr>
        <p:txBody>
          <a:bodyPr wrap="square" lIns="0" tIns="0" rIns="0" bIns="0" rtlCol="0" anchor="t"/>
          <a:lstStyle/>
          <a:p>
            <a:pPr indent="0" marL="0">
              <a:buNone/>
            </a:pPr>
            <a:r>
              <a:rPr lang="en-US" sz="1150" b="1" dirty="0">
                <a:solidFill>
                  <a:srgbClr val="059669"/>
                </a:solidFill>
                <a:latin typeface="Calibri" pitchFamily="34" charset="0"/>
                <a:ea typeface="Calibri" pitchFamily="34" charset="-122"/>
                <a:cs typeface="Calibri" pitchFamily="34" charset="-120"/>
              </a:rPr>
              <a:t>£7.79 injection-moulded</a:t>
            </a:r>
            <a:endParaRPr lang="en-US" sz="1150" dirty="0"/>
          </a:p>
        </p:txBody>
      </p:sp>
      <p:sp>
        <p:nvSpPr>
          <p:cNvPr id="25" name="Text 23"/>
          <p:cNvSpPr/>
          <p:nvPr/>
        </p:nvSpPr>
        <p:spPr>
          <a:xfrm>
            <a:off x="7955280" y="3493008"/>
            <a:ext cx="4160520" cy="32004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plastic mis-read as metal; 27 mm phantom wall</a:t>
            </a:r>
            <a:endParaRPr lang="en-US" sz="1050" dirty="0"/>
          </a:p>
        </p:txBody>
      </p:sp>
      <p:sp>
        <p:nvSpPr>
          <p:cNvPr id="26" name="Shape 24"/>
          <p:cNvSpPr/>
          <p:nvPr/>
        </p:nvSpPr>
        <p:spPr>
          <a:xfrm>
            <a:off x="411480" y="3922776"/>
            <a:ext cx="11384280" cy="548640"/>
          </a:xfrm>
          <a:prstGeom prst="rect">
            <a:avLst/>
          </a:prstGeom>
          <a:solidFill>
            <a:srgbClr val="F1F5F9"/>
          </a:solidFill>
          <a:ln/>
        </p:spPr>
      </p:sp>
      <p:sp>
        <p:nvSpPr>
          <p:cNvPr id="27" name="Text 25"/>
          <p:cNvSpPr/>
          <p:nvPr/>
        </p:nvSpPr>
        <p:spPr>
          <a:xfrm>
            <a:off x="594360" y="4059936"/>
            <a:ext cx="2286000" cy="320040"/>
          </a:xfrm>
          <a:prstGeom prst="rect">
            <a:avLst/>
          </a:prstGeom>
          <a:noFill/>
          <a:ln/>
        </p:spPr>
        <p:txBody>
          <a:bodyPr wrap="square" lIns="0" tIns="0" rIns="0" bIns="0" rtlCol="0" anchor="t"/>
          <a:lstStyle/>
          <a:p>
            <a:pPr indent="0" marL="0">
              <a:buNone/>
            </a:pPr>
            <a:r>
              <a:rPr lang="en-US" sz="1200" b="1" dirty="0">
                <a:solidFill>
                  <a:srgbClr val="0F172A"/>
                </a:solidFill>
                <a:latin typeface="Calibri" pitchFamily="34" charset="0"/>
                <a:ea typeface="Calibri" pitchFamily="34" charset="-122"/>
                <a:cs typeface="Calibri" pitchFamily="34" charset="-120"/>
              </a:rPr>
              <a:t>Servo horn</a:t>
            </a:r>
            <a:endParaRPr lang="en-US" sz="1200" dirty="0"/>
          </a:p>
        </p:txBody>
      </p:sp>
      <p:sp>
        <p:nvSpPr>
          <p:cNvPr id="28" name="Text 26"/>
          <p:cNvSpPr/>
          <p:nvPr/>
        </p:nvSpPr>
        <p:spPr>
          <a:xfrm>
            <a:off x="2971800" y="4059936"/>
            <a:ext cx="2651760" cy="32004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£333 machining card</a:t>
            </a:r>
            <a:endParaRPr lang="en-US" sz="1100" dirty="0"/>
          </a:p>
        </p:txBody>
      </p:sp>
      <p:sp>
        <p:nvSpPr>
          <p:cNvPr id="29" name="Text 27"/>
          <p:cNvSpPr/>
          <p:nvPr/>
        </p:nvSpPr>
        <p:spPr>
          <a:xfrm>
            <a:off x="5623560" y="4059936"/>
            <a:ext cx="2286000" cy="320040"/>
          </a:xfrm>
          <a:prstGeom prst="rect">
            <a:avLst/>
          </a:prstGeom>
          <a:noFill/>
          <a:ln/>
        </p:spPr>
        <p:txBody>
          <a:bodyPr wrap="square" lIns="0" tIns="0" rIns="0" bIns="0" rtlCol="0" anchor="t"/>
          <a:lstStyle/>
          <a:p>
            <a:pPr indent="0" marL="0">
              <a:buNone/>
            </a:pPr>
            <a:r>
              <a:rPr lang="en-US" sz="1150" b="1" dirty="0">
                <a:solidFill>
                  <a:srgbClr val="059669"/>
                </a:solidFill>
                <a:latin typeface="Calibri" pitchFamily="34" charset="0"/>
                <a:ea typeface="Calibri" pitchFamily="34" charset="-122"/>
                <a:cs typeface="Calibri" pitchFamily="34" charset="-120"/>
              </a:rPr>
              <a:t>£6.40</a:t>
            </a:r>
            <a:endParaRPr lang="en-US" sz="1150" dirty="0"/>
          </a:p>
        </p:txBody>
      </p:sp>
      <p:sp>
        <p:nvSpPr>
          <p:cNvPr id="30" name="Text 28"/>
          <p:cNvSpPr/>
          <p:nvPr/>
        </p:nvSpPr>
        <p:spPr>
          <a:xfrm>
            <a:off x="7955280" y="4059936"/>
            <a:ext cx="4160520" cy="32004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266 min of cutting on a 3 g part</a:t>
            </a:r>
            <a:endParaRPr lang="en-US" sz="1050" dirty="0"/>
          </a:p>
        </p:txBody>
      </p:sp>
      <p:sp>
        <p:nvSpPr>
          <p:cNvPr id="31" name="Shape 29"/>
          <p:cNvSpPr/>
          <p:nvPr/>
        </p:nvSpPr>
        <p:spPr>
          <a:xfrm>
            <a:off x="411480" y="4489704"/>
            <a:ext cx="11384280" cy="548640"/>
          </a:xfrm>
          <a:prstGeom prst="rect">
            <a:avLst/>
          </a:prstGeom>
          <a:solidFill>
            <a:srgbClr val="FFFFFF"/>
          </a:solidFill>
          <a:ln/>
        </p:spPr>
      </p:sp>
      <p:sp>
        <p:nvSpPr>
          <p:cNvPr id="32" name="Text 30"/>
          <p:cNvSpPr/>
          <p:nvPr/>
        </p:nvSpPr>
        <p:spPr>
          <a:xfrm>
            <a:off x="594360" y="4626864"/>
            <a:ext cx="2286000" cy="320040"/>
          </a:xfrm>
          <a:prstGeom prst="rect">
            <a:avLst/>
          </a:prstGeom>
          <a:noFill/>
          <a:ln/>
        </p:spPr>
        <p:txBody>
          <a:bodyPr wrap="square" lIns="0" tIns="0" rIns="0" bIns="0" rtlCol="0" anchor="t"/>
          <a:lstStyle/>
          <a:p>
            <a:pPr indent="0" marL="0">
              <a:buNone/>
            </a:pPr>
            <a:r>
              <a:rPr lang="en-US" sz="1200" b="1" dirty="0">
                <a:solidFill>
                  <a:srgbClr val="0F172A"/>
                </a:solidFill>
                <a:latin typeface="Calibri" pitchFamily="34" charset="0"/>
                <a:ea typeface="Calibri" pitchFamily="34" charset="-122"/>
                <a:cs typeface="Calibri" pitchFamily="34" charset="-120"/>
              </a:rPr>
              <a:t>Stub axle</a:t>
            </a:r>
            <a:endParaRPr lang="en-US" sz="1200" dirty="0"/>
          </a:p>
        </p:txBody>
      </p:sp>
      <p:sp>
        <p:nvSpPr>
          <p:cNvPr id="33" name="Text 31"/>
          <p:cNvSpPr/>
          <p:nvPr/>
        </p:nvSpPr>
        <p:spPr>
          <a:xfrm>
            <a:off x="2971800" y="4626864"/>
            <a:ext cx="2651760" cy="32004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wrong — lightest metal</a:t>
            </a:r>
            <a:endParaRPr lang="en-US" sz="1100" dirty="0"/>
          </a:p>
        </p:txBody>
      </p:sp>
      <p:sp>
        <p:nvSpPr>
          <p:cNvPr id="34" name="Text 32"/>
          <p:cNvSpPr/>
          <p:nvPr/>
        </p:nvSpPr>
        <p:spPr>
          <a:xfrm>
            <a:off x="5623560" y="4626864"/>
            <a:ext cx="2286000" cy="320040"/>
          </a:xfrm>
          <a:prstGeom prst="rect">
            <a:avLst/>
          </a:prstGeom>
          <a:noFill/>
          <a:ln/>
        </p:spPr>
        <p:txBody>
          <a:bodyPr wrap="square" lIns="0" tIns="0" rIns="0" bIns="0" rtlCol="0" anchor="t"/>
          <a:lstStyle/>
          <a:p>
            <a:pPr indent="0" marL="0">
              <a:buNone/>
            </a:pPr>
            <a:r>
              <a:rPr lang="en-US" sz="1150" b="1" dirty="0">
                <a:solidFill>
                  <a:srgbClr val="059669"/>
                </a:solidFill>
                <a:latin typeface="Calibri" pitchFamily="34" charset="0"/>
                <a:ea typeface="Calibri" pitchFamily="34" charset="-122"/>
                <a:cs typeface="Calibri" pitchFamily="34" charset="-120"/>
              </a:rPr>
              <a:t>forged steel, 8.1 kg</a:t>
            </a:r>
            <a:endParaRPr lang="en-US" sz="1150" dirty="0"/>
          </a:p>
        </p:txBody>
      </p:sp>
      <p:sp>
        <p:nvSpPr>
          <p:cNvPr id="35" name="Text 33"/>
          <p:cNvSpPr/>
          <p:nvPr/>
        </p:nvSpPr>
        <p:spPr>
          <a:xfrm>
            <a:off x="7955280" y="4626864"/>
            <a:ext cx="4160520" cy="32004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picked the lightest material, not the real one</a:t>
            </a:r>
            <a:endParaRPr lang="en-US" sz="1050" dirty="0"/>
          </a:p>
        </p:txBody>
      </p:sp>
      <p:sp>
        <p:nvSpPr>
          <p:cNvPr id="36" name="Shape 34"/>
          <p:cNvSpPr/>
          <p:nvPr/>
        </p:nvSpPr>
        <p:spPr>
          <a:xfrm>
            <a:off x="411480" y="5056632"/>
            <a:ext cx="11384280" cy="548640"/>
          </a:xfrm>
          <a:prstGeom prst="rect">
            <a:avLst/>
          </a:prstGeom>
          <a:solidFill>
            <a:srgbClr val="F1F5F9"/>
          </a:solidFill>
          <a:ln/>
        </p:spPr>
      </p:sp>
      <p:sp>
        <p:nvSpPr>
          <p:cNvPr id="37" name="Text 35"/>
          <p:cNvSpPr/>
          <p:nvPr/>
        </p:nvSpPr>
        <p:spPr>
          <a:xfrm>
            <a:off x="594360" y="5193792"/>
            <a:ext cx="2286000" cy="320040"/>
          </a:xfrm>
          <a:prstGeom prst="rect">
            <a:avLst/>
          </a:prstGeom>
          <a:noFill/>
          <a:ln/>
        </p:spPr>
        <p:txBody>
          <a:bodyPr wrap="square" lIns="0" tIns="0" rIns="0" bIns="0" rtlCol="0" anchor="t"/>
          <a:lstStyle/>
          <a:p>
            <a:pPr indent="0" marL="0">
              <a:buNone/>
            </a:pPr>
            <a:r>
              <a:rPr lang="en-US" sz="1200" b="1" dirty="0">
                <a:solidFill>
                  <a:srgbClr val="0F172A"/>
                </a:solidFill>
                <a:latin typeface="Calibri" pitchFamily="34" charset="0"/>
                <a:ea typeface="Calibri" pitchFamily="34" charset="-122"/>
                <a:cs typeface="Calibri" pitchFamily="34" charset="-120"/>
              </a:rPr>
              <a:t>Seat cross-member</a:t>
            </a:r>
            <a:endParaRPr lang="en-US" sz="1200" dirty="0"/>
          </a:p>
        </p:txBody>
      </p:sp>
      <p:sp>
        <p:nvSpPr>
          <p:cNvPr id="38" name="Text 36"/>
          <p:cNvSpPr/>
          <p:nvPr/>
        </p:nvSpPr>
        <p:spPr>
          <a:xfrm>
            <a:off x="2971800" y="5193792"/>
            <a:ext cx="2651760" cy="320040"/>
          </a:xfrm>
          <a:prstGeom prst="rect">
            <a:avLst/>
          </a:prstGeom>
          <a:noFill/>
          <a:ln/>
        </p:spPr>
        <p:txBody>
          <a:bodyPr wrap="square" lIns="0" tIns="0" rIns="0" bIns="0" rtlCol="0" anchor="t"/>
          <a:lstStyle/>
          <a:p>
            <a:pPr indent="0" marL="0">
              <a:buNone/>
            </a:pPr>
            <a:r>
              <a:rPr lang="en-US" sz="1100" dirty="0">
                <a:solidFill>
                  <a:srgbClr val="64748B"/>
                </a:solidFill>
                <a:latin typeface="Calibri" pitchFamily="34" charset="0"/>
                <a:ea typeface="Calibri" pitchFamily="34" charset="-122"/>
                <a:cs typeface="Calibri" pitchFamily="34" charset="-120"/>
              </a:rPr>
              <a:t>crash — missing field</a:t>
            </a:r>
            <a:endParaRPr lang="en-US" sz="1100" dirty="0"/>
          </a:p>
        </p:txBody>
      </p:sp>
      <p:sp>
        <p:nvSpPr>
          <p:cNvPr id="39" name="Text 37"/>
          <p:cNvSpPr/>
          <p:nvPr/>
        </p:nvSpPr>
        <p:spPr>
          <a:xfrm>
            <a:off x="5623560" y="5193792"/>
            <a:ext cx="2286000" cy="320040"/>
          </a:xfrm>
          <a:prstGeom prst="rect">
            <a:avLst/>
          </a:prstGeom>
          <a:noFill/>
          <a:ln/>
        </p:spPr>
        <p:txBody>
          <a:bodyPr wrap="square" lIns="0" tIns="0" rIns="0" bIns="0" rtlCol="0" anchor="t"/>
          <a:lstStyle/>
          <a:p>
            <a:pPr indent="0" marL="0">
              <a:buNone/>
            </a:pPr>
            <a:r>
              <a:rPr lang="en-US" sz="1150" b="1" dirty="0">
                <a:solidFill>
                  <a:srgbClr val="059669"/>
                </a:solidFill>
                <a:latin typeface="Calibri" pitchFamily="34" charset="0"/>
                <a:ea typeface="Calibri" pitchFamily="34" charset="-122"/>
                <a:cs typeface="Calibri" pitchFamily="34" charset="-120"/>
              </a:rPr>
              <a:t>£1.11 steel stamping</a:t>
            </a:r>
            <a:endParaRPr lang="en-US" sz="1150" dirty="0"/>
          </a:p>
        </p:txBody>
      </p:sp>
      <p:sp>
        <p:nvSpPr>
          <p:cNvPr id="40" name="Text 38"/>
          <p:cNvSpPr/>
          <p:nvPr/>
        </p:nvSpPr>
        <p:spPr>
          <a:xfrm>
            <a:off x="7955280" y="5193792"/>
            <a:ext cx="4160520" cy="320040"/>
          </a:xfrm>
          <a:prstGeom prst="rect">
            <a:avLst/>
          </a:prstGeom>
          <a:noFill/>
          <a:ln/>
        </p:spPr>
        <p:txBody>
          <a:bodyPr wrap="square" lIns="0" tIns="0" rIns="0" bIns="0" rtlCol="0" anchor="t"/>
          <a:lstStyle/>
          <a:p>
            <a:pPr indent="0" marL="0">
              <a:buNone/>
            </a:pPr>
            <a:r>
              <a:rPr lang="en-US" sz="1050" dirty="0">
                <a:solidFill>
                  <a:srgbClr val="334155"/>
                </a:solidFill>
                <a:latin typeface="Calibri" pitchFamily="34" charset="0"/>
                <a:ea typeface="Calibri" pitchFamily="34" charset="-122"/>
                <a:cs typeface="Calibri" pitchFamily="34" charset="-120"/>
              </a:rPr>
              <a:t>a missing AI field must never break the calc</a:t>
            </a:r>
            <a:endParaRPr lang="en-US" sz="1050" dirty="0"/>
          </a:p>
        </p:txBody>
      </p:sp>
      <p:sp>
        <p:nvSpPr>
          <p:cNvPr id="41" name="Shape 39"/>
          <p:cNvSpPr/>
          <p:nvPr/>
        </p:nvSpPr>
        <p:spPr>
          <a:xfrm>
            <a:off x="411480" y="5715000"/>
            <a:ext cx="11384280" cy="731520"/>
          </a:xfrm>
          <a:prstGeom prst="roundRect">
            <a:avLst>
              <a:gd name="adj" fmla="val 12500"/>
            </a:avLst>
          </a:prstGeom>
          <a:solidFill>
            <a:srgbClr val="EFF6FF"/>
          </a:solidFill>
          <a:ln/>
        </p:spPr>
      </p:sp>
      <p:sp>
        <p:nvSpPr>
          <p:cNvPr id="42" name="Text 40"/>
          <p:cNvSpPr/>
          <p:nvPr/>
        </p:nvSpPr>
        <p:spPr>
          <a:xfrm>
            <a:off x="685800" y="5852160"/>
            <a:ext cx="10881360" cy="502920"/>
          </a:xfrm>
          <a:prstGeom prst="rect">
            <a:avLst/>
          </a:prstGeom>
          <a:noFill/>
          <a:ln/>
        </p:spPr>
        <p:txBody>
          <a:bodyPr wrap="square" lIns="0" tIns="0" rIns="0" bIns="0" rtlCol="0" anchor="t"/>
          <a:lstStyle/>
          <a:p>
            <a:pPr indent="0" marL="0">
              <a:lnSpc>
                <a:spcPct val="110000"/>
              </a:lnSpc>
              <a:buNone/>
            </a:pPr>
            <a:r>
              <a:rPr lang="en-US" sz="1250" b="1" dirty="0">
                <a:solidFill>
                  <a:srgbClr val="2563EB"/>
                </a:solidFill>
                <a:latin typeface="Calibri" pitchFamily="34" charset="0"/>
                <a:ea typeface="Calibri" pitchFamily="34" charset="-122"/>
                <a:cs typeface="Calibri" pitchFamily="34" charset="-120"/>
              </a:rPr>
              <a:t>The point:  </a:t>
            </a:r>
            <a:pPr indent="0" marL="0">
              <a:lnSpc>
                <a:spcPct val="110000"/>
              </a:lnSpc>
              <a:buNone/>
            </a:pPr>
            <a:r>
              <a:rPr lang="en-US" sz="1200" dirty="0">
                <a:solidFill>
                  <a:srgbClr val="334155"/>
                </a:solidFill>
                <a:latin typeface="Calibri" pitchFamily="34" charset="0"/>
                <a:ea typeface="Calibri" pitchFamily="34" charset="-122"/>
                <a:cs typeface="Calibri" pitchFamily="34" charset="-120"/>
              </a:rPr>
              <a:t>geometry is ground truth; the AI only classifies material and process — and when it slips, the guardrails now catch it. Every fix shipped with a test, so the same mistake can’t come back.</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THE DIFFERENTIATOR</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Why ours is different — glass-box autonomy</a:t>
            </a:r>
            <a:endParaRPr lang="en-US" sz="2700" dirty="0"/>
          </a:p>
        </p:txBody>
      </p:sp>
      <p:sp>
        <p:nvSpPr>
          <p:cNvPr id="10" name="Shape 8"/>
          <p:cNvSpPr/>
          <p:nvPr/>
        </p:nvSpPr>
        <p:spPr>
          <a:xfrm>
            <a:off x="411480" y="1828800"/>
            <a:ext cx="11384280" cy="1188720"/>
          </a:xfrm>
          <a:prstGeom prst="roundRect">
            <a:avLst>
              <a:gd name="adj" fmla="val 4615"/>
            </a:avLst>
          </a:prstGeom>
          <a:solidFill>
            <a:srgbClr val="EFF6FF"/>
          </a:solidFill>
          <a:ln/>
        </p:spPr>
      </p:sp>
      <p:sp>
        <p:nvSpPr>
          <p:cNvPr id="11" name="Text 9"/>
          <p:cNvSpPr/>
          <p:nvPr/>
        </p:nvSpPr>
        <p:spPr>
          <a:xfrm>
            <a:off x="685800" y="2011680"/>
            <a:ext cx="10881360" cy="914400"/>
          </a:xfrm>
          <a:prstGeom prst="rect">
            <a:avLst/>
          </a:prstGeom>
          <a:noFill/>
          <a:ln/>
        </p:spPr>
        <p:txBody>
          <a:bodyPr wrap="square" lIns="0" tIns="0" rIns="0" bIns="0" rtlCol="0" anchor="t"/>
          <a:lstStyle/>
          <a:p>
            <a:pPr indent="0" marL="0">
              <a:lnSpc>
                <a:spcPct val="120000"/>
              </a:lnSpc>
              <a:buNone/>
            </a:pPr>
            <a:r>
              <a:rPr lang="en-US" sz="1500" b="1" dirty="0">
                <a:solidFill>
                  <a:srgbClr val="2563EB"/>
                </a:solidFill>
                <a:latin typeface="Calibri" pitchFamily="34" charset="0"/>
                <a:ea typeface="Calibri" pitchFamily="34" charset="-122"/>
                <a:cs typeface="Calibri" pitchFamily="34" charset="-120"/>
              </a:rPr>
              <a:t>The principle:  </a:t>
            </a:r>
            <a:pPr indent="0" marL="0">
              <a:lnSpc>
                <a:spcPct val="120000"/>
              </a:lnSpc>
              <a:buNone/>
            </a:pPr>
            <a:r>
              <a:rPr lang="en-US" sz="1350" dirty="0">
                <a:solidFill>
                  <a:srgbClr val="334155"/>
                </a:solidFill>
                <a:latin typeface="Calibri" pitchFamily="34" charset="0"/>
                <a:ea typeface="Calibri" pitchFamily="34" charset="-122"/>
                <a:cs typeface="Calibri" pitchFamily="34" charset="-120"/>
              </a:rPr>
              <a:t>every learned or derived number stays auditable — a value a cost engineer can read and defend. No black-box weight ever touches the price. The AI narrates and explains; it never decides the number in secret.</a:t>
            </a:r>
            <a:endParaRPr lang="en-US" sz="1500" dirty="0"/>
          </a:p>
        </p:txBody>
      </p:sp>
      <p:sp>
        <p:nvSpPr>
          <p:cNvPr id="12" name="Shape 10"/>
          <p:cNvSpPr/>
          <p:nvPr/>
        </p:nvSpPr>
        <p:spPr>
          <a:xfrm>
            <a:off x="411480" y="3200400"/>
            <a:ext cx="11384280" cy="530352"/>
          </a:xfrm>
          <a:prstGeom prst="roundRect">
            <a:avLst>
              <a:gd name="adj" fmla="val 17241"/>
            </a:avLst>
          </a:prstGeom>
          <a:solidFill>
            <a:srgbClr val="F1F5F9"/>
          </a:solidFill>
          <a:ln/>
        </p:spPr>
      </p:sp>
      <p:sp>
        <p:nvSpPr>
          <p:cNvPr id="13" name="Shape 11"/>
          <p:cNvSpPr/>
          <p:nvPr/>
        </p:nvSpPr>
        <p:spPr>
          <a:xfrm>
            <a:off x="411480" y="3200400"/>
            <a:ext cx="82296" cy="530352"/>
          </a:xfrm>
          <a:prstGeom prst="rect">
            <a:avLst/>
          </a:prstGeom>
          <a:solidFill>
            <a:srgbClr val="059669"/>
          </a:solidFill>
          <a:ln/>
        </p:spPr>
      </p:sp>
      <p:sp>
        <p:nvSpPr>
          <p:cNvPr id="14" name="Text 12"/>
          <p:cNvSpPr/>
          <p:nvPr/>
        </p:nvSpPr>
        <p:spPr>
          <a:xfrm>
            <a:off x="685800" y="3319272"/>
            <a:ext cx="3291840" cy="32004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Continuous learning</a:t>
            </a:r>
            <a:endParaRPr lang="en-US" sz="1250" dirty="0"/>
          </a:p>
        </p:txBody>
      </p:sp>
      <p:sp>
        <p:nvSpPr>
          <p:cNvPr id="15" name="Text 13"/>
          <p:cNvSpPr/>
          <p:nvPr/>
        </p:nvSpPr>
        <p:spPr>
          <a:xfrm>
            <a:off x="4114800" y="3319272"/>
            <a:ext cx="7498080" cy="320040"/>
          </a:xfrm>
          <a:prstGeom prst="rect">
            <a:avLst/>
          </a:prstGeom>
          <a:noFill/>
          <a:ln/>
        </p:spPr>
        <p:txBody>
          <a:bodyPr wrap="square" lIns="0" tIns="0" rIns="0" bIns="0" rtlCol="0" anchor="t"/>
          <a:lstStyle/>
          <a:p>
            <a:pPr indent="0" marL="0">
              <a:buNone/>
            </a:pPr>
            <a:r>
              <a:rPr lang="en-US" sz="1200" dirty="0">
                <a:solidFill>
                  <a:srgbClr val="334155"/>
                </a:solidFill>
                <a:latin typeface="Calibri" pitchFamily="34" charset="0"/>
                <a:ea typeface="Calibri" pitchFamily="34" charset="-122"/>
                <a:cs typeface="Calibri" pitchFamily="34" charset="-120"/>
              </a:rPr>
              <a:t>Calibrates on YOUR quotes; conformal band with a guarantee</a:t>
            </a:r>
            <a:endParaRPr lang="en-US" sz="1200" dirty="0"/>
          </a:p>
        </p:txBody>
      </p:sp>
      <p:sp>
        <p:nvSpPr>
          <p:cNvPr id="16" name="Shape 14"/>
          <p:cNvSpPr/>
          <p:nvPr/>
        </p:nvSpPr>
        <p:spPr>
          <a:xfrm>
            <a:off x="411480" y="3803904"/>
            <a:ext cx="11384280" cy="530352"/>
          </a:xfrm>
          <a:prstGeom prst="roundRect">
            <a:avLst>
              <a:gd name="adj" fmla="val 17241"/>
            </a:avLst>
          </a:prstGeom>
          <a:solidFill>
            <a:srgbClr val="FFFFFF"/>
          </a:solidFill>
          <a:ln/>
        </p:spPr>
      </p:sp>
      <p:sp>
        <p:nvSpPr>
          <p:cNvPr id="17" name="Shape 15"/>
          <p:cNvSpPr/>
          <p:nvPr/>
        </p:nvSpPr>
        <p:spPr>
          <a:xfrm>
            <a:off x="411480" y="3803904"/>
            <a:ext cx="82296" cy="530352"/>
          </a:xfrm>
          <a:prstGeom prst="rect">
            <a:avLst/>
          </a:prstGeom>
          <a:solidFill>
            <a:srgbClr val="059669"/>
          </a:solidFill>
          <a:ln/>
        </p:spPr>
      </p:sp>
      <p:sp>
        <p:nvSpPr>
          <p:cNvPr id="18" name="Text 16"/>
          <p:cNvSpPr/>
          <p:nvPr/>
        </p:nvSpPr>
        <p:spPr>
          <a:xfrm>
            <a:off x="685800" y="3922776"/>
            <a:ext cx="3291840" cy="32004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Autonomous action</a:t>
            </a:r>
            <a:endParaRPr lang="en-US" sz="1250" dirty="0"/>
          </a:p>
        </p:txBody>
      </p:sp>
      <p:sp>
        <p:nvSpPr>
          <p:cNvPr id="19" name="Text 17"/>
          <p:cNvSpPr/>
          <p:nvPr/>
        </p:nvSpPr>
        <p:spPr>
          <a:xfrm>
            <a:off x="4114800" y="3922776"/>
            <a:ext cx="7498080" cy="320040"/>
          </a:xfrm>
          <a:prstGeom prst="rect">
            <a:avLst/>
          </a:prstGeom>
          <a:noFill/>
          <a:ln/>
        </p:spPr>
        <p:txBody>
          <a:bodyPr wrap="square" lIns="0" tIns="0" rIns="0" bIns="0" rtlCol="0" anchor="t"/>
          <a:lstStyle/>
          <a:p>
            <a:pPr indent="0" marL="0">
              <a:buNone/>
            </a:pPr>
            <a:r>
              <a:rPr lang="en-US" sz="1200" dirty="0">
                <a:solidFill>
                  <a:srgbClr val="334155"/>
                </a:solidFill>
                <a:latin typeface="Calibri" pitchFamily="34" charset="0"/>
                <a:ea typeface="Calibri" pitchFamily="34" charset="-122"/>
                <a:cs typeface="Calibri" pitchFamily="34" charset="-120"/>
              </a:rPr>
              <a:t>Agent opens findings unattended AND learns which convert</a:t>
            </a:r>
            <a:endParaRPr lang="en-US" sz="1200" dirty="0"/>
          </a:p>
        </p:txBody>
      </p:sp>
      <p:sp>
        <p:nvSpPr>
          <p:cNvPr id="20" name="Shape 18"/>
          <p:cNvSpPr/>
          <p:nvPr/>
        </p:nvSpPr>
        <p:spPr>
          <a:xfrm>
            <a:off x="411480" y="4407408"/>
            <a:ext cx="11384280" cy="530352"/>
          </a:xfrm>
          <a:prstGeom prst="roundRect">
            <a:avLst>
              <a:gd name="adj" fmla="val 17241"/>
            </a:avLst>
          </a:prstGeom>
          <a:solidFill>
            <a:srgbClr val="F1F5F9"/>
          </a:solidFill>
          <a:ln/>
        </p:spPr>
      </p:sp>
      <p:sp>
        <p:nvSpPr>
          <p:cNvPr id="21" name="Shape 19"/>
          <p:cNvSpPr/>
          <p:nvPr/>
        </p:nvSpPr>
        <p:spPr>
          <a:xfrm>
            <a:off x="411480" y="4407408"/>
            <a:ext cx="82296" cy="530352"/>
          </a:xfrm>
          <a:prstGeom prst="rect">
            <a:avLst/>
          </a:prstGeom>
          <a:solidFill>
            <a:srgbClr val="059669"/>
          </a:solidFill>
          <a:ln/>
        </p:spPr>
      </p:sp>
      <p:sp>
        <p:nvSpPr>
          <p:cNvPr id="22" name="Text 20"/>
          <p:cNvSpPr/>
          <p:nvPr/>
        </p:nvSpPr>
        <p:spPr>
          <a:xfrm>
            <a:off x="685800" y="4526280"/>
            <a:ext cx="3291840" cy="32004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Causal reasoning</a:t>
            </a:r>
            <a:endParaRPr lang="en-US" sz="1250" dirty="0"/>
          </a:p>
        </p:txBody>
      </p:sp>
      <p:sp>
        <p:nvSpPr>
          <p:cNvPr id="23" name="Text 21"/>
          <p:cNvSpPr/>
          <p:nvPr/>
        </p:nvSpPr>
        <p:spPr>
          <a:xfrm>
            <a:off x="4114800" y="4526280"/>
            <a:ext cx="7498080" cy="320040"/>
          </a:xfrm>
          <a:prstGeom prst="rect">
            <a:avLst/>
          </a:prstGeom>
          <a:noFill/>
          <a:ln/>
        </p:spPr>
        <p:txBody>
          <a:bodyPr wrap="square" lIns="0" tIns="0" rIns="0" bIns="0" rtlCol="0" anchor="t"/>
          <a:lstStyle/>
          <a:p>
            <a:pPr indent="0" marL="0">
              <a:buNone/>
            </a:pPr>
            <a:r>
              <a:rPr lang="en-US" sz="1200" dirty="0">
                <a:solidFill>
                  <a:srgbClr val="334155"/>
                </a:solidFill>
                <a:latin typeface="Calibri" pitchFamily="34" charset="0"/>
                <a:ea typeface="Calibri" pitchFamily="34" charset="-122"/>
                <a:cs typeface="Calibri" pitchFamily="34" charset="-120"/>
              </a:rPr>
              <a:t>Knows why a part costs what it does; coaches the negotiation</a:t>
            </a:r>
            <a:endParaRPr lang="en-US" sz="1200" dirty="0"/>
          </a:p>
        </p:txBody>
      </p:sp>
      <p:sp>
        <p:nvSpPr>
          <p:cNvPr id="24" name="Shape 22"/>
          <p:cNvSpPr/>
          <p:nvPr/>
        </p:nvSpPr>
        <p:spPr>
          <a:xfrm>
            <a:off x="411480" y="5010912"/>
            <a:ext cx="11384280" cy="530352"/>
          </a:xfrm>
          <a:prstGeom prst="roundRect">
            <a:avLst>
              <a:gd name="adj" fmla="val 17241"/>
            </a:avLst>
          </a:prstGeom>
          <a:solidFill>
            <a:srgbClr val="FFFFFF"/>
          </a:solidFill>
          <a:ln/>
        </p:spPr>
      </p:sp>
      <p:sp>
        <p:nvSpPr>
          <p:cNvPr id="25" name="Shape 23"/>
          <p:cNvSpPr/>
          <p:nvPr/>
        </p:nvSpPr>
        <p:spPr>
          <a:xfrm>
            <a:off x="411480" y="5010912"/>
            <a:ext cx="82296" cy="530352"/>
          </a:xfrm>
          <a:prstGeom prst="rect">
            <a:avLst/>
          </a:prstGeom>
          <a:solidFill>
            <a:srgbClr val="2563EB"/>
          </a:solidFill>
          <a:ln/>
        </p:spPr>
      </p:sp>
      <p:sp>
        <p:nvSpPr>
          <p:cNvPr id="26" name="Text 24"/>
          <p:cNvSpPr/>
          <p:nvPr/>
        </p:nvSpPr>
        <p:spPr>
          <a:xfrm>
            <a:off x="685800" y="5129784"/>
            <a:ext cx="3291840" cy="320040"/>
          </a:xfrm>
          <a:prstGeom prst="rect">
            <a:avLst/>
          </a:prstGeom>
          <a:noFill/>
          <a:ln/>
        </p:spPr>
        <p:txBody>
          <a:bodyPr wrap="square" lIns="0" tIns="0" rIns="0" bIns="0" rtlCol="0" anchor="t"/>
          <a:lstStyle/>
          <a:p>
            <a:pPr indent="0" marL="0">
              <a:buNone/>
            </a:pPr>
            <a:r>
              <a:rPr lang="en-US" sz="1250" b="1" dirty="0">
                <a:solidFill>
                  <a:srgbClr val="2563EB"/>
                </a:solidFill>
                <a:latin typeface="Calibri" pitchFamily="34" charset="0"/>
                <a:ea typeface="Calibri" pitchFamily="34" charset="-122"/>
                <a:cs typeface="Calibri" pitchFamily="34" charset="-120"/>
              </a:rPr>
              <a:t>Explainable — always</a:t>
            </a:r>
            <a:endParaRPr lang="en-US" sz="1250" dirty="0"/>
          </a:p>
        </p:txBody>
      </p:sp>
      <p:sp>
        <p:nvSpPr>
          <p:cNvPr id="27" name="Text 25"/>
          <p:cNvSpPr/>
          <p:nvPr/>
        </p:nvSpPr>
        <p:spPr>
          <a:xfrm>
            <a:off x="4114800" y="5129784"/>
            <a:ext cx="7498080" cy="320040"/>
          </a:xfrm>
          <a:prstGeom prst="rect">
            <a:avLst/>
          </a:prstGeom>
          <a:noFill/>
          <a:ln/>
        </p:spPr>
        <p:txBody>
          <a:bodyPr wrap="square" lIns="0" tIns="0" rIns="0" bIns="0" rtlCol="0" anchor="t"/>
          <a:lstStyle/>
          <a:p>
            <a:pPr indent="0" marL="0">
              <a:buNone/>
            </a:pPr>
            <a:r>
              <a:rPr lang="en-US" sz="1200" dirty="0">
                <a:solidFill>
                  <a:srgbClr val="334155"/>
                </a:solidFill>
                <a:latin typeface="Calibri" pitchFamily="34" charset="0"/>
                <a:ea typeface="Calibri" pitchFamily="34" charset="-122"/>
                <a:cs typeface="Calibri" pitchFamily="34" charset="-120"/>
              </a:rPr>
              <a:t>Every number defensible line-by-line; the competitor’s edge is the opposite</a:t>
            </a:r>
            <a:endParaRPr lang="en-US" sz="1200" dirty="0"/>
          </a:p>
        </p:txBody>
      </p:sp>
      <p:sp>
        <p:nvSpPr>
          <p:cNvPr id="28" name="Shape 26"/>
          <p:cNvSpPr/>
          <p:nvPr/>
        </p:nvSpPr>
        <p:spPr>
          <a:xfrm>
            <a:off x="411480" y="5614416"/>
            <a:ext cx="11384280" cy="530352"/>
          </a:xfrm>
          <a:prstGeom prst="roundRect">
            <a:avLst>
              <a:gd name="adj" fmla="val 17241"/>
            </a:avLst>
          </a:prstGeom>
          <a:solidFill>
            <a:srgbClr val="F1F5F9"/>
          </a:solidFill>
          <a:ln/>
        </p:spPr>
      </p:sp>
      <p:sp>
        <p:nvSpPr>
          <p:cNvPr id="29" name="Shape 27"/>
          <p:cNvSpPr/>
          <p:nvPr/>
        </p:nvSpPr>
        <p:spPr>
          <a:xfrm>
            <a:off x="411480" y="5614416"/>
            <a:ext cx="82296" cy="530352"/>
          </a:xfrm>
          <a:prstGeom prst="rect">
            <a:avLst/>
          </a:prstGeom>
          <a:solidFill>
            <a:srgbClr val="7C3AED"/>
          </a:solidFill>
          <a:ln/>
        </p:spPr>
      </p:sp>
      <p:sp>
        <p:nvSpPr>
          <p:cNvPr id="30" name="Text 28"/>
          <p:cNvSpPr/>
          <p:nvPr/>
        </p:nvSpPr>
        <p:spPr>
          <a:xfrm>
            <a:off x="685800" y="5733288"/>
            <a:ext cx="3291840" cy="320040"/>
          </a:xfrm>
          <a:prstGeom prst="rect">
            <a:avLst/>
          </a:prstGeom>
          <a:noFill/>
          <a:ln/>
        </p:spPr>
        <p:txBody>
          <a:bodyPr wrap="square" lIns="0" tIns="0" rIns="0" bIns="0" rtlCol="0" anchor="t"/>
          <a:lstStyle/>
          <a:p>
            <a:pPr indent="0" marL="0">
              <a:buNone/>
            </a:pPr>
            <a:r>
              <a:rPr lang="en-US" sz="1250" b="1" dirty="0">
                <a:solidFill>
                  <a:srgbClr val="7C3AED"/>
                </a:solidFill>
                <a:latin typeface="Calibri" pitchFamily="34" charset="0"/>
                <a:ea typeface="Calibri" pitchFamily="34" charset="-122"/>
                <a:cs typeface="Calibri" pitchFamily="34" charset="-120"/>
              </a:rPr>
              <a:t>Runs in your walls</a:t>
            </a:r>
            <a:endParaRPr lang="en-US" sz="1250" dirty="0"/>
          </a:p>
        </p:txBody>
      </p:sp>
      <p:sp>
        <p:nvSpPr>
          <p:cNvPr id="31" name="Text 29"/>
          <p:cNvSpPr/>
          <p:nvPr/>
        </p:nvSpPr>
        <p:spPr>
          <a:xfrm>
            <a:off x="4114800" y="5733288"/>
            <a:ext cx="7498080" cy="320040"/>
          </a:xfrm>
          <a:prstGeom prst="rect">
            <a:avLst/>
          </a:prstGeom>
          <a:noFill/>
          <a:ln/>
        </p:spPr>
        <p:txBody>
          <a:bodyPr wrap="square" lIns="0" tIns="0" rIns="0" bIns="0" rtlCol="0" anchor="t"/>
          <a:lstStyle/>
          <a:p>
            <a:pPr indent="0" marL="0">
              <a:buNone/>
            </a:pPr>
            <a:r>
              <a:rPr lang="en-US" sz="1200" dirty="0">
                <a:solidFill>
                  <a:srgbClr val="334155"/>
                </a:solidFill>
                <a:latin typeface="Calibri" pitchFamily="34" charset="0"/>
                <a:ea typeface="Calibri" pitchFamily="34" charset="-122"/>
                <a:cs typeface="Calibri" pitchFamily="34" charset="-120"/>
              </a:rPr>
              <a:t>On-premise; the knowledge is your IP and never leaves</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FFFFF"/>
          </a:solidFill>
          <a:ln/>
        </p:spPr>
      </p:sp>
      <p:sp>
        <p:nvSpPr>
          <p:cNvPr id="3" name="Shape 1"/>
          <p:cNvSpPr/>
          <p:nvPr/>
        </p:nvSpPr>
        <p:spPr>
          <a:xfrm>
            <a:off x="320040" y="201168"/>
            <a:ext cx="384048" cy="384048"/>
          </a:xfrm>
          <a:prstGeom prst="roundRect">
            <a:avLst>
              <a:gd name="adj" fmla="val 23810"/>
            </a:avLst>
          </a:prstGeom>
          <a:solidFill>
            <a:srgbClr val="4F46E5"/>
          </a:solidFill>
          <a:ln/>
        </p:spPr>
      </p:sp>
      <p:sp>
        <p:nvSpPr>
          <p:cNvPr id="4" name="Text 2"/>
          <p:cNvSpPr/>
          <p:nvPr/>
        </p:nvSpPr>
        <p:spPr>
          <a:xfrm>
            <a:off x="320040" y="201168"/>
            <a:ext cx="384048" cy="38404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cv</a:t>
            </a:r>
            <a:endParaRPr lang="en-US" sz="1700" dirty="0"/>
          </a:p>
        </p:txBody>
      </p:sp>
      <p:sp>
        <p:nvSpPr>
          <p:cNvPr id="5" name="Text 3"/>
          <p:cNvSpPr/>
          <p:nvPr/>
        </p:nvSpPr>
        <p:spPr>
          <a:xfrm>
            <a:off x="795528" y="173736"/>
            <a:ext cx="2743200" cy="292608"/>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CostVision</a:t>
            </a:r>
            <a:endParaRPr lang="en-US" sz="1800" dirty="0"/>
          </a:p>
        </p:txBody>
      </p:sp>
      <p:sp>
        <p:nvSpPr>
          <p:cNvPr id="6" name="Text 4"/>
          <p:cNvSpPr/>
          <p:nvPr/>
        </p:nvSpPr>
        <p:spPr>
          <a:xfrm>
            <a:off x="795528" y="420624"/>
            <a:ext cx="2926080" cy="201168"/>
          </a:xfrm>
          <a:prstGeom prst="rect">
            <a:avLst/>
          </a:prstGeom>
          <a:noFill/>
          <a:ln/>
        </p:spPr>
        <p:txBody>
          <a:bodyPr wrap="square" lIns="0" tIns="0" rIns="0" bIns="0" rtlCol="0" anchor="t"/>
          <a:lstStyle/>
          <a:p>
            <a:pPr indent="0" marL="0">
              <a:buNone/>
            </a:pPr>
            <a:r>
              <a:rPr lang="en-US" sz="750" spc="100" kern="0" dirty="0">
                <a:solidFill>
                  <a:srgbClr val="64748B"/>
                </a:solidFill>
                <a:latin typeface="Calibri" pitchFamily="34" charset="0"/>
                <a:ea typeface="Calibri" pitchFamily="34" charset="-122"/>
                <a:cs typeface="Calibri" pitchFamily="34" charset="-120"/>
              </a:rPr>
              <a:t>AI  COST  INTELLIGENCE</a:t>
            </a:r>
            <a:endParaRPr lang="en-US" sz="750" dirty="0"/>
          </a:p>
        </p:txBody>
      </p:sp>
      <p:sp>
        <p:nvSpPr>
          <p:cNvPr id="7" name="Shape 5"/>
          <p:cNvSpPr/>
          <p:nvPr/>
        </p:nvSpPr>
        <p:spPr>
          <a:xfrm>
            <a:off x="0" y="713232"/>
            <a:ext cx="12191695" cy="27432"/>
          </a:xfrm>
          <a:prstGeom prst="rect">
            <a:avLst/>
          </a:prstGeom>
          <a:solidFill>
            <a:srgbClr val="4F46E5"/>
          </a:solidFill>
          <a:ln/>
        </p:spPr>
      </p:sp>
      <p:sp>
        <p:nvSpPr>
          <p:cNvPr id="8" name="Text 6"/>
          <p:cNvSpPr/>
          <p:nvPr/>
        </p:nvSpPr>
        <p:spPr>
          <a:xfrm>
            <a:off x="411480" y="868680"/>
            <a:ext cx="10515600" cy="274320"/>
          </a:xfrm>
          <a:prstGeom prst="rect">
            <a:avLst/>
          </a:prstGeom>
          <a:noFill/>
          <a:ln/>
        </p:spPr>
        <p:txBody>
          <a:bodyPr wrap="square" lIns="0" tIns="0" rIns="0" bIns="0" rtlCol="0" anchor="t"/>
          <a:lstStyle/>
          <a:p>
            <a:pPr indent="0" marL="0">
              <a:buNone/>
            </a:pPr>
            <a:r>
              <a:rPr lang="en-US" sz="1100" b="1" spc="50" kern="0" dirty="0">
                <a:solidFill>
                  <a:srgbClr val="2563EB"/>
                </a:solidFill>
                <a:latin typeface="Calibri" pitchFamily="34" charset="0"/>
                <a:ea typeface="Calibri" pitchFamily="34" charset="-122"/>
                <a:cs typeface="Calibri" pitchFamily="34" charset="-120"/>
              </a:rPr>
              <a:t>NEXT STEPS</a:t>
            </a:r>
            <a:endParaRPr lang="en-US" sz="1100" dirty="0"/>
          </a:p>
        </p:txBody>
      </p:sp>
      <p:sp>
        <p:nvSpPr>
          <p:cNvPr id="9" name="Text 7"/>
          <p:cNvSpPr/>
          <p:nvPr/>
        </p:nvSpPr>
        <p:spPr>
          <a:xfrm>
            <a:off x="411480" y="1115568"/>
            <a:ext cx="11338560" cy="548640"/>
          </a:xfrm>
          <a:prstGeom prst="rect">
            <a:avLst/>
          </a:prstGeom>
          <a:noFill/>
          <a:ln/>
        </p:spPr>
        <p:txBody>
          <a:bodyPr wrap="square" lIns="0" tIns="0" rIns="0" bIns="0" rtlCol="0" anchor="t"/>
          <a:lstStyle/>
          <a:p>
            <a:pPr indent="0" marL="0">
              <a:buNone/>
            </a:pPr>
            <a:r>
              <a:rPr lang="en-US" sz="2700" b="1" dirty="0">
                <a:solidFill>
                  <a:srgbClr val="0F172A"/>
                </a:solidFill>
                <a:latin typeface="Calibri" pitchFamily="34" charset="0"/>
                <a:ea typeface="Calibri" pitchFamily="34" charset="-122"/>
                <a:cs typeface="Calibri" pitchFamily="34" charset="-120"/>
              </a:rPr>
              <a:t>Where we are, and the ask</a:t>
            </a:r>
            <a:endParaRPr lang="en-US" sz="2700" dirty="0"/>
          </a:p>
        </p:txBody>
      </p:sp>
      <p:sp>
        <p:nvSpPr>
          <p:cNvPr id="10" name="Shape 8"/>
          <p:cNvSpPr/>
          <p:nvPr/>
        </p:nvSpPr>
        <p:spPr>
          <a:xfrm>
            <a:off x="411480" y="1828800"/>
            <a:ext cx="5486400" cy="4023360"/>
          </a:xfrm>
          <a:prstGeom prst="roundRect">
            <a:avLst>
              <a:gd name="adj" fmla="val 1136"/>
            </a:avLst>
          </a:prstGeom>
          <a:solidFill>
            <a:srgbClr val="F1F5F9"/>
          </a:solidFill>
          <a:ln/>
        </p:spPr>
      </p:sp>
      <p:sp>
        <p:nvSpPr>
          <p:cNvPr id="11" name="Text 9"/>
          <p:cNvSpPr/>
          <p:nvPr/>
        </p:nvSpPr>
        <p:spPr>
          <a:xfrm>
            <a:off x="685800" y="2057400"/>
            <a:ext cx="4937760" cy="365760"/>
          </a:xfrm>
          <a:prstGeom prst="rect">
            <a:avLst/>
          </a:prstGeom>
          <a:noFill/>
          <a:ln/>
        </p:spPr>
        <p:txBody>
          <a:bodyPr wrap="square" lIns="0" tIns="0" rIns="0" bIns="0" rtlCol="0" anchor="t"/>
          <a:lstStyle/>
          <a:p>
            <a:pPr indent="0" marL="0">
              <a:buNone/>
            </a:pPr>
            <a:r>
              <a:rPr lang="en-US" sz="1600" b="1" dirty="0">
                <a:solidFill>
                  <a:srgbClr val="059669"/>
                </a:solidFill>
                <a:latin typeface="Calibri" pitchFamily="34" charset="0"/>
                <a:ea typeface="Calibri" pitchFamily="34" charset="-122"/>
                <a:cs typeface="Calibri" pitchFamily="34" charset="-120"/>
              </a:rPr>
              <a:t>Status today</a:t>
            </a:r>
            <a:endParaRPr lang="en-US" sz="1600" dirty="0"/>
          </a:p>
        </p:txBody>
      </p:sp>
      <p:sp>
        <p:nvSpPr>
          <p:cNvPr id="12" name="Text 10"/>
          <p:cNvSpPr/>
          <p:nvPr/>
        </p:nvSpPr>
        <p:spPr>
          <a:xfrm>
            <a:off x="685800" y="2560320"/>
            <a:ext cx="493776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All capabilities built, tested (1,005 tests) and live — incl. 8 new for 2026</a:t>
            </a:r>
            <a:endParaRPr lang="en-US" sz="1250" dirty="0"/>
          </a:p>
        </p:txBody>
      </p:sp>
      <p:sp>
        <p:nvSpPr>
          <p:cNvPr id="13" name="Text 11"/>
          <p:cNvSpPr/>
          <p:nvPr/>
        </p:nvSpPr>
        <p:spPr>
          <a:xfrm>
            <a:off x="685800" y="3063240"/>
            <a:ext cx="493776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Verified end-to-end; ships as a container (CAD engine included), CI build-tested</a:t>
            </a:r>
            <a:endParaRPr lang="en-US" sz="1250" dirty="0"/>
          </a:p>
        </p:txBody>
      </p:sp>
      <p:sp>
        <p:nvSpPr>
          <p:cNvPr id="14" name="Text 12"/>
          <p:cNvSpPr/>
          <p:nvPr/>
        </p:nvSpPr>
        <p:spPr>
          <a:xfrm>
            <a:off x="685800" y="3566160"/>
            <a:ext cx="493776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Zero extra licence cost — built into our tool</a:t>
            </a:r>
            <a:endParaRPr lang="en-US" sz="1250" dirty="0"/>
          </a:p>
        </p:txBody>
      </p:sp>
      <p:sp>
        <p:nvSpPr>
          <p:cNvPr id="15" name="Text 13"/>
          <p:cNvSpPr/>
          <p:nvPr/>
        </p:nvSpPr>
        <p:spPr>
          <a:xfrm>
            <a:off x="685800" y="4069080"/>
            <a:ext cx="4937760" cy="457200"/>
          </a:xfrm>
          <a:prstGeom prst="rect">
            <a:avLst/>
          </a:prstGeom>
          <a:noFill/>
          <a:ln/>
        </p:spPr>
        <p:txBody>
          <a:bodyPr wrap="square" lIns="0" tIns="0" rIns="0" bIns="0" rtlCol="0" anchor="t"/>
          <a:lstStyle/>
          <a:p>
            <a:pPr indent="0" marL="0">
              <a:buNone/>
            </a:pPr>
            <a:r>
              <a:rPr lang="en-US" sz="1250" b="1" dirty="0">
                <a:solidFill>
                  <a:srgbClr val="059669"/>
                </a:solidFill>
                <a:latin typeface="Calibri" pitchFamily="34" charset="0"/>
                <a:ea typeface="Calibri" pitchFamily="34" charset="-122"/>
                <a:cs typeface="Calibri" pitchFamily="34" charset="-120"/>
              </a:rPr>
              <a:t>✓  </a:t>
            </a:r>
            <a:pPr indent="0" marL="0">
              <a:buNone/>
            </a:pPr>
            <a:r>
              <a:rPr lang="en-US" sz="1250" dirty="0">
                <a:solidFill>
                  <a:srgbClr val="334155"/>
                </a:solidFill>
                <a:latin typeface="Calibri" pitchFamily="34" charset="0"/>
                <a:ea typeface="Calibri" pitchFamily="34" charset="-122"/>
                <a:cs typeface="Calibri" pitchFamily="34" charset="-120"/>
              </a:rPr>
              <a:t>Runs on-premise; no data leaves the company</a:t>
            </a:r>
            <a:endParaRPr lang="en-US" sz="1250" dirty="0"/>
          </a:p>
        </p:txBody>
      </p:sp>
      <p:sp>
        <p:nvSpPr>
          <p:cNvPr id="16" name="Text 14"/>
          <p:cNvSpPr/>
          <p:nvPr/>
        </p:nvSpPr>
        <p:spPr>
          <a:xfrm>
            <a:off x="685800" y="4709160"/>
            <a:ext cx="4937760" cy="1005840"/>
          </a:xfrm>
          <a:prstGeom prst="rect">
            <a:avLst/>
          </a:prstGeom>
          <a:noFill/>
          <a:ln/>
        </p:spPr>
        <p:txBody>
          <a:bodyPr wrap="square" lIns="0" tIns="0" rIns="0" bIns="0" rtlCol="0" anchor="t"/>
          <a:lstStyle/>
          <a:p>
            <a:pPr indent="0" marL="0">
              <a:lnSpc>
                <a:spcPct val="115000"/>
              </a:lnSpc>
              <a:buNone/>
            </a:pPr>
            <a:r>
              <a:rPr lang="en-US" sz="1200" b="1" dirty="0">
                <a:solidFill>
                  <a:srgbClr val="0F172A"/>
                </a:solidFill>
                <a:latin typeface="Calibri" pitchFamily="34" charset="0"/>
                <a:ea typeface="Calibri" pitchFamily="34" charset="-122"/>
                <a:cs typeface="Calibri" pitchFamily="34" charset="-120"/>
              </a:rPr>
              <a:t>Honest note: </a:t>
            </a:r>
            <a:pPr indent="0" marL="0">
              <a:lnSpc>
                <a:spcPct val="115000"/>
              </a:lnSpc>
              <a:buNone/>
            </a:pPr>
            <a:r>
              <a:rPr lang="en-US" sz="1200" dirty="0">
                <a:solidFill>
                  <a:srgbClr val="334155"/>
                </a:solidFill>
                <a:latin typeface="Calibri" pitchFamily="34" charset="0"/>
                <a:ea typeface="Calibri" pitchFamily="34" charset="-122"/>
                <a:cs typeface="Calibri" pitchFamily="34" charset="-120"/>
              </a:rPr>
              <a:t>the intelligence starts empty and grows with use. The mechanism is proven; the value builds as we feed it.</a:t>
            </a:r>
            <a:endParaRPr lang="en-US" sz="1200" dirty="0"/>
          </a:p>
        </p:txBody>
      </p:sp>
      <p:sp>
        <p:nvSpPr>
          <p:cNvPr id="17" name="Shape 15"/>
          <p:cNvSpPr/>
          <p:nvPr/>
        </p:nvSpPr>
        <p:spPr>
          <a:xfrm>
            <a:off x="6263640" y="1828800"/>
            <a:ext cx="5532120" cy="4023360"/>
          </a:xfrm>
          <a:prstGeom prst="roundRect">
            <a:avLst>
              <a:gd name="adj" fmla="val 1136"/>
            </a:avLst>
          </a:prstGeom>
          <a:solidFill>
            <a:srgbClr val="EFF6FF"/>
          </a:solidFill>
          <a:ln/>
        </p:spPr>
      </p:sp>
      <p:sp>
        <p:nvSpPr>
          <p:cNvPr id="18" name="Text 16"/>
          <p:cNvSpPr/>
          <p:nvPr/>
        </p:nvSpPr>
        <p:spPr>
          <a:xfrm>
            <a:off x="6537960" y="2057400"/>
            <a:ext cx="4937760" cy="365760"/>
          </a:xfrm>
          <a:prstGeom prst="rect">
            <a:avLst/>
          </a:prstGeom>
          <a:noFill/>
          <a:ln/>
        </p:spPr>
        <p:txBody>
          <a:bodyPr wrap="square" lIns="0" tIns="0" rIns="0" bIns="0" rtlCol="0" anchor="t"/>
          <a:lstStyle/>
          <a:p>
            <a:pPr indent="0" marL="0">
              <a:buNone/>
            </a:pPr>
            <a:r>
              <a:rPr lang="en-US" sz="1600" b="1" dirty="0">
                <a:solidFill>
                  <a:srgbClr val="2563EB"/>
                </a:solidFill>
                <a:latin typeface="Calibri" pitchFamily="34" charset="0"/>
                <a:ea typeface="Calibri" pitchFamily="34" charset="-122"/>
                <a:cs typeface="Calibri" pitchFamily="34" charset="-120"/>
              </a:rPr>
              <a:t>The ask — three small decisions</a:t>
            </a:r>
            <a:endParaRPr lang="en-US" sz="1600" dirty="0"/>
          </a:p>
        </p:txBody>
      </p:sp>
      <p:sp>
        <p:nvSpPr>
          <p:cNvPr id="19" name="Text 17"/>
          <p:cNvSpPr/>
          <p:nvPr/>
        </p:nvSpPr>
        <p:spPr>
          <a:xfrm>
            <a:off x="6537960" y="2606040"/>
            <a:ext cx="5029200" cy="914400"/>
          </a:xfrm>
          <a:prstGeom prst="rect">
            <a:avLst/>
          </a:prstGeom>
          <a:noFill/>
          <a:ln/>
        </p:spPr>
        <p:txBody>
          <a:bodyPr wrap="square" lIns="0" tIns="0" rIns="0" bIns="0" rtlCol="0" anchor="t"/>
          <a:lstStyle/>
          <a:p>
            <a:pPr indent="0" marL="0">
              <a:lnSpc>
                <a:spcPct val="110000"/>
              </a:lnSpc>
              <a:buNone/>
            </a:pPr>
            <a:r>
              <a:rPr lang="en-US" sz="1350" b="1" dirty="0">
                <a:solidFill>
                  <a:srgbClr val="0F172A"/>
                </a:solidFill>
                <a:latin typeface="Calibri" pitchFamily="34" charset="0"/>
                <a:ea typeface="Calibri" pitchFamily="34" charset="-122"/>
                <a:cs typeface="Calibri" pitchFamily="34" charset="-120"/>
              </a:rPr>
              <a:t>1.  Adopt the habit</a:t>
            </a:r>
            <a:endParaRPr lang="en-US" sz="1350" dirty="0"/>
          </a:p>
          <a:p>
            <a:pPr indent="0" marL="0">
              <a:lnSpc>
                <a:spcPct val="110000"/>
              </a:lnSpc>
              <a:buNone/>
            </a:pPr>
            <a:r>
              <a:rPr lang="en-US" sz="1150" dirty="0">
                <a:solidFill>
                  <a:srgbClr val="334155"/>
                </a:solidFill>
                <a:latin typeface="Calibri" pitchFamily="34" charset="0"/>
                <a:ea typeface="Calibri" pitchFamily="34" charset="-122"/>
                <a:cs typeface="Calibri" pitchFamily="34" charset="-120"/>
              </a:rPr>
              <a:t>     Make "Log Actual £" part of the quote-handling routine. One click per quote.</a:t>
            </a:r>
            <a:endParaRPr lang="en-US" sz="1350" dirty="0"/>
          </a:p>
        </p:txBody>
      </p:sp>
      <p:sp>
        <p:nvSpPr>
          <p:cNvPr id="20" name="Text 18"/>
          <p:cNvSpPr/>
          <p:nvPr/>
        </p:nvSpPr>
        <p:spPr>
          <a:xfrm>
            <a:off x="6537960" y="3566160"/>
            <a:ext cx="5029200" cy="914400"/>
          </a:xfrm>
          <a:prstGeom prst="rect">
            <a:avLst/>
          </a:prstGeom>
          <a:noFill/>
          <a:ln/>
        </p:spPr>
        <p:txBody>
          <a:bodyPr wrap="square" lIns="0" tIns="0" rIns="0" bIns="0" rtlCol="0" anchor="t"/>
          <a:lstStyle/>
          <a:p>
            <a:pPr indent="0" marL="0">
              <a:lnSpc>
                <a:spcPct val="110000"/>
              </a:lnSpc>
              <a:buNone/>
            </a:pPr>
            <a:r>
              <a:rPr lang="en-US" sz="1350" b="1" dirty="0">
                <a:solidFill>
                  <a:srgbClr val="0F172A"/>
                </a:solidFill>
                <a:latin typeface="Calibri" pitchFamily="34" charset="0"/>
                <a:ea typeface="Calibri" pitchFamily="34" charset="-122"/>
                <a:cs typeface="Calibri" pitchFamily="34" charset="-120"/>
              </a:rPr>
              <a:t>2.  Seed the memory</a:t>
            </a:r>
            <a:endParaRPr lang="en-US" sz="1350" dirty="0"/>
          </a:p>
          <a:p>
            <a:pPr indent="0" marL="0">
              <a:lnSpc>
                <a:spcPct val="110000"/>
              </a:lnSpc>
              <a:buNone/>
            </a:pPr>
            <a:r>
              <a:rPr lang="en-US" sz="1150" dirty="0">
                <a:solidFill>
                  <a:srgbClr val="334155"/>
                </a:solidFill>
                <a:latin typeface="Calibri" pitchFamily="34" charset="0"/>
                <a:ea typeface="Calibri" pitchFamily="34" charset="-122"/>
                <a:cs typeface="Calibri" pitchFamily="34" charset="-120"/>
              </a:rPr>
              <a:t>     Approve a one-off import of historical quotes so the tool starts smart (~1–2 days of effort).</a:t>
            </a:r>
            <a:endParaRPr lang="en-US" sz="1350" dirty="0"/>
          </a:p>
        </p:txBody>
      </p:sp>
      <p:sp>
        <p:nvSpPr>
          <p:cNvPr id="21" name="Text 19"/>
          <p:cNvSpPr/>
          <p:nvPr/>
        </p:nvSpPr>
        <p:spPr>
          <a:xfrm>
            <a:off x="6537960" y="4526280"/>
            <a:ext cx="5029200" cy="914400"/>
          </a:xfrm>
          <a:prstGeom prst="rect">
            <a:avLst/>
          </a:prstGeom>
          <a:noFill/>
          <a:ln/>
        </p:spPr>
        <p:txBody>
          <a:bodyPr wrap="square" lIns="0" tIns="0" rIns="0" bIns="0" rtlCol="0" anchor="t"/>
          <a:lstStyle/>
          <a:p>
            <a:pPr indent="0" marL="0">
              <a:lnSpc>
                <a:spcPct val="110000"/>
              </a:lnSpc>
              <a:buNone/>
            </a:pPr>
            <a:r>
              <a:rPr lang="en-US" sz="1350" b="1" dirty="0">
                <a:solidFill>
                  <a:srgbClr val="0F172A"/>
                </a:solidFill>
                <a:latin typeface="Calibri" pitchFamily="34" charset="0"/>
                <a:ea typeface="Calibri" pitchFamily="34" charset="-122"/>
                <a:cs typeface="Calibri" pitchFamily="34" charset="-120"/>
              </a:rPr>
              <a:t>3.  Review the findings</a:t>
            </a:r>
            <a:endParaRPr lang="en-US" sz="1350" dirty="0"/>
          </a:p>
          <a:p>
            <a:pPr indent="0" marL="0">
              <a:lnSpc>
                <a:spcPct val="110000"/>
              </a:lnSpc>
              <a:buNone/>
            </a:pPr>
            <a:r>
              <a:rPr lang="en-US" sz="1150" dirty="0">
                <a:solidFill>
                  <a:srgbClr val="334155"/>
                </a:solidFill>
                <a:latin typeface="Calibri" pitchFamily="34" charset="0"/>
                <a:ea typeface="Calibri" pitchFamily="34" charset="-122"/>
                <a:cs typeface="Calibri" pitchFamily="34" charset="-120"/>
              </a:rPr>
              <a:t>     Put the agent's monthly findings on the sourcing team's agenda — it is already finding money.</a:t>
            </a:r>
            <a:endParaRPr lang="en-US" sz="1350" dirty="0"/>
          </a:p>
        </p:txBody>
      </p:sp>
      <p:sp>
        <p:nvSpPr>
          <p:cNvPr id="22" name="Shape 20"/>
          <p:cNvSpPr/>
          <p:nvPr/>
        </p:nvSpPr>
        <p:spPr>
          <a:xfrm>
            <a:off x="0" y="6711696"/>
            <a:ext cx="12191695" cy="146304"/>
          </a:xfrm>
          <a:prstGeom prst="rect">
            <a:avLst/>
          </a:prstGeom>
          <a:solidFill>
            <a:srgbClr val="4F46E5"/>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AI in CostVision</dc:title>
  <dc:subject>PptxGenJS Presentation</dc:subject>
  <dc:creator>CostVision</dc:creator>
  <cp:lastModifiedBy>CostVision</cp:lastModifiedBy>
  <cp:revision>1</cp:revision>
  <dcterms:created xsi:type="dcterms:W3CDTF">2026-07-22T11:09:55Z</dcterms:created>
  <dcterms:modified xsi:type="dcterms:W3CDTF">2026-07-22T11:09:55Z</dcterms:modified>
</cp:coreProperties>
</file>