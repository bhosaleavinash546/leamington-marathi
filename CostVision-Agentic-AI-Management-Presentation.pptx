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the time. This deck is about the learning side of CostVision: how it remembers the parts we cost, how it learns from the real prices we pay, and how it keeps an eye out for price gaps. I want to be clear about one thing up front. In the JLR build, AI is switched off, because we don't have AI approval yet. That's fine for this story, because everything I'm going to show you on the learning side is plain arithmetic. Medians, match scores, gaps between two prices. None of it needs AI, so it works on a locked-down laptop today. Where a feature does need AI, I'll say so and I'll say it's switched off. And I'll be honest about what's proven and what isn't.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short version. First, after three real prices are logged for a process, the tool starts correcting its own estimates and its range. Second, a background check looks over every stored part every six hours, while the tool is running, and flags where we're paying well above or below the should-cost. Third, none of this needs AI. It's all simple sums. Fourth, the tool as a whole has 2,438 automated tests, a hand calculation it matches to under a hundredth of a percent, and six real production parts pinned so they can't drift. Now the honest bit. The memory starts empty, and we haven't yet compared any estimate with a price JLR actually paid. So I'm not going to quote you an accuracy figure. That comes once we start logging real prices.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 agentic gets used a lot, so let me keep it to four plain words. It remembers: every costing is saved, with the inputs and the result. It recognises: when you cost a new part, it shows you up to three similar ones we've done before and tells you why they match. It corrects itself: once there are three real prices for a process, it adjusts the estimate and shows its own error. And it keeps watch: every six hours it re-checks stored parts for price gaps. The design choice I care about most is at the bottom. There's no AI in any of this. Every suggestion shows which parts it came from and how it was worked out. That's what lets a buyer use it in front of a supplier without being caught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loop on one slide. The engineer costs a part exactly as they do today. When they're signed in, the tool saves that costing, looks for similar parts, and shows suggestions like the median cost of those parts and the material they used. That all happens on its own. The one new habit is step five. When a real supplier price comes in, someone clicks Log Actual pounds. That's it. That single click is what the tool learns from. Once a process has three of those, the correction switches on. And step six, the background check, uses the same real prices to flag gaps. So the extra work is small. But I'll be straight: if nobody logs real prices, the loop has nothing to learn from.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one is the memory. For every costing, the tool keeps a fingerprint of the part: the process, the material, the weight, the size, the region and the annual volume. It keeps the result, all eight cost buckets. It keeps the real price once someone logs it, and the date it was costed. If a CAD file was used, it also keeps some shape data, like size, volume and hole count. On the right is why that matters. It's shared by everyone on the same installation, so one engineer's work helps the next. It stays in the tool's own database, on our laptop or our server, and nothing is sent out. If you re-cost a part with the same name and process, it updates the record rather than making a copy. And it starts empty, so it gets more useful the more we use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two is recognition. When an engineer costs a new part, the tool looks through past costings of the same process and shows up to three that match at fifty-five percent or better. For each one it shows a match score and what matched, such as material family, weight, size or region. It shows what that part cost and, if we logged one, what we actually paid. Then it makes a few suggestions: the median cost of the similar parts, the material most of them used, and a warning if this new estimate is fifteen percent or more away from them. That warning names the cost bucket that differs most, so you know where to look. Nothing here is a guess from a black box. Every suggestion names the parts it came from.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three is self-correction. When a real price arrives, you click once to log it, or you can paste in a batch of past prices as a CSV. The tool compares its estimate with the real price. With fewer than three prices for a group, it does nothing except tell you how many more it needs. At three, it takes the median of real price divided by estimate and applies that as a correction. It uses the narrowest group that has three prices: process plus material plus region first, then process plus material, then the process on its own. And it shows its error before and after. Why groups? Because one process can run low and another high, and in an average they cancel out. I used to show a chart here from a demo. I've taken it out, because we have no JLR prices in it yet.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four is about being honest on precision. Every result comes as a range: an optimistic end, a most likely figure, and a conservative end. Before we have any real prices, the width comes from how well each input is known. The tool runs a Monte Carlo simulation over every cost driver. Once there are three real prices for that group, the width comes from the error the tool actually made on them instead. There's a floor on it, so three lucky prices can't make it claim a razor-thin range. The point I'd stress is that this cuts both ways. If the tool has been right, the range narrows. If it's been wrong, the range widens and tells you so. For a buyer, the conservative end is a sensible walk-away, and the optimistic end is a stretch target.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five is the background check. While the tool is running, it goes through every stored part every six hours, and once shortly after start-up. It needs a logged real price to spot a gap. If the real price is eight percent or more above the should-cost, it opens a renegotiation finding and works out the gap in pounds a year, using the part's annual volume. If it's eight percent or more below, it flags an underwater price, because that can mean a scope mix-up or a supplier who can't sustain it. And if an estimate is over ninety days old and was never checked, it asks for a real price. The example at the bottom just shows the sum: eight pounds a part, fifty thousand parts a year. Those are example numbers, not a JLR finding.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one I'd most like you to remember, because it draws the line clearly. The top two boxes work at JLR today, with AI off. CAD to Cost measures the part from a STEP, IGES or STL file, applies rules, and where the shape can't decide something, like the process route, it asks the engineer rather than guessing. The self-audit, the shape checks, the negotiation pack and the carbon figure all work too. The bottom two boxes are built but switched off at JLR: the chat assistant, describe-a-part, the PCB photo reader, and reading free-text RFQs. If they're ever switched on, it's a setting, not a rebuild, and each user is rate-limited. And even then, AI never sets a price. It only reads and classifies. The money is always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fair question from management is what this asks of the team. Honestly, not much. Engineers keep costing parts as they do now, and every costing goes into the memory. The one new habit is clicking Log Actual pounds when a real price arrives. There are two optional extras. Attaching a CAD file gives the matching more to work with. And importing our past quotes as a CSV means the correction doesn't start from nothing. That import is the first thing I'd do if we go ahead. On the right is what the tool does in return: it remembers, it shows similar parts, it suggests, it measures its own error, it sets the range from real error once it has three prices, and it re-checks stored parts for gaps.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careful on this slide, so here's exactly what's proven. The engine's sums match a hand calculation on a reference machined bracket, twenty-three pounds twenty-seven, to under a hundredth of a percent. Six real production parts are pinned in a baseline, so any change that moves them fails the build. There are 2,438 automated tests, plus browser tests that cost every process and check the exports. And the correction needs three real prices per group before it does anything. Now what isn't proven. We have not yet compared a single estimate with a price JLR actually paid. So I won't give you an accuracy percentage. We'll measure it as real prices are logged, and report what we find, good or bad.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benefits, in plain terms. Quicker starts: a new part begins from similar past parts and real prices, instead of a blank sheet. Accuracy you can check: every real price is set against the estimate, and the error is shown on screen, not asserted in a slide. Knowledge stays: the costings and the prices stay in the tool when people move roles, and a new starter can see them from day one. And gaps found early: the background check flags real prices that are well above or below the should-cost, in pounds a year. The last line matters for approval too. The data stays on our laptop or our server. Nothing is sent out, and none of this needs AI. I haven't put a savings figure on this, because we haven't measured one yet.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is a bit more technical, so I'll keep it simple. Each result can carry two ranges. On the left is the input range. It comes from a Monte Carlo run over how well each input is known, and it's there on every result, even with no real prices. On the right is a range built from the real prices we've logged for that group. It lets the tool say something like, ninety percent of our real prices landed within plus or minus so many percent. It shows up once there are three prices, but the ninety percent guarantee only really holds from about nine. Why bother? Because a buyer can't defend trust me. They can defend an error we actually saw. Today that right-hand range is empty for us, because we haven't logged any JLR prices yet.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small loop on top of the background check. By default it ranks findings by the size of the gap. But some kinds of finding close and some never do. So when a buyer clicks Actioned pounds, or Dismiss, the tool records what happened. From that it learns, for each process and kind of finding, how often they close, and ranks by the money likely to come back. The table is a worked example with made-up numbers. A two hundred thousand pound casting gap that rarely closes is worth less than a hundred thousand pound machining gap that usually does. With no history, everything starts at an even fifty percent, and a single result can't swing it much. It also keeps a running total of pounds actually saved, which is the number I'd want to report.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a should-cost turns into something a buyer can say out loud. The tool links the material cost to the index that drives it, aluminium in this example. Then, using the same overhead and margin sums the engine already uses, it works out how much the piece price moves for each one percent move in that index. From there it can say: a quote of this much is only justified if aluminium were about this much above today's index, so ask the supplier to show that, or hold at the should-cost. I've left the numbers as letters because they come from your part. There's no AI in this. One caveat: the index prices on our dashboard are indicative, from a simulated feed, so treat it as if the metal moved this much, not as a market fact.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ask what happens if a metal price moves. On the left, for one part, there's a slider from minus twenty to plus twenty percent, and the piece price is worked out again as you drag it. On the right, for every stored part at once, you apply one move, say steel up ten percent, and see which parts would slip below their should-cost and how much money that puts at risk. That lets sourcing see a risk before it lands. What keeps this honest is that it's always a what-if. It never claims to forecast prices. The prices on the dashboard are indicative, not a live market feed, and they don't change any costing. If we connect a live feed later, the same sums apply. That's a plan, not something we have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upfront about this one, because it was a highlight in earlier versions of this deck. The PCB photo reader takes a photo of a circuit board and builds a costed bill of materials. Reading the photo needs AI, so at JLR it's switched off and the screen is hidden. What does work with AI off is on the left. You can still cost PCB fabrication and assembly from typed inputs. The fab price comes from fabricators' price tables, and because it's a bought-in price, we don't add overhead or margin on top. On the right is the work done so the photo reader is solid if it's ever switched on: catalogue price checks, caps on misread parts, and a clear split between pounds you can trust and pounds to check. I've taken out the old accuracy chart.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there's one message about why this is different, it's that you can check every number. Every learned value is something a cost engineer can read: a median, a match score, a gap times a volume. There are no hidden weights sitting behind the price. And even in a build where AI is on, AI never sets a price. The rows below just summarise the deck. It learns from real prices. It watches in the background and learns which gaps close. It knows what drives cost and can write the counter-argument. Every number traces back to a rate or a logged price, and the exports carry the same total to the penny. And it runs on a laptop with no internet and no AI. I'd rather win on that than on a claim I can't back 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newer piece, and it's about shape rather than price. The old way was to look at a finished cost and guess what might be wrong with the design. Now, after a STEP or IGES upload, the tool measures the 3D model face by face and names the features that cost money. There are nineteen rules, and every one cites a published source, such as the ASM Handbook, NADCA or Machinery's Handbook. They're split into six packs: casting, forging, machining, injection moulding, blow moulding and sheet metal. A finding names the faces involved and the measured value, and you can click it to see those faces on the model. It runs in the background, so nobody waits. And every part lists what it could not check, so a short list is never taken as a clean bill of health.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Gears came from cost engineering and the plant asking for them. Before, a gear went through as a general machined part, and that model can't see a tooth. Look at the three rows. A loose gear, ISO class nine, is cut, deburred and checked. Ask for class six on a hardened gear and the tool doesn't just multiply the price. It adds a grinding step, because hardening distorts the teeth and only grinding can correct that. An internal ring gear can't be hobbed, because a hob can't get inside the bore, so the tool picks power skiving instead. The shape decides, not a preference. I've left the prices off, because they came from one demo run. And two honest points: if no machine we know can make the gear, it refuses. And the shop figures are representative until the plant gives us its 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learning features are built and tested, as part of a tool with 2,438 automated tests. They work with AI off, there's no extra licence, and the data stays on our own laptop or server. The honest dependency is that it starts empty, and we haven't yet compared any estimate with a price JLR paid. So the ask is three small decisions. One, make Log Actual pounds part of handling every quote. It's one click. Two, import our past quotes as a CSV so the correction doesn't start from nothing. Three, put the background check's findings on the sourcing agenda each month, so someone acts on them. If we do those three things, we'll have real accuracy figures to report back, whatever they turn out to be.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16325C"/>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FFFFFF"/>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8FA3CC"/>
                </a:solidFill>
                <a:latin typeface="Calibri"/>
              </a:rPr>
              <a:t>SHOULD-COST  INTELLIGENCE</a:t>
            </a:r>
          </a:p>
        </p:txBody>
      </p:sp>
      <p:sp>
        <p:nvSpPr>
          <p:cNvPr id="7" name="TextBox 6"/>
          <p:cNvSpPr txBox="1"/>
          <p:nvPr/>
        </p:nvSpPr>
        <p:spPr>
          <a:xfrm>
            <a:off x="822960" y="2148840"/>
            <a:ext cx="10515600" cy="914400"/>
          </a:xfrm>
          <a:prstGeom prst="rect">
            <a:avLst/>
          </a:prstGeom>
          <a:noFill/>
        </p:spPr>
        <p:txBody>
          <a:bodyPr wrap="square" anchor="t" lIns="0" rIns="0" tIns="0" bIns="0">
            <a:spAutoFit/>
          </a:bodyPr>
          <a:lstStyle/>
          <a:p>
            <a:pPr algn="l">
              <a:lnSpc>
                <a:spcPct val="100000"/>
              </a:lnSpc>
              <a:spcAft>
                <a:spcPts val="400"/>
              </a:spcAft>
            </a:pPr>
            <a:r>
              <a:rPr sz="4600" b="1" i="0">
                <a:solidFill>
                  <a:srgbClr val="FFFFFF"/>
                </a:solidFill>
                <a:latin typeface="Cambria"/>
              </a:rPr>
              <a:t>How CostVision learns</a:t>
            </a:r>
          </a:p>
        </p:txBody>
      </p:sp>
      <p:sp>
        <p:nvSpPr>
          <p:cNvPr id="8" name="TextBox 7"/>
          <p:cNvSpPr txBox="1"/>
          <p:nvPr/>
        </p:nvSpPr>
        <p:spPr>
          <a:xfrm>
            <a:off x="822960" y="3063240"/>
            <a:ext cx="10058400" cy="548640"/>
          </a:xfrm>
          <a:prstGeom prst="rect">
            <a:avLst/>
          </a:prstGeom>
          <a:noFill/>
        </p:spPr>
        <p:txBody>
          <a:bodyPr wrap="square" anchor="t" lIns="0" rIns="0" tIns="0" bIns="0">
            <a:spAutoFit/>
          </a:bodyPr>
          <a:lstStyle/>
          <a:p>
            <a:pPr algn="l">
              <a:lnSpc>
                <a:spcPct val="100000"/>
              </a:lnSpc>
              <a:spcAft>
                <a:spcPts val="400"/>
              </a:spcAft>
            </a:pPr>
            <a:r>
              <a:rPr sz="1900" b="0" i="0">
                <a:solidFill>
                  <a:srgbClr val="CADCFC"/>
                </a:solidFill>
                <a:latin typeface="Calibri"/>
              </a:rPr>
              <a:t>It remembers our parts, learns from real prices and watches for gaps.</a:t>
            </a:r>
          </a:p>
          <a:p>
            <a:pPr algn="l">
              <a:lnSpc>
                <a:spcPct val="100000"/>
              </a:lnSpc>
              <a:spcAft>
                <a:spcPts val="400"/>
              </a:spcAft>
            </a:pPr>
            <a:r>
              <a:rPr sz="1900" b="0" i="0">
                <a:solidFill>
                  <a:srgbClr val="CADCFC"/>
                </a:solidFill>
                <a:latin typeface="Calibri"/>
              </a:rPr>
              <a:t>The learning is plain arithmetic, so it works with AI switched off.</a:t>
            </a:r>
          </a:p>
        </p:txBody>
      </p:sp>
      <p:sp>
        <p:nvSpPr>
          <p:cNvPr id="9" name="Rounded Rectangle 8"/>
          <p:cNvSpPr/>
          <p:nvPr/>
        </p:nvSpPr>
        <p:spPr>
          <a:xfrm>
            <a:off x="82296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1D6FB8"/>
                </a:solidFill>
                <a:latin typeface="Calibri"/>
              </a:rPr>
              <a:t>Remembers</a:t>
            </a:r>
          </a:p>
        </p:txBody>
      </p:sp>
      <p:sp>
        <p:nvSpPr>
          <p:cNvPr id="10" name="Rounded Rectangle 9"/>
          <p:cNvSpPr/>
          <p:nvPr/>
        </p:nvSpPr>
        <p:spPr>
          <a:xfrm>
            <a:off x="342900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D7D71"/>
                </a:solidFill>
                <a:latin typeface="Calibri"/>
              </a:rPr>
              <a:t>Recognises</a:t>
            </a:r>
          </a:p>
        </p:txBody>
      </p:sp>
      <p:sp>
        <p:nvSpPr>
          <p:cNvPr id="11" name="Rounded Rectangle 10"/>
          <p:cNvSpPr/>
          <p:nvPr/>
        </p:nvSpPr>
        <p:spPr>
          <a:xfrm>
            <a:off x="603504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3FA0"/>
                </a:solidFill>
                <a:latin typeface="Calibri"/>
              </a:rPr>
              <a:t>Corrects itself</a:t>
            </a:r>
          </a:p>
        </p:txBody>
      </p:sp>
      <p:sp>
        <p:nvSpPr>
          <p:cNvPr id="12" name="Rounded Rectangle 11"/>
          <p:cNvSpPr/>
          <p:nvPr/>
        </p:nvSpPr>
        <p:spPr>
          <a:xfrm>
            <a:off x="864108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A7F50"/>
                </a:solidFill>
                <a:latin typeface="Calibri"/>
              </a:rPr>
              <a:t>Keeps watch</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8FA3CC"/>
                </a:solidFill>
                <a:latin typeface="Calibri"/>
              </a:rPr>
              <a:t>Management briefing  ·  September 2026  ·  AI is switched off in the JLR build</a:t>
            </a:r>
          </a:p>
        </p:txBody>
      </p:sp>
      <p:sp>
        <p:nvSpPr>
          <p:cNvPr id="14" name="Rectangle 13"/>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EXECUTIVE 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built — in one slide</a:t>
            </a:r>
          </a:p>
        </p:txBody>
      </p:sp>
      <p:sp>
        <p:nvSpPr>
          <p:cNvPr id="9" name="Rounded Rectangle 8"/>
          <p:cNvSpPr/>
          <p:nvPr/>
        </p:nvSpPr>
        <p:spPr>
          <a:xfrm>
            <a:off x="41148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4008" cy="160020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2A7F50"/>
                </a:solidFill>
                <a:latin typeface="Calibri"/>
              </a:rPr>
              <a:t>3</a:t>
            </a:r>
          </a:p>
        </p:txBody>
      </p:sp>
      <p:sp>
        <p:nvSpPr>
          <p:cNvPr id="12" name="TextBox 11"/>
          <p:cNvSpPr txBox="1"/>
          <p:nvPr/>
        </p:nvSpPr>
        <p:spPr>
          <a:xfrm>
            <a:off x="61264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Real prices to learn</a:t>
            </a:r>
          </a:p>
        </p:txBody>
      </p:sp>
      <p:sp>
        <p:nvSpPr>
          <p:cNvPr id="13" name="TextBox 12"/>
          <p:cNvSpPr txBox="1"/>
          <p:nvPr/>
        </p:nvSpPr>
        <p:spPr>
          <a:xfrm>
            <a:off x="61264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86F7D"/>
                </a:solidFill>
                <a:latin typeface="Calibri"/>
              </a:rPr>
              <a:t>After 3 logged real prices for a process, it corrects its estimate and its range.</a:t>
            </a:r>
          </a:p>
        </p:txBody>
      </p:sp>
      <p:sp>
        <p:nvSpPr>
          <p:cNvPr id="14" name="Rounded Rectangle 13"/>
          <p:cNvSpPr/>
          <p:nvPr/>
        </p:nvSpPr>
        <p:spPr>
          <a:xfrm>
            <a:off x="333756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828800"/>
            <a:ext cx="64008" cy="16002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872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B03A2E"/>
                </a:solidFill>
                <a:latin typeface="Calibri"/>
              </a:rPr>
              <a:t>Every 6 h</a:t>
            </a:r>
          </a:p>
        </p:txBody>
      </p:sp>
      <p:sp>
        <p:nvSpPr>
          <p:cNvPr id="17" name="TextBox 16"/>
          <p:cNvSpPr txBox="1"/>
          <p:nvPr/>
        </p:nvSpPr>
        <p:spPr>
          <a:xfrm>
            <a:off x="353872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Background check</a:t>
            </a:r>
          </a:p>
        </p:txBody>
      </p:sp>
      <p:sp>
        <p:nvSpPr>
          <p:cNvPr id="18" name="TextBox 17"/>
          <p:cNvSpPr txBox="1"/>
          <p:nvPr/>
        </p:nvSpPr>
        <p:spPr>
          <a:xfrm>
            <a:off x="353872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86F7D"/>
                </a:solidFill>
                <a:latin typeface="Calibri"/>
              </a:rPr>
              <a:t>Stored parts are re-checked for price gaps while the tool is running.</a:t>
            </a:r>
          </a:p>
        </p:txBody>
      </p:sp>
      <p:sp>
        <p:nvSpPr>
          <p:cNvPr id="19" name="Rounded Rectangle 18"/>
          <p:cNvSpPr/>
          <p:nvPr/>
        </p:nvSpPr>
        <p:spPr>
          <a:xfrm>
            <a:off x="626364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64008" cy="1600200"/>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D7D71"/>
                </a:solidFill>
                <a:latin typeface="Calibri"/>
              </a:rPr>
              <a:t>AI off</a:t>
            </a:r>
          </a:p>
        </p:txBody>
      </p:sp>
      <p:sp>
        <p:nvSpPr>
          <p:cNvPr id="22" name="TextBox 21"/>
          <p:cNvSpPr txBox="1"/>
          <p:nvPr/>
        </p:nvSpPr>
        <p:spPr>
          <a:xfrm>
            <a:off x="646480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Nothing here needs AI</a:t>
            </a:r>
          </a:p>
        </p:txBody>
      </p:sp>
      <p:sp>
        <p:nvSpPr>
          <p:cNvPr id="23" name="TextBox 22"/>
          <p:cNvSpPr txBox="1"/>
          <p:nvPr/>
        </p:nvSpPr>
        <p:spPr>
          <a:xfrm>
            <a:off x="646480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86F7D"/>
                </a:solidFill>
                <a:latin typeface="Calibri"/>
              </a:rPr>
              <a:t>The learning is arithmetic: medians, matches and gaps. It works at JLR today.</a:t>
            </a:r>
          </a:p>
        </p:txBody>
      </p:sp>
      <p:sp>
        <p:nvSpPr>
          <p:cNvPr id="24" name="Rounded Rectangle 23"/>
          <p:cNvSpPr/>
          <p:nvPr/>
        </p:nvSpPr>
        <p:spPr>
          <a:xfrm>
            <a:off x="9189720" y="1828800"/>
            <a:ext cx="260604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9720" y="1828800"/>
            <a:ext cx="64008" cy="160020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90888" y="1956816"/>
            <a:ext cx="228600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6B3FA0"/>
                </a:solidFill>
                <a:latin typeface="Calibri"/>
              </a:rPr>
              <a:t>2,438</a:t>
            </a:r>
          </a:p>
        </p:txBody>
      </p:sp>
      <p:sp>
        <p:nvSpPr>
          <p:cNvPr id="27" name="TextBox 26"/>
          <p:cNvSpPr txBox="1"/>
          <p:nvPr/>
        </p:nvSpPr>
        <p:spPr>
          <a:xfrm>
            <a:off x="9390888" y="2450592"/>
            <a:ext cx="22860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Automated tests</a:t>
            </a:r>
          </a:p>
        </p:txBody>
      </p:sp>
      <p:sp>
        <p:nvSpPr>
          <p:cNvPr id="28" name="TextBox 27"/>
          <p:cNvSpPr txBox="1"/>
          <p:nvPr/>
        </p:nvSpPr>
        <p:spPr>
          <a:xfrm>
            <a:off x="9390888" y="2724912"/>
            <a:ext cx="228600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86F7D"/>
                </a:solidFill>
                <a:latin typeface="Calibri"/>
              </a:rPr>
              <a:t>Plus a hand-calc match to under 0.01% and 6 real parts pinned.</a:t>
            </a:r>
          </a:p>
        </p:txBody>
      </p:sp>
      <p:sp>
        <p:nvSpPr>
          <p:cNvPr id="29" name="Rounded Rectangle 28"/>
          <p:cNvSpPr/>
          <p:nvPr/>
        </p:nvSpPr>
        <p:spPr>
          <a:xfrm>
            <a:off x="411480" y="3749039"/>
            <a:ext cx="11384280" cy="246888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977639"/>
            <a:ext cx="10881360" cy="2103120"/>
          </a:xfrm>
          <a:prstGeom prst="rect">
            <a:avLst/>
          </a:prstGeom>
          <a:noFill/>
        </p:spPr>
        <p:txBody>
          <a:bodyPr wrap="square" anchor="t" lIns="0" rIns="0" tIns="0" bIns="0">
            <a:spAutoFit/>
          </a:bodyPr>
          <a:lstStyle/>
          <a:p>
            <a:pPr algn="l">
              <a:lnSpc>
                <a:spcPct val="115000"/>
              </a:lnSpc>
              <a:spcAft>
                <a:spcPts val="800"/>
              </a:spcAft>
            </a:pPr>
            <a:r>
              <a:rPr sz="1500" b="1" i="0">
                <a:solidFill>
                  <a:srgbClr val="16325C"/>
                </a:solidFill>
                <a:latin typeface="Calibri"/>
              </a:rPr>
              <a:t>The idea, in plain words</a:t>
            </a:r>
          </a:p>
          <a:p>
            <a:pPr algn="l">
              <a:lnSpc>
                <a:spcPct val="115000"/>
              </a:lnSpc>
              <a:spcAft>
                <a:spcPts val="800"/>
              </a:spcAft>
            </a:pPr>
            <a:r>
              <a:rPr sz="1350" b="0" i="0">
                <a:solidFill>
                  <a:srgbClr val="3A4356"/>
                </a:solidFill>
                <a:latin typeface="Calibri"/>
              </a:rPr>
              <a:t>Costing used to start from zero each time, and the answer depended on who did it. </a:t>
            </a:r>
            <a:r>
              <a:rPr sz="1350" b="1" i="0">
                <a:solidFill>
                  <a:srgbClr val="16325C"/>
                </a:solidFill>
                <a:latin typeface="Calibri"/>
              </a:rPr>
              <a:t>Now the tool remembers. </a:t>
            </a:r>
            <a:r>
              <a:rPr sz="1350" b="0" i="0">
                <a:solidFill>
                  <a:srgbClr val="3A4356"/>
                </a:solidFill>
                <a:latin typeface="Calibri"/>
              </a:rPr>
              <a:t>Every costing is kept, every real price teaches it, and every new part is compared with what we have costed before.</a:t>
            </a:r>
          </a:p>
          <a:p>
            <a:pPr algn="l">
              <a:lnSpc>
                <a:spcPct val="115000"/>
              </a:lnSpc>
              <a:spcAft>
                <a:spcPts val="800"/>
              </a:spcAft>
            </a:pPr>
            <a:r>
              <a:rPr sz="1350" b="1" i="0">
                <a:solidFill>
                  <a:srgbClr val="16325C"/>
                </a:solidFill>
                <a:latin typeface="Calibri"/>
              </a:rPr>
              <a:t>Honest limit: </a:t>
            </a:r>
            <a:r>
              <a:rPr sz="1350" b="0" i="0">
                <a:solidFill>
                  <a:srgbClr val="3A4356"/>
                </a:solidFill>
                <a:latin typeface="Calibri"/>
              </a:rPr>
              <a:t>it starts empty. No estimate has yet been compared with a price JLR paid. That begins when we log real prices.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CONCEPT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"learning" means here — four plain words</a:t>
            </a:r>
          </a:p>
        </p:txBody>
      </p:sp>
      <p:sp>
        <p:nvSpPr>
          <p:cNvPr id="9" name="Rounded Rectangle 8"/>
          <p:cNvSpPr/>
          <p:nvPr/>
        </p:nvSpPr>
        <p:spPr>
          <a:xfrm>
            <a:off x="411480"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61488"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48840"/>
            <a:ext cx="2286000" cy="548640"/>
          </a:xfrm>
          <a:prstGeom prst="rect">
            <a:avLst/>
          </a:prstGeom>
          <a:noFill/>
        </p:spPr>
        <p:txBody>
          <a:bodyPr wrap="square" anchor="t" lIns="0" rIns="0" tIns="0" bIns="0">
            <a:spAutoFit/>
          </a:bodyPr>
          <a:lstStyle/>
          <a:p>
            <a:pPr algn="l">
              <a:lnSpc>
                <a:spcPct val="100000"/>
              </a:lnSpc>
              <a:spcAft>
                <a:spcPts val="400"/>
              </a:spcAft>
            </a:pPr>
            <a:r>
              <a:rPr sz="2800" b="1" i="0">
                <a:solidFill>
                  <a:srgbClr val="1D6FB8"/>
                </a:solidFill>
                <a:latin typeface="Calibri"/>
              </a:rPr>
              <a:t>1</a:t>
            </a:r>
          </a:p>
        </p:txBody>
      </p:sp>
      <p:sp>
        <p:nvSpPr>
          <p:cNvPr id="12" name="TextBox 11"/>
          <p:cNvSpPr txBox="1"/>
          <p:nvPr/>
        </p:nvSpPr>
        <p:spPr>
          <a:xfrm>
            <a:off x="640080"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1D6FB8"/>
                </a:solidFill>
                <a:latin typeface="Calibri"/>
              </a:rPr>
              <a:t>Remembers</a:t>
            </a:r>
          </a:p>
        </p:txBody>
      </p:sp>
      <p:sp>
        <p:nvSpPr>
          <p:cNvPr id="13" name="TextBox 12"/>
          <p:cNvSpPr txBox="1"/>
          <p:nvPr/>
        </p:nvSpPr>
        <p:spPr>
          <a:xfrm>
            <a:off x="640080"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Every costing is saved: the part, its inputs, its result and any real price. Shared by everyone on the same installation.</a:t>
            </a:r>
          </a:p>
        </p:txBody>
      </p:sp>
      <p:sp>
        <p:nvSpPr>
          <p:cNvPr id="14" name="Rounded Rectangle 13"/>
          <p:cNvSpPr/>
          <p:nvPr/>
        </p:nvSpPr>
        <p:spPr>
          <a:xfrm>
            <a:off x="3374136"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74136" y="1920240"/>
            <a:ext cx="2761488" cy="82296"/>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148840"/>
            <a:ext cx="2286000" cy="548640"/>
          </a:xfrm>
          <a:prstGeom prst="rect">
            <a:avLst/>
          </a:prstGeom>
          <a:noFill/>
        </p:spPr>
        <p:txBody>
          <a:bodyPr wrap="square" anchor="t" lIns="0" rIns="0" tIns="0" bIns="0">
            <a:spAutoFit/>
          </a:bodyPr>
          <a:lstStyle/>
          <a:p>
            <a:pPr algn="l">
              <a:lnSpc>
                <a:spcPct val="100000"/>
              </a:lnSpc>
              <a:spcAft>
                <a:spcPts val="400"/>
              </a:spcAft>
            </a:pPr>
            <a:r>
              <a:rPr sz="2800" b="1" i="0">
                <a:solidFill>
                  <a:srgbClr val="0D7D71"/>
                </a:solidFill>
                <a:latin typeface="Calibri"/>
              </a:rPr>
              <a:t>2</a:t>
            </a:r>
          </a:p>
        </p:txBody>
      </p:sp>
      <p:sp>
        <p:nvSpPr>
          <p:cNvPr id="17" name="TextBox 16"/>
          <p:cNvSpPr txBox="1"/>
          <p:nvPr/>
        </p:nvSpPr>
        <p:spPr>
          <a:xfrm>
            <a:off x="3602736"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D7D71"/>
                </a:solidFill>
                <a:latin typeface="Calibri"/>
              </a:rPr>
              <a:t>Recognises</a:t>
            </a:r>
          </a:p>
        </p:txBody>
      </p:sp>
      <p:sp>
        <p:nvSpPr>
          <p:cNvPr id="18" name="TextBox 17"/>
          <p:cNvSpPr txBox="1"/>
          <p:nvPr/>
        </p:nvSpPr>
        <p:spPr>
          <a:xfrm>
            <a:off x="3602736"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Cost a new part and it shows up to three similar parts costed before, and says why they match.</a:t>
            </a:r>
          </a:p>
        </p:txBody>
      </p:sp>
      <p:sp>
        <p:nvSpPr>
          <p:cNvPr id="19" name="Rounded Rectangle 18"/>
          <p:cNvSpPr/>
          <p:nvPr/>
        </p:nvSpPr>
        <p:spPr>
          <a:xfrm>
            <a:off x="6336792"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920240"/>
            <a:ext cx="2761488"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148840"/>
            <a:ext cx="2286000" cy="548640"/>
          </a:xfrm>
          <a:prstGeom prst="rect">
            <a:avLst/>
          </a:prstGeom>
          <a:noFill/>
        </p:spPr>
        <p:txBody>
          <a:bodyPr wrap="square" anchor="t" lIns="0" rIns="0" tIns="0" bIns="0">
            <a:spAutoFit/>
          </a:bodyPr>
          <a:lstStyle/>
          <a:p>
            <a:pPr algn="l">
              <a:lnSpc>
                <a:spcPct val="100000"/>
              </a:lnSpc>
              <a:spcAft>
                <a:spcPts val="400"/>
              </a:spcAft>
            </a:pPr>
            <a:r>
              <a:rPr sz="2800" b="1" i="0">
                <a:solidFill>
                  <a:srgbClr val="6B3FA0"/>
                </a:solidFill>
                <a:latin typeface="Calibri"/>
              </a:rPr>
              <a:t>3</a:t>
            </a:r>
          </a:p>
        </p:txBody>
      </p:sp>
      <p:sp>
        <p:nvSpPr>
          <p:cNvPr id="22" name="TextBox 21"/>
          <p:cNvSpPr txBox="1"/>
          <p:nvPr/>
        </p:nvSpPr>
        <p:spPr>
          <a:xfrm>
            <a:off x="6565392"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6B3FA0"/>
                </a:solidFill>
                <a:latin typeface="Calibri"/>
              </a:rPr>
              <a:t>Corrects itself</a:t>
            </a:r>
          </a:p>
        </p:txBody>
      </p:sp>
      <p:sp>
        <p:nvSpPr>
          <p:cNvPr id="23" name="TextBox 22"/>
          <p:cNvSpPr txBox="1"/>
          <p:nvPr/>
        </p:nvSpPr>
        <p:spPr>
          <a:xfrm>
            <a:off x="6565392"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Log the real price. After 3 for a process, it corrects its estimate and shows its own error.</a:t>
            </a:r>
          </a:p>
        </p:txBody>
      </p:sp>
      <p:sp>
        <p:nvSpPr>
          <p:cNvPr id="24" name="Rounded Rectangle 23"/>
          <p:cNvSpPr/>
          <p:nvPr/>
        </p:nvSpPr>
        <p:spPr>
          <a:xfrm>
            <a:off x="9299448"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9448" y="1920240"/>
            <a:ext cx="2761488"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28048" y="2148840"/>
            <a:ext cx="2286000" cy="548640"/>
          </a:xfrm>
          <a:prstGeom prst="rect">
            <a:avLst/>
          </a:prstGeom>
          <a:noFill/>
        </p:spPr>
        <p:txBody>
          <a:bodyPr wrap="square" anchor="t" lIns="0" rIns="0" tIns="0" bIns="0">
            <a:spAutoFit/>
          </a:bodyPr>
          <a:lstStyle/>
          <a:p>
            <a:pPr algn="l">
              <a:lnSpc>
                <a:spcPct val="100000"/>
              </a:lnSpc>
              <a:spcAft>
                <a:spcPts val="400"/>
              </a:spcAft>
            </a:pPr>
            <a:r>
              <a:rPr sz="2800" b="1" i="0">
                <a:solidFill>
                  <a:srgbClr val="2A7F50"/>
                </a:solidFill>
                <a:latin typeface="Calibri"/>
              </a:rPr>
              <a:t>4</a:t>
            </a:r>
          </a:p>
        </p:txBody>
      </p:sp>
      <p:sp>
        <p:nvSpPr>
          <p:cNvPr id="27" name="TextBox 26"/>
          <p:cNvSpPr txBox="1"/>
          <p:nvPr/>
        </p:nvSpPr>
        <p:spPr>
          <a:xfrm>
            <a:off x="9528048"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2A7F50"/>
                </a:solidFill>
                <a:latin typeface="Calibri"/>
              </a:rPr>
              <a:t>Keeps watch</a:t>
            </a:r>
          </a:p>
        </p:txBody>
      </p:sp>
      <p:sp>
        <p:nvSpPr>
          <p:cNvPr id="28" name="TextBox 27"/>
          <p:cNvSpPr txBox="1"/>
          <p:nvPr/>
        </p:nvSpPr>
        <p:spPr>
          <a:xfrm>
            <a:off x="9528048"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Every 6 hours it re-checks stored parts and flags where a real price is far from the should-cost.</a:t>
            </a:r>
          </a:p>
        </p:txBody>
      </p:sp>
      <p:sp>
        <p:nvSpPr>
          <p:cNvPr id="29" name="TextBox 28"/>
          <p:cNvSpPr txBox="1"/>
          <p:nvPr/>
        </p:nvSpPr>
        <p:spPr>
          <a:xfrm>
            <a:off x="411480" y="5486400"/>
            <a:ext cx="11338560" cy="822960"/>
          </a:xfrm>
          <a:prstGeom prst="rect">
            <a:avLst/>
          </a:prstGeom>
          <a:noFill/>
        </p:spPr>
        <p:txBody>
          <a:bodyPr wrap="square" anchor="t" lIns="0" rIns="0" tIns="0" bIns="0">
            <a:spAutoFit/>
          </a:bodyPr>
          <a:lstStyle/>
          <a:p>
            <a:pPr algn="l">
              <a:lnSpc>
                <a:spcPct val="115000"/>
              </a:lnSpc>
              <a:spcAft>
                <a:spcPts val="400"/>
              </a:spcAft>
            </a:pPr>
            <a:r>
              <a:rPr sz="1250" b="1" i="0">
                <a:solidFill>
                  <a:srgbClr val="16325C"/>
                </a:solidFill>
                <a:latin typeface="Calibri"/>
              </a:rPr>
              <a:t>Deliberate design choice: </a:t>
            </a:r>
            <a:r>
              <a:rPr sz="1250" b="0" i="0">
                <a:solidFill>
                  <a:srgbClr val="3A4356"/>
                </a:solidFill>
                <a:latin typeface="Calibri"/>
              </a:rPr>
              <a:t>none of this uses AI. It is simple statistics over our own data: medians, match scores and price gaps. Every suggestion shows its source parts and its arithmetic, so it can be defended in front of a supplier.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HOW IT WORKS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How it works — the learning loop</a:t>
            </a:r>
          </a:p>
        </p:txBody>
      </p:sp>
      <p:sp>
        <p:nvSpPr>
          <p:cNvPr id="9" name="Chevron 8"/>
          <p:cNvSpPr/>
          <p:nvPr/>
        </p:nvSpPr>
        <p:spPr>
          <a:xfrm>
            <a:off x="365760" y="2194560"/>
            <a:ext cx="2048256" cy="105156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1 · Cost</a:t>
            </a:r>
          </a:p>
          <a:p>
            <a:pPr algn="l"/>
            <a:r>
              <a:rPr sz="850">
                <a:solidFill>
                  <a:srgbClr val="E8EEFF"/>
                </a:solidFill>
                <a:latin typeface="Calibri"/>
              </a:rPr>
              <a:t>Engineer costs a part as usual</a:t>
            </a:r>
          </a:p>
        </p:txBody>
      </p:sp>
      <p:sp>
        <p:nvSpPr>
          <p:cNvPr id="10" name="Chevron 9"/>
          <p:cNvSpPr/>
          <p:nvPr/>
        </p:nvSpPr>
        <p:spPr>
          <a:xfrm>
            <a:off x="2127260" y="2194560"/>
            <a:ext cx="2048256" cy="105156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2 · Remember</a:t>
            </a:r>
          </a:p>
          <a:p>
            <a:pPr algn="l"/>
            <a:r>
              <a:rPr sz="850">
                <a:solidFill>
                  <a:srgbClr val="E8EEFF"/>
                </a:solidFill>
                <a:latin typeface="Calibri"/>
              </a:rPr>
              <a:t>Saved to the knowledge base</a:t>
            </a:r>
          </a:p>
        </p:txBody>
      </p:sp>
      <p:sp>
        <p:nvSpPr>
          <p:cNvPr id="11" name="Chevron 10"/>
          <p:cNvSpPr/>
          <p:nvPr/>
        </p:nvSpPr>
        <p:spPr>
          <a:xfrm>
            <a:off x="3888760" y="2194560"/>
            <a:ext cx="2048256" cy="1051560"/>
          </a:xfrm>
          <a:prstGeom prst="chevron">
            <a:avLst>
              <a:gd name="adj" fmla="val 28000"/>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3 · Recognise</a:t>
            </a:r>
          </a:p>
          <a:p>
            <a:pPr algn="l"/>
            <a:r>
              <a:rPr sz="850">
                <a:solidFill>
                  <a:srgbClr val="E8EEFF"/>
                </a:solidFill>
                <a:latin typeface="Calibri"/>
              </a:rPr>
              <a:t>Similar past parts shown</a:t>
            </a:r>
          </a:p>
        </p:txBody>
      </p:sp>
      <p:sp>
        <p:nvSpPr>
          <p:cNvPr id="12" name="Chevron 11"/>
          <p:cNvSpPr/>
          <p:nvPr/>
        </p:nvSpPr>
        <p:spPr>
          <a:xfrm>
            <a:off x="5650260" y="2194560"/>
            <a:ext cx="2048256" cy="1051560"/>
          </a:xfrm>
          <a:prstGeom prst="chevron">
            <a:avLst>
              <a:gd name="adj" fmla="val 28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4 · Suggest</a:t>
            </a:r>
          </a:p>
          <a:p>
            <a:pPr algn="l"/>
            <a:r>
              <a:rPr sz="850">
                <a:solidFill>
                  <a:srgbClr val="E8EEFF"/>
                </a:solidFill>
                <a:latin typeface="Calibri"/>
              </a:rPr>
              <a:t>Median cost, material, real prices</a:t>
            </a:r>
          </a:p>
        </p:txBody>
      </p:sp>
      <p:sp>
        <p:nvSpPr>
          <p:cNvPr id="13" name="Chevron 12"/>
          <p:cNvSpPr/>
          <p:nvPr/>
        </p:nvSpPr>
        <p:spPr>
          <a:xfrm>
            <a:off x="7411760" y="2194560"/>
            <a:ext cx="2048256" cy="1051560"/>
          </a:xfrm>
          <a:prstGeom prst="chevron">
            <a:avLst>
              <a:gd name="adj" fmla="val 28000"/>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5 · Learn</a:t>
            </a:r>
          </a:p>
          <a:p>
            <a:pPr algn="l"/>
            <a:r>
              <a:rPr sz="850">
                <a:solidFill>
                  <a:srgbClr val="E8EEFF"/>
                </a:solidFill>
                <a:latin typeface="Calibri"/>
              </a:rPr>
              <a:t>Real price logged → corrects after 3</a:t>
            </a:r>
          </a:p>
        </p:txBody>
      </p:sp>
      <p:sp>
        <p:nvSpPr>
          <p:cNvPr id="14" name="Chevron 13"/>
          <p:cNvSpPr/>
          <p:nvPr/>
        </p:nvSpPr>
        <p:spPr>
          <a:xfrm>
            <a:off x="9173260" y="2194560"/>
            <a:ext cx="2048256" cy="1051560"/>
          </a:xfrm>
          <a:prstGeom prst="chevron">
            <a:avLst>
              <a:gd name="adj" fmla="val 28000"/>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6 · Watch</a:t>
            </a:r>
          </a:p>
          <a:p>
            <a:pPr algn="l"/>
            <a:r>
              <a:rPr sz="850">
                <a:solidFill>
                  <a:srgbClr val="E8EEFF"/>
                </a:solidFill>
                <a:latin typeface="Calibri"/>
              </a:rPr>
              <a:t>Background check flags gaps</a:t>
            </a:r>
          </a:p>
        </p:txBody>
      </p:sp>
      <p:sp>
        <p:nvSpPr>
          <p:cNvPr id="15" name="Bent-Up Arrow 14"/>
          <p:cNvSpPr/>
          <p:nvPr/>
        </p:nvSpPr>
        <p:spPr>
          <a:xfrm rot="10800000">
            <a:off x="5120640" y="3520440"/>
            <a:ext cx="5669280" cy="777240"/>
          </a:xfrm>
          <a:prstGeom prst="bentUp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4480560"/>
            <a:ext cx="4206240" cy="320040"/>
          </a:xfrm>
          <a:prstGeom prst="rect">
            <a:avLst/>
          </a:prstGeom>
          <a:noFill/>
        </p:spPr>
        <p:txBody>
          <a:bodyPr wrap="square" anchor="t" lIns="0" rIns="0" tIns="0" bIns="0">
            <a:spAutoFit/>
          </a:bodyPr>
          <a:lstStyle/>
          <a:p>
            <a:pPr algn="ctr">
              <a:lnSpc>
                <a:spcPct val="100000"/>
              </a:lnSpc>
              <a:spcAft>
                <a:spcPts val="400"/>
              </a:spcAft>
            </a:pPr>
            <a:r>
              <a:rPr sz="1200" b="0" i="1">
                <a:solidFill>
                  <a:srgbClr val="686F7D"/>
                </a:solidFill>
                <a:latin typeface="Calibri"/>
              </a:rPr>
              <a:t>…each real price feeds the next estimate</a:t>
            </a:r>
          </a:p>
        </p:txBody>
      </p:sp>
      <p:sp>
        <p:nvSpPr>
          <p:cNvPr id="17" name="Rounded Rectangle 16"/>
          <p:cNvSpPr/>
          <p:nvPr/>
        </p:nvSpPr>
        <p:spPr>
          <a:xfrm>
            <a:off x="411480" y="5029200"/>
            <a:ext cx="11384280" cy="123444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230368"/>
            <a:ext cx="108813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16325C"/>
                </a:solidFill>
                <a:latin typeface="Calibri"/>
              </a:rPr>
              <a:t>Very little extra work. </a:t>
            </a:r>
            <a:r>
              <a:rPr sz="1300" b="0" i="0">
                <a:solidFill>
                  <a:srgbClr val="3A4356"/>
                </a:solidFill>
                <a:latin typeface="Calibri"/>
              </a:rPr>
              <a:t>Steps 2, 3, 4 and 6 happen by themselves when you are signed in. The one new habit is one click, "Log Actual £", when a real supplier price arrives. That click is what the whole loop learns from.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1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memory — a shared knowledge base</a:t>
            </a:r>
          </a:p>
        </p:txBody>
      </p:sp>
      <p:sp>
        <p:nvSpPr>
          <p:cNvPr id="9" name="Rounded Rectangle 8"/>
          <p:cNvSpPr/>
          <p:nvPr/>
        </p:nvSpPr>
        <p:spPr>
          <a:xfrm>
            <a:off x="411480" y="1828800"/>
            <a:ext cx="548640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What is stored for every costing</a:t>
            </a:r>
          </a:p>
        </p:txBody>
      </p:sp>
      <p:sp>
        <p:nvSpPr>
          <p:cNvPr id="11" name="Rectangle 10"/>
          <p:cNvSpPr/>
          <p:nvPr/>
        </p:nvSpPr>
        <p:spPr>
          <a:xfrm>
            <a:off x="685800" y="2514600"/>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14600"/>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Part fingerprint — </a:t>
            </a:r>
            <a:r>
              <a:rPr sz="1250" b="0" i="0">
                <a:solidFill>
                  <a:srgbClr val="3A4356"/>
                </a:solidFill>
                <a:latin typeface="Calibri"/>
              </a:rPr>
              <a:t>process, material, weight, size, region, volume</a:t>
            </a:r>
          </a:p>
        </p:txBody>
      </p:sp>
      <p:sp>
        <p:nvSpPr>
          <p:cNvPr id="13" name="Rectangle 12"/>
          <p:cNvSpPr/>
          <p:nvPr/>
        </p:nvSpPr>
        <p:spPr>
          <a:xfrm>
            <a:off x="685800" y="3172968"/>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72968"/>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The cost result — </a:t>
            </a:r>
            <a:r>
              <a:rPr sz="1250" b="0" i="0">
                <a:solidFill>
                  <a:srgbClr val="3A4356"/>
                </a:solidFill>
                <a:latin typeface="Calibri"/>
              </a:rPr>
              <a:t>the total and the 8 cost buckets</a:t>
            </a:r>
          </a:p>
        </p:txBody>
      </p:sp>
      <p:sp>
        <p:nvSpPr>
          <p:cNvPr id="15" name="Rectangle 14"/>
          <p:cNvSpPr/>
          <p:nvPr/>
        </p:nvSpPr>
        <p:spPr>
          <a:xfrm>
            <a:off x="685800" y="3831335"/>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31335"/>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Real prices — </a:t>
            </a:r>
            <a:r>
              <a:rPr sz="1250" b="0" i="0">
                <a:solidFill>
                  <a:srgbClr val="3A4356"/>
                </a:solidFill>
                <a:latin typeface="Calibri"/>
              </a:rPr>
              <a:t>the supplier quote or PO price, once logged</a:t>
            </a:r>
          </a:p>
        </p:txBody>
      </p:sp>
      <p:sp>
        <p:nvSpPr>
          <p:cNvPr id="17" name="Rectangle 16"/>
          <p:cNvSpPr/>
          <p:nvPr/>
        </p:nvSpPr>
        <p:spPr>
          <a:xfrm>
            <a:off x="685800" y="4489704"/>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89704"/>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When it was costed — </a:t>
            </a:r>
            <a:r>
              <a:rPr sz="1250" b="0" i="0">
                <a:solidFill>
                  <a:srgbClr val="3A4356"/>
                </a:solidFill>
                <a:latin typeface="Calibri"/>
              </a:rPr>
              <a:t>so old, unchecked estimates can be flagged</a:t>
            </a:r>
          </a:p>
        </p:txBody>
      </p:sp>
      <p:sp>
        <p:nvSpPr>
          <p:cNvPr id="19" name="Rectangle 18"/>
          <p:cNvSpPr/>
          <p:nvPr/>
        </p:nvSpPr>
        <p:spPr>
          <a:xfrm>
            <a:off x="685800" y="5148072"/>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148072"/>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CAD shape data — </a:t>
            </a:r>
            <a:r>
              <a:rPr sz="1250" b="0" i="0">
                <a:solidFill>
                  <a:srgbClr val="3A4356"/>
                </a:solidFill>
                <a:latin typeface="Calibri"/>
              </a:rPr>
              <a:t>size, volume and hole count, when a CAD file was used</a:t>
            </a:r>
          </a:p>
        </p:txBody>
      </p:sp>
      <p:sp>
        <p:nvSpPr>
          <p:cNvPr id="21" name="Rounded Rectangle 20"/>
          <p:cNvSpPr/>
          <p:nvPr/>
        </p:nvSpPr>
        <p:spPr>
          <a:xfrm>
            <a:off x="6263640" y="1828800"/>
            <a:ext cx="5532120" cy="420624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Why it matters to us</a:t>
            </a:r>
          </a:p>
        </p:txBody>
      </p:sp>
      <p:sp>
        <p:nvSpPr>
          <p:cNvPr id="23" name="TextBox 22"/>
          <p:cNvSpPr txBox="1"/>
          <p:nvPr/>
        </p:nvSpPr>
        <p:spPr>
          <a:xfrm>
            <a:off x="6537960" y="2514600"/>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A7F50"/>
                </a:solidFill>
                <a:latin typeface="Calibri"/>
              </a:rPr>
              <a:t>•  Shared, not personal</a:t>
            </a:r>
          </a:p>
          <a:p>
            <a:pPr algn="l">
              <a:lnSpc>
                <a:spcPct val="105000"/>
              </a:lnSpc>
              <a:spcAft>
                <a:spcPts val="200"/>
              </a:spcAft>
            </a:pPr>
            <a:r>
              <a:rPr sz="1150" b="0" i="0">
                <a:solidFill>
                  <a:srgbClr val="3A4356"/>
                </a:solidFill>
                <a:latin typeface="Calibri"/>
              </a:rPr>
              <a:t>One engineer's costing helps the next person on the same installation.</a:t>
            </a:r>
          </a:p>
        </p:txBody>
      </p:sp>
      <p:sp>
        <p:nvSpPr>
          <p:cNvPr id="24" name="TextBox 23"/>
          <p:cNvSpPr txBox="1"/>
          <p:nvPr/>
        </p:nvSpPr>
        <p:spPr>
          <a:xfrm>
            <a:off x="6537960" y="3355848"/>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A7F50"/>
                </a:solidFill>
                <a:latin typeface="Calibri"/>
              </a:rPr>
              <a:t>•  Stays with us</a:t>
            </a:r>
          </a:p>
          <a:p>
            <a:pPr algn="l">
              <a:lnSpc>
                <a:spcPct val="105000"/>
              </a:lnSpc>
              <a:spcAft>
                <a:spcPts val="200"/>
              </a:spcAft>
            </a:pPr>
            <a:r>
              <a:rPr sz="1150" b="0" i="0">
                <a:solidFill>
                  <a:srgbClr val="3A4356"/>
                </a:solidFill>
                <a:latin typeface="Calibri"/>
              </a:rPr>
              <a:t>Kept in the tool's own database on our laptop or server. Nothing is sent out.</a:t>
            </a:r>
          </a:p>
        </p:txBody>
      </p:sp>
      <p:sp>
        <p:nvSpPr>
          <p:cNvPr id="25" name="TextBox 24"/>
          <p:cNvSpPr txBox="1"/>
          <p:nvPr/>
        </p:nvSpPr>
        <p:spPr>
          <a:xfrm>
            <a:off x="6537960" y="4197096"/>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A7F50"/>
                </a:solidFill>
                <a:latin typeface="Calibri"/>
              </a:rPr>
              <a:t>•  No duplicates</a:t>
            </a:r>
          </a:p>
          <a:p>
            <a:pPr algn="l">
              <a:lnSpc>
                <a:spcPct val="105000"/>
              </a:lnSpc>
              <a:spcAft>
                <a:spcPts val="200"/>
              </a:spcAft>
            </a:pPr>
            <a:r>
              <a:rPr sz="1150" b="0" i="0">
                <a:solidFill>
                  <a:srgbClr val="3A4356"/>
                </a:solidFill>
                <a:latin typeface="Calibri"/>
              </a:rPr>
              <a:t>Re-costing a part with the same name and process updates its record.</a:t>
            </a:r>
          </a:p>
        </p:txBody>
      </p:sp>
      <p:sp>
        <p:nvSpPr>
          <p:cNvPr id="26" name="TextBox 25"/>
          <p:cNvSpPr txBox="1"/>
          <p:nvPr/>
        </p:nvSpPr>
        <p:spPr>
          <a:xfrm>
            <a:off x="6537960" y="5038344"/>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A7F50"/>
                </a:solidFill>
                <a:latin typeface="Calibri"/>
              </a:rPr>
              <a:t>•  Grows with use</a:t>
            </a:r>
          </a:p>
          <a:p>
            <a:pPr algn="l">
              <a:lnSpc>
                <a:spcPct val="105000"/>
              </a:lnSpc>
              <a:spcAft>
                <a:spcPts val="200"/>
              </a:spcAft>
            </a:pPr>
            <a:r>
              <a:rPr sz="1150" b="0" i="0">
                <a:solidFill>
                  <a:srgbClr val="3A4356"/>
                </a:solidFill>
                <a:latin typeface="Calibri"/>
              </a:rPr>
              <a:t>It starts empty. It gets more useful as parts and real prices go 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2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Recognition — "we have costed this before"</a:t>
            </a:r>
          </a:p>
        </p:txBody>
      </p:sp>
      <p:sp>
        <p:nvSpPr>
          <p:cNvPr id="9" name="TextBox 8"/>
          <p:cNvSpPr txBox="1"/>
          <p:nvPr/>
        </p:nvSpPr>
        <p:spPr>
          <a:xfrm>
            <a:off x="411480" y="1691640"/>
            <a:ext cx="11338560" cy="36576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When an engineer costs a new part, the tool looks through past costings and shows this straight away:</a:t>
            </a:r>
          </a:p>
        </p:txBody>
      </p:sp>
      <p:sp>
        <p:nvSpPr>
          <p:cNvPr id="10" name="Rounded Rectangle 9"/>
          <p:cNvSpPr/>
          <p:nvPr/>
        </p:nvSpPr>
        <p:spPr>
          <a:xfrm>
            <a:off x="411480" y="2194560"/>
            <a:ext cx="11384280" cy="28346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94560"/>
            <a:ext cx="82296" cy="2834640"/>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77440"/>
            <a:ext cx="1078992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Similar past parts</a:t>
            </a:r>
            <a:r>
              <a:rPr sz="1050" b="0" i="0">
                <a:solidFill>
                  <a:srgbClr val="686F7D"/>
                </a:solidFill>
                <a:latin typeface="Calibri"/>
              </a:rPr>
              <a:t>      (up to 3 · same process only · 55% match or better)</a:t>
            </a:r>
          </a:p>
        </p:txBody>
      </p:sp>
      <p:sp>
        <p:nvSpPr>
          <p:cNvPr id="13" name="TextBox 12"/>
          <p:cNvSpPr txBox="1"/>
          <p:nvPr/>
        </p:nvSpPr>
        <p:spPr>
          <a:xfrm>
            <a:off x="822960" y="27889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How close</a:t>
            </a:r>
            <a:r>
              <a:rPr sz="1050" b="0" i="0">
                <a:solidFill>
                  <a:srgbClr val="686F7D"/>
                </a:solidFill>
                <a:latin typeface="Calibri"/>
              </a:rPr>
              <a:t>   a match score for each past part</a:t>
            </a:r>
          </a:p>
        </p:txBody>
      </p:sp>
      <p:sp>
        <p:nvSpPr>
          <p:cNvPr id="14" name="TextBox 13"/>
          <p:cNvSpPr txBox="1"/>
          <p:nvPr/>
        </p:nvSpPr>
        <p:spPr>
          <a:xfrm>
            <a:off x="7315200" y="27889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What matched</a:t>
            </a:r>
            <a:r>
              <a:rPr sz="1050" b="0" i="0">
                <a:solidFill>
                  <a:srgbClr val="6B3FA0"/>
                </a:solidFill>
                <a:latin typeface="Calibri"/>
              </a:rPr>
              <a:t>   material, weight, size, region</a:t>
            </a:r>
          </a:p>
        </p:txBody>
      </p:sp>
      <p:sp>
        <p:nvSpPr>
          <p:cNvPr id="15" name="TextBox 14"/>
          <p:cNvSpPr txBox="1"/>
          <p:nvPr/>
        </p:nvSpPr>
        <p:spPr>
          <a:xfrm>
            <a:off x="822960" y="32461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What it cost</a:t>
            </a:r>
            <a:r>
              <a:rPr sz="1050" b="0" i="0">
                <a:solidFill>
                  <a:srgbClr val="686F7D"/>
                </a:solidFill>
                <a:latin typeface="Calibri"/>
              </a:rPr>
              <a:t>   our should-cost at the time</a:t>
            </a:r>
          </a:p>
        </p:txBody>
      </p:sp>
      <p:sp>
        <p:nvSpPr>
          <p:cNvPr id="16" name="TextBox 15"/>
          <p:cNvSpPr txBox="1"/>
          <p:nvPr/>
        </p:nvSpPr>
        <p:spPr>
          <a:xfrm>
            <a:off x="7315200" y="32461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What we paid</a:t>
            </a:r>
            <a:r>
              <a:rPr sz="1050" b="0" i="0">
                <a:solidFill>
                  <a:srgbClr val="6B3FA0"/>
                </a:solidFill>
                <a:latin typeface="Calibri"/>
              </a:rPr>
              <a:t>   the real price, if one was logged</a:t>
            </a:r>
          </a:p>
        </p:txBody>
      </p:sp>
      <p:sp>
        <p:nvSpPr>
          <p:cNvPr id="17" name="TextBox 16"/>
          <p:cNvSpPr txBox="1"/>
          <p:nvPr/>
        </p:nvSpPr>
        <p:spPr>
          <a:xfrm>
            <a:off x="822960" y="37033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Which part</a:t>
            </a:r>
            <a:r>
              <a:rPr sz="1050" b="0" i="0">
                <a:solidFill>
                  <a:srgbClr val="686F7D"/>
                </a:solidFill>
                <a:latin typeface="Calibri"/>
              </a:rPr>
              <a:t>   named, so you can open it</a:t>
            </a:r>
          </a:p>
        </p:txBody>
      </p:sp>
      <p:sp>
        <p:nvSpPr>
          <p:cNvPr id="18" name="TextBox 17"/>
          <p:cNvSpPr txBox="1"/>
          <p:nvPr/>
        </p:nvSpPr>
        <p:spPr>
          <a:xfrm>
            <a:off x="7315200" y="37033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No match?</a:t>
            </a:r>
            <a:r>
              <a:rPr sz="1050" b="0" i="0">
                <a:solidFill>
                  <a:srgbClr val="6B3FA0"/>
                </a:solidFill>
                <a:latin typeface="Calibri"/>
              </a:rPr>
              <a:t>   it says so, and learns a new family</a:t>
            </a:r>
          </a:p>
        </p:txBody>
      </p:sp>
      <p:sp>
        <p:nvSpPr>
          <p:cNvPr id="19" name="TextBox 18"/>
          <p:cNvSpPr txBox="1"/>
          <p:nvPr/>
        </p:nvSpPr>
        <p:spPr>
          <a:xfrm>
            <a:off x="822960" y="4206240"/>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  Median cost of the similar parts</a:t>
            </a:r>
          </a:p>
        </p:txBody>
      </p:sp>
      <p:sp>
        <p:nvSpPr>
          <p:cNvPr id="20" name="TextBox 19"/>
          <p:cNvSpPr txBox="1"/>
          <p:nvPr/>
        </p:nvSpPr>
        <p:spPr>
          <a:xfrm>
            <a:off x="822960" y="448055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  The material most of them used</a:t>
            </a:r>
          </a:p>
        </p:txBody>
      </p:sp>
      <p:sp>
        <p:nvSpPr>
          <p:cNvPr id="21" name="TextBox 20"/>
          <p:cNvSpPr txBox="1"/>
          <p:nvPr/>
        </p:nvSpPr>
        <p:spPr>
          <a:xfrm>
            <a:off x="822960" y="475487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6B3FA0"/>
                </a:solidFill>
                <a:latin typeface="Calibri"/>
              </a:rPr>
              <a:t>•  A warning if this estimate is 15% or more away from them, naming the cost bucket that differs most</a:t>
            </a:r>
          </a:p>
        </p:txBody>
      </p:sp>
      <p:sp>
        <p:nvSpPr>
          <p:cNvPr id="22" name="Rounded Rectangle 21"/>
          <p:cNvSpPr/>
          <p:nvPr/>
        </p:nvSpPr>
        <p:spPr>
          <a:xfrm>
            <a:off x="411480" y="5303520"/>
            <a:ext cx="11384280" cy="9144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458968"/>
            <a:ext cx="10881360" cy="68580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Every match says what matched and how strongly, and every suggestion names its source parts. </a:t>
            </a:r>
            <a:r>
              <a:rPr sz="1250" b="1" i="0">
                <a:solidFill>
                  <a:srgbClr val="16325C"/>
                </a:solidFill>
                <a:latin typeface="Calibri"/>
              </a:rPr>
              <a:t>Nothing is hidden.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3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Self-correction — it learns from real prices</a:t>
            </a:r>
          </a:p>
        </p:txBody>
      </p:sp>
      <p:sp>
        <p:nvSpPr>
          <p:cNvPr id="9" name="Rounded Rectangle 8"/>
          <p:cNvSpPr/>
          <p:nvPr/>
        </p:nvSpPr>
        <p:spPr>
          <a:xfrm>
            <a:off x="411480" y="1965960"/>
            <a:ext cx="603504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65960"/>
            <a:ext cx="82296" cy="1097280"/>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93976"/>
            <a:ext cx="55778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686F7D"/>
                </a:solidFill>
                <a:latin typeface="Calibri"/>
              </a:rPr>
              <a:t>0 to 2 real prices</a:t>
            </a:r>
          </a:p>
        </p:txBody>
      </p:sp>
      <p:sp>
        <p:nvSpPr>
          <p:cNvPr id="12" name="TextBox 11"/>
          <p:cNvSpPr txBox="1"/>
          <p:nvPr/>
        </p:nvSpPr>
        <p:spPr>
          <a:xfrm>
            <a:off x="685800" y="2423160"/>
            <a:ext cx="557784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No correction yet. The tool tells you how many more it needs.</a:t>
            </a:r>
          </a:p>
        </p:txBody>
      </p:sp>
      <p:sp>
        <p:nvSpPr>
          <p:cNvPr id="13" name="Rounded Rectangle 12"/>
          <p:cNvSpPr/>
          <p:nvPr/>
        </p:nvSpPr>
        <p:spPr>
          <a:xfrm>
            <a:off x="411480" y="3246120"/>
            <a:ext cx="603504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3246120"/>
            <a:ext cx="82296" cy="10972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374136"/>
            <a:ext cx="55778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3 or more real prices</a:t>
            </a:r>
          </a:p>
        </p:txBody>
      </p:sp>
      <p:sp>
        <p:nvSpPr>
          <p:cNvPr id="16" name="TextBox 15"/>
          <p:cNvSpPr txBox="1"/>
          <p:nvPr/>
        </p:nvSpPr>
        <p:spPr>
          <a:xfrm>
            <a:off x="685800" y="3703320"/>
            <a:ext cx="557784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Correction switched on: the estimate is scaled by the median of real ÷ estimate.</a:t>
            </a:r>
          </a:p>
        </p:txBody>
      </p:sp>
      <p:sp>
        <p:nvSpPr>
          <p:cNvPr id="17" name="Rounded Rectangle 16"/>
          <p:cNvSpPr/>
          <p:nvPr/>
        </p:nvSpPr>
        <p:spPr>
          <a:xfrm>
            <a:off x="411480" y="4526280"/>
            <a:ext cx="603504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526280"/>
            <a:ext cx="82296"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654296"/>
            <a:ext cx="55778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1D6FB8"/>
                </a:solidFill>
                <a:latin typeface="Calibri"/>
              </a:rPr>
              <a:t>Every price after that</a:t>
            </a:r>
          </a:p>
        </p:txBody>
      </p:sp>
      <p:sp>
        <p:nvSpPr>
          <p:cNvPr id="20" name="TextBox 19"/>
          <p:cNvSpPr txBox="1"/>
          <p:nvPr/>
        </p:nvSpPr>
        <p:spPr>
          <a:xfrm>
            <a:off x="685800" y="4983480"/>
            <a:ext cx="557784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correction and the error figures are worked out again.</a:t>
            </a:r>
          </a:p>
        </p:txBody>
      </p:sp>
      <p:sp>
        <p:nvSpPr>
          <p:cNvPr id="21" name="TextBox 20"/>
          <p:cNvSpPr txBox="1"/>
          <p:nvPr/>
        </p:nvSpPr>
        <p:spPr>
          <a:xfrm>
            <a:off x="411480" y="5715000"/>
            <a:ext cx="603504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86F7D"/>
                </a:solidFill>
                <a:latin typeface="Calibri"/>
              </a:rPr>
              <a:t>How the correction switches on. No JLR prices have been logged yet.</a:t>
            </a:r>
          </a:p>
        </p:txBody>
      </p:sp>
      <p:sp>
        <p:nvSpPr>
          <p:cNvPr id="22" name="Rounded Rectangle 21"/>
          <p:cNvSpPr/>
          <p:nvPr/>
        </p:nvSpPr>
        <p:spPr>
          <a:xfrm>
            <a:off x="6812280" y="1965960"/>
            <a:ext cx="498348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6600" y="2194560"/>
            <a:ext cx="4480560" cy="3840480"/>
          </a:xfrm>
          <a:prstGeom prst="rect">
            <a:avLst/>
          </a:prstGeom>
          <a:noFill/>
        </p:spPr>
        <p:txBody>
          <a:bodyPr wrap="square" anchor="t" lIns="0" rIns="0" tIns="0" bIns="0">
            <a:spAutoFit/>
          </a:bodyPr>
          <a:lstStyle/>
          <a:p>
            <a:pPr algn="l">
              <a:lnSpc>
                <a:spcPct val="112000"/>
              </a:lnSpc>
              <a:spcAft>
                <a:spcPts val="1000"/>
              </a:spcAft>
            </a:pPr>
            <a:r>
              <a:rPr sz="1500" b="1" i="0">
                <a:solidFill>
                  <a:srgbClr val="16325C"/>
                </a:solidFill>
                <a:latin typeface="Calibri"/>
              </a:rPr>
              <a:t>How it works, simply</a:t>
            </a:r>
          </a:p>
          <a:p>
            <a:pPr algn="l">
              <a:lnSpc>
                <a:spcPct val="112000"/>
              </a:lnSpc>
              <a:spcAft>
                <a:spcPts val="1000"/>
              </a:spcAft>
            </a:pPr>
            <a:r>
              <a:rPr sz="1250" b="0" i="0">
                <a:solidFill>
                  <a:srgbClr val="3A4356"/>
                </a:solidFill>
                <a:latin typeface="Calibri"/>
              </a:rPr>
              <a:t>1.  A real price arrives. One click logs it, or paste past prices as a CSV.</a:t>
            </a:r>
          </a:p>
          <a:p>
            <a:pPr algn="l">
              <a:lnSpc>
                <a:spcPct val="112000"/>
              </a:lnSpc>
              <a:spcAft>
                <a:spcPts val="1000"/>
              </a:spcAft>
            </a:pPr>
            <a:r>
              <a:rPr sz="1250" b="0" i="0">
                <a:solidFill>
                  <a:srgbClr val="3A4356"/>
                </a:solidFill>
                <a:latin typeface="Calibri"/>
              </a:rPr>
              <a:t>2.  The tool compares its estimate with the real price.</a:t>
            </a:r>
          </a:p>
          <a:p>
            <a:pPr algn="l">
              <a:lnSpc>
                <a:spcPct val="112000"/>
              </a:lnSpc>
              <a:spcAft>
                <a:spcPts val="1000"/>
              </a:spcAft>
            </a:pPr>
            <a:r>
              <a:rPr sz="1250" b="0" i="0">
                <a:solidFill>
                  <a:srgbClr val="3A4356"/>
                </a:solidFill>
                <a:latin typeface="Calibri"/>
              </a:rPr>
              <a:t>3.  It uses the narrowest group with 3 prices: process + material + region, then process + material, then process.</a:t>
            </a:r>
          </a:p>
          <a:p>
            <a:pPr algn="l">
              <a:lnSpc>
                <a:spcPct val="112000"/>
              </a:lnSpc>
              <a:spcAft>
                <a:spcPts val="1000"/>
              </a:spcAft>
            </a:pPr>
            <a:r>
              <a:rPr sz="1250" b="0" i="0">
                <a:solidFill>
                  <a:srgbClr val="3A4356"/>
                </a:solidFill>
                <a:latin typeface="Calibri"/>
              </a:rPr>
              <a:t>4.  It shows its error before and after, openly.</a:t>
            </a:r>
          </a:p>
          <a:p>
            <a:pPr algn="l">
              <a:lnSpc>
                <a:spcPct val="112000"/>
              </a:lnSpc>
              <a:spcAft>
                <a:spcPts val="1000"/>
              </a:spcAft>
            </a:pPr>
            <a:r>
              <a:rPr sz="1250" b="1" i="0">
                <a:solidFill>
                  <a:srgbClr val="16325C"/>
                </a:solidFill>
                <a:latin typeface="Calibri"/>
              </a:rPr>
              <a:t>Why groups matter: </a:t>
            </a:r>
            <a:r>
              <a:rPr sz="1250" b="0" i="0">
                <a:solidFill>
                  <a:srgbClr val="3A4356"/>
                </a:solidFill>
                <a:latin typeface="Calibri"/>
              </a:rPr>
              <a:t>one process can run low while another runs high. Averaged together they look "fine". Correcting each group separately stops that.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4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Honest ranges — the band follows the real error</a:t>
            </a:r>
          </a:p>
        </p:txBody>
      </p:sp>
      <p:sp>
        <p:nvSpPr>
          <p:cNvPr id="9" name="Rounded Rectangle 8"/>
          <p:cNvSpPr/>
          <p:nvPr/>
        </p:nvSpPr>
        <p:spPr>
          <a:xfrm>
            <a:off x="411480" y="1965960"/>
            <a:ext cx="539496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65960"/>
            <a:ext cx="82296" cy="109728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93976"/>
            <a:ext cx="49377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99651A"/>
                </a:solidFill>
                <a:latin typeface="Calibri"/>
              </a:rPr>
              <a:t>Before any real prices</a:t>
            </a:r>
          </a:p>
        </p:txBody>
      </p:sp>
      <p:sp>
        <p:nvSpPr>
          <p:cNvPr id="12" name="TextBox 11"/>
          <p:cNvSpPr txBox="1"/>
          <p:nvPr/>
        </p:nvSpPr>
        <p:spPr>
          <a:xfrm>
            <a:off x="685800" y="2423160"/>
            <a:ext cx="493776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range comes from how well each input is known (Monte Carlo).</a:t>
            </a:r>
          </a:p>
        </p:txBody>
      </p:sp>
      <p:sp>
        <p:nvSpPr>
          <p:cNvPr id="13" name="Rounded Rectangle 12"/>
          <p:cNvSpPr/>
          <p:nvPr/>
        </p:nvSpPr>
        <p:spPr>
          <a:xfrm>
            <a:off x="411480" y="3246120"/>
            <a:ext cx="539496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3246120"/>
            <a:ext cx="82296" cy="10972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374136"/>
            <a:ext cx="49377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After 3 real prices</a:t>
            </a:r>
          </a:p>
        </p:txBody>
      </p:sp>
      <p:sp>
        <p:nvSpPr>
          <p:cNvPr id="16" name="TextBox 15"/>
          <p:cNvSpPr txBox="1"/>
          <p:nvPr/>
        </p:nvSpPr>
        <p:spPr>
          <a:xfrm>
            <a:off x="685800" y="3703320"/>
            <a:ext cx="493776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range comes from the error the tool actually made on those prices.</a:t>
            </a:r>
          </a:p>
        </p:txBody>
      </p:sp>
      <p:sp>
        <p:nvSpPr>
          <p:cNvPr id="17" name="Rounded Rectangle 16"/>
          <p:cNvSpPr/>
          <p:nvPr/>
        </p:nvSpPr>
        <p:spPr>
          <a:xfrm>
            <a:off x="411480" y="4526280"/>
            <a:ext cx="539496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526280"/>
            <a:ext cx="82296"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654296"/>
            <a:ext cx="49377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1D6FB8"/>
                </a:solidFill>
                <a:latin typeface="Calibri"/>
              </a:rPr>
              <a:t>A floor on precision</a:t>
            </a:r>
          </a:p>
        </p:txBody>
      </p:sp>
      <p:sp>
        <p:nvSpPr>
          <p:cNvPr id="20" name="TextBox 19"/>
          <p:cNvSpPr txBox="1"/>
          <p:nvPr/>
        </p:nvSpPr>
        <p:spPr>
          <a:xfrm>
            <a:off x="685800" y="4983480"/>
            <a:ext cx="493776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Three lucky prices cannot make it claim a razor-thin range.</a:t>
            </a:r>
          </a:p>
        </p:txBody>
      </p:sp>
      <p:sp>
        <p:nvSpPr>
          <p:cNvPr id="21" name="TextBox 20"/>
          <p:cNvSpPr txBox="1"/>
          <p:nvPr/>
        </p:nvSpPr>
        <p:spPr>
          <a:xfrm>
            <a:off x="411480" y="5715000"/>
            <a:ext cx="539496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86F7D"/>
                </a:solidFill>
                <a:latin typeface="Calibri"/>
              </a:rPr>
              <a:t>What sets the width of the range on each result</a:t>
            </a:r>
          </a:p>
        </p:txBody>
      </p:sp>
      <p:sp>
        <p:nvSpPr>
          <p:cNvPr id="22" name="Rounded Rectangle 21"/>
          <p:cNvSpPr/>
          <p:nvPr/>
        </p:nvSpPr>
        <p:spPr>
          <a:xfrm>
            <a:off x="6172200" y="1965960"/>
            <a:ext cx="562356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2194560"/>
            <a:ext cx="5120640" cy="3840480"/>
          </a:xfrm>
          <a:prstGeom prst="rect">
            <a:avLst/>
          </a:prstGeom>
          <a:noFill/>
        </p:spPr>
        <p:txBody>
          <a:bodyPr wrap="square" anchor="t" lIns="0" rIns="0" tIns="0" bIns="0">
            <a:spAutoFit/>
          </a:bodyPr>
          <a:lstStyle/>
          <a:p>
            <a:pPr algn="l">
              <a:lnSpc>
                <a:spcPct val="115000"/>
              </a:lnSpc>
              <a:spcAft>
                <a:spcPts val="1000"/>
              </a:spcAft>
            </a:pPr>
            <a:r>
              <a:rPr sz="1500" b="1" i="0">
                <a:solidFill>
                  <a:srgbClr val="16325C"/>
                </a:solidFill>
                <a:latin typeface="Calibri"/>
              </a:rPr>
              <a:t>Every estimate comes as a range</a:t>
            </a:r>
          </a:p>
          <a:p>
            <a:pPr algn="l">
              <a:lnSpc>
                <a:spcPct val="115000"/>
              </a:lnSpc>
              <a:spcAft>
                <a:spcPts val="1000"/>
              </a:spcAft>
            </a:pPr>
            <a:r>
              <a:rPr sz="1250" b="1" i="0">
                <a:solidFill>
                  <a:srgbClr val="1D6FB8"/>
                </a:solidFill>
                <a:latin typeface="Calibri"/>
              </a:rPr>
              <a:t>Optimistic P10  ·  Most likely P50  ·  Conservative P90</a:t>
            </a:r>
          </a:p>
          <a:p>
            <a:pPr algn="l">
              <a:lnSpc>
                <a:spcPct val="115000"/>
              </a:lnSpc>
              <a:spcAft>
                <a:spcPts val="1000"/>
              </a:spcAft>
            </a:pPr>
            <a:r>
              <a:rPr sz="1250" b="0" i="0">
                <a:solidFill>
                  <a:srgbClr val="3A4356"/>
                </a:solidFill>
                <a:latin typeface="Calibri"/>
              </a:rPr>
              <a:t>A single number suggests a precision an early estimate does not have. The range tells a buyer how far to trust the number, and where to aim in a negotiation.</a:t>
            </a:r>
          </a:p>
          <a:p>
            <a:pPr algn="l">
              <a:lnSpc>
                <a:spcPct val="115000"/>
              </a:lnSpc>
              <a:spcAft>
                <a:spcPts val="1000"/>
              </a:spcAft>
            </a:pPr>
            <a:r>
              <a:rPr sz="1250" b="1" i="0">
                <a:solidFill>
                  <a:srgbClr val="16325C"/>
                </a:solidFill>
                <a:latin typeface="Calibri"/>
              </a:rPr>
              <a:t>Earned, not guessed: </a:t>
            </a:r>
            <a:r>
              <a:rPr sz="1250" b="0" i="0">
                <a:solidFill>
                  <a:srgbClr val="3A4356"/>
                </a:solidFill>
                <a:latin typeface="Calibri"/>
              </a:rPr>
              <a:t>once real prices exist, the width follows how right the tool has been. If it has been right, the range narrows. If it has been wrong, the range widens and says so.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5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background check — it flags price gaps</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While the tool is running, it re-checks every stored part every 6 hours and opens findings </a:t>
            </a:r>
            <a:r>
              <a:rPr sz="1300" b="1" i="0">
                <a:solidFill>
                  <a:srgbClr val="16325C"/>
                </a:solidFill>
                <a:latin typeface="Calibri"/>
              </a:rPr>
              <a:t>without being asked:</a:t>
            </a:r>
          </a:p>
        </p:txBody>
      </p:sp>
      <p:sp>
        <p:nvSpPr>
          <p:cNvPr id="10" name="Rounded Rectangle 9"/>
          <p:cNvSpPr/>
          <p:nvPr/>
        </p:nvSpPr>
        <p:spPr>
          <a:xfrm>
            <a:off x="411480" y="228600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914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0487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B03A2E"/>
                </a:solidFill>
                <a:latin typeface="Calibri"/>
              </a:rPr>
              <a:t>RENEGOTIATE</a:t>
            </a:r>
          </a:p>
        </p:txBody>
      </p:sp>
      <p:sp>
        <p:nvSpPr>
          <p:cNvPr id="13" name="TextBox 12"/>
          <p:cNvSpPr txBox="1"/>
          <p:nvPr/>
        </p:nvSpPr>
        <p:spPr>
          <a:xfrm>
            <a:off x="731520" y="274320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real price is 8% or more above the should-cost. It works out the gap in £ a year.</a:t>
            </a:r>
          </a:p>
        </p:txBody>
      </p:sp>
      <p:sp>
        <p:nvSpPr>
          <p:cNvPr id="14" name="TextBox 13"/>
          <p:cNvSpPr txBox="1"/>
          <p:nvPr/>
        </p:nvSpPr>
        <p:spPr>
          <a:xfrm>
            <a:off x="9052560" y="240487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B03A2E"/>
                </a:solidFill>
                <a:latin typeface="Calibri"/>
              </a:rPr>
              <a:t>8% or more above</a:t>
            </a:r>
          </a:p>
        </p:txBody>
      </p:sp>
      <p:sp>
        <p:nvSpPr>
          <p:cNvPr id="15" name="Rounded Rectangle 14"/>
          <p:cNvSpPr/>
          <p:nvPr/>
        </p:nvSpPr>
        <p:spPr>
          <a:xfrm>
            <a:off x="411480" y="333756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37560"/>
            <a:ext cx="82296" cy="91440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45643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99651A"/>
                </a:solidFill>
                <a:latin typeface="Calibri"/>
              </a:rPr>
              <a:t>UNDERWATER PRICE</a:t>
            </a:r>
          </a:p>
        </p:txBody>
      </p:sp>
      <p:sp>
        <p:nvSpPr>
          <p:cNvPr id="18" name="TextBox 17"/>
          <p:cNvSpPr txBox="1"/>
          <p:nvPr/>
        </p:nvSpPr>
        <p:spPr>
          <a:xfrm>
            <a:off x="731520" y="379476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real price is 8% or more below the should-cost. Check scope and quality: the price may not last.</a:t>
            </a:r>
          </a:p>
        </p:txBody>
      </p:sp>
      <p:sp>
        <p:nvSpPr>
          <p:cNvPr id="19" name="TextBox 18"/>
          <p:cNvSpPr txBox="1"/>
          <p:nvPr/>
        </p:nvSpPr>
        <p:spPr>
          <a:xfrm>
            <a:off x="9052560" y="345643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99651A"/>
                </a:solidFill>
                <a:latin typeface="Calibri"/>
              </a:rPr>
              <a:t>8% or more below</a:t>
            </a:r>
          </a:p>
        </p:txBody>
      </p:sp>
      <p:sp>
        <p:nvSpPr>
          <p:cNvPr id="20" name="Rounded Rectangle 19"/>
          <p:cNvSpPr/>
          <p:nvPr/>
        </p:nvSpPr>
        <p:spPr>
          <a:xfrm>
            <a:off x="411480" y="438912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389120"/>
            <a:ext cx="82296" cy="914400"/>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86F7D"/>
                </a:solidFill>
                <a:latin typeface="Calibri"/>
              </a:rPr>
              <a:t>STALE ESTIMATE</a:t>
            </a:r>
          </a:p>
        </p:txBody>
      </p:sp>
      <p:sp>
        <p:nvSpPr>
          <p:cNvPr id="23" name="TextBox 22"/>
          <p:cNvSpPr txBox="1"/>
          <p:nvPr/>
        </p:nvSpPr>
        <p:spPr>
          <a:xfrm>
            <a:off x="731520" y="484632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An estimate over 90 days old that was never checked against a real price. It asks for one.</a:t>
            </a:r>
          </a:p>
        </p:txBody>
      </p:sp>
      <p:sp>
        <p:nvSpPr>
          <p:cNvPr id="24" name="TextBox 23"/>
          <p:cNvSpPr txBox="1"/>
          <p:nvPr/>
        </p:nvSpPr>
        <p:spPr>
          <a:xfrm>
            <a:off x="9052560" y="450799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686F7D"/>
                </a:solidFill>
                <a:latin typeface="Calibri"/>
              </a:rPr>
              <a:t>90 days, no price</a:t>
            </a:r>
          </a:p>
        </p:txBody>
      </p:sp>
      <p:sp>
        <p:nvSpPr>
          <p:cNvPr id="25" name="Rounded Rectangle 24"/>
          <p:cNvSpPr/>
          <p:nvPr/>
        </p:nvSpPr>
        <p:spPr>
          <a:xfrm>
            <a:off x="411480" y="5532120"/>
            <a:ext cx="11384280" cy="77724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69280"/>
            <a:ext cx="10881360" cy="54864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Worked example:  </a:t>
            </a:r>
            <a:r>
              <a:rPr sz="1350" b="1" i="0">
                <a:solidFill>
                  <a:srgbClr val="B03A2E"/>
                </a:solidFill>
                <a:latin typeface="Calibri"/>
              </a:rPr>
              <a:t>£48 paid − £40 should-cost = £8 × 50,000 a year = £400,000 / yr</a:t>
            </a:r>
            <a:r>
              <a:rPr sz="1100" b="0" i="0">
                <a:solidFill>
                  <a:srgbClr val="686F7D"/>
                </a:solidFill>
                <a:latin typeface="Calibri"/>
              </a:rPr>
              <a:t>   (example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AT JLR TODAY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works with AI off — and what is switched off</a:t>
            </a:r>
          </a:p>
        </p:txBody>
      </p:sp>
      <p:sp>
        <p:nvSpPr>
          <p:cNvPr id="9" name="Rounded Rectangle 8"/>
          <p:cNvSpPr/>
          <p:nvPr/>
        </p:nvSpPr>
        <p:spPr>
          <a:xfrm>
            <a:off x="411480" y="192024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82296" cy="1874519"/>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2A7F50"/>
                </a:solidFill>
                <a:latin typeface="Calibri"/>
              </a:rPr>
              <a:t>Works with AI off: CAD to Cost</a:t>
            </a:r>
          </a:p>
        </p:txBody>
      </p:sp>
      <p:sp>
        <p:nvSpPr>
          <p:cNvPr id="12" name="TextBox 11"/>
          <p:cNvSpPr txBox="1"/>
          <p:nvPr/>
        </p:nvSpPr>
        <p:spPr>
          <a:xfrm>
            <a:off x="68580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Upload STEP, IGES or STL. The tool measures the part, applies rules, and asks the engineer where the geometry cannot decide.</a:t>
            </a:r>
          </a:p>
        </p:txBody>
      </p:sp>
      <p:sp>
        <p:nvSpPr>
          <p:cNvPr id="13" name="Rounded Rectangle 12"/>
          <p:cNvSpPr/>
          <p:nvPr/>
        </p:nvSpPr>
        <p:spPr>
          <a:xfrm>
            <a:off x="6217920" y="192024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920240"/>
            <a:ext cx="82296" cy="1874519"/>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2A7F50"/>
                </a:solidFill>
                <a:latin typeface="Calibri"/>
              </a:rPr>
              <a:t>Works with AI off: checks and extras</a:t>
            </a:r>
          </a:p>
        </p:txBody>
      </p:sp>
      <p:sp>
        <p:nvSpPr>
          <p:cNvPr id="16" name="TextBox 15"/>
          <p:cNvSpPr txBox="1"/>
          <p:nvPr/>
        </p:nvSpPr>
        <p:spPr>
          <a:xfrm>
            <a:off x="649224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Self-audit on every result, shape-based DFM checks, the negotiation pack, and a CO₂e figure next to the £.</a:t>
            </a:r>
          </a:p>
        </p:txBody>
      </p:sp>
      <p:sp>
        <p:nvSpPr>
          <p:cNvPr id="17" name="Rounded Rectangle 16"/>
          <p:cNvSpPr/>
          <p:nvPr/>
        </p:nvSpPr>
        <p:spPr>
          <a:xfrm>
            <a:off x="411480" y="402336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23360"/>
            <a:ext cx="82296" cy="1874519"/>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99651A"/>
                </a:solidFill>
                <a:latin typeface="Calibri"/>
              </a:rPr>
              <a:t>Switched off at JLR: AI assistant and agent</a:t>
            </a:r>
          </a:p>
        </p:txBody>
      </p:sp>
      <p:sp>
        <p:nvSpPr>
          <p:cNvPr id="20" name="TextBox 19"/>
          <p:cNvSpPr txBox="1"/>
          <p:nvPr/>
        </p:nvSpPr>
        <p:spPr>
          <a:xfrm>
            <a:off x="68580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The chat assistant and "describe a part". Built and tested, turned off by a setting. When on, rate-limited per user.</a:t>
            </a:r>
          </a:p>
        </p:txBody>
      </p:sp>
      <p:sp>
        <p:nvSpPr>
          <p:cNvPr id="21" name="Rounded Rectangle 20"/>
          <p:cNvSpPr/>
          <p:nvPr/>
        </p:nvSpPr>
        <p:spPr>
          <a:xfrm>
            <a:off x="6217920" y="402336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82296" cy="1874519"/>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99651A"/>
                </a:solidFill>
                <a:latin typeface="Calibri"/>
              </a:rPr>
              <a:t>Switched off at JLR: reading photos and text</a:t>
            </a:r>
          </a:p>
        </p:txBody>
      </p:sp>
      <p:sp>
        <p:nvSpPr>
          <p:cNvPr id="24" name="TextBox 23"/>
          <p:cNvSpPr txBox="1"/>
          <p:nvPr/>
        </p:nvSpPr>
        <p:spPr>
          <a:xfrm>
            <a:off x="649224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PCB photo to bill of materials, and reading RFQ free text. The tool says "AI is switched off in this installation".</a:t>
            </a:r>
          </a:p>
        </p:txBody>
      </p:sp>
      <p:sp>
        <p:nvSpPr>
          <p:cNvPr id="25" name="TextBox 24"/>
          <p:cNvSpPr txBox="1"/>
          <p:nvPr/>
        </p:nvSpPr>
        <p:spPr>
          <a:xfrm>
            <a:off x="411480" y="6126480"/>
            <a:ext cx="11338560" cy="457200"/>
          </a:xfrm>
          <a:prstGeom prst="rect">
            <a:avLst/>
          </a:prstGeom>
          <a:noFill/>
        </p:spPr>
        <p:txBody>
          <a:bodyPr wrap="square" anchor="t" lIns="0" rIns="0" tIns="0" bIns="0">
            <a:spAutoFit/>
          </a:bodyPr>
          <a:lstStyle/>
          <a:p>
            <a:pPr algn="l">
              <a:lnSpc>
                <a:spcPct val="100000"/>
              </a:lnSpc>
              <a:spcAft>
                <a:spcPts val="400"/>
              </a:spcAft>
            </a:pPr>
            <a:r>
              <a:rPr sz="1200" b="0" i="1">
                <a:solidFill>
                  <a:srgbClr val="686F7D"/>
                </a:solidFill>
                <a:latin typeface="Calibri"/>
              </a:rPr>
              <a:t>Even when AI is on, it never sets a price. All of this sits on 19 manufacturing processes and 20 regions.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INPUTS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it needs from us — very little</a:t>
            </a:r>
          </a:p>
        </p:txBody>
      </p:sp>
      <p:sp>
        <p:nvSpPr>
          <p:cNvPr id="9" name="Rounded Rectangle 8"/>
          <p:cNvSpPr/>
          <p:nvPr/>
        </p:nvSpPr>
        <p:spPr>
          <a:xfrm>
            <a:off x="411480" y="1874519"/>
            <a:ext cx="5486400" cy="39319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D6FB8"/>
                </a:solidFill>
                <a:latin typeface="Calibri"/>
              </a:rPr>
              <a:t>You provide</a:t>
            </a:r>
          </a:p>
        </p:txBody>
      </p:sp>
      <p:sp>
        <p:nvSpPr>
          <p:cNvPr id="11" name="TextBox 10"/>
          <p:cNvSpPr txBox="1"/>
          <p:nvPr/>
        </p:nvSpPr>
        <p:spPr>
          <a:xfrm>
            <a:off x="685800" y="260604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1.  Keep costing parts as normal</a:t>
            </a:r>
          </a:p>
          <a:p>
            <a:pPr algn="l">
              <a:lnSpc>
                <a:spcPct val="100000"/>
              </a:lnSpc>
              <a:spcAft>
                <a:spcPts val="200"/>
              </a:spcAft>
            </a:pPr>
            <a:r>
              <a:rPr sz="1100" b="0" i="0">
                <a:solidFill>
                  <a:srgbClr val="686F7D"/>
                </a:solidFill>
                <a:latin typeface="Calibri"/>
              </a:rPr>
              <a:t>     every costing goes into the memory</a:t>
            </a:r>
          </a:p>
        </p:txBody>
      </p:sp>
      <p:sp>
        <p:nvSpPr>
          <p:cNvPr id="12" name="TextBox 11"/>
          <p:cNvSpPr txBox="1"/>
          <p:nvPr/>
        </p:nvSpPr>
        <p:spPr>
          <a:xfrm>
            <a:off x="685800" y="338328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2.  One click when a real price arrives</a:t>
            </a:r>
          </a:p>
          <a:p>
            <a:pPr algn="l">
              <a:lnSpc>
                <a:spcPct val="100000"/>
              </a:lnSpc>
              <a:spcAft>
                <a:spcPts val="200"/>
              </a:spcAft>
            </a:pPr>
            <a:r>
              <a:rPr sz="1100" b="0" i="0">
                <a:solidFill>
                  <a:srgbClr val="686F7D"/>
                </a:solidFill>
                <a:latin typeface="Calibri"/>
              </a:rPr>
              <a:t>     "Log Actual £" is what it learns from</a:t>
            </a:r>
          </a:p>
        </p:txBody>
      </p:sp>
      <p:sp>
        <p:nvSpPr>
          <p:cNvPr id="13" name="TextBox 12"/>
          <p:cNvSpPr txBox="1"/>
          <p:nvPr/>
        </p:nvSpPr>
        <p:spPr>
          <a:xfrm>
            <a:off x="685800" y="416052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3.  Optional: a CAD file</a:t>
            </a:r>
          </a:p>
          <a:p>
            <a:pPr algn="l">
              <a:lnSpc>
                <a:spcPct val="100000"/>
              </a:lnSpc>
              <a:spcAft>
                <a:spcPts val="200"/>
              </a:spcAft>
            </a:pPr>
            <a:r>
              <a:rPr sz="1100" b="0" i="0">
                <a:solidFill>
                  <a:srgbClr val="686F7D"/>
                </a:solidFill>
                <a:latin typeface="Calibri"/>
              </a:rPr>
              <a:t>     STEP, IGES or STL gives sharper matching</a:t>
            </a:r>
          </a:p>
        </p:txBody>
      </p:sp>
      <p:sp>
        <p:nvSpPr>
          <p:cNvPr id="14" name="TextBox 13"/>
          <p:cNvSpPr txBox="1"/>
          <p:nvPr/>
        </p:nvSpPr>
        <p:spPr>
          <a:xfrm>
            <a:off x="685800" y="493776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4.  Optional: past prices as a CSV</a:t>
            </a:r>
          </a:p>
          <a:p>
            <a:pPr algn="l">
              <a:lnSpc>
                <a:spcPct val="100000"/>
              </a:lnSpc>
              <a:spcAft>
                <a:spcPts val="200"/>
              </a:spcAft>
            </a:pPr>
            <a:r>
              <a:rPr sz="1100" b="0" i="0">
                <a:solidFill>
                  <a:srgbClr val="686F7D"/>
                </a:solidFill>
                <a:latin typeface="Calibri"/>
              </a:rPr>
              <a:t>     so the correction does not start empty</a:t>
            </a:r>
          </a:p>
        </p:txBody>
      </p:sp>
      <p:sp>
        <p:nvSpPr>
          <p:cNvPr id="15" name="Rounded Rectangle 14"/>
          <p:cNvSpPr/>
          <p:nvPr/>
        </p:nvSpPr>
        <p:spPr>
          <a:xfrm>
            <a:off x="6263640" y="1874519"/>
            <a:ext cx="5532120" cy="39319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A7F50"/>
                </a:solidFill>
                <a:latin typeface="Calibri"/>
              </a:rPr>
              <a:t>The tool does</a:t>
            </a:r>
          </a:p>
        </p:txBody>
      </p:sp>
      <p:sp>
        <p:nvSpPr>
          <p:cNvPr id="17" name="TextBox 16"/>
          <p:cNvSpPr txBox="1"/>
          <p:nvPr/>
        </p:nvSpPr>
        <p:spPr>
          <a:xfrm>
            <a:off x="6537960" y="2606040"/>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Remembers every costing, one record per part</a:t>
            </a:r>
          </a:p>
        </p:txBody>
      </p:sp>
      <p:sp>
        <p:nvSpPr>
          <p:cNvPr id="18" name="TextBox 17"/>
          <p:cNvSpPr txBox="1"/>
          <p:nvPr/>
        </p:nvSpPr>
        <p:spPr>
          <a:xfrm>
            <a:off x="6537960" y="3127248"/>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Shows similar past parts and why they match</a:t>
            </a:r>
          </a:p>
        </p:txBody>
      </p:sp>
      <p:sp>
        <p:nvSpPr>
          <p:cNvPr id="19" name="TextBox 18"/>
          <p:cNvSpPr txBox="1"/>
          <p:nvPr/>
        </p:nvSpPr>
        <p:spPr>
          <a:xfrm>
            <a:off x="6537960" y="3648456"/>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Suggests median cost, material and real prices</a:t>
            </a:r>
          </a:p>
        </p:txBody>
      </p:sp>
      <p:sp>
        <p:nvSpPr>
          <p:cNvPr id="20" name="TextBox 19"/>
          <p:cNvSpPr txBox="1"/>
          <p:nvPr/>
        </p:nvSpPr>
        <p:spPr>
          <a:xfrm>
            <a:off x="6537960" y="4169664"/>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Measures its own error and corrects per group</a:t>
            </a:r>
          </a:p>
        </p:txBody>
      </p:sp>
      <p:sp>
        <p:nvSpPr>
          <p:cNvPr id="21" name="TextBox 20"/>
          <p:cNvSpPr txBox="1"/>
          <p:nvPr/>
        </p:nvSpPr>
        <p:spPr>
          <a:xfrm>
            <a:off x="6537960" y="4690872"/>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Sets the range from real error after 3 prices</a:t>
            </a:r>
          </a:p>
        </p:txBody>
      </p:sp>
      <p:sp>
        <p:nvSpPr>
          <p:cNvPr id="22" name="TextBox 21"/>
          <p:cNvSpPr txBox="1"/>
          <p:nvPr/>
        </p:nvSpPr>
        <p:spPr>
          <a:xfrm>
            <a:off x="6537960" y="5212079"/>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Re-checks stored parts and flags price gaps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is proven — and what is not</a:t>
            </a:r>
          </a:p>
        </p:txBody>
      </p:sp>
      <p:sp>
        <p:nvSpPr>
          <p:cNvPr id="9" name="Rounded Rectangle 8"/>
          <p:cNvSpPr/>
          <p:nvPr/>
        </p:nvSpPr>
        <p:spPr>
          <a:xfrm>
            <a:off x="411480" y="1920240"/>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0824"/>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Engine arithmetic vs a hand calculation (reference bracket, £24.34)</a:t>
            </a:r>
          </a:p>
        </p:txBody>
      </p:sp>
      <p:sp>
        <p:nvSpPr>
          <p:cNvPr id="11" name="TextBox 10"/>
          <p:cNvSpPr txBox="1"/>
          <p:nvPr/>
        </p:nvSpPr>
        <p:spPr>
          <a:xfrm>
            <a:off x="7863840" y="2002536"/>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2A7F50"/>
                </a:solidFill>
                <a:latin typeface="Calibri"/>
              </a:rPr>
              <a:t>under 0.01%</a:t>
            </a:r>
          </a:p>
        </p:txBody>
      </p:sp>
      <p:sp>
        <p:nvSpPr>
          <p:cNvPr id="12" name="Rounded Rectangle 11"/>
          <p:cNvSpPr/>
          <p:nvPr/>
        </p:nvSpPr>
        <p:spPr>
          <a:xfrm>
            <a:off x="411480" y="2578608"/>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679192"/>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Real production parts pinned in a regression baseline</a:t>
            </a:r>
          </a:p>
        </p:txBody>
      </p:sp>
      <p:sp>
        <p:nvSpPr>
          <p:cNvPr id="14" name="TextBox 13"/>
          <p:cNvSpPr txBox="1"/>
          <p:nvPr/>
        </p:nvSpPr>
        <p:spPr>
          <a:xfrm>
            <a:off x="7863840" y="2660904"/>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2A7F50"/>
                </a:solidFill>
                <a:latin typeface="Calibri"/>
              </a:rPr>
              <a:t>6 parts</a:t>
            </a:r>
          </a:p>
        </p:txBody>
      </p:sp>
      <p:sp>
        <p:nvSpPr>
          <p:cNvPr id="15" name="Rounded Rectangle 14"/>
          <p:cNvSpPr/>
          <p:nvPr/>
        </p:nvSpPr>
        <p:spPr>
          <a:xfrm>
            <a:off x="411480" y="3236976"/>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37560"/>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Automated tests, plus browser tests on every run</a:t>
            </a:r>
          </a:p>
        </p:txBody>
      </p:sp>
      <p:sp>
        <p:nvSpPr>
          <p:cNvPr id="17" name="TextBox 16"/>
          <p:cNvSpPr txBox="1"/>
          <p:nvPr/>
        </p:nvSpPr>
        <p:spPr>
          <a:xfrm>
            <a:off x="7863840" y="3319272"/>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6B3FA0"/>
                </a:solidFill>
                <a:latin typeface="Calibri"/>
              </a:rPr>
              <a:t>2,438 tests</a:t>
            </a:r>
          </a:p>
        </p:txBody>
      </p:sp>
      <p:sp>
        <p:nvSpPr>
          <p:cNvPr id="18" name="Rounded Rectangle 17"/>
          <p:cNvSpPr/>
          <p:nvPr/>
        </p:nvSpPr>
        <p:spPr>
          <a:xfrm>
            <a:off x="411480" y="3895344"/>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95928"/>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Real prices needed before a correction is applied</a:t>
            </a:r>
          </a:p>
        </p:txBody>
      </p:sp>
      <p:sp>
        <p:nvSpPr>
          <p:cNvPr id="20" name="TextBox 19"/>
          <p:cNvSpPr txBox="1"/>
          <p:nvPr/>
        </p:nvSpPr>
        <p:spPr>
          <a:xfrm>
            <a:off x="7863840" y="3977640"/>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D7D71"/>
                </a:solidFill>
                <a:latin typeface="Calibri"/>
              </a:rPr>
              <a:t>3 per group</a:t>
            </a:r>
          </a:p>
        </p:txBody>
      </p:sp>
      <p:sp>
        <p:nvSpPr>
          <p:cNvPr id="21" name="Rounded Rectangle 20"/>
          <p:cNvSpPr/>
          <p:nvPr/>
        </p:nvSpPr>
        <p:spPr>
          <a:xfrm>
            <a:off x="411480" y="4553712"/>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54296"/>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Estimates compared with a price JLR actually paid</a:t>
            </a:r>
          </a:p>
        </p:txBody>
      </p:sp>
      <p:sp>
        <p:nvSpPr>
          <p:cNvPr id="23" name="TextBox 22"/>
          <p:cNvSpPr txBox="1"/>
          <p:nvPr/>
        </p:nvSpPr>
        <p:spPr>
          <a:xfrm>
            <a:off x="7863840" y="4636008"/>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B03A2E"/>
                </a:solidFill>
                <a:latin typeface="Calibri"/>
              </a:rPr>
              <a:t>None yet</a:t>
            </a:r>
          </a:p>
        </p:txBody>
      </p:sp>
      <p:sp>
        <p:nvSpPr>
          <p:cNvPr id="24" name="Rounded Rectangle 23"/>
          <p:cNvSpPr/>
          <p:nvPr/>
        </p:nvSpPr>
        <p:spPr>
          <a:xfrm>
            <a:off x="411480" y="5212079"/>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5312663"/>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Accuracy against real prices</a:t>
            </a:r>
          </a:p>
        </p:txBody>
      </p:sp>
      <p:sp>
        <p:nvSpPr>
          <p:cNvPr id="26" name="TextBox 25"/>
          <p:cNvSpPr txBox="1"/>
          <p:nvPr/>
        </p:nvSpPr>
        <p:spPr>
          <a:xfrm>
            <a:off x="7863840" y="5294375"/>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99651A"/>
                </a:solidFill>
                <a:latin typeface="Calibri"/>
              </a:rPr>
              <a:t>Measured as we log them</a:t>
            </a:r>
          </a:p>
        </p:txBody>
      </p:sp>
      <p:sp>
        <p:nvSpPr>
          <p:cNvPr id="27" name="Rounded Rectangle 26"/>
          <p:cNvSpPr/>
          <p:nvPr/>
        </p:nvSpPr>
        <p:spPr>
          <a:xfrm>
            <a:off x="411480" y="5943600"/>
            <a:ext cx="11384280" cy="658368"/>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053328"/>
            <a:ext cx="10881360" cy="45720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Honest note: </a:t>
            </a:r>
            <a:r>
              <a:rPr sz="1200" b="0" i="0">
                <a:solidFill>
                  <a:srgbClr val="3A4356"/>
                </a:solidFill>
                <a:latin typeface="Calibri"/>
              </a:rPr>
              <a:t>the learning code is tested, but it has no JLR prices to learn from yet. We will report accuracy once we measure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BENEFITS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this means for the business</a:t>
            </a:r>
          </a:p>
        </p:txBody>
      </p:sp>
      <p:sp>
        <p:nvSpPr>
          <p:cNvPr id="9" name="Rounded Rectangle 8"/>
          <p:cNvSpPr/>
          <p:nvPr/>
        </p:nvSpPr>
        <p:spPr>
          <a:xfrm>
            <a:off x="411480" y="1874519"/>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828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39111"/>
            <a:ext cx="5029200" cy="457200"/>
          </a:xfrm>
          <a:prstGeom prst="rect">
            <a:avLst/>
          </a:prstGeom>
          <a:noFill/>
        </p:spPr>
        <p:txBody>
          <a:bodyPr wrap="square" anchor="t" lIns="0" rIns="0" tIns="0" bIns="0">
            <a:spAutoFit/>
          </a:bodyPr>
          <a:lstStyle/>
          <a:p>
            <a:pPr algn="l">
              <a:lnSpc>
                <a:spcPct val="100000"/>
              </a:lnSpc>
              <a:spcAft>
                <a:spcPts val="400"/>
              </a:spcAft>
            </a:pPr>
            <a:r>
              <a:rPr sz="1600" b="1" i="0">
                <a:solidFill>
                  <a:srgbClr val="1D6FB8"/>
                </a:solidFill>
                <a:latin typeface="Calibri"/>
              </a:rPr>
              <a:t>Quicker starts</a:t>
            </a:r>
          </a:p>
        </p:txBody>
      </p:sp>
      <p:sp>
        <p:nvSpPr>
          <p:cNvPr id="12" name="TextBox 11"/>
          <p:cNvSpPr txBox="1"/>
          <p:nvPr/>
        </p:nvSpPr>
        <p:spPr>
          <a:xfrm>
            <a:off x="68580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A new part starts from similar past parts and real prices, not a blank sheet.</a:t>
            </a:r>
          </a:p>
        </p:txBody>
      </p:sp>
      <p:sp>
        <p:nvSpPr>
          <p:cNvPr id="13" name="Rounded Rectangle 12"/>
          <p:cNvSpPr/>
          <p:nvPr/>
        </p:nvSpPr>
        <p:spPr>
          <a:xfrm>
            <a:off x="6217920" y="1874519"/>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82880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039111"/>
            <a:ext cx="5029200" cy="457200"/>
          </a:xfrm>
          <a:prstGeom prst="rect">
            <a:avLst/>
          </a:prstGeom>
          <a:noFill/>
        </p:spPr>
        <p:txBody>
          <a:bodyPr wrap="square" anchor="t" lIns="0" rIns="0" tIns="0" bIns="0">
            <a:spAutoFit/>
          </a:bodyPr>
          <a:lstStyle/>
          <a:p>
            <a:pPr algn="l">
              <a:lnSpc>
                <a:spcPct val="100000"/>
              </a:lnSpc>
              <a:spcAft>
                <a:spcPts val="400"/>
              </a:spcAft>
            </a:pPr>
            <a:r>
              <a:rPr sz="1600" b="1" i="0">
                <a:solidFill>
                  <a:srgbClr val="2A7F50"/>
                </a:solidFill>
                <a:latin typeface="Calibri"/>
              </a:rPr>
              <a:t>Accuracy you can check</a:t>
            </a:r>
          </a:p>
        </p:txBody>
      </p:sp>
      <p:sp>
        <p:nvSpPr>
          <p:cNvPr id="16" name="TextBox 15"/>
          <p:cNvSpPr txBox="1"/>
          <p:nvPr/>
        </p:nvSpPr>
        <p:spPr>
          <a:xfrm>
            <a:off x="649224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Every real price is compared with the estimate. The error is shown, not claimed.</a:t>
            </a:r>
          </a:p>
        </p:txBody>
      </p:sp>
      <p:sp>
        <p:nvSpPr>
          <p:cNvPr id="17" name="Rounded Rectangle 16"/>
          <p:cNvSpPr/>
          <p:nvPr/>
        </p:nvSpPr>
        <p:spPr>
          <a:xfrm>
            <a:off x="411480" y="3931920"/>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931920"/>
            <a:ext cx="82296" cy="182880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96512"/>
            <a:ext cx="5029200" cy="457200"/>
          </a:xfrm>
          <a:prstGeom prst="rect">
            <a:avLst/>
          </a:prstGeom>
          <a:noFill/>
        </p:spPr>
        <p:txBody>
          <a:bodyPr wrap="square" anchor="t" lIns="0" rIns="0" tIns="0" bIns="0">
            <a:spAutoFit/>
          </a:bodyPr>
          <a:lstStyle/>
          <a:p>
            <a:pPr algn="l">
              <a:lnSpc>
                <a:spcPct val="100000"/>
              </a:lnSpc>
              <a:spcAft>
                <a:spcPts val="400"/>
              </a:spcAft>
            </a:pPr>
            <a:r>
              <a:rPr sz="1600" b="1" i="0">
                <a:solidFill>
                  <a:srgbClr val="6B3FA0"/>
                </a:solidFill>
                <a:latin typeface="Calibri"/>
              </a:rPr>
              <a:t>Knowledge stays</a:t>
            </a:r>
          </a:p>
        </p:txBody>
      </p:sp>
      <p:sp>
        <p:nvSpPr>
          <p:cNvPr id="20" name="TextBox 19"/>
          <p:cNvSpPr txBox="1"/>
          <p:nvPr/>
        </p:nvSpPr>
        <p:spPr>
          <a:xfrm>
            <a:off x="68580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Costings and real prices stay in the tool when people move on. New starters see them from day one.</a:t>
            </a:r>
          </a:p>
        </p:txBody>
      </p:sp>
      <p:sp>
        <p:nvSpPr>
          <p:cNvPr id="21" name="Rounded Rectangle 20"/>
          <p:cNvSpPr/>
          <p:nvPr/>
        </p:nvSpPr>
        <p:spPr>
          <a:xfrm>
            <a:off x="6217920" y="3931920"/>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931920"/>
            <a:ext cx="82296" cy="18288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096512"/>
            <a:ext cx="5029200" cy="457200"/>
          </a:xfrm>
          <a:prstGeom prst="rect">
            <a:avLst/>
          </a:prstGeom>
          <a:noFill/>
        </p:spPr>
        <p:txBody>
          <a:bodyPr wrap="square" anchor="t" lIns="0" rIns="0" tIns="0" bIns="0">
            <a:spAutoFit/>
          </a:bodyPr>
          <a:lstStyle/>
          <a:p>
            <a:pPr algn="l">
              <a:lnSpc>
                <a:spcPct val="100000"/>
              </a:lnSpc>
              <a:spcAft>
                <a:spcPts val="400"/>
              </a:spcAft>
            </a:pPr>
            <a:r>
              <a:rPr sz="1600" b="1" i="0">
                <a:solidFill>
                  <a:srgbClr val="B03A2E"/>
                </a:solidFill>
                <a:latin typeface="Calibri"/>
              </a:rPr>
              <a:t>Gaps found early</a:t>
            </a:r>
          </a:p>
        </p:txBody>
      </p:sp>
      <p:sp>
        <p:nvSpPr>
          <p:cNvPr id="24" name="TextBox 23"/>
          <p:cNvSpPr txBox="1"/>
          <p:nvPr/>
        </p:nvSpPr>
        <p:spPr>
          <a:xfrm>
            <a:off x="649224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The background check flags real prices far from the should-cost, in £ a year.</a:t>
            </a:r>
          </a:p>
        </p:txBody>
      </p:sp>
      <p:sp>
        <p:nvSpPr>
          <p:cNvPr id="25" name="TextBox 24"/>
          <p:cNvSpPr txBox="1"/>
          <p:nvPr/>
        </p:nvSpPr>
        <p:spPr>
          <a:xfrm>
            <a:off x="411480" y="6035040"/>
            <a:ext cx="11338560" cy="54864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And it is ours: </a:t>
            </a:r>
            <a:r>
              <a:rPr sz="1300" b="0" i="0">
                <a:solidFill>
                  <a:srgbClr val="3A4356"/>
                </a:solidFill>
                <a:latin typeface="Calibri"/>
              </a:rPr>
              <a:t>the data stays on our laptop or server. Nothing is sent out, and none of it needs AI.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TWO KINDS OF RANGE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Confidence you can defend — not just assert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Each should-cost can carry two ranges: one from the inputs, and one </a:t>
            </a:r>
            <a:r>
              <a:rPr sz="1350" b="1" i="0">
                <a:solidFill>
                  <a:srgbClr val="16325C"/>
                </a:solidFill>
                <a:latin typeface="Calibri"/>
              </a:rPr>
              <a:t>measured against the real prices you logged.</a:t>
            </a:r>
          </a:p>
        </p:txBody>
      </p:sp>
      <p:sp>
        <p:nvSpPr>
          <p:cNvPr id="10" name="Rounded Rectangle 9"/>
          <p:cNvSpPr/>
          <p:nvPr/>
        </p:nvSpPr>
        <p:spPr>
          <a:xfrm>
            <a:off x="411480" y="2286000"/>
            <a:ext cx="5532120" cy="2286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Input range (Monte Carlo)</a:t>
            </a:r>
          </a:p>
        </p:txBody>
      </p:sp>
      <p:sp>
        <p:nvSpPr>
          <p:cNvPr id="13" name="TextBox 12"/>
          <p:cNvSpPr txBox="1"/>
          <p:nvPr/>
        </p:nvSpPr>
        <p:spPr>
          <a:xfrm>
            <a:off x="68580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How well the inputs are known. Needs no real prices at all.</a:t>
            </a:r>
          </a:p>
          <a:p>
            <a:pPr algn="l">
              <a:lnSpc>
                <a:spcPct val="115000"/>
              </a:lnSpc>
              <a:spcAft>
                <a:spcPts val="800"/>
              </a:spcAft>
            </a:pPr>
            <a:r>
              <a:rPr sz="1400" b="1" i="0">
                <a:solidFill>
                  <a:srgbClr val="16325C"/>
                </a:solidFill>
                <a:latin typeface="Calibri"/>
              </a:rPr>
              <a:t>Shown as P10 to P90 on every result</a:t>
            </a:r>
          </a:p>
          <a:p>
            <a:pPr algn="l">
              <a:lnSpc>
                <a:spcPct val="115000"/>
              </a:lnSpc>
              <a:spcAft>
                <a:spcPts val="800"/>
              </a:spcAft>
            </a:pPr>
            <a:r>
              <a:rPr sz="1100" b="0" i="1">
                <a:solidFill>
                  <a:srgbClr val="686F7D"/>
                </a:solidFill>
                <a:latin typeface="Calibri"/>
              </a:rPr>
              <a:t>Available for every part and every process.</a:t>
            </a:r>
          </a:p>
        </p:txBody>
      </p:sp>
      <p:sp>
        <p:nvSpPr>
          <p:cNvPr id="14" name="Rounded Rectangle 13"/>
          <p:cNvSpPr/>
          <p:nvPr/>
        </p:nvSpPr>
        <p:spPr>
          <a:xfrm>
            <a:off x="6263640" y="2286000"/>
            <a:ext cx="5532120" cy="22860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A7F50"/>
                </a:solidFill>
                <a:latin typeface="Calibri"/>
              </a:rPr>
              <a:t>Real-price range (conformal)</a:t>
            </a:r>
          </a:p>
        </p:txBody>
      </p:sp>
      <p:sp>
        <p:nvSpPr>
          <p:cNvPr id="17" name="TextBox 16"/>
          <p:cNvSpPr txBox="1"/>
          <p:nvPr/>
        </p:nvSpPr>
        <p:spPr>
          <a:xfrm>
            <a:off x="653796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Built from the real prices you logged for this group.</a:t>
            </a:r>
          </a:p>
          <a:p>
            <a:pPr algn="l">
              <a:lnSpc>
                <a:spcPct val="115000"/>
              </a:lnSpc>
              <a:spcAft>
                <a:spcPts val="800"/>
              </a:spcAft>
            </a:pPr>
            <a:r>
              <a:rPr sz="1300" b="1" i="0">
                <a:solidFill>
                  <a:srgbClr val="16325C"/>
                </a:solidFill>
                <a:latin typeface="Calibri"/>
              </a:rPr>
              <a:t>"90% of our real prices landed within ± X%"</a:t>
            </a:r>
          </a:p>
          <a:p>
            <a:pPr algn="l">
              <a:lnSpc>
                <a:spcPct val="115000"/>
              </a:lnSpc>
              <a:spcAft>
                <a:spcPts val="800"/>
              </a:spcAft>
            </a:pPr>
            <a:r>
              <a:rPr sz="1100" b="0" i="1">
                <a:solidFill>
                  <a:srgbClr val="2A7F50"/>
                </a:solidFill>
                <a:latin typeface="Calibri"/>
              </a:rPr>
              <a:t>Shown from 3 prices. The 90% guarantee holds from 9.</a:t>
            </a:r>
          </a:p>
        </p:txBody>
      </p:sp>
      <p:sp>
        <p:nvSpPr>
          <p:cNvPr id="18" name="Rounded Rectangle 17"/>
          <p:cNvSpPr/>
          <p:nvPr/>
        </p:nvSpPr>
        <p:spPr>
          <a:xfrm>
            <a:off x="411480" y="4800600"/>
            <a:ext cx="11384280" cy="13716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983480"/>
            <a:ext cx="10881360" cy="1097280"/>
          </a:xfrm>
          <a:prstGeom prst="rect">
            <a:avLst/>
          </a:prstGeom>
          <a:noFill/>
        </p:spPr>
        <p:txBody>
          <a:bodyPr wrap="square" anchor="t" lIns="0" rIns="0" tIns="0" bIns="0">
            <a:spAutoFit/>
          </a:bodyPr>
          <a:lstStyle/>
          <a:p>
            <a:pPr algn="l">
              <a:lnSpc>
                <a:spcPct val="120000"/>
              </a:lnSpc>
              <a:spcAft>
                <a:spcPts val="400"/>
              </a:spcAft>
            </a:pPr>
            <a:r>
              <a:rPr sz="1300" b="1" i="0">
                <a:solidFill>
                  <a:srgbClr val="1D6FB8"/>
                </a:solidFill>
                <a:latin typeface="Calibri"/>
              </a:rPr>
              <a:t>Why it helps:  </a:t>
            </a:r>
            <a:r>
              <a:rPr sz="1250" b="0" i="0">
                <a:solidFill>
                  <a:srgbClr val="3A4356"/>
                </a:solidFill>
                <a:latin typeface="Calibri"/>
              </a:rPr>
              <a:t>a buyer cannot defend "trust me, it is within 5%". They can defend "90% of our real prices for this group landed within this range". The edge of the band is an error we actually saw. Today it is empty, because no JLR prices have been logged yet.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RANKING FINDINGS BY LIKELY RETURN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background check learns which gaps close</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250" b="0" i="0">
                <a:solidFill>
                  <a:srgbClr val="3A4356"/>
                </a:solidFill>
                <a:latin typeface="Calibri"/>
              </a:rPr>
              <a:t>It learns which kinds of finding turn into savings, and ranks by the money likely to come back. </a:t>
            </a:r>
            <a:r>
              <a:rPr sz="1250" b="1" i="0">
                <a:solidFill>
                  <a:srgbClr val="16325C"/>
                </a:solidFill>
                <a:latin typeface="Calibri"/>
              </a:rPr>
              <a:t>Worked example — made-up numbers to show the arithmetic.</a:t>
            </a:r>
          </a:p>
        </p:txBody>
      </p:sp>
      <p:sp>
        <p:nvSpPr>
          <p:cNvPr id="10" name="Rectangle 9"/>
          <p:cNvSpPr/>
          <p:nvPr/>
        </p:nvSpPr>
        <p:spPr>
          <a:xfrm>
            <a:off x="411480" y="2286000"/>
            <a:ext cx="11384280" cy="4572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359152"/>
            <a:ext cx="34747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Finding</a:t>
            </a:r>
          </a:p>
        </p:txBody>
      </p:sp>
      <p:sp>
        <p:nvSpPr>
          <p:cNvPr id="12" name="TextBox 11"/>
          <p:cNvSpPr txBox="1"/>
          <p:nvPr/>
        </p:nvSpPr>
        <p:spPr>
          <a:xfrm>
            <a:off x="4023360" y="2359152"/>
            <a:ext cx="274320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Gap (£ a year)</a:t>
            </a:r>
          </a:p>
        </p:txBody>
      </p:sp>
      <p:sp>
        <p:nvSpPr>
          <p:cNvPr id="13" name="TextBox 12"/>
          <p:cNvSpPr txBox="1"/>
          <p:nvPr/>
        </p:nvSpPr>
        <p:spPr>
          <a:xfrm>
            <a:off x="6766560" y="2359152"/>
            <a:ext cx="25603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Share that closed</a:t>
            </a:r>
          </a:p>
        </p:txBody>
      </p:sp>
      <p:sp>
        <p:nvSpPr>
          <p:cNvPr id="14" name="TextBox 13"/>
          <p:cNvSpPr txBox="1"/>
          <p:nvPr/>
        </p:nvSpPr>
        <p:spPr>
          <a:xfrm>
            <a:off x="9326880" y="2359152"/>
            <a:ext cx="23317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Likely to come back</a:t>
            </a:r>
          </a:p>
        </p:txBody>
      </p:sp>
      <p:sp>
        <p:nvSpPr>
          <p:cNvPr id="15" name="Rectangle 14"/>
          <p:cNvSpPr/>
          <p:nvPr/>
        </p:nvSpPr>
        <p:spPr>
          <a:xfrm>
            <a:off x="411480" y="2743200"/>
            <a:ext cx="113842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871216"/>
            <a:ext cx="347472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Cast housing</a:t>
            </a:r>
          </a:p>
        </p:txBody>
      </p:sp>
      <p:sp>
        <p:nvSpPr>
          <p:cNvPr id="17" name="TextBox 16"/>
          <p:cNvSpPr txBox="1"/>
          <p:nvPr/>
        </p:nvSpPr>
        <p:spPr>
          <a:xfrm>
            <a:off x="4023360" y="2871216"/>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£200k</a:t>
            </a:r>
          </a:p>
        </p:txBody>
      </p:sp>
      <p:sp>
        <p:nvSpPr>
          <p:cNvPr id="18" name="TextBox 17"/>
          <p:cNvSpPr txBox="1"/>
          <p:nvPr/>
        </p:nvSpPr>
        <p:spPr>
          <a:xfrm>
            <a:off x="6766560" y="2871216"/>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20% — rarely closes</a:t>
            </a:r>
          </a:p>
        </p:txBody>
      </p:sp>
      <p:sp>
        <p:nvSpPr>
          <p:cNvPr id="19" name="TextBox 18"/>
          <p:cNvSpPr txBox="1"/>
          <p:nvPr/>
        </p:nvSpPr>
        <p:spPr>
          <a:xfrm>
            <a:off x="9326880" y="2871216"/>
            <a:ext cx="233172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B03A2E"/>
                </a:solidFill>
                <a:latin typeface="Calibri"/>
              </a:rPr>
              <a:t>£40k</a:t>
            </a:r>
          </a:p>
        </p:txBody>
      </p:sp>
      <p:sp>
        <p:nvSpPr>
          <p:cNvPr id="20" name="Rectangle 19"/>
          <p:cNvSpPr/>
          <p:nvPr/>
        </p:nvSpPr>
        <p:spPr>
          <a:xfrm>
            <a:off x="411480" y="3310128"/>
            <a:ext cx="11384280" cy="548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438144"/>
            <a:ext cx="347472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Machined knuckle</a:t>
            </a:r>
          </a:p>
        </p:txBody>
      </p:sp>
      <p:sp>
        <p:nvSpPr>
          <p:cNvPr id="22" name="TextBox 21"/>
          <p:cNvSpPr txBox="1"/>
          <p:nvPr/>
        </p:nvSpPr>
        <p:spPr>
          <a:xfrm>
            <a:off x="4023360" y="3438144"/>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£100k</a:t>
            </a:r>
          </a:p>
        </p:txBody>
      </p:sp>
      <p:sp>
        <p:nvSpPr>
          <p:cNvPr id="23" name="TextBox 22"/>
          <p:cNvSpPr txBox="1"/>
          <p:nvPr/>
        </p:nvSpPr>
        <p:spPr>
          <a:xfrm>
            <a:off x="6766560" y="3438144"/>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80% — usually closes</a:t>
            </a:r>
          </a:p>
        </p:txBody>
      </p:sp>
      <p:sp>
        <p:nvSpPr>
          <p:cNvPr id="24" name="TextBox 23"/>
          <p:cNvSpPr txBox="1"/>
          <p:nvPr/>
        </p:nvSpPr>
        <p:spPr>
          <a:xfrm>
            <a:off x="9326880" y="3438144"/>
            <a:ext cx="233172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£80k</a:t>
            </a:r>
          </a:p>
        </p:txBody>
      </p:sp>
      <p:sp>
        <p:nvSpPr>
          <p:cNvPr id="25" name="Rounded Rectangle 24"/>
          <p:cNvSpPr/>
          <p:nvPr/>
        </p:nvSpPr>
        <p:spPr>
          <a:xfrm>
            <a:off x="411480" y="4114800"/>
            <a:ext cx="11384280" cy="86868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261104"/>
            <a:ext cx="10881360" cy="640080"/>
          </a:xfrm>
          <a:prstGeom prst="rect">
            <a:avLst/>
          </a:prstGeom>
          <a:noFill/>
        </p:spPr>
        <p:txBody>
          <a:bodyPr wrap="square" anchor="t" lIns="0" rIns="0" tIns="0" bIns="0">
            <a:spAutoFit/>
          </a:bodyPr>
          <a:lstStyle/>
          <a:p>
            <a:pPr algn="l">
              <a:lnSpc>
                <a:spcPct val="120000"/>
              </a:lnSpc>
              <a:spcAft>
                <a:spcPts val="400"/>
              </a:spcAft>
            </a:pPr>
            <a:r>
              <a:rPr sz="1250" b="1" i="0">
                <a:solidFill>
                  <a:srgbClr val="1D6FB8"/>
                </a:solidFill>
                <a:latin typeface="Calibri"/>
              </a:rPr>
              <a:t>The result: </a:t>
            </a:r>
            <a:r>
              <a:rPr sz="1250" b="0" i="0">
                <a:solidFill>
                  <a:srgbClr val="3A4356"/>
                </a:solidFill>
                <a:latin typeface="Calibri"/>
              </a:rPr>
              <a:t>the machining gap is half the size, but it ranks higher, because that kind of finding has usually closed. With no history yet, every kind starts at an even 50%.</a:t>
            </a:r>
          </a:p>
        </p:txBody>
      </p:sp>
      <p:sp>
        <p:nvSpPr>
          <p:cNvPr id="27" name="TextBox 26"/>
          <p:cNvSpPr txBox="1"/>
          <p:nvPr/>
        </p:nvSpPr>
        <p:spPr>
          <a:xfrm>
            <a:off x="411480" y="5212080"/>
            <a:ext cx="113385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2A7F50"/>
                </a:solidFill>
                <a:latin typeface="Calibri"/>
              </a:rPr>
              <a:t>Why it helps:  </a:t>
            </a:r>
            <a:r>
              <a:rPr sz="1250" b="0" i="0">
                <a:solidFill>
                  <a:srgbClr val="3A4356"/>
                </a:solidFill>
                <a:latin typeface="Calibri"/>
              </a:rPr>
              <a:t>buyer time is limited. This points it where money is likely to come back, and keeps a running total of £ actually saved. One click, "Actioned £" or "Dismiss", records what happened.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FROM SHOULD-COST TO A COUNTER-OFFER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negotiation coach — it hands you the argument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The tool knows </a:t>
            </a:r>
            <a:r>
              <a:rPr sz="1350" b="1" i="1">
                <a:solidFill>
                  <a:srgbClr val="16325C"/>
                </a:solidFill>
                <a:latin typeface="Calibri"/>
              </a:rPr>
              <a:t>why</a:t>
            </a:r>
            <a:r>
              <a:rPr sz="1350" b="0" i="0">
                <a:solidFill>
                  <a:srgbClr val="3A4356"/>
                </a:solidFill>
                <a:latin typeface="Calibri"/>
              </a:rPr>
              <a:t> a part costs what it does, and turns that into a sentence a buyer can say out loud.</a:t>
            </a:r>
          </a:p>
        </p:txBody>
      </p:sp>
      <p:sp>
        <p:nvSpPr>
          <p:cNvPr id="10" name="Rounded Rectangle 9"/>
          <p:cNvSpPr/>
          <p:nvPr/>
        </p:nvSpPr>
        <p:spPr>
          <a:xfrm>
            <a:off x="411480" y="2286000"/>
            <a:ext cx="11384280" cy="182880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1828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87168"/>
            <a:ext cx="107899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sentence it writes — the £ and % come from your part</a:t>
            </a:r>
          </a:p>
        </p:txBody>
      </p:sp>
      <p:sp>
        <p:nvSpPr>
          <p:cNvPr id="13" name="TextBox 12"/>
          <p:cNvSpPr txBox="1"/>
          <p:nvPr/>
        </p:nvSpPr>
        <p:spPr>
          <a:xfrm>
            <a:off x="731520" y="2852928"/>
            <a:ext cx="10789920" cy="1188720"/>
          </a:xfrm>
          <a:prstGeom prst="rect">
            <a:avLst/>
          </a:prstGeom>
          <a:noFill/>
        </p:spPr>
        <p:txBody>
          <a:bodyPr wrap="square" anchor="t" lIns="0" rIns="0" tIns="0" bIns="0">
            <a:spAutoFit/>
          </a:bodyPr>
          <a:lstStyle/>
          <a:p>
            <a:pPr algn="l">
              <a:lnSpc>
                <a:spcPct val="130000"/>
              </a:lnSpc>
              <a:spcAft>
                <a:spcPts val="400"/>
              </a:spcAft>
            </a:pPr>
            <a:r>
              <a:rPr sz="1400" b="1" i="0">
                <a:solidFill>
                  <a:srgbClr val="16325C"/>
                </a:solidFill>
                <a:latin typeface="Calibri"/>
              </a:rPr>
              <a:t>“Material is £X of this part, driven by aluminium. Every 1% move in the aluminium index shifts the piece price by £Y. </a:t>
            </a:r>
            <a:r>
              <a:rPr sz="1400" b="1" i="0">
                <a:solidFill>
                  <a:srgbClr val="6B3FA0"/>
                </a:solidFill>
                <a:latin typeface="Calibri"/>
              </a:rPr>
              <a:t>A quote of £Q is only justified if aluminium were about Z% above today’s index — ask the supplier to show that, or hold at the should-cost.”</a:t>
            </a:r>
          </a:p>
        </p:txBody>
      </p:sp>
      <p:sp>
        <p:nvSpPr>
          <p:cNvPr id="14" name="Rounded Rectangle 13"/>
          <p:cNvSpPr/>
          <p:nvPr/>
        </p:nvSpPr>
        <p:spPr>
          <a:xfrm>
            <a:off x="411480" y="4343400"/>
            <a:ext cx="5532120" cy="1828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16325C"/>
                </a:solidFill>
                <a:latin typeface="Calibri"/>
              </a:rPr>
              <a:t>What it does</a:t>
            </a:r>
          </a:p>
          <a:p>
            <a:pPr algn="l">
              <a:lnSpc>
                <a:spcPct val="118000"/>
              </a:lnSpc>
              <a:spcAft>
                <a:spcPts val="600"/>
              </a:spcAft>
            </a:pPr>
            <a:r>
              <a:rPr sz="1150" b="0" i="0">
                <a:solidFill>
                  <a:srgbClr val="3A4356"/>
                </a:solidFill>
                <a:latin typeface="Calibri"/>
              </a:rPr>
              <a:t>Links the material to its metal index, then works out, with the same overhead and margin maths the engine uses, how far a supplier’s price implies the metal has moved. No AI involved.</a:t>
            </a:r>
          </a:p>
        </p:txBody>
      </p:sp>
      <p:sp>
        <p:nvSpPr>
          <p:cNvPr id="16" name="Rounded Rectangle 15"/>
          <p:cNvSpPr/>
          <p:nvPr/>
        </p:nvSpPr>
        <p:spPr>
          <a:xfrm>
            <a:off x="6263640" y="4343400"/>
            <a:ext cx="5532120" cy="18288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2A7F50"/>
                </a:solidFill>
                <a:latin typeface="Calibri"/>
              </a:rPr>
              <a:t>Why it helps</a:t>
            </a:r>
          </a:p>
          <a:p>
            <a:pPr algn="l">
              <a:lnSpc>
                <a:spcPct val="118000"/>
              </a:lnSpc>
              <a:spcAft>
                <a:spcPts val="600"/>
              </a:spcAft>
            </a:pPr>
            <a:r>
              <a:rPr sz="1150" b="0" i="0">
                <a:solidFill>
                  <a:srgbClr val="3A4356"/>
                </a:solidFill>
                <a:latin typeface="Calibri"/>
              </a:rPr>
              <a:t>The buyer walks in with a counter-argument built on arithmetic, not "that feels high". Note: the index prices on the dashboard are indicative, not a live market feed.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WHAT-IF CHECK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if a metal price moves?</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Ask "what if a metal price moves?" and get the answer straight away, for one part or for every stored part.</a:t>
            </a:r>
          </a:p>
        </p:txBody>
      </p:sp>
      <p:sp>
        <p:nvSpPr>
          <p:cNvPr id="10" name="Rounded Rectangle 9"/>
          <p:cNvSpPr/>
          <p:nvPr/>
        </p:nvSpPr>
        <p:spPr>
          <a:xfrm>
            <a:off x="411480" y="2286000"/>
            <a:ext cx="5532120"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One part — the slider</a:t>
            </a:r>
          </a:p>
        </p:txBody>
      </p:sp>
      <p:sp>
        <p:nvSpPr>
          <p:cNvPr id="13" name="TextBox 12"/>
          <p:cNvSpPr txBox="1"/>
          <p:nvPr/>
        </p:nvSpPr>
        <p:spPr>
          <a:xfrm>
            <a:off x="68580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Drag a metal index from −20% to +20% and the piece price is worked out again as you move.</a:t>
            </a:r>
          </a:p>
          <a:p>
            <a:pPr algn="l">
              <a:lnSpc>
                <a:spcPct val="115000"/>
              </a:lnSpc>
              <a:spcAft>
                <a:spcPts val="800"/>
              </a:spcAft>
            </a:pPr>
            <a:r>
              <a:rPr sz="1350" b="1" i="0">
                <a:solidFill>
                  <a:srgbClr val="16325C"/>
                </a:solidFill>
                <a:latin typeface="Calibri"/>
              </a:rPr>
              <a:t>Example:  "aluminium +15% — what is this part now?"</a:t>
            </a:r>
          </a:p>
          <a:p>
            <a:pPr algn="l">
              <a:lnSpc>
                <a:spcPct val="115000"/>
              </a:lnSpc>
              <a:spcAft>
                <a:spcPts val="800"/>
              </a:spcAft>
            </a:pPr>
            <a:r>
              <a:rPr sz="1100" b="0" i="1">
                <a:solidFill>
                  <a:srgbClr val="686F7D"/>
                </a:solidFill>
                <a:latin typeface="Calibri"/>
              </a:rPr>
              <a:t>Sensitivity in one move of the mouse.</a:t>
            </a:r>
          </a:p>
        </p:txBody>
      </p:sp>
      <p:sp>
        <p:nvSpPr>
          <p:cNvPr id="14" name="Rounded Rectangle 13"/>
          <p:cNvSpPr/>
          <p:nvPr/>
        </p:nvSpPr>
        <p:spPr>
          <a:xfrm>
            <a:off x="6263640" y="2286000"/>
            <a:ext cx="5532120"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6B3FA0"/>
                </a:solidFill>
                <a:latin typeface="Calibri"/>
              </a:rPr>
              <a:t>Every stored part — the scenario</a:t>
            </a:r>
          </a:p>
        </p:txBody>
      </p:sp>
      <p:sp>
        <p:nvSpPr>
          <p:cNvPr id="17" name="TextBox 16"/>
          <p:cNvSpPr txBox="1"/>
          <p:nvPr/>
        </p:nvSpPr>
        <p:spPr>
          <a:xfrm>
            <a:off x="653796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Apply one move to every stored part at once and see which ones change status.</a:t>
            </a:r>
          </a:p>
          <a:p>
            <a:pPr algn="l">
              <a:lnSpc>
                <a:spcPct val="115000"/>
              </a:lnSpc>
              <a:spcAft>
                <a:spcPts val="800"/>
              </a:spcAft>
            </a:pPr>
            <a:r>
              <a:rPr sz="1350" b="1" i="0">
                <a:solidFill>
                  <a:srgbClr val="16325C"/>
                </a:solidFill>
                <a:latin typeface="Calibri"/>
              </a:rPr>
              <a:t>Example:  "if steel +10%, which parts go underwater, and how much £ a year is at risk?"</a:t>
            </a:r>
          </a:p>
          <a:p>
            <a:pPr algn="l">
              <a:lnSpc>
                <a:spcPct val="115000"/>
              </a:lnSpc>
              <a:spcAft>
                <a:spcPts val="800"/>
              </a:spcAft>
            </a:pPr>
            <a:r>
              <a:rPr sz="1100" b="0" i="1">
                <a:solidFill>
                  <a:srgbClr val="686F7D"/>
                </a:solidFill>
                <a:latin typeface="Calibri"/>
              </a:rPr>
              <a:t>See the risk before the market moves.</a:t>
            </a:r>
          </a:p>
        </p:txBody>
      </p:sp>
      <p:sp>
        <p:nvSpPr>
          <p:cNvPr id="18" name="Rounded Rectangle 17"/>
          <p:cNvSpPr/>
          <p:nvPr/>
        </p:nvSpPr>
        <p:spPr>
          <a:xfrm>
            <a:off x="411480" y="4983480"/>
            <a:ext cx="11384280" cy="118872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138928"/>
            <a:ext cx="10881360" cy="960120"/>
          </a:xfrm>
          <a:prstGeom prst="rect">
            <a:avLst/>
          </a:prstGeom>
          <a:noFill/>
        </p:spPr>
        <p:txBody>
          <a:bodyPr wrap="square" anchor="t" lIns="0" rIns="0" tIns="0" bIns="0">
            <a:spAutoFit/>
          </a:bodyPr>
          <a:lstStyle/>
          <a:p>
            <a:pPr algn="l">
              <a:lnSpc>
                <a:spcPct val="120000"/>
              </a:lnSpc>
              <a:spcAft>
                <a:spcPts val="400"/>
              </a:spcAft>
            </a:pPr>
            <a:r>
              <a:rPr sz="1300" b="1" i="0">
                <a:solidFill>
                  <a:srgbClr val="99651A"/>
                </a:solidFill>
                <a:latin typeface="Calibri"/>
              </a:rPr>
              <a:t>Honest by design:  </a:t>
            </a:r>
            <a:r>
              <a:rPr sz="1250" b="0" i="0">
                <a:solidFill>
                  <a:srgbClr val="3A4356"/>
                </a:solidFill>
                <a:latin typeface="Calibri"/>
              </a:rPr>
              <a:t>this is always "IF the index moves", never a price forecast. The dashboard prices are indicative, not a market feed, and they do not change any costing. If a live feed is connected later, the same maths applies.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OPTIONAL AI MODE · OFF AT JLR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PCB photo to BOM — built, but switched off at JLR</a:t>
            </a:r>
          </a:p>
        </p:txBody>
      </p:sp>
      <p:sp>
        <p:nvSpPr>
          <p:cNvPr id="9" name="TextBox 8"/>
          <p:cNvSpPr txBox="1"/>
          <p:nvPr/>
        </p:nvSpPr>
        <p:spPr>
          <a:xfrm>
            <a:off x="411480" y="1664208"/>
            <a:ext cx="11338560" cy="384048"/>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With AI on, a photo of a circuit board becomes a costed bill of materials. Reading the photo needs AI, so </a:t>
            </a:r>
            <a:r>
              <a:rPr sz="1300" b="1" i="0">
                <a:solidFill>
                  <a:srgbClr val="16325C"/>
                </a:solidFill>
                <a:latin typeface="Calibri"/>
              </a:rPr>
              <a:t>at JLR this screen is hidden.</a:t>
            </a:r>
          </a:p>
        </p:txBody>
      </p:sp>
      <p:sp>
        <p:nvSpPr>
          <p:cNvPr id="10" name="Rounded Rectangle 9"/>
          <p:cNvSpPr/>
          <p:nvPr/>
        </p:nvSpPr>
        <p:spPr>
          <a:xfrm>
            <a:off x="411480" y="2240280"/>
            <a:ext cx="5623560" cy="306324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395728"/>
            <a:ext cx="512064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What works at JLR, with AI off</a:t>
            </a:r>
          </a:p>
        </p:txBody>
      </p:sp>
      <p:sp>
        <p:nvSpPr>
          <p:cNvPr id="12" name="TextBox 11"/>
          <p:cNvSpPr txBox="1"/>
          <p:nvPr/>
        </p:nvSpPr>
        <p:spPr>
          <a:xfrm>
            <a:off x="685800" y="2834640"/>
            <a:ext cx="512064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200" b="0" i="0">
                <a:solidFill>
                  <a:srgbClr val="3A4356"/>
                </a:solidFill>
                <a:latin typeface="Calibri"/>
              </a:rPr>
              <a:t>PCB fabrication and PCBA are costed from typed inputs.</a:t>
            </a:r>
          </a:p>
        </p:txBody>
      </p:sp>
      <p:sp>
        <p:nvSpPr>
          <p:cNvPr id="13" name="TextBox 12"/>
          <p:cNvSpPr txBox="1"/>
          <p:nvPr/>
        </p:nvSpPr>
        <p:spPr>
          <a:xfrm>
            <a:off x="685800" y="3520440"/>
            <a:ext cx="512064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200" b="0" i="0">
                <a:solidFill>
                  <a:srgbClr val="3A4356"/>
                </a:solidFill>
                <a:latin typeface="Calibri"/>
              </a:rPr>
              <a:t>The fab price comes from fabricators' price tables. It is a bought-in price, so no overhead or margin goes on top.</a:t>
            </a:r>
          </a:p>
        </p:txBody>
      </p:sp>
      <p:sp>
        <p:nvSpPr>
          <p:cNvPr id="14" name="TextBox 13"/>
          <p:cNvSpPr txBox="1"/>
          <p:nvPr/>
        </p:nvSpPr>
        <p:spPr>
          <a:xfrm>
            <a:off x="685800" y="4206240"/>
            <a:ext cx="512064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200" b="0" i="0">
                <a:solidFill>
                  <a:srgbClr val="3A4356"/>
                </a:solidFill>
                <a:latin typeface="Calibri"/>
              </a:rPr>
              <a:t>The tool says "AI is switched off in this installation" instead of asking for a key.</a:t>
            </a:r>
          </a:p>
        </p:txBody>
      </p:sp>
      <p:sp>
        <p:nvSpPr>
          <p:cNvPr id="15" name="Rounded Rectangle 14"/>
          <p:cNvSpPr/>
          <p:nvPr/>
        </p:nvSpPr>
        <p:spPr>
          <a:xfrm>
            <a:off x="6263640" y="2240280"/>
            <a:ext cx="5532120" cy="3063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395728"/>
            <a:ext cx="502920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Built for when AI is on</a:t>
            </a:r>
          </a:p>
        </p:txBody>
      </p:sp>
      <p:sp>
        <p:nvSpPr>
          <p:cNvPr id="17" name="Rectangle 16"/>
          <p:cNvSpPr/>
          <p:nvPr/>
        </p:nvSpPr>
        <p:spPr>
          <a:xfrm>
            <a:off x="6537960" y="2834640"/>
            <a:ext cx="82296" cy="38404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84848" y="284378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Complex boards no longer come back empty</a:t>
            </a:r>
          </a:p>
        </p:txBody>
      </p:sp>
      <p:sp>
        <p:nvSpPr>
          <p:cNvPr id="19" name="Rectangle 18"/>
          <p:cNvSpPr/>
          <p:nvPr/>
        </p:nvSpPr>
        <p:spPr>
          <a:xfrm>
            <a:off x="6537960" y="3337559"/>
            <a:ext cx="82296" cy="3840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84848" y="3346703"/>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Part prices checked against a catalogue</a:t>
            </a:r>
          </a:p>
        </p:txBody>
      </p:sp>
      <p:sp>
        <p:nvSpPr>
          <p:cNvPr id="21" name="Rectangle 20"/>
          <p:cNvSpPr/>
          <p:nvPr/>
        </p:nvSpPr>
        <p:spPr>
          <a:xfrm>
            <a:off x="6537960" y="3840480"/>
            <a:ext cx="82296" cy="3840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84848" y="384962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One misread part can no longer skew the total</a:t>
            </a:r>
          </a:p>
        </p:txBody>
      </p:sp>
      <p:sp>
        <p:nvSpPr>
          <p:cNvPr id="23" name="Rectangle 22"/>
          <p:cNvSpPr/>
          <p:nvPr/>
        </p:nvSpPr>
        <p:spPr>
          <a:xfrm>
            <a:off x="6537960" y="4343400"/>
            <a:ext cx="82296" cy="384048"/>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84848" y="435254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The board spec is steadied between runs</a:t>
            </a:r>
          </a:p>
        </p:txBody>
      </p:sp>
      <p:sp>
        <p:nvSpPr>
          <p:cNvPr id="25" name="Rectangle 24"/>
          <p:cNvSpPr/>
          <p:nvPr/>
        </p:nvSpPr>
        <p:spPr>
          <a:xfrm>
            <a:off x="6537960" y="4846320"/>
            <a:ext cx="82296" cy="384048"/>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84848" y="485546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The £ to trust is split from the £ to verify</a:t>
            </a:r>
          </a:p>
        </p:txBody>
      </p:sp>
      <p:sp>
        <p:nvSpPr>
          <p:cNvPr id="27" name="Rounded Rectangle 26"/>
          <p:cNvSpPr/>
          <p:nvPr/>
        </p:nvSpPr>
        <p:spPr>
          <a:xfrm>
            <a:off x="411480" y="5468112"/>
            <a:ext cx="11384280" cy="77724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596128"/>
            <a:ext cx="10972800" cy="548640"/>
          </a:xfrm>
          <a:prstGeom prst="rect">
            <a:avLst/>
          </a:prstGeom>
          <a:noFill/>
        </p:spPr>
        <p:txBody>
          <a:bodyPr wrap="square" anchor="t" lIns="0" rIns="0" tIns="0" bIns="0">
            <a:spAutoFit/>
          </a:bodyPr>
          <a:lstStyle/>
          <a:p>
            <a:pPr algn="l">
              <a:lnSpc>
                <a:spcPct val="115000"/>
              </a:lnSpc>
              <a:spcAft>
                <a:spcPts val="400"/>
              </a:spcAft>
            </a:pPr>
            <a:r>
              <a:rPr sz="1250" b="1" i="0">
                <a:solidFill>
                  <a:srgbClr val="1D6FB8"/>
                </a:solidFill>
                <a:latin typeface="Calibri"/>
              </a:rPr>
              <a:t>If switched on later:  </a:t>
            </a:r>
            <a:r>
              <a:rPr sz="1200" b="0" i="0">
                <a:solidFill>
                  <a:srgbClr val="3A4356"/>
                </a:solidFill>
                <a:latin typeface="Calibri"/>
              </a:rPr>
              <a:t>it is a setting, not a rebuild. Each AI call is rate-limited per user, and lines it cannot match to the catalogue are flagged for an engineer to check.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DIFFERENTIATOR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Why ours is different — you can check every number</a:t>
            </a:r>
          </a:p>
        </p:txBody>
      </p:sp>
      <p:sp>
        <p:nvSpPr>
          <p:cNvPr id="9" name="Rounded Rectangle 8"/>
          <p:cNvSpPr/>
          <p:nvPr/>
        </p:nvSpPr>
        <p:spPr>
          <a:xfrm>
            <a:off x="411480" y="1828800"/>
            <a:ext cx="11384280" cy="118872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10881360" cy="914400"/>
          </a:xfrm>
          <a:prstGeom prst="rect">
            <a:avLst/>
          </a:prstGeom>
          <a:noFill/>
        </p:spPr>
        <p:txBody>
          <a:bodyPr wrap="square" anchor="t" lIns="0" rIns="0" tIns="0" bIns="0">
            <a:spAutoFit/>
          </a:bodyPr>
          <a:lstStyle/>
          <a:p>
            <a:pPr algn="l">
              <a:lnSpc>
                <a:spcPct val="120000"/>
              </a:lnSpc>
              <a:spcAft>
                <a:spcPts val="400"/>
              </a:spcAft>
            </a:pPr>
            <a:r>
              <a:rPr sz="1500" b="1" i="0">
                <a:solidFill>
                  <a:srgbClr val="1D6FB8"/>
                </a:solidFill>
                <a:latin typeface="Calibri"/>
              </a:rPr>
              <a:t>The principle:  </a:t>
            </a:r>
            <a:r>
              <a:rPr sz="1350" b="0" i="0">
                <a:solidFill>
                  <a:srgbClr val="3A4356"/>
                </a:solidFill>
                <a:latin typeface="Calibri"/>
              </a:rPr>
              <a:t>every learned number is one a cost engineer can read and check: a median, a match score, a gap times a volume. No hidden weights touch the price. Even with AI on, AI never sets a price.</a:t>
            </a:r>
          </a:p>
        </p:txBody>
      </p:sp>
      <p:sp>
        <p:nvSpPr>
          <p:cNvPr id="11" name="Rounded Rectangle 10"/>
          <p:cNvSpPr/>
          <p:nvPr/>
        </p:nvSpPr>
        <p:spPr>
          <a:xfrm>
            <a:off x="411480" y="3200400"/>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200400"/>
            <a:ext cx="82296" cy="5303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319272"/>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Learns from real prices</a:t>
            </a:r>
          </a:p>
        </p:txBody>
      </p:sp>
      <p:sp>
        <p:nvSpPr>
          <p:cNvPr id="14" name="TextBox 13"/>
          <p:cNvSpPr txBox="1"/>
          <p:nvPr/>
        </p:nvSpPr>
        <p:spPr>
          <a:xfrm>
            <a:off x="4114800" y="3319272"/>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A median correction per group after 3 prices; the range follows real error</a:t>
            </a:r>
          </a:p>
        </p:txBody>
      </p:sp>
      <p:sp>
        <p:nvSpPr>
          <p:cNvPr id="15" name="Rounded Rectangle 14"/>
          <p:cNvSpPr/>
          <p:nvPr/>
        </p:nvSpPr>
        <p:spPr>
          <a:xfrm>
            <a:off x="411480" y="3803904"/>
            <a:ext cx="11384280" cy="530352"/>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803904"/>
            <a:ext cx="82296" cy="5303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922776"/>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Watches in the background</a:t>
            </a:r>
          </a:p>
        </p:txBody>
      </p:sp>
      <p:sp>
        <p:nvSpPr>
          <p:cNvPr id="18" name="TextBox 17"/>
          <p:cNvSpPr txBox="1"/>
          <p:nvPr/>
        </p:nvSpPr>
        <p:spPr>
          <a:xfrm>
            <a:off x="4114800" y="3922776"/>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Flags price gaps every 6 hours, and learns which kinds close</a:t>
            </a:r>
          </a:p>
        </p:txBody>
      </p:sp>
      <p:sp>
        <p:nvSpPr>
          <p:cNvPr id="19" name="Rounded Rectangle 18"/>
          <p:cNvSpPr/>
          <p:nvPr/>
        </p:nvSpPr>
        <p:spPr>
          <a:xfrm>
            <a:off x="411480" y="4407408"/>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07408"/>
            <a:ext cx="82296" cy="5303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Knows what drives cost</a:t>
            </a:r>
          </a:p>
        </p:txBody>
      </p:sp>
      <p:sp>
        <p:nvSpPr>
          <p:cNvPr id="22" name="TextBox 21"/>
          <p:cNvSpPr txBox="1"/>
          <p:nvPr/>
        </p:nvSpPr>
        <p:spPr>
          <a:xfrm>
            <a:off x="4114800" y="4526280"/>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Links material cost to its metal index and writes the counter-argument</a:t>
            </a:r>
          </a:p>
        </p:txBody>
      </p:sp>
      <p:sp>
        <p:nvSpPr>
          <p:cNvPr id="23" name="Rounded Rectangle 22"/>
          <p:cNvSpPr/>
          <p:nvPr/>
        </p:nvSpPr>
        <p:spPr>
          <a:xfrm>
            <a:off x="411480" y="5010912"/>
            <a:ext cx="11384280" cy="530352"/>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010912"/>
            <a:ext cx="82296"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129784"/>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Checkable, always</a:t>
            </a:r>
          </a:p>
        </p:txBody>
      </p:sp>
      <p:sp>
        <p:nvSpPr>
          <p:cNvPr id="26" name="TextBox 25"/>
          <p:cNvSpPr txBox="1"/>
          <p:nvPr/>
        </p:nvSpPr>
        <p:spPr>
          <a:xfrm>
            <a:off x="4114800" y="5129784"/>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Every number traces to a rate or a logged price; exports carry the total to the penny</a:t>
            </a:r>
          </a:p>
        </p:txBody>
      </p:sp>
      <p:sp>
        <p:nvSpPr>
          <p:cNvPr id="27" name="Rounded Rectangle 26"/>
          <p:cNvSpPr/>
          <p:nvPr/>
        </p:nvSpPr>
        <p:spPr>
          <a:xfrm>
            <a:off x="411480" y="5614416"/>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5614416"/>
            <a:ext cx="82296" cy="5303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733288"/>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Runs inside our walls</a:t>
            </a:r>
          </a:p>
        </p:txBody>
      </p:sp>
      <p:sp>
        <p:nvSpPr>
          <p:cNvPr id="30" name="TextBox 29"/>
          <p:cNvSpPr txBox="1"/>
          <p:nvPr/>
        </p:nvSpPr>
        <p:spPr>
          <a:xfrm>
            <a:off x="4114800" y="5733288"/>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Runs on a laptop with no internet and no AI; the data stays with 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SHAPE-BASED DFM CHECKS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It checks the part's shape, not just the price</a:t>
            </a:r>
          </a:p>
        </p:txBody>
      </p:sp>
      <p:sp>
        <p:nvSpPr>
          <p:cNvPr id="9" name="Rounded Rectangle 8"/>
          <p:cNvSpPr/>
          <p:nvPr/>
        </p:nvSpPr>
        <p:spPr>
          <a:xfrm>
            <a:off x="411480" y="1783080"/>
            <a:ext cx="11384280" cy="77724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94360"/>
          </a:xfrm>
          <a:prstGeom prst="rect">
            <a:avLst/>
          </a:prstGeom>
          <a:noFill/>
        </p:spPr>
        <p:txBody>
          <a:bodyPr wrap="square" anchor="t" lIns="0" rIns="0" tIns="0" bIns="0">
            <a:spAutoFit/>
          </a:bodyPr>
          <a:lstStyle/>
          <a:p>
            <a:pPr algn="l">
              <a:lnSpc>
                <a:spcPct val="115000"/>
              </a:lnSpc>
              <a:spcAft>
                <a:spcPts val="400"/>
              </a:spcAft>
            </a:pPr>
            <a:r>
              <a:rPr sz="1250" b="1" i="0">
                <a:solidFill>
                  <a:srgbClr val="99651A"/>
                </a:solidFill>
                <a:latin typeface="Calibri"/>
              </a:rPr>
              <a:t>The old way: </a:t>
            </a:r>
            <a:r>
              <a:rPr sz="1250" b="0" i="0">
                <a:solidFill>
                  <a:srgbClr val="3A4356"/>
                </a:solidFill>
                <a:latin typeface="Calibri"/>
              </a:rPr>
              <a:t>look at the finished cost and guess what might be wrong.  </a:t>
            </a:r>
            <a:r>
              <a:rPr sz="1250" b="1" i="0">
                <a:solidFill>
                  <a:srgbClr val="2A7F50"/>
                </a:solidFill>
                <a:latin typeface="Calibri"/>
              </a:rPr>
              <a:t>Now: </a:t>
            </a:r>
            <a:r>
              <a:rPr sz="1250" b="0" i="0">
                <a:solidFill>
                  <a:srgbClr val="3A4356"/>
                </a:solidFill>
                <a:latin typeface="Calibri"/>
              </a:rPr>
              <a:t>measure the 3D model, face by face, and name the features that cost money.</a:t>
            </a:r>
          </a:p>
        </p:txBody>
      </p:sp>
      <p:sp>
        <p:nvSpPr>
          <p:cNvPr id="11" name="Rounded Rectangle 10"/>
          <p:cNvSpPr/>
          <p:nvPr/>
        </p:nvSpPr>
        <p:spPr>
          <a:xfrm>
            <a:off x="41148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2A7F50"/>
                </a:solidFill>
                <a:latin typeface="Calibri"/>
              </a:rPr>
              <a:t>19</a:t>
            </a:r>
          </a:p>
        </p:txBody>
      </p:sp>
      <p:sp>
        <p:nvSpPr>
          <p:cNvPr id="13" name="TextBox 12"/>
          <p:cNvSpPr txBox="1"/>
          <p:nvPr/>
        </p:nvSpPr>
        <p:spPr>
          <a:xfrm>
            <a:off x="64008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cited rules</a:t>
            </a:r>
          </a:p>
        </p:txBody>
      </p:sp>
      <p:sp>
        <p:nvSpPr>
          <p:cNvPr id="14" name="TextBox 13"/>
          <p:cNvSpPr txBox="1"/>
          <p:nvPr/>
        </p:nvSpPr>
        <p:spPr>
          <a:xfrm>
            <a:off x="64008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Each rule names a published source, such as the ASM Handbook, NADCA or Machinery's Handbook.</a:t>
            </a:r>
          </a:p>
        </p:txBody>
      </p:sp>
      <p:sp>
        <p:nvSpPr>
          <p:cNvPr id="15" name="Rounded Rectangle 14"/>
          <p:cNvSpPr/>
          <p:nvPr/>
        </p:nvSpPr>
        <p:spPr>
          <a:xfrm>
            <a:off x="425196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1D6FB8"/>
                </a:solidFill>
                <a:latin typeface="Calibri"/>
              </a:rPr>
              <a:t>6</a:t>
            </a:r>
          </a:p>
        </p:txBody>
      </p:sp>
      <p:sp>
        <p:nvSpPr>
          <p:cNvPr id="17" name="TextBox 16"/>
          <p:cNvSpPr txBox="1"/>
          <p:nvPr/>
        </p:nvSpPr>
        <p:spPr>
          <a:xfrm>
            <a:off x="448056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process packs</a:t>
            </a:r>
          </a:p>
        </p:txBody>
      </p:sp>
      <p:sp>
        <p:nvSpPr>
          <p:cNvPr id="18" name="TextBox 17"/>
          <p:cNvSpPr txBox="1"/>
          <p:nvPr/>
        </p:nvSpPr>
        <p:spPr>
          <a:xfrm>
            <a:off x="448056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Casting, forging, machining, injection moulding, blow moulding and sheet metal.</a:t>
            </a:r>
          </a:p>
        </p:txBody>
      </p:sp>
      <p:sp>
        <p:nvSpPr>
          <p:cNvPr id="19" name="Rounded Rectangle 18"/>
          <p:cNvSpPr/>
          <p:nvPr/>
        </p:nvSpPr>
        <p:spPr>
          <a:xfrm>
            <a:off x="809244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1D6FB8"/>
                </a:solidFill>
                <a:latin typeface="Calibri"/>
              </a:rPr>
              <a:t>Faces</a:t>
            </a:r>
          </a:p>
        </p:txBody>
      </p:sp>
      <p:sp>
        <p:nvSpPr>
          <p:cNvPr id="21" name="TextBox 20"/>
          <p:cNvSpPr txBox="1"/>
          <p:nvPr/>
        </p:nvSpPr>
        <p:spPr>
          <a:xfrm>
            <a:off x="832104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named, not counted</a:t>
            </a:r>
          </a:p>
        </p:txBody>
      </p:sp>
      <p:sp>
        <p:nvSpPr>
          <p:cNvPr id="22" name="TextBox 21"/>
          <p:cNvSpPr txBox="1"/>
          <p:nvPr/>
        </p:nvSpPr>
        <p:spPr>
          <a:xfrm>
            <a:off x="832104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A finding names the faces and the measured value, not "tooling looks high". Click it to see them.</a:t>
            </a:r>
          </a:p>
        </p:txBody>
      </p:sp>
      <p:sp>
        <p:nvSpPr>
          <p:cNvPr id="23" name="Rounded Rectangle 22"/>
          <p:cNvSpPr/>
          <p:nvPr/>
        </p:nvSpPr>
        <p:spPr>
          <a:xfrm>
            <a:off x="411480" y="4526280"/>
            <a:ext cx="11384280" cy="13258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645152"/>
            <a:ext cx="1088136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It runs by itself, and it says what it did NOT check</a:t>
            </a:r>
          </a:p>
        </p:txBody>
      </p:sp>
      <p:sp>
        <p:nvSpPr>
          <p:cNvPr id="25" name="TextBox 24"/>
          <p:cNvSpPr txBox="1"/>
          <p:nvPr/>
        </p:nvSpPr>
        <p:spPr>
          <a:xfrm>
            <a:off x="685800" y="5010912"/>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A7F50"/>
                </a:solidFill>
                <a:latin typeface="Calibri"/>
              </a:rPr>
              <a:t>•  </a:t>
            </a:r>
            <a:r>
              <a:rPr sz="1100" b="0" i="0">
                <a:solidFill>
                  <a:srgbClr val="3A4356"/>
                </a:solidFill>
                <a:latin typeface="Calibri"/>
              </a:rPr>
              <a:t>The check runs in the background after a STEP or IGES upload. Nobody waits for it.</a:t>
            </a:r>
          </a:p>
        </p:txBody>
      </p:sp>
      <p:sp>
        <p:nvSpPr>
          <p:cNvPr id="26" name="TextBox 25"/>
          <p:cNvSpPr txBox="1"/>
          <p:nvPr/>
        </p:nvSpPr>
        <p:spPr>
          <a:xfrm>
            <a:off x="685800" y="5294376"/>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A7F50"/>
                </a:solidFill>
                <a:latin typeface="Calibri"/>
              </a:rPr>
              <a:t>•  </a:t>
            </a:r>
            <a:r>
              <a:rPr sz="1100" b="0" i="0">
                <a:solidFill>
                  <a:srgbClr val="3A4356"/>
                </a:solidFill>
                <a:latin typeface="Calibri"/>
              </a:rPr>
              <a:t>Each finding carries the measured value, the limit and the source it came from.</a:t>
            </a:r>
          </a:p>
        </p:txBody>
      </p:sp>
      <p:sp>
        <p:nvSpPr>
          <p:cNvPr id="27" name="TextBox 26"/>
          <p:cNvSpPr txBox="1"/>
          <p:nvPr/>
        </p:nvSpPr>
        <p:spPr>
          <a:xfrm>
            <a:off x="685800" y="5577840"/>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A7F50"/>
                </a:solidFill>
                <a:latin typeface="Calibri"/>
              </a:rPr>
              <a:t>•  </a:t>
            </a:r>
            <a:r>
              <a:rPr sz="1100" b="0" i="0">
                <a:solidFill>
                  <a:srgbClr val="3A4356"/>
                </a:solidFill>
                <a:latin typeface="Calibri"/>
              </a:rPr>
              <a:t>Every part also lists what could not be checked, so a short list is never mistaken for a clean part.</a:t>
            </a:r>
          </a:p>
        </p:txBody>
      </p:sp>
      <p:sp>
        <p:nvSpPr>
          <p:cNvPr id="28" name="Rectangle 27"/>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ASKED FOR BY COST ENGINEERING AND THE PLANT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Gears: it picks the process route, not just the price</a:t>
            </a:r>
          </a:p>
        </p:txBody>
      </p:sp>
      <p:sp>
        <p:nvSpPr>
          <p:cNvPr id="9" name="Rounded Rectangle 8"/>
          <p:cNvSpPr/>
          <p:nvPr/>
        </p:nvSpPr>
        <p:spPr>
          <a:xfrm>
            <a:off x="411480" y="1783080"/>
            <a:ext cx="11384280" cy="7315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4864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Ask for a more accurate gear and the tool does not multiply the price. </a:t>
            </a:r>
            <a:r>
              <a:rPr sz="1250" b="1" i="0">
                <a:solidFill>
                  <a:srgbClr val="2A7F50"/>
                </a:solidFill>
                <a:latin typeface="Calibri"/>
              </a:rPr>
              <a:t>It adds the machine that the accuracy needs.</a:t>
            </a:r>
          </a:p>
        </p:txBody>
      </p:sp>
      <p:sp>
        <p:nvSpPr>
          <p:cNvPr id="11" name="Rounded Rectangle 10"/>
          <p:cNvSpPr/>
          <p:nvPr/>
        </p:nvSpPr>
        <p:spPr>
          <a:xfrm>
            <a:off x="411480" y="2697480"/>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697480"/>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Loose gear (ISO 9)</a:t>
            </a:r>
          </a:p>
        </p:txBody>
      </p:sp>
      <p:sp>
        <p:nvSpPr>
          <p:cNvPr id="13" name="Rounded Rectangle 12"/>
          <p:cNvSpPr/>
          <p:nvPr/>
        </p:nvSpPr>
        <p:spPr>
          <a:xfrm>
            <a:off x="3520440" y="2816352"/>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Cut teeth</a:t>
            </a:r>
          </a:p>
        </p:txBody>
      </p:sp>
      <p:sp>
        <p:nvSpPr>
          <p:cNvPr id="15" name="Right Arrow 14"/>
          <p:cNvSpPr/>
          <p:nvPr/>
        </p:nvSpPr>
        <p:spPr>
          <a:xfrm>
            <a:off x="4700016" y="2944368"/>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82896" y="2816352"/>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82896"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18" name="Right Arrow 17"/>
          <p:cNvSpPr/>
          <p:nvPr/>
        </p:nvSpPr>
        <p:spPr>
          <a:xfrm>
            <a:off x="6062472" y="2944368"/>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5352" y="2816352"/>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45352"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21" name="TextBox 20"/>
          <p:cNvSpPr txBox="1"/>
          <p:nvPr/>
        </p:nvSpPr>
        <p:spPr>
          <a:xfrm>
            <a:off x="9966960" y="2697480"/>
            <a:ext cx="1691640" cy="621792"/>
          </a:xfrm>
          <a:prstGeom prst="rect">
            <a:avLst/>
          </a:prstGeom>
          <a:noFill/>
        </p:spPr>
        <p:txBody>
          <a:bodyPr wrap="square" anchor="ctr" lIns="0" rIns="0" tIns="0" bIns="0">
            <a:spAutoFit/>
          </a:bodyPr>
          <a:lstStyle/>
          <a:p>
            <a:pPr algn="r">
              <a:lnSpc>
                <a:spcPct val="100000"/>
              </a:lnSpc>
              <a:spcAft>
                <a:spcPts val="400"/>
              </a:spcAft>
            </a:pPr>
            <a:r>
              <a:rPr sz="1300" b="1" i="0">
                <a:solidFill>
                  <a:srgbClr val="2A7F50"/>
                </a:solidFill>
                <a:latin typeface="Calibri"/>
              </a:rPr>
              <a:t>base route</a:t>
            </a:r>
          </a:p>
        </p:txBody>
      </p:sp>
      <p:sp>
        <p:nvSpPr>
          <p:cNvPr id="22" name="Rounded Rectangle 21"/>
          <p:cNvSpPr/>
          <p:nvPr/>
        </p:nvSpPr>
        <p:spPr>
          <a:xfrm>
            <a:off x="411480" y="3410712"/>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410712"/>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Hardened, accurate (ISO 6)</a:t>
            </a:r>
          </a:p>
        </p:txBody>
      </p:sp>
      <p:sp>
        <p:nvSpPr>
          <p:cNvPr id="24" name="Rounded Rectangle 23"/>
          <p:cNvSpPr/>
          <p:nvPr/>
        </p:nvSpPr>
        <p:spPr>
          <a:xfrm>
            <a:off x="3520440" y="3529584"/>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0440"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Cut teeth</a:t>
            </a:r>
          </a:p>
        </p:txBody>
      </p:sp>
      <p:sp>
        <p:nvSpPr>
          <p:cNvPr id="26" name="Right Arrow 25"/>
          <p:cNvSpPr/>
          <p:nvPr/>
        </p:nvSpPr>
        <p:spPr>
          <a:xfrm>
            <a:off x="4700016" y="3657600"/>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882896" y="3529584"/>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82896"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29" name="Right Arrow 28"/>
          <p:cNvSpPr/>
          <p:nvPr/>
        </p:nvSpPr>
        <p:spPr>
          <a:xfrm>
            <a:off x="6062472" y="3657600"/>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5352" y="3529584"/>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5352"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Harden</a:t>
            </a:r>
          </a:p>
        </p:txBody>
      </p:sp>
      <p:sp>
        <p:nvSpPr>
          <p:cNvPr id="32" name="Right Arrow 31"/>
          <p:cNvSpPr/>
          <p:nvPr/>
        </p:nvSpPr>
        <p:spPr>
          <a:xfrm>
            <a:off x="7424928" y="3657600"/>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607808" y="3529584"/>
            <a:ext cx="1143000" cy="384048"/>
          </a:xfrm>
          <a:prstGeom prst="roundRect">
            <a:avLst>
              <a:gd name="adj" fmla="val 6000"/>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07808" y="3529584"/>
            <a:ext cx="1143000" cy="384048"/>
          </a:xfrm>
          <a:prstGeom prst="rect">
            <a:avLst/>
          </a:prstGeom>
          <a:noFill/>
        </p:spPr>
        <p:txBody>
          <a:bodyPr wrap="square" anchor="ctr" lIns="0" rIns="0" tIns="0" bIns="0">
            <a:spAutoFit/>
          </a:bodyPr>
          <a:lstStyle/>
          <a:p>
            <a:pPr algn="ctr">
              <a:lnSpc>
                <a:spcPct val="100000"/>
              </a:lnSpc>
              <a:spcAft>
                <a:spcPts val="400"/>
              </a:spcAft>
            </a:pPr>
            <a:r>
              <a:rPr sz="950" b="1" i="0">
                <a:solidFill>
                  <a:srgbClr val="FFFFFF"/>
                </a:solidFill>
                <a:latin typeface="Calibri"/>
              </a:rPr>
              <a:t>Grind</a:t>
            </a:r>
          </a:p>
        </p:txBody>
      </p:sp>
      <p:sp>
        <p:nvSpPr>
          <p:cNvPr id="35" name="Right Arrow 34"/>
          <p:cNvSpPr/>
          <p:nvPr/>
        </p:nvSpPr>
        <p:spPr>
          <a:xfrm>
            <a:off x="8787384" y="3657600"/>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970264" y="3529584"/>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70264"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38" name="TextBox 37"/>
          <p:cNvSpPr txBox="1"/>
          <p:nvPr/>
        </p:nvSpPr>
        <p:spPr>
          <a:xfrm>
            <a:off x="9966960" y="3410712"/>
            <a:ext cx="1691640" cy="621792"/>
          </a:xfrm>
          <a:prstGeom prst="rect">
            <a:avLst/>
          </a:prstGeom>
          <a:noFill/>
        </p:spPr>
        <p:txBody>
          <a:bodyPr wrap="square" anchor="ctr" lIns="0" rIns="0" tIns="0" bIns="0">
            <a:spAutoFit/>
          </a:bodyPr>
          <a:lstStyle/>
          <a:p>
            <a:pPr algn="r">
              <a:lnSpc>
                <a:spcPct val="100000"/>
              </a:lnSpc>
              <a:spcAft>
                <a:spcPts val="400"/>
              </a:spcAft>
            </a:pPr>
            <a:r>
              <a:rPr sz="1300" b="1" i="0">
                <a:solidFill>
                  <a:srgbClr val="99651A"/>
                </a:solidFill>
                <a:latin typeface="Calibri"/>
              </a:rPr>
              <a:t>+ grind</a:t>
            </a:r>
          </a:p>
        </p:txBody>
      </p:sp>
      <p:sp>
        <p:nvSpPr>
          <p:cNvPr id="39" name="Rounded Rectangle 38"/>
          <p:cNvSpPr/>
          <p:nvPr/>
        </p:nvSpPr>
        <p:spPr>
          <a:xfrm>
            <a:off x="411480" y="4123944"/>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123944"/>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Internal ring gear</a:t>
            </a:r>
          </a:p>
        </p:txBody>
      </p:sp>
      <p:sp>
        <p:nvSpPr>
          <p:cNvPr id="41" name="Rounded Rectangle 40"/>
          <p:cNvSpPr/>
          <p:nvPr/>
        </p:nvSpPr>
        <p:spPr>
          <a:xfrm>
            <a:off x="3520440" y="4242816"/>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20440"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Power-skive</a:t>
            </a:r>
          </a:p>
        </p:txBody>
      </p:sp>
      <p:sp>
        <p:nvSpPr>
          <p:cNvPr id="43" name="Right Arrow 42"/>
          <p:cNvSpPr/>
          <p:nvPr/>
        </p:nvSpPr>
        <p:spPr>
          <a:xfrm>
            <a:off x="4700016" y="4370832"/>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882896" y="4242816"/>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82896"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46" name="Right Arrow 45"/>
          <p:cNvSpPr/>
          <p:nvPr/>
        </p:nvSpPr>
        <p:spPr>
          <a:xfrm>
            <a:off x="6062472" y="4370832"/>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5352" y="4242816"/>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45352"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Harden</a:t>
            </a:r>
          </a:p>
        </p:txBody>
      </p:sp>
      <p:sp>
        <p:nvSpPr>
          <p:cNvPr id="49" name="Right Arrow 48"/>
          <p:cNvSpPr/>
          <p:nvPr/>
        </p:nvSpPr>
        <p:spPr>
          <a:xfrm>
            <a:off x="7424928" y="4370832"/>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7607808" y="4242816"/>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07808"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52" name="TextBox 51"/>
          <p:cNvSpPr txBox="1"/>
          <p:nvPr/>
        </p:nvSpPr>
        <p:spPr>
          <a:xfrm>
            <a:off x="9966960" y="4123944"/>
            <a:ext cx="1691640" cy="621792"/>
          </a:xfrm>
          <a:prstGeom prst="rect">
            <a:avLst/>
          </a:prstGeom>
          <a:noFill/>
        </p:spPr>
        <p:txBody>
          <a:bodyPr wrap="square" anchor="ctr" lIns="0" rIns="0" tIns="0" bIns="0">
            <a:spAutoFit/>
          </a:bodyPr>
          <a:lstStyle/>
          <a:p>
            <a:pPr algn="r">
              <a:lnSpc>
                <a:spcPct val="100000"/>
              </a:lnSpc>
              <a:spcAft>
                <a:spcPts val="400"/>
              </a:spcAft>
            </a:pPr>
            <a:r>
              <a:rPr sz="1300" b="1" i="0">
                <a:solidFill>
                  <a:srgbClr val="1D6FB8"/>
                </a:solidFill>
                <a:latin typeface="Calibri"/>
              </a:rPr>
              <a:t>skive, no hob</a:t>
            </a:r>
          </a:p>
        </p:txBody>
      </p:sp>
      <p:sp>
        <p:nvSpPr>
          <p:cNvPr id="53" name="Rounded Rectangle 52"/>
          <p:cNvSpPr/>
          <p:nvPr/>
        </p:nvSpPr>
        <p:spPr>
          <a:xfrm>
            <a:off x="3520440" y="4892040"/>
            <a:ext cx="201168" cy="118872"/>
          </a:xfrm>
          <a:prstGeom prst="roundRect">
            <a:avLst>
              <a:gd name="adj" fmla="val 3000"/>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794760" y="4828032"/>
            <a:ext cx="7315200" cy="237744"/>
          </a:xfrm>
          <a:prstGeom prst="rect">
            <a:avLst/>
          </a:prstGeom>
          <a:noFill/>
        </p:spPr>
        <p:txBody>
          <a:bodyPr wrap="square" anchor="ctr" lIns="0" rIns="0" tIns="0" bIns="0">
            <a:spAutoFit/>
          </a:bodyPr>
          <a:lstStyle/>
          <a:p>
            <a:pPr algn="l">
              <a:lnSpc>
                <a:spcPct val="100000"/>
              </a:lnSpc>
              <a:spcAft>
                <a:spcPts val="400"/>
              </a:spcAft>
            </a:pPr>
            <a:r>
              <a:rPr sz="1000" b="0" i="1">
                <a:solidFill>
                  <a:srgbClr val="686F7D"/>
                </a:solidFill>
                <a:latin typeface="Calibri"/>
              </a:rPr>
              <a:t>= the step the tighter class ADDED — not the same work costing more</a:t>
            </a:r>
          </a:p>
        </p:txBody>
      </p:sp>
      <p:sp>
        <p:nvSpPr>
          <p:cNvPr id="55" name="Rounded Rectangle 54"/>
          <p:cNvSpPr/>
          <p:nvPr/>
        </p:nvSpPr>
        <p:spPr>
          <a:xfrm>
            <a:off x="411480" y="5138928"/>
            <a:ext cx="5577840" cy="1097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8368" y="5248656"/>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It refuses rather than guesses</a:t>
            </a:r>
          </a:p>
        </p:txBody>
      </p:sp>
      <p:sp>
        <p:nvSpPr>
          <p:cNvPr id="57" name="TextBox 56"/>
          <p:cNvSpPr txBox="1"/>
          <p:nvPr/>
        </p:nvSpPr>
        <p:spPr>
          <a:xfrm>
            <a:off x="658368" y="5550408"/>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 gear no machine in the library can make is blocked. It is never quietly costed on the nearest machine.</a:t>
            </a:r>
          </a:p>
        </p:txBody>
      </p:sp>
      <p:sp>
        <p:nvSpPr>
          <p:cNvPr id="58" name="Rounded Rectangle 57"/>
          <p:cNvSpPr/>
          <p:nvPr/>
        </p:nvSpPr>
        <p:spPr>
          <a:xfrm>
            <a:off x="6217920" y="5138928"/>
            <a:ext cx="5577840" cy="1097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64808" y="5248656"/>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99651A"/>
                </a:solidFill>
                <a:latin typeface="Calibri"/>
              </a:rPr>
              <a:t>And it says what it does not know</a:t>
            </a:r>
          </a:p>
        </p:txBody>
      </p:sp>
      <p:sp>
        <p:nvSpPr>
          <p:cNvPr id="60" name="TextBox 59"/>
          <p:cNvSpPr txBox="1"/>
          <p:nvPr/>
        </p:nvSpPr>
        <p:spPr>
          <a:xfrm>
            <a:off x="6464808" y="5550408"/>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The gear shop figures are representative until the plant supplies its own. Every gear estimate prints that warning.</a:t>
            </a:r>
          </a:p>
        </p:txBody>
      </p:sp>
      <p:sp>
        <p:nvSpPr>
          <p:cNvPr id="61" name="Rectangle 60"/>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we are, and the ask</a:t>
            </a:r>
          </a:p>
        </p:txBody>
      </p:sp>
      <p:sp>
        <p:nvSpPr>
          <p:cNvPr id="9" name="Rounded Rectangle 8"/>
          <p:cNvSpPr/>
          <p:nvPr/>
        </p:nvSpPr>
        <p:spPr>
          <a:xfrm>
            <a:off x="411480" y="1828800"/>
            <a:ext cx="5486400" cy="40233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A7F50"/>
                </a:solidFill>
                <a:latin typeface="Calibri"/>
              </a:rPr>
              <a:t>Status today</a:t>
            </a:r>
          </a:p>
        </p:txBody>
      </p:sp>
      <p:sp>
        <p:nvSpPr>
          <p:cNvPr id="11" name="TextBox 10"/>
          <p:cNvSpPr txBox="1"/>
          <p:nvPr/>
        </p:nvSpPr>
        <p:spPr>
          <a:xfrm>
            <a:off x="685800" y="256032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Built and tested: 2,438 tests across the tool</a:t>
            </a:r>
          </a:p>
        </p:txBody>
      </p:sp>
      <p:sp>
        <p:nvSpPr>
          <p:cNvPr id="12" name="TextBox 11"/>
          <p:cNvSpPr txBox="1"/>
          <p:nvPr/>
        </p:nvSpPr>
        <p:spPr>
          <a:xfrm>
            <a:off x="685800" y="3063239"/>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Works with AI off: nothing here needs AI</a:t>
            </a:r>
          </a:p>
        </p:txBody>
      </p:sp>
      <p:sp>
        <p:nvSpPr>
          <p:cNvPr id="13" name="TextBox 12"/>
          <p:cNvSpPr txBox="1"/>
          <p:nvPr/>
        </p:nvSpPr>
        <p:spPr>
          <a:xfrm>
            <a:off x="685800" y="356616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No extra licence: part of CostVision</a:t>
            </a:r>
          </a:p>
        </p:txBody>
      </p:sp>
      <p:sp>
        <p:nvSpPr>
          <p:cNvPr id="14" name="TextBox 13"/>
          <p:cNvSpPr txBox="1"/>
          <p:nvPr/>
        </p:nvSpPr>
        <p:spPr>
          <a:xfrm>
            <a:off x="685800" y="406908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Runs on our laptop: no data leaves</a:t>
            </a:r>
          </a:p>
        </p:txBody>
      </p:sp>
      <p:sp>
        <p:nvSpPr>
          <p:cNvPr id="15" name="TextBox 14"/>
          <p:cNvSpPr txBox="1"/>
          <p:nvPr/>
        </p:nvSpPr>
        <p:spPr>
          <a:xfrm>
            <a:off x="685800" y="4709160"/>
            <a:ext cx="4937760" cy="1005840"/>
          </a:xfrm>
          <a:prstGeom prst="rect">
            <a:avLst/>
          </a:prstGeom>
          <a:noFill/>
        </p:spPr>
        <p:txBody>
          <a:bodyPr wrap="square" anchor="t" lIns="0" rIns="0" tIns="0" bIns="0">
            <a:spAutoFit/>
          </a:bodyPr>
          <a:lstStyle/>
          <a:p>
            <a:pPr algn="l">
              <a:lnSpc>
                <a:spcPct val="115000"/>
              </a:lnSpc>
              <a:spcAft>
                <a:spcPts val="400"/>
              </a:spcAft>
            </a:pPr>
            <a:r>
              <a:rPr sz="1200" b="1" i="0">
                <a:solidFill>
                  <a:srgbClr val="16325C"/>
                </a:solidFill>
                <a:latin typeface="Calibri"/>
              </a:rPr>
              <a:t>Honest note: </a:t>
            </a:r>
            <a:r>
              <a:rPr sz="1200" b="0" i="0">
                <a:solidFill>
                  <a:srgbClr val="3A4356"/>
                </a:solidFill>
                <a:latin typeface="Calibri"/>
              </a:rPr>
              <a:t>it starts empty, and no estimate has yet been compared with a price JLR paid. The value builds as we log real prices.</a:t>
            </a:r>
          </a:p>
        </p:txBody>
      </p:sp>
      <p:sp>
        <p:nvSpPr>
          <p:cNvPr id="16" name="Rounded Rectangle 15"/>
          <p:cNvSpPr/>
          <p:nvPr/>
        </p:nvSpPr>
        <p:spPr>
          <a:xfrm>
            <a:off x="6263640" y="1828800"/>
            <a:ext cx="5532120" cy="402336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D6FB8"/>
                </a:solidFill>
                <a:latin typeface="Calibri"/>
              </a:rPr>
              <a:t>The ask — three small decisions</a:t>
            </a:r>
          </a:p>
        </p:txBody>
      </p:sp>
      <p:sp>
        <p:nvSpPr>
          <p:cNvPr id="18" name="TextBox 17"/>
          <p:cNvSpPr txBox="1"/>
          <p:nvPr/>
        </p:nvSpPr>
        <p:spPr>
          <a:xfrm>
            <a:off x="6537960" y="260604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1.  Adopt the habit</a:t>
            </a:r>
          </a:p>
          <a:p>
            <a:pPr algn="l">
              <a:lnSpc>
                <a:spcPct val="110000"/>
              </a:lnSpc>
              <a:spcAft>
                <a:spcPts val="300"/>
              </a:spcAft>
            </a:pPr>
            <a:r>
              <a:rPr sz="1150" b="0" i="0">
                <a:solidFill>
                  <a:srgbClr val="3A4356"/>
                </a:solidFill>
                <a:latin typeface="Calibri"/>
              </a:rPr>
              <a:t>     "Log Actual £" on every quote. One click each.</a:t>
            </a:r>
          </a:p>
        </p:txBody>
      </p:sp>
      <p:sp>
        <p:nvSpPr>
          <p:cNvPr id="19" name="TextBox 18"/>
          <p:cNvSpPr txBox="1"/>
          <p:nvPr/>
        </p:nvSpPr>
        <p:spPr>
          <a:xfrm>
            <a:off x="6537960" y="356616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2.  Seed the correction</a:t>
            </a:r>
          </a:p>
          <a:p>
            <a:pPr algn="l">
              <a:lnSpc>
                <a:spcPct val="110000"/>
              </a:lnSpc>
              <a:spcAft>
                <a:spcPts val="300"/>
              </a:spcAft>
            </a:pPr>
            <a:r>
              <a:rPr sz="1150" b="0" i="0">
                <a:solidFill>
                  <a:srgbClr val="3A4356"/>
                </a:solidFill>
                <a:latin typeface="Calibri"/>
              </a:rPr>
              <a:t>     Import past quotes as a CSV, so it starts with data.</a:t>
            </a:r>
          </a:p>
        </p:txBody>
      </p:sp>
      <p:sp>
        <p:nvSpPr>
          <p:cNvPr id="20" name="TextBox 19"/>
          <p:cNvSpPr txBox="1"/>
          <p:nvPr/>
        </p:nvSpPr>
        <p:spPr>
          <a:xfrm>
            <a:off x="6537960" y="452628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3.  Review the findings</a:t>
            </a:r>
          </a:p>
          <a:p>
            <a:pPr algn="l">
              <a:lnSpc>
                <a:spcPct val="110000"/>
              </a:lnSpc>
              <a:spcAft>
                <a:spcPts val="300"/>
              </a:spcAft>
            </a:pPr>
            <a:r>
              <a:rPr sz="1150" b="0" i="0">
                <a:solidFill>
                  <a:srgbClr val="3A4356"/>
                </a:solidFill>
                <a:latin typeface="Calibri"/>
              </a:rPr>
              <a:t>     Background check findings on the monthly sourcing agenda.</a:t>
            </a:r>
          </a:p>
        </p:txBody>
      </p:sp>
      <p:sp>
        <p:nvSpPr>
          <p:cNvPr id="21" name="Rectangle 20"/>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