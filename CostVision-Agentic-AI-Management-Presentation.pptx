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learning</c:v>
                </c:pt>
              </c:strCache>
            </c:strRef>
          </c:tx>
          <c:spPr>
            <a:solidFill>
              <a:srgbClr val="64748B"/>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Aluminium · UK</c:v>
                  </c:pt>
                  <c:pt idx="1">
                    <c:v>Casting · Aluminium · China</c:v>
                  </c:pt>
                </c:lvl>
              </c:multiLvlStrCache>
            </c:multiLvl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Aluminium · UK</c:v>
                  </c:pt>
                  <c:pt idx="1">
                    <c:v>Casting · Aluminium · China</c:v>
                  </c:pt>
                </c:lvl>
              </c:multiLvlStrCache>
            </c:multiLvlStrRef>
          </c:cat>
          <c:val>
            <c:numRef>
              <c:f>Sheet1!$C$2:$C$3</c:f>
              <c:numCache>
                <c:formatCode>General</c:formatCode>
                <c:ptCount val="2"/>
                <c:pt idx="0">
                  <c:v>0.3</c:v>
                </c:pt>
                <c:pt idx="1">
                  <c:v>0.6</c:v>
                </c:pt>
              </c:numCache>
            </c:numRef>
          </c:val>
        </c:ser>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Confidence band (± %)</c:v>
                </c:pt>
              </c:strCache>
            </c:strRef>
          </c:tx>
          <c:spPr>
            <a:solidFill>
              <a:srgbClr val="D97706"/>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Before any real quotes</c:v>
                  </c:pt>
                  <c:pt idx="1">
                    <c:v>After 3 real quotes logged</c:v>
                  </c:pt>
                </c:lvl>
              </c:multiLvlStrCache>
            </c:multiLvlStrRef>
          </c:cat>
          <c:val>
            <c:numRef>
              <c:f>Sheet1!$B$2:$B$3</c:f>
              <c:numCache>
                <c:formatCode>General</c:formatCode>
                <c:ptCount val="2"/>
                <c:pt idx="0">
                  <c:v>20.4</c:v>
                </c:pt>
                <c:pt idx="1">
                  <c:v>2.8</c:v>
                </c:pt>
              </c:numCache>
            </c:numRef>
          </c:val>
        </c:ser>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105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64748B"/>
            </a:solidFill>
            <a:effectLst/>
          </c:spPr>
          <c:invertIfNegative val="0"/>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95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strong, then pause. "Every costing tool on the market does maths. Ours does something none of them do — it learns." The tool remembers every part we've costed, recognises the next one, corrects itself against real quotes, and hunts for savings while nobody's watching. One promise before we start: every number in this deck is from a live run of the real system — no mock-ups.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four numbers, remember these. Error fell thirty-six-fold — eleven percent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just over a thousand automated tests, and it now runs as a deployable container with the build verified in CI. The one line that matters: costing intelligence used to live in people's heads and walk out the door. Now it accumulates as a company asset that gets more valuable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gets thrown around,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A number you can't defend is worthless in a negotiation. Ours you can defend,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watches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machine on one slide — and the punchline is how little it asks of the engineer. They cost a part exactly as they do today. Everything automatic happens on its own: it remembers, recognises, suggests, and the agent keeps watch. There is exactly ONE new habit — a single click, 'Log Actual £,' when a real quote lands. That one click is the fuel for every loop, and every loop makes the next estimate sharper. No new workload, compounding returns. That's the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one — the memory. For every analysis we keep a fingerprint of the part, the full result, any real quotes, and — the clever bit — the exact places an expert overrode the AI. Those corrections are our engineers literally teaching the tool. On the right is why it matters to us: it's shared, so a junior inherits senior judgement on day one; it lives on our servers, so it's our asset; and it compounds — genuinely useful after only twenty or thirty analyses. Every costing we run from today is a deposit into an account that only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two, shown with the tool's actual live output. An engineer starts a new aluminium bracket. Before they've finished, the tool has surfaced the three most similar parts we've ever costed — at ninety-eight to ninety-nine percent — and it tells you WHY they matched: same material family, weight class, region. Then it hands over the gold: the median cost, the shared material, and the real prices we actually paid. A junior just stood on the shoulders of every senior before them. And every number names its source. No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three is the accuracy engine, and this is a real measured result. Our machining estimates ran about eleven percent LOW against real prices. After the tool learned from three logged quotes, the error was three-tenths of a percent. Now the subtle part: machining ran low; our China castings ran high. Average them and everything looks 'fine' — the errors cancel and hide. The tool refuses to average. It corrects each process, material and region separately, so it catches exactly what a portfolio average conceals. Measured against reality and reported out loud —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to three. Give a buyer this and you've handed them a script — the conservative end is the walk-away, the optimistic end is the stretch target. A single number pretends to a confidence early estimates don't have. This tells the truth, and the truth negotiates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five —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into a supplier meeting. The tool isn't waiting to be asked anymore. It's already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drives the price. And carbon co-costing puts a CO2 figure next to every pound — which automotive and aerospace customers now demand in the RFQ itself. Eighteen commodity engines, CAD-to-cost, PCB photo-to-BOM — and the agentic layer sits on top of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management question: what does this cost the team in effort? Honestly — almost nothing. Engineers keep costing parts exactly as they do now; the memory builds itself.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was measured on the running system — live server, real database, real API calls — not projected. Segment error dropped to well under one percent in BOTH directions of bias. The confidence band tightened seven-fold. Recognition hit ninety-nine percent. The unattended agent surfaced half a million pounds. And just over a thousand tests stand guard so none of it quietly regresses. One honest caveat: these demos ran on small seeded datasets — real-world accuracy builds as OUR data accumulates. The mechanism is proven. The asset grows with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benefits, business language. Speed: new parts start from proven history, not a blank sheet. Accuracy: it compounds with every quote and it's always measured — which is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this year, and it sharpens the moat. Every should-cost now carries TWO ranges. Left, the physics prior — a Monte-Carlo band reflecting how well the inputs are known; always available. Right, the new one: an empirical band built from the actual quotes you've logged, using conformal prediction — a method that comes with a coverage guarantee. So the tool stops asserting a precision and states an observed fact: 'ninety percent of your real quotes for this family landed within plus-or-minus six-and-a-half percent.' That band edge is measured error, not a claim — which is why a buyer can defend it in the room. And it tightens on its own. No competitor states uncertainty with a guarantee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on the agent. It used to rank findings by the raw gap — the theoretical money. Now it learns which findings actually convert into cash. Watch the table: the cast housing shows a two-hundred-thousand-pound gap, but casting renegotiations almost never close — twenty percent — so realizable value is forty thousand. The machined knuckle has HALF the raw gap, but machining usually closes — eighty percent — so it's worth eighty thousand realizable. The agent now ranks the machining finding ABOVE the bigger one. Why? Sourcing time is scarce — it points at money you can actually get, and tracks pounds truly saved so the tool proves its own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 number becomes leverage. The tool now builds a small causal model of the part — it knows the material bucket is driven by a specific commodity index, aluminium here — and runs the same overhead-and-margin maths the engine already uses to work out how sensitive the price is. Then it writes the argument for you. Read the live output: material is eight-thirty-nine, driven by aluminium; every one-percent move shifts the piece price by eleven pence; a quote of ninety-five is only justified if aluminium were about fourteen percent above today — so ask them to prove it, or hold at eighty-six thirty-four. That's a sentence a buyer can say out loud and not get argued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And the honest framing: it's always a conditional — IF the index moves — never a forecast we can't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feature I'm proudest of this year. Photograph a circuit board, and in about sixty seconds you get a costed bill of materials. The story is honesty about the journey: it started as a clever demo, and complex automotive boards would sometimes come back EMPTY — a lot of compute, no result. We fixed that at the root, then hardened the whole pipeline. The chart is the proof: the same real ECU, costed by an engineer in half a day versus the AI from one photo — sixty-nine pounds against seventy-three, within about five percent, in sixty seconds. On the right, the five fixes that got us there. Bottom line: the two-to-three-times over-costing is gone. Same photo, same answer, every run — and it tells you exactly which lines to firm up before you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newest layer, and it's pure glass-box. Over the last stretch we hammered the tool against real automotive CAD and found a handful of ways an estimate could quietly go wrong — the wrong machine, a mis-read wall, a weight that doesn't match the shape. The important bit is what we did next: instead of just fixing each part, we turned every lesson into a deterministic check that now runs on EVERY estimate. It sizes the machine to the part across every process, sanity-checks the geometry, ties the weight to the measured volume, and makes sure tooling amortises over the real volume. And because it re-derives from the physics — here's the clever part — it catches a colleague overriding it, or a future code change breaking something, not only the original bug. Live proof: we put a forging on a two-tonne hand-hammer on purpose; it flagged it, named the right sixteen-hundred-tonne press, and one click fixed it. The tool checks its own homework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I'd stake the pitch on. We didn't test on toy shapes — we ran five real automotive parts, actual STEP files, end to end. And I'll be completely straight with you: on every one, the tool's FIRST answer had an error. A fuel tank came back as a two-hundred-pound sand casting, because to raw geometry a thin hollow tank looks a bit like a casting — it's really a twenty-four-pound blow-moulded part. A bumper priced as an aluminium casting instead of injection-moulded plastic. A three-gram horn with over four hours of imaginary machining. Each one we diagnosed, fixed at the root, and — crucially — pinned with a test so it can't come back. That's the line between a demo and a tool you trust: it has been wrong on real parts, in ways we can explain, and it's now guarded against every one of them. Being honest about the misses is exactly what earns trust in the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competitive message away, take this. Rivals demo continuous learning and adaptive reasoning — but as a black box, a number you're told to trust. Our principle is the opposite, and it's harder to build: every learned or derived value stays auditable. The bias factor, the conformal band, the hit-rate, the coach's arithmetic — all a value a cost engineer can read and defend across the table. The AI narrates and explains; it never sets the price in secret. So we match the market on learning, autonomy and causal reasoning — and beat it on the one thing that wins deals: defensibility. Autonomous, self-improving, glass-box, AND on-premise. That combination doesn't exist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capability is built, tested — just over a thousand tests — and live, at no extra licence cost, on our own infrastructure, now shipping as a deployable container. I'll be straight about the one dependency: the intelligence starts empty and grows with use. So the ask is three small decisions. One: make 'Log Actual £' a one-click habit. Two: approve a one-off import of our historical quotes so it starts smart — a day or two of effort. Three: put the agent's findings on the sourcing agenda each month; it's already finding money. Do those three things and this becomes a compounding asset from day one. Thank you — happy to take questions, or show you the live system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0" y="0"/>
            <a:ext cx="12191695" cy="146304"/>
          </a:xfrm>
          <a:prstGeom prst="rect">
            <a:avLst/>
          </a:prstGeom>
          <a:solidFill>
            <a:srgbClr val="4F46E5"/>
          </a:solidFill>
          <a:ln/>
        </p:spPr>
      </p:sp>
      <p:sp>
        <p:nvSpPr>
          <p:cNvPr id="4" name="Shape 2"/>
          <p:cNvSpPr/>
          <p:nvPr/>
        </p:nvSpPr>
        <p:spPr>
          <a:xfrm>
            <a:off x="457200" y="411480"/>
            <a:ext cx="480060" cy="480060"/>
          </a:xfrm>
          <a:prstGeom prst="roundRect">
            <a:avLst>
              <a:gd name="adj" fmla="val 19048"/>
            </a:avLst>
          </a:prstGeom>
          <a:solidFill>
            <a:srgbClr val="4F46E5"/>
          </a:solidFill>
          <a:ln/>
        </p:spPr>
      </p:sp>
      <p:sp>
        <p:nvSpPr>
          <p:cNvPr id="5" name="Text 3"/>
          <p:cNvSpPr/>
          <p:nvPr/>
        </p:nvSpPr>
        <p:spPr>
          <a:xfrm>
            <a:off x="457200" y="411480"/>
            <a:ext cx="480060" cy="480060"/>
          </a:xfrm>
          <a:prstGeom prst="rect">
            <a:avLst/>
          </a:prstGeom>
          <a:noFill/>
          <a:ln/>
        </p:spPr>
        <p:txBody>
          <a:bodyPr wrap="square" lIns="0" tIns="0" rIns="0" bIns="0" rtlCol="0" anchor="ctr"/>
          <a:lstStyle/>
          <a:p>
            <a:pPr algn="ctr" indent="0" marL="0">
              <a:buNone/>
            </a:pPr>
            <a:r>
              <a:rPr lang="en-US" sz="2125" b="1" dirty="0">
                <a:solidFill>
                  <a:srgbClr val="FFFFFF"/>
                </a:solidFill>
                <a:latin typeface="Calibri" pitchFamily="34" charset="0"/>
                <a:ea typeface="Calibri" pitchFamily="34" charset="-122"/>
                <a:cs typeface="Calibri" pitchFamily="34" charset="-120"/>
              </a:rPr>
              <a:t>cv</a:t>
            </a:r>
            <a:endParaRPr lang="en-US" sz="2125" dirty="0"/>
          </a:p>
        </p:txBody>
      </p:sp>
      <p:sp>
        <p:nvSpPr>
          <p:cNvPr id="6" name="Text 4"/>
          <p:cNvSpPr/>
          <p:nvPr/>
        </p:nvSpPr>
        <p:spPr>
          <a:xfrm>
            <a:off x="1051560" y="377190"/>
            <a:ext cx="2743200" cy="292608"/>
          </a:xfrm>
          <a:prstGeom prst="rect">
            <a:avLst/>
          </a:prstGeom>
          <a:noFill/>
          <a:ln/>
        </p:spPr>
        <p:txBody>
          <a:bodyPr wrap="square" lIns="0" tIns="0" rIns="0" bIns="0" rtlCol="0" anchor="t"/>
          <a:lstStyle/>
          <a:p>
            <a:pPr indent="0" marL="0">
              <a:buNone/>
            </a:pPr>
            <a:r>
              <a:rPr lang="en-US" sz="2250" b="1" dirty="0">
                <a:solidFill>
                  <a:srgbClr val="2563EB"/>
                </a:solidFill>
                <a:latin typeface="Calibri" pitchFamily="34" charset="0"/>
                <a:ea typeface="Calibri" pitchFamily="34" charset="-122"/>
                <a:cs typeface="Calibri" pitchFamily="34" charset="-120"/>
              </a:rPr>
              <a:t>CostVision</a:t>
            </a:r>
            <a:endParaRPr lang="en-US" sz="2250" dirty="0"/>
          </a:p>
        </p:txBody>
      </p:sp>
      <p:sp>
        <p:nvSpPr>
          <p:cNvPr id="7" name="Text 5"/>
          <p:cNvSpPr/>
          <p:nvPr/>
        </p:nvSpPr>
        <p:spPr>
          <a:xfrm>
            <a:off x="1051560" y="685800"/>
            <a:ext cx="2926080" cy="201168"/>
          </a:xfrm>
          <a:prstGeom prst="rect">
            <a:avLst/>
          </a:prstGeom>
          <a:noFill/>
          <a:ln/>
        </p:spPr>
        <p:txBody>
          <a:bodyPr wrap="square" lIns="0" tIns="0" rIns="0" bIns="0" rtlCol="0" anchor="t"/>
          <a:lstStyle/>
          <a:p>
            <a:pPr indent="0" marL="0">
              <a:buNone/>
            </a:pPr>
            <a:r>
              <a:rPr lang="en-US" sz="938" spc="100" kern="0" dirty="0">
                <a:solidFill>
                  <a:srgbClr val="64748B"/>
                </a:solidFill>
                <a:latin typeface="Calibri" pitchFamily="34" charset="0"/>
                <a:ea typeface="Calibri" pitchFamily="34" charset="-122"/>
                <a:cs typeface="Calibri" pitchFamily="34" charset="-120"/>
              </a:rPr>
              <a:t>AI  COST  INTELLIGENCE</a:t>
            </a:r>
            <a:endParaRPr lang="en-US" sz="938" dirty="0"/>
          </a:p>
        </p:txBody>
      </p:sp>
      <p:sp>
        <p:nvSpPr>
          <p:cNvPr id="8" name="Text 6"/>
          <p:cNvSpPr/>
          <p:nvPr/>
        </p:nvSpPr>
        <p:spPr>
          <a:xfrm>
            <a:off x="822960" y="2148840"/>
            <a:ext cx="10515600" cy="914400"/>
          </a:xfrm>
          <a:prstGeom prst="rect">
            <a:avLst/>
          </a:prstGeom>
          <a:noFill/>
          <a:ln/>
        </p:spPr>
        <p:txBody>
          <a:bodyPr wrap="square" lIns="0" tIns="0" rIns="0" bIns="0" rtlCol="0" anchor="t"/>
          <a:lstStyle/>
          <a:p>
            <a:pPr indent="0" marL="0">
              <a:buNone/>
            </a:pPr>
            <a:r>
              <a:rPr lang="en-US" sz="4600" b="1" dirty="0">
                <a:solidFill>
                  <a:srgbClr val="0F172A"/>
                </a:solidFill>
                <a:latin typeface="Calibri" pitchFamily="34" charset="0"/>
                <a:ea typeface="Calibri" pitchFamily="34" charset="-122"/>
                <a:cs typeface="Calibri" pitchFamily="34" charset="-120"/>
              </a:rPr>
              <a:t>Agentic AI in CostVision</a:t>
            </a:r>
            <a:endParaRPr lang="en-US" sz="4600" dirty="0"/>
          </a:p>
        </p:txBody>
      </p:sp>
      <p:sp>
        <p:nvSpPr>
          <p:cNvPr id="9" name="Text 7"/>
          <p:cNvSpPr/>
          <p:nvPr/>
        </p:nvSpPr>
        <p:spPr>
          <a:xfrm>
            <a:off x="822960" y="3063240"/>
            <a:ext cx="10058400" cy="822960"/>
          </a:xfrm>
          <a:prstGeom prst="rect">
            <a:avLst/>
          </a:prstGeom>
          <a:noFill/>
          <a:ln/>
        </p:spPr>
        <p:txBody>
          <a:bodyPr wrap="square" lIns="0" tIns="0" rIns="0" bIns="0" rtlCol="0" anchor="t"/>
          <a:lstStyle/>
          <a:p>
            <a:pPr indent="0" marL="0">
              <a:lnSpc>
                <a:spcPct val="110000"/>
              </a:lnSpc>
              <a:buNone/>
            </a:pPr>
            <a:r>
              <a:rPr lang="en-US" sz="1900" dirty="0">
                <a:solidFill>
                  <a:srgbClr val="334155"/>
                </a:solidFill>
                <a:latin typeface="Calibri" pitchFamily="34" charset="0"/>
                <a:ea typeface="Calibri" pitchFamily="34" charset="-122"/>
                <a:cs typeface="Calibri" pitchFamily="34" charset="-120"/>
              </a:rPr>
              <a:t>A costing tool that learns from every analysis, remembers your parts,</a:t>
            </a:r>
            <a:endParaRPr lang="en-US" sz="1900" dirty="0"/>
          </a:p>
          <a:p>
            <a:pPr indent="0" marL="0">
              <a:lnSpc>
                <a:spcPct val="110000"/>
              </a:lnSpc>
              <a:buNone/>
            </a:pPr>
            <a:r>
              <a:rPr lang="en-US" sz="1900" dirty="0">
                <a:solidFill>
                  <a:srgbClr val="334155"/>
                </a:solidFill>
                <a:latin typeface="Calibri" pitchFamily="34" charset="0"/>
                <a:ea typeface="Calibri" pitchFamily="34" charset="-122"/>
                <a:cs typeface="Calibri" pitchFamily="34" charset="-120"/>
              </a:rPr>
              <a:t>and finds savings on its own — while staying fully auditable.</a:t>
            </a:r>
            <a:endParaRPr lang="en-US" sz="1900" dirty="0"/>
          </a:p>
        </p:txBody>
      </p:sp>
      <p:sp>
        <p:nvSpPr>
          <p:cNvPr id="10" name="Shape 8"/>
          <p:cNvSpPr/>
          <p:nvPr/>
        </p:nvSpPr>
        <p:spPr>
          <a:xfrm>
            <a:off x="822960" y="4206240"/>
            <a:ext cx="2377440" cy="475488"/>
          </a:xfrm>
          <a:prstGeom prst="roundRect">
            <a:avLst>
              <a:gd name="adj" fmla="val 50000"/>
            </a:avLst>
          </a:prstGeom>
          <a:solidFill>
            <a:srgbClr val="F1F5F9"/>
          </a:solidFill>
          <a:ln/>
        </p:spPr>
      </p:sp>
      <p:sp>
        <p:nvSpPr>
          <p:cNvPr id="11" name="Text 9"/>
          <p:cNvSpPr/>
          <p:nvPr/>
        </p:nvSpPr>
        <p:spPr>
          <a:xfrm>
            <a:off x="822960" y="4206240"/>
            <a:ext cx="2377440" cy="475488"/>
          </a:xfrm>
          <a:prstGeom prst="rect">
            <a:avLst/>
          </a:prstGeom>
          <a:noFill/>
          <a:ln/>
        </p:spPr>
        <p:txBody>
          <a:bodyPr wrap="square" lIns="0" tIns="0" rIns="0" bIns="0" rtlCol="0" anchor="ctr"/>
          <a:lstStyle/>
          <a:p>
            <a:pPr algn="ctr" indent="0" marL="0">
              <a:buNone/>
            </a:pPr>
            <a:r>
              <a:rPr lang="en-US" sz="1300" b="1" dirty="0">
                <a:solidFill>
                  <a:srgbClr val="2563EB"/>
                </a:solidFill>
                <a:latin typeface="Calibri" pitchFamily="34" charset="0"/>
                <a:ea typeface="Calibri" pitchFamily="34" charset="-122"/>
                <a:cs typeface="Calibri" pitchFamily="34" charset="-120"/>
              </a:rPr>
              <a:t>Remembers</a:t>
            </a:r>
            <a:endParaRPr lang="en-US" sz="1300" dirty="0"/>
          </a:p>
        </p:txBody>
      </p:sp>
      <p:sp>
        <p:nvSpPr>
          <p:cNvPr id="12" name="Shape 10"/>
          <p:cNvSpPr/>
          <p:nvPr/>
        </p:nvSpPr>
        <p:spPr>
          <a:xfrm>
            <a:off x="3429000" y="4206240"/>
            <a:ext cx="2377440" cy="475488"/>
          </a:xfrm>
          <a:prstGeom prst="roundRect">
            <a:avLst>
              <a:gd name="adj" fmla="val 50000"/>
            </a:avLst>
          </a:prstGeom>
          <a:solidFill>
            <a:srgbClr val="F1F5F9"/>
          </a:solidFill>
          <a:ln/>
        </p:spPr>
      </p:sp>
      <p:sp>
        <p:nvSpPr>
          <p:cNvPr id="13" name="Text 11"/>
          <p:cNvSpPr/>
          <p:nvPr/>
        </p:nvSpPr>
        <p:spPr>
          <a:xfrm>
            <a:off x="3429000" y="4206240"/>
            <a:ext cx="2377440" cy="475488"/>
          </a:xfrm>
          <a:prstGeom prst="rect">
            <a:avLst/>
          </a:prstGeom>
          <a:noFill/>
          <a:ln/>
        </p:spPr>
        <p:txBody>
          <a:bodyPr wrap="square" lIns="0" tIns="0" rIns="0" bIns="0" rtlCol="0" anchor="ctr"/>
          <a:lstStyle/>
          <a:p>
            <a:pPr algn="ctr" indent="0" marL="0">
              <a:buNone/>
            </a:pPr>
            <a:r>
              <a:rPr lang="en-US" sz="1300" b="1" dirty="0">
                <a:solidFill>
                  <a:srgbClr val="0891B2"/>
                </a:solidFill>
                <a:latin typeface="Calibri" pitchFamily="34" charset="0"/>
                <a:ea typeface="Calibri" pitchFamily="34" charset="-122"/>
                <a:cs typeface="Calibri" pitchFamily="34" charset="-120"/>
              </a:rPr>
              <a:t>Recognises</a:t>
            </a:r>
            <a:endParaRPr lang="en-US" sz="1300" dirty="0"/>
          </a:p>
        </p:txBody>
      </p:sp>
      <p:sp>
        <p:nvSpPr>
          <p:cNvPr id="14" name="Shape 12"/>
          <p:cNvSpPr/>
          <p:nvPr/>
        </p:nvSpPr>
        <p:spPr>
          <a:xfrm>
            <a:off x="6035040" y="4206240"/>
            <a:ext cx="2377440" cy="475488"/>
          </a:xfrm>
          <a:prstGeom prst="roundRect">
            <a:avLst>
              <a:gd name="adj" fmla="val 50000"/>
            </a:avLst>
          </a:prstGeom>
          <a:solidFill>
            <a:srgbClr val="F1F5F9"/>
          </a:solidFill>
          <a:ln/>
        </p:spPr>
      </p:sp>
      <p:sp>
        <p:nvSpPr>
          <p:cNvPr id="15" name="Text 13"/>
          <p:cNvSpPr/>
          <p:nvPr/>
        </p:nvSpPr>
        <p:spPr>
          <a:xfrm>
            <a:off x="6035040" y="4206240"/>
            <a:ext cx="2377440" cy="475488"/>
          </a:xfrm>
          <a:prstGeom prst="rect">
            <a:avLst/>
          </a:prstGeom>
          <a:noFill/>
          <a:ln/>
        </p:spPr>
        <p:txBody>
          <a:bodyPr wrap="square" lIns="0" tIns="0" rIns="0" bIns="0" rtlCol="0" anchor="ctr"/>
          <a:lstStyle/>
          <a:p>
            <a:pPr algn="ctr" indent="0" marL="0">
              <a:buNone/>
            </a:pPr>
            <a:r>
              <a:rPr lang="en-US" sz="1300" b="1" dirty="0">
                <a:solidFill>
                  <a:srgbClr val="7C3AED"/>
                </a:solidFill>
                <a:latin typeface="Calibri" pitchFamily="34" charset="0"/>
                <a:ea typeface="Calibri" pitchFamily="34" charset="-122"/>
                <a:cs typeface="Calibri" pitchFamily="34" charset="-120"/>
              </a:rPr>
              <a:t>Self-corrects</a:t>
            </a:r>
            <a:endParaRPr lang="en-US" sz="1300" dirty="0"/>
          </a:p>
        </p:txBody>
      </p:sp>
      <p:sp>
        <p:nvSpPr>
          <p:cNvPr id="16" name="Shape 14"/>
          <p:cNvSpPr/>
          <p:nvPr/>
        </p:nvSpPr>
        <p:spPr>
          <a:xfrm>
            <a:off x="8641080" y="4206240"/>
            <a:ext cx="2377440" cy="475488"/>
          </a:xfrm>
          <a:prstGeom prst="roundRect">
            <a:avLst>
              <a:gd name="adj" fmla="val 50000"/>
            </a:avLst>
          </a:prstGeom>
          <a:solidFill>
            <a:srgbClr val="F1F5F9"/>
          </a:solidFill>
          <a:ln/>
        </p:spPr>
      </p:sp>
      <p:sp>
        <p:nvSpPr>
          <p:cNvPr id="17" name="Text 15"/>
          <p:cNvSpPr/>
          <p:nvPr/>
        </p:nvSpPr>
        <p:spPr>
          <a:xfrm>
            <a:off x="8641080" y="4206240"/>
            <a:ext cx="2377440" cy="475488"/>
          </a:xfrm>
          <a:prstGeom prst="rect">
            <a:avLst/>
          </a:prstGeom>
          <a:noFill/>
          <a:ln/>
        </p:spPr>
        <p:txBody>
          <a:bodyPr wrap="square" lIns="0" tIns="0" rIns="0" bIns="0" rtlCol="0" anchor="ctr"/>
          <a:lstStyle/>
          <a:p>
            <a:pPr algn="ctr" indent="0" marL="0">
              <a:buNone/>
            </a:pPr>
            <a:r>
              <a:rPr lang="en-US" sz="1300" b="1" dirty="0">
                <a:solidFill>
                  <a:srgbClr val="059669"/>
                </a:solidFill>
                <a:latin typeface="Calibri" pitchFamily="34" charset="0"/>
                <a:ea typeface="Calibri" pitchFamily="34" charset="-122"/>
                <a:cs typeface="Calibri" pitchFamily="34" charset="-120"/>
              </a:rPr>
              <a:t>Acts autonomously</a:t>
            </a:r>
            <a:endParaRPr lang="en-US" sz="1300" dirty="0"/>
          </a:p>
        </p:txBody>
      </p:sp>
      <p:sp>
        <p:nvSpPr>
          <p:cNvPr id="18" name="Text 16"/>
          <p:cNvSpPr/>
          <p:nvPr/>
        </p:nvSpPr>
        <p:spPr>
          <a:xfrm>
            <a:off x="822960" y="5943600"/>
            <a:ext cx="10058400" cy="3657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Management briefing  ·  July 2026  ·  All figures verified from live system runs</a:t>
            </a:r>
            <a:endParaRPr lang="en-US" sz="1200" dirty="0"/>
          </a:p>
        </p:txBody>
      </p:sp>
      <p:sp>
        <p:nvSpPr>
          <p:cNvPr id="19" name="Shape 17"/>
          <p:cNvSpPr/>
          <p:nvPr/>
        </p:nvSpPr>
        <p:spPr>
          <a:xfrm>
            <a:off x="0" y="6711696"/>
            <a:ext cx="12191695" cy="146304"/>
          </a:xfrm>
          <a:prstGeom prst="rect">
            <a:avLst/>
          </a:prstGeom>
          <a:solidFill>
            <a:srgbClr val="4F46E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EXECUTIVE SUMMARY</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we built — in one slide</a:t>
            </a:r>
            <a:endParaRPr lang="en-US" sz="2700" dirty="0"/>
          </a:p>
        </p:txBody>
      </p:sp>
      <p:sp>
        <p:nvSpPr>
          <p:cNvPr id="10" name="Shape 8"/>
          <p:cNvSpPr/>
          <p:nvPr/>
        </p:nvSpPr>
        <p:spPr>
          <a:xfrm>
            <a:off x="411480" y="1828800"/>
            <a:ext cx="2743200" cy="1600200"/>
          </a:xfrm>
          <a:prstGeom prst="roundRect">
            <a:avLst>
              <a:gd name="adj" fmla="val 5143"/>
            </a:avLst>
          </a:prstGeom>
          <a:solidFill>
            <a:srgbClr val="F1F5F9"/>
          </a:solidFill>
          <a:ln/>
        </p:spPr>
      </p:sp>
      <p:sp>
        <p:nvSpPr>
          <p:cNvPr id="11" name="Shape 9"/>
          <p:cNvSpPr/>
          <p:nvPr/>
        </p:nvSpPr>
        <p:spPr>
          <a:xfrm>
            <a:off x="411480" y="1828800"/>
            <a:ext cx="64008" cy="1600200"/>
          </a:xfrm>
          <a:prstGeom prst="rect">
            <a:avLst/>
          </a:prstGeom>
          <a:solidFill>
            <a:srgbClr val="059669"/>
          </a:solidFill>
          <a:ln/>
        </p:spPr>
      </p:sp>
      <p:sp>
        <p:nvSpPr>
          <p:cNvPr id="12" name="Text 10"/>
          <p:cNvSpPr/>
          <p:nvPr/>
        </p:nvSpPr>
        <p:spPr>
          <a:xfrm>
            <a:off x="612648" y="1956816"/>
            <a:ext cx="2423160" cy="502920"/>
          </a:xfrm>
          <a:prstGeom prst="rect">
            <a:avLst/>
          </a:prstGeom>
          <a:noFill/>
          <a:ln/>
        </p:spPr>
        <p:txBody>
          <a:bodyPr wrap="square" lIns="0" tIns="0" rIns="0" bIns="0" rtlCol="0" anchor="t"/>
          <a:lstStyle/>
          <a:p>
            <a:pPr indent="0" marL="0">
              <a:buNone/>
            </a:pPr>
            <a:r>
              <a:rPr lang="en-US" sz="2500" b="1" dirty="0">
                <a:solidFill>
                  <a:srgbClr val="059669"/>
                </a:solidFill>
                <a:latin typeface="Calibri" pitchFamily="34" charset="0"/>
                <a:ea typeface="Calibri" pitchFamily="34" charset="-122"/>
                <a:cs typeface="Calibri" pitchFamily="34" charset="-120"/>
              </a:rPr>
              <a:t>36×</a:t>
            </a:r>
            <a:endParaRPr lang="en-US" sz="2500" dirty="0"/>
          </a:p>
        </p:txBody>
      </p:sp>
      <p:sp>
        <p:nvSpPr>
          <p:cNvPr id="13" name="Text 11"/>
          <p:cNvSpPr/>
          <p:nvPr/>
        </p:nvSpPr>
        <p:spPr>
          <a:xfrm>
            <a:off x="61264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Error reduction</a:t>
            </a:r>
            <a:endParaRPr lang="en-US" sz="1250" dirty="0"/>
          </a:p>
        </p:txBody>
      </p:sp>
      <p:sp>
        <p:nvSpPr>
          <p:cNvPr id="14" name="Text 12"/>
          <p:cNvSpPr/>
          <p:nvPr/>
        </p:nvSpPr>
        <p:spPr>
          <a:xfrm>
            <a:off x="61264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Estimating error fell from 10.9% to 0.3% after the tool learned from just 3 real quotes (verified live).</a:t>
            </a:r>
            <a:endParaRPr lang="en-US" sz="1000" dirty="0"/>
          </a:p>
        </p:txBody>
      </p:sp>
      <p:sp>
        <p:nvSpPr>
          <p:cNvPr id="15" name="Shape 13"/>
          <p:cNvSpPr/>
          <p:nvPr/>
        </p:nvSpPr>
        <p:spPr>
          <a:xfrm>
            <a:off x="3337560" y="1828800"/>
            <a:ext cx="2743200" cy="1600200"/>
          </a:xfrm>
          <a:prstGeom prst="roundRect">
            <a:avLst>
              <a:gd name="adj" fmla="val 5143"/>
            </a:avLst>
          </a:prstGeom>
          <a:solidFill>
            <a:srgbClr val="F1F5F9"/>
          </a:solidFill>
          <a:ln/>
        </p:spPr>
      </p:sp>
      <p:sp>
        <p:nvSpPr>
          <p:cNvPr id="16" name="Shape 14"/>
          <p:cNvSpPr/>
          <p:nvPr/>
        </p:nvSpPr>
        <p:spPr>
          <a:xfrm>
            <a:off x="3337560" y="1828800"/>
            <a:ext cx="64008" cy="1600200"/>
          </a:xfrm>
          <a:prstGeom prst="rect">
            <a:avLst/>
          </a:prstGeom>
          <a:solidFill>
            <a:srgbClr val="DC2626"/>
          </a:solidFill>
          <a:ln/>
        </p:spPr>
      </p:sp>
      <p:sp>
        <p:nvSpPr>
          <p:cNvPr id="17" name="Text 15"/>
          <p:cNvSpPr/>
          <p:nvPr/>
        </p:nvSpPr>
        <p:spPr>
          <a:xfrm>
            <a:off x="3538728" y="1956816"/>
            <a:ext cx="2423160" cy="502920"/>
          </a:xfrm>
          <a:prstGeom prst="rect">
            <a:avLst/>
          </a:prstGeom>
          <a:noFill/>
          <a:ln/>
        </p:spPr>
        <p:txBody>
          <a:bodyPr wrap="square" lIns="0" tIns="0" rIns="0" bIns="0" rtlCol="0" anchor="t"/>
          <a:lstStyle/>
          <a:p>
            <a:pPr indent="0" marL="0">
              <a:buNone/>
            </a:pPr>
            <a:r>
              <a:rPr lang="en-US" sz="2500" b="1" dirty="0">
                <a:solidFill>
                  <a:srgbClr val="DC2626"/>
                </a:solidFill>
                <a:latin typeface="Calibri" pitchFamily="34" charset="0"/>
                <a:ea typeface="Calibri" pitchFamily="34" charset="-122"/>
                <a:cs typeface="Calibri" pitchFamily="34" charset="-120"/>
              </a:rPr>
              <a:t>£512k/yr</a:t>
            </a:r>
            <a:endParaRPr lang="en-US" sz="2500" dirty="0"/>
          </a:p>
        </p:txBody>
      </p:sp>
      <p:sp>
        <p:nvSpPr>
          <p:cNvPr id="18" name="Text 16"/>
          <p:cNvSpPr/>
          <p:nvPr/>
        </p:nvSpPr>
        <p:spPr>
          <a:xfrm>
            <a:off x="353872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Found autonomously</a:t>
            </a:r>
            <a:endParaRPr lang="en-US" sz="1250" dirty="0"/>
          </a:p>
        </p:txBody>
      </p:sp>
      <p:sp>
        <p:nvSpPr>
          <p:cNvPr id="19" name="Text 17"/>
          <p:cNvSpPr/>
          <p:nvPr/>
        </p:nvSpPr>
        <p:spPr>
          <a:xfrm>
            <a:off x="353872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In our live demo the background agent flagged £512k/yr of pricing issues — with nobody at the keyboard.</a:t>
            </a:r>
            <a:endParaRPr lang="en-US" sz="1000" dirty="0"/>
          </a:p>
        </p:txBody>
      </p:sp>
      <p:sp>
        <p:nvSpPr>
          <p:cNvPr id="20" name="Shape 18"/>
          <p:cNvSpPr/>
          <p:nvPr/>
        </p:nvSpPr>
        <p:spPr>
          <a:xfrm>
            <a:off x="6263640" y="1828800"/>
            <a:ext cx="2743200" cy="1600200"/>
          </a:xfrm>
          <a:prstGeom prst="roundRect">
            <a:avLst>
              <a:gd name="adj" fmla="val 5143"/>
            </a:avLst>
          </a:prstGeom>
          <a:solidFill>
            <a:srgbClr val="F1F5F9"/>
          </a:solidFill>
          <a:ln/>
        </p:spPr>
      </p:sp>
      <p:sp>
        <p:nvSpPr>
          <p:cNvPr id="21" name="Shape 19"/>
          <p:cNvSpPr/>
          <p:nvPr/>
        </p:nvSpPr>
        <p:spPr>
          <a:xfrm>
            <a:off x="6263640" y="1828800"/>
            <a:ext cx="64008" cy="1600200"/>
          </a:xfrm>
          <a:prstGeom prst="rect">
            <a:avLst/>
          </a:prstGeom>
          <a:solidFill>
            <a:srgbClr val="0891B2"/>
          </a:solidFill>
          <a:ln/>
        </p:spPr>
      </p:sp>
      <p:sp>
        <p:nvSpPr>
          <p:cNvPr id="22" name="Text 20"/>
          <p:cNvSpPr/>
          <p:nvPr/>
        </p:nvSpPr>
        <p:spPr>
          <a:xfrm>
            <a:off x="6464808" y="1956816"/>
            <a:ext cx="2423160" cy="502920"/>
          </a:xfrm>
          <a:prstGeom prst="rect">
            <a:avLst/>
          </a:prstGeom>
          <a:noFill/>
          <a:ln/>
        </p:spPr>
        <p:txBody>
          <a:bodyPr wrap="square" lIns="0" tIns="0" rIns="0" bIns="0" rtlCol="0" anchor="t"/>
          <a:lstStyle/>
          <a:p>
            <a:pPr indent="0" marL="0">
              <a:buNone/>
            </a:pPr>
            <a:r>
              <a:rPr lang="en-US" sz="2500" b="1" dirty="0">
                <a:solidFill>
                  <a:srgbClr val="0891B2"/>
                </a:solidFill>
                <a:latin typeface="Calibri" pitchFamily="34" charset="0"/>
                <a:ea typeface="Calibri" pitchFamily="34" charset="-122"/>
                <a:cs typeface="Calibri" pitchFamily="34" charset="-120"/>
              </a:rPr>
              <a:t>99%</a:t>
            </a:r>
            <a:endParaRPr lang="en-US" sz="2500" dirty="0"/>
          </a:p>
        </p:txBody>
      </p:sp>
      <p:sp>
        <p:nvSpPr>
          <p:cNvPr id="23" name="Text 21"/>
          <p:cNvSpPr/>
          <p:nvPr/>
        </p:nvSpPr>
        <p:spPr>
          <a:xfrm>
            <a:off x="646480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Part recognition</a:t>
            </a:r>
            <a:endParaRPr lang="en-US" sz="1250" dirty="0"/>
          </a:p>
        </p:txBody>
      </p:sp>
      <p:sp>
        <p:nvSpPr>
          <p:cNvPr id="24" name="Text 22"/>
          <p:cNvSpPr/>
          <p:nvPr/>
        </p:nvSpPr>
        <p:spPr>
          <a:xfrm>
            <a:off x="646480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A new bracket was matched to 3 past bracket analyses at 98–99% similarity, with reasons shown.</a:t>
            </a:r>
            <a:endParaRPr lang="en-US" sz="1000" dirty="0"/>
          </a:p>
        </p:txBody>
      </p:sp>
      <p:sp>
        <p:nvSpPr>
          <p:cNvPr id="25" name="Shape 23"/>
          <p:cNvSpPr/>
          <p:nvPr/>
        </p:nvSpPr>
        <p:spPr>
          <a:xfrm>
            <a:off x="9189720" y="1828800"/>
            <a:ext cx="2606040" cy="1600200"/>
          </a:xfrm>
          <a:prstGeom prst="roundRect">
            <a:avLst>
              <a:gd name="adj" fmla="val 5143"/>
            </a:avLst>
          </a:prstGeom>
          <a:solidFill>
            <a:srgbClr val="F1F5F9"/>
          </a:solidFill>
          <a:ln/>
        </p:spPr>
      </p:sp>
      <p:sp>
        <p:nvSpPr>
          <p:cNvPr id="26" name="Shape 24"/>
          <p:cNvSpPr/>
          <p:nvPr/>
        </p:nvSpPr>
        <p:spPr>
          <a:xfrm>
            <a:off x="9189720" y="1828800"/>
            <a:ext cx="64008" cy="1600200"/>
          </a:xfrm>
          <a:prstGeom prst="rect">
            <a:avLst/>
          </a:prstGeom>
          <a:solidFill>
            <a:srgbClr val="7C3AED"/>
          </a:solidFill>
          <a:ln/>
        </p:spPr>
      </p:sp>
      <p:sp>
        <p:nvSpPr>
          <p:cNvPr id="27" name="Text 25"/>
          <p:cNvSpPr/>
          <p:nvPr/>
        </p:nvSpPr>
        <p:spPr>
          <a:xfrm>
            <a:off x="9390888" y="1956816"/>
            <a:ext cx="2286000" cy="502920"/>
          </a:xfrm>
          <a:prstGeom prst="rect">
            <a:avLst/>
          </a:prstGeom>
          <a:noFill/>
          <a:ln/>
        </p:spPr>
        <p:txBody>
          <a:bodyPr wrap="square" lIns="0" tIns="0" rIns="0" bIns="0" rtlCol="0" anchor="t"/>
          <a:lstStyle/>
          <a:p>
            <a:pPr indent="0" marL="0">
              <a:buNone/>
            </a:pPr>
            <a:r>
              <a:rPr lang="en-US" sz="2500" b="1" dirty="0">
                <a:solidFill>
                  <a:srgbClr val="7C3AED"/>
                </a:solidFill>
                <a:latin typeface="Calibri" pitchFamily="34" charset="0"/>
                <a:ea typeface="Calibri" pitchFamily="34" charset="-122"/>
                <a:cs typeface="Calibri" pitchFamily="34" charset="-120"/>
              </a:rPr>
              <a:t>1,005</a:t>
            </a:r>
            <a:endParaRPr lang="en-US" sz="2500" dirty="0"/>
          </a:p>
        </p:txBody>
      </p:sp>
      <p:sp>
        <p:nvSpPr>
          <p:cNvPr id="28" name="Text 26"/>
          <p:cNvSpPr/>
          <p:nvPr/>
        </p:nvSpPr>
        <p:spPr>
          <a:xfrm>
            <a:off x="9390888" y="2450592"/>
            <a:ext cx="228600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Automated tests</a:t>
            </a:r>
            <a:endParaRPr lang="en-US" sz="1250" dirty="0"/>
          </a:p>
        </p:txBody>
      </p:sp>
      <p:sp>
        <p:nvSpPr>
          <p:cNvPr id="29" name="Text 27"/>
          <p:cNvSpPr/>
          <p:nvPr/>
        </p:nvSpPr>
        <p:spPr>
          <a:xfrm>
            <a:off x="9390888" y="2724912"/>
            <a:ext cx="228600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Every capability is covered by automated tests (86 suites), exercised end-to-end on the running system — and the container build is CI-verified.</a:t>
            </a:r>
            <a:endParaRPr lang="en-US" sz="1000" dirty="0"/>
          </a:p>
        </p:txBody>
      </p:sp>
      <p:sp>
        <p:nvSpPr>
          <p:cNvPr id="30" name="Shape 28"/>
          <p:cNvSpPr/>
          <p:nvPr/>
        </p:nvSpPr>
        <p:spPr>
          <a:xfrm>
            <a:off x="411480" y="3749040"/>
            <a:ext cx="11384280" cy="2468880"/>
          </a:xfrm>
          <a:prstGeom prst="roundRect">
            <a:avLst>
              <a:gd name="adj" fmla="val 2222"/>
            </a:avLst>
          </a:prstGeom>
          <a:solidFill>
            <a:srgbClr val="EFF6FF"/>
          </a:solidFill>
          <a:ln/>
        </p:spPr>
      </p:sp>
      <p:sp>
        <p:nvSpPr>
          <p:cNvPr id="31" name="Text 29"/>
          <p:cNvSpPr/>
          <p:nvPr/>
        </p:nvSpPr>
        <p:spPr>
          <a:xfrm>
            <a:off x="685800" y="3977640"/>
            <a:ext cx="10881360" cy="2103120"/>
          </a:xfrm>
          <a:prstGeom prst="rect">
            <a:avLst/>
          </a:prstGeom>
          <a:noFill/>
          <a:ln/>
        </p:spPr>
        <p:txBody>
          <a:bodyPr wrap="square" lIns="0" tIns="0" rIns="0" bIns="0" rtlCol="0" anchor="t"/>
          <a:lstStyle/>
          <a:p>
            <a:pPr indent="0" marL="0">
              <a:lnSpc>
                <a:spcPct val="115000"/>
              </a:lnSpc>
              <a:spcAft>
                <a:spcPts val="800"/>
              </a:spcAft>
              <a:buNone/>
            </a:pPr>
            <a:r>
              <a:rPr lang="en-US" sz="1500" b="1" dirty="0">
                <a:solidFill>
                  <a:srgbClr val="0F172A"/>
                </a:solidFill>
                <a:latin typeface="Calibri" pitchFamily="34" charset="0"/>
                <a:ea typeface="Calibri" pitchFamily="34" charset="-122"/>
                <a:cs typeface="Calibri" pitchFamily="34" charset="-120"/>
              </a:rPr>
              <a:t>The idea, in plain words</a:t>
            </a:r>
            <a:endParaRPr lang="en-US" sz="1500" dirty="0"/>
          </a:p>
          <a:p>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Until now, every costing started from zero and the result depended on who did it. </a:t>
            </a:r>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Now the tool keeps an organisational memory: </a:t>
            </a:r>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every analysis is stored, every real supplier quote teaches it, and every new part is compared against everything we have costed before.</a:t>
            </a:r>
            <a:endParaRPr lang="en-US" sz="1500" dirty="0"/>
          </a:p>
          <a:p>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The knowledge stays in our database, on our servers — it becomes a company asset that gets more valuable with use, and it does not walk out of the door when an expert leaves.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CONCEPT</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"Agentic AI" means here — four plain words</a:t>
            </a:r>
            <a:endParaRPr lang="en-US" sz="2700" dirty="0"/>
          </a:p>
        </p:txBody>
      </p:sp>
      <p:sp>
        <p:nvSpPr>
          <p:cNvPr id="10" name="Shape 8"/>
          <p:cNvSpPr/>
          <p:nvPr/>
        </p:nvSpPr>
        <p:spPr>
          <a:xfrm>
            <a:off x="411480" y="1920240"/>
            <a:ext cx="2761488" cy="3291840"/>
          </a:xfrm>
          <a:prstGeom prst="roundRect">
            <a:avLst>
              <a:gd name="adj" fmla="val 2318"/>
            </a:avLst>
          </a:prstGeom>
          <a:solidFill>
            <a:srgbClr val="F1F5F9"/>
          </a:solidFill>
          <a:ln/>
        </p:spPr>
      </p:sp>
      <p:sp>
        <p:nvSpPr>
          <p:cNvPr id="11" name="Shape 9"/>
          <p:cNvSpPr/>
          <p:nvPr/>
        </p:nvSpPr>
        <p:spPr>
          <a:xfrm>
            <a:off x="411480" y="1920240"/>
            <a:ext cx="2761488" cy="82296"/>
          </a:xfrm>
          <a:prstGeom prst="rect">
            <a:avLst/>
          </a:prstGeom>
          <a:solidFill>
            <a:srgbClr val="2563EB"/>
          </a:solidFill>
          <a:ln/>
        </p:spPr>
      </p:sp>
      <p:sp>
        <p:nvSpPr>
          <p:cNvPr id="12" name="Text 10"/>
          <p:cNvSpPr/>
          <p:nvPr/>
        </p:nvSpPr>
        <p:spPr>
          <a:xfrm>
            <a:off x="640080" y="2148840"/>
            <a:ext cx="2286000" cy="548640"/>
          </a:xfrm>
          <a:prstGeom prst="rect">
            <a:avLst/>
          </a:prstGeom>
          <a:noFill/>
          <a:ln/>
        </p:spPr>
        <p:txBody>
          <a:bodyPr wrap="square" lIns="0" tIns="0" rIns="0" bIns="0" rtlCol="0" anchor="t"/>
          <a:lstStyle/>
          <a:p>
            <a:pPr indent="0" marL="0">
              <a:buNone/>
            </a:pPr>
            <a:r>
              <a:rPr lang="en-US" sz="2800" dirty="0">
                <a:solidFill>
                  <a:srgbClr val="2563EB"/>
                </a:solidFill>
                <a:latin typeface="Calibri" pitchFamily="34" charset="0"/>
                <a:ea typeface="Calibri" pitchFamily="34" charset="-122"/>
                <a:cs typeface="Calibri" pitchFamily="34" charset="-120"/>
              </a:rPr>
              <a:t>🧠</a:t>
            </a:r>
            <a:endParaRPr lang="en-US" sz="2800" dirty="0"/>
          </a:p>
        </p:txBody>
      </p:sp>
      <p:sp>
        <p:nvSpPr>
          <p:cNvPr id="13" name="Text 11"/>
          <p:cNvSpPr/>
          <p:nvPr/>
        </p:nvSpPr>
        <p:spPr>
          <a:xfrm>
            <a:off x="640080" y="2788920"/>
            <a:ext cx="2331720" cy="411480"/>
          </a:xfrm>
          <a:prstGeom prst="rect">
            <a:avLst/>
          </a:prstGeom>
          <a:noFill/>
          <a:ln/>
        </p:spPr>
        <p:txBody>
          <a:bodyPr wrap="square" lIns="0" tIns="0" rIns="0" bIns="0" rtlCol="0" anchor="t"/>
          <a:lstStyle/>
          <a:p>
            <a:pPr indent="0" marL="0">
              <a:buNone/>
            </a:pPr>
            <a:r>
              <a:rPr lang="en-US" sz="1700" b="1" dirty="0">
                <a:solidFill>
                  <a:srgbClr val="2563EB"/>
                </a:solidFill>
                <a:latin typeface="Calibri" pitchFamily="34" charset="0"/>
                <a:ea typeface="Calibri" pitchFamily="34" charset="-122"/>
                <a:cs typeface="Calibri" pitchFamily="34" charset="-120"/>
              </a:rPr>
              <a:t>Remembers</a:t>
            </a:r>
            <a:endParaRPr lang="en-US" sz="1700" dirty="0"/>
          </a:p>
        </p:txBody>
      </p:sp>
      <p:sp>
        <p:nvSpPr>
          <p:cNvPr id="14" name="Text 12"/>
          <p:cNvSpPr/>
          <p:nvPr/>
        </p:nvSpPr>
        <p:spPr>
          <a:xfrm>
            <a:off x="640080"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Every costing is saved as a "case": the part, the inputs, the result, and any real quote. Shared across the whole team.</a:t>
            </a:r>
            <a:endParaRPr lang="en-US" sz="1150" dirty="0"/>
          </a:p>
        </p:txBody>
      </p:sp>
      <p:sp>
        <p:nvSpPr>
          <p:cNvPr id="15" name="Shape 13"/>
          <p:cNvSpPr/>
          <p:nvPr/>
        </p:nvSpPr>
        <p:spPr>
          <a:xfrm>
            <a:off x="3374136" y="1920240"/>
            <a:ext cx="2761488" cy="3291840"/>
          </a:xfrm>
          <a:prstGeom prst="roundRect">
            <a:avLst>
              <a:gd name="adj" fmla="val 2318"/>
            </a:avLst>
          </a:prstGeom>
          <a:solidFill>
            <a:srgbClr val="F1F5F9"/>
          </a:solidFill>
          <a:ln/>
        </p:spPr>
      </p:sp>
      <p:sp>
        <p:nvSpPr>
          <p:cNvPr id="16" name="Shape 14"/>
          <p:cNvSpPr/>
          <p:nvPr/>
        </p:nvSpPr>
        <p:spPr>
          <a:xfrm>
            <a:off x="3374136" y="1920240"/>
            <a:ext cx="2761488" cy="82296"/>
          </a:xfrm>
          <a:prstGeom prst="rect">
            <a:avLst/>
          </a:prstGeom>
          <a:solidFill>
            <a:srgbClr val="0891B2"/>
          </a:solidFill>
          <a:ln/>
        </p:spPr>
      </p:sp>
      <p:sp>
        <p:nvSpPr>
          <p:cNvPr id="17" name="Text 15"/>
          <p:cNvSpPr/>
          <p:nvPr/>
        </p:nvSpPr>
        <p:spPr>
          <a:xfrm>
            <a:off x="3602736" y="2148840"/>
            <a:ext cx="2286000" cy="548640"/>
          </a:xfrm>
          <a:prstGeom prst="rect">
            <a:avLst/>
          </a:prstGeom>
          <a:noFill/>
          <a:ln/>
        </p:spPr>
        <p:txBody>
          <a:bodyPr wrap="square" lIns="0" tIns="0" rIns="0" bIns="0" rtlCol="0" anchor="t"/>
          <a:lstStyle/>
          <a:p>
            <a:pPr indent="0" marL="0">
              <a:buNone/>
            </a:pPr>
            <a:r>
              <a:rPr lang="en-US" sz="2800" dirty="0">
                <a:solidFill>
                  <a:srgbClr val="0891B2"/>
                </a:solidFill>
                <a:latin typeface="Calibri" pitchFamily="34" charset="0"/>
                <a:ea typeface="Calibri" pitchFamily="34" charset="-122"/>
                <a:cs typeface="Calibri" pitchFamily="34" charset="-120"/>
              </a:rPr>
              <a:t>🔎</a:t>
            </a:r>
            <a:endParaRPr lang="en-US" sz="2800" dirty="0"/>
          </a:p>
        </p:txBody>
      </p:sp>
      <p:sp>
        <p:nvSpPr>
          <p:cNvPr id="18" name="Text 16"/>
          <p:cNvSpPr/>
          <p:nvPr/>
        </p:nvSpPr>
        <p:spPr>
          <a:xfrm>
            <a:off x="3602736" y="2788920"/>
            <a:ext cx="2331720" cy="411480"/>
          </a:xfrm>
          <a:prstGeom prst="rect">
            <a:avLst/>
          </a:prstGeom>
          <a:noFill/>
          <a:ln/>
        </p:spPr>
        <p:txBody>
          <a:bodyPr wrap="square" lIns="0" tIns="0" rIns="0" bIns="0" rtlCol="0" anchor="t"/>
          <a:lstStyle/>
          <a:p>
            <a:pPr indent="0" marL="0">
              <a:buNone/>
            </a:pPr>
            <a:r>
              <a:rPr lang="en-US" sz="1700" b="1" dirty="0">
                <a:solidFill>
                  <a:srgbClr val="0891B2"/>
                </a:solidFill>
                <a:latin typeface="Calibri" pitchFamily="34" charset="0"/>
                <a:ea typeface="Calibri" pitchFamily="34" charset="-122"/>
                <a:cs typeface="Calibri" pitchFamily="34" charset="-120"/>
              </a:rPr>
              <a:t>Recognises</a:t>
            </a:r>
            <a:endParaRPr lang="en-US" sz="1700" dirty="0"/>
          </a:p>
        </p:txBody>
      </p:sp>
      <p:sp>
        <p:nvSpPr>
          <p:cNvPr id="19" name="Text 17"/>
          <p:cNvSpPr/>
          <p:nvPr/>
        </p:nvSpPr>
        <p:spPr>
          <a:xfrm>
            <a:off x="3602736"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Start a new part and it instantly finds the most similar past parts — like an experienced engineer saying "we've done this before".</a:t>
            </a:r>
            <a:endParaRPr lang="en-US" sz="1150" dirty="0"/>
          </a:p>
        </p:txBody>
      </p:sp>
      <p:sp>
        <p:nvSpPr>
          <p:cNvPr id="20" name="Shape 18"/>
          <p:cNvSpPr/>
          <p:nvPr/>
        </p:nvSpPr>
        <p:spPr>
          <a:xfrm>
            <a:off x="6336792" y="1920240"/>
            <a:ext cx="2761488" cy="3291840"/>
          </a:xfrm>
          <a:prstGeom prst="roundRect">
            <a:avLst>
              <a:gd name="adj" fmla="val 2318"/>
            </a:avLst>
          </a:prstGeom>
          <a:solidFill>
            <a:srgbClr val="F1F5F9"/>
          </a:solidFill>
          <a:ln/>
        </p:spPr>
      </p:sp>
      <p:sp>
        <p:nvSpPr>
          <p:cNvPr id="21" name="Shape 19"/>
          <p:cNvSpPr/>
          <p:nvPr/>
        </p:nvSpPr>
        <p:spPr>
          <a:xfrm>
            <a:off x="6336792" y="1920240"/>
            <a:ext cx="2761488" cy="82296"/>
          </a:xfrm>
          <a:prstGeom prst="rect">
            <a:avLst/>
          </a:prstGeom>
          <a:solidFill>
            <a:srgbClr val="7C3AED"/>
          </a:solidFill>
          <a:ln/>
        </p:spPr>
      </p:sp>
      <p:sp>
        <p:nvSpPr>
          <p:cNvPr id="22" name="Text 20"/>
          <p:cNvSpPr/>
          <p:nvPr/>
        </p:nvSpPr>
        <p:spPr>
          <a:xfrm>
            <a:off x="6565392" y="2148840"/>
            <a:ext cx="2286000" cy="548640"/>
          </a:xfrm>
          <a:prstGeom prst="rect">
            <a:avLst/>
          </a:prstGeom>
          <a:noFill/>
          <a:ln/>
        </p:spPr>
        <p:txBody>
          <a:bodyPr wrap="square" lIns="0" tIns="0" rIns="0" bIns="0" rtlCol="0" anchor="t"/>
          <a:lstStyle/>
          <a:p>
            <a:pPr indent="0" marL="0">
              <a:buNone/>
            </a:pPr>
            <a:r>
              <a:rPr lang="en-US" sz="2800" dirty="0">
                <a:solidFill>
                  <a:srgbClr val="7C3AED"/>
                </a:solidFill>
                <a:latin typeface="Calibri" pitchFamily="34" charset="0"/>
                <a:ea typeface="Calibri" pitchFamily="34" charset="-122"/>
                <a:cs typeface="Calibri" pitchFamily="34" charset="-120"/>
              </a:rPr>
              <a:t>🎯</a:t>
            </a:r>
            <a:endParaRPr lang="en-US" sz="2800" dirty="0"/>
          </a:p>
        </p:txBody>
      </p:sp>
      <p:sp>
        <p:nvSpPr>
          <p:cNvPr id="23" name="Text 21"/>
          <p:cNvSpPr/>
          <p:nvPr/>
        </p:nvSpPr>
        <p:spPr>
          <a:xfrm>
            <a:off x="6565392" y="2788920"/>
            <a:ext cx="2331720" cy="411480"/>
          </a:xfrm>
          <a:prstGeom prst="rect">
            <a:avLst/>
          </a:prstGeom>
          <a:noFill/>
          <a:ln/>
        </p:spPr>
        <p:txBody>
          <a:bodyPr wrap="square" lIns="0" tIns="0" rIns="0" bIns="0" rtlCol="0" anchor="t"/>
          <a:lstStyle/>
          <a:p>
            <a:pPr indent="0" marL="0">
              <a:buNone/>
            </a:pPr>
            <a:r>
              <a:rPr lang="en-US" sz="1700" b="1" dirty="0">
                <a:solidFill>
                  <a:srgbClr val="7C3AED"/>
                </a:solidFill>
                <a:latin typeface="Calibri" pitchFamily="34" charset="0"/>
                <a:ea typeface="Calibri" pitchFamily="34" charset="-122"/>
                <a:cs typeface="Calibri" pitchFamily="34" charset="-120"/>
              </a:rPr>
              <a:t>Self-corrects</a:t>
            </a:r>
            <a:endParaRPr lang="en-US" sz="1700" dirty="0"/>
          </a:p>
        </p:txBody>
      </p:sp>
      <p:sp>
        <p:nvSpPr>
          <p:cNvPr id="24" name="Text 22"/>
          <p:cNvSpPr/>
          <p:nvPr/>
        </p:nvSpPr>
        <p:spPr>
          <a:xfrm>
            <a:off x="6565392"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Log the real supplier price and the tool measures its own error, then corrects future estimates in that category. Accuracy is measured, not claimed.</a:t>
            </a:r>
            <a:endParaRPr lang="en-US" sz="1150" dirty="0"/>
          </a:p>
        </p:txBody>
      </p:sp>
      <p:sp>
        <p:nvSpPr>
          <p:cNvPr id="25" name="Shape 23"/>
          <p:cNvSpPr/>
          <p:nvPr/>
        </p:nvSpPr>
        <p:spPr>
          <a:xfrm>
            <a:off x="9299448" y="1920240"/>
            <a:ext cx="2761488" cy="3291840"/>
          </a:xfrm>
          <a:prstGeom prst="roundRect">
            <a:avLst>
              <a:gd name="adj" fmla="val 2318"/>
            </a:avLst>
          </a:prstGeom>
          <a:solidFill>
            <a:srgbClr val="F1F5F9"/>
          </a:solidFill>
          <a:ln/>
        </p:spPr>
      </p:sp>
      <p:sp>
        <p:nvSpPr>
          <p:cNvPr id="26" name="Shape 24"/>
          <p:cNvSpPr/>
          <p:nvPr/>
        </p:nvSpPr>
        <p:spPr>
          <a:xfrm>
            <a:off x="9299448" y="1920240"/>
            <a:ext cx="2761488" cy="82296"/>
          </a:xfrm>
          <a:prstGeom prst="rect">
            <a:avLst/>
          </a:prstGeom>
          <a:solidFill>
            <a:srgbClr val="059669"/>
          </a:solidFill>
          <a:ln/>
        </p:spPr>
      </p:sp>
      <p:sp>
        <p:nvSpPr>
          <p:cNvPr id="27" name="Text 25"/>
          <p:cNvSpPr/>
          <p:nvPr/>
        </p:nvSpPr>
        <p:spPr>
          <a:xfrm>
            <a:off x="9528048" y="2148840"/>
            <a:ext cx="2286000" cy="548640"/>
          </a:xfrm>
          <a:prstGeom prst="rect">
            <a:avLst/>
          </a:prstGeom>
          <a:noFill/>
          <a:ln/>
        </p:spPr>
        <p:txBody>
          <a:bodyPr wrap="square" lIns="0" tIns="0" rIns="0" bIns="0" rtlCol="0" anchor="t"/>
          <a:lstStyle/>
          <a:p>
            <a:pPr indent="0" marL="0">
              <a:buNone/>
            </a:pPr>
            <a:r>
              <a:rPr lang="en-US" sz="2800" dirty="0">
                <a:solidFill>
                  <a:srgbClr val="059669"/>
                </a:solidFill>
                <a:latin typeface="Calibri" pitchFamily="34" charset="0"/>
                <a:ea typeface="Calibri" pitchFamily="34" charset="-122"/>
                <a:cs typeface="Calibri" pitchFamily="34" charset="-120"/>
              </a:rPr>
              <a:t>🤖</a:t>
            </a:r>
            <a:endParaRPr lang="en-US" sz="2800" dirty="0"/>
          </a:p>
        </p:txBody>
      </p:sp>
      <p:sp>
        <p:nvSpPr>
          <p:cNvPr id="28" name="Text 26"/>
          <p:cNvSpPr/>
          <p:nvPr/>
        </p:nvSpPr>
        <p:spPr>
          <a:xfrm>
            <a:off x="9528048" y="2788920"/>
            <a:ext cx="2331720" cy="411480"/>
          </a:xfrm>
          <a:prstGeom prst="rect">
            <a:avLst/>
          </a:prstGeom>
          <a:noFill/>
          <a:ln/>
        </p:spPr>
        <p:txBody>
          <a:bodyPr wrap="square" lIns="0" tIns="0" rIns="0" bIns="0" rtlCol="0" anchor="t"/>
          <a:lstStyle/>
          <a:p>
            <a:pPr indent="0" marL="0">
              <a:buNone/>
            </a:pPr>
            <a:r>
              <a:rPr lang="en-US" sz="1700" b="1" dirty="0">
                <a:solidFill>
                  <a:srgbClr val="059669"/>
                </a:solidFill>
                <a:latin typeface="Calibri" pitchFamily="34" charset="0"/>
                <a:ea typeface="Calibri" pitchFamily="34" charset="-122"/>
                <a:cs typeface="Calibri" pitchFamily="34" charset="-120"/>
              </a:rPr>
              <a:t>Acts</a:t>
            </a:r>
            <a:endParaRPr lang="en-US" sz="1700" dirty="0"/>
          </a:p>
        </p:txBody>
      </p:sp>
      <p:sp>
        <p:nvSpPr>
          <p:cNvPr id="29" name="Text 27"/>
          <p:cNvSpPr/>
          <p:nvPr/>
        </p:nvSpPr>
        <p:spPr>
          <a:xfrm>
            <a:off x="9528048"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A background agent re-checks all stored parts on a schedule and raises findings by itself: "you are overpaying here — worth £400k/yr."</a:t>
            </a:r>
            <a:endParaRPr lang="en-US" sz="1150" dirty="0"/>
          </a:p>
        </p:txBody>
      </p:sp>
      <p:sp>
        <p:nvSpPr>
          <p:cNvPr id="30" name="Text 28"/>
          <p:cNvSpPr/>
          <p:nvPr/>
        </p:nvSpPr>
        <p:spPr>
          <a:xfrm>
            <a:off x="411480" y="5486400"/>
            <a:ext cx="11338560" cy="822960"/>
          </a:xfrm>
          <a:prstGeom prst="rect">
            <a:avLst/>
          </a:prstGeom>
          <a:noFill/>
          <a:ln/>
        </p:spPr>
        <p:txBody>
          <a:bodyPr wrap="square" lIns="0" tIns="0" rIns="0" bIns="0" rtlCol="0" anchor="t"/>
          <a:lstStyle/>
          <a:p>
            <a:pPr indent="0" marL="0">
              <a:lnSpc>
                <a:spcPct val="115000"/>
              </a:lnSpc>
              <a:buNone/>
            </a:pPr>
            <a:r>
              <a:rPr lang="en-US" sz="1250" b="1" dirty="0">
                <a:solidFill>
                  <a:srgbClr val="0F172A"/>
                </a:solidFill>
                <a:latin typeface="Calibri" pitchFamily="34" charset="0"/>
                <a:ea typeface="Calibri" pitchFamily="34" charset="-122"/>
                <a:cs typeface="Calibri" pitchFamily="34" charset="-120"/>
              </a:rPr>
              <a:t>Deliberate design choice: </a:t>
            </a:r>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the learning is statistics over our own data — every suggestion shows its source parts and its arithmetic. That makes it auditable and defensible in front of a supplier, which is where costing tools win or lose.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CONCEPT · EXPLAINED</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Agentic vs autonomous agentic — with examples</a:t>
            </a:r>
            <a:endParaRPr lang="en-US" sz="2700" dirty="0"/>
          </a:p>
        </p:txBody>
      </p:sp>
      <p:sp>
        <p:nvSpPr>
          <p:cNvPr id="10" name="Text 8"/>
          <p:cNvSpPr/>
          <p:nvPr/>
        </p:nvSpPr>
        <p:spPr>
          <a:xfrm>
            <a:off x="411480" y="1591056"/>
            <a:ext cx="11338560" cy="365760"/>
          </a:xfrm>
          <a:prstGeom prst="rect">
            <a:avLst/>
          </a:prstGeom>
          <a:noFill/>
          <a:ln/>
        </p:spPr>
        <p:txBody>
          <a:bodyPr wrap="square" lIns="0" tIns="0" rIns="0" bIns="0" rtlCol="0" anchor="t"/>
          <a:lstStyle/>
          <a:p>
            <a:pPr indent="0" marL="0">
              <a:buNone/>
            </a:pPr>
            <a:r>
              <a:rPr lang="en-US" sz="1250" i="1" dirty="0">
                <a:solidFill>
                  <a:srgbClr val="334155"/>
                </a:solidFill>
                <a:latin typeface="Calibri" pitchFamily="34" charset="0"/>
                <a:ea typeface="Calibri" pitchFamily="34" charset="-122"/>
                <a:cs typeface="Calibri" pitchFamily="34" charset="-120"/>
              </a:rPr>
              <a:t>Two levels of "agentic". On the left the AI acts because you asked and you stay in the loop; on the right it acts on its own, unattended, within limits you set.</a:t>
            </a:r>
            <a:endParaRPr lang="en-US" sz="1250" dirty="0"/>
          </a:p>
        </p:txBody>
      </p:sp>
      <p:sp>
        <p:nvSpPr>
          <p:cNvPr id="11" name="Shape 9"/>
          <p:cNvSpPr/>
          <p:nvPr/>
        </p:nvSpPr>
        <p:spPr>
          <a:xfrm>
            <a:off x="411480" y="2011680"/>
            <a:ext cx="5559552" cy="3785616"/>
          </a:xfrm>
          <a:prstGeom prst="roundRect">
            <a:avLst>
              <a:gd name="adj" fmla="val 2174"/>
            </a:avLst>
          </a:prstGeom>
          <a:solidFill>
            <a:srgbClr val="F1F5F9"/>
          </a:solidFill>
          <a:ln/>
        </p:spPr>
      </p:sp>
      <p:sp>
        <p:nvSpPr>
          <p:cNvPr id="12" name="Shape 10"/>
          <p:cNvSpPr/>
          <p:nvPr/>
        </p:nvSpPr>
        <p:spPr>
          <a:xfrm>
            <a:off x="411480" y="2011680"/>
            <a:ext cx="73152" cy="3785616"/>
          </a:xfrm>
          <a:prstGeom prst="rect">
            <a:avLst/>
          </a:prstGeom>
          <a:solidFill>
            <a:srgbClr val="2563EB"/>
          </a:solidFill>
          <a:ln/>
        </p:spPr>
      </p:sp>
      <p:sp>
        <p:nvSpPr>
          <p:cNvPr id="13" name="Text 11"/>
          <p:cNvSpPr/>
          <p:nvPr/>
        </p:nvSpPr>
        <p:spPr>
          <a:xfrm>
            <a:off x="667512" y="2157984"/>
            <a:ext cx="5102352" cy="292608"/>
          </a:xfrm>
          <a:prstGeom prst="rect">
            <a:avLst/>
          </a:prstGeom>
          <a:noFill/>
          <a:ln/>
        </p:spPr>
        <p:txBody>
          <a:bodyPr wrap="square" lIns="0" tIns="0" rIns="0" bIns="0" rtlCol="0" anchor="t"/>
          <a:lstStyle/>
          <a:p>
            <a:pPr indent="0" marL="0">
              <a:buNone/>
            </a:pPr>
            <a:r>
              <a:rPr lang="en-US" sz="1550" b="1" dirty="0">
                <a:solidFill>
                  <a:srgbClr val="2563EB"/>
                </a:solidFill>
                <a:latin typeface="Calibri" pitchFamily="34" charset="0"/>
                <a:ea typeface="Calibri" pitchFamily="34" charset="-122"/>
                <a:cs typeface="Calibri" pitchFamily="34" charset="-120"/>
              </a:rPr>
              <a:t>Agentic AI</a:t>
            </a:r>
            <a:endParaRPr lang="en-US" sz="1550" dirty="0"/>
          </a:p>
        </p:txBody>
      </p:sp>
      <p:sp>
        <p:nvSpPr>
          <p:cNvPr id="14" name="Text 12"/>
          <p:cNvSpPr/>
          <p:nvPr/>
        </p:nvSpPr>
        <p:spPr>
          <a:xfrm>
            <a:off x="667512" y="2487168"/>
            <a:ext cx="5102352" cy="310896"/>
          </a:xfrm>
          <a:prstGeom prst="rect">
            <a:avLst/>
          </a:prstGeom>
          <a:noFill/>
          <a:ln/>
        </p:spPr>
        <p:txBody>
          <a:bodyPr wrap="square" lIns="0" tIns="0" rIns="0" bIns="0" rtlCol="0" anchor="t"/>
          <a:lstStyle/>
          <a:p>
            <a:pPr indent="0" marL="0">
              <a:lnSpc>
                <a:spcPct val="103000"/>
              </a:lnSpc>
              <a:buNone/>
            </a:pPr>
            <a:r>
              <a:rPr lang="en-US" sz="1050" i="1" dirty="0">
                <a:solidFill>
                  <a:srgbClr val="64748B"/>
                </a:solidFill>
                <a:latin typeface="Calibri" pitchFamily="34" charset="0"/>
                <a:ea typeface="Calibri" pitchFamily="34" charset="-122"/>
                <a:cs typeface="Calibri" pitchFamily="34" charset="-120"/>
              </a:rPr>
              <a:t>Assisted — you trigger it and stay in the loop; a human approves</a:t>
            </a:r>
            <a:endParaRPr lang="en-US" sz="1050" dirty="0"/>
          </a:p>
        </p:txBody>
      </p:sp>
      <p:sp>
        <p:nvSpPr>
          <p:cNvPr id="15" name="Shape 13"/>
          <p:cNvSpPr/>
          <p:nvPr/>
        </p:nvSpPr>
        <p:spPr>
          <a:xfrm>
            <a:off x="630936" y="2889504"/>
            <a:ext cx="5120640" cy="658368"/>
          </a:xfrm>
          <a:prstGeom prst="roundRect">
            <a:avLst>
              <a:gd name="adj" fmla="val 8333"/>
            </a:avLst>
          </a:prstGeom>
          <a:solidFill>
            <a:srgbClr val="FFFFFF"/>
          </a:solidFill>
          <a:ln/>
        </p:spPr>
      </p:sp>
      <p:sp>
        <p:nvSpPr>
          <p:cNvPr id="16" name="Shape 14"/>
          <p:cNvSpPr/>
          <p:nvPr/>
        </p:nvSpPr>
        <p:spPr>
          <a:xfrm>
            <a:off x="630936" y="2889504"/>
            <a:ext cx="45720" cy="658368"/>
          </a:xfrm>
          <a:prstGeom prst="rect">
            <a:avLst/>
          </a:prstGeom>
          <a:solidFill>
            <a:srgbClr val="2563EB"/>
          </a:solidFill>
          <a:ln/>
        </p:spPr>
      </p:sp>
      <p:sp>
        <p:nvSpPr>
          <p:cNvPr id="17" name="Text 15"/>
          <p:cNvSpPr/>
          <p:nvPr/>
        </p:nvSpPr>
        <p:spPr>
          <a:xfrm>
            <a:off x="795528" y="2935224"/>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AI Agent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Describe a part in plain English — it builds the full cost model for you.</a:t>
            </a:r>
            <a:endParaRPr lang="en-US" sz="1100" dirty="0"/>
          </a:p>
        </p:txBody>
      </p:sp>
      <p:sp>
        <p:nvSpPr>
          <p:cNvPr id="18" name="Shape 16"/>
          <p:cNvSpPr/>
          <p:nvPr/>
        </p:nvSpPr>
        <p:spPr>
          <a:xfrm>
            <a:off x="630936" y="3602736"/>
            <a:ext cx="5120640" cy="658368"/>
          </a:xfrm>
          <a:prstGeom prst="roundRect">
            <a:avLst>
              <a:gd name="adj" fmla="val 8333"/>
            </a:avLst>
          </a:prstGeom>
          <a:solidFill>
            <a:srgbClr val="FFFFFF"/>
          </a:solidFill>
          <a:ln/>
        </p:spPr>
      </p:sp>
      <p:sp>
        <p:nvSpPr>
          <p:cNvPr id="19" name="Shape 17"/>
          <p:cNvSpPr/>
          <p:nvPr/>
        </p:nvSpPr>
        <p:spPr>
          <a:xfrm>
            <a:off x="630936" y="3602736"/>
            <a:ext cx="45720" cy="658368"/>
          </a:xfrm>
          <a:prstGeom prst="rect">
            <a:avLst/>
          </a:prstGeom>
          <a:solidFill>
            <a:srgbClr val="2563EB"/>
          </a:solidFill>
          <a:ln/>
        </p:spPr>
      </p:sp>
      <p:sp>
        <p:nvSpPr>
          <p:cNvPr id="20" name="Text 18"/>
          <p:cNvSpPr/>
          <p:nvPr/>
        </p:nvSpPr>
        <p:spPr>
          <a:xfrm>
            <a:off x="795528" y="3648456"/>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CAD / photo → cost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Upload a STEP file — it measures the geometry and interprets material &amp; process.</a:t>
            </a:r>
            <a:endParaRPr lang="en-US" sz="1100" dirty="0"/>
          </a:p>
        </p:txBody>
      </p:sp>
      <p:sp>
        <p:nvSpPr>
          <p:cNvPr id="21" name="Shape 19"/>
          <p:cNvSpPr/>
          <p:nvPr/>
        </p:nvSpPr>
        <p:spPr>
          <a:xfrm>
            <a:off x="630936" y="4315968"/>
            <a:ext cx="5120640" cy="658368"/>
          </a:xfrm>
          <a:prstGeom prst="roundRect">
            <a:avLst>
              <a:gd name="adj" fmla="val 8333"/>
            </a:avLst>
          </a:prstGeom>
          <a:solidFill>
            <a:srgbClr val="FFFFFF"/>
          </a:solidFill>
          <a:ln/>
        </p:spPr>
      </p:sp>
      <p:sp>
        <p:nvSpPr>
          <p:cNvPr id="22" name="Shape 20"/>
          <p:cNvSpPr/>
          <p:nvPr/>
        </p:nvSpPr>
        <p:spPr>
          <a:xfrm>
            <a:off x="630936" y="4315968"/>
            <a:ext cx="45720" cy="658368"/>
          </a:xfrm>
          <a:prstGeom prst="rect">
            <a:avLst/>
          </a:prstGeom>
          <a:solidFill>
            <a:srgbClr val="2563EB"/>
          </a:solidFill>
          <a:ln/>
        </p:spPr>
      </p:sp>
      <p:sp>
        <p:nvSpPr>
          <p:cNvPr id="23" name="Text 21"/>
          <p:cNvSpPr/>
          <p:nvPr/>
        </p:nvSpPr>
        <p:spPr>
          <a:xfrm>
            <a:off x="795528" y="4361688"/>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Negotiation coach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Open a part — it drafts the buyer's counter-argument and target price.</a:t>
            </a:r>
            <a:endParaRPr lang="en-US" sz="1100" dirty="0"/>
          </a:p>
        </p:txBody>
      </p:sp>
      <p:sp>
        <p:nvSpPr>
          <p:cNvPr id="24" name="Shape 22"/>
          <p:cNvSpPr/>
          <p:nvPr/>
        </p:nvSpPr>
        <p:spPr>
          <a:xfrm>
            <a:off x="630936" y="5029200"/>
            <a:ext cx="5120640" cy="658368"/>
          </a:xfrm>
          <a:prstGeom prst="roundRect">
            <a:avLst>
              <a:gd name="adj" fmla="val 8333"/>
            </a:avLst>
          </a:prstGeom>
          <a:solidFill>
            <a:srgbClr val="FFFFFF"/>
          </a:solidFill>
          <a:ln/>
        </p:spPr>
      </p:sp>
      <p:sp>
        <p:nvSpPr>
          <p:cNvPr id="25" name="Shape 23"/>
          <p:cNvSpPr/>
          <p:nvPr/>
        </p:nvSpPr>
        <p:spPr>
          <a:xfrm>
            <a:off x="630936" y="5029200"/>
            <a:ext cx="45720" cy="658368"/>
          </a:xfrm>
          <a:prstGeom prst="rect">
            <a:avLst/>
          </a:prstGeom>
          <a:solidFill>
            <a:srgbClr val="2563EB"/>
          </a:solidFill>
          <a:ln/>
        </p:spPr>
      </p:sp>
      <p:sp>
        <p:nvSpPr>
          <p:cNvPr id="26" name="Text 24"/>
          <p:cNvSpPr/>
          <p:nvPr/>
        </p:nvSpPr>
        <p:spPr>
          <a:xfrm>
            <a:off x="795528" y="5074920"/>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Rate-data assistant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Ask a costing question — it answers from your own rates, with citations.</a:t>
            </a:r>
            <a:endParaRPr lang="en-US" sz="1100" dirty="0"/>
          </a:p>
        </p:txBody>
      </p:sp>
      <p:sp>
        <p:nvSpPr>
          <p:cNvPr id="27" name="Shape 25"/>
          <p:cNvSpPr/>
          <p:nvPr/>
        </p:nvSpPr>
        <p:spPr>
          <a:xfrm>
            <a:off x="6217920" y="2011680"/>
            <a:ext cx="5559552" cy="3785616"/>
          </a:xfrm>
          <a:prstGeom prst="roundRect">
            <a:avLst>
              <a:gd name="adj" fmla="val 2174"/>
            </a:avLst>
          </a:prstGeom>
          <a:solidFill>
            <a:srgbClr val="EFF6FF"/>
          </a:solidFill>
          <a:ln/>
        </p:spPr>
      </p:sp>
      <p:sp>
        <p:nvSpPr>
          <p:cNvPr id="28" name="Shape 26"/>
          <p:cNvSpPr/>
          <p:nvPr/>
        </p:nvSpPr>
        <p:spPr>
          <a:xfrm>
            <a:off x="6217920" y="2011680"/>
            <a:ext cx="73152" cy="3785616"/>
          </a:xfrm>
          <a:prstGeom prst="rect">
            <a:avLst/>
          </a:prstGeom>
          <a:solidFill>
            <a:srgbClr val="7C3AED"/>
          </a:solidFill>
          <a:ln/>
        </p:spPr>
      </p:sp>
      <p:sp>
        <p:nvSpPr>
          <p:cNvPr id="29" name="Text 27"/>
          <p:cNvSpPr/>
          <p:nvPr/>
        </p:nvSpPr>
        <p:spPr>
          <a:xfrm>
            <a:off x="6473952" y="2157984"/>
            <a:ext cx="5102352" cy="292608"/>
          </a:xfrm>
          <a:prstGeom prst="rect">
            <a:avLst/>
          </a:prstGeom>
          <a:noFill/>
          <a:ln/>
        </p:spPr>
        <p:txBody>
          <a:bodyPr wrap="square" lIns="0" tIns="0" rIns="0" bIns="0" rtlCol="0" anchor="t"/>
          <a:lstStyle/>
          <a:p>
            <a:pPr indent="0" marL="0">
              <a:buNone/>
            </a:pPr>
            <a:r>
              <a:rPr lang="en-US" sz="1550" b="1" dirty="0">
                <a:solidFill>
                  <a:srgbClr val="7C3AED"/>
                </a:solidFill>
                <a:latin typeface="Calibri" pitchFamily="34" charset="0"/>
                <a:ea typeface="Calibri" pitchFamily="34" charset="-122"/>
                <a:cs typeface="Calibri" pitchFamily="34" charset="-120"/>
              </a:rPr>
              <a:t>Autonomous Agentic AI</a:t>
            </a:r>
            <a:endParaRPr lang="en-US" sz="1550" dirty="0"/>
          </a:p>
        </p:txBody>
      </p:sp>
      <p:sp>
        <p:nvSpPr>
          <p:cNvPr id="30" name="Text 28"/>
          <p:cNvSpPr/>
          <p:nvPr/>
        </p:nvSpPr>
        <p:spPr>
          <a:xfrm>
            <a:off x="6473952" y="2487168"/>
            <a:ext cx="5102352" cy="310896"/>
          </a:xfrm>
          <a:prstGeom prst="rect">
            <a:avLst/>
          </a:prstGeom>
          <a:noFill/>
          <a:ln/>
        </p:spPr>
        <p:txBody>
          <a:bodyPr wrap="square" lIns="0" tIns="0" rIns="0" bIns="0" rtlCol="0" anchor="t"/>
          <a:lstStyle/>
          <a:p>
            <a:pPr indent="0" marL="0">
              <a:lnSpc>
                <a:spcPct val="103000"/>
              </a:lnSpc>
              <a:buNone/>
            </a:pPr>
            <a:r>
              <a:rPr lang="en-US" sz="1050" i="1" dirty="0">
                <a:solidFill>
                  <a:srgbClr val="64748B"/>
                </a:solidFill>
                <a:latin typeface="Calibri" pitchFamily="34" charset="0"/>
                <a:ea typeface="Calibri" pitchFamily="34" charset="-122"/>
                <a:cs typeface="Calibri" pitchFamily="34" charset="-120"/>
              </a:rPr>
              <a:t>Self-directed — runs unattended on a schedule, within limits you set</a:t>
            </a:r>
            <a:endParaRPr lang="en-US" sz="1050" dirty="0"/>
          </a:p>
        </p:txBody>
      </p:sp>
      <p:sp>
        <p:nvSpPr>
          <p:cNvPr id="31" name="Shape 29"/>
          <p:cNvSpPr/>
          <p:nvPr/>
        </p:nvSpPr>
        <p:spPr>
          <a:xfrm>
            <a:off x="6437376" y="2889504"/>
            <a:ext cx="5120640" cy="658368"/>
          </a:xfrm>
          <a:prstGeom prst="roundRect">
            <a:avLst>
              <a:gd name="adj" fmla="val 8333"/>
            </a:avLst>
          </a:prstGeom>
          <a:solidFill>
            <a:srgbClr val="FFFFFF"/>
          </a:solidFill>
          <a:ln/>
        </p:spPr>
      </p:sp>
      <p:sp>
        <p:nvSpPr>
          <p:cNvPr id="32" name="Shape 30"/>
          <p:cNvSpPr/>
          <p:nvPr/>
        </p:nvSpPr>
        <p:spPr>
          <a:xfrm>
            <a:off x="6437376" y="2889504"/>
            <a:ext cx="45720" cy="658368"/>
          </a:xfrm>
          <a:prstGeom prst="rect">
            <a:avLst/>
          </a:prstGeom>
          <a:solidFill>
            <a:srgbClr val="7C3AED"/>
          </a:solidFill>
          <a:ln/>
        </p:spPr>
      </p:sp>
      <p:sp>
        <p:nvSpPr>
          <p:cNvPr id="33" name="Text 31"/>
          <p:cNvSpPr/>
          <p:nvPr/>
        </p:nvSpPr>
        <p:spPr>
          <a:xfrm>
            <a:off x="6601968" y="2935224"/>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Savings monitor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Runs on the server, compares paid vs should-cost, opens findings itself — £0.5M/yr found unattended.</a:t>
            </a:r>
            <a:endParaRPr lang="en-US" sz="1100" dirty="0"/>
          </a:p>
        </p:txBody>
      </p:sp>
      <p:sp>
        <p:nvSpPr>
          <p:cNvPr id="34" name="Shape 32"/>
          <p:cNvSpPr/>
          <p:nvPr/>
        </p:nvSpPr>
        <p:spPr>
          <a:xfrm>
            <a:off x="6437376" y="3602736"/>
            <a:ext cx="5120640" cy="658368"/>
          </a:xfrm>
          <a:prstGeom prst="roundRect">
            <a:avLst>
              <a:gd name="adj" fmla="val 8333"/>
            </a:avLst>
          </a:prstGeom>
          <a:solidFill>
            <a:srgbClr val="FFFFFF"/>
          </a:solidFill>
          <a:ln/>
        </p:spPr>
      </p:sp>
      <p:sp>
        <p:nvSpPr>
          <p:cNvPr id="35" name="Shape 33"/>
          <p:cNvSpPr/>
          <p:nvPr/>
        </p:nvSpPr>
        <p:spPr>
          <a:xfrm>
            <a:off x="6437376" y="3602736"/>
            <a:ext cx="45720" cy="658368"/>
          </a:xfrm>
          <a:prstGeom prst="rect">
            <a:avLst/>
          </a:prstGeom>
          <a:solidFill>
            <a:srgbClr val="7C3AED"/>
          </a:solidFill>
          <a:ln/>
        </p:spPr>
      </p:sp>
      <p:sp>
        <p:nvSpPr>
          <p:cNvPr id="36" name="Text 34"/>
          <p:cNvSpPr/>
          <p:nvPr/>
        </p:nvSpPr>
        <p:spPr>
          <a:xfrm>
            <a:off x="6601968" y="3648456"/>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Self-audit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Re-checks every estimate for known errors and corrects within bounds — nobody asks it to.</a:t>
            </a:r>
            <a:endParaRPr lang="en-US" sz="1100" dirty="0"/>
          </a:p>
        </p:txBody>
      </p:sp>
      <p:sp>
        <p:nvSpPr>
          <p:cNvPr id="37" name="Shape 35"/>
          <p:cNvSpPr/>
          <p:nvPr/>
        </p:nvSpPr>
        <p:spPr>
          <a:xfrm>
            <a:off x="6437376" y="4315968"/>
            <a:ext cx="5120640" cy="658368"/>
          </a:xfrm>
          <a:prstGeom prst="roundRect">
            <a:avLst>
              <a:gd name="adj" fmla="val 8333"/>
            </a:avLst>
          </a:prstGeom>
          <a:solidFill>
            <a:srgbClr val="FFFFFF"/>
          </a:solidFill>
          <a:ln/>
        </p:spPr>
      </p:sp>
      <p:sp>
        <p:nvSpPr>
          <p:cNvPr id="38" name="Shape 36"/>
          <p:cNvSpPr/>
          <p:nvPr/>
        </p:nvSpPr>
        <p:spPr>
          <a:xfrm>
            <a:off x="6437376" y="4315968"/>
            <a:ext cx="45720" cy="658368"/>
          </a:xfrm>
          <a:prstGeom prst="rect">
            <a:avLst/>
          </a:prstGeom>
          <a:solidFill>
            <a:srgbClr val="7C3AED"/>
          </a:solidFill>
          <a:ln/>
        </p:spPr>
      </p:sp>
      <p:sp>
        <p:nvSpPr>
          <p:cNvPr id="39" name="Text 37"/>
          <p:cNvSpPr/>
          <p:nvPr/>
        </p:nvSpPr>
        <p:spPr>
          <a:xfrm>
            <a:off x="6601968" y="4361688"/>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Calibration &amp; drift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Learns from logged quotes, re-derives factors, and watches for drift continuously.</a:t>
            </a:r>
            <a:endParaRPr lang="en-US" sz="1100" dirty="0"/>
          </a:p>
        </p:txBody>
      </p:sp>
      <p:sp>
        <p:nvSpPr>
          <p:cNvPr id="40" name="Shape 38"/>
          <p:cNvSpPr/>
          <p:nvPr/>
        </p:nvSpPr>
        <p:spPr>
          <a:xfrm>
            <a:off x="6437376" y="5029200"/>
            <a:ext cx="5120640" cy="658368"/>
          </a:xfrm>
          <a:prstGeom prst="roundRect">
            <a:avLst>
              <a:gd name="adj" fmla="val 8333"/>
            </a:avLst>
          </a:prstGeom>
          <a:solidFill>
            <a:srgbClr val="FFFFFF"/>
          </a:solidFill>
          <a:ln/>
        </p:spPr>
      </p:sp>
      <p:sp>
        <p:nvSpPr>
          <p:cNvPr id="41" name="Shape 39"/>
          <p:cNvSpPr/>
          <p:nvPr/>
        </p:nvSpPr>
        <p:spPr>
          <a:xfrm>
            <a:off x="6437376" y="5029200"/>
            <a:ext cx="45720" cy="658368"/>
          </a:xfrm>
          <a:prstGeom prst="rect">
            <a:avLst/>
          </a:prstGeom>
          <a:solidFill>
            <a:srgbClr val="7C3AED"/>
          </a:solidFill>
          <a:ln/>
        </p:spPr>
      </p:sp>
      <p:sp>
        <p:nvSpPr>
          <p:cNvPr id="42" name="Text 40"/>
          <p:cNvSpPr/>
          <p:nvPr/>
        </p:nvSpPr>
        <p:spPr>
          <a:xfrm>
            <a:off x="6601968" y="5074920"/>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Outcome-weighted ranking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Learns which findings actually convert and re-prioritises the queue on its own.</a:t>
            </a:r>
            <a:endParaRPr lang="en-US" sz="1100" dirty="0"/>
          </a:p>
        </p:txBody>
      </p:sp>
      <p:sp>
        <p:nvSpPr>
          <p:cNvPr id="43" name="Shape 41"/>
          <p:cNvSpPr/>
          <p:nvPr/>
        </p:nvSpPr>
        <p:spPr>
          <a:xfrm>
            <a:off x="411480" y="5925312"/>
            <a:ext cx="11365992" cy="640080"/>
          </a:xfrm>
          <a:prstGeom prst="roundRect">
            <a:avLst>
              <a:gd name="adj" fmla="val 10000"/>
            </a:avLst>
          </a:prstGeom>
          <a:solidFill>
            <a:srgbClr val="0F172A"/>
          </a:solidFill>
          <a:ln/>
        </p:spPr>
      </p:sp>
      <p:sp>
        <p:nvSpPr>
          <p:cNvPr id="44" name="Text 42"/>
          <p:cNvSpPr/>
          <p:nvPr/>
        </p:nvSpPr>
        <p:spPr>
          <a:xfrm>
            <a:off x="713232" y="5925312"/>
            <a:ext cx="10789920" cy="640080"/>
          </a:xfrm>
          <a:prstGeom prst="rect">
            <a:avLst/>
          </a:prstGeom>
          <a:noFill/>
          <a:ln/>
        </p:spPr>
        <p:txBody>
          <a:bodyPr wrap="square" lIns="0" tIns="0" rIns="0" bIns="0" rtlCol="0" anchor="ctr"/>
          <a:lstStyle/>
          <a:p>
            <a:pPr indent="0" marL="0">
              <a:lnSpc>
                <a:spcPct val="100000"/>
              </a:lnSpc>
              <a:buNone/>
            </a:pPr>
            <a:r>
              <a:rPr lang="en-US" sz="1150" b="1" dirty="0">
                <a:solidFill>
                  <a:srgbClr val="FFFFFF"/>
                </a:solidFill>
                <a:latin typeface="Calibri" pitchFamily="34" charset="0"/>
                <a:ea typeface="Calibri" pitchFamily="34" charset="-122"/>
                <a:cs typeface="Calibri" pitchFamily="34" charset="-120"/>
              </a:rPr>
              <a:t>The common thread:  </a:t>
            </a:r>
            <a:pPr indent="0" marL="0">
              <a:lnSpc>
                <a:spcPct val="100000"/>
              </a:lnSpc>
              <a:buNone/>
            </a:pPr>
            <a:r>
              <a:rPr lang="en-US" sz="1150" dirty="0">
                <a:solidFill>
                  <a:srgbClr val="E8EEFF"/>
                </a:solidFill>
                <a:latin typeface="Calibri" pitchFamily="34" charset="0"/>
                <a:ea typeface="Calibri" pitchFamily="34" charset="-122"/>
                <a:cs typeface="Calibri" pitchFamily="34" charset="-120"/>
              </a:rPr>
              <a:t>you set the boundaries and every action stays glass-box and auditable — autonomy never means the AI sets a price in secret.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HOW IT WORKS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How it works — the learning loop</a:t>
            </a:r>
            <a:endParaRPr lang="en-US" sz="2700" dirty="0"/>
          </a:p>
        </p:txBody>
      </p:sp>
      <p:sp>
        <p:nvSpPr>
          <p:cNvPr id="10" name="Text 8"/>
          <p:cNvSpPr/>
          <p:nvPr/>
        </p:nvSpPr>
        <p:spPr>
          <a:xfrm>
            <a:off x="365760" y="2194560"/>
            <a:ext cx="2048256" cy="1051560"/>
          </a:xfrm>
          <a:prstGeom prst="chevron">
            <a:avLst/>
          </a:prstGeom>
          <a:solidFill>
            <a:srgbClr val="2563EB"/>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1 · Analyse</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Engineer costs a part as usual</a:t>
            </a:r>
            <a:endParaRPr lang="en-US" sz="1250" dirty="0"/>
          </a:p>
        </p:txBody>
      </p:sp>
      <p:sp>
        <p:nvSpPr>
          <p:cNvPr id="11" name="Text 9"/>
          <p:cNvSpPr/>
          <p:nvPr/>
        </p:nvSpPr>
        <p:spPr>
          <a:xfrm>
            <a:off x="2127260" y="2194560"/>
            <a:ext cx="2048256" cy="1051560"/>
          </a:xfrm>
          <a:prstGeom prst="chevron">
            <a:avLst/>
          </a:prstGeom>
          <a:solidFill>
            <a:srgbClr val="4F46E5"/>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2 · Remember</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Saved automatically to the knowledge base</a:t>
            </a:r>
            <a:endParaRPr lang="en-US" sz="1250" dirty="0"/>
          </a:p>
        </p:txBody>
      </p:sp>
      <p:sp>
        <p:nvSpPr>
          <p:cNvPr id="12" name="Text 10"/>
          <p:cNvSpPr/>
          <p:nvPr/>
        </p:nvSpPr>
        <p:spPr>
          <a:xfrm>
            <a:off x="3888760" y="2194560"/>
            <a:ext cx="2048256" cy="1051560"/>
          </a:xfrm>
          <a:prstGeom prst="chevron">
            <a:avLst/>
          </a:prstGeom>
          <a:solidFill>
            <a:srgbClr val="0891B2"/>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3 · Recognise</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Similar past parts found instantly</a:t>
            </a:r>
            <a:endParaRPr lang="en-US" sz="1250" dirty="0"/>
          </a:p>
        </p:txBody>
      </p:sp>
      <p:sp>
        <p:nvSpPr>
          <p:cNvPr id="13" name="Text 11"/>
          <p:cNvSpPr/>
          <p:nvPr/>
        </p:nvSpPr>
        <p:spPr>
          <a:xfrm>
            <a:off x="5650260" y="2194560"/>
            <a:ext cx="2048256" cy="1051560"/>
          </a:xfrm>
          <a:prstGeom prst="chevron">
            <a:avLst/>
          </a:prstGeom>
          <a:solidFill>
            <a:srgbClr val="7C3AED"/>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4 · Suggest</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Benchmarks, materials, real quotes shown</a:t>
            </a:r>
            <a:endParaRPr lang="en-US" sz="1250" dirty="0"/>
          </a:p>
        </p:txBody>
      </p:sp>
      <p:sp>
        <p:nvSpPr>
          <p:cNvPr id="14" name="Text 12"/>
          <p:cNvSpPr/>
          <p:nvPr/>
        </p:nvSpPr>
        <p:spPr>
          <a:xfrm>
            <a:off x="7411761" y="2194560"/>
            <a:ext cx="2048256" cy="1051560"/>
          </a:xfrm>
          <a:prstGeom prst="chevron">
            <a:avLst/>
          </a:prstGeom>
          <a:solidFill>
            <a:srgbClr val="D97706"/>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5 · Learn</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Real quote logged → model self-corrects</a:t>
            </a:r>
            <a:endParaRPr lang="en-US" sz="1250" dirty="0"/>
          </a:p>
        </p:txBody>
      </p:sp>
      <p:sp>
        <p:nvSpPr>
          <p:cNvPr id="15" name="Text 13"/>
          <p:cNvSpPr/>
          <p:nvPr/>
        </p:nvSpPr>
        <p:spPr>
          <a:xfrm>
            <a:off x="9173261" y="2194560"/>
            <a:ext cx="2048256" cy="1051560"/>
          </a:xfrm>
          <a:prstGeom prst="chevron">
            <a:avLst/>
          </a:prstGeom>
          <a:solidFill>
            <a:srgbClr val="059669"/>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6 · Act</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Background agent flags drift &amp; savings</a:t>
            </a:r>
            <a:endParaRPr lang="en-US" sz="1250" dirty="0"/>
          </a:p>
        </p:txBody>
      </p:sp>
      <p:sp>
        <p:nvSpPr>
          <p:cNvPr id="16" name="Text 14"/>
          <p:cNvSpPr/>
          <p:nvPr/>
        </p:nvSpPr>
        <p:spPr>
          <a:xfrm>
            <a:off x="4297680" y="4480560"/>
            <a:ext cx="4206240" cy="320040"/>
          </a:xfrm>
          <a:prstGeom prst="rect">
            <a:avLst/>
          </a:prstGeom>
          <a:noFill/>
          <a:ln/>
        </p:spPr>
        <p:txBody>
          <a:bodyPr wrap="square" lIns="0" tIns="0" rIns="0" bIns="0" rtlCol="0" anchor="t"/>
          <a:lstStyle/>
          <a:p>
            <a:pPr algn="ctr" indent="0" marL="0">
              <a:buNone/>
            </a:pPr>
            <a:r>
              <a:rPr lang="en-US" sz="1200" i="1" dirty="0">
                <a:solidFill>
                  <a:srgbClr val="64748B"/>
                </a:solidFill>
                <a:latin typeface="Calibri" pitchFamily="34" charset="0"/>
                <a:ea typeface="Calibri" pitchFamily="34" charset="-122"/>
                <a:cs typeface="Calibri" pitchFamily="34" charset="-120"/>
              </a:rPr>
              <a:t>…and every loop makes the next estimate better</a:t>
            </a:r>
            <a:endParaRPr lang="en-US" sz="1200" dirty="0"/>
          </a:p>
        </p:txBody>
      </p:sp>
      <p:sp>
        <p:nvSpPr>
          <p:cNvPr id="17" name="Shape 15"/>
          <p:cNvSpPr/>
          <p:nvPr/>
        </p:nvSpPr>
        <p:spPr>
          <a:xfrm>
            <a:off x="411480" y="5029200"/>
            <a:ext cx="11384280" cy="1234440"/>
          </a:xfrm>
          <a:prstGeom prst="roundRect">
            <a:avLst>
              <a:gd name="adj" fmla="val 5926"/>
            </a:avLst>
          </a:prstGeom>
          <a:solidFill>
            <a:srgbClr val="EFF6FF"/>
          </a:solidFill>
          <a:ln/>
        </p:spPr>
      </p:sp>
      <p:sp>
        <p:nvSpPr>
          <p:cNvPr id="18" name="Text 16"/>
          <p:cNvSpPr/>
          <p:nvPr/>
        </p:nvSpPr>
        <p:spPr>
          <a:xfrm>
            <a:off x="685800" y="5230368"/>
            <a:ext cx="10881360" cy="914400"/>
          </a:xfrm>
          <a:prstGeom prst="rect">
            <a:avLst/>
          </a:prstGeom>
          <a:noFill/>
          <a:ln/>
        </p:spPr>
        <p:txBody>
          <a:bodyPr wrap="square" lIns="0" tIns="0" rIns="0" bIns="0" rtlCol="0" anchor="t"/>
          <a:lstStyle/>
          <a:p>
            <a:pPr indent="0" marL="0">
              <a:lnSpc>
                <a:spcPct val="120000"/>
              </a:lnSpc>
              <a:buNone/>
            </a:pPr>
            <a:r>
              <a:rPr lang="en-US" sz="1300" b="1" dirty="0">
                <a:solidFill>
                  <a:srgbClr val="0F172A"/>
                </a:solidFill>
                <a:latin typeface="Calibri" pitchFamily="34" charset="0"/>
                <a:ea typeface="Calibri" pitchFamily="34" charset="-122"/>
                <a:cs typeface="Calibri" pitchFamily="34" charset="-120"/>
              </a:rPr>
              <a:t>No extra work for the engineer. </a:t>
            </a:r>
            <a:pPr indent="0" marL="0">
              <a:lnSpc>
                <a:spcPct val="120000"/>
              </a:lnSpc>
              <a:buNone/>
            </a:pPr>
            <a:r>
              <a:rPr lang="en-US" sz="1300" dirty="0">
                <a:solidFill>
                  <a:srgbClr val="334155"/>
                </a:solidFill>
                <a:latin typeface="Calibri" pitchFamily="34" charset="0"/>
                <a:ea typeface="Calibri" pitchFamily="34" charset="-122"/>
                <a:cs typeface="Calibri" pitchFamily="34" charset="-120"/>
              </a:rPr>
              <a:t>Steps 2, 3, 4 and 6 happen automatically. The only new habit is one click — "Log Actual £" — when a real supplier quote arrives. That single click is the fuel for everything on this slide.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1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memory — an organisational knowledge base</a:t>
            </a:r>
            <a:endParaRPr lang="en-US" sz="2700" dirty="0"/>
          </a:p>
        </p:txBody>
      </p:sp>
      <p:sp>
        <p:nvSpPr>
          <p:cNvPr id="10" name="Shape 8"/>
          <p:cNvSpPr/>
          <p:nvPr/>
        </p:nvSpPr>
        <p:spPr>
          <a:xfrm>
            <a:off x="411480" y="1828800"/>
            <a:ext cx="5486400" cy="4206240"/>
          </a:xfrm>
          <a:prstGeom prst="roundRect">
            <a:avLst>
              <a:gd name="adj" fmla="val 1087"/>
            </a:avLst>
          </a:prstGeom>
          <a:solidFill>
            <a:srgbClr val="F1F5F9"/>
          </a:solidFill>
          <a:ln/>
        </p:spPr>
      </p:sp>
      <p:sp>
        <p:nvSpPr>
          <p:cNvPr id="11" name="Text 9"/>
          <p:cNvSpPr/>
          <p:nvPr/>
        </p:nvSpPr>
        <p:spPr>
          <a:xfrm>
            <a:off x="685800" y="2057400"/>
            <a:ext cx="5029200" cy="36576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What is stored for every analysis</a:t>
            </a:r>
            <a:endParaRPr lang="en-US" sz="1500" dirty="0"/>
          </a:p>
        </p:txBody>
      </p:sp>
      <p:sp>
        <p:nvSpPr>
          <p:cNvPr id="12" name="Shape 10"/>
          <p:cNvSpPr/>
          <p:nvPr/>
        </p:nvSpPr>
        <p:spPr>
          <a:xfrm>
            <a:off x="685800" y="2514600"/>
            <a:ext cx="82296" cy="502920"/>
          </a:xfrm>
          <a:prstGeom prst="rect">
            <a:avLst/>
          </a:prstGeom>
          <a:solidFill>
            <a:srgbClr val="2563EB"/>
          </a:solidFill>
          <a:ln/>
        </p:spPr>
      </p:sp>
      <p:sp>
        <p:nvSpPr>
          <p:cNvPr id="13" name="Text 11"/>
          <p:cNvSpPr/>
          <p:nvPr/>
        </p:nvSpPr>
        <p:spPr>
          <a:xfrm>
            <a:off x="914400" y="2514600"/>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Part "fingerprint"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process, material, weight, size, region, volume</a:t>
            </a:r>
            <a:endParaRPr lang="en-US" sz="1250" dirty="0"/>
          </a:p>
        </p:txBody>
      </p:sp>
      <p:sp>
        <p:nvSpPr>
          <p:cNvPr id="14" name="Shape 12"/>
          <p:cNvSpPr/>
          <p:nvPr/>
        </p:nvSpPr>
        <p:spPr>
          <a:xfrm>
            <a:off x="685800" y="3172968"/>
            <a:ext cx="82296" cy="502920"/>
          </a:xfrm>
          <a:prstGeom prst="rect">
            <a:avLst/>
          </a:prstGeom>
          <a:solidFill>
            <a:srgbClr val="2563EB"/>
          </a:solidFill>
          <a:ln/>
        </p:spPr>
      </p:sp>
      <p:sp>
        <p:nvSpPr>
          <p:cNvPr id="15" name="Text 13"/>
          <p:cNvSpPr/>
          <p:nvPr/>
        </p:nvSpPr>
        <p:spPr>
          <a:xfrm>
            <a:off x="914400" y="3172968"/>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The full cost result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total + breakdown by cost driver</a:t>
            </a:r>
            <a:endParaRPr lang="en-US" sz="1250" dirty="0"/>
          </a:p>
        </p:txBody>
      </p:sp>
      <p:sp>
        <p:nvSpPr>
          <p:cNvPr id="16" name="Shape 14"/>
          <p:cNvSpPr/>
          <p:nvPr/>
        </p:nvSpPr>
        <p:spPr>
          <a:xfrm>
            <a:off x="685800" y="3831336"/>
            <a:ext cx="82296" cy="502920"/>
          </a:xfrm>
          <a:prstGeom prst="rect">
            <a:avLst/>
          </a:prstGeom>
          <a:solidFill>
            <a:srgbClr val="2563EB"/>
          </a:solidFill>
          <a:ln/>
        </p:spPr>
      </p:sp>
      <p:sp>
        <p:nvSpPr>
          <p:cNvPr id="17" name="Text 15"/>
          <p:cNvSpPr/>
          <p:nvPr/>
        </p:nvSpPr>
        <p:spPr>
          <a:xfrm>
            <a:off x="914400" y="3831336"/>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Real quotes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actual supplier / PO prices, when logged</a:t>
            </a:r>
            <a:endParaRPr lang="en-US" sz="1250" dirty="0"/>
          </a:p>
        </p:txBody>
      </p:sp>
      <p:sp>
        <p:nvSpPr>
          <p:cNvPr id="18" name="Shape 16"/>
          <p:cNvSpPr/>
          <p:nvPr/>
        </p:nvSpPr>
        <p:spPr>
          <a:xfrm>
            <a:off x="685800" y="4489704"/>
            <a:ext cx="82296" cy="502920"/>
          </a:xfrm>
          <a:prstGeom prst="rect">
            <a:avLst/>
          </a:prstGeom>
          <a:solidFill>
            <a:srgbClr val="2563EB"/>
          </a:solidFill>
          <a:ln/>
        </p:spPr>
      </p:sp>
      <p:sp>
        <p:nvSpPr>
          <p:cNvPr id="19" name="Text 17"/>
          <p:cNvSpPr/>
          <p:nvPr/>
        </p:nvSpPr>
        <p:spPr>
          <a:xfrm>
            <a:off x="914400" y="4489704"/>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Expert corrections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where a person adjusted the AI's values</a:t>
            </a:r>
            <a:endParaRPr lang="en-US" sz="1250" dirty="0"/>
          </a:p>
        </p:txBody>
      </p:sp>
      <p:sp>
        <p:nvSpPr>
          <p:cNvPr id="20" name="Shape 18"/>
          <p:cNvSpPr/>
          <p:nvPr/>
        </p:nvSpPr>
        <p:spPr>
          <a:xfrm>
            <a:off x="685800" y="5148072"/>
            <a:ext cx="82296" cy="502920"/>
          </a:xfrm>
          <a:prstGeom prst="rect">
            <a:avLst/>
          </a:prstGeom>
          <a:solidFill>
            <a:srgbClr val="2563EB"/>
          </a:solidFill>
          <a:ln/>
        </p:spPr>
      </p:sp>
      <p:sp>
        <p:nvSpPr>
          <p:cNvPr id="21" name="Text 19"/>
          <p:cNvSpPr/>
          <p:nvPr/>
        </p:nvSpPr>
        <p:spPr>
          <a:xfrm>
            <a:off x="914400" y="5148072"/>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CAD shape data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dimensions &amp; features, when a CAD file was used</a:t>
            </a:r>
            <a:endParaRPr lang="en-US" sz="1250" dirty="0"/>
          </a:p>
        </p:txBody>
      </p:sp>
      <p:sp>
        <p:nvSpPr>
          <p:cNvPr id="22" name="Shape 20"/>
          <p:cNvSpPr/>
          <p:nvPr/>
        </p:nvSpPr>
        <p:spPr>
          <a:xfrm>
            <a:off x="6263640" y="1828800"/>
            <a:ext cx="5532120" cy="4206240"/>
          </a:xfrm>
          <a:prstGeom prst="roundRect">
            <a:avLst>
              <a:gd name="adj" fmla="val 1087"/>
            </a:avLst>
          </a:prstGeom>
          <a:solidFill>
            <a:srgbClr val="EFF6FF"/>
          </a:solidFill>
          <a:ln/>
        </p:spPr>
      </p:sp>
      <p:sp>
        <p:nvSpPr>
          <p:cNvPr id="23" name="Text 21"/>
          <p:cNvSpPr/>
          <p:nvPr/>
        </p:nvSpPr>
        <p:spPr>
          <a:xfrm>
            <a:off x="6537960" y="2057400"/>
            <a:ext cx="5029200" cy="36576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Why it matters to us</a:t>
            </a:r>
            <a:endParaRPr lang="en-US" sz="1500" dirty="0"/>
          </a:p>
        </p:txBody>
      </p:sp>
      <p:sp>
        <p:nvSpPr>
          <p:cNvPr id="24" name="Text 22"/>
          <p:cNvSpPr/>
          <p:nvPr/>
        </p:nvSpPr>
        <p:spPr>
          <a:xfrm>
            <a:off x="6537960" y="2514600"/>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Shared, not personal</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One engineer's analysis instantly helps everyone — juniors inherit senior judgement.</a:t>
            </a:r>
            <a:endParaRPr lang="en-US" sz="1300" dirty="0"/>
          </a:p>
        </p:txBody>
      </p:sp>
      <p:sp>
        <p:nvSpPr>
          <p:cNvPr id="25" name="Text 23"/>
          <p:cNvSpPr/>
          <p:nvPr/>
        </p:nvSpPr>
        <p:spPr>
          <a:xfrm>
            <a:off x="6537960" y="3355848"/>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Stays on our servers</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Our database, our infrastructure. The knowledge is a company asset, not a vendor's.</a:t>
            </a:r>
            <a:endParaRPr lang="en-US" sz="1300" dirty="0"/>
          </a:p>
        </p:txBody>
      </p:sp>
      <p:sp>
        <p:nvSpPr>
          <p:cNvPr id="26" name="Text 24"/>
          <p:cNvSpPr/>
          <p:nvPr/>
        </p:nvSpPr>
        <p:spPr>
          <a:xfrm>
            <a:off x="6537960" y="4197096"/>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No duplicates</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Re-costing a part updates its case — the memory stays clean.</a:t>
            </a:r>
            <a:endParaRPr lang="en-US" sz="1300" dirty="0"/>
          </a:p>
        </p:txBody>
      </p:sp>
      <p:sp>
        <p:nvSpPr>
          <p:cNvPr id="27" name="Text 25"/>
          <p:cNvSpPr/>
          <p:nvPr/>
        </p:nvSpPr>
        <p:spPr>
          <a:xfrm>
            <a:off x="6537960" y="5038344"/>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Compounds with use</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Useful from ~20–30 analyses; every costing from today is an investment.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2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Recognition — "we have costed this before"</a:t>
            </a:r>
            <a:endParaRPr lang="en-US" sz="2700" dirty="0"/>
          </a:p>
        </p:txBody>
      </p:sp>
      <p:sp>
        <p:nvSpPr>
          <p:cNvPr id="10" name="Text 8"/>
          <p:cNvSpPr/>
          <p:nvPr/>
        </p:nvSpPr>
        <p:spPr>
          <a:xfrm>
            <a:off x="411480" y="1691640"/>
            <a:ext cx="11338560" cy="36576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Live example: an engineer costs a new 0.85 kg aluminium bracket. The tool answers instantly:</a:t>
            </a:r>
            <a:endParaRPr lang="en-US" sz="1350" dirty="0"/>
          </a:p>
        </p:txBody>
      </p:sp>
      <p:sp>
        <p:nvSpPr>
          <p:cNvPr id="11" name="Shape 9"/>
          <p:cNvSpPr/>
          <p:nvPr/>
        </p:nvSpPr>
        <p:spPr>
          <a:xfrm>
            <a:off x="411480" y="2194560"/>
            <a:ext cx="11384280" cy="2834640"/>
          </a:xfrm>
          <a:prstGeom prst="roundRect">
            <a:avLst>
              <a:gd name="adj" fmla="val 1613"/>
            </a:avLst>
          </a:prstGeom>
          <a:solidFill>
            <a:srgbClr val="F1F5F9"/>
          </a:solidFill>
          <a:ln/>
        </p:spPr>
      </p:sp>
      <p:sp>
        <p:nvSpPr>
          <p:cNvPr id="12" name="Shape 10"/>
          <p:cNvSpPr/>
          <p:nvPr/>
        </p:nvSpPr>
        <p:spPr>
          <a:xfrm>
            <a:off x="411480" y="2194560"/>
            <a:ext cx="82296" cy="2834640"/>
          </a:xfrm>
          <a:prstGeom prst="rect">
            <a:avLst/>
          </a:prstGeom>
          <a:solidFill>
            <a:srgbClr val="0891B2"/>
          </a:solidFill>
          <a:ln/>
        </p:spPr>
      </p:sp>
      <p:sp>
        <p:nvSpPr>
          <p:cNvPr id="13" name="Text 11"/>
          <p:cNvSpPr/>
          <p:nvPr/>
        </p:nvSpPr>
        <p:spPr>
          <a:xfrm>
            <a:off x="731520" y="2377440"/>
            <a:ext cx="10789920" cy="3200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  AI memory — similar past parts</a:t>
            </a:r>
            <a:pPr indent="0" marL="0">
              <a:buNone/>
            </a:pPr>
            <a:r>
              <a:rPr lang="en-US" sz="1050" dirty="0">
                <a:solidFill>
                  <a:srgbClr val="64748B"/>
                </a:solidFill>
                <a:latin typeface="Calibri" pitchFamily="34" charset="0"/>
                <a:ea typeface="Calibri" pitchFamily="34" charset="-122"/>
                <a:cs typeface="Calibri" pitchFamily="34" charset="-120"/>
              </a:rPr>
              <a:t>      (knowledge base: 3 analyses · 2 with actuals)</a:t>
            </a:r>
            <a:endParaRPr lang="en-US" sz="1400" dirty="0"/>
          </a:p>
        </p:txBody>
      </p:sp>
      <p:sp>
        <p:nvSpPr>
          <p:cNvPr id="14" name="Text 12"/>
          <p:cNvSpPr/>
          <p:nvPr/>
        </p:nvSpPr>
        <p:spPr>
          <a:xfrm>
            <a:off x="822960" y="27889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EV Battery Bracket</a:t>
            </a:r>
            <a:pPr indent="0" marL="0">
              <a:buNone/>
            </a:pPr>
            <a:r>
              <a:rPr lang="en-US" sz="1050" dirty="0">
                <a:solidFill>
                  <a:srgbClr val="64748B"/>
                </a:solidFill>
                <a:latin typeface="Calibri" pitchFamily="34" charset="0"/>
                <a:ea typeface="Calibri" pitchFamily="34" charset="-122"/>
                <a:cs typeface="Calibri" pitchFamily="34" charset="-120"/>
              </a:rPr>
              <a:t>   99% match — material family, weight, region</a:t>
            </a:r>
            <a:endParaRPr lang="en-US" sz="1250" dirty="0"/>
          </a:p>
        </p:txBody>
      </p:sp>
      <p:sp>
        <p:nvSpPr>
          <p:cNvPr id="15" name="Text 13"/>
          <p:cNvSpPr/>
          <p:nvPr/>
        </p:nvSpPr>
        <p:spPr>
          <a:xfrm>
            <a:off x="7315200" y="27889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£41.20</a:t>
            </a:r>
            <a:pPr indent="0" marL="0">
              <a:buNone/>
            </a:pPr>
            <a:r>
              <a:rPr lang="en-US" sz="1100" b="1" dirty="0">
                <a:solidFill>
                  <a:srgbClr val="7C3AED"/>
                </a:solidFill>
                <a:latin typeface="Calibri" pitchFamily="34" charset="0"/>
                <a:ea typeface="Calibri" pitchFamily="34" charset="-122"/>
                <a:cs typeface="Calibri" pitchFamily="34" charset="-120"/>
              </a:rPr>
              <a:t>   actual £46.50</a:t>
            </a:r>
            <a:endParaRPr lang="en-US" sz="1250" dirty="0"/>
          </a:p>
        </p:txBody>
      </p:sp>
      <p:sp>
        <p:nvSpPr>
          <p:cNvPr id="16" name="Text 14"/>
          <p:cNvSpPr/>
          <p:nvPr/>
        </p:nvSpPr>
        <p:spPr>
          <a:xfrm>
            <a:off x="822960" y="32461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Sensor Mount Bracket</a:t>
            </a:r>
            <a:pPr indent="0" marL="0">
              <a:buNone/>
            </a:pPr>
            <a:r>
              <a:rPr lang="en-US" sz="1050" dirty="0">
                <a:solidFill>
                  <a:srgbClr val="64748B"/>
                </a:solidFill>
                <a:latin typeface="Calibri" pitchFamily="34" charset="0"/>
                <a:ea typeface="Calibri" pitchFamily="34" charset="-122"/>
                <a:cs typeface="Calibri" pitchFamily="34" charset="-120"/>
              </a:rPr>
              <a:t>   98% match — material family, weight, region</a:t>
            </a:r>
            <a:endParaRPr lang="en-US" sz="1250" dirty="0"/>
          </a:p>
        </p:txBody>
      </p:sp>
      <p:sp>
        <p:nvSpPr>
          <p:cNvPr id="17" name="Text 15"/>
          <p:cNvSpPr/>
          <p:nvPr/>
        </p:nvSpPr>
        <p:spPr>
          <a:xfrm>
            <a:off x="7315200" y="32461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£38.50</a:t>
            </a:r>
            <a:pPr indent="0" marL="0">
              <a:buNone/>
            </a:pPr>
            <a:endParaRPr lang="en-US" sz="1250" dirty="0"/>
          </a:p>
        </p:txBody>
      </p:sp>
      <p:sp>
        <p:nvSpPr>
          <p:cNvPr id="18" name="Text 16"/>
          <p:cNvSpPr/>
          <p:nvPr/>
        </p:nvSpPr>
        <p:spPr>
          <a:xfrm>
            <a:off x="822960" y="37033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Inverter Bracket</a:t>
            </a:r>
            <a:pPr indent="0" marL="0">
              <a:buNone/>
            </a:pPr>
            <a:r>
              <a:rPr lang="en-US" sz="1050" dirty="0">
                <a:solidFill>
                  <a:srgbClr val="64748B"/>
                </a:solidFill>
                <a:latin typeface="Calibri" pitchFamily="34" charset="0"/>
                <a:ea typeface="Calibri" pitchFamily="34" charset="-122"/>
                <a:cs typeface="Calibri" pitchFamily="34" charset="-120"/>
              </a:rPr>
              <a:t>   98% match — material family, weight, region</a:t>
            </a:r>
            <a:endParaRPr lang="en-US" sz="1250" dirty="0"/>
          </a:p>
        </p:txBody>
      </p:sp>
      <p:sp>
        <p:nvSpPr>
          <p:cNvPr id="19" name="Text 17"/>
          <p:cNvSpPr/>
          <p:nvPr/>
        </p:nvSpPr>
        <p:spPr>
          <a:xfrm>
            <a:off x="7315200" y="37033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£44.80</a:t>
            </a:r>
            <a:pPr indent="0" marL="0">
              <a:buNone/>
            </a:pPr>
            <a:r>
              <a:rPr lang="en-US" sz="1100" b="1" dirty="0">
                <a:solidFill>
                  <a:srgbClr val="7C3AED"/>
                </a:solidFill>
                <a:latin typeface="Calibri" pitchFamily="34" charset="0"/>
                <a:ea typeface="Calibri" pitchFamily="34" charset="-122"/>
                <a:cs typeface="Calibri" pitchFamily="34" charset="-120"/>
              </a:rPr>
              <a:t>   actual £50.20</a:t>
            </a:r>
            <a:endParaRPr lang="en-US" sz="1250" dirty="0"/>
          </a:p>
        </p:txBody>
      </p:sp>
      <p:sp>
        <p:nvSpPr>
          <p:cNvPr id="20" name="Text 18"/>
          <p:cNvSpPr/>
          <p:nvPr/>
        </p:nvSpPr>
        <p:spPr>
          <a:xfrm>
            <a:off x="822960" y="4206240"/>
            <a:ext cx="10607040" cy="27432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  Median cost of 3 similar parts: £41.20</a:t>
            </a:r>
            <a:endParaRPr lang="en-US" sz="1150" dirty="0"/>
          </a:p>
        </p:txBody>
      </p:sp>
      <p:sp>
        <p:nvSpPr>
          <p:cNvPr id="21" name="Text 19"/>
          <p:cNvSpPr/>
          <p:nvPr/>
        </p:nvSpPr>
        <p:spPr>
          <a:xfrm>
            <a:off x="822960" y="4480560"/>
            <a:ext cx="10607040" cy="27432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  3 of 3 used the same material (aluminium 6061)</a:t>
            </a:r>
            <a:endParaRPr lang="en-US" sz="1150" dirty="0"/>
          </a:p>
        </p:txBody>
      </p:sp>
      <p:sp>
        <p:nvSpPr>
          <p:cNvPr id="22" name="Text 20"/>
          <p:cNvSpPr/>
          <p:nvPr/>
        </p:nvSpPr>
        <p:spPr>
          <a:xfrm>
            <a:off x="822960" y="4754880"/>
            <a:ext cx="10607040" cy="274320"/>
          </a:xfrm>
          <a:prstGeom prst="rect">
            <a:avLst/>
          </a:prstGeom>
          <a:noFill/>
          <a:ln/>
        </p:spPr>
        <p:txBody>
          <a:bodyPr wrap="square" lIns="0" tIns="0" rIns="0" bIns="0" rtlCol="0" anchor="t"/>
          <a:lstStyle/>
          <a:p>
            <a:pPr indent="0" marL="0">
              <a:buNone/>
            </a:pPr>
            <a:r>
              <a:rPr lang="en-US" sz="1150" dirty="0">
                <a:solidFill>
                  <a:srgbClr val="7C3AED"/>
                </a:solidFill>
                <a:latin typeface="Calibri" pitchFamily="34" charset="0"/>
                <a:ea typeface="Calibri" pitchFamily="34" charset="-122"/>
                <a:cs typeface="Calibri" pitchFamily="34" charset="-120"/>
              </a:rPr>
              <a:t>•  Real quotes logged for 2 of them — median actual £48.35</a:t>
            </a:r>
            <a:endParaRPr lang="en-US" sz="1150" dirty="0"/>
          </a:p>
        </p:txBody>
      </p:sp>
      <p:sp>
        <p:nvSpPr>
          <p:cNvPr id="23" name="Shape 21"/>
          <p:cNvSpPr/>
          <p:nvPr/>
        </p:nvSpPr>
        <p:spPr>
          <a:xfrm>
            <a:off x="411480" y="5303520"/>
            <a:ext cx="11384280" cy="914400"/>
          </a:xfrm>
          <a:prstGeom prst="roundRect">
            <a:avLst>
              <a:gd name="adj" fmla="val 8000"/>
            </a:avLst>
          </a:prstGeom>
          <a:solidFill>
            <a:srgbClr val="EFF6FF"/>
          </a:solidFill>
          <a:ln/>
        </p:spPr>
      </p:sp>
      <p:sp>
        <p:nvSpPr>
          <p:cNvPr id="24" name="Text 22"/>
          <p:cNvSpPr/>
          <p:nvPr/>
        </p:nvSpPr>
        <p:spPr>
          <a:xfrm>
            <a:off x="685800" y="5458968"/>
            <a:ext cx="10881360" cy="68580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Every match is explained (what matched, and how strongly) and every suggestion names its source parts — </a:t>
            </a:r>
            <a:pPr indent="0" marL="0">
              <a:lnSpc>
                <a:spcPct val="115000"/>
              </a:lnSpc>
              <a:buNone/>
            </a:pPr>
            <a:r>
              <a:rPr lang="en-US" sz="1250" b="1" dirty="0">
                <a:solidFill>
                  <a:srgbClr val="0F172A"/>
                </a:solidFill>
                <a:latin typeface="Calibri" pitchFamily="34" charset="0"/>
                <a:ea typeface="Calibri" pitchFamily="34" charset="-122"/>
                <a:cs typeface="Calibri" pitchFamily="34" charset="-120"/>
              </a:rPr>
              <a:t>no black box.</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3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Self-correction — it learns from real quotes</a:t>
            </a:r>
            <a:endParaRPr lang="en-US" sz="2700" dirty="0"/>
          </a:p>
        </p:txBody>
      </p:sp>
      <p:graphicFrame>
        <p:nvGraphicFramePr>
          <p:cNvPr id="10" name="Chart 0" descr=""/>
          <p:cNvGraphicFramePr/>
          <p:nvPr/>
        </p:nvGraphicFramePr>
        <p:xfrm>
          <a:off x="411480" y="1965960"/>
          <a:ext cx="6035040" cy="3657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411480" y="5715000"/>
            <a:ext cx="603504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Estimating error (%) — measured against real supplier prices, live system run</a:t>
            </a:r>
            <a:endParaRPr lang="en-US" sz="1050" dirty="0"/>
          </a:p>
        </p:txBody>
      </p:sp>
      <p:sp>
        <p:nvSpPr>
          <p:cNvPr id="12" name="Shape 9"/>
          <p:cNvSpPr/>
          <p:nvPr/>
        </p:nvSpPr>
        <p:spPr>
          <a:xfrm>
            <a:off x="6812280" y="1965960"/>
            <a:ext cx="4983480" cy="4206240"/>
          </a:xfrm>
          <a:prstGeom prst="roundRect">
            <a:avLst>
              <a:gd name="adj" fmla="val 1087"/>
            </a:avLst>
          </a:prstGeom>
          <a:solidFill>
            <a:srgbClr val="F1F5F9"/>
          </a:solidFill>
          <a:ln/>
        </p:spPr>
      </p:sp>
      <p:sp>
        <p:nvSpPr>
          <p:cNvPr id="13" name="Text 10"/>
          <p:cNvSpPr/>
          <p:nvPr/>
        </p:nvSpPr>
        <p:spPr>
          <a:xfrm>
            <a:off x="7086600" y="2194560"/>
            <a:ext cx="4480560" cy="3840480"/>
          </a:xfrm>
          <a:prstGeom prst="rect">
            <a:avLst/>
          </a:prstGeom>
          <a:noFill/>
          <a:ln/>
        </p:spPr>
        <p:txBody>
          <a:bodyPr wrap="square" lIns="0" tIns="0" rIns="0" bIns="0" rtlCol="0" anchor="t"/>
          <a:lstStyle/>
          <a:p>
            <a:pPr indent="0" marL="0">
              <a:lnSpc>
                <a:spcPct val="112000"/>
              </a:lnSpc>
              <a:spcAft>
                <a:spcPts val="1000"/>
              </a:spcAft>
              <a:buNone/>
            </a:pPr>
            <a:r>
              <a:rPr lang="en-US" sz="1500" b="1" dirty="0">
                <a:solidFill>
                  <a:srgbClr val="0F172A"/>
                </a:solidFill>
                <a:latin typeface="Calibri" pitchFamily="34" charset="0"/>
                <a:ea typeface="Calibri" pitchFamily="34" charset="-122"/>
                <a:cs typeface="Calibri" pitchFamily="34" charset="-120"/>
              </a:rPr>
              <a:t>How it works, simply</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1.  A real supplier quote arrives → one click logs it.</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2.  The tool compares its estimate with reality and measures its own error.</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3.  From 3 quotes in a category, it corrects future estimates automatically — per process, material family and region.</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4.  It reports its accuracy openly (error % before and after).</a:t>
            </a:r>
            <a:endParaRPr lang="en-US" sz="1500" dirty="0"/>
          </a:p>
          <a:p>
            <a:pPr indent="0" marL="0">
              <a:lnSpc>
                <a:spcPct val="112000"/>
              </a:lnSpc>
              <a:spcAft>
                <a:spcPts val="1000"/>
              </a:spcAft>
              <a:buNone/>
            </a:pPr>
            <a:r>
              <a:rPr lang="en-US" sz="1250" b="1" dirty="0">
                <a:solidFill>
                  <a:srgbClr val="0F172A"/>
                </a:solidFill>
                <a:latin typeface="Calibri" pitchFamily="34" charset="0"/>
                <a:ea typeface="Calibri" pitchFamily="34" charset="-122"/>
                <a:cs typeface="Calibri" pitchFamily="34" charset="-120"/>
              </a:rPr>
              <a:t>Why per-category matters: </a:t>
            </a:r>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our machining ran 12% low while our China castings ran 8% high — averaged together they looked "fine". The tool catches what averages hide.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4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Honest ranges — from "±20%" to "±3%", earned with data</a:t>
            </a:r>
            <a:endParaRPr lang="en-US" sz="2700" dirty="0"/>
          </a:p>
        </p:txBody>
      </p:sp>
      <p:graphicFrame>
        <p:nvGraphicFramePr>
          <p:cNvPr id="10" name="Chart 0" descr=""/>
          <p:cNvGraphicFramePr/>
          <p:nvPr/>
        </p:nvGraphicFramePr>
        <p:xfrm>
          <a:off x="411480" y="1965960"/>
          <a:ext cx="5394960" cy="3657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411480" y="5715000"/>
            <a:ext cx="539496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Width of the cost confidence band on the same part (± % around the estimate)</a:t>
            </a:r>
            <a:endParaRPr lang="en-US" sz="1050" dirty="0"/>
          </a:p>
        </p:txBody>
      </p:sp>
      <p:sp>
        <p:nvSpPr>
          <p:cNvPr id="12" name="Shape 9"/>
          <p:cNvSpPr/>
          <p:nvPr/>
        </p:nvSpPr>
        <p:spPr>
          <a:xfrm>
            <a:off x="6172200" y="1965960"/>
            <a:ext cx="5623560" cy="4206240"/>
          </a:xfrm>
          <a:prstGeom prst="roundRect">
            <a:avLst>
              <a:gd name="adj" fmla="val 1087"/>
            </a:avLst>
          </a:prstGeom>
          <a:solidFill>
            <a:srgbClr val="F1F5F9"/>
          </a:solidFill>
          <a:ln/>
        </p:spPr>
      </p:sp>
      <p:sp>
        <p:nvSpPr>
          <p:cNvPr id="13" name="Text 10"/>
          <p:cNvSpPr/>
          <p:nvPr/>
        </p:nvSpPr>
        <p:spPr>
          <a:xfrm>
            <a:off x="6446520" y="2194560"/>
            <a:ext cx="5120640" cy="3840480"/>
          </a:xfrm>
          <a:prstGeom prst="rect">
            <a:avLst/>
          </a:prstGeom>
          <a:noFill/>
          <a:ln/>
        </p:spPr>
        <p:txBody>
          <a:bodyPr wrap="square" lIns="0" tIns="0" rIns="0" bIns="0" rtlCol="0" anchor="t"/>
          <a:lstStyle/>
          <a:p>
            <a:pPr indent="0" marL="0">
              <a:lnSpc>
                <a:spcPct val="115000"/>
              </a:lnSpc>
              <a:spcAft>
                <a:spcPts val="1000"/>
              </a:spcAft>
              <a:buNone/>
            </a:pPr>
            <a:r>
              <a:rPr lang="en-US" sz="1500" b="1" dirty="0">
                <a:solidFill>
                  <a:srgbClr val="0F172A"/>
                </a:solidFill>
                <a:latin typeface="Calibri" pitchFamily="34" charset="0"/>
                <a:ea typeface="Calibri" pitchFamily="34" charset="-122"/>
                <a:cs typeface="Calibri" pitchFamily="34" charset="-120"/>
              </a:rPr>
              <a:t>Every estimate now comes as a range</a:t>
            </a:r>
            <a:endParaRPr lang="en-US" sz="1500" dirty="0"/>
          </a:p>
          <a:p>
            <a:pPr indent="0" marL="0">
              <a:lnSpc>
                <a:spcPct val="115000"/>
              </a:lnSpc>
              <a:spcAft>
                <a:spcPts val="1000"/>
              </a:spcAft>
              <a:buNone/>
            </a:pPr>
            <a:r>
              <a:rPr lang="en-US" sz="1250" b="1" dirty="0">
                <a:solidFill>
                  <a:srgbClr val="2563EB"/>
                </a:solidFill>
                <a:latin typeface="Calibri" pitchFamily="34" charset="0"/>
                <a:ea typeface="Calibri" pitchFamily="34" charset="-122"/>
                <a:cs typeface="Calibri" pitchFamily="34" charset="-120"/>
              </a:rPr>
              <a:t>Optimistic (P10)  ·  Most likely (P50)  ·  Conservative (P90)</a:t>
            </a:r>
            <a:endParaRPr lang="en-US" sz="1500" dirty="0"/>
          </a:p>
          <a:p>
            <a:pPr indent="0" marL="0">
              <a:lnSpc>
                <a:spcPct val="115000"/>
              </a:lnSpc>
              <a:spcAft>
                <a:spcPts val="1000"/>
              </a:spcAft>
              <a:buNone/>
            </a:pPr>
            <a:r>
              <a:rPr lang="en-US" sz="1250" dirty="0">
                <a:solidFill>
                  <a:srgbClr val="334155"/>
                </a:solidFill>
                <a:latin typeface="Calibri" pitchFamily="34" charset="0"/>
                <a:ea typeface="Calibri" pitchFamily="34" charset="-122"/>
                <a:cs typeface="Calibri" pitchFamily="34" charset="-120"/>
              </a:rPr>
              <a:t>A single number implies a precision that early estimates don't have. The range tells buyers how much to trust the number — and what target to set in negotiation.</a:t>
            </a:r>
            <a:endParaRPr lang="en-US" sz="1500" dirty="0"/>
          </a:p>
          <a:p>
            <a:pPr indent="0" marL="0">
              <a:lnSpc>
                <a:spcPct val="115000"/>
              </a:lnSpc>
              <a:spcAft>
                <a:spcPts val="1000"/>
              </a:spcAft>
              <a:buNone/>
            </a:pPr>
            <a:r>
              <a:rPr lang="en-US" sz="1250" b="1" dirty="0">
                <a:solidFill>
                  <a:srgbClr val="0F172A"/>
                </a:solidFill>
                <a:latin typeface="Calibri" pitchFamily="34" charset="0"/>
                <a:ea typeface="Calibri" pitchFamily="34" charset="-122"/>
                <a:cs typeface="Calibri" pitchFamily="34" charset="-120"/>
              </a:rPr>
              <a:t>The band is earned, not guessed: </a:t>
            </a:r>
            <a:pPr indent="0" marL="0">
              <a:lnSpc>
                <a:spcPct val="115000"/>
              </a:lnSpc>
              <a:spcAft>
                <a:spcPts val="1000"/>
              </a:spcAft>
              <a:buNone/>
            </a:pPr>
            <a:r>
              <a:rPr lang="en-US" sz="1250" dirty="0">
                <a:solidFill>
                  <a:srgbClr val="334155"/>
                </a:solidFill>
                <a:latin typeface="Calibri" pitchFamily="34" charset="0"/>
                <a:ea typeface="Calibri" pitchFamily="34" charset="-122"/>
                <a:cs typeface="Calibri" pitchFamily="34" charset="-120"/>
              </a:rPr>
              <a:t>it starts wide when the tool has no evidence, and tightens automatically as real quotes prove the accuracy. On our test part it went from ±20% to ±3% after three quotes.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5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autonomous agent — finds money unattended</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 background monitor re-checks every stored part on a schedule. In the live demonstration it opened these findings </a:t>
            </a:r>
            <a:pPr indent="0" marL="0">
              <a:buNone/>
            </a:pPr>
            <a:r>
              <a:rPr lang="en-US" sz="1300" b="1" dirty="0">
                <a:solidFill>
                  <a:srgbClr val="0F172A"/>
                </a:solidFill>
                <a:latin typeface="Calibri" pitchFamily="34" charset="0"/>
                <a:ea typeface="Calibri" pitchFamily="34" charset="-122"/>
                <a:cs typeface="Calibri" pitchFamily="34" charset="-120"/>
              </a:rPr>
              <a:t>entirely unattended:</a:t>
            </a:r>
            <a:endParaRPr lang="en-US" sz="1300" dirty="0"/>
          </a:p>
        </p:txBody>
      </p:sp>
      <p:sp>
        <p:nvSpPr>
          <p:cNvPr id="11" name="Shape 9"/>
          <p:cNvSpPr/>
          <p:nvPr/>
        </p:nvSpPr>
        <p:spPr>
          <a:xfrm>
            <a:off x="411480" y="2286000"/>
            <a:ext cx="11384280" cy="914400"/>
          </a:xfrm>
          <a:prstGeom prst="roundRect">
            <a:avLst>
              <a:gd name="adj" fmla="val 10000"/>
            </a:avLst>
          </a:prstGeom>
          <a:solidFill>
            <a:srgbClr val="F1F5F9"/>
          </a:solidFill>
          <a:ln/>
        </p:spPr>
      </p:sp>
      <p:sp>
        <p:nvSpPr>
          <p:cNvPr id="12" name="Shape 10"/>
          <p:cNvSpPr/>
          <p:nvPr/>
        </p:nvSpPr>
        <p:spPr>
          <a:xfrm>
            <a:off x="411480" y="2286000"/>
            <a:ext cx="82296" cy="914400"/>
          </a:xfrm>
          <a:prstGeom prst="rect">
            <a:avLst/>
          </a:prstGeom>
          <a:solidFill>
            <a:srgbClr val="DC2626"/>
          </a:solidFill>
          <a:ln/>
        </p:spPr>
      </p:sp>
      <p:sp>
        <p:nvSpPr>
          <p:cNvPr id="13" name="Text 11"/>
          <p:cNvSpPr/>
          <p:nvPr/>
        </p:nvSpPr>
        <p:spPr>
          <a:xfrm>
            <a:off x="731520" y="2404872"/>
            <a:ext cx="3017520" cy="365760"/>
          </a:xfrm>
          <a:prstGeom prst="rect">
            <a:avLst/>
          </a:prstGeom>
          <a:noFill/>
          <a:ln/>
        </p:spPr>
        <p:txBody>
          <a:bodyPr wrap="square" lIns="0" tIns="0" rIns="0" bIns="0" rtlCol="0" anchor="t"/>
          <a:lstStyle/>
          <a:p>
            <a:pPr indent="0" marL="0">
              <a:buNone/>
            </a:pPr>
            <a:r>
              <a:rPr lang="en-US" sz="1300" b="1" dirty="0">
                <a:solidFill>
                  <a:srgbClr val="DC2626"/>
                </a:solidFill>
                <a:latin typeface="Calibri" pitchFamily="34" charset="0"/>
                <a:ea typeface="Calibri" pitchFamily="34" charset="-122"/>
                <a:cs typeface="Calibri" pitchFamily="34" charset="-120"/>
              </a:rPr>
              <a:t>💰  RENEGOTIATION</a:t>
            </a:r>
            <a:endParaRPr lang="en-US" sz="1300" dirty="0"/>
          </a:p>
        </p:txBody>
      </p:sp>
      <p:sp>
        <p:nvSpPr>
          <p:cNvPr id="14" name="Text 12"/>
          <p:cNvSpPr/>
          <p:nvPr/>
        </p:nvSpPr>
        <p:spPr>
          <a:xfrm>
            <a:off x="731520" y="274320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Supplier price £48.00 is 20% above should-cost £40.00 at 50,000 pcs — clear recovery opportunity.</a:t>
            </a:r>
            <a:endParaRPr lang="en-US" sz="1150" dirty="0"/>
          </a:p>
        </p:txBody>
      </p:sp>
      <p:sp>
        <p:nvSpPr>
          <p:cNvPr id="15" name="Text 13"/>
          <p:cNvSpPr/>
          <p:nvPr/>
        </p:nvSpPr>
        <p:spPr>
          <a:xfrm>
            <a:off x="9052560" y="2404872"/>
            <a:ext cx="2606040" cy="365760"/>
          </a:xfrm>
          <a:prstGeom prst="rect">
            <a:avLst/>
          </a:prstGeom>
          <a:noFill/>
          <a:ln/>
        </p:spPr>
        <p:txBody>
          <a:bodyPr wrap="square" lIns="0" tIns="0" rIns="0" bIns="0" rtlCol="0" anchor="t"/>
          <a:lstStyle/>
          <a:p>
            <a:pPr algn="r" indent="0" marL="0">
              <a:buNone/>
            </a:pPr>
            <a:r>
              <a:rPr lang="en-US" sz="1400" b="1" dirty="0">
                <a:solidFill>
                  <a:srgbClr val="DC2626"/>
                </a:solidFill>
                <a:latin typeface="Calibri" pitchFamily="34" charset="0"/>
                <a:ea typeface="Calibri" pitchFamily="34" charset="-122"/>
                <a:cs typeface="Calibri" pitchFamily="34" charset="-120"/>
              </a:rPr>
              <a:t>≈ £400,000 / yr</a:t>
            </a:r>
            <a:endParaRPr lang="en-US" sz="1400" dirty="0"/>
          </a:p>
        </p:txBody>
      </p:sp>
      <p:sp>
        <p:nvSpPr>
          <p:cNvPr id="16" name="Shape 14"/>
          <p:cNvSpPr/>
          <p:nvPr/>
        </p:nvSpPr>
        <p:spPr>
          <a:xfrm>
            <a:off x="411480" y="3337560"/>
            <a:ext cx="11384280" cy="914400"/>
          </a:xfrm>
          <a:prstGeom prst="roundRect">
            <a:avLst>
              <a:gd name="adj" fmla="val 10000"/>
            </a:avLst>
          </a:prstGeom>
          <a:solidFill>
            <a:srgbClr val="F1F5F9"/>
          </a:solidFill>
          <a:ln/>
        </p:spPr>
      </p:sp>
      <p:sp>
        <p:nvSpPr>
          <p:cNvPr id="17" name="Shape 15"/>
          <p:cNvSpPr/>
          <p:nvPr/>
        </p:nvSpPr>
        <p:spPr>
          <a:xfrm>
            <a:off x="411480" y="3337560"/>
            <a:ext cx="82296" cy="914400"/>
          </a:xfrm>
          <a:prstGeom prst="rect">
            <a:avLst/>
          </a:prstGeom>
          <a:solidFill>
            <a:srgbClr val="D97706"/>
          </a:solidFill>
          <a:ln/>
        </p:spPr>
      </p:sp>
      <p:sp>
        <p:nvSpPr>
          <p:cNvPr id="18" name="Text 16"/>
          <p:cNvSpPr/>
          <p:nvPr/>
        </p:nvSpPr>
        <p:spPr>
          <a:xfrm>
            <a:off x="731520" y="3456432"/>
            <a:ext cx="3017520" cy="36576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  UNDERWATER PRICE</a:t>
            </a:r>
            <a:endParaRPr lang="en-US" sz="1300" dirty="0"/>
          </a:p>
        </p:txBody>
      </p:sp>
      <p:sp>
        <p:nvSpPr>
          <p:cNvPr id="19" name="Text 17"/>
          <p:cNvSpPr/>
          <p:nvPr/>
        </p:nvSpPr>
        <p:spPr>
          <a:xfrm>
            <a:off x="731520" y="379476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Supplier price 25% BELOW should-cost — verify scope and quality; pricing may be unsustainable.</a:t>
            </a:r>
            <a:endParaRPr lang="en-US" sz="1150" dirty="0"/>
          </a:p>
        </p:txBody>
      </p:sp>
      <p:sp>
        <p:nvSpPr>
          <p:cNvPr id="20" name="Text 18"/>
          <p:cNvSpPr/>
          <p:nvPr/>
        </p:nvSpPr>
        <p:spPr>
          <a:xfrm>
            <a:off x="9052560" y="3456432"/>
            <a:ext cx="2606040" cy="365760"/>
          </a:xfrm>
          <a:prstGeom prst="rect">
            <a:avLst/>
          </a:prstGeom>
          <a:noFill/>
          <a:ln/>
        </p:spPr>
        <p:txBody>
          <a:bodyPr wrap="square" lIns="0" tIns="0" rIns="0" bIns="0" rtlCol="0" anchor="t"/>
          <a:lstStyle/>
          <a:p>
            <a:pPr algn="r" indent="0" marL="0">
              <a:buNone/>
            </a:pPr>
            <a:r>
              <a:rPr lang="en-US" sz="1400" b="1" dirty="0">
                <a:solidFill>
                  <a:srgbClr val="D97706"/>
                </a:solidFill>
                <a:latin typeface="Calibri" pitchFamily="34" charset="0"/>
                <a:ea typeface="Calibri" pitchFamily="34" charset="-122"/>
                <a:cs typeface="Calibri" pitchFamily="34" charset="-120"/>
              </a:rPr>
              <a:t>≈ £112,000 / yr exposure</a:t>
            </a:r>
            <a:endParaRPr lang="en-US" sz="1400" dirty="0"/>
          </a:p>
        </p:txBody>
      </p:sp>
      <p:sp>
        <p:nvSpPr>
          <p:cNvPr id="21" name="Shape 19"/>
          <p:cNvSpPr/>
          <p:nvPr/>
        </p:nvSpPr>
        <p:spPr>
          <a:xfrm>
            <a:off x="411480" y="4389120"/>
            <a:ext cx="11384280" cy="914400"/>
          </a:xfrm>
          <a:prstGeom prst="roundRect">
            <a:avLst>
              <a:gd name="adj" fmla="val 10000"/>
            </a:avLst>
          </a:prstGeom>
          <a:solidFill>
            <a:srgbClr val="F1F5F9"/>
          </a:solidFill>
          <a:ln/>
        </p:spPr>
      </p:sp>
      <p:sp>
        <p:nvSpPr>
          <p:cNvPr id="22" name="Shape 20"/>
          <p:cNvSpPr/>
          <p:nvPr/>
        </p:nvSpPr>
        <p:spPr>
          <a:xfrm>
            <a:off x="411480" y="4389120"/>
            <a:ext cx="82296" cy="914400"/>
          </a:xfrm>
          <a:prstGeom prst="rect">
            <a:avLst/>
          </a:prstGeom>
          <a:solidFill>
            <a:srgbClr val="64748B"/>
          </a:solidFill>
          <a:ln/>
        </p:spPr>
      </p:sp>
      <p:sp>
        <p:nvSpPr>
          <p:cNvPr id="23" name="Text 21"/>
          <p:cNvSpPr/>
          <p:nvPr/>
        </p:nvSpPr>
        <p:spPr>
          <a:xfrm>
            <a:off x="731520" y="4507992"/>
            <a:ext cx="3017520" cy="365760"/>
          </a:xfrm>
          <a:prstGeom prst="rect">
            <a:avLst/>
          </a:prstGeom>
          <a:noFill/>
          <a:ln/>
        </p:spPr>
        <p:txBody>
          <a:bodyPr wrap="square" lIns="0" tIns="0" rIns="0" bIns="0" rtlCol="0" anchor="t"/>
          <a:lstStyle/>
          <a:p>
            <a:pPr indent="0" marL="0">
              <a:buNone/>
            </a:pPr>
            <a:r>
              <a:rPr lang="en-US" sz="1300" b="1" dirty="0">
                <a:solidFill>
                  <a:srgbClr val="64748B"/>
                </a:solidFill>
                <a:latin typeface="Calibri" pitchFamily="34" charset="0"/>
                <a:ea typeface="Calibri" pitchFamily="34" charset="-122"/>
                <a:cs typeface="Calibri" pitchFamily="34" charset="-120"/>
              </a:rPr>
              <a:t>⏳  STALE ESTIMATE</a:t>
            </a:r>
            <a:endParaRPr lang="en-US" sz="1300" dirty="0"/>
          </a:p>
        </p:txBody>
      </p:sp>
      <p:sp>
        <p:nvSpPr>
          <p:cNvPr id="24" name="Text 22"/>
          <p:cNvSpPr/>
          <p:nvPr/>
        </p:nvSpPr>
        <p:spPr>
          <a:xfrm>
            <a:off x="731520" y="484632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A 120-day-old estimate was never validated with a real quote — the agent asks for a refresh.</a:t>
            </a:r>
            <a:endParaRPr lang="en-US" sz="1150" dirty="0"/>
          </a:p>
        </p:txBody>
      </p:sp>
      <p:sp>
        <p:nvSpPr>
          <p:cNvPr id="25" name="Text 23"/>
          <p:cNvSpPr/>
          <p:nvPr/>
        </p:nvSpPr>
        <p:spPr>
          <a:xfrm>
            <a:off x="9052560" y="4507992"/>
            <a:ext cx="2606040" cy="365760"/>
          </a:xfrm>
          <a:prstGeom prst="rect">
            <a:avLst/>
          </a:prstGeom>
          <a:noFill/>
          <a:ln/>
        </p:spPr>
        <p:txBody>
          <a:bodyPr wrap="square" lIns="0" tIns="0" rIns="0" bIns="0" rtlCol="0" anchor="t"/>
          <a:lstStyle/>
          <a:p>
            <a:pPr algn="r" indent="0" marL="0">
              <a:buNone/>
            </a:pPr>
            <a:r>
              <a:rPr lang="en-US" sz="1400" b="1" dirty="0">
                <a:solidFill>
                  <a:srgbClr val="64748B"/>
                </a:solidFill>
                <a:latin typeface="Calibri" pitchFamily="34" charset="0"/>
                <a:ea typeface="Calibri" pitchFamily="34" charset="-122"/>
                <a:cs typeface="Calibri" pitchFamily="34" charset="-120"/>
              </a:rPr>
              <a:t>Confidence decay</a:t>
            </a:r>
            <a:endParaRPr lang="en-US" sz="1400" dirty="0"/>
          </a:p>
        </p:txBody>
      </p:sp>
      <p:sp>
        <p:nvSpPr>
          <p:cNvPr id="26" name="Shape 24"/>
          <p:cNvSpPr/>
          <p:nvPr/>
        </p:nvSpPr>
        <p:spPr>
          <a:xfrm>
            <a:off x="411480" y="5532120"/>
            <a:ext cx="11384280" cy="777240"/>
          </a:xfrm>
          <a:prstGeom prst="roundRect">
            <a:avLst>
              <a:gd name="adj" fmla="val 11765"/>
            </a:avLst>
          </a:prstGeom>
          <a:solidFill>
            <a:srgbClr val="EFF6FF"/>
          </a:solidFill>
          <a:ln/>
        </p:spPr>
      </p:sp>
      <p:sp>
        <p:nvSpPr>
          <p:cNvPr id="27" name="Text 25"/>
          <p:cNvSpPr/>
          <p:nvPr/>
        </p:nvSpPr>
        <p:spPr>
          <a:xfrm>
            <a:off x="685800" y="5669280"/>
            <a:ext cx="10881360" cy="54864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Total surfaced in the demo:  </a:t>
            </a:r>
            <a:pPr indent="0" marL="0">
              <a:buNone/>
            </a:pPr>
            <a:r>
              <a:rPr lang="en-US" sz="1500" b="1" dirty="0">
                <a:solidFill>
                  <a:srgbClr val="DC2626"/>
                </a:solidFill>
                <a:latin typeface="Calibri" pitchFamily="34" charset="0"/>
                <a:ea typeface="Calibri" pitchFamily="34" charset="-122"/>
                <a:cs typeface="Calibri" pitchFamily="34" charset="-120"/>
              </a:rPr>
              <a:t>≈ £512,000 / yr</a:t>
            </a:r>
            <a:pPr indent="0" marL="0">
              <a:buNone/>
            </a:pPr>
            <a:r>
              <a:rPr lang="en-US" sz="1300" dirty="0">
                <a:solidFill>
                  <a:srgbClr val="64748B"/>
                </a:solidFill>
                <a:latin typeface="Calibri" pitchFamily="34" charset="0"/>
                <a:ea typeface="Calibri" pitchFamily="34" charset="-122"/>
                <a:cs typeface="Calibri" pitchFamily="34" charset="-120"/>
              </a:rPr>
              <a:t>   — every finding shows its arithmetic, and one click dismisses it once handled.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WIDER AI PLATFORM</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Supporting AI capabilities already in the tool</a:t>
            </a:r>
            <a:endParaRPr lang="en-US" sz="2700" dirty="0"/>
          </a:p>
        </p:txBody>
      </p:sp>
      <p:sp>
        <p:nvSpPr>
          <p:cNvPr id="10" name="Shape 8"/>
          <p:cNvSpPr/>
          <p:nvPr/>
        </p:nvSpPr>
        <p:spPr>
          <a:xfrm>
            <a:off x="411480" y="1920240"/>
            <a:ext cx="5577840" cy="1874520"/>
          </a:xfrm>
          <a:prstGeom prst="roundRect">
            <a:avLst>
              <a:gd name="adj" fmla="val 3415"/>
            </a:avLst>
          </a:prstGeom>
          <a:solidFill>
            <a:srgbClr val="F1F5F9"/>
          </a:solidFill>
          <a:ln/>
        </p:spPr>
      </p:sp>
      <p:sp>
        <p:nvSpPr>
          <p:cNvPr id="11" name="Shape 9"/>
          <p:cNvSpPr/>
          <p:nvPr/>
        </p:nvSpPr>
        <p:spPr>
          <a:xfrm>
            <a:off x="411480" y="1920240"/>
            <a:ext cx="82296" cy="1874520"/>
          </a:xfrm>
          <a:prstGeom prst="rect">
            <a:avLst/>
          </a:prstGeom>
          <a:solidFill>
            <a:srgbClr val="2563EB"/>
          </a:solidFill>
          <a:ln/>
        </p:spPr>
      </p:sp>
      <p:sp>
        <p:nvSpPr>
          <p:cNvPr id="12" name="Text 10"/>
          <p:cNvSpPr/>
          <p:nvPr/>
        </p:nvSpPr>
        <p:spPr>
          <a:xfrm>
            <a:off x="685800" y="2103120"/>
            <a:ext cx="5120640" cy="411480"/>
          </a:xfrm>
          <a:prstGeom prst="rect">
            <a:avLst/>
          </a:prstGeom>
          <a:noFill/>
          <a:ln/>
        </p:spPr>
        <p:txBody>
          <a:bodyPr wrap="square" lIns="0" tIns="0" rIns="0" bIns="0" rtlCol="0" anchor="t"/>
          <a:lstStyle/>
          <a:p>
            <a:pPr indent="0" marL="0">
              <a:buNone/>
            </a:pPr>
            <a:r>
              <a:rPr lang="en-US" sz="1500" b="1" dirty="0">
                <a:solidFill>
                  <a:srgbClr val="2563EB"/>
                </a:solidFill>
                <a:latin typeface="Calibri" pitchFamily="34" charset="0"/>
                <a:ea typeface="Calibri" pitchFamily="34" charset="-122"/>
                <a:cs typeface="Calibri" pitchFamily="34" charset="-120"/>
              </a:rPr>
              <a:t>📚  Grounded AI assistant</a:t>
            </a:r>
            <a:endParaRPr lang="en-US" sz="1500" dirty="0"/>
          </a:p>
        </p:txBody>
      </p:sp>
      <p:sp>
        <p:nvSpPr>
          <p:cNvPr id="13" name="Text 11"/>
          <p:cNvSpPr/>
          <p:nvPr/>
        </p:nvSpPr>
        <p:spPr>
          <a:xfrm>
            <a:off x="685800" y="257860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Answers cite our actual rate library and past costings — the AI quotes our data, it doesn't improvise. Every figure is traceable.</a:t>
            </a:r>
            <a:endParaRPr lang="en-US" sz="1200" dirty="0"/>
          </a:p>
        </p:txBody>
      </p:sp>
      <p:sp>
        <p:nvSpPr>
          <p:cNvPr id="14" name="Shape 12"/>
          <p:cNvSpPr/>
          <p:nvPr/>
        </p:nvSpPr>
        <p:spPr>
          <a:xfrm>
            <a:off x="6217920" y="1920240"/>
            <a:ext cx="5577840" cy="1874520"/>
          </a:xfrm>
          <a:prstGeom prst="roundRect">
            <a:avLst>
              <a:gd name="adj" fmla="val 3415"/>
            </a:avLst>
          </a:prstGeom>
          <a:solidFill>
            <a:srgbClr val="F1F5F9"/>
          </a:solidFill>
          <a:ln/>
        </p:spPr>
      </p:sp>
      <p:sp>
        <p:nvSpPr>
          <p:cNvPr id="15" name="Shape 13"/>
          <p:cNvSpPr/>
          <p:nvPr/>
        </p:nvSpPr>
        <p:spPr>
          <a:xfrm>
            <a:off x="6217920" y="1920240"/>
            <a:ext cx="82296" cy="1874520"/>
          </a:xfrm>
          <a:prstGeom prst="rect">
            <a:avLst/>
          </a:prstGeom>
          <a:solidFill>
            <a:srgbClr val="7C3AED"/>
          </a:solidFill>
          <a:ln/>
        </p:spPr>
      </p:sp>
      <p:sp>
        <p:nvSpPr>
          <p:cNvPr id="16" name="Text 14"/>
          <p:cNvSpPr/>
          <p:nvPr/>
        </p:nvSpPr>
        <p:spPr>
          <a:xfrm>
            <a:off x="6492240" y="2103120"/>
            <a:ext cx="5120640" cy="411480"/>
          </a:xfrm>
          <a:prstGeom prst="rect">
            <a:avLst/>
          </a:prstGeom>
          <a:noFill/>
          <a:ln/>
        </p:spPr>
        <p:txBody>
          <a:bodyPr wrap="square" lIns="0" tIns="0" rIns="0" bIns="0" rtlCol="0" anchor="t"/>
          <a:lstStyle/>
          <a:p>
            <a:pPr indent="0" marL="0">
              <a:buNone/>
            </a:pPr>
            <a:r>
              <a:rPr lang="en-US" sz="1500" b="1" dirty="0">
                <a:solidFill>
                  <a:srgbClr val="7C3AED"/>
                </a:solidFill>
                <a:latin typeface="Calibri" pitchFamily="34" charset="0"/>
                <a:ea typeface="Calibri" pitchFamily="34" charset="-122"/>
                <a:cs typeface="Calibri" pitchFamily="34" charset="-120"/>
              </a:rPr>
              <a:t>📄  RFQ analyst</a:t>
            </a:r>
            <a:endParaRPr lang="en-US" sz="1500" dirty="0"/>
          </a:p>
        </p:txBody>
      </p:sp>
      <p:sp>
        <p:nvSpPr>
          <p:cNvPr id="17" name="Text 15"/>
          <p:cNvSpPr/>
          <p:nvPr/>
        </p:nvSpPr>
        <p:spPr>
          <a:xfrm>
            <a:off x="6492240" y="257860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Drop in an RFQ package: it costs every line, flags risky prices and single-source parts, and drafts a prioritised negotiation brief.</a:t>
            </a:r>
            <a:endParaRPr lang="en-US" sz="1200" dirty="0"/>
          </a:p>
        </p:txBody>
      </p:sp>
      <p:sp>
        <p:nvSpPr>
          <p:cNvPr id="18" name="Shape 16"/>
          <p:cNvSpPr/>
          <p:nvPr/>
        </p:nvSpPr>
        <p:spPr>
          <a:xfrm>
            <a:off x="411480" y="4023360"/>
            <a:ext cx="5577840" cy="1874520"/>
          </a:xfrm>
          <a:prstGeom prst="roundRect">
            <a:avLst>
              <a:gd name="adj" fmla="val 3415"/>
            </a:avLst>
          </a:prstGeom>
          <a:solidFill>
            <a:srgbClr val="F1F5F9"/>
          </a:solidFill>
          <a:ln/>
        </p:spPr>
      </p:sp>
      <p:sp>
        <p:nvSpPr>
          <p:cNvPr id="19" name="Shape 17"/>
          <p:cNvSpPr/>
          <p:nvPr/>
        </p:nvSpPr>
        <p:spPr>
          <a:xfrm>
            <a:off x="411480" y="4023360"/>
            <a:ext cx="82296" cy="1874520"/>
          </a:xfrm>
          <a:prstGeom prst="rect">
            <a:avLst/>
          </a:prstGeom>
          <a:solidFill>
            <a:srgbClr val="0891B2"/>
          </a:solidFill>
          <a:ln/>
        </p:spPr>
      </p:sp>
      <p:sp>
        <p:nvSpPr>
          <p:cNvPr id="20" name="Text 18"/>
          <p:cNvSpPr/>
          <p:nvPr/>
        </p:nvSpPr>
        <p:spPr>
          <a:xfrm>
            <a:off x="685800" y="4206240"/>
            <a:ext cx="5120640" cy="411480"/>
          </a:xfrm>
          <a:prstGeom prst="rect">
            <a:avLst/>
          </a:prstGeom>
          <a:noFill/>
          <a:ln/>
        </p:spPr>
        <p:txBody>
          <a:bodyPr wrap="square" lIns="0" tIns="0" rIns="0" bIns="0" rtlCol="0" anchor="t"/>
          <a:lstStyle/>
          <a:p>
            <a:pPr indent="0" marL="0">
              <a:buNone/>
            </a:pPr>
            <a:r>
              <a:rPr lang="en-US" sz="1500" b="1" dirty="0">
                <a:solidFill>
                  <a:srgbClr val="0891B2"/>
                </a:solidFill>
                <a:latin typeface="Calibri" pitchFamily="34" charset="0"/>
                <a:ea typeface="Calibri" pitchFamily="34" charset="-122"/>
                <a:cs typeface="Calibri" pitchFamily="34" charset="-120"/>
              </a:rPr>
              <a:t>📐  CAD feature costing</a:t>
            </a:r>
            <a:endParaRPr lang="en-US" sz="1500" dirty="0"/>
          </a:p>
        </p:txBody>
      </p:sp>
      <p:sp>
        <p:nvSpPr>
          <p:cNvPr id="21" name="Text 19"/>
          <p:cNvSpPr/>
          <p:nvPr/>
        </p:nvSpPr>
        <p:spPr>
          <a:xfrm>
            <a:off x="685800" y="468172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Reads the 3D model and prices individual design features — holes, threads, surfaces — so designers see exactly what drives cost.</a:t>
            </a:r>
            <a:endParaRPr lang="en-US" sz="1200" dirty="0"/>
          </a:p>
        </p:txBody>
      </p:sp>
      <p:sp>
        <p:nvSpPr>
          <p:cNvPr id="22" name="Shape 20"/>
          <p:cNvSpPr/>
          <p:nvPr/>
        </p:nvSpPr>
        <p:spPr>
          <a:xfrm>
            <a:off x="6217920" y="4023360"/>
            <a:ext cx="5577840" cy="1874520"/>
          </a:xfrm>
          <a:prstGeom prst="roundRect">
            <a:avLst>
              <a:gd name="adj" fmla="val 3415"/>
            </a:avLst>
          </a:prstGeom>
          <a:solidFill>
            <a:srgbClr val="F1F5F9"/>
          </a:solidFill>
          <a:ln/>
        </p:spPr>
      </p:sp>
      <p:sp>
        <p:nvSpPr>
          <p:cNvPr id="23" name="Shape 21"/>
          <p:cNvSpPr/>
          <p:nvPr/>
        </p:nvSpPr>
        <p:spPr>
          <a:xfrm>
            <a:off x="6217920" y="4023360"/>
            <a:ext cx="82296" cy="1874520"/>
          </a:xfrm>
          <a:prstGeom prst="rect">
            <a:avLst/>
          </a:prstGeom>
          <a:solidFill>
            <a:srgbClr val="059669"/>
          </a:solidFill>
          <a:ln/>
        </p:spPr>
      </p:sp>
      <p:sp>
        <p:nvSpPr>
          <p:cNvPr id="24" name="Text 22"/>
          <p:cNvSpPr/>
          <p:nvPr/>
        </p:nvSpPr>
        <p:spPr>
          <a:xfrm>
            <a:off x="6492240" y="4206240"/>
            <a:ext cx="5120640" cy="41148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  Carbon co-costing</a:t>
            </a:r>
            <a:endParaRPr lang="en-US" sz="1500" dirty="0"/>
          </a:p>
        </p:txBody>
      </p:sp>
      <p:sp>
        <p:nvSpPr>
          <p:cNvPr id="25" name="Text 23"/>
          <p:cNvSpPr/>
          <p:nvPr/>
        </p:nvSpPr>
        <p:spPr>
          <a:xfrm>
            <a:off x="6492240" y="468172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Every part gets a CO₂e figure alongside the £ — increasingly demanded in automotive &amp; aerospace RFQs.</a:t>
            </a:r>
            <a:endParaRPr lang="en-US" sz="1200" dirty="0"/>
          </a:p>
        </p:txBody>
      </p:sp>
      <p:sp>
        <p:nvSpPr>
          <p:cNvPr id="26" name="Text 24"/>
          <p:cNvSpPr/>
          <p:nvPr/>
        </p:nvSpPr>
        <p:spPr>
          <a:xfrm>
            <a:off x="411480" y="6126480"/>
            <a:ext cx="11338560" cy="457200"/>
          </a:xfrm>
          <a:prstGeom prst="rect">
            <a:avLst/>
          </a:prstGeom>
          <a:noFill/>
          <a:ln/>
        </p:spPr>
        <p:txBody>
          <a:bodyPr wrap="square" lIns="0" tIns="0" rIns="0" bIns="0" rtlCol="0" anchor="t"/>
          <a:lstStyle/>
          <a:p>
            <a:pPr indent="0" marL="0">
              <a:buNone/>
            </a:pPr>
            <a:r>
              <a:rPr lang="en-US" sz="1200" i="1" dirty="0">
                <a:solidFill>
                  <a:srgbClr val="64748B"/>
                </a:solidFill>
                <a:latin typeface="Calibri" pitchFamily="34" charset="0"/>
                <a:ea typeface="Calibri" pitchFamily="34" charset="-122"/>
                <a:cs typeface="Calibri" pitchFamily="34" charset="-120"/>
              </a:rPr>
              <a:t>Together with 18 commodity cost engines, CAD-to-cost, and PCB photo-to-BOM — the agentic layer sits on top of all of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INPUTS REQUIRED</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it needs from us — honestly, very little</a:t>
            </a:r>
            <a:endParaRPr lang="en-US" sz="2700" dirty="0"/>
          </a:p>
        </p:txBody>
      </p:sp>
      <p:sp>
        <p:nvSpPr>
          <p:cNvPr id="10" name="Shape 8"/>
          <p:cNvSpPr/>
          <p:nvPr/>
        </p:nvSpPr>
        <p:spPr>
          <a:xfrm>
            <a:off x="411480" y="1874520"/>
            <a:ext cx="5486400" cy="3931920"/>
          </a:xfrm>
          <a:prstGeom prst="roundRect">
            <a:avLst>
              <a:gd name="adj" fmla="val 1163"/>
            </a:avLst>
          </a:prstGeom>
          <a:solidFill>
            <a:srgbClr val="EFF6FF"/>
          </a:solidFill>
          <a:ln/>
        </p:spPr>
      </p:sp>
      <p:sp>
        <p:nvSpPr>
          <p:cNvPr id="11" name="Text 9"/>
          <p:cNvSpPr/>
          <p:nvPr/>
        </p:nvSpPr>
        <p:spPr>
          <a:xfrm>
            <a:off x="685800" y="2103120"/>
            <a:ext cx="4937760" cy="365760"/>
          </a:xfrm>
          <a:prstGeom prst="rect">
            <a:avLst/>
          </a:prstGeom>
          <a:noFill/>
          <a:ln/>
        </p:spPr>
        <p:txBody>
          <a:bodyPr wrap="square" lIns="0" tIns="0" rIns="0" bIns="0" rtlCol="0" anchor="t"/>
          <a:lstStyle/>
          <a:p>
            <a:pPr indent="0" marL="0">
              <a:buNone/>
            </a:pPr>
            <a:r>
              <a:rPr lang="en-US" sz="1600" b="1" dirty="0">
                <a:solidFill>
                  <a:srgbClr val="2563EB"/>
                </a:solidFill>
                <a:latin typeface="Calibri" pitchFamily="34" charset="0"/>
                <a:ea typeface="Calibri" pitchFamily="34" charset="-122"/>
                <a:cs typeface="Calibri" pitchFamily="34" charset="-120"/>
              </a:rPr>
              <a:t>You provide</a:t>
            </a:r>
            <a:endParaRPr lang="en-US" sz="1600" dirty="0"/>
          </a:p>
        </p:txBody>
      </p:sp>
      <p:sp>
        <p:nvSpPr>
          <p:cNvPr id="12" name="Text 10"/>
          <p:cNvSpPr/>
          <p:nvPr/>
        </p:nvSpPr>
        <p:spPr>
          <a:xfrm>
            <a:off x="685800" y="260604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1.  Keep costing parts as normal</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every analysis feeds the memory automatically</a:t>
            </a:r>
            <a:endParaRPr lang="en-US" sz="1300" dirty="0"/>
          </a:p>
        </p:txBody>
      </p:sp>
      <p:sp>
        <p:nvSpPr>
          <p:cNvPr id="13" name="Text 11"/>
          <p:cNvSpPr/>
          <p:nvPr/>
        </p:nvSpPr>
        <p:spPr>
          <a:xfrm>
            <a:off x="685800" y="338328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2.  One click when a real quote arrives</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"Log Actual £" — this is the learning fuel</a:t>
            </a:r>
            <a:endParaRPr lang="en-US" sz="1300" dirty="0"/>
          </a:p>
        </p:txBody>
      </p:sp>
      <p:sp>
        <p:nvSpPr>
          <p:cNvPr id="14" name="Text 12"/>
          <p:cNvSpPr/>
          <p:nvPr/>
        </p:nvSpPr>
        <p:spPr>
          <a:xfrm>
            <a:off x="685800" y="416052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3.  Optional: CAD file or BOM</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sharper matching and better auto-fill</a:t>
            </a:r>
            <a:endParaRPr lang="en-US" sz="1300" dirty="0"/>
          </a:p>
        </p:txBody>
      </p:sp>
      <p:sp>
        <p:nvSpPr>
          <p:cNvPr id="15" name="Text 13"/>
          <p:cNvSpPr/>
          <p:nvPr/>
        </p:nvSpPr>
        <p:spPr>
          <a:xfrm>
            <a:off x="685800" y="493776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4.  Optional: historic quotes (CSV)</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seeds the memory so it starts smart, not empty</a:t>
            </a:r>
            <a:endParaRPr lang="en-US" sz="1300" dirty="0"/>
          </a:p>
        </p:txBody>
      </p:sp>
      <p:sp>
        <p:nvSpPr>
          <p:cNvPr id="16" name="Shape 14"/>
          <p:cNvSpPr/>
          <p:nvPr/>
        </p:nvSpPr>
        <p:spPr>
          <a:xfrm>
            <a:off x="6263640" y="1874520"/>
            <a:ext cx="5532120" cy="3931920"/>
          </a:xfrm>
          <a:prstGeom prst="roundRect">
            <a:avLst>
              <a:gd name="adj" fmla="val 1163"/>
            </a:avLst>
          </a:prstGeom>
          <a:solidFill>
            <a:srgbClr val="F1F5F9"/>
          </a:solidFill>
          <a:ln/>
        </p:spPr>
      </p:sp>
      <p:sp>
        <p:nvSpPr>
          <p:cNvPr id="17" name="Text 15"/>
          <p:cNvSpPr/>
          <p:nvPr/>
        </p:nvSpPr>
        <p:spPr>
          <a:xfrm>
            <a:off x="6537960" y="2103120"/>
            <a:ext cx="4937760" cy="365760"/>
          </a:xfrm>
          <a:prstGeom prst="rect">
            <a:avLst/>
          </a:prstGeom>
          <a:noFill/>
          <a:ln/>
        </p:spPr>
        <p:txBody>
          <a:bodyPr wrap="square" lIns="0" tIns="0" rIns="0" bIns="0" rtlCol="0" anchor="t"/>
          <a:lstStyle/>
          <a:p>
            <a:pPr indent="0" marL="0">
              <a:buNone/>
            </a:pPr>
            <a:r>
              <a:rPr lang="en-US" sz="1600" b="1" dirty="0">
                <a:solidFill>
                  <a:srgbClr val="059669"/>
                </a:solidFill>
                <a:latin typeface="Calibri" pitchFamily="34" charset="0"/>
                <a:ea typeface="Calibri" pitchFamily="34" charset="-122"/>
                <a:cs typeface="Calibri" pitchFamily="34" charset="-120"/>
              </a:rPr>
              <a:t>The tool does</a:t>
            </a:r>
            <a:endParaRPr lang="en-US" sz="1600" dirty="0"/>
          </a:p>
        </p:txBody>
      </p:sp>
      <p:sp>
        <p:nvSpPr>
          <p:cNvPr id="18" name="Text 16"/>
          <p:cNvSpPr/>
          <p:nvPr/>
        </p:nvSpPr>
        <p:spPr>
          <a:xfrm>
            <a:off x="6537960" y="2606040"/>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Remembers every analysis (no duplicates, org-wide)</a:t>
            </a:r>
            <a:endParaRPr lang="en-US" sz="1250" dirty="0"/>
          </a:p>
        </p:txBody>
      </p:sp>
      <p:sp>
        <p:nvSpPr>
          <p:cNvPr id="19" name="Text 17"/>
          <p:cNvSpPr/>
          <p:nvPr/>
        </p:nvSpPr>
        <p:spPr>
          <a:xfrm>
            <a:off x="6537960" y="3127248"/>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Finds &amp; explains similar past parts instantly</a:t>
            </a:r>
            <a:endParaRPr lang="en-US" sz="1250" dirty="0"/>
          </a:p>
        </p:txBody>
      </p:sp>
      <p:sp>
        <p:nvSpPr>
          <p:cNvPr id="20" name="Text 18"/>
          <p:cNvSpPr/>
          <p:nvPr/>
        </p:nvSpPr>
        <p:spPr>
          <a:xfrm>
            <a:off x="6537960" y="3648456"/>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Suggests benchmarks, materials and real prices</a:t>
            </a:r>
            <a:endParaRPr lang="en-US" sz="1250" dirty="0"/>
          </a:p>
        </p:txBody>
      </p:sp>
      <p:sp>
        <p:nvSpPr>
          <p:cNvPr id="21" name="Text 19"/>
          <p:cNvSpPr/>
          <p:nvPr/>
        </p:nvSpPr>
        <p:spPr>
          <a:xfrm>
            <a:off x="6537960" y="4169664"/>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Measures its own error and self-corrects per category</a:t>
            </a:r>
            <a:endParaRPr lang="en-US" sz="1250" dirty="0"/>
          </a:p>
        </p:txBody>
      </p:sp>
      <p:sp>
        <p:nvSpPr>
          <p:cNvPr id="22" name="Text 20"/>
          <p:cNvSpPr/>
          <p:nvPr/>
        </p:nvSpPr>
        <p:spPr>
          <a:xfrm>
            <a:off x="6537960" y="4690872"/>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Tightens confidence ranges as evidence grows</a:t>
            </a:r>
            <a:endParaRPr lang="en-US" sz="1250" dirty="0"/>
          </a:p>
        </p:txBody>
      </p:sp>
      <p:sp>
        <p:nvSpPr>
          <p:cNvPr id="23" name="Text 21"/>
          <p:cNvSpPr/>
          <p:nvPr/>
        </p:nvSpPr>
        <p:spPr>
          <a:xfrm>
            <a:off x="6537960" y="5212080"/>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Monitors all parts in the background &amp; raises findings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EVIDENCE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Results &amp; accuracy — measured, not promised</a:t>
            </a:r>
            <a:endParaRPr lang="en-US" sz="2700" dirty="0"/>
          </a:p>
        </p:txBody>
      </p:sp>
      <p:sp>
        <p:nvSpPr>
          <p:cNvPr id="10" name="Shape 8"/>
          <p:cNvSpPr/>
          <p:nvPr/>
        </p:nvSpPr>
        <p:spPr>
          <a:xfrm>
            <a:off x="411480" y="1920240"/>
            <a:ext cx="11384280" cy="548640"/>
          </a:xfrm>
          <a:prstGeom prst="roundRect">
            <a:avLst>
              <a:gd name="adj" fmla="val 23333"/>
            </a:avLst>
          </a:prstGeom>
          <a:solidFill>
            <a:srgbClr val="F1F5F9"/>
          </a:solidFill>
          <a:ln/>
        </p:spPr>
      </p:sp>
      <p:sp>
        <p:nvSpPr>
          <p:cNvPr id="11" name="Text 9"/>
          <p:cNvSpPr/>
          <p:nvPr/>
        </p:nvSpPr>
        <p:spPr>
          <a:xfrm>
            <a:off x="731520" y="2020824"/>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Estimating error after learning (machining segment)</a:t>
            </a:r>
            <a:endParaRPr lang="en-US" sz="1300" dirty="0"/>
          </a:p>
        </p:txBody>
      </p:sp>
      <p:sp>
        <p:nvSpPr>
          <p:cNvPr id="12" name="Text 10"/>
          <p:cNvSpPr/>
          <p:nvPr/>
        </p:nvSpPr>
        <p:spPr>
          <a:xfrm>
            <a:off x="7863840" y="2002536"/>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10.9%  →  0.3%</a:t>
            </a:r>
            <a:endParaRPr lang="en-US" sz="1400" dirty="0"/>
          </a:p>
        </p:txBody>
      </p:sp>
      <p:sp>
        <p:nvSpPr>
          <p:cNvPr id="13" name="Shape 11"/>
          <p:cNvSpPr/>
          <p:nvPr/>
        </p:nvSpPr>
        <p:spPr>
          <a:xfrm>
            <a:off x="411480" y="2578608"/>
            <a:ext cx="11384280" cy="548640"/>
          </a:xfrm>
          <a:prstGeom prst="roundRect">
            <a:avLst>
              <a:gd name="adj" fmla="val 23333"/>
            </a:avLst>
          </a:prstGeom>
          <a:solidFill>
            <a:srgbClr val="FFFFFF"/>
          </a:solidFill>
          <a:ln/>
        </p:spPr>
      </p:sp>
      <p:sp>
        <p:nvSpPr>
          <p:cNvPr id="14" name="Text 12"/>
          <p:cNvSpPr/>
          <p:nvPr/>
        </p:nvSpPr>
        <p:spPr>
          <a:xfrm>
            <a:off x="731520" y="2679192"/>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Estimating error after learning (casting · China)</a:t>
            </a:r>
            <a:endParaRPr lang="en-US" sz="1300" dirty="0"/>
          </a:p>
        </p:txBody>
      </p:sp>
      <p:sp>
        <p:nvSpPr>
          <p:cNvPr id="15" name="Text 13"/>
          <p:cNvSpPr/>
          <p:nvPr/>
        </p:nvSpPr>
        <p:spPr>
          <a:xfrm>
            <a:off x="7863840" y="2660904"/>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8.7%  →  0.6%</a:t>
            </a:r>
            <a:endParaRPr lang="en-US" sz="1400" dirty="0"/>
          </a:p>
        </p:txBody>
      </p:sp>
      <p:sp>
        <p:nvSpPr>
          <p:cNvPr id="16" name="Shape 14"/>
          <p:cNvSpPr/>
          <p:nvPr/>
        </p:nvSpPr>
        <p:spPr>
          <a:xfrm>
            <a:off x="411480" y="3236976"/>
            <a:ext cx="11384280" cy="548640"/>
          </a:xfrm>
          <a:prstGeom prst="roundRect">
            <a:avLst>
              <a:gd name="adj" fmla="val 23333"/>
            </a:avLst>
          </a:prstGeom>
          <a:solidFill>
            <a:srgbClr val="F1F5F9"/>
          </a:solidFill>
          <a:ln/>
        </p:spPr>
      </p:sp>
      <p:sp>
        <p:nvSpPr>
          <p:cNvPr id="17" name="Text 15"/>
          <p:cNvSpPr/>
          <p:nvPr/>
        </p:nvSpPr>
        <p:spPr>
          <a:xfrm>
            <a:off x="731520" y="3337560"/>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Confidence band on the same part</a:t>
            </a:r>
            <a:endParaRPr lang="en-US" sz="1300" dirty="0"/>
          </a:p>
        </p:txBody>
      </p:sp>
      <p:sp>
        <p:nvSpPr>
          <p:cNvPr id="18" name="Text 16"/>
          <p:cNvSpPr/>
          <p:nvPr/>
        </p:nvSpPr>
        <p:spPr>
          <a:xfrm>
            <a:off x="7863840" y="3319272"/>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±20.4%  →  ±2.8%</a:t>
            </a:r>
            <a:endParaRPr lang="en-US" sz="1400" dirty="0"/>
          </a:p>
        </p:txBody>
      </p:sp>
      <p:sp>
        <p:nvSpPr>
          <p:cNvPr id="19" name="Shape 17"/>
          <p:cNvSpPr/>
          <p:nvPr/>
        </p:nvSpPr>
        <p:spPr>
          <a:xfrm>
            <a:off x="411480" y="3895344"/>
            <a:ext cx="11384280" cy="548640"/>
          </a:xfrm>
          <a:prstGeom prst="roundRect">
            <a:avLst>
              <a:gd name="adj" fmla="val 23333"/>
            </a:avLst>
          </a:prstGeom>
          <a:solidFill>
            <a:srgbClr val="FFFFFF"/>
          </a:solidFill>
          <a:ln/>
        </p:spPr>
      </p:sp>
      <p:sp>
        <p:nvSpPr>
          <p:cNvPr id="20" name="Text 18"/>
          <p:cNvSpPr/>
          <p:nvPr/>
        </p:nvSpPr>
        <p:spPr>
          <a:xfrm>
            <a:off x="731520" y="3995928"/>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Similar-part recognition on live example</a:t>
            </a:r>
            <a:endParaRPr lang="en-US" sz="1300" dirty="0"/>
          </a:p>
        </p:txBody>
      </p:sp>
      <p:sp>
        <p:nvSpPr>
          <p:cNvPr id="21" name="Text 19"/>
          <p:cNvSpPr/>
          <p:nvPr/>
        </p:nvSpPr>
        <p:spPr>
          <a:xfrm>
            <a:off x="7863840" y="3977640"/>
            <a:ext cx="3749040" cy="384048"/>
          </a:xfrm>
          <a:prstGeom prst="rect">
            <a:avLst/>
          </a:prstGeom>
          <a:noFill/>
          <a:ln/>
        </p:spPr>
        <p:txBody>
          <a:bodyPr wrap="square" lIns="0" tIns="0" rIns="0" bIns="0" rtlCol="0" anchor="t"/>
          <a:lstStyle/>
          <a:p>
            <a:pPr algn="r" indent="0" marL="0">
              <a:buNone/>
            </a:pPr>
            <a:r>
              <a:rPr lang="en-US" sz="1400" b="1" dirty="0">
                <a:solidFill>
                  <a:srgbClr val="0891B2"/>
                </a:solidFill>
                <a:latin typeface="Calibri" pitchFamily="34" charset="0"/>
                <a:ea typeface="Calibri" pitchFamily="34" charset="-122"/>
                <a:cs typeface="Calibri" pitchFamily="34" charset="-120"/>
              </a:rPr>
              <a:t>98–99% match, reasons shown</a:t>
            </a:r>
            <a:endParaRPr lang="en-US" sz="1400" dirty="0"/>
          </a:p>
        </p:txBody>
      </p:sp>
      <p:sp>
        <p:nvSpPr>
          <p:cNvPr id="22" name="Shape 20"/>
          <p:cNvSpPr/>
          <p:nvPr/>
        </p:nvSpPr>
        <p:spPr>
          <a:xfrm>
            <a:off x="411480" y="4553712"/>
            <a:ext cx="11384280" cy="548640"/>
          </a:xfrm>
          <a:prstGeom prst="roundRect">
            <a:avLst>
              <a:gd name="adj" fmla="val 23333"/>
            </a:avLst>
          </a:prstGeom>
          <a:solidFill>
            <a:srgbClr val="F1F5F9"/>
          </a:solidFill>
          <a:ln/>
        </p:spPr>
      </p:sp>
      <p:sp>
        <p:nvSpPr>
          <p:cNvPr id="23" name="Text 21"/>
          <p:cNvSpPr/>
          <p:nvPr/>
        </p:nvSpPr>
        <p:spPr>
          <a:xfrm>
            <a:off x="731520" y="4654296"/>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Autonomous findings in unattended demo</a:t>
            </a:r>
            <a:endParaRPr lang="en-US" sz="1300" dirty="0"/>
          </a:p>
        </p:txBody>
      </p:sp>
      <p:sp>
        <p:nvSpPr>
          <p:cNvPr id="24" name="Text 22"/>
          <p:cNvSpPr/>
          <p:nvPr/>
        </p:nvSpPr>
        <p:spPr>
          <a:xfrm>
            <a:off x="7863840" y="4636008"/>
            <a:ext cx="3749040" cy="384048"/>
          </a:xfrm>
          <a:prstGeom prst="rect">
            <a:avLst/>
          </a:prstGeom>
          <a:noFill/>
          <a:ln/>
        </p:spPr>
        <p:txBody>
          <a:bodyPr wrap="square" lIns="0" tIns="0" rIns="0" bIns="0" rtlCol="0" anchor="t"/>
          <a:lstStyle/>
          <a:p>
            <a:pPr algn="r" indent="0" marL="0">
              <a:buNone/>
            </a:pPr>
            <a:r>
              <a:rPr lang="en-US" sz="1400" b="1" dirty="0">
                <a:solidFill>
                  <a:srgbClr val="DC2626"/>
                </a:solidFill>
                <a:latin typeface="Calibri" pitchFamily="34" charset="0"/>
                <a:ea typeface="Calibri" pitchFamily="34" charset="-122"/>
                <a:cs typeface="Calibri" pitchFamily="34" charset="-120"/>
              </a:rPr>
              <a:t>£512,000 / yr surfaced</a:t>
            </a:r>
            <a:endParaRPr lang="en-US" sz="1400" dirty="0"/>
          </a:p>
        </p:txBody>
      </p:sp>
      <p:sp>
        <p:nvSpPr>
          <p:cNvPr id="25" name="Shape 23"/>
          <p:cNvSpPr/>
          <p:nvPr/>
        </p:nvSpPr>
        <p:spPr>
          <a:xfrm>
            <a:off x="411480" y="5212080"/>
            <a:ext cx="11384280" cy="548640"/>
          </a:xfrm>
          <a:prstGeom prst="roundRect">
            <a:avLst>
              <a:gd name="adj" fmla="val 23333"/>
            </a:avLst>
          </a:prstGeom>
          <a:solidFill>
            <a:srgbClr val="FFFFFF"/>
          </a:solidFill>
          <a:ln/>
        </p:spPr>
      </p:sp>
      <p:sp>
        <p:nvSpPr>
          <p:cNvPr id="26" name="Text 24"/>
          <p:cNvSpPr/>
          <p:nvPr/>
        </p:nvSpPr>
        <p:spPr>
          <a:xfrm>
            <a:off x="731520" y="5312664"/>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Automated tests protecting all of this</a:t>
            </a:r>
            <a:endParaRPr lang="en-US" sz="1300" dirty="0"/>
          </a:p>
        </p:txBody>
      </p:sp>
      <p:sp>
        <p:nvSpPr>
          <p:cNvPr id="27" name="Text 25"/>
          <p:cNvSpPr/>
          <p:nvPr/>
        </p:nvSpPr>
        <p:spPr>
          <a:xfrm>
            <a:off x="7863840" y="5294376"/>
            <a:ext cx="3749040" cy="384048"/>
          </a:xfrm>
          <a:prstGeom prst="rect">
            <a:avLst/>
          </a:prstGeom>
          <a:noFill/>
          <a:ln/>
        </p:spPr>
        <p:txBody>
          <a:bodyPr wrap="square" lIns="0" tIns="0" rIns="0" bIns="0" rtlCol="0" anchor="t"/>
          <a:lstStyle/>
          <a:p>
            <a:pPr algn="r" indent="0" marL="0">
              <a:buNone/>
            </a:pPr>
            <a:r>
              <a:rPr lang="en-US" sz="1400" b="1" dirty="0">
                <a:solidFill>
                  <a:srgbClr val="7C3AED"/>
                </a:solidFill>
                <a:latin typeface="Calibri" pitchFamily="34" charset="0"/>
                <a:ea typeface="Calibri" pitchFamily="34" charset="-122"/>
                <a:cs typeface="Calibri" pitchFamily="34" charset="-120"/>
              </a:rPr>
              <a:t>1,005 passing (86 suites)</a:t>
            </a:r>
            <a:endParaRPr lang="en-US" sz="1400" dirty="0"/>
          </a:p>
        </p:txBody>
      </p:sp>
      <p:sp>
        <p:nvSpPr>
          <p:cNvPr id="28" name="Shape 26"/>
          <p:cNvSpPr/>
          <p:nvPr/>
        </p:nvSpPr>
        <p:spPr>
          <a:xfrm>
            <a:off x="411480" y="5943600"/>
            <a:ext cx="11384280" cy="658368"/>
          </a:xfrm>
          <a:prstGeom prst="roundRect">
            <a:avLst>
              <a:gd name="adj" fmla="val 13889"/>
            </a:avLst>
          </a:prstGeom>
          <a:solidFill>
            <a:srgbClr val="EFF6FF"/>
          </a:solidFill>
          <a:ln/>
        </p:spPr>
      </p:sp>
      <p:sp>
        <p:nvSpPr>
          <p:cNvPr id="29" name="Text 27"/>
          <p:cNvSpPr/>
          <p:nvPr/>
        </p:nvSpPr>
        <p:spPr>
          <a:xfrm>
            <a:off x="685800" y="6053328"/>
            <a:ext cx="10881360" cy="45720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How we verified: </a:t>
            </a:r>
            <a:pPr indent="0" marL="0">
              <a:buNone/>
            </a:pPr>
            <a:r>
              <a:rPr lang="en-US" sz="1200" dirty="0">
                <a:solidFill>
                  <a:srgbClr val="334155"/>
                </a:solidFill>
                <a:latin typeface="Calibri" pitchFamily="34" charset="0"/>
                <a:ea typeface="Calibri" pitchFamily="34" charset="-122"/>
                <a:cs typeface="Calibri" pitchFamily="34" charset="-120"/>
              </a:rPr>
              <a:t>every number above comes from running the real system end-to-end — live server, real database, real API calls — not from slides or simulations.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BENEFITS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this means for the business</a:t>
            </a:r>
            <a:endParaRPr lang="en-US" sz="2700" dirty="0"/>
          </a:p>
        </p:txBody>
      </p:sp>
      <p:sp>
        <p:nvSpPr>
          <p:cNvPr id="10" name="Shape 8"/>
          <p:cNvSpPr/>
          <p:nvPr/>
        </p:nvSpPr>
        <p:spPr>
          <a:xfrm>
            <a:off x="411480" y="1874520"/>
            <a:ext cx="5577840" cy="1828800"/>
          </a:xfrm>
          <a:prstGeom prst="roundRect">
            <a:avLst>
              <a:gd name="adj" fmla="val 3500"/>
            </a:avLst>
          </a:prstGeom>
          <a:solidFill>
            <a:srgbClr val="F1F5F9"/>
          </a:solidFill>
          <a:ln/>
        </p:spPr>
      </p:sp>
      <p:sp>
        <p:nvSpPr>
          <p:cNvPr id="11" name="Shape 9"/>
          <p:cNvSpPr/>
          <p:nvPr/>
        </p:nvSpPr>
        <p:spPr>
          <a:xfrm>
            <a:off x="411480" y="1874520"/>
            <a:ext cx="82296" cy="1828800"/>
          </a:xfrm>
          <a:prstGeom prst="rect">
            <a:avLst/>
          </a:prstGeom>
          <a:solidFill>
            <a:srgbClr val="2563EB"/>
          </a:solidFill>
          <a:ln/>
        </p:spPr>
      </p:sp>
      <p:sp>
        <p:nvSpPr>
          <p:cNvPr id="12" name="Text 10"/>
          <p:cNvSpPr/>
          <p:nvPr/>
        </p:nvSpPr>
        <p:spPr>
          <a:xfrm>
            <a:off x="685800" y="2039112"/>
            <a:ext cx="5029200" cy="457200"/>
          </a:xfrm>
          <a:prstGeom prst="rect">
            <a:avLst/>
          </a:prstGeom>
          <a:noFill/>
          <a:ln/>
        </p:spPr>
        <p:txBody>
          <a:bodyPr wrap="square" lIns="0" tIns="0" rIns="0" bIns="0" rtlCol="0" anchor="t"/>
          <a:lstStyle/>
          <a:p>
            <a:pPr indent="0" marL="0">
              <a:buNone/>
            </a:pPr>
            <a:r>
              <a:rPr lang="en-US" sz="1800" dirty="0">
                <a:solidFill>
                  <a:srgbClr val="2563EB"/>
                </a:solidFill>
                <a:latin typeface="Calibri" pitchFamily="34" charset="0"/>
                <a:ea typeface="Calibri" pitchFamily="34" charset="-122"/>
                <a:cs typeface="Calibri" pitchFamily="34" charset="-120"/>
              </a:rPr>
              <a:t>⚡  </a:t>
            </a:r>
            <a:pPr indent="0" marL="0">
              <a:buNone/>
            </a:pPr>
            <a:r>
              <a:rPr lang="en-US" sz="1600" b="1" dirty="0">
                <a:solidFill>
                  <a:srgbClr val="2563EB"/>
                </a:solidFill>
                <a:latin typeface="Calibri" pitchFamily="34" charset="0"/>
                <a:ea typeface="Calibri" pitchFamily="34" charset="-122"/>
                <a:cs typeface="Calibri" pitchFamily="34" charset="-120"/>
              </a:rPr>
              <a:t>Faster costing</a:t>
            </a:r>
            <a:endParaRPr lang="en-US" sz="1800" dirty="0"/>
          </a:p>
        </p:txBody>
      </p:sp>
      <p:sp>
        <p:nvSpPr>
          <p:cNvPr id="13" name="Text 11"/>
          <p:cNvSpPr/>
          <p:nvPr/>
        </p:nvSpPr>
        <p:spPr>
          <a:xfrm>
            <a:off x="685800" y="25603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New parts start from proven history instead of a blank sheet — matches, materials and benchmarks appear instantly.</a:t>
            </a:r>
            <a:endParaRPr lang="en-US" sz="1200" dirty="0"/>
          </a:p>
        </p:txBody>
      </p:sp>
      <p:sp>
        <p:nvSpPr>
          <p:cNvPr id="14" name="Shape 12"/>
          <p:cNvSpPr/>
          <p:nvPr/>
        </p:nvSpPr>
        <p:spPr>
          <a:xfrm>
            <a:off x="6217920" y="1874520"/>
            <a:ext cx="5577840" cy="1828800"/>
          </a:xfrm>
          <a:prstGeom prst="roundRect">
            <a:avLst>
              <a:gd name="adj" fmla="val 3500"/>
            </a:avLst>
          </a:prstGeom>
          <a:solidFill>
            <a:srgbClr val="F1F5F9"/>
          </a:solidFill>
          <a:ln/>
        </p:spPr>
      </p:sp>
      <p:sp>
        <p:nvSpPr>
          <p:cNvPr id="15" name="Shape 13"/>
          <p:cNvSpPr/>
          <p:nvPr/>
        </p:nvSpPr>
        <p:spPr>
          <a:xfrm>
            <a:off x="6217920" y="1874520"/>
            <a:ext cx="82296" cy="1828800"/>
          </a:xfrm>
          <a:prstGeom prst="rect">
            <a:avLst/>
          </a:prstGeom>
          <a:solidFill>
            <a:srgbClr val="059669"/>
          </a:solidFill>
          <a:ln/>
        </p:spPr>
      </p:sp>
      <p:sp>
        <p:nvSpPr>
          <p:cNvPr id="16" name="Text 14"/>
          <p:cNvSpPr/>
          <p:nvPr/>
        </p:nvSpPr>
        <p:spPr>
          <a:xfrm>
            <a:off x="6492240" y="2039112"/>
            <a:ext cx="5029200" cy="457200"/>
          </a:xfrm>
          <a:prstGeom prst="rect">
            <a:avLst/>
          </a:prstGeom>
          <a:noFill/>
          <a:ln/>
        </p:spPr>
        <p:txBody>
          <a:bodyPr wrap="square" lIns="0" tIns="0" rIns="0" bIns="0" rtlCol="0" anchor="t"/>
          <a:lstStyle/>
          <a:p>
            <a:pPr indent="0" marL="0">
              <a:buNone/>
            </a:pPr>
            <a:r>
              <a:rPr lang="en-US" sz="1800" dirty="0">
                <a:solidFill>
                  <a:srgbClr val="059669"/>
                </a:solidFill>
                <a:latin typeface="Calibri" pitchFamily="34" charset="0"/>
                <a:ea typeface="Calibri" pitchFamily="34" charset="-122"/>
                <a:cs typeface="Calibri" pitchFamily="34" charset="-120"/>
              </a:rPr>
              <a:t>🎯  </a:t>
            </a:r>
            <a:pPr indent="0" marL="0">
              <a:buNone/>
            </a:pPr>
            <a:r>
              <a:rPr lang="en-US" sz="1600" b="1" dirty="0">
                <a:solidFill>
                  <a:srgbClr val="059669"/>
                </a:solidFill>
                <a:latin typeface="Calibri" pitchFamily="34" charset="0"/>
                <a:ea typeface="Calibri" pitchFamily="34" charset="-122"/>
                <a:cs typeface="Calibri" pitchFamily="34" charset="-120"/>
              </a:rPr>
              <a:t>Accuracy that compounds</a:t>
            </a:r>
            <a:endParaRPr lang="en-US" sz="1800" dirty="0"/>
          </a:p>
        </p:txBody>
      </p:sp>
      <p:sp>
        <p:nvSpPr>
          <p:cNvPr id="17" name="Text 15"/>
          <p:cNvSpPr/>
          <p:nvPr/>
        </p:nvSpPr>
        <p:spPr>
          <a:xfrm>
            <a:off x="6492240" y="25603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Every real quote makes the next estimate better. Accuracy is measured and reported — defensible in any negotiation.</a:t>
            </a:r>
            <a:endParaRPr lang="en-US" sz="1200" dirty="0"/>
          </a:p>
        </p:txBody>
      </p:sp>
      <p:sp>
        <p:nvSpPr>
          <p:cNvPr id="18" name="Shape 16"/>
          <p:cNvSpPr/>
          <p:nvPr/>
        </p:nvSpPr>
        <p:spPr>
          <a:xfrm>
            <a:off x="411480" y="3931920"/>
            <a:ext cx="5577840" cy="1828800"/>
          </a:xfrm>
          <a:prstGeom prst="roundRect">
            <a:avLst>
              <a:gd name="adj" fmla="val 3500"/>
            </a:avLst>
          </a:prstGeom>
          <a:solidFill>
            <a:srgbClr val="F1F5F9"/>
          </a:solidFill>
          <a:ln/>
        </p:spPr>
      </p:sp>
      <p:sp>
        <p:nvSpPr>
          <p:cNvPr id="19" name="Shape 17"/>
          <p:cNvSpPr/>
          <p:nvPr/>
        </p:nvSpPr>
        <p:spPr>
          <a:xfrm>
            <a:off x="411480" y="3931920"/>
            <a:ext cx="82296" cy="1828800"/>
          </a:xfrm>
          <a:prstGeom prst="rect">
            <a:avLst/>
          </a:prstGeom>
          <a:solidFill>
            <a:srgbClr val="7C3AED"/>
          </a:solidFill>
          <a:ln/>
        </p:spPr>
      </p:sp>
      <p:sp>
        <p:nvSpPr>
          <p:cNvPr id="20" name="Text 18"/>
          <p:cNvSpPr/>
          <p:nvPr/>
        </p:nvSpPr>
        <p:spPr>
          <a:xfrm>
            <a:off x="685800" y="4096512"/>
            <a:ext cx="5029200" cy="457200"/>
          </a:xfrm>
          <a:prstGeom prst="rect">
            <a:avLst/>
          </a:prstGeom>
          <a:noFill/>
          <a:ln/>
        </p:spPr>
        <p:txBody>
          <a:bodyPr wrap="square" lIns="0" tIns="0" rIns="0" bIns="0" rtlCol="0" anchor="t"/>
          <a:lstStyle/>
          <a:p>
            <a:pPr indent="0" marL="0">
              <a:buNone/>
            </a:pPr>
            <a:r>
              <a:rPr lang="en-US" sz="1800" dirty="0">
                <a:solidFill>
                  <a:srgbClr val="7C3AED"/>
                </a:solidFill>
                <a:latin typeface="Calibri" pitchFamily="34" charset="0"/>
                <a:ea typeface="Calibri" pitchFamily="34" charset="-122"/>
                <a:cs typeface="Calibri" pitchFamily="34" charset="-120"/>
              </a:rPr>
              <a:t>🏦  </a:t>
            </a:r>
            <a:pPr indent="0" marL="0">
              <a:buNone/>
            </a:pPr>
            <a:r>
              <a:rPr lang="en-US" sz="1600" b="1" dirty="0">
                <a:solidFill>
                  <a:srgbClr val="7C3AED"/>
                </a:solidFill>
                <a:latin typeface="Calibri" pitchFamily="34" charset="0"/>
                <a:ea typeface="Calibri" pitchFamily="34" charset="-122"/>
                <a:cs typeface="Calibri" pitchFamily="34" charset="-120"/>
              </a:rPr>
              <a:t>Knowledge stays</a:t>
            </a:r>
            <a:endParaRPr lang="en-US" sz="1800" dirty="0"/>
          </a:p>
        </p:txBody>
      </p:sp>
      <p:sp>
        <p:nvSpPr>
          <p:cNvPr id="21" name="Text 19"/>
          <p:cNvSpPr/>
          <p:nvPr/>
        </p:nvSpPr>
        <p:spPr>
          <a:xfrm>
            <a:off x="685800" y="46177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Senior engineers' judgement is captured as data. It doesn't leave when people do — and juniors inherit it from day one.</a:t>
            </a:r>
            <a:endParaRPr lang="en-US" sz="1200" dirty="0"/>
          </a:p>
        </p:txBody>
      </p:sp>
      <p:sp>
        <p:nvSpPr>
          <p:cNvPr id="22" name="Shape 20"/>
          <p:cNvSpPr/>
          <p:nvPr/>
        </p:nvSpPr>
        <p:spPr>
          <a:xfrm>
            <a:off x="6217920" y="3931920"/>
            <a:ext cx="5577840" cy="1828800"/>
          </a:xfrm>
          <a:prstGeom prst="roundRect">
            <a:avLst>
              <a:gd name="adj" fmla="val 3500"/>
            </a:avLst>
          </a:prstGeom>
          <a:solidFill>
            <a:srgbClr val="F1F5F9"/>
          </a:solidFill>
          <a:ln/>
        </p:spPr>
      </p:sp>
      <p:sp>
        <p:nvSpPr>
          <p:cNvPr id="23" name="Shape 21"/>
          <p:cNvSpPr/>
          <p:nvPr/>
        </p:nvSpPr>
        <p:spPr>
          <a:xfrm>
            <a:off x="6217920" y="3931920"/>
            <a:ext cx="82296" cy="1828800"/>
          </a:xfrm>
          <a:prstGeom prst="rect">
            <a:avLst/>
          </a:prstGeom>
          <a:solidFill>
            <a:srgbClr val="DC2626"/>
          </a:solidFill>
          <a:ln/>
        </p:spPr>
      </p:sp>
      <p:sp>
        <p:nvSpPr>
          <p:cNvPr id="24" name="Text 22"/>
          <p:cNvSpPr/>
          <p:nvPr/>
        </p:nvSpPr>
        <p:spPr>
          <a:xfrm>
            <a:off x="6492240" y="4096512"/>
            <a:ext cx="5029200" cy="457200"/>
          </a:xfrm>
          <a:prstGeom prst="rect">
            <a:avLst/>
          </a:prstGeom>
          <a:noFill/>
          <a:ln/>
        </p:spPr>
        <p:txBody>
          <a:bodyPr wrap="square" lIns="0" tIns="0" rIns="0" bIns="0" rtlCol="0" anchor="t"/>
          <a:lstStyle/>
          <a:p>
            <a:pPr indent="0" marL="0">
              <a:buNone/>
            </a:pPr>
            <a:r>
              <a:rPr lang="en-US" sz="1800" dirty="0">
                <a:solidFill>
                  <a:srgbClr val="DC2626"/>
                </a:solidFill>
                <a:latin typeface="Calibri" pitchFamily="34" charset="0"/>
                <a:ea typeface="Calibri" pitchFamily="34" charset="-122"/>
                <a:cs typeface="Calibri" pitchFamily="34" charset="-120"/>
              </a:rPr>
              <a:t>💰  </a:t>
            </a:r>
            <a:pPr indent="0" marL="0">
              <a:buNone/>
            </a:pPr>
            <a:r>
              <a:rPr lang="en-US" sz="1600" b="1" dirty="0">
                <a:solidFill>
                  <a:srgbClr val="DC2626"/>
                </a:solidFill>
                <a:latin typeface="Calibri" pitchFamily="34" charset="0"/>
                <a:ea typeface="Calibri" pitchFamily="34" charset="-122"/>
                <a:cs typeface="Calibri" pitchFamily="34" charset="-120"/>
              </a:rPr>
              <a:t>Money found proactively</a:t>
            </a:r>
            <a:endParaRPr lang="en-US" sz="1800" dirty="0"/>
          </a:p>
        </p:txBody>
      </p:sp>
      <p:sp>
        <p:nvSpPr>
          <p:cNvPr id="25" name="Text 23"/>
          <p:cNvSpPr/>
          <p:nvPr/>
        </p:nvSpPr>
        <p:spPr>
          <a:xfrm>
            <a:off x="6492240" y="46177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The agent watches all parts continuously and flags overpayment and pricing risk by itself, quantified in £/yr.</a:t>
            </a:r>
            <a:endParaRPr lang="en-US" sz="1200" dirty="0"/>
          </a:p>
        </p:txBody>
      </p:sp>
      <p:sp>
        <p:nvSpPr>
          <p:cNvPr id="26" name="Text 24"/>
          <p:cNvSpPr/>
          <p:nvPr/>
        </p:nvSpPr>
        <p:spPr>
          <a:xfrm>
            <a:off x="411480" y="6035040"/>
            <a:ext cx="11338560" cy="54864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And it is ours: </a:t>
            </a:r>
            <a:pPr indent="0" marL="0">
              <a:buNone/>
            </a:pPr>
            <a:r>
              <a:rPr lang="en-US" sz="1300" dirty="0">
                <a:solidFill>
                  <a:srgbClr val="334155"/>
                </a:solidFill>
                <a:latin typeface="Calibri" pitchFamily="34" charset="0"/>
                <a:ea typeface="Calibri" pitchFamily="34" charset="-122"/>
                <a:cs typeface="Calibri" pitchFamily="34" charset="-120"/>
              </a:rPr>
              <a:t>the knowledge base runs on our infrastructure and grows into a proprietary asset competitors cannot buy.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Confidence you can defend — not just assert</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Every should-cost now carries two ranges — the physics estimate, and an </a:t>
            </a:r>
            <a:pPr indent="0" marL="0">
              <a:buNone/>
            </a:pPr>
            <a:r>
              <a:rPr lang="en-US" sz="1350" b="1" dirty="0">
                <a:solidFill>
                  <a:srgbClr val="0F172A"/>
                </a:solidFill>
                <a:latin typeface="Calibri" pitchFamily="34" charset="0"/>
                <a:ea typeface="Calibri" pitchFamily="34" charset="-122"/>
                <a:cs typeface="Calibri" pitchFamily="34" charset="-120"/>
              </a:rPr>
              <a:t>empirical band proven against your own logged quotes.</a:t>
            </a:r>
            <a:endParaRPr lang="en-US" sz="1350" dirty="0"/>
          </a:p>
        </p:txBody>
      </p:sp>
      <p:sp>
        <p:nvSpPr>
          <p:cNvPr id="11" name="Shape 9"/>
          <p:cNvSpPr/>
          <p:nvPr/>
        </p:nvSpPr>
        <p:spPr>
          <a:xfrm>
            <a:off x="411480" y="2286000"/>
            <a:ext cx="5532120" cy="2286000"/>
          </a:xfrm>
          <a:prstGeom prst="roundRect">
            <a:avLst>
              <a:gd name="adj" fmla="val 2400"/>
            </a:avLst>
          </a:prstGeom>
          <a:solidFill>
            <a:srgbClr val="F1F5F9"/>
          </a:solidFill>
          <a:ln/>
        </p:spPr>
      </p:sp>
      <p:sp>
        <p:nvSpPr>
          <p:cNvPr id="12" name="Shape 10"/>
          <p:cNvSpPr/>
          <p:nvPr/>
        </p:nvSpPr>
        <p:spPr>
          <a:xfrm>
            <a:off x="411480" y="2286000"/>
            <a:ext cx="5532120" cy="82296"/>
          </a:xfrm>
          <a:prstGeom prst="rect">
            <a:avLst/>
          </a:prstGeom>
          <a:solidFill>
            <a:srgbClr val="2563EB"/>
          </a:solidFill>
          <a:ln/>
        </p:spPr>
      </p:sp>
      <p:sp>
        <p:nvSpPr>
          <p:cNvPr id="13" name="Text 11"/>
          <p:cNvSpPr/>
          <p:nvPr/>
        </p:nvSpPr>
        <p:spPr>
          <a:xfrm>
            <a:off x="685800" y="2487168"/>
            <a:ext cx="5029200" cy="365760"/>
          </a:xfrm>
          <a:prstGeom prst="rect">
            <a:avLst/>
          </a:prstGeom>
          <a:noFill/>
          <a:ln/>
        </p:spPr>
        <p:txBody>
          <a:bodyPr wrap="square" lIns="0" tIns="0" rIns="0" bIns="0" rtlCol="0" anchor="t"/>
          <a:lstStyle/>
          <a:p>
            <a:pPr indent="0" marL="0">
              <a:buNone/>
            </a:pPr>
            <a:r>
              <a:rPr lang="en-US" sz="1400" b="1" dirty="0">
                <a:solidFill>
                  <a:srgbClr val="2563EB"/>
                </a:solidFill>
                <a:latin typeface="Calibri" pitchFamily="34" charset="0"/>
                <a:ea typeface="Calibri" pitchFamily="34" charset="-122"/>
                <a:cs typeface="Calibri" pitchFamily="34" charset="-120"/>
              </a:rPr>
              <a:t>Physics prior (Monte-Carlo)</a:t>
            </a:r>
            <a:endParaRPr lang="en-US" sz="1400" dirty="0"/>
          </a:p>
        </p:txBody>
      </p:sp>
      <p:sp>
        <p:nvSpPr>
          <p:cNvPr id="14" name="Text 12"/>
          <p:cNvSpPr/>
          <p:nvPr/>
        </p:nvSpPr>
        <p:spPr>
          <a:xfrm>
            <a:off x="685800" y="2926080"/>
            <a:ext cx="5029200" cy="155448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How well the inputs are known — before you have any real quotes.</a:t>
            </a:r>
            <a:endParaRPr lang="en-US" sz="1200" dirty="0"/>
          </a:p>
          <a:p>
            <a:pPr indent="0" marL="0">
              <a:lnSpc>
                <a:spcPct val="115000"/>
              </a:lnSpc>
              <a:spcAft>
                <a:spcPts val="800"/>
              </a:spcAft>
              <a:buNone/>
            </a:pPr>
            <a:r>
              <a:rPr lang="en-US" sz="1400" b="1" dirty="0">
                <a:solidFill>
                  <a:srgbClr val="0F172A"/>
                </a:solidFill>
                <a:latin typeface="Calibri" pitchFamily="34" charset="0"/>
                <a:ea typeface="Calibri" pitchFamily="34" charset="-122"/>
                <a:cs typeface="Calibri" pitchFamily="34" charset="-120"/>
              </a:rPr>
              <a:t>Example:  £86.34  ± 3.4%</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Always available, every part, every commodity.</a:t>
            </a:r>
            <a:endParaRPr lang="en-US" sz="1200" dirty="0"/>
          </a:p>
        </p:txBody>
      </p:sp>
      <p:sp>
        <p:nvSpPr>
          <p:cNvPr id="15" name="Shape 13"/>
          <p:cNvSpPr/>
          <p:nvPr/>
        </p:nvSpPr>
        <p:spPr>
          <a:xfrm>
            <a:off x="6263640" y="2286000"/>
            <a:ext cx="5532120" cy="2286000"/>
          </a:xfrm>
          <a:prstGeom prst="roundRect">
            <a:avLst>
              <a:gd name="adj" fmla="val 2400"/>
            </a:avLst>
          </a:prstGeom>
          <a:solidFill>
            <a:srgbClr val="EFF6FF"/>
          </a:solidFill>
          <a:ln/>
        </p:spPr>
      </p:sp>
      <p:sp>
        <p:nvSpPr>
          <p:cNvPr id="16" name="Shape 14"/>
          <p:cNvSpPr/>
          <p:nvPr/>
        </p:nvSpPr>
        <p:spPr>
          <a:xfrm>
            <a:off x="6263640" y="2286000"/>
            <a:ext cx="5532120" cy="82296"/>
          </a:xfrm>
          <a:prstGeom prst="rect">
            <a:avLst/>
          </a:prstGeom>
          <a:solidFill>
            <a:srgbClr val="059669"/>
          </a:solidFill>
          <a:ln/>
        </p:spPr>
      </p:sp>
      <p:sp>
        <p:nvSpPr>
          <p:cNvPr id="17" name="Text 15"/>
          <p:cNvSpPr/>
          <p:nvPr/>
        </p:nvSpPr>
        <p:spPr>
          <a:xfrm>
            <a:off x="6537960" y="2487168"/>
            <a:ext cx="5029200" cy="365760"/>
          </a:xfrm>
          <a:prstGeom prst="rect">
            <a:avLst/>
          </a:prstGeom>
          <a:noFill/>
          <a:ln/>
        </p:spPr>
        <p:txBody>
          <a:bodyPr wrap="square" lIns="0" tIns="0" rIns="0" bIns="0" rtlCol="0" anchor="t"/>
          <a:lstStyle/>
          <a:p>
            <a:pPr indent="0" marL="0">
              <a:buNone/>
            </a:pPr>
            <a:r>
              <a:rPr lang="en-US" sz="1400" b="1" dirty="0">
                <a:solidFill>
                  <a:srgbClr val="059669"/>
                </a:solidFill>
                <a:latin typeface="Calibri" pitchFamily="34" charset="0"/>
                <a:ea typeface="Calibri" pitchFamily="34" charset="-122"/>
                <a:cs typeface="Calibri" pitchFamily="34" charset="-120"/>
              </a:rPr>
              <a:t>Empirical band (conformal)</a:t>
            </a:r>
            <a:endParaRPr lang="en-US" sz="1400" dirty="0"/>
          </a:p>
        </p:txBody>
      </p:sp>
      <p:sp>
        <p:nvSpPr>
          <p:cNvPr id="18" name="Text 16"/>
          <p:cNvSpPr/>
          <p:nvPr/>
        </p:nvSpPr>
        <p:spPr>
          <a:xfrm>
            <a:off x="6537960" y="2926080"/>
            <a:ext cx="5029200" cy="155448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Proven against the quotes YOU logged — with a coverage guarantee.</a:t>
            </a:r>
            <a:endParaRPr lang="en-US" sz="1200" dirty="0"/>
          </a:p>
          <a:p>
            <a:pPr indent="0" marL="0">
              <a:lnSpc>
                <a:spcPct val="115000"/>
              </a:lnSpc>
              <a:spcAft>
                <a:spcPts val="800"/>
              </a:spcAft>
              <a:buNone/>
            </a:pPr>
            <a:r>
              <a:rPr lang="en-US" sz="1300" b="1" dirty="0">
                <a:solidFill>
                  <a:srgbClr val="0F172A"/>
                </a:solidFill>
                <a:latin typeface="Calibri" pitchFamily="34" charset="0"/>
                <a:ea typeface="Calibri" pitchFamily="34" charset="-122"/>
                <a:cs typeface="Calibri" pitchFamily="34" charset="-120"/>
              </a:rPr>
              <a:t>Example:  90% of your quotes land within  ± 6.5%  →  £81.54 – £92.88</a:t>
            </a:r>
            <a:endParaRPr lang="en-US" sz="1200" dirty="0"/>
          </a:p>
          <a:p>
            <a:pPr indent="0" marL="0">
              <a:lnSpc>
                <a:spcPct val="115000"/>
              </a:lnSpc>
              <a:spcAft>
                <a:spcPts val="800"/>
              </a:spcAft>
              <a:buNone/>
            </a:pPr>
            <a:r>
              <a:rPr lang="en-US" sz="1100" i="1" dirty="0">
                <a:solidFill>
                  <a:srgbClr val="059669"/>
                </a:solidFill>
                <a:latin typeface="Calibri" pitchFamily="34" charset="0"/>
                <a:ea typeface="Calibri" pitchFamily="34" charset="-122"/>
                <a:cs typeface="Calibri" pitchFamily="34" charset="-120"/>
              </a:rPr>
              <a:t>Tightens automatically as more quotes are logged.</a:t>
            </a:r>
            <a:endParaRPr lang="en-US" sz="1200" dirty="0"/>
          </a:p>
        </p:txBody>
      </p:sp>
      <p:sp>
        <p:nvSpPr>
          <p:cNvPr id="19" name="Shape 17"/>
          <p:cNvSpPr/>
          <p:nvPr/>
        </p:nvSpPr>
        <p:spPr>
          <a:xfrm>
            <a:off x="411480" y="4800600"/>
            <a:ext cx="11384280" cy="1371600"/>
          </a:xfrm>
          <a:prstGeom prst="roundRect">
            <a:avLst>
              <a:gd name="adj" fmla="val 4000"/>
            </a:avLst>
          </a:prstGeom>
          <a:solidFill>
            <a:srgbClr val="EFF6FF"/>
          </a:solidFill>
          <a:ln/>
        </p:spPr>
      </p:sp>
      <p:sp>
        <p:nvSpPr>
          <p:cNvPr id="20" name="Text 18"/>
          <p:cNvSpPr/>
          <p:nvPr/>
        </p:nvSpPr>
        <p:spPr>
          <a:xfrm>
            <a:off x="685800" y="4983480"/>
            <a:ext cx="10881360" cy="1097280"/>
          </a:xfrm>
          <a:prstGeom prst="rect">
            <a:avLst/>
          </a:prstGeom>
          <a:noFill/>
          <a:ln/>
        </p:spPr>
        <p:txBody>
          <a:bodyPr wrap="square" lIns="0" tIns="0" rIns="0" bIns="0" rtlCol="0" anchor="t"/>
          <a:lstStyle/>
          <a:p>
            <a:pPr indent="0" marL="0">
              <a:lnSpc>
                <a:spcPct val="120000"/>
              </a:lnSpc>
              <a:buNone/>
            </a:pPr>
            <a:r>
              <a:rPr lang="en-US" sz="1300" b="1" dirty="0">
                <a:solidFill>
                  <a:srgbClr val="2563EB"/>
                </a:solidFill>
                <a:latin typeface="Calibri" pitchFamily="34" charset="0"/>
                <a:ea typeface="Calibri" pitchFamily="34" charset="-122"/>
                <a:cs typeface="Calibri" pitchFamily="34" charset="-120"/>
              </a:rPr>
              <a:t>Why it helps: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a buyer can’t defend "trust me, ±5%". They CAN defend "90% of our real quotes for this family landed within ±6.5%." The band edge is an observed error — evidence, not an assertion. It is the honest uncertainty no competitor states this way.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agent learns what actually earns money</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The autonomous agent no longer just finds gaps — it learns which findings </a:t>
            </a:r>
            <a:pPr indent="0" marL="0">
              <a:buNone/>
            </a:pPr>
            <a:r>
              <a:rPr lang="en-US" sz="1350" b="1" dirty="0">
                <a:solidFill>
                  <a:srgbClr val="0F172A"/>
                </a:solidFill>
                <a:latin typeface="Calibri" pitchFamily="34" charset="0"/>
                <a:ea typeface="Calibri" pitchFamily="34" charset="-122"/>
                <a:cs typeface="Calibri" pitchFamily="34" charset="-120"/>
              </a:rPr>
              <a:t>actually convert into savings, and re-ranks by the money it can really recover.</a:t>
            </a:r>
            <a:endParaRPr lang="en-US" sz="1350" dirty="0"/>
          </a:p>
        </p:txBody>
      </p:sp>
      <p:sp>
        <p:nvSpPr>
          <p:cNvPr id="11" name="Shape 9"/>
          <p:cNvSpPr/>
          <p:nvPr/>
        </p:nvSpPr>
        <p:spPr>
          <a:xfrm>
            <a:off x="411480" y="2286000"/>
            <a:ext cx="11384280" cy="457200"/>
          </a:xfrm>
          <a:prstGeom prst="rect">
            <a:avLst/>
          </a:prstGeom>
          <a:solidFill>
            <a:srgbClr val="0F172A"/>
          </a:solidFill>
          <a:ln/>
        </p:spPr>
      </p:sp>
      <p:sp>
        <p:nvSpPr>
          <p:cNvPr id="12" name="Text 10"/>
          <p:cNvSpPr/>
          <p:nvPr/>
        </p:nvSpPr>
        <p:spPr>
          <a:xfrm>
            <a:off x="54864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Finding</a:t>
            </a:r>
            <a:endParaRPr lang="en-US" sz="1150" dirty="0"/>
          </a:p>
        </p:txBody>
      </p:sp>
      <p:sp>
        <p:nvSpPr>
          <p:cNvPr id="13" name="Text 11"/>
          <p:cNvSpPr/>
          <p:nvPr/>
        </p:nvSpPr>
        <p:spPr>
          <a:xfrm>
            <a:off x="402336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Raw gap (impact)</a:t>
            </a:r>
            <a:endParaRPr lang="en-US" sz="1150" dirty="0"/>
          </a:p>
        </p:txBody>
      </p:sp>
      <p:sp>
        <p:nvSpPr>
          <p:cNvPr id="14" name="Text 12"/>
          <p:cNvSpPr/>
          <p:nvPr/>
        </p:nvSpPr>
        <p:spPr>
          <a:xfrm>
            <a:off x="676656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Learned conversion</a:t>
            </a:r>
            <a:endParaRPr lang="en-US" sz="1150" dirty="0"/>
          </a:p>
        </p:txBody>
      </p:sp>
      <p:sp>
        <p:nvSpPr>
          <p:cNvPr id="15" name="Text 13"/>
          <p:cNvSpPr/>
          <p:nvPr/>
        </p:nvSpPr>
        <p:spPr>
          <a:xfrm>
            <a:off x="932688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Expected realizable</a:t>
            </a:r>
            <a:endParaRPr lang="en-US" sz="1150" dirty="0"/>
          </a:p>
        </p:txBody>
      </p:sp>
      <p:sp>
        <p:nvSpPr>
          <p:cNvPr id="16" name="Shape 14"/>
          <p:cNvSpPr/>
          <p:nvPr/>
        </p:nvSpPr>
        <p:spPr>
          <a:xfrm>
            <a:off x="411480" y="2743200"/>
            <a:ext cx="11384280" cy="548640"/>
          </a:xfrm>
          <a:prstGeom prst="rect">
            <a:avLst/>
          </a:prstGeom>
          <a:solidFill>
            <a:srgbClr val="F1F5F9"/>
          </a:solidFill>
          <a:ln/>
        </p:spPr>
      </p:sp>
      <p:sp>
        <p:nvSpPr>
          <p:cNvPr id="17" name="Text 15"/>
          <p:cNvSpPr/>
          <p:nvPr/>
        </p:nvSpPr>
        <p:spPr>
          <a:xfrm>
            <a:off x="548640" y="2871216"/>
            <a:ext cx="3291840" cy="32004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Cast Housing</a:t>
            </a:r>
            <a:endParaRPr lang="en-US" sz="1250" dirty="0"/>
          </a:p>
        </p:txBody>
      </p:sp>
      <p:sp>
        <p:nvSpPr>
          <p:cNvPr id="18" name="Text 16"/>
          <p:cNvSpPr/>
          <p:nvPr/>
        </p:nvSpPr>
        <p:spPr>
          <a:xfrm>
            <a:off x="4023360" y="2871216"/>
            <a:ext cx="274320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£200k/yr</a:t>
            </a:r>
            <a:endParaRPr lang="en-US" sz="1200" dirty="0"/>
          </a:p>
        </p:txBody>
      </p:sp>
      <p:sp>
        <p:nvSpPr>
          <p:cNvPr id="19" name="Text 17"/>
          <p:cNvSpPr/>
          <p:nvPr/>
        </p:nvSpPr>
        <p:spPr>
          <a:xfrm>
            <a:off x="6766560" y="2871216"/>
            <a:ext cx="256032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20% — rarely closes</a:t>
            </a:r>
            <a:endParaRPr lang="en-US" sz="1200" dirty="0"/>
          </a:p>
        </p:txBody>
      </p:sp>
      <p:sp>
        <p:nvSpPr>
          <p:cNvPr id="20" name="Text 18"/>
          <p:cNvSpPr/>
          <p:nvPr/>
        </p:nvSpPr>
        <p:spPr>
          <a:xfrm>
            <a:off x="9326880" y="2871216"/>
            <a:ext cx="2377440" cy="320040"/>
          </a:xfrm>
          <a:prstGeom prst="rect">
            <a:avLst/>
          </a:prstGeom>
          <a:noFill/>
          <a:ln/>
        </p:spPr>
        <p:txBody>
          <a:bodyPr wrap="square" lIns="0" tIns="0" rIns="0" bIns="0" rtlCol="0" anchor="t"/>
          <a:lstStyle/>
          <a:p>
            <a:pPr indent="0" marL="0">
              <a:buNone/>
            </a:pPr>
            <a:r>
              <a:rPr lang="en-US" sz="1300" b="1" dirty="0">
                <a:solidFill>
                  <a:srgbClr val="DC2626"/>
                </a:solidFill>
                <a:latin typeface="Calibri" pitchFamily="34" charset="0"/>
                <a:ea typeface="Calibri" pitchFamily="34" charset="-122"/>
                <a:cs typeface="Calibri" pitchFamily="34" charset="-120"/>
              </a:rPr>
              <a:t>£40k</a:t>
            </a:r>
            <a:endParaRPr lang="en-US" sz="1300" dirty="0"/>
          </a:p>
        </p:txBody>
      </p:sp>
      <p:sp>
        <p:nvSpPr>
          <p:cNvPr id="21" name="Shape 19"/>
          <p:cNvSpPr/>
          <p:nvPr/>
        </p:nvSpPr>
        <p:spPr>
          <a:xfrm>
            <a:off x="411480" y="3310128"/>
            <a:ext cx="11384280" cy="548640"/>
          </a:xfrm>
          <a:prstGeom prst="rect">
            <a:avLst/>
          </a:prstGeom>
          <a:solidFill>
            <a:srgbClr val="FFFFFF"/>
          </a:solidFill>
          <a:ln/>
        </p:spPr>
      </p:sp>
      <p:sp>
        <p:nvSpPr>
          <p:cNvPr id="22" name="Text 20"/>
          <p:cNvSpPr/>
          <p:nvPr/>
        </p:nvSpPr>
        <p:spPr>
          <a:xfrm>
            <a:off x="548640" y="3438144"/>
            <a:ext cx="3291840" cy="32004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Machined Knuckle</a:t>
            </a:r>
            <a:endParaRPr lang="en-US" sz="1250" dirty="0"/>
          </a:p>
        </p:txBody>
      </p:sp>
      <p:sp>
        <p:nvSpPr>
          <p:cNvPr id="23" name="Text 21"/>
          <p:cNvSpPr/>
          <p:nvPr/>
        </p:nvSpPr>
        <p:spPr>
          <a:xfrm>
            <a:off x="4023360" y="3438144"/>
            <a:ext cx="274320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£100k/yr</a:t>
            </a:r>
            <a:endParaRPr lang="en-US" sz="1200" dirty="0"/>
          </a:p>
        </p:txBody>
      </p:sp>
      <p:sp>
        <p:nvSpPr>
          <p:cNvPr id="24" name="Text 22"/>
          <p:cNvSpPr/>
          <p:nvPr/>
        </p:nvSpPr>
        <p:spPr>
          <a:xfrm>
            <a:off x="6766560" y="3438144"/>
            <a:ext cx="256032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80% — usually closes</a:t>
            </a:r>
            <a:endParaRPr lang="en-US" sz="1200" dirty="0"/>
          </a:p>
        </p:txBody>
      </p:sp>
      <p:sp>
        <p:nvSpPr>
          <p:cNvPr id="25" name="Text 23"/>
          <p:cNvSpPr/>
          <p:nvPr/>
        </p:nvSpPr>
        <p:spPr>
          <a:xfrm>
            <a:off x="9326880" y="3438144"/>
            <a:ext cx="2377440" cy="320040"/>
          </a:xfrm>
          <a:prstGeom prst="rect">
            <a:avLst/>
          </a:prstGeom>
          <a:noFill/>
          <a:ln/>
        </p:spPr>
        <p:txBody>
          <a:bodyPr wrap="square" lIns="0" tIns="0" rIns="0" bIns="0" rtlCol="0" anchor="t"/>
          <a:lstStyle/>
          <a:p>
            <a:pPr indent="0" marL="0">
              <a:buNone/>
            </a:pPr>
            <a:r>
              <a:rPr lang="en-US" sz="1300" b="1" dirty="0">
                <a:solidFill>
                  <a:srgbClr val="059669"/>
                </a:solidFill>
                <a:latin typeface="Calibri" pitchFamily="34" charset="0"/>
                <a:ea typeface="Calibri" pitchFamily="34" charset="-122"/>
                <a:cs typeface="Calibri" pitchFamily="34" charset="-120"/>
              </a:rPr>
              <a:t>£80k</a:t>
            </a:r>
            <a:endParaRPr lang="en-US" sz="1300" dirty="0"/>
          </a:p>
        </p:txBody>
      </p:sp>
      <p:sp>
        <p:nvSpPr>
          <p:cNvPr id="26" name="Shape 24"/>
          <p:cNvSpPr/>
          <p:nvPr/>
        </p:nvSpPr>
        <p:spPr>
          <a:xfrm>
            <a:off x="411480" y="4114800"/>
            <a:ext cx="11384280" cy="868680"/>
          </a:xfrm>
          <a:prstGeom prst="roundRect">
            <a:avLst>
              <a:gd name="adj" fmla="val 8421"/>
            </a:avLst>
          </a:prstGeom>
          <a:solidFill>
            <a:srgbClr val="EFF6FF"/>
          </a:solidFill>
          <a:ln/>
        </p:spPr>
      </p:sp>
      <p:sp>
        <p:nvSpPr>
          <p:cNvPr id="27" name="Text 25"/>
          <p:cNvSpPr/>
          <p:nvPr/>
        </p:nvSpPr>
        <p:spPr>
          <a:xfrm>
            <a:off x="685800" y="4261104"/>
            <a:ext cx="10881360" cy="640080"/>
          </a:xfrm>
          <a:prstGeom prst="rect">
            <a:avLst/>
          </a:prstGeom>
          <a:noFill/>
          <a:ln/>
        </p:spPr>
        <p:txBody>
          <a:bodyPr wrap="square" lIns="0" tIns="0" rIns="0" bIns="0" rtlCol="0" anchor="t"/>
          <a:lstStyle/>
          <a:p>
            <a:pPr indent="0" marL="0">
              <a:lnSpc>
                <a:spcPct val="120000"/>
              </a:lnSpc>
              <a:buNone/>
            </a:pPr>
            <a:r>
              <a:rPr lang="en-US" sz="1250" b="1" dirty="0">
                <a:solidFill>
                  <a:srgbClr val="2563EB"/>
                </a:solidFill>
                <a:latin typeface="Calibri" pitchFamily="34" charset="0"/>
                <a:ea typeface="Calibri" pitchFamily="34" charset="-122"/>
                <a:cs typeface="Calibri" pitchFamily="34" charset="-120"/>
              </a:rPr>
              <a:t>The result: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the machining finding — HALF the raw gap — now ranks ABOVE the casting one, because the agent learned casting renegotiations don’t close. It stops shouting about theoretical money and surfaces the money you can get.</a:t>
            </a:r>
            <a:endParaRPr lang="en-US" sz="1250" dirty="0"/>
          </a:p>
        </p:txBody>
      </p:sp>
      <p:sp>
        <p:nvSpPr>
          <p:cNvPr id="28" name="Text 26"/>
          <p:cNvSpPr/>
          <p:nvPr/>
        </p:nvSpPr>
        <p:spPr>
          <a:xfrm>
            <a:off x="411480" y="5212080"/>
            <a:ext cx="11338560" cy="914400"/>
          </a:xfrm>
          <a:prstGeom prst="rect">
            <a:avLst/>
          </a:prstGeom>
          <a:noFill/>
          <a:ln/>
        </p:spPr>
        <p:txBody>
          <a:bodyPr wrap="square" lIns="0" tIns="0" rIns="0" bIns="0" rtlCol="0" anchor="t"/>
          <a:lstStyle/>
          <a:p>
            <a:pPr indent="0" marL="0">
              <a:lnSpc>
                <a:spcPct val="120000"/>
              </a:lnSpc>
              <a:buNone/>
            </a:pPr>
            <a:r>
              <a:rPr lang="en-US" sz="1300" b="1" dirty="0">
                <a:solidFill>
                  <a:srgbClr val="059669"/>
                </a:solidFill>
                <a:latin typeface="Calibri" pitchFamily="34" charset="0"/>
                <a:ea typeface="Calibri" pitchFamily="34" charset="-122"/>
                <a:cs typeface="Calibri" pitchFamily="34" charset="-120"/>
              </a:rPr>
              <a:t>Why it helps: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sourcing time is scarce. The agent spends it where the return is real — and tracks the £ actually saved, so you can prove the tool paid for itself. One click ("Actioned £") teaches it after every negotiation.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negotiation coach — it hands you the argument</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The tool now knows </a:t>
            </a:r>
            <a:pPr indent="0" marL="0">
              <a:buNone/>
            </a:pPr>
            <a:r>
              <a:rPr lang="en-US" sz="1350" b="1" i="1" dirty="0">
                <a:solidFill>
                  <a:srgbClr val="0F172A"/>
                </a:solidFill>
                <a:latin typeface="Calibri" pitchFamily="34" charset="0"/>
                <a:ea typeface="Calibri" pitchFamily="34" charset="-122"/>
                <a:cs typeface="Calibri" pitchFamily="34" charset="-120"/>
              </a:rPr>
              <a:t>why</a:t>
            </a:r>
            <a:pPr indent="0" marL="0">
              <a:buNone/>
            </a:pPr>
            <a:r>
              <a:rPr lang="en-US" sz="1350" dirty="0">
                <a:solidFill>
                  <a:srgbClr val="334155"/>
                </a:solidFill>
                <a:latin typeface="Calibri" pitchFamily="34" charset="0"/>
                <a:ea typeface="Calibri" pitchFamily="34" charset="-122"/>
                <a:cs typeface="Calibri" pitchFamily="34" charset="-120"/>
              </a:rPr>
              <a:t> a part costs what it does — and turns that into the sentence that wins the negotiation.</a:t>
            </a:r>
            <a:endParaRPr lang="en-US" sz="1350" dirty="0"/>
          </a:p>
        </p:txBody>
      </p:sp>
      <p:sp>
        <p:nvSpPr>
          <p:cNvPr id="11" name="Shape 9"/>
          <p:cNvSpPr/>
          <p:nvPr/>
        </p:nvSpPr>
        <p:spPr>
          <a:xfrm>
            <a:off x="411480" y="2286000"/>
            <a:ext cx="11384280" cy="1828800"/>
          </a:xfrm>
          <a:prstGeom prst="roundRect">
            <a:avLst>
              <a:gd name="adj" fmla="val 2500"/>
            </a:avLst>
          </a:prstGeom>
          <a:solidFill>
            <a:srgbClr val="EFF6FF"/>
          </a:solidFill>
          <a:ln/>
        </p:spPr>
      </p:sp>
      <p:sp>
        <p:nvSpPr>
          <p:cNvPr id="12" name="Shape 10"/>
          <p:cNvSpPr/>
          <p:nvPr/>
        </p:nvSpPr>
        <p:spPr>
          <a:xfrm>
            <a:off x="411480" y="2286000"/>
            <a:ext cx="82296" cy="1828800"/>
          </a:xfrm>
          <a:prstGeom prst="rect">
            <a:avLst/>
          </a:prstGeom>
          <a:solidFill>
            <a:srgbClr val="2563EB"/>
          </a:solidFill>
          <a:ln/>
        </p:spPr>
      </p:sp>
      <p:sp>
        <p:nvSpPr>
          <p:cNvPr id="13" name="Text 11"/>
          <p:cNvSpPr/>
          <p:nvPr/>
        </p:nvSpPr>
        <p:spPr>
          <a:xfrm>
            <a:off x="731520" y="2487168"/>
            <a:ext cx="10789920" cy="320040"/>
          </a:xfrm>
          <a:prstGeom prst="rect">
            <a:avLst/>
          </a:prstGeom>
          <a:noFill/>
          <a:ln/>
        </p:spPr>
        <p:txBody>
          <a:bodyPr wrap="square" lIns="0" tIns="0" rIns="0" bIns="0" rtlCol="0" anchor="t"/>
          <a:lstStyle/>
          <a:p>
            <a:pPr indent="0" marL="0">
              <a:buNone/>
            </a:pPr>
            <a:r>
              <a:rPr lang="en-US" sz="1200" b="1" dirty="0">
                <a:solidFill>
                  <a:srgbClr val="2563EB"/>
                </a:solidFill>
                <a:latin typeface="Calibri" pitchFamily="34" charset="0"/>
                <a:ea typeface="Calibri" pitchFamily="34" charset="-122"/>
                <a:cs typeface="Calibri" pitchFamily="34" charset="-120"/>
              </a:rPr>
              <a:t>Live example — real output from the tool</a:t>
            </a:r>
            <a:endParaRPr lang="en-US" sz="1200" dirty="0"/>
          </a:p>
        </p:txBody>
      </p:sp>
      <p:sp>
        <p:nvSpPr>
          <p:cNvPr id="14" name="Text 12"/>
          <p:cNvSpPr/>
          <p:nvPr/>
        </p:nvSpPr>
        <p:spPr>
          <a:xfrm>
            <a:off x="731520" y="2852928"/>
            <a:ext cx="10789920" cy="1188720"/>
          </a:xfrm>
          <a:prstGeom prst="rect">
            <a:avLst/>
          </a:prstGeom>
          <a:noFill/>
          <a:ln/>
        </p:spPr>
        <p:txBody>
          <a:bodyPr wrap="square" lIns="0" tIns="0" rIns="0" bIns="0" rtlCol="0" anchor="t"/>
          <a:lstStyle/>
          <a:p>
            <a:pPr indent="0" marL="0">
              <a:lnSpc>
                <a:spcPct val="130000"/>
              </a:lnSpc>
              <a:buNone/>
            </a:pPr>
            <a:r>
              <a:rPr lang="en-US" sz="1400" b="1" dirty="0">
                <a:solidFill>
                  <a:srgbClr val="0F172A"/>
                </a:solidFill>
                <a:latin typeface="Calibri" pitchFamily="34" charset="0"/>
                <a:ea typeface="Calibri" pitchFamily="34" charset="-122"/>
                <a:cs typeface="Calibri" pitchFamily="34" charset="-120"/>
              </a:rPr>
              <a:t>“Material is £8.39 of this part, driven by Aluminium. Every 1% move in the Aluminium index shifts the piece price by £0.11. </a:t>
            </a:r>
            <a:pPr indent="0" marL="0">
              <a:lnSpc>
                <a:spcPct val="130000"/>
              </a:lnSpc>
              <a:buNone/>
            </a:pPr>
            <a:r>
              <a:rPr lang="en-US" sz="1400" b="1" dirty="0">
                <a:solidFill>
                  <a:srgbClr val="7C3AED"/>
                </a:solidFill>
                <a:latin typeface="Calibri" pitchFamily="34" charset="0"/>
                <a:ea typeface="Calibri" pitchFamily="34" charset="-122"/>
                <a:cs typeface="Calibri" pitchFamily="34" charset="-120"/>
              </a:rPr>
              <a:t>A quote of £95 is only justified if Aluminium were ~14% above today’s index — ask the supplier to show that, or hold at £86.34.”</a:t>
            </a:r>
            <a:endParaRPr lang="en-US" sz="1400" dirty="0"/>
          </a:p>
        </p:txBody>
      </p:sp>
      <p:sp>
        <p:nvSpPr>
          <p:cNvPr id="15" name="Shape 13"/>
          <p:cNvSpPr/>
          <p:nvPr/>
        </p:nvSpPr>
        <p:spPr>
          <a:xfrm>
            <a:off x="411480" y="4343400"/>
            <a:ext cx="5532120" cy="1828800"/>
          </a:xfrm>
          <a:prstGeom prst="roundRect">
            <a:avLst>
              <a:gd name="adj" fmla="val 3000"/>
            </a:avLst>
          </a:prstGeom>
          <a:solidFill>
            <a:srgbClr val="F1F5F9"/>
          </a:solidFill>
          <a:ln/>
        </p:spPr>
      </p:sp>
      <p:sp>
        <p:nvSpPr>
          <p:cNvPr id="16" name="Text 14"/>
          <p:cNvSpPr/>
          <p:nvPr/>
        </p:nvSpPr>
        <p:spPr>
          <a:xfrm>
            <a:off x="685800" y="4526280"/>
            <a:ext cx="5029200" cy="1554480"/>
          </a:xfrm>
          <a:prstGeom prst="rect">
            <a:avLst/>
          </a:prstGeom>
          <a:noFill/>
          <a:ln/>
        </p:spPr>
        <p:txBody>
          <a:bodyPr wrap="square" lIns="0" tIns="0" rIns="0" bIns="0" rtlCol="0" anchor="t"/>
          <a:lstStyle/>
          <a:p>
            <a:pPr indent="0" marL="0">
              <a:lnSpc>
                <a:spcPct val="118000"/>
              </a:lnSpc>
              <a:spcAft>
                <a:spcPts val="600"/>
              </a:spcAft>
              <a:buNone/>
            </a:pPr>
            <a:r>
              <a:rPr lang="en-US" sz="1350" b="1" dirty="0">
                <a:solidFill>
                  <a:srgbClr val="0F172A"/>
                </a:solidFill>
                <a:latin typeface="Calibri" pitchFamily="34" charset="0"/>
                <a:ea typeface="Calibri" pitchFamily="34" charset="-122"/>
                <a:cs typeface="Calibri" pitchFamily="34" charset="-120"/>
              </a:rPr>
              <a:t>What it does</a:t>
            </a:r>
            <a:endParaRPr lang="en-US" sz="1350" dirty="0"/>
          </a:p>
          <a:p>
            <a:pPr indent="0" marL="0">
              <a:lnSpc>
                <a:spcPct val="118000"/>
              </a:lnSpc>
              <a:spcAft>
                <a:spcPts val="600"/>
              </a:spcAft>
              <a:buNone/>
            </a:pPr>
            <a:r>
              <a:rPr lang="en-US" sz="1150" dirty="0">
                <a:solidFill>
                  <a:srgbClr val="334155"/>
                </a:solidFill>
                <a:latin typeface="Calibri" pitchFamily="34" charset="0"/>
                <a:ea typeface="Calibri" pitchFamily="34" charset="-122"/>
                <a:cs typeface="Calibri" pitchFamily="34" charset="-120"/>
              </a:rPr>
              <a:t>Links the material to its commodity index, then works out — through the same maths the engine uses — exactly how much a supplier’s price implies the metal has moved.</a:t>
            </a:r>
            <a:endParaRPr lang="en-US" sz="1350" dirty="0"/>
          </a:p>
        </p:txBody>
      </p:sp>
      <p:sp>
        <p:nvSpPr>
          <p:cNvPr id="17" name="Shape 15"/>
          <p:cNvSpPr/>
          <p:nvPr/>
        </p:nvSpPr>
        <p:spPr>
          <a:xfrm>
            <a:off x="6263640" y="4343400"/>
            <a:ext cx="5532120" cy="1828800"/>
          </a:xfrm>
          <a:prstGeom prst="roundRect">
            <a:avLst>
              <a:gd name="adj" fmla="val 3000"/>
            </a:avLst>
          </a:prstGeom>
          <a:solidFill>
            <a:srgbClr val="EFF6FF"/>
          </a:solidFill>
          <a:ln/>
        </p:spPr>
      </p:sp>
      <p:sp>
        <p:nvSpPr>
          <p:cNvPr id="18" name="Text 16"/>
          <p:cNvSpPr/>
          <p:nvPr/>
        </p:nvSpPr>
        <p:spPr>
          <a:xfrm>
            <a:off x="6537960" y="4526280"/>
            <a:ext cx="5029200" cy="1554480"/>
          </a:xfrm>
          <a:prstGeom prst="rect">
            <a:avLst/>
          </a:prstGeom>
          <a:noFill/>
          <a:ln/>
        </p:spPr>
        <p:txBody>
          <a:bodyPr wrap="square" lIns="0" tIns="0" rIns="0" bIns="0" rtlCol="0" anchor="t"/>
          <a:lstStyle/>
          <a:p>
            <a:pPr indent="0" marL="0">
              <a:lnSpc>
                <a:spcPct val="118000"/>
              </a:lnSpc>
              <a:spcAft>
                <a:spcPts val="600"/>
              </a:spcAft>
              <a:buNone/>
            </a:pPr>
            <a:r>
              <a:rPr lang="en-US" sz="1350" b="1" dirty="0">
                <a:solidFill>
                  <a:srgbClr val="059669"/>
                </a:solidFill>
                <a:latin typeface="Calibri" pitchFamily="34" charset="0"/>
                <a:ea typeface="Calibri" pitchFamily="34" charset="-122"/>
                <a:cs typeface="Calibri" pitchFamily="34" charset="-120"/>
              </a:rPr>
              <a:t>Why it helps</a:t>
            </a:r>
            <a:endParaRPr lang="en-US" sz="1350" dirty="0"/>
          </a:p>
          <a:p>
            <a:pPr indent="0" marL="0">
              <a:lnSpc>
                <a:spcPct val="118000"/>
              </a:lnSpc>
              <a:spcAft>
                <a:spcPts val="600"/>
              </a:spcAft>
              <a:buNone/>
            </a:pPr>
            <a:r>
              <a:rPr lang="en-US" sz="1150" dirty="0">
                <a:solidFill>
                  <a:srgbClr val="334155"/>
                </a:solidFill>
                <a:latin typeface="Calibri" pitchFamily="34" charset="0"/>
                <a:ea typeface="Calibri" pitchFamily="34" charset="-122"/>
                <a:cs typeface="Calibri" pitchFamily="34" charset="-120"/>
              </a:rPr>
              <a:t>The buyer walks in with a defensible, arithmetic counter-argument instead of "that feels high". It converts should-cost into negotiating power — the number and the words to win with it.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Cost weather on demand — the what-if engine</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Ask "what if a commodity moves?" and get the answer instantly — for one part, or the whole portfolio.</a:t>
            </a:r>
            <a:endParaRPr lang="en-US" sz="1350" dirty="0"/>
          </a:p>
        </p:txBody>
      </p:sp>
      <p:sp>
        <p:nvSpPr>
          <p:cNvPr id="11" name="Shape 9"/>
          <p:cNvSpPr/>
          <p:nvPr/>
        </p:nvSpPr>
        <p:spPr>
          <a:xfrm>
            <a:off x="411480" y="2286000"/>
            <a:ext cx="5532120" cy="2468880"/>
          </a:xfrm>
          <a:prstGeom prst="roundRect">
            <a:avLst>
              <a:gd name="adj" fmla="val 2222"/>
            </a:avLst>
          </a:prstGeom>
          <a:solidFill>
            <a:srgbClr val="F1F5F9"/>
          </a:solidFill>
          <a:ln/>
        </p:spPr>
      </p:sp>
      <p:sp>
        <p:nvSpPr>
          <p:cNvPr id="12" name="Shape 10"/>
          <p:cNvSpPr/>
          <p:nvPr/>
        </p:nvSpPr>
        <p:spPr>
          <a:xfrm>
            <a:off x="411480" y="2286000"/>
            <a:ext cx="5532120" cy="82296"/>
          </a:xfrm>
          <a:prstGeom prst="rect">
            <a:avLst/>
          </a:prstGeom>
          <a:solidFill>
            <a:srgbClr val="2563EB"/>
          </a:solidFill>
          <a:ln/>
        </p:spPr>
      </p:sp>
      <p:sp>
        <p:nvSpPr>
          <p:cNvPr id="13" name="Text 11"/>
          <p:cNvSpPr/>
          <p:nvPr/>
        </p:nvSpPr>
        <p:spPr>
          <a:xfrm>
            <a:off x="685800" y="2487168"/>
            <a:ext cx="5029200" cy="365760"/>
          </a:xfrm>
          <a:prstGeom prst="rect">
            <a:avLst/>
          </a:prstGeom>
          <a:noFill/>
          <a:ln/>
        </p:spPr>
        <p:txBody>
          <a:bodyPr wrap="square" lIns="0" tIns="0" rIns="0" bIns="0" rtlCol="0" anchor="t"/>
          <a:lstStyle/>
          <a:p>
            <a:pPr indent="0" marL="0">
              <a:buNone/>
            </a:pPr>
            <a:r>
              <a:rPr lang="en-US" sz="1400" b="1" dirty="0">
                <a:solidFill>
                  <a:srgbClr val="2563EB"/>
                </a:solidFill>
                <a:latin typeface="Calibri" pitchFamily="34" charset="0"/>
                <a:ea typeface="Calibri" pitchFamily="34" charset="-122"/>
                <a:cs typeface="Calibri" pitchFamily="34" charset="-120"/>
              </a:rPr>
              <a:t>One part — the live slider</a:t>
            </a:r>
            <a:endParaRPr lang="en-US" sz="1400" dirty="0"/>
          </a:p>
        </p:txBody>
      </p:sp>
      <p:sp>
        <p:nvSpPr>
          <p:cNvPr id="14" name="Text 12"/>
          <p:cNvSpPr/>
          <p:nvPr/>
        </p:nvSpPr>
        <p:spPr>
          <a:xfrm>
            <a:off x="685800" y="2926080"/>
            <a:ext cx="5029200" cy="173736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Drag a commodity −20% … +20% and the piece price recomputes as you move.</a:t>
            </a:r>
            <a:endParaRPr lang="en-US" sz="1200" dirty="0"/>
          </a:p>
          <a:p>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Example:  Aluminium +15%  →  £86.34 → £87.92</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Instant sensitivity in a single gesture.</a:t>
            </a:r>
            <a:endParaRPr lang="en-US" sz="1200" dirty="0"/>
          </a:p>
        </p:txBody>
      </p:sp>
      <p:sp>
        <p:nvSpPr>
          <p:cNvPr id="15" name="Shape 13"/>
          <p:cNvSpPr/>
          <p:nvPr/>
        </p:nvSpPr>
        <p:spPr>
          <a:xfrm>
            <a:off x="6263640" y="2286000"/>
            <a:ext cx="5532120" cy="2468880"/>
          </a:xfrm>
          <a:prstGeom prst="roundRect">
            <a:avLst>
              <a:gd name="adj" fmla="val 2222"/>
            </a:avLst>
          </a:prstGeom>
          <a:solidFill>
            <a:srgbClr val="F1F5F9"/>
          </a:solidFill>
          <a:ln/>
        </p:spPr>
      </p:sp>
      <p:sp>
        <p:nvSpPr>
          <p:cNvPr id="16" name="Shape 14"/>
          <p:cNvSpPr/>
          <p:nvPr/>
        </p:nvSpPr>
        <p:spPr>
          <a:xfrm>
            <a:off x="6263640" y="2286000"/>
            <a:ext cx="5532120" cy="82296"/>
          </a:xfrm>
          <a:prstGeom prst="rect">
            <a:avLst/>
          </a:prstGeom>
          <a:solidFill>
            <a:srgbClr val="7C3AED"/>
          </a:solidFill>
          <a:ln/>
        </p:spPr>
      </p:sp>
      <p:sp>
        <p:nvSpPr>
          <p:cNvPr id="17" name="Text 15"/>
          <p:cNvSpPr/>
          <p:nvPr/>
        </p:nvSpPr>
        <p:spPr>
          <a:xfrm>
            <a:off x="6537960" y="2487168"/>
            <a:ext cx="5029200" cy="365760"/>
          </a:xfrm>
          <a:prstGeom prst="rect">
            <a:avLst/>
          </a:prstGeom>
          <a:noFill/>
          <a:ln/>
        </p:spPr>
        <p:txBody>
          <a:bodyPr wrap="square" lIns="0" tIns="0" rIns="0" bIns="0" rtlCol="0" anchor="t"/>
          <a:lstStyle/>
          <a:p>
            <a:pPr indent="0" marL="0">
              <a:buNone/>
            </a:pPr>
            <a:r>
              <a:rPr lang="en-US" sz="1400" b="1" dirty="0">
                <a:solidFill>
                  <a:srgbClr val="7C3AED"/>
                </a:solidFill>
                <a:latin typeface="Calibri" pitchFamily="34" charset="0"/>
                <a:ea typeface="Calibri" pitchFamily="34" charset="-122"/>
                <a:cs typeface="Calibri" pitchFamily="34" charset="-120"/>
              </a:rPr>
              <a:t>Whole portfolio — the scenario</a:t>
            </a:r>
            <a:endParaRPr lang="en-US" sz="1400" dirty="0"/>
          </a:p>
        </p:txBody>
      </p:sp>
      <p:sp>
        <p:nvSpPr>
          <p:cNvPr id="18" name="Text 16"/>
          <p:cNvSpPr/>
          <p:nvPr/>
        </p:nvSpPr>
        <p:spPr>
          <a:xfrm>
            <a:off x="6537960" y="2926080"/>
            <a:ext cx="5029200" cy="173736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Apply a move across every part at once and see who changes status.</a:t>
            </a:r>
            <a:endParaRPr lang="en-US" sz="1200" dirty="0"/>
          </a:p>
          <a:p>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Example:  "If Steel +10% → 7 parts cross underwater, £X/yr at risk."</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Pre-empt losses before the market moves them.</a:t>
            </a:r>
            <a:endParaRPr lang="en-US" sz="1200" dirty="0"/>
          </a:p>
        </p:txBody>
      </p:sp>
      <p:sp>
        <p:nvSpPr>
          <p:cNvPr id="19" name="Shape 17"/>
          <p:cNvSpPr/>
          <p:nvPr/>
        </p:nvSpPr>
        <p:spPr>
          <a:xfrm>
            <a:off x="411480" y="4983480"/>
            <a:ext cx="11384280" cy="1188720"/>
          </a:xfrm>
          <a:prstGeom prst="roundRect">
            <a:avLst>
              <a:gd name="adj" fmla="val 4615"/>
            </a:avLst>
          </a:prstGeom>
          <a:solidFill>
            <a:srgbClr val="EFF6FF"/>
          </a:solidFill>
          <a:ln/>
        </p:spPr>
      </p:sp>
      <p:sp>
        <p:nvSpPr>
          <p:cNvPr id="20" name="Text 18"/>
          <p:cNvSpPr/>
          <p:nvPr/>
        </p:nvSpPr>
        <p:spPr>
          <a:xfrm>
            <a:off x="685800" y="5138928"/>
            <a:ext cx="10881360" cy="960120"/>
          </a:xfrm>
          <a:prstGeom prst="rect">
            <a:avLst/>
          </a:prstGeom>
          <a:noFill/>
          <a:ln/>
        </p:spPr>
        <p:txBody>
          <a:bodyPr wrap="square" lIns="0" tIns="0" rIns="0" bIns="0" rtlCol="0" anchor="t"/>
          <a:lstStyle/>
          <a:p>
            <a:pPr indent="0" marL="0">
              <a:lnSpc>
                <a:spcPct val="120000"/>
              </a:lnSpc>
              <a:buNone/>
            </a:pPr>
            <a:r>
              <a:rPr lang="en-US" sz="1300" b="1" dirty="0">
                <a:solidFill>
                  <a:srgbClr val="D97706"/>
                </a:solidFill>
                <a:latin typeface="Calibri" pitchFamily="34" charset="0"/>
                <a:ea typeface="Calibri" pitchFamily="34" charset="-122"/>
                <a:cs typeface="Calibri" pitchFamily="34" charset="-120"/>
              </a:rPr>
              <a:t>Honest by design: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this is a conditional — "IF the index moves" — never a price forecast. So it stays defensible even on an indicative commodity feed, and upgrades to a true forecast the day a live market feed is connected.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PCB photo → BOM → should-cost — now supplier-grade</a:t>
            </a:r>
            <a:endParaRPr lang="en-US" sz="2700" dirty="0"/>
          </a:p>
        </p:txBody>
      </p:sp>
      <p:sp>
        <p:nvSpPr>
          <p:cNvPr id="10" name="Text 8"/>
          <p:cNvSpPr/>
          <p:nvPr/>
        </p:nvSpPr>
        <p:spPr>
          <a:xfrm>
            <a:off x="411480" y="1664208"/>
            <a:ext cx="11338560" cy="384048"/>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Photograph a circuit board, get a costed bill of materials in ~60 seconds. This year we hardened it from a clever demo into a </a:t>
            </a:r>
            <a:pPr indent="0" marL="0">
              <a:buNone/>
            </a:pPr>
            <a:r>
              <a:rPr lang="en-US" sz="1300" b="1" dirty="0">
                <a:solidFill>
                  <a:srgbClr val="0F172A"/>
                </a:solidFill>
                <a:latin typeface="Calibri" pitchFamily="34" charset="0"/>
                <a:ea typeface="Calibri" pitchFamily="34" charset="-122"/>
                <a:cs typeface="Calibri" pitchFamily="34" charset="-120"/>
              </a:rPr>
              <a:t>number you can put in front of a supplier.</a:t>
            </a:r>
            <a:endParaRPr lang="en-US" sz="1300" dirty="0"/>
          </a:p>
        </p:txBody>
      </p:sp>
      <p:graphicFrame>
        <p:nvGraphicFramePr>
          <p:cNvPr id="11" name="Chart 0" descr=""/>
          <p:cNvGraphicFramePr/>
          <p:nvPr/>
        </p:nvGraphicFramePr>
        <p:xfrm>
          <a:off x="411480" y="2240280"/>
          <a:ext cx="5623560" cy="30632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411480" y="5321808"/>
            <a:ext cx="5623560" cy="384048"/>
          </a:xfrm>
          <a:prstGeom prst="rect">
            <a:avLst/>
          </a:prstGeom>
          <a:noFill/>
          <a:ln/>
        </p:spPr>
        <p:txBody>
          <a:bodyPr wrap="square" lIns="0" tIns="0" rIns="0" bIns="0" rtlCol="0" anchor="t"/>
          <a:lstStyle/>
          <a:p>
            <a:pPr indent="0" marL="0">
              <a:lnSpc>
                <a:spcPct val="105000"/>
              </a:lnSpc>
              <a:buNone/>
            </a:pPr>
            <a:r>
              <a:rPr lang="en-US" sz="1000" i="1" dirty="0">
                <a:solidFill>
                  <a:srgbClr val="64748B"/>
                </a:solidFill>
                <a:latin typeface="Calibri" pitchFamily="34" charset="0"/>
                <a:ea typeface="Calibri" pitchFamily="34" charset="-122"/>
                <a:cs typeface="Calibri" pitchFamily="34" charset="-120"/>
              </a:rPr>
              <a:t>Real automotive ECU, China @ 10k/yr — AI landed within ~5% of a half-day manual estimate, in ~60 s.</a:t>
            </a:r>
            <a:endParaRPr lang="en-US" sz="1000" dirty="0"/>
          </a:p>
        </p:txBody>
      </p:sp>
      <p:sp>
        <p:nvSpPr>
          <p:cNvPr id="13" name="Shape 10"/>
          <p:cNvSpPr/>
          <p:nvPr/>
        </p:nvSpPr>
        <p:spPr>
          <a:xfrm>
            <a:off x="6263640" y="2240280"/>
            <a:ext cx="5532120" cy="3063240"/>
          </a:xfrm>
          <a:prstGeom prst="roundRect">
            <a:avLst>
              <a:gd name="adj" fmla="val 1493"/>
            </a:avLst>
          </a:prstGeom>
          <a:solidFill>
            <a:srgbClr val="F1F5F9"/>
          </a:solidFill>
          <a:ln/>
        </p:spPr>
      </p:sp>
      <p:sp>
        <p:nvSpPr>
          <p:cNvPr id="14" name="Text 11"/>
          <p:cNvSpPr/>
          <p:nvPr/>
        </p:nvSpPr>
        <p:spPr>
          <a:xfrm>
            <a:off x="6537960" y="2395728"/>
            <a:ext cx="5029200" cy="3200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What we fixed this year</a:t>
            </a:r>
            <a:endParaRPr lang="en-US" sz="1400" dirty="0"/>
          </a:p>
        </p:txBody>
      </p:sp>
      <p:sp>
        <p:nvSpPr>
          <p:cNvPr id="15" name="Shape 12"/>
          <p:cNvSpPr/>
          <p:nvPr/>
        </p:nvSpPr>
        <p:spPr>
          <a:xfrm>
            <a:off x="6537960" y="2834640"/>
            <a:ext cx="82296" cy="384048"/>
          </a:xfrm>
          <a:prstGeom prst="rect">
            <a:avLst/>
          </a:prstGeom>
          <a:solidFill>
            <a:srgbClr val="059669"/>
          </a:solidFill>
          <a:ln/>
        </p:spPr>
      </p:sp>
      <p:sp>
        <p:nvSpPr>
          <p:cNvPr id="16" name="Text 13"/>
          <p:cNvSpPr/>
          <p:nvPr/>
        </p:nvSpPr>
        <p:spPr>
          <a:xfrm>
            <a:off x="6784848" y="278892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Empty-BOM bug — killed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Complex boards used to return nothing; now we read every block the model emits.</a:t>
            </a:r>
            <a:endParaRPr lang="en-US" sz="1050" dirty="0"/>
          </a:p>
        </p:txBody>
      </p:sp>
      <p:sp>
        <p:nvSpPr>
          <p:cNvPr id="17" name="Shape 14"/>
          <p:cNvSpPr/>
          <p:nvPr/>
        </p:nvSpPr>
        <p:spPr>
          <a:xfrm>
            <a:off x="6537960" y="3337560"/>
            <a:ext cx="82296" cy="384048"/>
          </a:xfrm>
          <a:prstGeom prst="rect">
            <a:avLst/>
          </a:prstGeom>
          <a:solidFill>
            <a:srgbClr val="2563EB"/>
          </a:solidFill>
          <a:ln/>
        </p:spPr>
      </p:sp>
      <p:sp>
        <p:nvSpPr>
          <p:cNvPr id="18" name="Text 15"/>
          <p:cNvSpPr/>
          <p:nvPr/>
        </p:nvSpPr>
        <p:spPr>
          <a:xfrm>
            <a:off x="6784848" y="329184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Catalogue grounding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Confirmed parts snap to real market prices — offline, no external API.</a:t>
            </a:r>
            <a:endParaRPr lang="en-US" sz="1050" dirty="0"/>
          </a:p>
        </p:txBody>
      </p:sp>
      <p:sp>
        <p:nvSpPr>
          <p:cNvPr id="19" name="Shape 16"/>
          <p:cNvSpPr/>
          <p:nvPr/>
        </p:nvSpPr>
        <p:spPr>
          <a:xfrm>
            <a:off x="6537960" y="3840480"/>
            <a:ext cx="82296" cy="384048"/>
          </a:xfrm>
          <a:prstGeom prst="rect">
            <a:avLst/>
          </a:prstGeom>
          <a:solidFill>
            <a:srgbClr val="7C3AED"/>
          </a:solidFill>
          <a:ln/>
        </p:spPr>
      </p:sp>
      <p:sp>
        <p:nvSpPr>
          <p:cNvPr id="20" name="Text 17"/>
          <p:cNvSpPr/>
          <p:nvPr/>
        </p:nvSpPr>
        <p:spPr>
          <a:xfrm>
            <a:off x="6784848" y="379476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Class-median cap + magnitude guard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A misread part can no longer dominate: one MCU £84 → £18, capped &amp; flagged.</a:t>
            </a:r>
            <a:endParaRPr lang="en-US" sz="1050" dirty="0"/>
          </a:p>
        </p:txBody>
      </p:sp>
      <p:sp>
        <p:nvSpPr>
          <p:cNvPr id="21" name="Shape 18"/>
          <p:cNvSpPr/>
          <p:nvPr/>
        </p:nvSpPr>
        <p:spPr>
          <a:xfrm>
            <a:off x="6537960" y="4343400"/>
            <a:ext cx="82296" cy="384048"/>
          </a:xfrm>
          <a:prstGeom prst="rect">
            <a:avLst/>
          </a:prstGeom>
          <a:solidFill>
            <a:srgbClr val="0891B2"/>
          </a:solidFill>
          <a:ln/>
        </p:spPr>
      </p:sp>
      <p:sp>
        <p:nvSpPr>
          <p:cNvPr id="22" name="Text 19"/>
          <p:cNvSpPr/>
          <p:nvPr/>
        </p:nvSpPr>
        <p:spPr>
          <a:xfrm>
            <a:off x="6784848" y="429768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Deterministic fabrication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Fab is derived from stable board features — the headline no longer swings run-to-run.</a:t>
            </a:r>
            <a:endParaRPr lang="en-US" sz="1050" dirty="0"/>
          </a:p>
        </p:txBody>
      </p:sp>
      <p:sp>
        <p:nvSpPr>
          <p:cNvPr id="23" name="Shape 20"/>
          <p:cNvSpPr/>
          <p:nvPr/>
        </p:nvSpPr>
        <p:spPr>
          <a:xfrm>
            <a:off x="6537960" y="4846320"/>
            <a:ext cx="82296" cy="384048"/>
          </a:xfrm>
          <a:prstGeom prst="rect">
            <a:avLst/>
          </a:prstGeom>
          <a:solidFill>
            <a:srgbClr val="D97706"/>
          </a:solidFill>
          <a:ln/>
        </p:spPr>
      </p:sp>
      <p:sp>
        <p:nvSpPr>
          <p:cNvPr id="24" name="Text 21"/>
          <p:cNvSpPr/>
          <p:nvPr/>
        </p:nvSpPr>
        <p:spPr>
          <a:xfrm>
            <a:off x="6784848" y="480060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Confirmed vs needs-verification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The headline splits the £ you can trust from the £ to firm up.</a:t>
            </a:r>
            <a:endParaRPr lang="en-US" sz="1050" dirty="0"/>
          </a:p>
        </p:txBody>
      </p:sp>
      <p:sp>
        <p:nvSpPr>
          <p:cNvPr id="25" name="Shape 22"/>
          <p:cNvSpPr/>
          <p:nvPr/>
        </p:nvSpPr>
        <p:spPr>
          <a:xfrm>
            <a:off x="411480" y="5468112"/>
            <a:ext cx="11384280" cy="777240"/>
          </a:xfrm>
          <a:prstGeom prst="roundRect">
            <a:avLst>
              <a:gd name="adj" fmla="val 11765"/>
            </a:avLst>
          </a:prstGeom>
          <a:solidFill>
            <a:srgbClr val="EFF6FF"/>
          </a:solidFill>
          <a:ln/>
        </p:spPr>
      </p:sp>
      <p:sp>
        <p:nvSpPr>
          <p:cNvPr id="26" name="Text 23"/>
          <p:cNvSpPr/>
          <p:nvPr/>
        </p:nvSpPr>
        <p:spPr>
          <a:xfrm>
            <a:off x="685800" y="5596128"/>
            <a:ext cx="10972800" cy="548640"/>
          </a:xfrm>
          <a:prstGeom prst="rect">
            <a:avLst/>
          </a:prstGeom>
          <a:noFill/>
          <a:ln/>
        </p:spPr>
        <p:txBody>
          <a:bodyPr wrap="square" lIns="0" tIns="0" rIns="0" bIns="0" rtlCol="0" anchor="t"/>
          <a:lstStyle/>
          <a:p>
            <a:pPr indent="0" marL="0">
              <a:lnSpc>
                <a:spcPct val="115000"/>
              </a:lnSpc>
              <a:buNone/>
            </a:pPr>
            <a:r>
              <a:rPr lang="en-US" sz="1250" b="1" dirty="0">
                <a:solidFill>
                  <a:srgbClr val="2563EB"/>
                </a:solidFill>
                <a:latin typeface="Calibri" pitchFamily="34" charset="0"/>
                <a:ea typeface="Calibri" pitchFamily="34" charset="-122"/>
                <a:cs typeface="Calibri" pitchFamily="34" charset="-120"/>
              </a:rPr>
              <a:t>Result: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the 2–3× over-costing is gone. That live ECU came back ASIL-B, 23 BOM lines, £69.11/board — with £37.65 confirmed and £24.64 honestly flagged to verify. Same photo, same answer, every run.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tool now checks its own homework</a:t>
            </a:r>
            <a:endParaRPr lang="en-US" sz="2700" dirty="0"/>
          </a:p>
        </p:txBody>
      </p:sp>
      <p:sp>
        <p:nvSpPr>
          <p:cNvPr id="10" name="Text 8"/>
          <p:cNvSpPr/>
          <p:nvPr/>
        </p:nvSpPr>
        <p:spPr>
          <a:xfrm>
            <a:off x="411480" y="1664208"/>
            <a:ext cx="11338560" cy="45720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Every lesson we learned fixing real parts became a </a:t>
            </a:r>
            <a:pPr indent="0" marL="0">
              <a:buNone/>
            </a:pPr>
            <a:r>
              <a:rPr lang="en-US" sz="1300" b="1" dirty="0">
                <a:solidFill>
                  <a:srgbClr val="0F172A"/>
                </a:solidFill>
                <a:latin typeface="Calibri" pitchFamily="34" charset="0"/>
                <a:ea typeface="Calibri" pitchFamily="34" charset="-122"/>
                <a:cs typeface="Calibri" pitchFamily="34" charset="-120"/>
              </a:rPr>
              <a:t>deterministic check that runs on every single estimate</a:t>
            </a:r>
            <a:pPr indent="0" marL="0">
              <a:buNone/>
            </a:pPr>
            <a:r>
              <a:rPr lang="en-US" sz="1300" dirty="0">
                <a:solidFill>
                  <a:srgbClr val="334155"/>
                </a:solidFill>
                <a:latin typeface="Calibri" pitchFamily="34" charset="0"/>
                <a:ea typeface="Calibri" pitchFamily="34" charset="-122"/>
                <a:cs typeface="Calibri" pitchFamily="34" charset="-120"/>
              </a:rPr>
              <a:t> — catching a wrong machine, an implausible wall, or a mis-set weight before it ever reaches a supplier.</a:t>
            </a:r>
            <a:endParaRPr lang="en-US" sz="1300" dirty="0"/>
          </a:p>
        </p:txBody>
      </p:sp>
      <p:sp>
        <p:nvSpPr>
          <p:cNvPr id="11" name="Shape 9"/>
          <p:cNvSpPr/>
          <p:nvPr/>
        </p:nvSpPr>
        <p:spPr>
          <a:xfrm>
            <a:off x="411480" y="2286000"/>
            <a:ext cx="11384280" cy="640080"/>
          </a:xfrm>
          <a:prstGeom prst="roundRect">
            <a:avLst>
              <a:gd name="adj" fmla="val 14286"/>
            </a:avLst>
          </a:prstGeom>
          <a:solidFill>
            <a:srgbClr val="F1F5F9"/>
          </a:solidFill>
          <a:ln/>
        </p:spPr>
      </p:sp>
      <p:sp>
        <p:nvSpPr>
          <p:cNvPr id="12" name="Shape 10"/>
          <p:cNvSpPr/>
          <p:nvPr/>
        </p:nvSpPr>
        <p:spPr>
          <a:xfrm>
            <a:off x="411480" y="2286000"/>
            <a:ext cx="82296" cy="640080"/>
          </a:xfrm>
          <a:prstGeom prst="rect">
            <a:avLst/>
          </a:prstGeom>
          <a:solidFill>
            <a:srgbClr val="2563EB"/>
          </a:solidFill>
          <a:ln/>
        </p:spPr>
      </p:sp>
      <p:sp>
        <p:nvSpPr>
          <p:cNvPr id="13" name="Text 11"/>
          <p:cNvSpPr/>
          <p:nvPr/>
        </p:nvSpPr>
        <p:spPr>
          <a:xfrm>
            <a:off x="685800" y="2459736"/>
            <a:ext cx="4114800" cy="36576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  Machine sized to the part</a:t>
            </a:r>
            <a:endParaRPr lang="en-US" sz="1250" dirty="0"/>
          </a:p>
        </p:txBody>
      </p:sp>
      <p:sp>
        <p:nvSpPr>
          <p:cNvPr id="14" name="Text 12"/>
          <p:cNvSpPr/>
          <p:nvPr/>
        </p:nvSpPr>
        <p:spPr>
          <a:xfrm>
            <a:off x="4846320" y="2459736"/>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Flags an under-sized press or mould and offers the right one in one click</a:t>
            </a:r>
            <a:endParaRPr lang="en-US" sz="1150" dirty="0"/>
          </a:p>
        </p:txBody>
      </p:sp>
      <p:sp>
        <p:nvSpPr>
          <p:cNvPr id="15" name="Shape 13"/>
          <p:cNvSpPr/>
          <p:nvPr/>
        </p:nvSpPr>
        <p:spPr>
          <a:xfrm>
            <a:off x="411480" y="3035808"/>
            <a:ext cx="11384280" cy="640080"/>
          </a:xfrm>
          <a:prstGeom prst="roundRect">
            <a:avLst>
              <a:gd name="adj" fmla="val 14286"/>
            </a:avLst>
          </a:prstGeom>
          <a:solidFill>
            <a:srgbClr val="FFFFFF"/>
          </a:solidFill>
          <a:ln/>
        </p:spPr>
      </p:sp>
      <p:sp>
        <p:nvSpPr>
          <p:cNvPr id="16" name="Shape 14"/>
          <p:cNvSpPr/>
          <p:nvPr/>
        </p:nvSpPr>
        <p:spPr>
          <a:xfrm>
            <a:off x="411480" y="3035808"/>
            <a:ext cx="82296" cy="640080"/>
          </a:xfrm>
          <a:prstGeom prst="rect">
            <a:avLst/>
          </a:prstGeom>
          <a:solidFill>
            <a:srgbClr val="0891B2"/>
          </a:solidFill>
          <a:ln/>
        </p:spPr>
      </p:sp>
      <p:sp>
        <p:nvSpPr>
          <p:cNvPr id="17" name="Text 15"/>
          <p:cNvSpPr/>
          <p:nvPr/>
        </p:nvSpPr>
        <p:spPr>
          <a:xfrm>
            <a:off x="685800" y="3209544"/>
            <a:ext cx="4114800" cy="365760"/>
          </a:xfrm>
          <a:prstGeom prst="rect">
            <a:avLst/>
          </a:prstGeom>
          <a:noFill/>
          <a:ln/>
        </p:spPr>
        <p:txBody>
          <a:bodyPr wrap="square" lIns="0" tIns="0" rIns="0" bIns="0" rtlCol="0" anchor="t"/>
          <a:lstStyle/>
          <a:p>
            <a:pPr indent="0" marL="0">
              <a:buNone/>
            </a:pPr>
            <a:r>
              <a:rPr lang="en-US" sz="1250" b="1" dirty="0">
                <a:solidFill>
                  <a:srgbClr val="0891B2"/>
                </a:solidFill>
                <a:latin typeface="Calibri" pitchFamily="34" charset="0"/>
                <a:ea typeface="Calibri" pitchFamily="34" charset="-122"/>
                <a:cs typeface="Calibri" pitchFamily="34" charset="-120"/>
              </a:rPr>
              <a:t>✓  Geometry sanity</a:t>
            </a:r>
            <a:endParaRPr lang="en-US" sz="1250" dirty="0"/>
          </a:p>
        </p:txBody>
      </p:sp>
      <p:sp>
        <p:nvSpPr>
          <p:cNvPr id="18" name="Text 16"/>
          <p:cNvSpPr/>
          <p:nvPr/>
        </p:nvSpPr>
        <p:spPr>
          <a:xfrm>
            <a:off x="4846320" y="3209544"/>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A wall thicker than the part, or a thin hollow shell mis-read as solid — caught</a:t>
            </a:r>
            <a:endParaRPr lang="en-US" sz="1150" dirty="0"/>
          </a:p>
        </p:txBody>
      </p:sp>
      <p:sp>
        <p:nvSpPr>
          <p:cNvPr id="19" name="Shape 17"/>
          <p:cNvSpPr/>
          <p:nvPr/>
        </p:nvSpPr>
        <p:spPr>
          <a:xfrm>
            <a:off x="411480" y="3785616"/>
            <a:ext cx="11384280" cy="640080"/>
          </a:xfrm>
          <a:prstGeom prst="roundRect">
            <a:avLst>
              <a:gd name="adj" fmla="val 14286"/>
            </a:avLst>
          </a:prstGeom>
          <a:solidFill>
            <a:srgbClr val="F1F5F9"/>
          </a:solidFill>
          <a:ln/>
        </p:spPr>
      </p:sp>
      <p:sp>
        <p:nvSpPr>
          <p:cNvPr id="20" name="Shape 18"/>
          <p:cNvSpPr/>
          <p:nvPr/>
        </p:nvSpPr>
        <p:spPr>
          <a:xfrm>
            <a:off x="411480" y="3785616"/>
            <a:ext cx="82296" cy="640080"/>
          </a:xfrm>
          <a:prstGeom prst="rect">
            <a:avLst/>
          </a:prstGeom>
          <a:solidFill>
            <a:srgbClr val="7C3AED"/>
          </a:solidFill>
          <a:ln/>
        </p:spPr>
      </p:sp>
      <p:sp>
        <p:nvSpPr>
          <p:cNvPr id="21" name="Text 19"/>
          <p:cNvSpPr/>
          <p:nvPr/>
        </p:nvSpPr>
        <p:spPr>
          <a:xfrm>
            <a:off x="685800" y="3959352"/>
            <a:ext cx="4114800" cy="36576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  Weight vs. geometry</a:t>
            </a:r>
            <a:endParaRPr lang="en-US" sz="1250" dirty="0"/>
          </a:p>
        </p:txBody>
      </p:sp>
      <p:sp>
        <p:nvSpPr>
          <p:cNvPr id="22" name="Text 20"/>
          <p:cNvSpPr/>
          <p:nvPr/>
        </p:nvSpPr>
        <p:spPr>
          <a:xfrm>
            <a:off x="4846320" y="3959352"/>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Costed weight must match the measured volume × the chosen material’s density</a:t>
            </a:r>
            <a:endParaRPr lang="en-US" sz="1150" dirty="0"/>
          </a:p>
        </p:txBody>
      </p:sp>
      <p:sp>
        <p:nvSpPr>
          <p:cNvPr id="23" name="Shape 21"/>
          <p:cNvSpPr/>
          <p:nvPr/>
        </p:nvSpPr>
        <p:spPr>
          <a:xfrm>
            <a:off x="411480" y="4535424"/>
            <a:ext cx="11384280" cy="640080"/>
          </a:xfrm>
          <a:prstGeom prst="roundRect">
            <a:avLst>
              <a:gd name="adj" fmla="val 14286"/>
            </a:avLst>
          </a:prstGeom>
          <a:solidFill>
            <a:srgbClr val="FFFFFF"/>
          </a:solidFill>
          <a:ln/>
        </p:spPr>
      </p:sp>
      <p:sp>
        <p:nvSpPr>
          <p:cNvPr id="24" name="Shape 22"/>
          <p:cNvSpPr/>
          <p:nvPr/>
        </p:nvSpPr>
        <p:spPr>
          <a:xfrm>
            <a:off x="411480" y="4535424"/>
            <a:ext cx="82296" cy="640080"/>
          </a:xfrm>
          <a:prstGeom prst="rect">
            <a:avLst/>
          </a:prstGeom>
          <a:solidFill>
            <a:srgbClr val="059669"/>
          </a:solidFill>
          <a:ln/>
        </p:spPr>
      </p:sp>
      <p:sp>
        <p:nvSpPr>
          <p:cNvPr id="25" name="Text 23"/>
          <p:cNvSpPr/>
          <p:nvPr/>
        </p:nvSpPr>
        <p:spPr>
          <a:xfrm>
            <a:off x="685800" y="4709160"/>
            <a:ext cx="4114800" cy="36576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Tooling amortised right</a:t>
            </a:r>
            <a:endParaRPr lang="en-US" sz="1250" dirty="0"/>
          </a:p>
        </p:txBody>
      </p:sp>
      <p:sp>
        <p:nvSpPr>
          <p:cNvPr id="26" name="Text 24"/>
          <p:cNvSpPr/>
          <p:nvPr/>
        </p:nvSpPr>
        <p:spPr>
          <a:xfrm>
            <a:off x="4846320" y="4709160"/>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Tooling must amortise over the stated annual volume — every commodity, no exceptions</a:t>
            </a:r>
            <a:endParaRPr lang="en-US" sz="1150" dirty="0"/>
          </a:p>
        </p:txBody>
      </p:sp>
      <p:sp>
        <p:nvSpPr>
          <p:cNvPr id="27" name="Shape 25"/>
          <p:cNvSpPr/>
          <p:nvPr/>
        </p:nvSpPr>
        <p:spPr>
          <a:xfrm>
            <a:off x="411480" y="5440680"/>
            <a:ext cx="11384280" cy="868680"/>
          </a:xfrm>
          <a:prstGeom prst="roundRect">
            <a:avLst>
              <a:gd name="adj" fmla="val 8421"/>
            </a:avLst>
          </a:prstGeom>
          <a:solidFill>
            <a:srgbClr val="EFF6FF"/>
          </a:solidFill>
          <a:ln/>
        </p:spPr>
      </p:sp>
      <p:sp>
        <p:nvSpPr>
          <p:cNvPr id="28" name="Text 26"/>
          <p:cNvSpPr/>
          <p:nvPr/>
        </p:nvSpPr>
        <p:spPr>
          <a:xfrm>
            <a:off x="685800" y="5596128"/>
            <a:ext cx="10881360" cy="685800"/>
          </a:xfrm>
          <a:prstGeom prst="rect">
            <a:avLst/>
          </a:prstGeom>
          <a:noFill/>
          <a:ln/>
        </p:spPr>
        <p:txBody>
          <a:bodyPr wrap="square" lIns="0" tIns="0" rIns="0" bIns="0" rtlCol="0" anchor="t"/>
          <a:lstStyle/>
          <a:p>
            <a:pPr indent="0" marL="0">
              <a:lnSpc>
                <a:spcPct val="115000"/>
              </a:lnSpc>
              <a:buNone/>
            </a:pPr>
            <a:r>
              <a:rPr lang="en-US" sz="1250" b="1" dirty="0">
                <a:solidFill>
                  <a:srgbClr val="059669"/>
                </a:solidFill>
                <a:latin typeface="Calibri" pitchFamily="34" charset="0"/>
                <a:ea typeface="Calibri" pitchFamily="34" charset="-122"/>
                <a:cs typeface="Calibri" pitchFamily="34" charset="-120"/>
              </a:rPr>
              <a:t>Live proof: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we deliberately put a forging on a 2-tonne hand-hammer; the tool flagged it HIGH, named the right 1,600-tonne press, and one click restored it. It re-derives from physics — so it also catches a colleague’s override or a future code regression, not just yesterday’s bug.</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Proven on five real automotive CAD parts</a:t>
            </a:r>
            <a:endParaRPr lang="en-US" sz="2700" dirty="0"/>
          </a:p>
        </p:txBody>
      </p:sp>
      <p:sp>
        <p:nvSpPr>
          <p:cNvPr id="10" name="Text 8"/>
          <p:cNvSpPr/>
          <p:nvPr/>
        </p:nvSpPr>
        <p:spPr>
          <a:xfrm>
            <a:off x="411480" y="1664208"/>
            <a:ext cx="11338560" cy="45720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Five real STEP files, run end-to-end. On each, the tool’s first answer had a specific, explainable error — every one is now fixed and guarded by a test.</a:t>
            </a:r>
            <a:endParaRPr lang="en-US" sz="1300" dirty="0"/>
          </a:p>
        </p:txBody>
      </p:sp>
      <p:sp>
        <p:nvSpPr>
          <p:cNvPr id="11" name="Shape 9"/>
          <p:cNvSpPr/>
          <p:nvPr/>
        </p:nvSpPr>
        <p:spPr>
          <a:xfrm>
            <a:off x="411480" y="2331720"/>
            <a:ext cx="11384280" cy="457200"/>
          </a:xfrm>
          <a:prstGeom prst="rect">
            <a:avLst/>
          </a:prstGeom>
          <a:solidFill>
            <a:srgbClr val="0F172A"/>
          </a:solidFill>
          <a:ln/>
        </p:spPr>
      </p:sp>
      <p:sp>
        <p:nvSpPr>
          <p:cNvPr id="12" name="Text 10"/>
          <p:cNvSpPr/>
          <p:nvPr/>
        </p:nvSpPr>
        <p:spPr>
          <a:xfrm>
            <a:off x="59436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Part</a:t>
            </a:r>
            <a:endParaRPr lang="en-US" sz="1100" dirty="0"/>
          </a:p>
        </p:txBody>
      </p:sp>
      <p:sp>
        <p:nvSpPr>
          <p:cNvPr id="13" name="Text 11"/>
          <p:cNvSpPr/>
          <p:nvPr/>
        </p:nvSpPr>
        <p:spPr>
          <a:xfrm>
            <a:off x="297180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First answer</a:t>
            </a:r>
            <a:endParaRPr lang="en-US" sz="1100" dirty="0"/>
          </a:p>
        </p:txBody>
      </p:sp>
      <p:sp>
        <p:nvSpPr>
          <p:cNvPr id="14" name="Text 12"/>
          <p:cNvSpPr/>
          <p:nvPr/>
        </p:nvSpPr>
        <p:spPr>
          <a:xfrm>
            <a:off x="562356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Corrected</a:t>
            </a:r>
            <a:endParaRPr lang="en-US" sz="1100" dirty="0"/>
          </a:p>
        </p:txBody>
      </p:sp>
      <p:sp>
        <p:nvSpPr>
          <p:cNvPr id="15" name="Text 13"/>
          <p:cNvSpPr/>
          <p:nvPr/>
        </p:nvSpPr>
        <p:spPr>
          <a:xfrm>
            <a:off x="795528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What it caught</a:t>
            </a:r>
            <a:endParaRPr lang="en-US" sz="1100" dirty="0"/>
          </a:p>
        </p:txBody>
      </p:sp>
      <p:sp>
        <p:nvSpPr>
          <p:cNvPr id="16" name="Shape 14"/>
          <p:cNvSpPr/>
          <p:nvPr/>
        </p:nvSpPr>
        <p:spPr>
          <a:xfrm>
            <a:off x="411480" y="2788920"/>
            <a:ext cx="11384280" cy="548640"/>
          </a:xfrm>
          <a:prstGeom prst="rect">
            <a:avLst/>
          </a:prstGeom>
          <a:solidFill>
            <a:srgbClr val="F1F5F9"/>
          </a:solidFill>
          <a:ln/>
        </p:spPr>
      </p:sp>
      <p:sp>
        <p:nvSpPr>
          <p:cNvPr id="17" name="Text 15"/>
          <p:cNvSpPr/>
          <p:nvPr/>
        </p:nvSpPr>
        <p:spPr>
          <a:xfrm>
            <a:off x="594360" y="2926080"/>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Fuel tank</a:t>
            </a:r>
            <a:endParaRPr lang="en-US" sz="1200" dirty="0"/>
          </a:p>
        </p:txBody>
      </p:sp>
      <p:sp>
        <p:nvSpPr>
          <p:cNvPr id="18" name="Text 16"/>
          <p:cNvSpPr/>
          <p:nvPr/>
        </p:nvSpPr>
        <p:spPr>
          <a:xfrm>
            <a:off x="2971800" y="2926080"/>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£216.97 sand casting</a:t>
            </a:r>
            <a:endParaRPr lang="en-US" sz="1100" dirty="0"/>
          </a:p>
        </p:txBody>
      </p:sp>
      <p:sp>
        <p:nvSpPr>
          <p:cNvPr id="19" name="Text 17"/>
          <p:cNvSpPr/>
          <p:nvPr/>
        </p:nvSpPr>
        <p:spPr>
          <a:xfrm>
            <a:off x="5623560" y="2926080"/>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£24.62 blow-moulded</a:t>
            </a:r>
            <a:endParaRPr lang="en-US" sz="1150" dirty="0"/>
          </a:p>
        </p:txBody>
      </p:sp>
      <p:sp>
        <p:nvSpPr>
          <p:cNvPr id="20" name="Text 18"/>
          <p:cNvSpPr/>
          <p:nvPr/>
        </p:nvSpPr>
        <p:spPr>
          <a:xfrm>
            <a:off x="7955280" y="2926080"/>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thin hollow shell ≠ a metal casting</a:t>
            </a:r>
            <a:endParaRPr lang="en-US" sz="1050" dirty="0"/>
          </a:p>
        </p:txBody>
      </p:sp>
      <p:sp>
        <p:nvSpPr>
          <p:cNvPr id="21" name="Shape 19"/>
          <p:cNvSpPr/>
          <p:nvPr/>
        </p:nvSpPr>
        <p:spPr>
          <a:xfrm>
            <a:off x="411480" y="3355848"/>
            <a:ext cx="11384280" cy="548640"/>
          </a:xfrm>
          <a:prstGeom prst="rect">
            <a:avLst/>
          </a:prstGeom>
          <a:solidFill>
            <a:srgbClr val="FFFFFF"/>
          </a:solidFill>
          <a:ln/>
        </p:spPr>
      </p:sp>
      <p:sp>
        <p:nvSpPr>
          <p:cNvPr id="22" name="Text 20"/>
          <p:cNvSpPr/>
          <p:nvPr/>
        </p:nvSpPr>
        <p:spPr>
          <a:xfrm>
            <a:off x="594360" y="3493008"/>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Front bumper</a:t>
            </a:r>
            <a:endParaRPr lang="en-US" sz="1200" dirty="0"/>
          </a:p>
        </p:txBody>
      </p:sp>
      <p:sp>
        <p:nvSpPr>
          <p:cNvPr id="23" name="Text 21"/>
          <p:cNvSpPr/>
          <p:nvPr/>
        </p:nvSpPr>
        <p:spPr>
          <a:xfrm>
            <a:off x="2971800" y="3493008"/>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£29.18 Al casting</a:t>
            </a:r>
            <a:endParaRPr lang="en-US" sz="1100" dirty="0"/>
          </a:p>
        </p:txBody>
      </p:sp>
      <p:sp>
        <p:nvSpPr>
          <p:cNvPr id="24" name="Text 22"/>
          <p:cNvSpPr/>
          <p:nvPr/>
        </p:nvSpPr>
        <p:spPr>
          <a:xfrm>
            <a:off x="5623560" y="3493008"/>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£7.79 injection-moulded</a:t>
            </a:r>
            <a:endParaRPr lang="en-US" sz="1150" dirty="0"/>
          </a:p>
        </p:txBody>
      </p:sp>
      <p:sp>
        <p:nvSpPr>
          <p:cNvPr id="25" name="Text 23"/>
          <p:cNvSpPr/>
          <p:nvPr/>
        </p:nvSpPr>
        <p:spPr>
          <a:xfrm>
            <a:off x="7955280" y="3493008"/>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plastic mis-read as metal; 27 mm phantom wall</a:t>
            </a:r>
            <a:endParaRPr lang="en-US" sz="1050" dirty="0"/>
          </a:p>
        </p:txBody>
      </p:sp>
      <p:sp>
        <p:nvSpPr>
          <p:cNvPr id="26" name="Shape 24"/>
          <p:cNvSpPr/>
          <p:nvPr/>
        </p:nvSpPr>
        <p:spPr>
          <a:xfrm>
            <a:off x="411480" y="3922776"/>
            <a:ext cx="11384280" cy="548640"/>
          </a:xfrm>
          <a:prstGeom prst="rect">
            <a:avLst/>
          </a:prstGeom>
          <a:solidFill>
            <a:srgbClr val="F1F5F9"/>
          </a:solidFill>
          <a:ln/>
        </p:spPr>
      </p:sp>
      <p:sp>
        <p:nvSpPr>
          <p:cNvPr id="27" name="Text 25"/>
          <p:cNvSpPr/>
          <p:nvPr/>
        </p:nvSpPr>
        <p:spPr>
          <a:xfrm>
            <a:off x="594360" y="4059936"/>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Servo horn</a:t>
            </a:r>
            <a:endParaRPr lang="en-US" sz="1200" dirty="0"/>
          </a:p>
        </p:txBody>
      </p:sp>
      <p:sp>
        <p:nvSpPr>
          <p:cNvPr id="28" name="Text 26"/>
          <p:cNvSpPr/>
          <p:nvPr/>
        </p:nvSpPr>
        <p:spPr>
          <a:xfrm>
            <a:off x="2971800" y="4059936"/>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£333 machining card</a:t>
            </a:r>
            <a:endParaRPr lang="en-US" sz="1100" dirty="0"/>
          </a:p>
        </p:txBody>
      </p:sp>
      <p:sp>
        <p:nvSpPr>
          <p:cNvPr id="29" name="Text 27"/>
          <p:cNvSpPr/>
          <p:nvPr/>
        </p:nvSpPr>
        <p:spPr>
          <a:xfrm>
            <a:off x="5623560" y="4059936"/>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£6.40</a:t>
            </a:r>
            <a:endParaRPr lang="en-US" sz="1150" dirty="0"/>
          </a:p>
        </p:txBody>
      </p:sp>
      <p:sp>
        <p:nvSpPr>
          <p:cNvPr id="30" name="Text 28"/>
          <p:cNvSpPr/>
          <p:nvPr/>
        </p:nvSpPr>
        <p:spPr>
          <a:xfrm>
            <a:off x="7955280" y="4059936"/>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266 min of cutting on a 3 g part</a:t>
            </a:r>
            <a:endParaRPr lang="en-US" sz="1050" dirty="0"/>
          </a:p>
        </p:txBody>
      </p:sp>
      <p:sp>
        <p:nvSpPr>
          <p:cNvPr id="31" name="Shape 29"/>
          <p:cNvSpPr/>
          <p:nvPr/>
        </p:nvSpPr>
        <p:spPr>
          <a:xfrm>
            <a:off x="411480" y="4489704"/>
            <a:ext cx="11384280" cy="548640"/>
          </a:xfrm>
          <a:prstGeom prst="rect">
            <a:avLst/>
          </a:prstGeom>
          <a:solidFill>
            <a:srgbClr val="FFFFFF"/>
          </a:solidFill>
          <a:ln/>
        </p:spPr>
      </p:sp>
      <p:sp>
        <p:nvSpPr>
          <p:cNvPr id="32" name="Text 30"/>
          <p:cNvSpPr/>
          <p:nvPr/>
        </p:nvSpPr>
        <p:spPr>
          <a:xfrm>
            <a:off x="594360" y="4626864"/>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Stub axle</a:t>
            </a:r>
            <a:endParaRPr lang="en-US" sz="1200" dirty="0"/>
          </a:p>
        </p:txBody>
      </p:sp>
      <p:sp>
        <p:nvSpPr>
          <p:cNvPr id="33" name="Text 31"/>
          <p:cNvSpPr/>
          <p:nvPr/>
        </p:nvSpPr>
        <p:spPr>
          <a:xfrm>
            <a:off x="2971800" y="4626864"/>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wrong — lightest metal</a:t>
            </a:r>
            <a:endParaRPr lang="en-US" sz="1100" dirty="0"/>
          </a:p>
        </p:txBody>
      </p:sp>
      <p:sp>
        <p:nvSpPr>
          <p:cNvPr id="34" name="Text 32"/>
          <p:cNvSpPr/>
          <p:nvPr/>
        </p:nvSpPr>
        <p:spPr>
          <a:xfrm>
            <a:off x="5623560" y="4626864"/>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forged steel, 8.1 kg</a:t>
            </a:r>
            <a:endParaRPr lang="en-US" sz="1150" dirty="0"/>
          </a:p>
        </p:txBody>
      </p:sp>
      <p:sp>
        <p:nvSpPr>
          <p:cNvPr id="35" name="Text 33"/>
          <p:cNvSpPr/>
          <p:nvPr/>
        </p:nvSpPr>
        <p:spPr>
          <a:xfrm>
            <a:off x="7955280" y="4626864"/>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picked the lightest material, not the real one</a:t>
            </a:r>
            <a:endParaRPr lang="en-US" sz="1050" dirty="0"/>
          </a:p>
        </p:txBody>
      </p:sp>
      <p:sp>
        <p:nvSpPr>
          <p:cNvPr id="36" name="Shape 34"/>
          <p:cNvSpPr/>
          <p:nvPr/>
        </p:nvSpPr>
        <p:spPr>
          <a:xfrm>
            <a:off x="411480" y="5056632"/>
            <a:ext cx="11384280" cy="548640"/>
          </a:xfrm>
          <a:prstGeom prst="rect">
            <a:avLst/>
          </a:prstGeom>
          <a:solidFill>
            <a:srgbClr val="F1F5F9"/>
          </a:solidFill>
          <a:ln/>
        </p:spPr>
      </p:sp>
      <p:sp>
        <p:nvSpPr>
          <p:cNvPr id="37" name="Text 35"/>
          <p:cNvSpPr/>
          <p:nvPr/>
        </p:nvSpPr>
        <p:spPr>
          <a:xfrm>
            <a:off x="594360" y="5193792"/>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Seat cross-member</a:t>
            </a:r>
            <a:endParaRPr lang="en-US" sz="1200" dirty="0"/>
          </a:p>
        </p:txBody>
      </p:sp>
      <p:sp>
        <p:nvSpPr>
          <p:cNvPr id="38" name="Text 36"/>
          <p:cNvSpPr/>
          <p:nvPr/>
        </p:nvSpPr>
        <p:spPr>
          <a:xfrm>
            <a:off x="2971800" y="5193792"/>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crash — missing field</a:t>
            </a:r>
            <a:endParaRPr lang="en-US" sz="1100" dirty="0"/>
          </a:p>
        </p:txBody>
      </p:sp>
      <p:sp>
        <p:nvSpPr>
          <p:cNvPr id="39" name="Text 37"/>
          <p:cNvSpPr/>
          <p:nvPr/>
        </p:nvSpPr>
        <p:spPr>
          <a:xfrm>
            <a:off x="5623560" y="5193792"/>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£1.11 steel stamping</a:t>
            </a:r>
            <a:endParaRPr lang="en-US" sz="1150" dirty="0"/>
          </a:p>
        </p:txBody>
      </p:sp>
      <p:sp>
        <p:nvSpPr>
          <p:cNvPr id="40" name="Text 38"/>
          <p:cNvSpPr/>
          <p:nvPr/>
        </p:nvSpPr>
        <p:spPr>
          <a:xfrm>
            <a:off x="7955280" y="5193792"/>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a missing AI field must never break the calc</a:t>
            </a:r>
            <a:endParaRPr lang="en-US" sz="1050" dirty="0"/>
          </a:p>
        </p:txBody>
      </p:sp>
      <p:sp>
        <p:nvSpPr>
          <p:cNvPr id="41" name="Shape 39"/>
          <p:cNvSpPr/>
          <p:nvPr/>
        </p:nvSpPr>
        <p:spPr>
          <a:xfrm>
            <a:off x="411480" y="5715000"/>
            <a:ext cx="11384280" cy="731520"/>
          </a:xfrm>
          <a:prstGeom prst="roundRect">
            <a:avLst>
              <a:gd name="adj" fmla="val 12500"/>
            </a:avLst>
          </a:prstGeom>
          <a:solidFill>
            <a:srgbClr val="EFF6FF"/>
          </a:solidFill>
          <a:ln/>
        </p:spPr>
      </p:sp>
      <p:sp>
        <p:nvSpPr>
          <p:cNvPr id="42" name="Text 40"/>
          <p:cNvSpPr/>
          <p:nvPr/>
        </p:nvSpPr>
        <p:spPr>
          <a:xfrm>
            <a:off x="685800" y="5852160"/>
            <a:ext cx="10881360" cy="502920"/>
          </a:xfrm>
          <a:prstGeom prst="rect">
            <a:avLst/>
          </a:prstGeom>
          <a:noFill/>
          <a:ln/>
        </p:spPr>
        <p:txBody>
          <a:bodyPr wrap="square" lIns="0" tIns="0" rIns="0" bIns="0" rtlCol="0" anchor="t"/>
          <a:lstStyle/>
          <a:p>
            <a:pPr indent="0" marL="0">
              <a:lnSpc>
                <a:spcPct val="110000"/>
              </a:lnSpc>
              <a:buNone/>
            </a:pPr>
            <a:r>
              <a:rPr lang="en-US" sz="1250" b="1" dirty="0">
                <a:solidFill>
                  <a:srgbClr val="2563EB"/>
                </a:solidFill>
                <a:latin typeface="Calibri" pitchFamily="34" charset="0"/>
                <a:ea typeface="Calibri" pitchFamily="34" charset="-122"/>
                <a:cs typeface="Calibri" pitchFamily="34" charset="-120"/>
              </a:rPr>
              <a:t>The point:  </a:t>
            </a:r>
            <a:pPr indent="0" marL="0">
              <a:lnSpc>
                <a:spcPct val="110000"/>
              </a:lnSpc>
              <a:buNone/>
            </a:pPr>
            <a:r>
              <a:rPr lang="en-US" sz="1200" dirty="0">
                <a:solidFill>
                  <a:srgbClr val="334155"/>
                </a:solidFill>
                <a:latin typeface="Calibri" pitchFamily="34" charset="0"/>
                <a:ea typeface="Calibri" pitchFamily="34" charset="-122"/>
                <a:cs typeface="Calibri" pitchFamily="34" charset="-120"/>
              </a:rPr>
              <a:t>geometry is ground truth; the AI only classifies material and process — and when it slips, the guardrails now catch it. Every fix shipped with a test, so the same mistake can’t come back.</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DIFFERENTIATOR</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Why ours is different — glass-box autonomy</a:t>
            </a:r>
            <a:endParaRPr lang="en-US" sz="2700" dirty="0"/>
          </a:p>
        </p:txBody>
      </p:sp>
      <p:sp>
        <p:nvSpPr>
          <p:cNvPr id="10" name="Shape 8"/>
          <p:cNvSpPr/>
          <p:nvPr/>
        </p:nvSpPr>
        <p:spPr>
          <a:xfrm>
            <a:off x="411480" y="1828800"/>
            <a:ext cx="11384280" cy="1188720"/>
          </a:xfrm>
          <a:prstGeom prst="roundRect">
            <a:avLst>
              <a:gd name="adj" fmla="val 4615"/>
            </a:avLst>
          </a:prstGeom>
          <a:solidFill>
            <a:srgbClr val="EFF6FF"/>
          </a:solidFill>
          <a:ln/>
        </p:spPr>
      </p:sp>
      <p:sp>
        <p:nvSpPr>
          <p:cNvPr id="11" name="Text 9"/>
          <p:cNvSpPr/>
          <p:nvPr/>
        </p:nvSpPr>
        <p:spPr>
          <a:xfrm>
            <a:off x="685800" y="2011680"/>
            <a:ext cx="10881360" cy="914400"/>
          </a:xfrm>
          <a:prstGeom prst="rect">
            <a:avLst/>
          </a:prstGeom>
          <a:noFill/>
          <a:ln/>
        </p:spPr>
        <p:txBody>
          <a:bodyPr wrap="square" lIns="0" tIns="0" rIns="0" bIns="0" rtlCol="0" anchor="t"/>
          <a:lstStyle/>
          <a:p>
            <a:pPr indent="0" marL="0">
              <a:lnSpc>
                <a:spcPct val="120000"/>
              </a:lnSpc>
              <a:buNone/>
            </a:pPr>
            <a:r>
              <a:rPr lang="en-US" sz="1500" b="1" dirty="0">
                <a:solidFill>
                  <a:srgbClr val="2563EB"/>
                </a:solidFill>
                <a:latin typeface="Calibri" pitchFamily="34" charset="0"/>
                <a:ea typeface="Calibri" pitchFamily="34" charset="-122"/>
                <a:cs typeface="Calibri" pitchFamily="34" charset="-120"/>
              </a:rPr>
              <a:t>The principle:  </a:t>
            </a:r>
            <a:pPr indent="0" marL="0">
              <a:lnSpc>
                <a:spcPct val="120000"/>
              </a:lnSpc>
              <a:buNone/>
            </a:pPr>
            <a:r>
              <a:rPr lang="en-US" sz="1350" dirty="0">
                <a:solidFill>
                  <a:srgbClr val="334155"/>
                </a:solidFill>
                <a:latin typeface="Calibri" pitchFamily="34" charset="0"/>
                <a:ea typeface="Calibri" pitchFamily="34" charset="-122"/>
                <a:cs typeface="Calibri" pitchFamily="34" charset="-120"/>
              </a:rPr>
              <a:t>every learned or derived number stays auditable — a value a cost engineer can read and defend. No black-box weight ever touches the price. The AI narrates and explains; it never decides the number in secret.</a:t>
            </a:r>
            <a:endParaRPr lang="en-US" sz="1500" dirty="0"/>
          </a:p>
        </p:txBody>
      </p:sp>
      <p:sp>
        <p:nvSpPr>
          <p:cNvPr id="12" name="Shape 10"/>
          <p:cNvSpPr/>
          <p:nvPr/>
        </p:nvSpPr>
        <p:spPr>
          <a:xfrm>
            <a:off x="411480" y="3200400"/>
            <a:ext cx="11384280" cy="530352"/>
          </a:xfrm>
          <a:prstGeom prst="roundRect">
            <a:avLst>
              <a:gd name="adj" fmla="val 17241"/>
            </a:avLst>
          </a:prstGeom>
          <a:solidFill>
            <a:srgbClr val="F1F5F9"/>
          </a:solidFill>
          <a:ln/>
        </p:spPr>
      </p:sp>
      <p:sp>
        <p:nvSpPr>
          <p:cNvPr id="13" name="Shape 11"/>
          <p:cNvSpPr/>
          <p:nvPr/>
        </p:nvSpPr>
        <p:spPr>
          <a:xfrm>
            <a:off x="411480" y="3200400"/>
            <a:ext cx="82296" cy="530352"/>
          </a:xfrm>
          <a:prstGeom prst="rect">
            <a:avLst/>
          </a:prstGeom>
          <a:solidFill>
            <a:srgbClr val="059669"/>
          </a:solidFill>
          <a:ln/>
        </p:spPr>
      </p:sp>
      <p:sp>
        <p:nvSpPr>
          <p:cNvPr id="14" name="Text 12"/>
          <p:cNvSpPr/>
          <p:nvPr/>
        </p:nvSpPr>
        <p:spPr>
          <a:xfrm>
            <a:off x="685800" y="3319272"/>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Continuous learning</a:t>
            </a:r>
            <a:endParaRPr lang="en-US" sz="1250" dirty="0"/>
          </a:p>
        </p:txBody>
      </p:sp>
      <p:sp>
        <p:nvSpPr>
          <p:cNvPr id="15" name="Text 13"/>
          <p:cNvSpPr/>
          <p:nvPr/>
        </p:nvSpPr>
        <p:spPr>
          <a:xfrm>
            <a:off x="4114800" y="3319272"/>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Calibrates on YOUR quotes; conformal band with a guarantee</a:t>
            </a:r>
            <a:endParaRPr lang="en-US" sz="1200" dirty="0"/>
          </a:p>
        </p:txBody>
      </p:sp>
      <p:sp>
        <p:nvSpPr>
          <p:cNvPr id="16" name="Shape 14"/>
          <p:cNvSpPr/>
          <p:nvPr/>
        </p:nvSpPr>
        <p:spPr>
          <a:xfrm>
            <a:off x="411480" y="3803904"/>
            <a:ext cx="11384280" cy="530352"/>
          </a:xfrm>
          <a:prstGeom prst="roundRect">
            <a:avLst>
              <a:gd name="adj" fmla="val 17241"/>
            </a:avLst>
          </a:prstGeom>
          <a:solidFill>
            <a:srgbClr val="FFFFFF"/>
          </a:solidFill>
          <a:ln/>
        </p:spPr>
      </p:sp>
      <p:sp>
        <p:nvSpPr>
          <p:cNvPr id="17" name="Shape 15"/>
          <p:cNvSpPr/>
          <p:nvPr/>
        </p:nvSpPr>
        <p:spPr>
          <a:xfrm>
            <a:off x="411480" y="3803904"/>
            <a:ext cx="82296" cy="530352"/>
          </a:xfrm>
          <a:prstGeom prst="rect">
            <a:avLst/>
          </a:prstGeom>
          <a:solidFill>
            <a:srgbClr val="059669"/>
          </a:solidFill>
          <a:ln/>
        </p:spPr>
      </p:sp>
      <p:sp>
        <p:nvSpPr>
          <p:cNvPr id="18" name="Text 16"/>
          <p:cNvSpPr/>
          <p:nvPr/>
        </p:nvSpPr>
        <p:spPr>
          <a:xfrm>
            <a:off x="685800" y="3922776"/>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Autonomous action</a:t>
            </a:r>
            <a:endParaRPr lang="en-US" sz="1250" dirty="0"/>
          </a:p>
        </p:txBody>
      </p:sp>
      <p:sp>
        <p:nvSpPr>
          <p:cNvPr id="19" name="Text 17"/>
          <p:cNvSpPr/>
          <p:nvPr/>
        </p:nvSpPr>
        <p:spPr>
          <a:xfrm>
            <a:off x="4114800" y="3922776"/>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Agent opens findings unattended AND learns which convert</a:t>
            </a:r>
            <a:endParaRPr lang="en-US" sz="1200" dirty="0"/>
          </a:p>
        </p:txBody>
      </p:sp>
      <p:sp>
        <p:nvSpPr>
          <p:cNvPr id="20" name="Shape 18"/>
          <p:cNvSpPr/>
          <p:nvPr/>
        </p:nvSpPr>
        <p:spPr>
          <a:xfrm>
            <a:off x="411480" y="4407408"/>
            <a:ext cx="11384280" cy="530352"/>
          </a:xfrm>
          <a:prstGeom prst="roundRect">
            <a:avLst>
              <a:gd name="adj" fmla="val 17241"/>
            </a:avLst>
          </a:prstGeom>
          <a:solidFill>
            <a:srgbClr val="F1F5F9"/>
          </a:solidFill>
          <a:ln/>
        </p:spPr>
      </p:sp>
      <p:sp>
        <p:nvSpPr>
          <p:cNvPr id="21" name="Shape 19"/>
          <p:cNvSpPr/>
          <p:nvPr/>
        </p:nvSpPr>
        <p:spPr>
          <a:xfrm>
            <a:off x="411480" y="4407408"/>
            <a:ext cx="82296" cy="530352"/>
          </a:xfrm>
          <a:prstGeom prst="rect">
            <a:avLst/>
          </a:prstGeom>
          <a:solidFill>
            <a:srgbClr val="059669"/>
          </a:solidFill>
          <a:ln/>
        </p:spPr>
      </p:sp>
      <p:sp>
        <p:nvSpPr>
          <p:cNvPr id="22" name="Text 20"/>
          <p:cNvSpPr/>
          <p:nvPr/>
        </p:nvSpPr>
        <p:spPr>
          <a:xfrm>
            <a:off x="685800" y="4526280"/>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Causal reasoning</a:t>
            </a:r>
            <a:endParaRPr lang="en-US" sz="1250" dirty="0"/>
          </a:p>
        </p:txBody>
      </p:sp>
      <p:sp>
        <p:nvSpPr>
          <p:cNvPr id="23" name="Text 21"/>
          <p:cNvSpPr/>
          <p:nvPr/>
        </p:nvSpPr>
        <p:spPr>
          <a:xfrm>
            <a:off x="4114800" y="4526280"/>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Knows why a part costs what it does; coaches the negotiation</a:t>
            </a:r>
            <a:endParaRPr lang="en-US" sz="1200" dirty="0"/>
          </a:p>
        </p:txBody>
      </p:sp>
      <p:sp>
        <p:nvSpPr>
          <p:cNvPr id="24" name="Shape 22"/>
          <p:cNvSpPr/>
          <p:nvPr/>
        </p:nvSpPr>
        <p:spPr>
          <a:xfrm>
            <a:off x="411480" y="5010912"/>
            <a:ext cx="11384280" cy="530352"/>
          </a:xfrm>
          <a:prstGeom prst="roundRect">
            <a:avLst>
              <a:gd name="adj" fmla="val 17241"/>
            </a:avLst>
          </a:prstGeom>
          <a:solidFill>
            <a:srgbClr val="FFFFFF"/>
          </a:solidFill>
          <a:ln/>
        </p:spPr>
      </p:sp>
      <p:sp>
        <p:nvSpPr>
          <p:cNvPr id="25" name="Shape 23"/>
          <p:cNvSpPr/>
          <p:nvPr/>
        </p:nvSpPr>
        <p:spPr>
          <a:xfrm>
            <a:off x="411480" y="5010912"/>
            <a:ext cx="82296" cy="530352"/>
          </a:xfrm>
          <a:prstGeom prst="rect">
            <a:avLst/>
          </a:prstGeom>
          <a:solidFill>
            <a:srgbClr val="2563EB"/>
          </a:solidFill>
          <a:ln/>
        </p:spPr>
      </p:sp>
      <p:sp>
        <p:nvSpPr>
          <p:cNvPr id="26" name="Text 24"/>
          <p:cNvSpPr/>
          <p:nvPr/>
        </p:nvSpPr>
        <p:spPr>
          <a:xfrm>
            <a:off x="685800" y="5129784"/>
            <a:ext cx="3291840" cy="32004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Explainable — always</a:t>
            </a:r>
            <a:endParaRPr lang="en-US" sz="1250" dirty="0"/>
          </a:p>
        </p:txBody>
      </p:sp>
      <p:sp>
        <p:nvSpPr>
          <p:cNvPr id="27" name="Text 25"/>
          <p:cNvSpPr/>
          <p:nvPr/>
        </p:nvSpPr>
        <p:spPr>
          <a:xfrm>
            <a:off x="4114800" y="5129784"/>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Every number defensible line-by-line; the competitor’s edge is the opposite</a:t>
            </a:r>
            <a:endParaRPr lang="en-US" sz="1200" dirty="0"/>
          </a:p>
        </p:txBody>
      </p:sp>
      <p:sp>
        <p:nvSpPr>
          <p:cNvPr id="28" name="Shape 26"/>
          <p:cNvSpPr/>
          <p:nvPr/>
        </p:nvSpPr>
        <p:spPr>
          <a:xfrm>
            <a:off x="411480" y="5614416"/>
            <a:ext cx="11384280" cy="530352"/>
          </a:xfrm>
          <a:prstGeom prst="roundRect">
            <a:avLst>
              <a:gd name="adj" fmla="val 17241"/>
            </a:avLst>
          </a:prstGeom>
          <a:solidFill>
            <a:srgbClr val="F1F5F9"/>
          </a:solidFill>
          <a:ln/>
        </p:spPr>
      </p:sp>
      <p:sp>
        <p:nvSpPr>
          <p:cNvPr id="29" name="Shape 27"/>
          <p:cNvSpPr/>
          <p:nvPr/>
        </p:nvSpPr>
        <p:spPr>
          <a:xfrm>
            <a:off x="411480" y="5614416"/>
            <a:ext cx="82296" cy="530352"/>
          </a:xfrm>
          <a:prstGeom prst="rect">
            <a:avLst/>
          </a:prstGeom>
          <a:solidFill>
            <a:srgbClr val="7C3AED"/>
          </a:solidFill>
          <a:ln/>
        </p:spPr>
      </p:sp>
      <p:sp>
        <p:nvSpPr>
          <p:cNvPr id="30" name="Text 28"/>
          <p:cNvSpPr/>
          <p:nvPr/>
        </p:nvSpPr>
        <p:spPr>
          <a:xfrm>
            <a:off x="685800" y="5733288"/>
            <a:ext cx="3291840" cy="32004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Runs in your walls</a:t>
            </a:r>
            <a:endParaRPr lang="en-US" sz="1250" dirty="0"/>
          </a:p>
        </p:txBody>
      </p:sp>
      <p:sp>
        <p:nvSpPr>
          <p:cNvPr id="31" name="Text 29"/>
          <p:cNvSpPr/>
          <p:nvPr/>
        </p:nvSpPr>
        <p:spPr>
          <a:xfrm>
            <a:off x="4114800" y="5733288"/>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On-premise; the knowledge is your IP and never leaves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NEXT STEPS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Where we are, and the ask</a:t>
            </a:r>
            <a:endParaRPr lang="en-US" sz="2700" dirty="0"/>
          </a:p>
        </p:txBody>
      </p:sp>
      <p:sp>
        <p:nvSpPr>
          <p:cNvPr id="10" name="Shape 8"/>
          <p:cNvSpPr/>
          <p:nvPr/>
        </p:nvSpPr>
        <p:spPr>
          <a:xfrm>
            <a:off x="411480" y="1828800"/>
            <a:ext cx="5486400" cy="4023360"/>
          </a:xfrm>
          <a:prstGeom prst="roundRect">
            <a:avLst>
              <a:gd name="adj" fmla="val 1136"/>
            </a:avLst>
          </a:prstGeom>
          <a:solidFill>
            <a:srgbClr val="F1F5F9"/>
          </a:solidFill>
          <a:ln/>
        </p:spPr>
      </p:sp>
      <p:sp>
        <p:nvSpPr>
          <p:cNvPr id="11" name="Text 9"/>
          <p:cNvSpPr/>
          <p:nvPr/>
        </p:nvSpPr>
        <p:spPr>
          <a:xfrm>
            <a:off x="685800" y="2057400"/>
            <a:ext cx="4937760" cy="365760"/>
          </a:xfrm>
          <a:prstGeom prst="rect">
            <a:avLst/>
          </a:prstGeom>
          <a:noFill/>
          <a:ln/>
        </p:spPr>
        <p:txBody>
          <a:bodyPr wrap="square" lIns="0" tIns="0" rIns="0" bIns="0" rtlCol="0" anchor="t"/>
          <a:lstStyle/>
          <a:p>
            <a:pPr indent="0" marL="0">
              <a:buNone/>
            </a:pPr>
            <a:r>
              <a:rPr lang="en-US" sz="1600" b="1" dirty="0">
                <a:solidFill>
                  <a:srgbClr val="059669"/>
                </a:solidFill>
                <a:latin typeface="Calibri" pitchFamily="34" charset="0"/>
                <a:ea typeface="Calibri" pitchFamily="34" charset="-122"/>
                <a:cs typeface="Calibri" pitchFamily="34" charset="-120"/>
              </a:rPr>
              <a:t>Status today</a:t>
            </a:r>
            <a:endParaRPr lang="en-US" sz="1600" dirty="0"/>
          </a:p>
        </p:txBody>
      </p:sp>
      <p:sp>
        <p:nvSpPr>
          <p:cNvPr id="12" name="Text 10"/>
          <p:cNvSpPr/>
          <p:nvPr/>
        </p:nvSpPr>
        <p:spPr>
          <a:xfrm>
            <a:off x="685800" y="256032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All capabilities built, tested (1,005 tests) and live — incl. 8 new for 2026</a:t>
            </a:r>
            <a:endParaRPr lang="en-US" sz="1250" dirty="0"/>
          </a:p>
        </p:txBody>
      </p:sp>
      <p:sp>
        <p:nvSpPr>
          <p:cNvPr id="13" name="Text 11"/>
          <p:cNvSpPr/>
          <p:nvPr/>
        </p:nvSpPr>
        <p:spPr>
          <a:xfrm>
            <a:off x="685800" y="306324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Verified end-to-end; ships as a container (CAD engine included), CI build-tested</a:t>
            </a:r>
            <a:endParaRPr lang="en-US" sz="1250" dirty="0"/>
          </a:p>
        </p:txBody>
      </p:sp>
      <p:sp>
        <p:nvSpPr>
          <p:cNvPr id="14" name="Text 12"/>
          <p:cNvSpPr/>
          <p:nvPr/>
        </p:nvSpPr>
        <p:spPr>
          <a:xfrm>
            <a:off x="685800" y="356616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Zero extra licence cost — built into our tool</a:t>
            </a:r>
            <a:endParaRPr lang="en-US" sz="1250" dirty="0"/>
          </a:p>
        </p:txBody>
      </p:sp>
      <p:sp>
        <p:nvSpPr>
          <p:cNvPr id="15" name="Text 13"/>
          <p:cNvSpPr/>
          <p:nvPr/>
        </p:nvSpPr>
        <p:spPr>
          <a:xfrm>
            <a:off x="685800" y="406908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Runs on-premise; no data leaves the company</a:t>
            </a:r>
            <a:endParaRPr lang="en-US" sz="1250" dirty="0"/>
          </a:p>
        </p:txBody>
      </p:sp>
      <p:sp>
        <p:nvSpPr>
          <p:cNvPr id="16" name="Text 14"/>
          <p:cNvSpPr/>
          <p:nvPr/>
        </p:nvSpPr>
        <p:spPr>
          <a:xfrm>
            <a:off x="685800" y="4709160"/>
            <a:ext cx="4937760" cy="1005840"/>
          </a:xfrm>
          <a:prstGeom prst="rect">
            <a:avLst/>
          </a:prstGeom>
          <a:noFill/>
          <a:ln/>
        </p:spPr>
        <p:txBody>
          <a:bodyPr wrap="square" lIns="0" tIns="0" rIns="0" bIns="0" rtlCol="0" anchor="t"/>
          <a:lstStyle/>
          <a:p>
            <a:pPr indent="0" marL="0">
              <a:lnSpc>
                <a:spcPct val="115000"/>
              </a:lnSpc>
              <a:buNone/>
            </a:pPr>
            <a:r>
              <a:rPr lang="en-US" sz="1200" b="1" dirty="0">
                <a:solidFill>
                  <a:srgbClr val="0F172A"/>
                </a:solidFill>
                <a:latin typeface="Calibri" pitchFamily="34" charset="0"/>
                <a:ea typeface="Calibri" pitchFamily="34" charset="-122"/>
                <a:cs typeface="Calibri" pitchFamily="34" charset="-120"/>
              </a:rPr>
              <a:t>Honest note: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the intelligence starts empty and grows with use. The mechanism is proven; the value builds as we feed it.</a:t>
            </a:r>
            <a:endParaRPr lang="en-US" sz="1200" dirty="0"/>
          </a:p>
        </p:txBody>
      </p:sp>
      <p:sp>
        <p:nvSpPr>
          <p:cNvPr id="17" name="Shape 15"/>
          <p:cNvSpPr/>
          <p:nvPr/>
        </p:nvSpPr>
        <p:spPr>
          <a:xfrm>
            <a:off x="6263640" y="1828800"/>
            <a:ext cx="5532120" cy="4023360"/>
          </a:xfrm>
          <a:prstGeom prst="roundRect">
            <a:avLst>
              <a:gd name="adj" fmla="val 1136"/>
            </a:avLst>
          </a:prstGeom>
          <a:solidFill>
            <a:srgbClr val="EFF6FF"/>
          </a:solidFill>
          <a:ln/>
        </p:spPr>
      </p:sp>
      <p:sp>
        <p:nvSpPr>
          <p:cNvPr id="18" name="Text 16"/>
          <p:cNvSpPr/>
          <p:nvPr/>
        </p:nvSpPr>
        <p:spPr>
          <a:xfrm>
            <a:off x="6537960" y="2057400"/>
            <a:ext cx="4937760" cy="365760"/>
          </a:xfrm>
          <a:prstGeom prst="rect">
            <a:avLst/>
          </a:prstGeom>
          <a:noFill/>
          <a:ln/>
        </p:spPr>
        <p:txBody>
          <a:bodyPr wrap="square" lIns="0" tIns="0" rIns="0" bIns="0" rtlCol="0" anchor="t"/>
          <a:lstStyle/>
          <a:p>
            <a:pPr indent="0" marL="0">
              <a:buNone/>
            </a:pPr>
            <a:r>
              <a:rPr lang="en-US" sz="1600" b="1" dirty="0">
                <a:solidFill>
                  <a:srgbClr val="2563EB"/>
                </a:solidFill>
                <a:latin typeface="Calibri" pitchFamily="34" charset="0"/>
                <a:ea typeface="Calibri" pitchFamily="34" charset="-122"/>
                <a:cs typeface="Calibri" pitchFamily="34" charset="-120"/>
              </a:rPr>
              <a:t>The ask — three small decisions</a:t>
            </a:r>
            <a:endParaRPr lang="en-US" sz="1600" dirty="0"/>
          </a:p>
        </p:txBody>
      </p:sp>
      <p:sp>
        <p:nvSpPr>
          <p:cNvPr id="19" name="Text 17"/>
          <p:cNvSpPr/>
          <p:nvPr/>
        </p:nvSpPr>
        <p:spPr>
          <a:xfrm>
            <a:off x="6537960" y="260604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1.  Adopt the habit</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Make "Log Actual £" part of the quote-handling routine. One click per quote.</a:t>
            </a:r>
            <a:endParaRPr lang="en-US" sz="1350" dirty="0"/>
          </a:p>
        </p:txBody>
      </p:sp>
      <p:sp>
        <p:nvSpPr>
          <p:cNvPr id="20" name="Text 18"/>
          <p:cNvSpPr/>
          <p:nvPr/>
        </p:nvSpPr>
        <p:spPr>
          <a:xfrm>
            <a:off x="6537960" y="356616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2.  Seed the memory</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Approve a one-off import of historical quotes so the tool starts smart (~1–2 days of effort).</a:t>
            </a:r>
            <a:endParaRPr lang="en-US" sz="1350" dirty="0"/>
          </a:p>
        </p:txBody>
      </p:sp>
      <p:sp>
        <p:nvSpPr>
          <p:cNvPr id="21" name="Text 19"/>
          <p:cNvSpPr/>
          <p:nvPr/>
        </p:nvSpPr>
        <p:spPr>
          <a:xfrm>
            <a:off x="6537960" y="452628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3.  Review the findings</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Put the agent's monthly findings on the sourcing team's agenda — it is already finding money.</a:t>
            </a:r>
            <a:endParaRPr lang="en-US" sz="1350" dirty="0"/>
          </a:p>
        </p:txBody>
      </p:sp>
      <p:sp>
        <p:nvSpPr>
          <p:cNvPr id="22" name="Shape 20"/>
          <p:cNvSpPr/>
          <p:nvPr/>
        </p:nvSpPr>
        <p:spPr>
          <a:xfrm>
            <a:off x="0" y="6711696"/>
            <a:ext cx="12191695" cy="146304"/>
          </a:xfrm>
          <a:prstGeom prst="rect">
            <a:avLst/>
          </a:prstGeom>
          <a:solidFill>
            <a:srgbClr val="4F46E5"/>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in CostVision</dc:title>
  <dc:subject>PptxGenJS Presentation</dc:subject>
  <dc:creator>CostVision</dc:creator>
  <cp:lastModifiedBy>CostVision</cp:lastModifiedBy>
  <cp:revision>1</cp:revision>
  <dcterms:created xsi:type="dcterms:W3CDTF">2026-07-22T11:43:18Z</dcterms:created>
  <dcterms:modified xsi:type="dcterms:W3CDTF">2026-07-22T11:43:18Z</dcterms:modified>
</cp:coreProperties>
</file>