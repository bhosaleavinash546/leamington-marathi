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4748B"/>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2563EB"/>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one thousand seven hundred and seventy-seven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one thousand seven hundred and seventy-seven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one thousand seven hundred and seventy-seven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capabilities since we last spoke, and this is the first. Until now the tool looked at the finished cost and worked backwards — tooling looks high, so something about the shape must be expensive. That is inference. Now it opens the 3D model and measures every single face on the part, and it tells you exactly which features cost money. Nineteen rules, and every one of them cites a published standard — the ASM Handbook, the die-casting association, Machinery's Handbook. That was a rule I set myself: no citation, no ship. If we cannot say where a threshold came from, it does not go in. Six commodity packs, because a casting and a sheet-metal part fail in completely different ways. The middle card is the one engineers care about. It does not say tooling looks high. It says face one-eight-six sits at a hundred and thirty-five degrees to the draw direction and cannot come out of the die. You can click it and see the face highlighted on the model. That is a conversation with a supplier, not a hunch. Two more things at the bottom. It runs by itself in the background after upload, so nobody waits. And — this is the part I insisted on — every part also lists what it could NOT check. A short list of problems must never be mistaken for a clean 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thing, and this one came directly from cost engineering and the plant asking for it. Gears used to go through the tool as if they were ordinary milled parts, and the milling model cannot see a tooth. Look at the three rows. Same gear, same size, same programme. The only thing changing is how accurate we ask it to be. A loose gear, we cut the teeth and check it — eight pounds twenty-six. An accurate gear has to be hardened in a furnace, and because hardening bends it slightly, it then has to be ground. Two extra machines. Thirteen fifty-five. So asking for a better gear does not make the same work cost more. It adds machines. Any tool that just multiplies by one-point-four is wrong. Bottom row is an internal ring gear. A hob physically cannot get inside a bore, so the tool does not even offer it — it picks a different process. Geometry decides, not preference. The two boxes underneath matter as much as the numbers. If we cannot make a gear on any machine we know about, the tool refuses rather than quietly costing it on the nearest one. And it is honest that the shop figures are representative until your plant gives us theirs — it prints that warning on every single gear estimate. I would rather it under-claim than have your plant head catch it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1,777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(77 suites)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Segoe UI Emoj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Segoe UI Emoj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Segoe UI Emoj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Segoe UI Emoj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Segoe UI Emoji"/>
              </a:rPr>
              <a:t>🧠</a:t>
            </a: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Segoe UI Emoji"/>
              </a:rPr>
              <a:t>💰</a:t>
            </a: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Segoe UI Emoji"/>
              </a:rPr>
              <a:t>🚨</a:t>
            </a: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Segoe UI Emoji"/>
              </a:rPr>
              <a:t>📚</a:t>
            </a: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Segoe UI Emoji"/>
              </a:rPr>
              <a:t>📄</a:t>
            </a: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Segoe UI Emoji"/>
              </a:rPr>
              <a:t>📐</a:t>
            </a: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Segoe UI Emoji"/>
              </a:rPr>
              <a:t>🌱</a:t>
            </a: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19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1,777 passing (77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Segoe UI Emoji"/>
              </a:rPr>
              <a:t>⚡</a:t>
            </a: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Segoe UI Emoji"/>
              </a:rPr>
              <a:t>🎯</a:t>
            </a: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Segoe UI Emoji"/>
              </a:rPr>
              <a:t>🏦</a:t>
            </a: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Segoe UI Emoji"/>
              </a:rPr>
              <a:t>💰</a:t>
            </a: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Every should-cost now carries two ranges — the physics estimate, and an </a:t>
            </a:r>
            <a:r>
              <a:rPr sz="1350" b="1" i="0">
                <a:solidFill>
                  <a:srgbClr val="0F172A"/>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How well the inputs are known — before you have any real quotes.</a:t>
            </a:r>
          </a:p>
          <a:p>
            <a:pPr algn="l">
              <a:lnSpc>
                <a:spcPct val="115000"/>
              </a:lnSpc>
              <a:spcAft>
                <a:spcPts val="800"/>
              </a:spcAft>
            </a:pPr>
            <a:r>
              <a:rPr sz="1400" b="1" i="0">
                <a:solidFill>
                  <a:srgbClr val="0F172A"/>
                </a:solidFill>
                <a:latin typeface="Calibri"/>
              </a:rPr>
              <a:t>Example:  £86.34  ± 3.4%</a:t>
            </a:r>
          </a:p>
          <a:p>
            <a:pPr algn="l">
              <a:lnSpc>
                <a:spcPct val="115000"/>
              </a:lnSpc>
              <a:spcAft>
                <a:spcPts val="800"/>
              </a:spcAft>
            </a:pPr>
            <a:r>
              <a:rPr sz="1100" b="0" i="1">
                <a:solidFill>
                  <a:srgbClr val="64748B"/>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Proven against the quotes YOU logged — with a coverage guarantee.</a:t>
            </a:r>
          </a:p>
          <a:p>
            <a:pPr algn="l">
              <a:lnSpc>
                <a:spcPct val="115000"/>
              </a:lnSpc>
              <a:spcAft>
                <a:spcPts val="800"/>
              </a:spcAft>
            </a:pPr>
            <a:r>
              <a:rPr sz="1300" b="1" i="0">
                <a:solidFill>
                  <a:srgbClr val="0F172A"/>
                </a:solidFill>
                <a:latin typeface="Calibri"/>
              </a:rPr>
              <a:t>Example:  90% of your quotes land within  ± 6.5%  →  £81.54 – £92.88</a:t>
            </a:r>
          </a:p>
          <a:p>
            <a:pPr algn="l">
              <a:lnSpc>
                <a:spcPct val="115000"/>
              </a:lnSpc>
              <a:spcAft>
                <a:spcPts val="800"/>
              </a:spcAft>
            </a:pPr>
            <a:r>
              <a:rPr sz="1100" b="0" i="1">
                <a:solidFill>
                  <a:srgbClr val="059669"/>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2563EB"/>
                </a:solidFill>
                <a:latin typeface="Calibri"/>
              </a:rPr>
              <a:t>Why it helps:  </a:t>
            </a:r>
            <a:r>
              <a:rPr sz="1250" b="0" i="0">
                <a:solidFill>
                  <a:srgbClr val="334155"/>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autonomous agent no longer just finds gaps — it learns which findings </a:t>
            </a:r>
            <a:r>
              <a:rPr sz="1350" b="1" i="0">
                <a:solidFill>
                  <a:srgbClr val="0F172A"/>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£40k</a:t>
            </a:r>
          </a:p>
        </p:txBody>
      </p:sp>
      <p:sp>
        <p:nvSpPr>
          <p:cNvPr id="20" name="Rectangle 19"/>
          <p:cNvSpPr/>
          <p:nvPr/>
        </p:nvSpPr>
        <p:spPr>
          <a:xfrm>
            <a:off x="411480" y="3310128"/>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2563EB"/>
                </a:solidFill>
                <a:latin typeface="Calibri"/>
              </a:rPr>
              <a:t>The result: </a:t>
            </a:r>
            <a:r>
              <a:rPr sz="1250" b="0" i="0">
                <a:solidFill>
                  <a:srgbClr val="334155"/>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59669"/>
                </a:solidFill>
                <a:latin typeface="Calibri"/>
              </a:rPr>
              <a:t>Why it helps:  </a:t>
            </a:r>
            <a:r>
              <a:rPr sz="1250" b="0" i="0">
                <a:solidFill>
                  <a:srgbClr val="334155"/>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tool now knows </a:t>
            </a:r>
            <a:r>
              <a:rPr sz="1350" b="1" i="1">
                <a:solidFill>
                  <a:srgbClr val="0F172A"/>
                </a:solidFill>
                <a:latin typeface="Calibri"/>
              </a:rPr>
              <a:t>why</a:t>
            </a:r>
            <a:r>
              <a:rPr sz="1350" b="0" i="0">
                <a:solidFill>
                  <a:srgbClr val="334155"/>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0F172A"/>
                </a:solidFill>
                <a:latin typeface="Calibri"/>
              </a:rPr>
              <a:t>“Material is £8.39 of this part, driven by Aluminium. Every 1% move in the Aluminium index shifts the piece price by £0.11. </a:t>
            </a:r>
            <a:r>
              <a:rPr sz="1400" b="1" i="0">
                <a:solidFill>
                  <a:srgbClr val="7C3AED"/>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F172A"/>
                </a:solidFill>
                <a:latin typeface="Calibri"/>
              </a:rPr>
              <a:t>What it does</a:t>
            </a:r>
          </a:p>
          <a:p>
            <a:pPr algn="l">
              <a:lnSpc>
                <a:spcPct val="118000"/>
              </a:lnSpc>
              <a:spcAft>
                <a:spcPts val="600"/>
              </a:spcAft>
            </a:pPr>
            <a:r>
              <a:rPr sz="1150" b="0" i="0">
                <a:solidFill>
                  <a:srgbClr val="334155"/>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59669"/>
                </a:solidFill>
                <a:latin typeface="Calibri"/>
              </a:rPr>
              <a:t>Why it helps</a:t>
            </a:r>
          </a:p>
          <a:p>
            <a:pPr algn="l">
              <a:lnSpc>
                <a:spcPct val="118000"/>
              </a:lnSpc>
              <a:spcAft>
                <a:spcPts val="600"/>
              </a:spcAft>
            </a:pPr>
            <a:r>
              <a:rPr sz="1150" b="0" i="0">
                <a:solidFill>
                  <a:srgbClr val="334155"/>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Drag a commodity −20% … +20% and the piece price recomputes as you move.</a:t>
            </a:r>
          </a:p>
          <a:p>
            <a:pPr algn="l">
              <a:lnSpc>
                <a:spcPct val="115000"/>
              </a:lnSpc>
              <a:spcAft>
                <a:spcPts val="800"/>
              </a:spcAft>
            </a:pPr>
            <a:r>
              <a:rPr sz="1350" b="1" i="0">
                <a:solidFill>
                  <a:srgbClr val="0F172A"/>
                </a:solidFill>
                <a:latin typeface="Calibri"/>
              </a:rPr>
              <a:t>Example:  Aluminium +15%  →  £86.34 → £87.92</a:t>
            </a:r>
          </a:p>
          <a:p>
            <a:pPr algn="l">
              <a:lnSpc>
                <a:spcPct val="115000"/>
              </a:lnSpc>
              <a:spcAft>
                <a:spcPts val="800"/>
              </a:spcAft>
            </a:pPr>
            <a:r>
              <a:rPr sz="1100" b="0" i="1">
                <a:solidFill>
                  <a:srgbClr val="64748B"/>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Apply a move across every part at once and see who changes status.</a:t>
            </a:r>
          </a:p>
          <a:p>
            <a:pPr algn="l">
              <a:lnSpc>
                <a:spcPct val="115000"/>
              </a:lnSpc>
              <a:spcAft>
                <a:spcPts val="800"/>
              </a:spcAft>
            </a:pPr>
            <a:r>
              <a:rPr sz="1350" b="1" i="0">
                <a:solidFill>
                  <a:srgbClr val="0F172A"/>
                </a:solidFill>
                <a:latin typeface="Calibri"/>
              </a:rPr>
              <a:t>Example:  "If Steel +10% → 7 parts cross underwater, £X/yr at risk."</a:t>
            </a:r>
          </a:p>
          <a:p>
            <a:pPr algn="l">
              <a:lnSpc>
                <a:spcPct val="115000"/>
              </a:lnSpc>
              <a:spcAft>
                <a:spcPts val="800"/>
              </a:spcAft>
            </a:pPr>
            <a:r>
              <a:rPr sz="1100" b="0" i="1">
                <a:solidFill>
                  <a:srgbClr val="64748B"/>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D97706"/>
                </a:solidFill>
                <a:latin typeface="Calibri"/>
              </a:rPr>
              <a:t>Honest by design:  </a:t>
            </a:r>
            <a:r>
              <a:rPr sz="1250" b="0" i="0">
                <a:solidFill>
                  <a:srgbClr val="334155"/>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Photograph a circuit board, get a costed bill of materials in ~60 seconds. This year we hardened it from a clever demo into a </a:t>
            </a:r>
            <a:r>
              <a:rPr sz="1300" b="1" i="0">
                <a:solidFill>
                  <a:srgbClr val="0F172A"/>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4748B"/>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What we fixed this year</a:t>
            </a:r>
          </a:p>
        </p:txBody>
      </p:sp>
      <p:sp>
        <p:nvSpPr>
          <p:cNvPr id="14" name="Rectangle 13"/>
          <p:cNvSpPr/>
          <p:nvPr/>
        </p:nvSpPr>
        <p:spPr>
          <a:xfrm>
            <a:off x="6537960" y="2834640"/>
            <a:ext cx="82296"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78892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Empty-BOM bug — killed — </a:t>
            </a:r>
            <a:r>
              <a:rPr sz="1050" b="0" i="0">
                <a:solidFill>
                  <a:srgbClr val="334155"/>
                </a:solidFill>
                <a:latin typeface="Calibri"/>
              </a:rPr>
              <a:t>Complex boards used to return nothing; now we read every block the model emits.</a:t>
            </a:r>
          </a:p>
        </p:txBody>
      </p:sp>
      <p:sp>
        <p:nvSpPr>
          <p:cNvPr id="16" name="Rectangle 15"/>
          <p:cNvSpPr/>
          <p:nvPr/>
        </p:nvSpPr>
        <p:spPr>
          <a:xfrm>
            <a:off x="6537960" y="3337559"/>
            <a:ext cx="82296"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291839"/>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Catalogue grounding — </a:t>
            </a:r>
            <a:r>
              <a:rPr sz="1050" b="0" i="0">
                <a:solidFill>
                  <a:srgbClr val="334155"/>
                </a:solidFill>
                <a:latin typeface="Calibri"/>
              </a:rPr>
              <a:t>Confirmed parts snap to real market prices — offline, no external API.</a:t>
            </a:r>
          </a:p>
        </p:txBody>
      </p:sp>
      <p:sp>
        <p:nvSpPr>
          <p:cNvPr id="18" name="Rectangle 17"/>
          <p:cNvSpPr/>
          <p:nvPr/>
        </p:nvSpPr>
        <p:spPr>
          <a:xfrm>
            <a:off x="6537960" y="384048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79476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Class-median cap + magnitude guard — </a:t>
            </a:r>
            <a:r>
              <a:rPr sz="1050" b="0" i="0">
                <a:solidFill>
                  <a:srgbClr val="334155"/>
                </a:solidFill>
                <a:latin typeface="Calibri"/>
              </a:rPr>
              <a:t>A misread part can no longer dominate: one MCU £84 → £18, capped &amp; flagged.</a:t>
            </a:r>
          </a:p>
        </p:txBody>
      </p:sp>
      <p:sp>
        <p:nvSpPr>
          <p:cNvPr id="20" name="Rectangle 19"/>
          <p:cNvSpPr/>
          <p:nvPr/>
        </p:nvSpPr>
        <p:spPr>
          <a:xfrm>
            <a:off x="6537960" y="4343400"/>
            <a:ext cx="82296" cy="3840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29768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Deterministic fabrication — </a:t>
            </a:r>
            <a:r>
              <a:rPr sz="1050" b="0" i="0">
                <a:solidFill>
                  <a:srgbClr val="334155"/>
                </a:solidFill>
                <a:latin typeface="Calibri"/>
              </a:rPr>
              <a:t>Fab is derived from stable board features — the headline no longer swings run-to-run.</a:t>
            </a:r>
          </a:p>
        </p:txBody>
      </p:sp>
      <p:sp>
        <p:nvSpPr>
          <p:cNvPr id="22" name="Rectangle 21"/>
          <p:cNvSpPr/>
          <p:nvPr/>
        </p:nvSpPr>
        <p:spPr>
          <a:xfrm>
            <a:off x="6537960" y="4846320"/>
            <a:ext cx="82296"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0060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Confirmed vs needs-verification — </a:t>
            </a:r>
            <a:r>
              <a:rPr sz="1050" b="0" i="0">
                <a:solidFill>
                  <a:srgbClr val="334155"/>
                </a:solidFill>
                <a:latin typeface="Calibri"/>
              </a:rPr>
              <a:t>The headline splits the £ you can trust from the £ to firm up.</a:t>
            </a:r>
          </a:p>
        </p:txBody>
      </p:sp>
      <p:sp>
        <p:nvSpPr>
          <p:cNvPr id="24" name="Rounded Rectangle 23"/>
          <p:cNvSpPr/>
          <p:nvPr/>
        </p:nvSpPr>
        <p:spPr>
          <a:xfrm>
            <a:off x="411480" y="5468112"/>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2563EB"/>
                </a:solidFill>
                <a:latin typeface="Calibri"/>
              </a:rPr>
              <a:t>Result:  </a:t>
            </a:r>
            <a:r>
              <a:rPr sz="1200" b="0" i="0">
                <a:solidFill>
                  <a:srgbClr val="334155"/>
                </a:solidFill>
                <a:latin typeface="Calibri"/>
              </a:rPr>
              <a:t>the 2–3× over-costing is gone. That live ECU came back ASIL-B, 23 BOM lines, £69.11/board — with £37.65 confirmed and £24.64 honestly flagged to verify. Same photo, same answer,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2563EB"/>
                </a:solidFill>
                <a:latin typeface="Calibri"/>
              </a:rPr>
              <a:t>The principle:  </a:t>
            </a:r>
            <a:r>
              <a:rPr sz="1350" b="0" i="0">
                <a:solidFill>
                  <a:srgbClr val="334155"/>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CAPABILITY — GEOMETRIC DFM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It now reads the part itself</a:t>
            </a:r>
          </a:p>
        </p:txBody>
      </p:sp>
      <p:sp>
        <p:nvSpPr>
          <p:cNvPr id="9" name="Rounded Rectangle 8"/>
          <p:cNvSpPr/>
          <p:nvPr/>
        </p:nvSpPr>
        <p:spPr>
          <a:xfrm>
            <a:off x="411480" y="1783080"/>
            <a:ext cx="11384280" cy="777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D97706"/>
                </a:solidFill>
                <a:latin typeface="Calibri"/>
              </a:rPr>
              <a:t>The old way: </a:t>
            </a:r>
            <a:r>
              <a:rPr sz="1250" b="0" i="0">
                <a:solidFill>
                  <a:srgbClr val="334155"/>
                </a:solidFill>
                <a:latin typeface="Calibri"/>
              </a:rPr>
              <a:t>look at the finished cost and infer what might be wrong.  </a:t>
            </a:r>
            <a:r>
              <a:rPr sz="1250" b="1" i="0">
                <a:solidFill>
                  <a:srgbClr val="059669"/>
                </a:solidFill>
                <a:latin typeface="Calibri"/>
              </a:rPr>
              <a:t>Now: </a:t>
            </a:r>
            <a:r>
              <a:rPr sz="1250" b="0" i="0">
                <a:solidFill>
                  <a:srgbClr val="334155"/>
                </a:solidFill>
                <a:latin typeface="Calibri"/>
              </a:rPr>
              <a:t>scan the 3D model, measure every face, and name the exact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059669"/>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Every rule names a published source — ASM Handbook, NADCA,
Machinery's Handbook. No citation, no ship.</a:t>
            </a:r>
          </a:p>
        </p:txBody>
      </p:sp>
      <p:sp>
        <p:nvSpPr>
          <p:cNvPr id="15" name="Rounded Rectangle 14"/>
          <p:cNvSpPr/>
          <p:nvPr/>
        </p:nvSpPr>
        <p:spPr>
          <a:xfrm>
            <a:off x="425196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563EB"/>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commodity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Casting, forging, machining, injection &amp; blow moulding,
sheet metal — each with its own physics.</a:t>
            </a:r>
          </a:p>
        </p:txBody>
      </p:sp>
      <p:sp>
        <p:nvSpPr>
          <p:cNvPr id="19" name="Rounded Rectangle 18"/>
          <p:cNvSpPr/>
          <p:nvPr/>
        </p:nvSpPr>
        <p:spPr>
          <a:xfrm>
            <a:off x="809244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4F46E5"/>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A finding says "face 186 sits at 135° to the draw", not
"tooling looks high". You can click it and see it.</a:t>
            </a:r>
          </a:p>
        </p:txBody>
      </p:sp>
      <p:sp>
        <p:nvSpPr>
          <p:cNvPr id="23" name="Rounded Rectangle 22"/>
          <p:cNvSpPr/>
          <p:nvPr/>
        </p:nvSpPr>
        <p:spPr>
          <a:xfrm>
            <a:off x="411480" y="4526280"/>
            <a:ext cx="11384280" cy="13258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It runs on its own,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The scan runs in the background after upload —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Each finding carries the measured value, the threshold and the standard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COMMODITY — 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Gears: it now picks the process, not just the price</a:t>
            </a:r>
          </a:p>
        </p:txBody>
      </p:sp>
      <p:sp>
        <p:nvSpPr>
          <p:cNvPr id="9" name="Rounded Rectangle 8"/>
          <p:cNvSpPr/>
          <p:nvPr/>
        </p:nvSpPr>
        <p:spPr>
          <a:xfrm>
            <a:off x="411480" y="1783080"/>
            <a:ext cx="11384280" cy="731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Ask for a more accurate gear and the tool does not multiply the price. </a:t>
            </a:r>
            <a:r>
              <a:rPr sz="1250" b="1" i="0">
                <a:solidFill>
                  <a:srgbClr val="059669"/>
                </a:solidFill>
                <a:latin typeface="Calibri"/>
              </a:rPr>
              <a:t>It adds machines.</a:t>
            </a:r>
          </a:p>
        </p:txBody>
      </p:sp>
      <p:sp>
        <p:nvSpPr>
          <p:cNvPr id="11" name="Rounded Rectangle 10"/>
          <p:cNvSpPr/>
          <p:nvPr/>
        </p:nvSpPr>
        <p:spPr>
          <a:xfrm>
            <a:off x="411480" y="2697480"/>
            <a:ext cx="11384280" cy="621792"/>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Cut teeth</a:t>
            </a:r>
          </a:p>
        </p:txBody>
      </p:sp>
      <p:sp>
        <p:nvSpPr>
          <p:cNvPr id="15" name="Right Arrow 14"/>
          <p:cNvSpPr/>
          <p:nvPr/>
        </p:nvSpPr>
        <p:spPr>
          <a:xfrm>
            <a:off x="4700016" y="2944368"/>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Deburr</a:t>
            </a:r>
          </a:p>
        </p:txBody>
      </p:sp>
      <p:sp>
        <p:nvSpPr>
          <p:cNvPr id="18" name="Right Arrow 17"/>
          <p:cNvSpPr/>
          <p:nvPr/>
        </p:nvSpPr>
        <p:spPr>
          <a:xfrm>
            <a:off x="6062472" y="2944368"/>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Check</a:t>
            </a:r>
          </a:p>
        </p:txBody>
      </p:sp>
      <p:sp>
        <p:nvSpPr>
          <p:cNvPr id="21" name="TextBox 20"/>
          <p:cNvSpPr txBox="1"/>
          <p:nvPr/>
        </p:nvSpPr>
        <p:spPr>
          <a:xfrm>
            <a:off x="10241280" y="2697480"/>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059669"/>
                </a:solidFill>
                <a:latin typeface="Calibri"/>
              </a:rPr>
              <a:t>£8.26</a:t>
            </a:r>
          </a:p>
        </p:txBody>
      </p:sp>
      <p:sp>
        <p:nvSpPr>
          <p:cNvPr id="22" name="Rounded Rectangle 21"/>
          <p:cNvSpPr/>
          <p:nvPr/>
        </p:nvSpPr>
        <p:spPr>
          <a:xfrm>
            <a:off x="411480" y="3410712"/>
            <a:ext cx="11384280" cy="621792"/>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Accurate gear (ISO 6)</a:t>
            </a:r>
          </a:p>
        </p:txBody>
      </p:sp>
      <p:sp>
        <p:nvSpPr>
          <p:cNvPr id="24" name="Rounded Rectangle 23"/>
          <p:cNvSpPr/>
          <p:nvPr/>
        </p:nvSpPr>
        <p:spPr>
          <a:xfrm>
            <a:off x="3520440" y="3529584"/>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Cut teeth</a:t>
            </a:r>
          </a:p>
        </p:txBody>
      </p:sp>
      <p:sp>
        <p:nvSpPr>
          <p:cNvPr id="26" name="Right Arrow 25"/>
          <p:cNvSpPr/>
          <p:nvPr/>
        </p:nvSpPr>
        <p:spPr>
          <a:xfrm>
            <a:off x="4700016" y="3657600"/>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Deburr</a:t>
            </a:r>
          </a:p>
        </p:txBody>
      </p:sp>
      <p:sp>
        <p:nvSpPr>
          <p:cNvPr id="29" name="Right Arrow 28"/>
          <p:cNvSpPr/>
          <p:nvPr/>
        </p:nvSpPr>
        <p:spPr>
          <a:xfrm>
            <a:off x="6062472" y="3657600"/>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32" name="Right Arrow 31"/>
          <p:cNvSpPr/>
          <p:nvPr/>
        </p:nvSpPr>
        <p:spPr>
          <a:xfrm>
            <a:off x="7424928" y="3657600"/>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Check</a:t>
            </a:r>
          </a:p>
        </p:txBody>
      </p:sp>
      <p:sp>
        <p:nvSpPr>
          <p:cNvPr id="38" name="TextBox 37"/>
          <p:cNvSpPr txBox="1"/>
          <p:nvPr/>
        </p:nvSpPr>
        <p:spPr>
          <a:xfrm>
            <a:off x="10241280" y="3410712"/>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D97706"/>
                </a:solidFill>
                <a:latin typeface="Calibri"/>
              </a:rPr>
              <a:t>£13.55</a:t>
            </a:r>
          </a:p>
        </p:txBody>
      </p:sp>
      <p:sp>
        <p:nvSpPr>
          <p:cNvPr id="39" name="Rounded Rectangle 38"/>
          <p:cNvSpPr/>
          <p:nvPr/>
        </p:nvSpPr>
        <p:spPr>
          <a:xfrm>
            <a:off x="411480" y="4123944"/>
            <a:ext cx="11384280" cy="621792"/>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Power-skive</a:t>
            </a:r>
          </a:p>
        </p:txBody>
      </p:sp>
      <p:sp>
        <p:nvSpPr>
          <p:cNvPr id="43" name="Right Arrow 42"/>
          <p:cNvSpPr/>
          <p:nvPr/>
        </p:nvSpPr>
        <p:spPr>
          <a:xfrm>
            <a:off x="4700016" y="4370832"/>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Deburr</a:t>
            </a:r>
          </a:p>
        </p:txBody>
      </p:sp>
      <p:sp>
        <p:nvSpPr>
          <p:cNvPr id="46" name="Right Arrow 45"/>
          <p:cNvSpPr/>
          <p:nvPr/>
        </p:nvSpPr>
        <p:spPr>
          <a:xfrm>
            <a:off x="6062472" y="4370832"/>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49" name="Right Arrow 48"/>
          <p:cNvSpPr/>
          <p:nvPr/>
        </p:nvSpPr>
        <p:spPr>
          <a:xfrm>
            <a:off x="7424928" y="4370832"/>
            <a:ext cx="146304" cy="12801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FFFFF"/>
          </a:solidFill>
          <a:ln w="9525">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34155"/>
                </a:solidFill>
                <a:latin typeface="Calibri"/>
              </a:rPr>
              <a:t>Check</a:t>
            </a:r>
          </a:p>
        </p:txBody>
      </p:sp>
      <p:sp>
        <p:nvSpPr>
          <p:cNvPr id="52" name="TextBox 51"/>
          <p:cNvSpPr txBox="1"/>
          <p:nvPr/>
        </p:nvSpPr>
        <p:spPr>
          <a:xfrm>
            <a:off x="10241280" y="4123944"/>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2563EB"/>
                </a:solidFill>
                <a:latin typeface="Calibri"/>
              </a:rPr>
              <a:t>£11.19</a:t>
            </a:r>
          </a:p>
        </p:txBody>
      </p:sp>
      <p:sp>
        <p:nvSpPr>
          <p:cNvPr id="53" name="Rounded Rectangle 52"/>
          <p:cNvSpPr/>
          <p:nvPr/>
        </p:nvSpPr>
        <p:spPr>
          <a:xfrm>
            <a:off x="3520440" y="4892040"/>
            <a:ext cx="201168" cy="118872"/>
          </a:xfrm>
          <a:prstGeom prst="roundRect">
            <a:avLst>
              <a:gd name="adj" fmla="val 3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4748B"/>
                </a:solidFill>
                <a:latin typeface="Calibri"/>
              </a:rPr>
              <a:t>= the station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 gear no machine in the library can make is blocked outright —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And it tells you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All 80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capabilities built, tested (1,777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