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a:ln>
              <a:noFill/>
            </a:ln>
          </c:spPr>
          <c:cat>
            <c:strRef>
              <c:f>Sheet1!$A$2:$A$3</c:f>
              <c:strCache>
                <c:ptCount val="2"/>
                <c:pt idx="0">
                  <c:v>Machining · Aluminium · UK</c:v>
                </c:pt>
                <c:pt idx="1">
                  <c:v>Casting · Aluminium · China</c:v>
                </c:pt>
              </c:strCache>
            </c:strRef>
          </c:cat>
          <c:val>
            <c:numRef>
              <c:f>Sheet1!$B$2:$B$3</c:f>
              <c:numCache>
                <c:formatCode>General</c:formatCode>
                <c:ptCount val="2"/>
                <c:pt idx="0">
                  <c:v>10.9</c:v>
                </c:pt>
                <c:pt idx="1">
                  <c:v>8.7</c:v>
                </c:pt>
              </c:numCache>
            </c:numRef>
          </c:val>
        </c:ser>
        <c:ser>
          <c:idx val="1"/>
          <c:order val="1"/>
          <c:tx>
            <c:strRef>
              <c:f>Sheet1!$C$1</c:f>
              <c:strCache>
                <c:ptCount val="1"/>
                <c:pt idx="0">
                  <c:v>After 3 real quotes</c:v>
                </c:pt>
              </c:strCache>
            </c:strRef>
          </c:tx>
          <c:spPr>
            <a:solidFill>
              <a:srgbClr val="059669"/>
            </a:solidFill>
            <a:ln>
              <a:noFill/>
            </a:ln>
          </c:spPr>
          <c:cat>
            <c:strRef>
              <c:f>Sheet1!$A$2:$A$3</c:f>
              <c:strCache>
                <c:ptCount val="2"/>
                <c:pt idx="0">
                  <c:v>Machining · Aluminium · UK</c:v>
                </c:pt>
                <c:pt idx="1">
                  <c:v>Casting · Aluminium · China</c:v>
                </c:pt>
              </c:strCache>
            </c:strRef>
          </c:cat>
          <c:val>
            <c:numRef>
              <c:f>Sheet1!$C$2:$C$3</c:f>
              <c:numCache>
                <c:formatCode>General</c:formatCode>
                <c:ptCount val="2"/>
                <c:pt idx="0">
                  <c:v>0.3</c:v>
                </c:pt>
                <c:pt idx="1">
                  <c:v>0.6</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Confidence band (± %)</c:v>
                </c:pt>
              </c:strCache>
            </c:strRef>
          </c:tx>
          <c:spPr>
            <a:solidFill>
              <a:srgbClr val="D97706"/>
            </a:solidFill>
            <a:ln>
              <a:noFill/>
            </a:ln>
          </c:spPr>
          <c:cat>
            <c:strRef>
              <c:f>Sheet1!$A$2:$A$3</c:f>
              <c:strCache>
                <c:ptCount val="2"/>
                <c:pt idx="0">
                  <c:v>Before any real quotes</c:v>
                </c:pt>
                <c:pt idx="1">
                  <c:v>After 3 real quotes logged</c:v>
                </c:pt>
              </c:strCache>
            </c:strRef>
          </c:cat>
          <c:val>
            <c:numRef>
              <c:f>Sheet1!$B$2:$B$3</c:f>
              <c:numCache>
                <c:formatCode>General</c:formatCode>
                <c:ptCount val="2"/>
                <c:pt idx="0">
                  <c:v>20.4</c:v>
                </c:pt>
                <c:pt idx="1">
                  <c:v>2.8</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Today I'll show you the Agentic AI capability we have built into CostVision. In one sentence: the tool no longer just calculates — it learns from every analysis we run, remembers every part, gets more accurate with every real quote we log, and even works unattended, flagging savings opportunities by itself. Everything I'll show is from live runs of the system, not mock-ups.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headline numbers, all verified. One: after learning from only three real quotes, the estimating error in a segment dropped from about 11% to under 1%. Two: the autonomous monitor found half a million pounds a year of pricing issues in our demonstration, entirely unattended. Three: when we costed a new bracket, the tool recognised three similar past parts at 99% similarity and told us why. Four: this is production-grade — 813 automated tests. The key message: costing knowledge now accumulates as a company asset instead of living in individual experts' heads.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say Agentic AI, we mean four concrete abilities. It REMEMBERS — every analysis becomes a stored case. It RECOGNISES — new parts are matched against that memory. It SELF-CORRECTS — real quotes teach it, and its accuracy is measured, not asserted. And it ACTS — a background agent raises findings without being asked. One important design choice: every AI suggestion is traceable to specific past parts and shows its arithmetic. That auditability is what makes it usable in supplier negotiations.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system on one slide. The engineer works exactly as before — they cost a part. The tool remembers it, recognises similar history, and makes suggestions, all automatically. When a real supplier quote arrives, one click teaches the tool, and the background agent keeps watch from then on. The crucial point for adoption: there is essentially no extra workload. One new click when a quote arrives.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one: the memory. Every analysis is saved with a fingerprint of the part, the full result, any real quotes, and — importantly — the places where an expert corrected the AI. Corrections are how our experts literally teach the tool. Right side: this is shared across the team, it lives in our own database on our own servers, and it compounds — it becomes genuinely useful after only twenty to thirty analyses. Every costing we run from today is a deposit into this asset.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two, shown with the actual live output. An engineer starts costing a new bracket. Before they finish, the tool has found the three most similar parts we've costed before — at 98 to 99 percent similarity — and it explains WHY they matched: same material family, same weight class, same region. It then suggests: the median cost of those parts, the material they all used, and crucially the real quoted prices we logged. A junior engineer instantly benefits from all previous work. And note — every number names its source. No black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three is the accuracy engine. The chart shows a real measured result: in machining, our estimates ran about 11 percent below the real prices. After the tool learned from just three logged quotes, the remaining error was 0.3 percent. Same story for castings from China, where the bias was in the opposite direction. And that's the subtle but important point on the right: one category under-estimates, another over-estimates — a portfolio average hides both. The tool corrects each category separately. Accuracy here is measured against reality and reported openly — not a marketing claim.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four: honesty about precision. Every estimate is now delivered as a range — optimistic, most likely, conservative. Early on, with no evidence, the range is wide, and that's the truth. As real quotes prove the tool's accuracy, the range tightens automatically — on our test part, from plus-or-minus twenty percent down to three percent. For buyers this is a practical negotiation tool: the conservative end is the walk-away price; the optimistic end is the stretch target.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five is the one that makes this genuinely 'agentic'. A monitor runs on the server on a schedule — first pass thirty seconds after start-up, then every few hours. It compares what we PAY with what things SHOULD cost, using everything the tool has learned. In the live demonstration it opened these three findings by itself: a renegotiation opportunity worth four hundred thousand pounds a year, an underwater price that signals supply risk, and a stale estimate that needs revalidating. Half a million pounds a year surfaced with nobody at the keyboard. Each finding shows its arithmetic — ready to take into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learning loop is the headline, but it sits on a wider AI platform we've built. The assistant answers from our own rate data with citations. The RFQ analyst turns a full quote package into a costed, risk-flagged negotiation brief. CAD feature costing tells designers which specific features drive cost. And carbon co-costing gives a CO2 figure alongside every price — which customers increasingly require. All of this feeds and benefits from the same knowledge base.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fair management question: what does this demand from the team? Honestly — almost nothing. Engineers keep costing parts exactly as they do today; the memory builds itself. The one new habit is a single click when a real supplier quote arrives. Optionally, attaching CAD or BOM files sharpens the matching, and a one-off import of historical quotes would let the system start smart instead of starting empty — that's my recommended first action if we proceed.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on this slide was measured on the running system — live server, real database — not projected. The two headline accuracy results: after learning from three quotes, segment error dropped to well under one percent in both directions of bias. The confidence band tightened seven-fold. Recognition worked at 99 percent on the live example. The unattended agent surfaced half a million pounds. And the whole capability is protected by 813 automated tests, so it won't quietly regress. One caveat I want to be transparent about: these demos used small seeded datasets — real-world accuracy will build as OUR data accumulates. The mechanism is proven; the asset grows with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benefits worth remembering. Speed — new parts start from history, not from zero. Accuracy — it compounds with every quote and is always measured, which is what makes our numbers defensible with suppliers. Retention — expert judgement becomes company data instead of leaving with people. And proactive savings — the agent finds money continuously, quantified per year. Finally, the strategic point: this knowledge base is proprietary. A competitor can buy the same software; they cannot buy our accumulated costing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capability that sharpens the moat. Every should-cost now shows two ranges. On the left, the physics prior — a Monte-Carlo band that reflects how well the inputs are known; it's always available. On the right, the new one: an empirical band computed from the actual quotes you've logged, using a statistical method called conformal prediction that comes with a coverage guarantee. So instead of asserting a precision, the tool says, honestly, '90% of your real quotes for this material family have landed within plus-or-minus 6.5%.' That band edge is an observed error, not a claim — which is exactly why a buyer can defend it in the room. And it tightens on its own as more quotes are logged. No competitor states uncertainty with a guarantee like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genuine closed loop on the autonomous agent. Until now it ranked findings by the size of the gap times the volume — the theoretical money. Now it learns which findings actually convert. Look at the table: the cast housing has a two-hundred-thousand-pound gap, but in our data casting renegotiations almost never close — a twenty percent hit rate — so the expected realizable value is forty thousand. The machined knuckle has half the raw gap, but machining renegotiations usually close — eighty percent — so its realizable value is eighty thousand. The agent now ranks the machining finding first, even though its headline number is smaller. Why does that help? Sourcing time is scarce; the agent points it at money you can actually recover, and it tracks pounds truly saved so the tool proves its own worth. Every closed negotiation teaches it with one click.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capability that turns a number into leverage. The tool now builds a small causal model of the part: it knows the material bucket is driven by a specific commodity index — aluminium here — and it computes, through the very same overhead and margin maths the engine already uses, how sensitive the price is. Then it writes the argument for you. Read the live example: material is eight-thirty-nine, driven by aluminium; every one percent move in aluminium shifts the piece price by eleven pence; and a supplier quote of ninety-five is only justified if aluminium were about fourteen percent above today's index — so ask them to prove that, or hold at eighty-six thirty-four. That is a defensible, arithmetic counter a buyer can say out loud. It converts should-cost into negotiating power — the number AND the sentence to win with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ask 'what if a commodity moves?' On the left, for a single part: drag a slider from minus twenty to plus twenty percent and the piece price recomputes live as you move it — plus fifteen percent aluminium takes this part from eighty-six thirty-four to eighty-seven ninety-two. On the right, for the whole portfolio: apply a move across every part at once and see who changes status — if steel rises ten percent, these seven parts flip underwater and here's the money at risk. That lets sourcing pre-empt losses instead of reacting to them. And the honest framing that keeps it credible: this is always a conditional — IF the index moves — never a forecast we can't defend. The day we connect a live market feed, the same machinery becomes a genuine forecast.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slide that says why this beats what's on the market. The competitors demo continuous learning and adaptive reasoning, but they do it as a black box — a number you're told to trust. Our principle is the opposite, and it's the harder thing to build: every learned or derived number stays auditable. The bias factor, the conformal band, the hit-rate, the coach's arithmetic — all of it is a value a cost engineer can read and defend in a negotiation. The AI narrates and explains; it never decides the price in secret. So we match them on learning, autonomy and causal reasoning — and beat them on the one thing that actually wins deals in this field: defensibility. And it all runs inside our own walls, so the intelligence is our IP and never leaves the building. That combination — autonomous, self-improving, AND glass-box, on-premise — is not available anywhere else.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capability is built, tested and live — at no extra licence cost, running on our own infrastructure. I'll be honest about the one dependency: the intelligence starts empty and grows with use. So the ask is three small decisions. One: make logging the actual quote a one-click habit. Two: approve a one-off import of our historical quotes so the system starts smart — roughly a day or two of effort. Three: put the agent's findings on the sourcing agenda each month. If we do those three things, this becomes a compounding asset from day one. Thank you — happy to take questions or show the live system.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2148840"/>
            <a:ext cx="10515600" cy="914400"/>
          </a:xfrm>
          <a:prstGeom prst="rect">
            <a:avLst/>
          </a:prstGeom>
          <a:noFill/>
        </p:spPr>
        <p:txBody>
          <a:bodyPr wrap="square" anchor="t" lIns="0" rIns="0" tIns="0" bIns="0">
            <a:spAutoFit/>
          </a:bodyPr>
          <a:lstStyle/>
          <a:p>
            <a:pPr algn="l">
              <a:lnSpc>
                <a:spcPct val="100000"/>
              </a:lnSpc>
              <a:spcAft>
                <a:spcPts val="400"/>
              </a:spcAft>
            </a:pPr>
            <a:r>
              <a:rPr sz="4600" b="1" i="0">
                <a:solidFill>
                  <a:srgbClr val="0F172A"/>
                </a:solidFill>
                <a:latin typeface="Calibri"/>
              </a:rPr>
              <a:t>Agentic AI in CostVision</a:t>
            </a:r>
          </a:p>
        </p:txBody>
      </p:sp>
      <p:sp>
        <p:nvSpPr>
          <p:cNvPr id="8" name="TextBox 7"/>
          <p:cNvSpPr txBox="1"/>
          <p:nvPr/>
        </p:nvSpPr>
        <p:spPr>
          <a:xfrm>
            <a:off x="822960" y="3063240"/>
            <a:ext cx="10058400" cy="54864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A costing tool that learns from every analysis, remembers your parts,</a:t>
            </a:r>
          </a:p>
          <a:p>
            <a:pPr algn="l">
              <a:lnSpc>
                <a:spcPct val="100000"/>
              </a:lnSpc>
              <a:spcAft>
                <a:spcPts val="400"/>
              </a:spcAft>
            </a:pPr>
            <a:r>
              <a:rPr sz="1900" b="0" i="0">
                <a:solidFill>
                  <a:srgbClr val="334155"/>
                </a:solidFill>
                <a:latin typeface="Calibri"/>
              </a:rPr>
              <a:t>and finds savings on its own — while staying fully auditable.</a:t>
            </a:r>
          </a:p>
        </p:txBody>
      </p:sp>
      <p:sp>
        <p:nvSpPr>
          <p:cNvPr id="9" name="Rounded Rectangle 8"/>
          <p:cNvSpPr/>
          <p:nvPr/>
        </p:nvSpPr>
        <p:spPr>
          <a:xfrm>
            <a:off x="82296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563EB"/>
                </a:solidFill>
                <a:latin typeface="Calibri"/>
              </a:rPr>
              <a:t>Remembers</a:t>
            </a:r>
          </a:p>
        </p:txBody>
      </p:sp>
      <p:sp>
        <p:nvSpPr>
          <p:cNvPr id="10" name="Rounded Rectangle 9"/>
          <p:cNvSpPr/>
          <p:nvPr/>
        </p:nvSpPr>
        <p:spPr>
          <a:xfrm>
            <a:off x="342900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891B2"/>
                </a:solidFill>
                <a:latin typeface="Calibri"/>
              </a:rPr>
              <a:t>Recognises</a:t>
            </a:r>
          </a:p>
        </p:txBody>
      </p:sp>
      <p:sp>
        <p:nvSpPr>
          <p:cNvPr id="11" name="Rounded Rectangle 10"/>
          <p:cNvSpPr/>
          <p:nvPr/>
        </p:nvSpPr>
        <p:spPr>
          <a:xfrm>
            <a:off x="603504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7C3AED"/>
                </a:solidFill>
                <a:latin typeface="Calibri"/>
              </a:rPr>
              <a:t>Self-corrects</a:t>
            </a:r>
          </a:p>
        </p:txBody>
      </p:sp>
      <p:sp>
        <p:nvSpPr>
          <p:cNvPr id="12" name="Rounded Rectangle 11"/>
          <p:cNvSpPr/>
          <p:nvPr/>
        </p:nvSpPr>
        <p:spPr>
          <a:xfrm>
            <a:off x="864108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59669"/>
                </a:solidFill>
                <a:latin typeface="Calibri"/>
              </a:rPr>
              <a:t>Acts autonomously</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All figures verified from live system runs</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EXECUTIVE 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we built — in one slide</a:t>
            </a:r>
          </a:p>
        </p:txBody>
      </p:sp>
      <p:sp>
        <p:nvSpPr>
          <p:cNvPr id="9" name="Rounded Rectangle 8"/>
          <p:cNvSpPr/>
          <p:nvPr/>
        </p:nvSpPr>
        <p:spPr>
          <a:xfrm>
            <a:off x="41148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4008" cy="1600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59669"/>
                </a:solidFill>
                <a:latin typeface="Calibri"/>
              </a:rPr>
              <a:t>36×</a:t>
            </a:r>
          </a:p>
        </p:txBody>
      </p:sp>
      <p:sp>
        <p:nvSpPr>
          <p:cNvPr id="12" name="TextBox 11"/>
          <p:cNvSpPr txBox="1"/>
          <p:nvPr/>
        </p:nvSpPr>
        <p:spPr>
          <a:xfrm>
            <a:off x="61264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Error reduction</a:t>
            </a:r>
          </a:p>
        </p:txBody>
      </p:sp>
      <p:sp>
        <p:nvSpPr>
          <p:cNvPr id="13" name="TextBox 12"/>
          <p:cNvSpPr txBox="1"/>
          <p:nvPr/>
        </p:nvSpPr>
        <p:spPr>
          <a:xfrm>
            <a:off x="61264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Estimating error fell from 10.9% to 0.3% after the tool learned from just 3 real quotes (verified live).</a:t>
            </a:r>
          </a:p>
        </p:txBody>
      </p:sp>
      <p:sp>
        <p:nvSpPr>
          <p:cNvPr id="14" name="Rounded Rectangle 13"/>
          <p:cNvSpPr/>
          <p:nvPr/>
        </p:nvSpPr>
        <p:spPr>
          <a:xfrm>
            <a:off x="333756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828800"/>
            <a:ext cx="64008" cy="1600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872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DC2626"/>
                </a:solidFill>
                <a:latin typeface="Calibri"/>
              </a:rPr>
              <a:t>£512k/yr</a:t>
            </a:r>
          </a:p>
        </p:txBody>
      </p:sp>
      <p:sp>
        <p:nvSpPr>
          <p:cNvPr id="17" name="TextBox 16"/>
          <p:cNvSpPr txBox="1"/>
          <p:nvPr/>
        </p:nvSpPr>
        <p:spPr>
          <a:xfrm>
            <a:off x="353872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Found autonomously</a:t>
            </a:r>
          </a:p>
        </p:txBody>
      </p:sp>
      <p:sp>
        <p:nvSpPr>
          <p:cNvPr id="18" name="TextBox 17"/>
          <p:cNvSpPr txBox="1"/>
          <p:nvPr/>
        </p:nvSpPr>
        <p:spPr>
          <a:xfrm>
            <a:off x="353872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In our live demo the background agent flagged £512k/yr of pricing issues — with nobody at the keyboard.</a:t>
            </a:r>
          </a:p>
        </p:txBody>
      </p:sp>
      <p:sp>
        <p:nvSpPr>
          <p:cNvPr id="19" name="Rounded Rectangle 18"/>
          <p:cNvSpPr/>
          <p:nvPr/>
        </p:nvSpPr>
        <p:spPr>
          <a:xfrm>
            <a:off x="626364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64008" cy="16002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891B2"/>
                </a:solidFill>
                <a:latin typeface="Calibri"/>
              </a:rPr>
              <a:t>99%</a:t>
            </a:r>
          </a:p>
        </p:txBody>
      </p:sp>
      <p:sp>
        <p:nvSpPr>
          <p:cNvPr id="22" name="TextBox 21"/>
          <p:cNvSpPr txBox="1"/>
          <p:nvPr/>
        </p:nvSpPr>
        <p:spPr>
          <a:xfrm>
            <a:off x="646480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Part recognition</a:t>
            </a:r>
          </a:p>
        </p:txBody>
      </p:sp>
      <p:sp>
        <p:nvSpPr>
          <p:cNvPr id="23" name="TextBox 22"/>
          <p:cNvSpPr txBox="1"/>
          <p:nvPr/>
        </p:nvSpPr>
        <p:spPr>
          <a:xfrm>
            <a:off x="646480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A new bracket was matched to 3 past bracket analyses at 98–99% similarity, with reasons shown.</a:t>
            </a:r>
          </a:p>
        </p:txBody>
      </p:sp>
      <p:sp>
        <p:nvSpPr>
          <p:cNvPr id="24" name="Rounded Rectangle 23"/>
          <p:cNvSpPr/>
          <p:nvPr/>
        </p:nvSpPr>
        <p:spPr>
          <a:xfrm>
            <a:off x="9189720" y="1828800"/>
            <a:ext cx="260604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9720" y="1828800"/>
            <a:ext cx="64008" cy="1600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90888" y="1956816"/>
            <a:ext cx="228600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7C3AED"/>
                </a:solidFill>
                <a:latin typeface="Calibri"/>
              </a:rPr>
              <a:t>813</a:t>
            </a:r>
          </a:p>
        </p:txBody>
      </p:sp>
      <p:sp>
        <p:nvSpPr>
          <p:cNvPr id="27" name="TextBox 26"/>
          <p:cNvSpPr txBox="1"/>
          <p:nvPr/>
        </p:nvSpPr>
        <p:spPr>
          <a:xfrm>
            <a:off x="9390888" y="2450592"/>
            <a:ext cx="22860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Automated tests</a:t>
            </a:r>
          </a:p>
        </p:txBody>
      </p:sp>
      <p:sp>
        <p:nvSpPr>
          <p:cNvPr id="28" name="TextBox 27"/>
          <p:cNvSpPr txBox="1"/>
          <p:nvPr/>
        </p:nvSpPr>
        <p:spPr>
          <a:xfrm>
            <a:off x="9390888" y="2724912"/>
            <a:ext cx="228600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Every capability is covered by automated tests and was exercised end-to-end on the running system.</a:t>
            </a:r>
          </a:p>
        </p:txBody>
      </p:sp>
      <p:sp>
        <p:nvSpPr>
          <p:cNvPr id="29" name="Rounded Rectangle 28"/>
          <p:cNvSpPr/>
          <p:nvPr/>
        </p:nvSpPr>
        <p:spPr>
          <a:xfrm>
            <a:off x="411480" y="3749039"/>
            <a:ext cx="11384280" cy="246888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977639"/>
            <a:ext cx="10881360" cy="2103120"/>
          </a:xfrm>
          <a:prstGeom prst="rect">
            <a:avLst/>
          </a:prstGeom>
          <a:noFill/>
        </p:spPr>
        <p:txBody>
          <a:bodyPr wrap="square" anchor="t" lIns="0" rIns="0" tIns="0" bIns="0">
            <a:spAutoFit/>
          </a:bodyPr>
          <a:lstStyle/>
          <a:p>
            <a:pPr algn="l">
              <a:lnSpc>
                <a:spcPct val="115000"/>
              </a:lnSpc>
              <a:spcAft>
                <a:spcPts val="800"/>
              </a:spcAft>
            </a:pPr>
            <a:r>
              <a:rPr sz="1500" b="1" i="0">
                <a:solidFill>
                  <a:srgbClr val="0F172A"/>
                </a:solidFill>
                <a:latin typeface="Calibri"/>
              </a:rPr>
              <a:t>The idea, in plain words</a:t>
            </a:r>
          </a:p>
          <a:p>
            <a:pPr algn="l">
              <a:lnSpc>
                <a:spcPct val="115000"/>
              </a:lnSpc>
              <a:spcAft>
                <a:spcPts val="800"/>
              </a:spcAft>
            </a:pPr>
            <a:r>
              <a:rPr sz="1350" b="0" i="0">
                <a:solidFill>
                  <a:srgbClr val="334155"/>
                </a:solidFill>
                <a:latin typeface="Calibri"/>
              </a:rPr>
              <a:t>Until now, every costing started from zero and the result depended on who did it. </a:t>
            </a:r>
            <a:r>
              <a:rPr sz="1350" b="1" i="0">
                <a:solidFill>
                  <a:srgbClr val="0F172A"/>
                </a:solidFill>
                <a:latin typeface="Calibri"/>
              </a:rPr>
              <a:t>Now the tool keeps an organisational memory: </a:t>
            </a:r>
            <a:r>
              <a:rPr sz="1350" b="0" i="0">
                <a:solidFill>
                  <a:srgbClr val="334155"/>
                </a:solidFill>
                <a:latin typeface="Calibri"/>
              </a:rPr>
              <a:t>every analysis is stored, every real supplier quote teaches it, and every new part is compared against everything we have costed before. </a:t>
            </a:r>
          </a:p>
          <a:p>
            <a:pPr algn="l">
              <a:lnSpc>
                <a:spcPct val="115000"/>
              </a:lnSpc>
              <a:spcAft>
                <a:spcPts val="800"/>
              </a:spcAft>
            </a:pPr>
            <a:r>
              <a:rPr sz="1350" b="0" i="0">
                <a:solidFill>
                  <a:srgbClr val="334155"/>
                </a:solidFill>
                <a:latin typeface="Calibri"/>
              </a:rPr>
              <a:t>The knowledge stays in our database, on our servers — it becomes a company asset that gets more valuable with use, and it does not walk out of the door when an expert leaves.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CONCEPT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"Agentic AI" means here — four plain words</a:t>
            </a:r>
          </a:p>
        </p:txBody>
      </p:sp>
      <p:sp>
        <p:nvSpPr>
          <p:cNvPr id="9" name="Rounded Rectangle 8"/>
          <p:cNvSpPr/>
          <p:nvPr/>
        </p:nvSpPr>
        <p:spPr>
          <a:xfrm>
            <a:off x="411480"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61488"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2563EB"/>
                </a:solidFill>
                <a:latin typeface="Calibri"/>
              </a:rPr>
              <a:t>🧠</a:t>
            </a:r>
          </a:p>
        </p:txBody>
      </p:sp>
      <p:sp>
        <p:nvSpPr>
          <p:cNvPr id="12" name="TextBox 11"/>
          <p:cNvSpPr txBox="1"/>
          <p:nvPr/>
        </p:nvSpPr>
        <p:spPr>
          <a:xfrm>
            <a:off x="640080"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2563EB"/>
                </a:solidFill>
                <a:latin typeface="Calibri"/>
              </a:rPr>
              <a:t>Remembers</a:t>
            </a:r>
          </a:p>
        </p:txBody>
      </p:sp>
      <p:sp>
        <p:nvSpPr>
          <p:cNvPr id="13" name="TextBox 12"/>
          <p:cNvSpPr txBox="1"/>
          <p:nvPr/>
        </p:nvSpPr>
        <p:spPr>
          <a:xfrm>
            <a:off x="640080"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 costing is saved as a "case": the part, the inputs, the result, and any real quote. Shared across the whole team.</a:t>
            </a:r>
          </a:p>
        </p:txBody>
      </p:sp>
      <p:sp>
        <p:nvSpPr>
          <p:cNvPr id="14" name="Rounded Rectangle 13"/>
          <p:cNvSpPr/>
          <p:nvPr/>
        </p:nvSpPr>
        <p:spPr>
          <a:xfrm>
            <a:off x="3374136"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74136" y="1920240"/>
            <a:ext cx="2761488"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0891B2"/>
                </a:solidFill>
                <a:latin typeface="Calibri"/>
              </a:rPr>
              <a:t>🔎</a:t>
            </a:r>
          </a:p>
        </p:txBody>
      </p:sp>
      <p:sp>
        <p:nvSpPr>
          <p:cNvPr id="17" name="TextBox 16"/>
          <p:cNvSpPr txBox="1"/>
          <p:nvPr/>
        </p:nvSpPr>
        <p:spPr>
          <a:xfrm>
            <a:off x="3602736"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891B2"/>
                </a:solidFill>
                <a:latin typeface="Calibri"/>
              </a:rPr>
              <a:t>Recognises</a:t>
            </a:r>
          </a:p>
        </p:txBody>
      </p:sp>
      <p:sp>
        <p:nvSpPr>
          <p:cNvPr id="18" name="TextBox 17"/>
          <p:cNvSpPr txBox="1"/>
          <p:nvPr/>
        </p:nvSpPr>
        <p:spPr>
          <a:xfrm>
            <a:off x="3602736"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Start a new part and it instantly finds the most similar past parts — like an experienced engineer saying "we've done this before".</a:t>
            </a:r>
          </a:p>
        </p:txBody>
      </p:sp>
      <p:sp>
        <p:nvSpPr>
          <p:cNvPr id="19" name="Rounded Rectangle 18"/>
          <p:cNvSpPr/>
          <p:nvPr/>
        </p:nvSpPr>
        <p:spPr>
          <a:xfrm>
            <a:off x="6336792"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920240"/>
            <a:ext cx="27614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7C3AED"/>
                </a:solidFill>
                <a:latin typeface="Calibri"/>
              </a:rPr>
              <a:t>🎯</a:t>
            </a:r>
          </a:p>
        </p:txBody>
      </p:sp>
      <p:sp>
        <p:nvSpPr>
          <p:cNvPr id="22" name="TextBox 21"/>
          <p:cNvSpPr txBox="1"/>
          <p:nvPr/>
        </p:nvSpPr>
        <p:spPr>
          <a:xfrm>
            <a:off x="6565392"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7C3AED"/>
                </a:solidFill>
                <a:latin typeface="Calibri"/>
              </a:rPr>
              <a:t>Self-corrects</a:t>
            </a:r>
          </a:p>
        </p:txBody>
      </p:sp>
      <p:sp>
        <p:nvSpPr>
          <p:cNvPr id="23" name="TextBox 22"/>
          <p:cNvSpPr txBox="1"/>
          <p:nvPr/>
        </p:nvSpPr>
        <p:spPr>
          <a:xfrm>
            <a:off x="6565392"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Log the real supplier price and the tool measures its own error, then corrects future estimates in that category. Accuracy is measured, not claimed.</a:t>
            </a:r>
          </a:p>
        </p:txBody>
      </p:sp>
      <p:sp>
        <p:nvSpPr>
          <p:cNvPr id="24" name="Rounded Rectangle 23"/>
          <p:cNvSpPr/>
          <p:nvPr/>
        </p:nvSpPr>
        <p:spPr>
          <a:xfrm>
            <a:off x="9299448"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9448" y="1920240"/>
            <a:ext cx="2761488"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28048"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059669"/>
                </a:solidFill>
                <a:latin typeface="Calibri"/>
              </a:rPr>
              <a:t>🤖</a:t>
            </a:r>
          </a:p>
        </p:txBody>
      </p:sp>
      <p:sp>
        <p:nvSpPr>
          <p:cNvPr id="27" name="TextBox 26"/>
          <p:cNvSpPr txBox="1"/>
          <p:nvPr/>
        </p:nvSpPr>
        <p:spPr>
          <a:xfrm>
            <a:off x="9528048"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59669"/>
                </a:solidFill>
                <a:latin typeface="Calibri"/>
              </a:rPr>
              <a:t>Acts</a:t>
            </a:r>
          </a:p>
        </p:txBody>
      </p:sp>
      <p:sp>
        <p:nvSpPr>
          <p:cNvPr id="28" name="TextBox 27"/>
          <p:cNvSpPr txBox="1"/>
          <p:nvPr/>
        </p:nvSpPr>
        <p:spPr>
          <a:xfrm>
            <a:off x="9528048"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A background agent re-checks all stored parts on a schedule and raises findings by itself: "you are overpaying here — worth £400k/yr."</a:t>
            </a:r>
          </a:p>
        </p:txBody>
      </p:sp>
      <p:sp>
        <p:nvSpPr>
          <p:cNvPr id="29" name="TextBox 28"/>
          <p:cNvSpPr txBox="1"/>
          <p:nvPr/>
        </p:nvSpPr>
        <p:spPr>
          <a:xfrm>
            <a:off x="411480" y="5486400"/>
            <a:ext cx="11338560" cy="822960"/>
          </a:xfrm>
          <a:prstGeom prst="rect">
            <a:avLst/>
          </a:prstGeom>
          <a:noFill/>
        </p:spPr>
        <p:txBody>
          <a:bodyPr wrap="square" anchor="t" lIns="0" rIns="0" tIns="0" bIns="0">
            <a:spAutoFit/>
          </a:bodyPr>
          <a:lstStyle/>
          <a:p>
            <a:pPr algn="l">
              <a:lnSpc>
                <a:spcPct val="115000"/>
              </a:lnSpc>
              <a:spcAft>
                <a:spcPts val="400"/>
              </a:spcAft>
            </a:pPr>
            <a:r>
              <a:rPr sz="1250" b="1" i="0">
                <a:solidFill>
                  <a:srgbClr val="0F172A"/>
                </a:solidFill>
                <a:latin typeface="Calibri"/>
              </a:rPr>
              <a:t>Deliberate design choice: </a:t>
            </a:r>
            <a:r>
              <a:rPr sz="1250" b="0" i="0">
                <a:solidFill>
                  <a:srgbClr val="334155"/>
                </a:solidFill>
                <a:latin typeface="Calibri"/>
              </a:rPr>
              <a:t>the learning is statistics over our own data — every suggestion shows its source parts and its arithmetic. That makes it auditable and defensible in front of a supplier, which is where costing tools win or lose.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HOW IT WORKS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it works — the learning loop</a:t>
            </a:r>
          </a:p>
        </p:txBody>
      </p:sp>
      <p:sp>
        <p:nvSpPr>
          <p:cNvPr id="9" name="Chevron 8"/>
          <p:cNvSpPr/>
          <p:nvPr/>
        </p:nvSpPr>
        <p:spPr>
          <a:xfrm>
            <a:off x="365760" y="2194560"/>
            <a:ext cx="2048256" cy="105156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1 · Analyse</a:t>
            </a:r>
          </a:p>
          <a:p>
            <a:pPr algn="l"/>
            <a:r>
              <a:rPr sz="850">
                <a:solidFill>
                  <a:srgbClr val="E8EEFF"/>
                </a:solidFill>
                <a:latin typeface="Calibri"/>
              </a:rPr>
              <a:t>Engineer costs a part as usual</a:t>
            </a:r>
          </a:p>
        </p:txBody>
      </p:sp>
      <p:sp>
        <p:nvSpPr>
          <p:cNvPr id="10" name="Chevron 9"/>
          <p:cNvSpPr/>
          <p:nvPr/>
        </p:nvSpPr>
        <p:spPr>
          <a:xfrm>
            <a:off x="2127260" y="2194560"/>
            <a:ext cx="2048256" cy="105156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2 · Remember</a:t>
            </a:r>
          </a:p>
          <a:p>
            <a:pPr algn="l"/>
            <a:r>
              <a:rPr sz="850">
                <a:solidFill>
                  <a:srgbClr val="E8EEFF"/>
                </a:solidFill>
                <a:latin typeface="Calibri"/>
              </a:rPr>
              <a:t>Saved automatically to the knowledge base</a:t>
            </a:r>
          </a:p>
        </p:txBody>
      </p:sp>
      <p:sp>
        <p:nvSpPr>
          <p:cNvPr id="11" name="Chevron 10"/>
          <p:cNvSpPr/>
          <p:nvPr/>
        </p:nvSpPr>
        <p:spPr>
          <a:xfrm>
            <a:off x="3888760" y="2194560"/>
            <a:ext cx="2048256" cy="105156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3 · Recognise</a:t>
            </a:r>
          </a:p>
          <a:p>
            <a:pPr algn="l"/>
            <a:r>
              <a:rPr sz="850">
                <a:solidFill>
                  <a:srgbClr val="E8EEFF"/>
                </a:solidFill>
                <a:latin typeface="Calibri"/>
              </a:rPr>
              <a:t>Similar past parts found instantly</a:t>
            </a:r>
          </a:p>
        </p:txBody>
      </p:sp>
      <p:sp>
        <p:nvSpPr>
          <p:cNvPr id="12" name="Chevron 11"/>
          <p:cNvSpPr/>
          <p:nvPr/>
        </p:nvSpPr>
        <p:spPr>
          <a:xfrm>
            <a:off x="5650260" y="2194560"/>
            <a:ext cx="2048256" cy="105156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4 · Suggest</a:t>
            </a:r>
          </a:p>
          <a:p>
            <a:pPr algn="l"/>
            <a:r>
              <a:rPr sz="850">
                <a:solidFill>
                  <a:srgbClr val="E8EEFF"/>
                </a:solidFill>
                <a:latin typeface="Calibri"/>
              </a:rPr>
              <a:t>Benchmarks, materials, real quotes shown</a:t>
            </a:r>
          </a:p>
        </p:txBody>
      </p:sp>
      <p:sp>
        <p:nvSpPr>
          <p:cNvPr id="13" name="Chevron 12"/>
          <p:cNvSpPr/>
          <p:nvPr/>
        </p:nvSpPr>
        <p:spPr>
          <a:xfrm>
            <a:off x="7411760" y="2194560"/>
            <a:ext cx="2048256" cy="1051560"/>
          </a:xfrm>
          <a:prstGeom prst="chevron">
            <a:avLst>
              <a:gd name="adj" fmla="val 2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5 · Learn</a:t>
            </a:r>
          </a:p>
          <a:p>
            <a:pPr algn="l"/>
            <a:r>
              <a:rPr sz="850">
                <a:solidFill>
                  <a:srgbClr val="E8EEFF"/>
                </a:solidFill>
                <a:latin typeface="Calibri"/>
              </a:rPr>
              <a:t>Real quote logged → model self-corrects</a:t>
            </a:r>
          </a:p>
        </p:txBody>
      </p:sp>
      <p:sp>
        <p:nvSpPr>
          <p:cNvPr id="14" name="Chevron 13"/>
          <p:cNvSpPr/>
          <p:nvPr/>
        </p:nvSpPr>
        <p:spPr>
          <a:xfrm>
            <a:off x="9173260" y="2194560"/>
            <a:ext cx="2048256" cy="105156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6 · Act</a:t>
            </a:r>
          </a:p>
          <a:p>
            <a:pPr algn="l"/>
            <a:r>
              <a:rPr sz="850">
                <a:solidFill>
                  <a:srgbClr val="E8EEFF"/>
                </a:solidFill>
                <a:latin typeface="Calibri"/>
              </a:rPr>
              <a:t>Background agent flags drift &amp; savings</a:t>
            </a:r>
          </a:p>
        </p:txBody>
      </p:sp>
      <p:sp>
        <p:nvSpPr>
          <p:cNvPr id="15" name="Bent-Up Arrow 14"/>
          <p:cNvSpPr/>
          <p:nvPr/>
        </p:nvSpPr>
        <p:spPr>
          <a:xfrm rot="10800000">
            <a:off x="5120640" y="3520440"/>
            <a:ext cx="5669280" cy="777240"/>
          </a:xfrm>
          <a:prstGeom prst="bentUp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4480560"/>
            <a:ext cx="4206240" cy="320040"/>
          </a:xfrm>
          <a:prstGeom prst="rect">
            <a:avLst/>
          </a:prstGeom>
          <a:noFill/>
        </p:spPr>
        <p:txBody>
          <a:bodyPr wrap="square" anchor="t" lIns="0" rIns="0" tIns="0" bIns="0">
            <a:spAutoFit/>
          </a:bodyPr>
          <a:lstStyle/>
          <a:p>
            <a:pPr algn="ctr">
              <a:lnSpc>
                <a:spcPct val="100000"/>
              </a:lnSpc>
              <a:spcAft>
                <a:spcPts val="400"/>
              </a:spcAft>
            </a:pPr>
            <a:r>
              <a:rPr sz="1200" b="0" i="1">
                <a:solidFill>
                  <a:srgbClr val="64748B"/>
                </a:solidFill>
                <a:latin typeface="Calibri"/>
              </a:rPr>
              <a:t>…and every loop makes the next estimate better</a:t>
            </a:r>
          </a:p>
        </p:txBody>
      </p:sp>
      <p:sp>
        <p:nvSpPr>
          <p:cNvPr id="17" name="Rounded Rectangle 16"/>
          <p:cNvSpPr/>
          <p:nvPr/>
        </p:nvSpPr>
        <p:spPr>
          <a:xfrm>
            <a:off x="411480" y="5029200"/>
            <a:ext cx="11384280" cy="123444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230368"/>
            <a:ext cx="108813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0F172A"/>
                </a:solidFill>
                <a:latin typeface="Calibri"/>
              </a:rPr>
              <a:t>No extra work for the engineer. </a:t>
            </a:r>
            <a:r>
              <a:rPr sz="1300" b="0" i="0">
                <a:solidFill>
                  <a:srgbClr val="334155"/>
                </a:solidFill>
                <a:latin typeface="Calibri"/>
              </a:rPr>
              <a:t>Steps 2, 3, 4 and 6 happen automatically. The only new habit is one click — "Log Actual £" — when a real supplier quote arrives. That single click is the fuel for everything on this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1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memory — an organisational knowledge base</a:t>
            </a:r>
          </a:p>
        </p:txBody>
      </p:sp>
      <p:sp>
        <p:nvSpPr>
          <p:cNvPr id="9" name="Rounded Rectangle 8"/>
          <p:cNvSpPr/>
          <p:nvPr/>
        </p:nvSpPr>
        <p:spPr>
          <a:xfrm>
            <a:off x="411480" y="1828800"/>
            <a:ext cx="548640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is stored for every analysis</a:t>
            </a:r>
          </a:p>
        </p:txBody>
      </p:sp>
      <p:sp>
        <p:nvSpPr>
          <p:cNvPr id="11" name="Rectangle 10"/>
          <p:cNvSpPr/>
          <p:nvPr/>
        </p:nvSpPr>
        <p:spPr>
          <a:xfrm>
            <a:off x="685800" y="2514600"/>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14600"/>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Part "fingerprint" — </a:t>
            </a:r>
            <a:r>
              <a:rPr sz="1250" b="0" i="0">
                <a:solidFill>
                  <a:srgbClr val="334155"/>
                </a:solidFill>
                <a:latin typeface="Calibri"/>
              </a:rPr>
              <a:t>process, material, weight, size, region, volume</a:t>
            </a:r>
          </a:p>
        </p:txBody>
      </p:sp>
      <p:sp>
        <p:nvSpPr>
          <p:cNvPr id="13" name="Rectangle 12"/>
          <p:cNvSpPr/>
          <p:nvPr/>
        </p:nvSpPr>
        <p:spPr>
          <a:xfrm>
            <a:off x="685800" y="3172968"/>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72968"/>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The full cost result — </a:t>
            </a:r>
            <a:r>
              <a:rPr sz="1250" b="0" i="0">
                <a:solidFill>
                  <a:srgbClr val="334155"/>
                </a:solidFill>
                <a:latin typeface="Calibri"/>
              </a:rPr>
              <a:t>total + breakdown by cost driver</a:t>
            </a:r>
          </a:p>
        </p:txBody>
      </p:sp>
      <p:sp>
        <p:nvSpPr>
          <p:cNvPr id="15" name="Rectangle 14"/>
          <p:cNvSpPr/>
          <p:nvPr/>
        </p:nvSpPr>
        <p:spPr>
          <a:xfrm>
            <a:off x="685800" y="3831335"/>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31335"/>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Real quotes — </a:t>
            </a:r>
            <a:r>
              <a:rPr sz="1250" b="0" i="0">
                <a:solidFill>
                  <a:srgbClr val="334155"/>
                </a:solidFill>
                <a:latin typeface="Calibri"/>
              </a:rPr>
              <a:t>actual supplier / PO prices, when logged</a:t>
            </a:r>
          </a:p>
        </p:txBody>
      </p:sp>
      <p:sp>
        <p:nvSpPr>
          <p:cNvPr id="17" name="Rectangle 16"/>
          <p:cNvSpPr/>
          <p:nvPr/>
        </p:nvSpPr>
        <p:spPr>
          <a:xfrm>
            <a:off x="685800" y="4489704"/>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89704"/>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Expert corrections — </a:t>
            </a:r>
            <a:r>
              <a:rPr sz="1250" b="0" i="0">
                <a:solidFill>
                  <a:srgbClr val="334155"/>
                </a:solidFill>
                <a:latin typeface="Calibri"/>
              </a:rPr>
              <a:t>where a person adjusted the AI's values</a:t>
            </a:r>
          </a:p>
        </p:txBody>
      </p:sp>
      <p:sp>
        <p:nvSpPr>
          <p:cNvPr id="19" name="Rectangle 18"/>
          <p:cNvSpPr/>
          <p:nvPr/>
        </p:nvSpPr>
        <p:spPr>
          <a:xfrm>
            <a:off x="685800" y="5148072"/>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148072"/>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CAD shape data — </a:t>
            </a:r>
            <a:r>
              <a:rPr sz="1250" b="0" i="0">
                <a:solidFill>
                  <a:srgbClr val="334155"/>
                </a:solidFill>
                <a:latin typeface="Calibri"/>
              </a:rPr>
              <a:t>dimensions &amp; features, when a CAD file was used</a:t>
            </a:r>
          </a:p>
        </p:txBody>
      </p:sp>
      <p:sp>
        <p:nvSpPr>
          <p:cNvPr id="21" name="Rounded Rectangle 20"/>
          <p:cNvSpPr/>
          <p:nvPr/>
        </p:nvSpPr>
        <p:spPr>
          <a:xfrm>
            <a:off x="6263640" y="1828800"/>
            <a:ext cx="5532120" cy="420624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Why it matters to us</a:t>
            </a:r>
          </a:p>
        </p:txBody>
      </p:sp>
      <p:sp>
        <p:nvSpPr>
          <p:cNvPr id="23" name="TextBox 22"/>
          <p:cNvSpPr txBox="1"/>
          <p:nvPr/>
        </p:nvSpPr>
        <p:spPr>
          <a:xfrm>
            <a:off x="6537960" y="2514600"/>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Shared, not personal</a:t>
            </a:r>
          </a:p>
          <a:p>
            <a:pPr algn="l">
              <a:lnSpc>
                <a:spcPct val="105000"/>
              </a:lnSpc>
              <a:spcAft>
                <a:spcPts val="200"/>
              </a:spcAft>
            </a:pPr>
            <a:r>
              <a:rPr sz="1150" b="0" i="0">
                <a:solidFill>
                  <a:srgbClr val="334155"/>
                </a:solidFill>
                <a:latin typeface="Calibri"/>
              </a:rPr>
              <a:t>One engineer's analysis instantly helps everyone — juniors inherit senior judgement.</a:t>
            </a:r>
          </a:p>
        </p:txBody>
      </p:sp>
      <p:sp>
        <p:nvSpPr>
          <p:cNvPr id="24" name="TextBox 23"/>
          <p:cNvSpPr txBox="1"/>
          <p:nvPr/>
        </p:nvSpPr>
        <p:spPr>
          <a:xfrm>
            <a:off x="6537960" y="3355848"/>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Stays on our servers</a:t>
            </a:r>
          </a:p>
          <a:p>
            <a:pPr algn="l">
              <a:lnSpc>
                <a:spcPct val="105000"/>
              </a:lnSpc>
              <a:spcAft>
                <a:spcPts val="200"/>
              </a:spcAft>
            </a:pPr>
            <a:r>
              <a:rPr sz="1150" b="0" i="0">
                <a:solidFill>
                  <a:srgbClr val="334155"/>
                </a:solidFill>
                <a:latin typeface="Calibri"/>
              </a:rPr>
              <a:t>Our database, our infrastructure. The knowledge is a company asset, not a vendor's.</a:t>
            </a:r>
          </a:p>
        </p:txBody>
      </p:sp>
      <p:sp>
        <p:nvSpPr>
          <p:cNvPr id="25" name="TextBox 24"/>
          <p:cNvSpPr txBox="1"/>
          <p:nvPr/>
        </p:nvSpPr>
        <p:spPr>
          <a:xfrm>
            <a:off x="6537960" y="4197096"/>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No duplicates</a:t>
            </a:r>
          </a:p>
          <a:p>
            <a:pPr algn="l">
              <a:lnSpc>
                <a:spcPct val="105000"/>
              </a:lnSpc>
              <a:spcAft>
                <a:spcPts val="200"/>
              </a:spcAft>
            </a:pPr>
            <a:r>
              <a:rPr sz="1150" b="0" i="0">
                <a:solidFill>
                  <a:srgbClr val="334155"/>
                </a:solidFill>
                <a:latin typeface="Calibri"/>
              </a:rPr>
              <a:t>Re-costing a part updates its case — the memory stays clean.</a:t>
            </a:r>
          </a:p>
        </p:txBody>
      </p:sp>
      <p:sp>
        <p:nvSpPr>
          <p:cNvPr id="26" name="TextBox 25"/>
          <p:cNvSpPr txBox="1"/>
          <p:nvPr/>
        </p:nvSpPr>
        <p:spPr>
          <a:xfrm>
            <a:off x="6537960" y="5038344"/>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Compounds with use</a:t>
            </a:r>
          </a:p>
          <a:p>
            <a:pPr algn="l">
              <a:lnSpc>
                <a:spcPct val="105000"/>
              </a:lnSpc>
              <a:spcAft>
                <a:spcPts val="200"/>
              </a:spcAft>
            </a:pPr>
            <a:r>
              <a:rPr sz="1150" b="0" i="0">
                <a:solidFill>
                  <a:srgbClr val="334155"/>
                </a:solidFill>
                <a:latin typeface="Calibri"/>
              </a:rPr>
              <a:t>Useful from ~20–30 analyses; every costing from today is an investment.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2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Recognition — "we have costed this before"</a:t>
            </a:r>
          </a:p>
        </p:txBody>
      </p:sp>
      <p:sp>
        <p:nvSpPr>
          <p:cNvPr id="9" name="TextBox 8"/>
          <p:cNvSpPr txBox="1"/>
          <p:nvPr/>
        </p:nvSpPr>
        <p:spPr>
          <a:xfrm>
            <a:off x="411480" y="1691640"/>
            <a:ext cx="11338560" cy="36576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Live example: an engineer costs a new 0.85 kg aluminium bracket. The tool answers instantly:</a:t>
            </a:r>
          </a:p>
        </p:txBody>
      </p:sp>
      <p:sp>
        <p:nvSpPr>
          <p:cNvPr id="10" name="Rounded Rectangle 9"/>
          <p:cNvSpPr/>
          <p:nvPr/>
        </p:nvSpPr>
        <p:spPr>
          <a:xfrm>
            <a:off x="411480" y="2194560"/>
            <a:ext cx="11384280" cy="28346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94560"/>
            <a:ext cx="82296" cy="28346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77440"/>
            <a:ext cx="1078992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0F172A"/>
                </a:solidFill>
                <a:latin typeface="Calibri"/>
              </a:rPr>
              <a:t>🧠  AI memory — similar past parts</a:t>
            </a:r>
            <a:r>
              <a:rPr sz="1050" b="0" i="0">
                <a:solidFill>
                  <a:srgbClr val="64748B"/>
                </a:solidFill>
                <a:latin typeface="Calibri"/>
              </a:rPr>
              <a:t>      (knowledge base: 3 analyses · 2 with actuals)</a:t>
            </a:r>
          </a:p>
        </p:txBody>
      </p:sp>
      <p:sp>
        <p:nvSpPr>
          <p:cNvPr id="13" name="TextBox 12"/>
          <p:cNvSpPr txBox="1"/>
          <p:nvPr/>
        </p:nvSpPr>
        <p:spPr>
          <a:xfrm>
            <a:off x="822960" y="27889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EV Battery Bracket</a:t>
            </a:r>
            <a:r>
              <a:rPr sz="1050" b="0" i="0">
                <a:solidFill>
                  <a:srgbClr val="64748B"/>
                </a:solidFill>
                <a:latin typeface="Calibri"/>
              </a:rPr>
              <a:t>   99% match — material family, weight, region</a:t>
            </a:r>
          </a:p>
        </p:txBody>
      </p:sp>
      <p:sp>
        <p:nvSpPr>
          <p:cNvPr id="14" name="TextBox 13"/>
          <p:cNvSpPr txBox="1"/>
          <p:nvPr/>
        </p:nvSpPr>
        <p:spPr>
          <a:xfrm>
            <a:off x="7315200" y="27889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£41.20</a:t>
            </a:r>
            <a:r>
              <a:rPr sz="1100" b="1" i="0">
                <a:solidFill>
                  <a:srgbClr val="7C3AED"/>
                </a:solidFill>
                <a:latin typeface="Calibri"/>
              </a:rPr>
              <a:t>   actual £46.50</a:t>
            </a:r>
          </a:p>
        </p:txBody>
      </p:sp>
      <p:sp>
        <p:nvSpPr>
          <p:cNvPr id="15" name="TextBox 14"/>
          <p:cNvSpPr txBox="1"/>
          <p:nvPr/>
        </p:nvSpPr>
        <p:spPr>
          <a:xfrm>
            <a:off x="822960" y="32461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Sensor Mount Bracket</a:t>
            </a:r>
            <a:r>
              <a:rPr sz="1050" b="0" i="0">
                <a:solidFill>
                  <a:srgbClr val="64748B"/>
                </a:solidFill>
                <a:latin typeface="Calibri"/>
              </a:rPr>
              <a:t>   98% match — material family, weight, region</a:t>
            </a:r>
          </a:p>
        </p:txBody>
      </p:sp>
      <p:sp>
        <p:nvSpPr>
          <p:cNvPr id="16" name="TextBox 15"/>
          <p:cNvSpPr txBox="1"/>
          <p:nvPr/>
        </p:nvSpPr>
        <p:spPr>
          <a:xfrm>
            <a:off x="7315200" y="32461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£38.50</a:t>
            </a:r>
            <a:r>
              <a:rPr sz="1100" b="1" i="0">
                <a:solidFill>
                  <a:srgbClr val="7C3AED"/>
                </a:solidFill>
                <a:latin typeface="Calibri"/>
              </a:rPr>
              <a:t/>
            </a:r>
          </a:p>
        </p:txBody>
      </p:sp>
      <p:sp>
        <p:nvSpPr>
          <p:cNvPr id="17" name="TextBox 16"/>
          <p:cNvSpPr txBox="1"/>
          <p:nvPr/>
        </p:nvSpPr>
        <p:spPr>
          <a:xfrm>
            <a:off x="822960" y="37033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Inverter Bracket</a:t>
            </a:r>
            <a:r>
              <a:rPr sz="1050" b="0" i="0">
                <a:solidFill>
                  <a:srgbClr val="64748B"/>
                </a:solidFill>
                <a:latin typeface="Calibri"/>
              </a:rPr>
              <a:t>   98% match — material family, weight, region</a:t>
            </a:r>
          </a:p>
        </p:txBody>
      </p:sp>
      <p:sp>
        <p:nvSpPr>
          <p:cNvPr id="18" name="TextBox 17"/>
          <p:cNvSpPr txBox="1"/>
          <p:nvPr/>
        </p:nvSpPr>
        <p:spPr>
          <a:xfrm>
            <a:off x="7315200" y="37033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£44.80</a:t>
            </a:r>
            <a:r>
              <a:rPr sz="1100" b="1" i="0">
                <a:solidFill>
                  <a:srgbClr val="7C3AED"/>
                </a:solidFill>
                <a:latin typeface="Calibri"/>
              </a:rPr>
              <a:t>   actual £50.20</a:t>
            </a:r>
          </a:p>
        </p:txBody>
      </p:sp>
      <p:sp>
        <p:nvSpPr>
          <p:cNvPr id="19" name="TextBox 18"/>
          <p:cNvSpPr txBox="1"/>
          <p:nvPr/>
        </p:nvSpPr>
        <p:spPr>
          <a:xfrm>
            <a:off x="822960" y="4206240"/>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  Median cost of 3 similar parts: £41.20</a:t>
            </a:r>
          </a:p>
        </p:txBody>
      </p:sp>
      <p:sp>
        <p:nvSpPr>
          <p:cNvPr id="20" name="TextBox 19"/>
          <p:cNvSpPr txBox="1"/>
          <p:nvPr/>
        </p:nvSpPr>
        <p:spPr>
          <a:xfrm>
            <a:off x="822960" y="448055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  3 of 3 used the same material (aluminium 6061)</a:t>
            </a:r>
          </a:p>
        </p:txBody>
      </p:sp>
      <p:sp>
        <p:nvSpPr>
          <p:cNvPr id="21" name="TextBox 20"/>
          <p:cNvSpPr txBox="1"/>
          <p:nvPr/>
        </p:nvSpPr>
        <p:spPr>
          <a:xfrm>
            <a:off x="822960" y="475487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7C3AED"/>
                </a:solidFill>
                <a:latin typeface="Calibri"/>
              </a:rPr>
              <a:t>•  Real quotes logged for 2 of them — median actual £48.35</a:t>
            </a:r>
          </a:p>
        </p:txBody>
      </p:sp>
      <p:sp>
        <p:nvSpPr>
          <p:cNvPr id="22" name="Rounded Rectangle 21"/>
          <p:cNvSpPr/>
          <p:nvPr/>
        </p:nvSpPr>
        <p:spPr>
          <a:xfrm>
            <a:off x="411480" y="5303520"/>
            <a:ext cx="11384280" cy="9144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458968"/>
            <a:ext cx="10881360" cy="685800"/>
          </a:xfrm>
          <a:prstGeom prst="rect">
            <a:avLst/>
          </a:prstGeom>
          <a:noFill/>
        </p:spPr>
        <p:txBody>
          <a:bodyPr wrap="square" anchor="t" lIns="0" rIns="0" tIns="0" bIns="0">
            <a:spAutoFit/>
          </a:bodyPr>
          <a:lstStyle/>
          <a:p>
            <a:pPr algn="l">
              <a:lnSpc>
                <a:spcPct val="115000"/>
              </a:lnSpc>
              <a:spcAft>
                <a:spcPts val="400"/>
              </a:spcAft>
            </a:pPr>
            <a:r>
              <a:rPr sz="1250" b="0" i="0">
                <a:solidFill>
                  <a:srgbClr val="334155"/>
                </a:solidFill>
                <a:latin typeface="Calibri"/>
              </a:rPr>
              <a:t>Every match is explained (what matched, and how strongly) and every suggestion names its source parts — </a:t>
            </a:r>
            <a:r>
              <a:rPr sz="1250" b="1" i="0">
                <a:solidFill>
                  <a:srgbClr val="0F172A"/>
                </a:solidFill>
                <a:latin typeface="Calibri"/>
              </a:rPr>
              <a:t>no black 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3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Self-correction — it learns from real quotes</a:t>
            </a:r>
          </a:p>
        </p:txBody>
      </p:sp>
      <p:graphicFrame>
        <p:nvGraphicFramePr>
          <p:cNvPr id="9" name="Chart 8"/>
          <p:cNvGraphicFramePr>
            <a:graphicFrameLocks noGrp="1"/>
          </p:cNvGraphicFramePr>
          <p:nvPr/>
        </p:nvGraphicFramePr>
        <p:xfrm>
          <a:off x="411480" y="1965960"/>
          <a:ext cx="603504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603504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Estimating error (%) — measured against real supplier prices, live system run</a:t>
            </a:r>
          </a:p>
        </p:txBody>
      </p:sp>
      <p:sp>
        <p:nvSpPr>
          <p:cNvPr id="11" name="Rounded Rectangle 10"/>
          <p:cNvSpPr/>
          <p:nvPr/>
        </p:nvSpPr>
        <p:spPr>
          <a:xfrm>
            <a:off x="6812280" y="1965960"/>
            <a:ext cx="498348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86600" y="2194560"/>
            <a:ext cx="4480560" cy="3840480"/>
          </a:xfrm>
          <a:prstGeom prst="rect">
            <a:avLst/>
          </a:prstGeom>
          <a:noFill/>
        </p:spPr>
        <p:txBody>
          <a:bodyPr wrap="square" anchor="t" lIns="0" rIns="0" tIns="0" bIns="0">
            <a:spAutoFit/>
          </a:bodyPr>
          <a:lstStyle/>
          <a:p>
            <a:pPr algn="l">
              <a:lnSpc>
                <a:spcPct val="112000"/>
              </a:lnSpc>
              <a:spcAft>
                <a:spcPts val="1000"/>
              </a:spcAft>
            </a:pPr>
            <a:r>
              <a:rPr sz="1500" b="1" i="0">
                <a:solidFill>
                  <a:srgbClr val="0F172A"/>
                </a:solidFill>
                <a:latin typeface="Calibri"/>
              </a:rPr>
              <a:t>How it works, simply</a:t>
            </a:r>
          </a:p>
          <a:p>
            <a:pPr algn="l">
              <a:lnSpc>
                <a:spcPct val="112000"/>
              </a:lnSpc>
              <a:spcAft>
                <a:spcPts val="1000"/>
              </a:spcAft>
            </a:pPr>
            <a:r>
              <a:rPr sz="1250" b="0" i="0">
                <a:solidFill>
                  <a:srgbClr val="334155"/>
                </a:solidFill>
                <a:latin typeface="Calibri"/>
              </a:rPr>
              <a:t>1.  A real supplier quote arrives → one click logs it.</a:t>
            </a:r>
          </a:p>
          <a:p>
            <a:pPr algn="l">
              <a:lnSpc>
                <a:spcPct val="112000"/>
              </a:lnSpc>
              <a:spcAft>
                <a:spcPts val="1000"/>
              </a:spcAft>
            </a:pPr>
            <a:r>
              <a:rPr sz="1250" b="0" i="0">
                <a:solidFill>
                  <a:srgbClr val="334155"/>
                </a:solidFill>
                <a:latin typeface="Calibri"/>
              </a:rPr>
              <a:t>2.  The tool compares its estimate with reality and measures its own error.</a:t>
            </a:r>
          </a:p>
          <a:p>
            <a:pPr algn="l">
              <a:lnSpc>
                <a:spcPct val="112000"/>
              </a:lnSpc>
              <a:spcAft>
                <a:spcPts val="1000"/>
              </a:spcAft>
            </a:pPr>
            <a:r>
              <a:rPr sz="1250" b="0" i="0">
                <a:solidFill>
                  <a:srgbClr val="334155"/>
                </a:solidFill>
                <a:latin typeface="Calibri"/>
              </a:rPr>
              <a:t>3.  From 3 quotes in a category, it corrects future estimates automatically — per process, material family and region.</a:t>
            </a:r>
          </a:p>
          <a:p>
            <a:pPr algn="l">
              <a:lnSpc>
                <a:spcPct val="112000"/>
              </a:lnSpc>
              <a:spcAft>
                <a:spcPts val="1000"/>
              </a:spcAft>
            </a:pPr>
            <a:r>
              <a:rPr sz="1250" b="0" i="0">
                <a:solidFill>
                  <a:srgbClr val="334155"/>
                </a:solidFill>
                <a:latin typeface="Calibri"/>
              </a:rPr>
              <a:t>4.  It reports its accuracy openly (error % before and after).</a:t>
            </a:r>
          </a:p>
          <a:p>
            <a:pPr algn="l">
              <a:lnSpc>
                <a:spcPct val="112000"/>
              </a:lnSpc>
              <a:spcAft>
                <a:spcPts val="1000"/>
              </a:spcAft>
            </a:pPr>
            <a:r>
              <a:rPr sz="1250" b="1" i="0">
                <a:solidFill>
                  <a:srgbClr val="0F172A"/>
                </a:solidFill>
                <a:latin typeface="Calibri"/>
              </a:rPr>
              <a:t>Why per-category matters: </a:t>
            </a:r>
            <a:r>
              <a:rPr sz="1250" b="0" i="0">
                <a:solidFill>
                  <a:srgbClr val="334155"/>
                </a:solidFill>
                <a:latin typeface="Calibri"/>
              </a:rPr>
              <a:t>our machining ran 12% low while our China castings ran 8% high — averaged together they looked "fine". The tool catches what averages hide.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4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Honest ranges — from "±20%" to "±3%", earned with data</a:t>
            </a:r>
          </a:p>
        </p:txBody>
      </p:sp>
      <p:graphicFrame>
        <p:nvGraphicFramePr>
          <p:cNvPr id="9" name="Chart 8"/>
          <p:cNvGraphicFramePr>
            <a:graphicFrameLocks noGrp="1"/>
          </p:cNvGraphicFramePr>
          <p:nvPr/>
        </p:nvGraphicFramePr>
        <p:xfrm>
          <a:off x="411480" y="1965960"/>
          <a:ext cx="539496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539496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Width of the cost confidence band on the same part (± % around the estimate)</a:t>
            </a:r>
          </a:p>
        </p:txBody>
      </p:sp>
      <p:sp>
        <p:nvSpPr>
          <p:cNvPr id="11" name="Rounded Rectangle 10"/>
          <p:cNvSpPr/>
          <p:nvPr/>
        </p:nvSpPr>
        <p:spPr>
          <a:xfrm>
            <a:off x="6172200" y="1965960"/>
            <a:ext cx="562356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94560"/>
            <a:ext cx="5120640" cy="3840480"/>
          </a:xfrm>
          <a:prstGeom prst="rect">
            <a:avLst/>
          </a:prstGeom>
          <a:noFill/>
        </p:spPr>
        <p:txBody>
          <a:bodyPr wrap="square" anchor="t" lIns="0" rIns="0" tIns="0" bIns="0">
            <a:spAutoFit/>
          </a:bodyPr>
          <a:lstStyle/>
          <a:p>
            <a:pPr algn="l">
              <a:lnSpc>
                <a:spcPct val="115000"/>
              </a:lnSpc>
              <a:spcAft>
                <a:spcPts val="1000"/>
              </a:spcAft>
            </a:pPr>
            <a:r>
              <a:rPr sz="1500" b="1" i="0">
                <a:solidFill>
                  <a:srgbClr val="0F172A"/>
                </a:solidFill>
                <a:latin typeface="Calibri"/>
              </a:rPr>
              <a:t>Every estimate now comes as a range</a:t>
            </a:r>
          </a:p>
          <a:p>
            <a:pPr algn="l">
              <a:lnSpc>
                <a:spcPct val="115000"/>
              </a:lnSpc>
              <a:spcAft>
                <a:spcPts val="1000"/>
              </a:spcAft>
            </a:pPr>
            <a:r>
              <a:rPr sz="1250" b="1" i="0">
                <a:solidFill>
                  <a:srgbClr val="2563EB"/>
                </a:solidFill>
                <a:latin typeface="Calibri"/>
              </a:rPr>
              <a:t>Optimistic (P10)  ·  Most likely (P50)  ·  Conservative (P90)</a:t>
            </a:r>
          </a:p>
          <a:p>
            <a:pPr algn="l">
              <a:lnSpc>
                <a:spcPct val="115000"/>
              </a:lnSpc>
              <a:spcAft>
                <a:spcPts val="1000"/>
              </a:spcAft>
            </a:pPr>
            <a:r>
              <a:rPr sz="1250" b="0" i="0">
                <a:solidFill>
                  <a:srgbClr val="334155"/>
                </a:solidFill>
                <a:latin typeface="Calibri"/>
              </a:rPr>
              <a:t>A single number implies a precision that early estimates don't have. The range tells buyers how much to trust the number — and what target to set in negotiation.</a:t>
            </a:r>
          </a:p>
          <a:p>
            <a:pPr algn="l">
              <a:lnSpc>
                <a:spcPct val="115000"/>
              </a:lnSpc>
              <a:spcAft>
                <a:spcPts val="1000"/>
              </a:spcAft>
            </a:pPr>
            <a:r>
              <a:rPr sz="1250" b="1" i="0">
                <a:solidFill>
                  <a:srgbClr val="0F172A"/>
                </a:solidFill>
                <a:latin typeface="Calibri"/>
              </a:rPr>
              <a:t>The band is earned, not guessed: </a:t>
            </a:r>
            <a:r>
              <a:rPr sz="1250" b="0" i="0">
                <a:solidFill>
                  <a:srgbClr val="334155"/>
                </a:solidFill>
                <a:latin typeface="Calibri"/>
              </a:rPr>
              <a:t>it starts wide when the tool has no evidence, and tightens automatically as real quotes prove the accuracy. On our test part it went from ±20% to ±3% after three quotes.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5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autonomous agent — finds money unattended</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 background monitor re-checks every stored part on a schedule. In the live demonstration it opened these findings </a:t>
            </a:r>
            <a:r>
              <a:rPr sz="1300" b="1" i="0">
                <a:solidFill>
                  <a:srgbClr val="0F172A"/>
                </a:solidFill>
                <a:latin typeface="Calibri"/>
              </a:rPr>
              <a:t>entirely unattended:</a:t>
            </a:r>
          </a:p>
        </p:txBody>
      </p:sp>
      <p:sp>
        <p:nvSpPr>
          <p:cNvPr id="10" name="Rounded Rectangle 9"/>
          <p:cNvSpPr/>
          <p:nvPr/>
        </p:nvSpPr>
        <p:spPr>
          <a:xfrm>
            <a:off x="411480" y="228600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9144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0487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DC2626"/>
                </a:solidFill>
                <a:latin typeface="Calibri"/>
              </a:rPr>
              <a:t>💰  RENEGOTIATION</a:t>
            </a:r>
          </a:p>
        </p:txBody>
      </p:sp>
      <p:sp>
        <p:nvSpPr>
          <p:cNvPr id="13" name="TextBox 12"/>
          <p:cNvSpPr txBox="1"/>
          <p:nvPr/>
        </p:nvSpPr>
        <p:spPr>
          <a:xfrm>
            <a:off x="731520" y="274320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Supplier price £48.00 is 20% above should-cost £40.00 at 50,000 pcs — clear recovery opportunity.</a:t>
            </a:r>
          </a:p>
        </p:txBody>
      </p:sp>
      <p:sp>
        <p:nvSpPr>
          <p:cNvPr id="14" name="TextBox 13"/>
          <p:cNvSpPr txBox="1"/>
          <p:nvPr/>
        </p:nvSpPr>
        <p:spPr>
          <a:xfrm>
            <a:off x="9052560" y="240487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DC2626"/>
                </a:solidFill>
                <a:latin typeface="Calibri"/>
              </a:rPr>
              <a:t>≈ £400,000 / yr</a:t>
            </a:r>
          </a:p>
        </p:txBody>
      </p:sp>
      <p:sp>
        <p:nvSpPr>
          <p:cNvPr id="15" name="Rounded Rectangle 14"/>
          <p:cNvSpPr/>
          <p:nvPr/>
        </p:nvSpPr>
        <p:spPr>
          <a:xfrm>
            <a:off x="411480" y="333756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37560"/>
            <a:ext cx="82296" cy="914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45643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D97706"/>
                </a:solidFill>
                <a:latin typeface="Calibri"/>
              </a:rPr>
              <a:t>🚨  UNDERWATER PRICE</a:t>
            </a:r>
          </a:p>
        </p:txBody>
      </p:sp>
      <p:sp>
        <p:nvSpPr>
          <p:cNvPr id="18" name="TextBox 17"/>
          <p:cNvSpPr txBox="1"/>
          <p:nvPr/>
        </p:nvSpPr>
        <p:spPr>
          <a:xfrm>
            <a:off x="731520" y="379476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Supplier price 25% BELOW should-cost — verify scope and quality; pricing may be unsustainable.</a:t>
            </a:r>
          </a:p>
        </p:txBody>
      </p:sp>
      <p:sp>
        <p:nvSpPr>
          <p:cNvPr id="19" name="TextBox 18"/>
          <p:cNvSpPr txBox="1"/>
          <p:nvPr/>
        </p:nvSpPr>
        <p:spPr>
          <a:xfrm>
            <a:off x="9052560" y="345643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D97706"/>
                </a:solidFill>
                <a:latin typeface="Calibri"/>
              </a:rPr>
              <a:t>≈ £112,000 / yr exposure</a:t>
            </a:r>
          </a:p>
        </p:txBody>
      </p:sp>
      <p:sp>
        <p:nvSpPr>
          <p:cNvPr id="20" name="Rounded Rectangle 19"/>
          <p:cNvSpPr/>
          <p:nvPr/>
        </p:nvSpPr>
        <p:spPr>
          <a:xfrm>
            <a:off x="411480" y="438912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389120"/>
            <a:ext cx="82296" cy="9144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  STALE ESTIMATE</a:t>
            </a:r>
          </a:p>
        </p:txBody>
      </p:sp>
      <p:sp>
        <p:nvSpPr>
          <p:cNvPr id="23" name="TextBox 22"/>
          <p:cNvSpPr txBox="1"/>
          <p:nvPr/>
        </p:nvSpPr>
        <p:spPr>
          <a:xfrm>
            <a:off x="731520" y="484632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A 120-day-old estimate was never validated with a real quote — the agent asks for a refresh.</a:t>
            </a:r>
          </a:p>
        </p:txBody>
      </p:sp>
      <p:sp>
        <p:nvSpPr>
          <p:cNvPr id="24" name="TextBox 23"/>
          <p:cNvSpPr txBox="1"/>
          <p:nvPr/>
        </p:nvSpPr>
        <p:spPr>
          <a:xfrm>
            <a:off x="9052560" y="450799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64748B"/>
                </a:solidFill>
                <a:latin typeface="Calibri"/>
              </a:rPr>
              <a:t>Confidence decay</a:t>
            </a:r>
          </a:p>
        </p:txBody>
      </p:sp>
      <p:sp>
        <p:nvSpPr>
          <p:cNvPr id="25" name="Rounded Rectangle 24"/>
          <p:cNvSpPr/>
          <p:nvPr/>
        </p:nvSpPr>
        <p:spPr>
          <a:xfrm>
            <a:off x="411480" y="5532120"/>
            <a:ext cx="11384280" cy="77724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69280"/>
            <a:ext cx="10881360" cy="54864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Total surfaced in the demo:  </a:t>
            </a:r>
            <a:r>
              <a:rPr sz="1500" b="1" i="0">
                <a:solidFill>
                  <a:srgbClr val="DC2626"/>
                </a:solidFill>
                <a:latin typeface="Calibri"/>
              </a:rPr>
              <a:t>≈ £512,000 / yr</a:t>
            </a:r>
            <a:r>
              <a:rPr sz="1200" b="0" i="0">
                <a:solidFill>
                  <a:srgbClr val="64748B"/>
                </a:solidFill>
                <a:latin typeface="Calibri"/>
              </a:rPr>
              <a:t>   — every finding shows its arithmetic, and one click dismisses it once handled.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WIDER AI PLATFORM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Supporting AI capabilities already in the tool</a:t>
            </a:r>
          </a:p>
        </p:txBody>
      </p:sp>
      <p:sp>
        <p:nvSpPr>
          <p:cNvPr id="9" name="Rounded Rectangle 8"/>
          <p:cNvSpPr/>
          <p:nvPr/>
        </p:nvSpPr>
        <p:spPr>
          <a:xfrm>
            <a:off x="411480" y="192024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82296"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  Grounded AI assistant</a:t>
            </a:r>
          </a:p>
        </p:txBody>
      </p:sp>
      <p:sp>
        <p:nvSpPr>
          <p:cNvPr id="12" name="TextBox 11"/>
          <p:cNvSpPr txBox="1"/>
          <p:nvPr/>
        </p:nvSpPr>
        <p:spPr>
          <a:xfrm>
            <a:off x="68580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Answers cite our actual rate library and past costings — the AI quotes our data, it doesn't improvise. Every figure is traceable.</a:t>
            </a:r>
          </a:p>
        </p:txBody>
      </p:sp>
      <p:sp>
        <p:nvSpPr>
          <p:cNvPr id="13" name="Rounded Rectangle 12"/>
          <p:cNvSpPr/>
          <p:nvPr/>
        </p:nvSpPr>
        <p:spPr>
          <a:xfrm>
            <a:off x="6217920" y="192024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920240"/>
            <a:ext cx="82296" cy="1874519"/>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  RFQ analyst</a:t>
            </a:r>
          </a:p>
        </p:txBody>
      </p:sp>
      <p:sp>
        <p:nvSpPr>
          <p:cNvPr id="16" name="TextBox 15"/>
          <p:cNvSpPr txBox="1"/>
          <p:nvPr/>
        </p:nvSpPr>
        <p:spPr>
          <a:xfrm>
            <a:off x="649224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Drop in an RFQ package: it costs every line, flags risky prices and single-source parts, and drafts a prioritised negotiation brief.</a:t>
            </a:r>
          </a:p>
        </p:txBody>
      </p:sp>
      <p:sp>
        <p:nvSpPr>
          <p:cNvPr id="17" name="Rounded Rectangle 16"/>
          <p:cNvSpPr/>
          <p:nvPr/>
        </p:nvSpPr>
        <p:spPr>
          <a:xfrm>
            <a:off x="411480" y="402336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23360"/>
            <a:ext cx="82296" cy="1874519"/>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  CAD feature costing</a:t>
            </a:r>
          </a:p>
        </p:txBody>
      </p:sp>
      <p:sp>
        <p:nvSpPr>
          <p:cNvPr id="20" name="TextBox 19"/>
          <p:cNvSpPr txBox="1"/>
          <p:nvPr/>
        </p:nvSpPr>
        <p:spPr>
          <a:xfrm>
            <a:off x="68580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Reads the 3D model and prices individual design features — holes, threads, surfaces — so designers see exactly what drives cost.</a:t>
            </a:r>
          </a:p>
        </p:txBody>
      </p:sp>
      <p:sp>
        <p:nvSpPr>
          <p:cNvPr id="21" name="Rounded Rectangle 20"/>
          <p:cNvSpPr/>
          <p:nvPr/>
        </p:nvSpPr>
        <p:spPr>
          <a:xfrm>
            <a:off x="6217920" y="402336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82296" cy="1874519"/>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  Carbon co-costing</a:t>
            </a:r>
          </a:p>
        </p:txBody>
      </p:sp>
      <p:sp>
        <p:nvSpPr>
          <p:cNvPr id="24" name="TextBox 23"/>
          <p:cNvSpPr txBox="1"/>
          <p:nvPr/>
        </p:nvSpPr>
        <p:spPr>
          <a:xfrm>
            <a:off x="649224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Every part gets a CO₂e figure alongside the £ — increasingly demanded in automotive &amp; aerospace RFQs.</a:t>
            </a:r>
          </a:p>
        </p:txBody>
      </p:sp>
      <p:sp>
        <p:nvSpPr>
          <p:cNvPr id="25" name="TextBox 24"/>
          <p:cNvSpPr txBox="1"/>
          <p:nvPr/>
        </p:nvSpPr>
        <p:spPr>
          <a:xfrm>
            <a:off x="411480" y="6126480"/>
            <a:ext cx="11338560" cy="457200"/>
          </a:xfrm>
          <a:prstGeom prst="rect">
            <a:avLst/>
          </a:prstGeom>
          <a:noFill/>
        </p:spPr>
        <p:txBody>
          <a:bodyPr wrap="square" anchor="t" lIns="0" rIns="0" tIns="0" bIns="0">
            <a:spAutoFit/>
          </a:bodyPr>
          <a:lstStyle/>
          <a:p>
            <a:pPr algn="l">
              <a:lnSpc>
                <a:spcPct val="100000"/>
              </a:lnSpc>
              <a:spcAft>
                <a:spcPts val="400"/>
              </a:spcAft>
            </a:pPr>
            <a:r>
              <a:rPr sz="1200" b="0" i="1">
                <a:solidFill>
                  <a:srgbClr val="64748B"/>
                </a:solidFill>
                <a:latin typeface="Calibri"/>
              </a:rPr>
              <a:t>Together with 18 commodity cost engines, CAD-to-cost, and PCB photo-to-BOM — the agentic layer sits on top of all of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INPUTS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needs from us — honestly, very little</a:t>
            </a:r>
          </a:p>
        </p:txBody>
      </p:sp>
      <p:sp>
        <p:nvSpPr>
          <p:cNvPr id="9" name="Rounded Rectangle 8"/>
          <p:cNvSpPr/>
          <p:nvPr/>
        </p:nvSpPr>
        <p:spPr>
          <a:xfrm>
            <a:off x="411480" y="1874519"/>
            <a:ext cx="5486400" cy="39319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563EB"/>
                </a:solidFill>
                <a:latin typeface="Calibri"/>
              </a:rPr>
              <a:t>You provide</a:t>
            </a:r>
          </a:p>
        </p:txBody>
      </p:sp>
      <p:sp>
        <p:nvSpPr>
          <p:cNvPr id="11" name="TextBox 10"/>
          <p:cNvSpPr txBox="1"/>
          <p:nvPr/>
        </p:nvSpPr>
        <p:spPr>
          <a:xfrm>
            <a:off x="685800" y="260604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1.  Keep costing parts as normal</a:t>
            </a:r>
          </a:p>
          <a:p>
            <a:pPr algn="l">
              <a:lnSpc>
                <a:spcPct val="100000"/>
              </a:lnSpc>
              <a:spcAft>
                <a:spcPts val="200"/>
              </a:spcAft>
            </a:pPr>
            <a:r>
              <a:rPr sz="1100" b="0" i="0">
                <a:solidFill>
                  <a:srgbClr val="64748B"/>
                </a:solidFill>
                <a:latin typeface="Calibri"/>
              </a:rPr>
              <a:t>     every analysis feeds the memory automatically</a:t>
            </a:r>
          </a:p>
        </p:txBody>
      </p:sp>
      <p:sp>
        <p:nvSpPr>
          <p:cNvPr id="12" name="TextBox 11"/>
          <p:cNvSpPr txBox="1"/>
          <p:nvPr/>
        </p:nvSpPr>
        <p:spPr>
          <a:xfrm>
            <a:off x="685800" y="338328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2.  One click when a real quote arrives</a:t>
            </a:r>
          </a:p>
          <a:p>
            <a:pPr algn="l">
              <a:lnSpc>
                <a:spcPct val="100000"/>
              </a:lnSpc>
              <a:spcAft>
                <a:spcPts val="200"/>
              </a:spcAft>
            </a:pPr>
            <a:r>
              <a:rPr sz="1100" b="0" i="0">
                <a:solidFill>
                  <a:srgbClr val="64748B"/>
                </a:solidFill>
                <a:latin typeface="Calibri"/>
              </a:rPr>
              <a:t>     "Log Actual £" — this is the learning fuel</a:t>
            </a:r>
          </a:p>
        </p:txBody>
      </p:sp>
      <p:sp>
        <p:nvSpPr>
          <p:cNvPr id="13" name="TextBox 12"/>
          <p:cNvSpPr txBox="1"/>
          <p:nvPr/>
        </p:nvSpPr>
        <p:spPr>
          <a:xfrm>
            <a:off x="685800" y="416052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3.  Optional: CAD file or BOM</a:t>
            </a:r>
          </a:p>
          <a:p>
            <a:pPr algn="l">
              <a:lnSpc>
                <a:spcPct val="100000"/>
              </a:lnSpc>
              <a:spcAft>
                <a:spcPts val="200"/>
              </a:spcAft>
            </a:pPr>
            <a:r>
              <a:rPr sz="1100" b="0" i="0">
                <a:solidFill>
                  <a:srgbClr val="64748B"/>
                </a:solidFill>
                <a:latin typeface="Calibri"/>
              </a:rPr>
              <a:t>     sharper matching and better auto-fill</a:t>
            </a:r>
          </a:p>
        </p:txBody>
      </p:sp>
      <p:sp>
        <p:nvSpPr>
          <p:cNvPr id="14" name="TextBox 13"/>
          <p:cNvSpPr txBox="1"/>
          <p:nvPr/>
        </p:nvSpPr>
        <p:spPr>
          <a:xfrm>
            <a:off x="685800" y="493776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4.  Optional: historic quotes (CSV)</a:t>
            </a:r>
          </a:p>
          <a:p>
            <a:pPr algn="l">
              <a:lnSpc>
                <a:spcPct val="100000"/>
              </a:lnSpc>
              <a:spcAft>
                <a:spcPts val="200"/>
              </a:spcAft>
            </a:pPr>
            <a:r>
              <a:rPr sz="1100" b="0" i="0">
                <a:solidFill>
                  <a:srgbClr val="64748B"/>
                </a:solidFill>
                <a:latin typeface="Calibri"/>
              </a:rPr>
              <a:t>     seeds the memory so it starts smart, not empty</a:t>
            </a:r>
          </a:p>
        </p:txBody>
      </p:sp>
      <p:sp>
        <p:nvSpPr>
          <p:cNvPr id="15" name="Rounded Rectangle 14"/>
          <p:cNvSpPr/>
          <p:nvPr/>
        </p:nvSpPr>
        <p:spPr>
          <a:xfrm>
            <a:off x="6263640" y="1874519"/>
            <a:ext cx="5532120" cy="39319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59669"/>
                </a:solidFill>
                <a:latin typeface="Calibri"/>
              </a:rPr>
              <a:t>The tool does</a:t>
            </a:r>
          </a:p>
        </p:txBody>
      </p:sp>
      <p:sp>
        <p:nvSpPr>
          <p:cNvPr id="17" name="TextBox 16"/>
          <p:cNvSpPr txBox="1"/>
          <p:nvPr/>
        </p:nvSpPr>
        <p:spPr>
          <a:xfrm>
            <a:off x="6537960" y="2606040"/>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Remembers every analysis (no duplicates, org-wide)</a:t>
            </a:r>
          </a:p>
        </p:txBody>
      </p:sp>
      <p:sp>
        <p:nvSpPr>
          <p:cNvPr id="18" name="TextBox 17"/>
          <p:cNvSpPr txBox="1"/>
          <p:nvPr/>
        </p:nvSpPr>
        <p:spPr>
          <a:xfrm>
            <a:off x="6537960" y="3127248"/>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Finds &amp; explains similar past parts instantly</a:t>
            </a:r>
          </a:p>
        </p:txBody>
      </p:sp>
      <p:sp>
        <p:nvSpPr>
          <p:cNvPr id="19" name="TextBox 18"/>
          <p:cNvSpPr txBox="1"/>
          <p:nvPr/>
        </p:nvSpPr>
        <p:spPr>
          <a:xfrm>
            <a:off x="6537960" y="3648456"/>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Suggests benchmarks, materials and real prices</a:t>
            </a:r>
          </a:p>
        </p:txBody>
      </p:sp>
      <p:sp>
        <p:nvSpPr>
          <p:cNvPr id="20" name="TextBox 19"/>
          <p:cNvSpPr txBox="1"/>
          <p:nvPr/>
        </p:nvSpPr>
        <p:spPr>
          <a:xfrm>
            <a:off x="6537960" y="4169664"/>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Measures its own error and self-corrects per category</a:t>
            </a:r>
          </a:p>
        </p:txBody>
      </p:sp>
      <p:sp>
        <p:nvSpPr>
          <p:cNvPr id="21" name="TextBox 20"/>
          <p:cNvSpPr txBox="1"/>
          <p:nvPr/>
        </p:nvSpPr>
        <p:spPr>
          <a:xfrm>
            <a:off x="6537960" y="4690872"/>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Tightens confidence ranges as evidence grows</a:t>
            </a:r>
          </a:p>
        </p:txBody>
      </p:sp>
      <p:sp>
        <p:nvSpPr>
          <p:cNvPr id="22" name="TextBox 21"/>
          <p:cNvSpPr txBox="1"/>
          <p:nvPr/>
        </p:nvSpPr>
        <p:spPr>
          <a:xfrm>
            <a:off x="6537960" y="5212079"/>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Monitors all parts in the background &amp; raises findings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Results &amp; accuracy — measured, not promised</a:t>
            </a:r>
          </a:p>
        </p:txBody>
      </p:sp>
      <p:sp>
        <p:nvSpPr>
          <p:cNvPr id="9" name="Rounded Rectangle 8"/>
          <p:cNvSpPr/>
          <p:nvPr/>
        </p:nvSpPr>
        <p:spPr>
          <a:xfrm>
            <a:off x="411480" y="1920240"/>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0824"/>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Estimating error after learning (machining segment)</a:t>
            </a:r>
          </a:p>
        </p:txBody>
      </p:sp>
      <p:sp>
        <p:nvSpPr>
          <p:cNvPr id="11" name="TextBox 10"/>
          <p:cNvSpPr txBox="1"/>
          <p:nvPr/>
        </p:nvSpPr>
        <p:spPr>
          <a:xfrm>
            <a:off x="7863840" y="2002536"/>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10.9%  →  0.3%</a:t>
            </a:r>
          </a:p>
        </p:txBody>
      </p:sp>
      <p:sp>
        <p:nvSpPr>
          <p:cNvPr id="12" name="Rounded Rectangle 11"/>
          <p:cNvSpPr/>
          <p:nvPr/>
        </p:nvSpPr>
        <p:spPr>
          <a:xfrm>
            <a:off x="411480" y="2578608"/>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679192"/>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Estimating error after learning (casting · China)</a:t>
            </a:r>
          </a:p>
        </p:txBody>
      </p:sp>
      <p:sp>
        <p:nvSpPr>
          <p:cNvPr id="14" name="TextBox 13"/>
          <p:cNvSpPr txBox="1"/>
          <p:nvPr/>
        </p:nvSpPr>
        <p:spPr>
          <a:xfrm>
            <a:off x="7863840" y="2660904"/>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8.7%  →  0.6%</a:t>
            </a:r>
          </a:p>
        </p:txBody>
      </p:sp>
      <p:sp>
        <p:nvSpPr>
          <p:cNvPr id="15" name="Rounded Rectangle 14"/>
          <p:cNvSpPr/>
          <p:nvPr/>
        </p:nvSpPr>
        <p:spPr>
          <a:xfrm>
            <a:off x="411480" y="3236976"/>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37560"/>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Confidence band on the same part</a:t>
            </a:r>
          </a:p>
        </p:txBody>
      </p:sp>
      <p:sp>
        <p:nvSpPr>
          <p:cNvPr id="17" name="TextBox 16"/>
          <p:cNvSpPr txBox="1"/>
          <p:nvPr/>
        </p:nvSpPr>
        <p:spPr>
          <a:xfrm>
            <a:off x="7863840" y="3319272"/>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±20.4%  →  ±2.8%</a:t>
            </a:r>
          </a:p>
        </p:txBody>
      </p:sp>
      <p:sp>
        <p:nvSpPr>
          <p:cNvPr id="18" name="Rounded Rectangle 17"/>
          <p:cNvSpPr/>
          <p:nvPr/>
        </p:nvSpPr>
        <p:spPr>
          <a:xfrm>
            <a:off x="411480" y="3895344"/>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95928"/>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Similar-part recognition on live example</a:t>
            </a:r>
          </a:p>
        </p:txBody>
      </p:sp>
      <p:sp>
        <p:nvSpPr>
          <p:cNvPr id="20" name="TextBox 19"/>
          <p:cNvSpPr txBox="1"/>
          <p:nvPr/>
        </p:nvSpPr>
        <p:spPr>
          <a:xfrm>
            <a:off x="7863840" y="3977640"/>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891B2"/>
                </a:solidFill>
                <a:latin typeface="Calibri"/>
              </a:rPr>
              <a:t>98–99% match, reasons shown</a:t>
            </a:r>
          </a:p>
        </p:txBody>
      </p:sp>
      <p:sp>
        <p:nvSpPr>
          <p:cNvPr id="21" name="Rounded Rectangle 20"/>
          <p:cNvSpPr/>
          <p:nvPr/>
        </p:nvSpPr>
        <p:spPr>
          <a:xfrm>
            <a:off x="411480" y="4553712"/>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54296"/>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Autonomous findings in unattended demo</a:t>
            </a:r>
          </a:p>
        </p:txBody>
      </p:sp>
      <p:sp>
        <p:nvSpPr>
          <p:cNvPr id="23" name="TextBox 22"/>
          <p:cNvSpPr txBox="1"/>
          <p:nvPr/>
        </p:nvSpPr>
        <p:spPr>
          <a:xfrm>
            <a:off x="7863840" y="4636008"/>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DC2626"/>
                </a:solidFill>
                <a:latin typeface="Calibri"/>
              </a:rPr>
              <a:t>£512,000 / yr surfaced</a:t>
            </a:r>
          </a:p>
        </p:txBody>
      </p:sp>
      <p:sp>
        <p:nvSpPr>
          <p:cNvPr id="24" name="Rounded Rectangle 23"/>
          <p:cNvSpPr/>
          <p:nvPr/>
        </p:nvSpPr>
        <p:spPr>
          <a:xfrm>
            <a:off x="411480" y="5212079"/>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5312663"/>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Automated tests protecting all of this</a:t>
            </a:r>
          </a:p>
        </p:txBody>
      </p:sp>
      <p:sp>
        <p:nvSpPr>
          <p:cNvPr id="26" name="TextBox 25"/>
          <p:cNvSpPr txBox="1"/>
          <p:nvPr/>
        </p:nvSpPr>
        <p:spPr>
          <a:xfrm>
            <a:off x="7863840" y="5294375"/>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7C3AED"/>
                </a:solidFill>
                <a:latin typeface="Calibri"/>
              </a:rPr>
              <a:t>790 passing (60 suites)</a:t>
            </a:r>
          </a:p>
        </p:txBody>
      </p:sp>
      <p:sp>
        <p:nvSpPr>
          <p:cNvPr id="27" name="Rounded Rectangle 26"/>
          <p:cNvSpPr/>
          <p:nvPr/>
        </p:nvSpPr>
        <p:spPr>
          <a:xfrm>
            <a:off x="411480" y="5943600"/>
            <a:ext cx="11384280" cy="658368"/>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053328"/>
            <a:ext cx="10881360" cy="45720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How we verified: </a:t>
            </a:r>
            <a:r>
              <a:rPr sz="1200" b="0" i="0">
                <a:solidFill>
                  <a:srgbClr val="334155"/>
                </a:solidFill>
                <a:latin typeface="Calibri"/>
              </a:rPr>
              <a:t>every number above comes from running the real system end-to-end — live server, real database, real API calls — not from slides or simulations.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BENEFITS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this means for the business</a:t>
            </a:r>
          </a:p>
        </p:txBody>
      </p:sp>
      <p:sp>
        <p:nvSpPr>
          <p:cNvPr id="9" name="Rounded Rectangle 8"/>
          <p:cNvSpPr/>
          <p:nvPr/>
        </p:nvSpPr>
        <p:spPr>
          <a:xfrm>
            <a:off x="411480" y="1874519"/>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828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2563EB"/>
                </a:solidFill>
                <a:latin typeface="Calibri"/>
              </a:rPr>
              <a:t>⚡  </a:t>
            </a:r>
            <a:r>
              <a:rPr sz="1600" b="1" i="0">
                <a:solidFill>
                  <a:srgbClr val="2563EB"/>
                </a:solidFill>
                <a:latin typeface="Calibri"/>
              </a:rPr>
              <a:t>Faster costing</a:t>
            </a:r>
          </a:p>
        </p:txBody>
      </p:sp>
      <p:sp>
        <p:nvSpPr>
          <p:cNvPr id="12" name="TextBox 11"/>
          <p:cNvSpPr txBox="1"/>
          <p:nvPr/>
        </p:nvSpPr>
        <p:spPr>
          <a:xfrm>
            <a:off x="68580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New parts start from proven history instead of a blank sheet — matches, materials and benchmarks appear instantly.</a:t>
            </a:r>
          </a:p>
        </p:txBody>
      </p:sp>
      <p:sp>
        <p:nvSpPr>
          <p:cNvPr id="13" name="Rounded Rectangle 12"/>
          <p:cNvSpPr/>
          <p:nvPr/>
        </p:nvSpPr>
        <p:spPr>
          <a:xfrm>
            <a:off x="6217920" y="1874519"/>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8288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059669"/>
                </a:solidFill>
                <a:latin typeface="Calibri"/>
              </a:rPr>
              <a:t>🎯  </a:t>
            </a:r>
            <a:r>
              <a:rPr sz="1600" b="1" i="0">
                <a:solidFill>
                  <a:srgbClr val="059669"/>
                </a:solidFill>
                <a:latin typeface="Calibri"/>
              </a:rPr>
              <a:t>Accuracy that compounds</a:t>
            </a:r>
          </a:p>
        </p:txBody>
      </p:sp>
      <p:sp>
        <p:nvSpPr>
          <p:cNvPr id="16" name="TextBox 15"/>
          <p:cNvSpPr txBox="1"/>
          <p:nvPr/>
        </p:nvSpPr>
        <p:spPr>
          <a:xfrm>
            <a:off x="649224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Every real quote makes the next estimate better. Accuracy is measured and reported — defensible in any negotiation.</a:t>
            </a:r>
          </a:p>
        </p:txBody>
      </p:sp>
      <p:sp>
        <p:nvSpPr>
          <p:cNvPr id="17" name="Rounded Rectangle 16"/>
          <p:cNvSpPr/>
          <p:nvPr/>
        </p:nvSpPr>
        <p:spPr>
          <a:xfrm>
            <a:off x="411480" y="3931920"/>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931920"/>
            <a:ext cx="82296" cy="1828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7C3AED"/>
                </a:solidFill>
                <a:latin typeface="Calibri"/>
              </a:rPr>
              <a:t>🏦  </a:t>
            </a:r>
            <a:r>
              <a:rPr sz="1600" b="1" i="0">
                <a:solidFill>
                  <a:srgbClr val="7C3AED"/>
                </a:solidFill>
                <a:latin typeface="Calibri"/>
              </a:rPr>
              <a:t>Knowledge stays</a:t>
            </a:r>
          </a:p>
        </p:txBody>
      </p:sp>
      <p:sp>
        <p:nvSpPr>
          <p:cNvPr id="20" name="TextBox 19"/>
          <p:cNvSpPr txBox="1"/>
          <p:nvPr/>
        </p:nvSpPr>
        <p:spPr>
          <a:xfrm>
            <a:off x="68580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Senior engineers' judgement is captured as data. It doesn't leave when people do — and juniors inherit it from day one.</a:t>
            </a:r>
          </a:p>
        </p:txBody>
      </p:sp>
      <p:sp>
        <p:nvSpPr>
          <p:cNvPr id="21" name="Rounded Rectangle 20"/>
          <p:cNvSpPr/>
          <p:nvPr/>
        </p:nvSpPr>
        <p:spPr>
          <a:xfrm>
            <a:off x="6217920" y="3931920"/>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931920"/>
            <a:ext cx="8229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DC2626"/>
                </a:solidFill>
                <a:latin typeface="Calibri"/>
              </a:rPr>
              <a:t>💰  </a:t>
            </a:r>
            <a:r>
              <a:rPr sz="1600" b="1" i="0">
                <a:solidFill>
                  <a:srgbClr val="DC2626"/>
                </a:solidFill>
                <a:latin typeface="Calibri"/>
              </a:rPr>
              <a:t>Money found proactively</a:t>
            </a:r>
          </a:p>
        </p:txBody>
      </p:sp>
      <p:sp>
        <p:nvSpPr>
          <p:cNvPr id="24" name="TextBox 23"/>
          <p:cNvSpPr txBox="1"/>
          <p:nvPr/>
        </p:nvSpPr>
        <p:spPr>
          <a:xfrm>
            <a:off x="649224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agent watches all parts continuously and flags overpayment and pricing risk by itself, quantified in £/yr.</a:t>
            </a:r>
          </a:p>
        </p:txBody>
      </p:sp>
      <p:sp>
        <p:nvSpPr>
          <p:cNvPr id="25" name="TextBox 24"/>
          <p:cNvSpPr txBox="1"/>
          <p:nvPr/>
        </p:nvSpPr>
        <p:spPr>
          <a:xfrm>
            <a:off x="411480" y="6035040"/>
            <a:ext cx="11338560" cy="54864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And it is ours: </a:t>
            </a:r>
            <a:r>
              <a:rPr sz="1300" b="0" i="0">
                <a:solidFill>
                  <a:srgbClr val="334155"/>
                </a:solidFill>
                <a:latin typeface="Calibri"/>
              </a:rPr>
              <a:t>the knowledge base runs on our infrastructure and grows into a proprietary asset competitors cannot buy.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Confidence you can defend — not just assert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Every should-cost now carries two ranges — the physics estimate, and an </a:t>
            </a:r>
            <a:r>
              <a:rPr sz="1350" b="1" i="0">
                <a:solidFill>
                  <a:srgbClr val="0F172A"/>
                </a:solidFill>
                <a:latin typeface="Calibri"/>
              </a:rPr>
              <a:t>empirical band proven against your own logged quotes.</a:t>
            </a:r>
          </a:p>
        </p:txBody>
      </p:sp>
      <p:sp>
        <p:nvSpPr>
          <p:cNvPr id="10" name="Rounded Rectangle 9"/>
          <p:cNvSpPr/>
          <p:nvPr/>
        </p:nvSpPr>
        <p:spPr>
          <a:xfrm>
            <a:off x="411480" y="2286000"/>
            <a:ext cx="5532120" cy="2286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Physics prior (Monte-Carlo)</a:t>
            </a:r>
          </a:p>
        </p:txBody>
      </p:sp>
      <p:sp>
        <p:nvSpPr>
          <p:cNvPr id="13" name="TextBox 12"/>
          <p:cNvSpPr txBox="1"/>
          <p:nvPr/>
        </p:nvSpPr>
        <p:spPr>
          <a:xfrm>
            <a:off x="68580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How well the inputs are known — before you have any real quotes.</a:t>
            </a:r>
          </a:p>
          <a:p>
            <a:pPr algn="l">
              <a:lnSpc>
                <a:spcPct val="115000"/>
              </a:lnSpc>
              <a:spcAft>
                <a:spcPts val="800"/>
              </a:spcAft>
            </a:pPr>
            <a:r>
              <a:rPr sz="1400" b="1" i="0">
                <a:solidFill>
                  <a:srgbClr val="0F172A"/>
                </a:solidFill>
                <a:latin typeface="Calibri"/>
              </a:rPr>
              <a:t>Example:  £86.34  ± 3.4%</a:t>
            </a:r>
          </a:p>
          <a:p>
            <a:pPr algn="l">
              <a:lnSpc>
                <a:spcPct val="115000"/>
              </a:lnSpc>
              <a:spcAft>
                <a:spcPts val="800"/>
              </a:spcAft>
            </a:pPr>
            <a:r>
              <a:rPr sz="1100" b="0" i="1">
                <a:solidFill>
                  <a:srgbClr val="64748B"/>
                </a:solidFill>
                <a:latin typeface="Calibri"/>
              </a:rPr>
              <a:t>Always available, every part, every commodity.</a:t>
            </a:r>
          </a:p>
        </p:txBody>
      </p:sp>
      <p:sp>
        <p:nvSpPr>
          <p:cNvPr id="14" name="Rounded Rectangle 13"/>
          <p:cNvSpPr/>
          <p:nvPr/>
        </p:nvSpPr>
        <p:spPr>
          <a:xfrm>
            <a:off x="6263640" y="2286000"/>
            <a:ext cx="5532120" cy="22860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Empirical band (conformal)</a:t>
            </a:r>
          </a:p>
        </p:txBody>
      </p:sp>
      <p:sp>
        <p:nvSpPr>
          <p:cNvPr id="17" name="TextBox 16"/>
          <p:cNvSpPr txBox="1"/>
          <p:nvPr/>
        </p:nvSpPr>
        <p:spPr>
          <a:xfrm>
            <a:off x="653796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Proven against the quotes YOU logged — with a coverage guarantee.</a:t>
            </a:r>
          </a:p>
          <a:p>
            <a:pPr algn="l">
              <a:lnSpc>
                <a:spcPct val="115000"/>
              </a:lnSpc>
              <a:spcAft>
                <a:spcPts val="800"/>
              </a:spcAft>
            </a:pPr>
            <a:r>
              <a:rPr sz="1300" b="1" i="0">
                <a:solidFill>
                  <a:srgbClr val="0F172A"/>
                </a:solidFill>
                <a:latin typeface="Calibri"/>
              </a:rPr>
              <a:t>Example:  90% of your quotes land within  ± 6.5%  →  £81.54 – £92.88</a:t>
            </a:r>
          </a:p>
          <a:p>
            <a:pPr algn="l">
              <a:lnSpc>
                <a:spcPct val="115000"/>
              </a:lnSpc>
              <a:spcAft>
                <a:spcPts val="800"/>
              </a:spcAft>
            </a:pPr>
            <a:r>
              <a:rPr sz="1100" b="0" i="1">
                <a:solidFill>
                  <a:srgbClr val="059669"/>
                </a:solidFill>
                <a:latin typeface="Calibri"/>
              </a:rPr>
              <a:t>Tightens automatically as more quotes are logged.</a:t>
            </a:r>
          </a:p>
        </p:txBody>
      </p:sp>
      <p:sp>
        <p:nvSpPr>
          <p:cNvPr id="18" name="Rounded Rectangle 17"/>
          <p:cNvSpPr/>
          <p:nvPr/>
        </p:nvSpPr>
        <p:spPr>
          <a:xfrm>
            <a:off x="411480" y="4800600"/>
            <a:ext cx="11384280" cy="13716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983480"/>
            <a:ext cx="10881360" cy="1097280"/>
          </a:xfrm>
          <a:prstGeom prst="rect">
            <a:avLst/>
          </a:prstGeom>
          <a:noFill/>
        </p:spPr>
        <p:txBody>
          <a:bodyPr wrap="square" anchor="t" lIns="0" rIns="0" tIns="0" bIns="0">
            <a:spAutoFit/>
          </a:bodyPr>
          <a:lstStyle/>
          <a:p>
            <a:pPr algn="l">
              <a:lnSpc>
                <a:spcPct val="120000"/>
              </a:lnSpc>
              <a:spcAft>
                <a:spcPts val="400"/>
              </a:spcAft>
            </a:pPr>
            <a:r>
              <a:rPr sz="1300" b="1" i="0">
                <a:solidFill>
                  <a:srgbClr val="2563EB"/>
                </a:solidFill>
                <a:latin typeface="Calibri"/>
              </a:rPr>
              <a:t>Why it helps:  </a:t>
            </a:r>
            <a:r>
              <a:rPr sz="1250" b="0" i="0">
                <a:solidFill>
                  <a:srgbClr val="334155"/>
                </a:solidFill>
                <a:latin typeface="Calibri"/>
              </a:rPr>
              <a:t>a buyer can’t defend "trust me, ±5%". They CAN defend "90% of our real quotes for this family landed within ±6.5%." The band edge is an observed error — evidence, not an assertion. It is the honest uncertainty no competitor states this way.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agent learns what actually earns money</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The autonomous agent no longer just finds gaps — it learns which findings </a:t>
            </a:r>
            <a:r>
              <a:rPr sz="1350" b="1" i="0">
                <a:solidFill>
                  <a:srgbClr val="0F172A"/>
                </a:solidFill>
                <a:latin typeface="Calibri"/>
              </a:rPr>
              <a:t>actually convert into savings, and re-ranks by the money it can really recover.</a:t>
            </a:r>
          </a:p>
        </p:txBody>
      </p:sp>
      <p:sp>
        <p:nvSpPr>
          <p:cNvPr id="10" name="Rectangle 9"/>
          <p:cNvSpPr/>
          <p:nvPr/>
        </p:nvSpPr>
        <p:spPr>
          <a:xfrm>
            <a:off x="411480" y="2286000"/>
            <a:ext cx="11384280" cy="4572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359152"/>
            <a:ext cx="310896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Finding</a:t>
            </a:r>
          </a:p>
        </p:txBody>
      </p:sp>
      <p:sp>
        <p:nvSpPr>
          <p:cNvPr id="12" name="TextBox 11"/>
          <p:cNvSpPr txBox="1"/>
          <p:nvPr/>
        </p:nvSpPr>
        <p:spPr>
          <a:xfrm>
            <a:off x="4023360" y="2359152"/>
            <a:ext cx="310896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Raw gap (impact)</a:t>
            </a:r>
          </a:p>
        </p:txBody>
      </p:sp>
      <p:sp>
        <p:nvSpPr>
          <p:cNvPr id="13" name="TextBox 12"/>
          <p:cNvSpPr txBox="1"/>
          <p:nvPr/>
        </p:nvSpPr>
        <p:spPr>
          <a:xfrm>
            <a:off x="6766560" y="2359152"/>
            <a:ext cx="310896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Learned conversion</a:t>
            </a:r>
          </a:p>
        </p:txBody>
      </p:sp>
      <p:sp>
        <p:nvSpPr>
          <p:cNvPr id="14" name="TextBox 13"/>
          <p:cNvSpPr txBox="1"/>
          <p:nvPr/>
        </p:nvSpPr>
        <p:spPr>
          <a:xfrm>
            <a:off x="9326880" y="2359152"/>
            <a:ext cx="310896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Expected realizable</a:t>
            </a:r>
          </a:p>
        </p:txBody>
      </p:sp>
      <p:sp>
        <p:nvSpPr>
          <p:cNvPr id="15" name="Rectangle 14"/>
          <p:cNvSpPr/>
          <p:nvPr/>
        </p:nvSpPr>
        <p:spPr>
          <a:xfrm>
            <a:off x="411480" y="2743200"/>
            <a:ext cx="11384280" cy="54864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871216"/>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Cast Housing</a:t>
            </a:r>
          </a:p>
        </p:txBody>
      </p:sp>
      <p:sp>
        <p:nvSpPr>
          <p:cNvPr id="17" name="TextBox 16"/>
          <p:cNvSpPr txBox="1"/>
          <p:nvPr/>
        </p:nvSpPr>
        <p:spPr>
          <a:xfrm>
            <a:off x="4023360" y="2871216"/>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£200k/yr</a:t>
            </a:r>
          </a:p>
        </p:txBody>
      </p:sp>
      <p:sp>
        <p:nvSpPr>
          <p:cNvPr id="18" name="TextBox 17"/>
          <p:cNvSpPr txBox="1"/>
          <p:nvPr/>
        </p:nvSpPr>
        <p:spPr>
          <a:xfrm>
            <a:off x="6766560" y="2871216"/>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20% — rarely closes</a:t>
            </a:r>
          </a:p>
        </p:txBody>
      </p:sp>
      <p:sp>
        <p:nvSpPr>
          <p:cNvPr id="19" name="TextBox 18"/>
          <p:cNvSpPr txBox="1"/>
          <p:nvPr/>
        </p:nvSpPr>
        <p:spPr>
          <a:xfrm>
            <a:off x="9326880" y="2871216"/>
            <a:ext cx="237744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DC2626"/>
                </a:solidFill>
                <a:latin typeface="Calibri"/>
              </a:rPr>
              <a:t>£40k</a:t>
            </a:r>
          </a:p>
        </p:txBody>
      </p:sp>
      <p:sp>
        <p:nvSpPr>
          <p:cNvPr id="20" name="Rectangle 19"/>
          <p:cNvSpPr/>
          <p:nvPr/>
        </p:nvSpPr>
        <p:spPr>
          <a:xfrm>
            <a:off x="411480" y="3310128"/>
            <a:ext cx="113842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438144"/>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Machined Knuckle</a:t>
            </a:r>
          </a:p>
        </p:txBody>
      </p:sp>
      <p:sp>
        <p:nvSpPr>
          <p:cNvPr id="22" name="TextBox 21"/>
          <p:cNvSpPr txBox="1"/>
          <p:nvPr/>
        </p:nvSpPr>
        <p:spPr>
          <a:xfrm>
            <a:off x="4023360" y="3438144"/>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£100k/yr</a:t>
            </a:r>
          </a:p>
        </p:txBody>
      </p:sp>
      <p:sp>
        <p:nvSpPr>
          <p:cNvPr id="23" name="TextBox 22"/>
          <p:cNvSpPr txBox="1"/>
          <p:nvPr/>
        </p:nvSpPr>
        <p:spPr>
          <a:xfrm>
            <a:off x="6766560" y="3438144"/>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80% — usually closes</a:t>
            </a:r>
          </a:p>
        </p:txBody>
      </p:sp>
      <p:sp>
        <p:nvSpPr>
          <p:cNvPr id="24" name="TextBox 23"/>
          <p:cNvSpPr txBox="1"/>
          <p:nvPr/>
        </p:nvSpPr>
        <p:spPr>
          <a:xfrm>
            <a:off x="9326880" y="3438144"/>
            <a:ext cx="237744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£80k</a:t>
            </a:r>
          </a:p>
        </p:txBody>
      </p:sp>
      <p:sp>
        <p:nvSpPr>
          <p:cNvPr id="25" name="Rounded Rectangle 24"/>
          <p:cNvSpPr/>
          <p:nvPr/>
        </p:nvSpPr>
        <p:spPr>
          <a:xfrm>
            <a:off x="411480" y="4114800"/>
            <a:ext cx="11384280" cy="86868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261104"/>
            <a:ext cx="10881360" cy="640080"/>
          </a:xfrm>
          <a:prstGeom prst="rect">
            <a:avLst/>
          </a:prstGeom>
          <a:noFill/>
        </p:spPr>
        <p:txBody>
          <a:bodyPr wrap="square" anchor="t" lIns="0" rIns="0" tIns="0" bIns="0">
            <a:spAutoFit/>
          </a:bodyPr>
          <a:lstStyle/>
          <a:p>
            <a:pPr algn="l">
              <a:lnSpc>
                <a:spcPct val="120000"/>
              </a:lnSpc>
              <a:spcAft>
                <a:spcPts val="400"/>
              </a:spcAft>
            </a:pPr>
            <a:r>
              <a:rPr sz="1250" b="1" i="0">
                <a:solidFill>
                  <a:srgbClr val="2563EB"/>
                </a:solidFill>
                <a:latin typeface="Calibri"/>
              </a:rPr>
              <a:t>The result: </a:t>
            </a:r>
            <a:r>
              <a:rPr sz="1250" b="0" i="0">
                <a:solidFill>
                  <a:srgbClr val="334155"/>
                </a:solidFill>
                <a:latin typeface="Calibri"/>
              </a:rPr>
              <a:t>the machining finding — HALF the raw gap — now ranks ABOVE the casting one, because the agent learned casting renegotiations don’t close. It stops shouting about theoretical money and surfaces the money you can get.</a:t>
            </a:r>
          </a:p>
        </p:txBody>
      </p:sp>
      <p:sp>
        <p:nvSpPr>
          <p:cNvPr id="27" name="TextBox 26"/>
          <p:cNvSpPr txBox="1"/>
          <p:nvPr/>
        </p:nvSpPr>
        <p:spPr>
          <a:xfrm>
            <a:off x="411480" y="5212080"/>
            <a:ext cx="113385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059669"/>
                </a:solidFill>
                <a:latin typeface="Calibri"/>
              </a:rPr>
              <a:t>Why it helps:  </a:t>
            </a:r>
            <a:r>
              <a:rPr sz="1250" b="0" i="0">
                <a:solidFill>
                  <a:srgbClr val="334155"/>
                </a:solidFill>
                <a:latin typeface="Calibri"/>
              </a:rPr>
              <a:t>sourcing time is scarce. The agent spends it where the return is real — and tracks the £ actually saved, so you can prove the tool paid for itself. One click ("Actioned £") teaches it after every negotiation.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negotiation coach — it hands you the argument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The tool now knows </a:t>
            </a:r>
            <a:r>
              <a:rPr sz="1350" b="1" i="1">
                <a:solidFill>
                  <a:srgbClr val="0F172A"/>
                </a:solidFill>
                <a:latin typeface="Calibri"/>
              </a:rPr>
              <a:t>why</a:t>
            </a:r>
            <a:r>
              <a:rPr sz="1350" b="0" i="0">
                <a:solidFill>
                  <a:srgbClr val="334155"/>
                </a:solidFill>
                <a:latin typeface="Calibri"/>
              </a:rPr>
              <a:t> a part costs what it does — and turns that into the sentence that wins the negotiation.</a:t>
            </a:r>
          </a:p>
        </p:txBody>
      </p:sp>
      <p:sp>
        <p:nvSpPr>
          <p:cNvPr id="10" name="Rounded Rectangle 9"/>
          <p:cNvSpPr/>
          <p:nvPr/>
        </p:nvSpPr>
        <p:spPr>
          <a:xfrm>
            <a:off x="411480" y="2286000"/>
            <a:ext cx="11384280" cy="182880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1828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87168"/>
            <a:ext cx="107899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Live example — real output from the tool</a:t>
            </a:r>
          </a:p>
        </p:txBody>
      </p:sp>
      <p:sp>
        <p:nvSpPr>
          <p:cNvPr id="13" name="TextBox 12"/>
          <p:cNvSpPr txBox="1"/>
          <p:nvPr/>
        </p:nvSpPr>
        <p:spPr>
          <a:xfrm>
            <a:off x="731520" y="2852928"/>
            <a:ext cx="10789920" cy="1188720"/>
          </a:xfrm>
          <a:prstGeom prst="rect">
            <a:avLst/>
          </a:prstGeom>
          <a:noFill/>
        </p:spPr>
        <p:txBody>
          <a:bodyPr wrap="square" anchor="t" lIns="0" rIns="0" tIns="0" bIns="0">
            <a:spAutoFit/>
          </a:bodyPr>
          <a:lstStyle/>
          <a:p>
            <a:pPr algn="l">
              <a:lnSpc>
                <a:spcPct val="130000"/>
              </a:lnSpc>
              <a:spcAft>
                <a:spcPts val="400"/>
              </a:spcAft>
            </a:pPr>
            <a:r>
              <a:rPr sz="1400" b="1" i="0">
                <a:solidFill>
                  <a:srgbClr val="0F172A"/>
                </a:solidFill>
                <a:latin typeface="Calibri"/>
              </a:rPr>
              <a:t>“Material is £8.39 of this part, driven by Aluminium. Every 1% move in the Aluminium index shifts the piece price by £0.11. </a:t>
            </a:r>
            <a:r>
              <a:rPr sz="1400" b="1" i="0">
                <a:solidFill>
                  <a:srgbClr val="7C3AED"/>
                </a:solidFill>
                <a:latin typeface="Calibri"/>
              </a:rPr>
              <a:t>A quote of £95 is only justified if Aluminium were ~14% above today’s index — ask the supplier to show that, or hold at £86.34.”</a:t>
            </a:r>
          </a:p>
        </p:txBody>
      </p:sp>
      <p:sp>
        <p:nvSpPr>
          <p:cNvPr id="14" name="Rounded Rectangle 13"/>
          <p:cNvSpPr/>
          <p:nvPr/>
        </p:nvSpPr>
        <p:spPr>
          <a:xfrm>
            <a:off x="411480" y="4343400"/>
            <a:ext cx="5532120" cy="1828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0F172A"/>
                </a:solidFill>
                <a:latin typeface="Calibri"/>
              </a:rPr>
              <a:t>What it does</a:t>
            </a:r>
          </a:p>
          <a:p>
            <a:pPr algn="l">
              <a:lnSpc>
                <a:spcPct val="118000"/>
              </a:lnSpc>
              <a:spcAft>
                <a:spcPts val="600"/>
              </a:spcAft>
            </a:pPr>
            <a:r>
              <a:rPr sz="1150" b="0" i="0">
                <a:solidFill>
                  <a:srgbClr val="334155"/>
                </a:solidFill>
                <a:latin typeface="Calibri"/>
              </a:rPr>
              <a:t>Links the material to its commodity index, then works out — through the same maths the engine uses — exactly how much a supplier’s price implies the metal has moved.</a:t>
            </a:r>
          </a:p>
        </p:txBody>
      </p:sp>
      <p:sp>
        <p:nvSpPr>
          <p:cNvPr id="16" name="Rounded Rectangle 15"/>
          <p:cNvSpPr/>
          <p:nvPr/>
        </p:nvSpPr>
        <p:spPr>
          <a:xfrm>
            <a:off x="6263640" y="4343400"/>
            <a:ext cx="5532120" cy="1828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059669"/>
                </a:solidFill>
                <a:latin typeface="Calibri"/>
              </a:rPr>
              <a:t>Why it helps</a:t>
            </a:r>
          </a:p>
          <a:p>
            <a:pPr algn="l">
              <a:lnSpc>
                <a:spcPct val="118000"/>
              </a:lnSpc>
              <a:spcAft>
                <a:spcPts val="600"/>
              </a:spcAft>
            </a:pPr>
            <a:r>
              <a:rPr sz="1150" b="0" i="0">
                <a:solidFill>
                  <a:srgbClr val="334155"/>
                </a:solidFill>
                <a:latin typeface="Calibri"/>
              </a:rPr>
              <a:t>The buyer walks in with a defensible, arithmetic counter-argument instead of "that feels high". It converts should-cost into negotiating power — the number and the words to win with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Cost weather on demand — the what-if engine</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Ask "what if a commodity moves?" and get the answer instantly — for one part, or the whole portfolio.</a:t>
            </a:r>
          </a:p>
        </p:txBody>
      </p:sp>
      <p:sp>
        <p:nvSpPr>
          <p:cNvPr id="10" name="Rounded Rectangle 9"/>
          <p:cNvSpPr/>
          <p:nvPr/>
        </p:nvSpPr>
        <p:spPr>
          <a:xfrm>
            <a:off x="411480" y="2286000"/>
            <a:ext cx="5532120" cy="2468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One part — the live slider</a:t>
            </a:r>
          </a:p>
        </p:txBody>
      </p:sp>
      <p:sp>
        <p:nvSpPr>
          <p:cNvPr id="13" name="TextBox 12"/>
          <p:cNvSpPr txBox="1"/>
          <p:nvPr/>
        </p:nvSpPr>
        <p:spPr>
          <a:xfrm>
            <a:off x="68580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Drag a commodity −20% … +20% and the piece price recomputes as you move.</a:t>
            </a:r>
          </a:p>
          <a:p>
            <a:pPr algn="l">
              <a:lnSpc>
                <a:spcPct val="115000"/>
              </a:lnSpc>
              <a:spcAft>
                <a:spcPts val="800"/>
              </a:spcAft>
            </a:pPr>
            <a:r>
              <a:rPr sz="1350" b="1" i="0">
                <a:solidFill>
                  <a:srgbClr val="0F172A"/>
                </a:solidFill>
                <a:latin typeface="Calibri"/>
              </a:rPr>
              <a:t>Example:  Aluminium +15%  →  £86.34 → £87.92</a:t>
            </a:r>
          </a:p>
          <a:p>
            <a:pPr algn="l">
              <a:lnSpc>
                <a:spcPct val="115000"/>
              </a:lnSpc>
              <a:spcAft>
                <a:spcPts val="800"/>
              </a:spcAft>
            </a:pPr>
            <a:r>
              <a:rPr sz="1100" b="0" i="1">
                <a:solidFill>
                  <a:srgbClr val="64748B"/>
                </a:solidFill>
                <a:latin typeface="Calibri"/>
              </a:rPr>
              <a:t>Instant sensitivity in a single gesture.</a:t>
            </a:r>
          </a:p>
        </p:txBody>
      </p:sp>
      <p:sp>
        <p:nvSpPr>
          <p:cNvPr id="14" name="Rounded Rectangle 13"/>
          <p:cNvSpPr/>
          <p:nvPr/>
        </p:nvSpPr>
        <p:spPr>
          <a:xfrm>
            <a:off x="6263640" y="2286000"/>
            <a:ext cx="5532120" cy="2468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Whole portfolio — the scenario</a:t>
            </a:r>
          </a:p>
        </p:txBody>
      </p:sp>
      <p:sp>
        <p:nvSpPr>
          <p:cNvPr id="17" name="TextBox 16"/>
          <p:cNvSpPr txBox="1"/>
          <p:nvPr/>
        </p:nvSpPr>
        <p:spPr>
          <a:xfrm>
            <a:off x="653796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Apply a move across every part at once and see who changes status.</a:t>
            </a:r>
          </a:p>
          <a:p>
            <a:pPr algn="l">
              <a:lnSpc>
                <a:spcPct val="115000"/>
              </a:lnSpc>
              <a:spcAft>
                <a:spcPts val="800"/>
              </a:spcAft>
            </a:pPr>
            <a:r>
              <a:rPr sz="1350" b="1" i="0">
                <a:solidFill>
                  <a:srgbClr val="0F172A"/>
                </a:solidFill>
                <a:latin typeface="Calibri"/>
              </a:rPr>
              <a:t>Example:  "If Steel +10% → 7 parts cross underwater, £X/yr at risk."</a:t>
            </a:r>
          </a:p>
          <a:p>
            <a:pPr algn="l">
              <a:lnSpc>
                <a:spcPct val="115000"/>
              </a:lnSpc>
              <a:spcAft>
                <a:spcPts val="800"/>
              </a:spcAft>
            </a:pPr>
            <a:r>
              <a:rPr sz="1100" b="0" i="1">
                <a:solidFill>
                  <a:srgbClr val="64748B"/>
                </a:solidFill>
                <a:latin typeface="Calibri"/>
              </a:rPr>
              <a:t>Pre-empt losses before the market moves them.</a:t>
            </a:r>
          </a:p>
        </p:txBody>
      </p:sp>
      <p:sp>
        <p:nvSpPr>
          <p:cNvPr id="18" name="Rounded Rectangle 17"/>
          <p:cNvSpPr/>
          <p:nvPr/>
        </p:nvSpPr>
        <p:spPr>
          <a:xfrm>
            <a:off x="411480" y="4983480"/>
            <a:ext cx="11384280" cy="118872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138928"/>
            <a:ext cx="10881360" cy="960120"/>
          </a:xfrm>
          <a:prstGeom prst="rect">
            <a:avLst/>
          </a:prstGeom>
          <a:noFill/>
        </p:spPr>
        <p:txBody>
          <a:bodyPr wrap="square" anchor="t" lIns="0" rIns="0" tIns="0" bIns="0">
            <a:spAutoFit/>
          </a:bodyPr>
          <a:lstStyle/>
          <a:p>
            <a:pPr algn="l">
              <a:lnSpc>
                <a:spcPct val="120000"/>
              </a:lnSpc>
              <a:spcAft>
                <a:spcPts val="400"/>
              </a:spcAft>
            </a:pPr>
            <a:r>
              <a:rPr sz="1300" b="1" i="0">
                <a:solidFill>
                  <a:srgbClr val="D97706"/>
                </a:solidFill>
                <a:latin typeface="Calibri"/>
              </a:rPr>
              <a:t>Honest by design:  </a:t>
            </a:r>
            <a:r>
              <a:rPr sz="1250" b="0" i="0">
                <a:solidFill>
                  <a:srgbClr val="334155"/>
                </a:solidFill>
                <a:latin typeface="Calibri"/>
              </a:rPr>
              <a:t>this is a conditional — "IF the index moves" — never a price forecast. So it stays defensible even on an indicative commodity feed, and upgrades to a true forecast the day a live market feed is connected.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DIFFERENTIATOR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is different — glass-box autonomy</a:t>
            </a:r>
          </a:p>
        </p:txBody>
      </p:sp>
      <p:sp>
        <p:nvSpPr>
          <p:cNvPr id="9" name="Rounded Rectangle 8"/>
          <p:cNvSpPr/>
          <p:nvPr/>
        </p:nvSpPr>
        <p:spPr>
          <a:xfrm>
            <a:off x="411480" y="1828800"/>
            <a:ext cx="11384280" cy="118872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10881360" cy="914400"/>
          </a:xfrm>
          <a:prstGeom prst="rect">
            <a:avLst/>
          </a:prstGeom>
          <a:noFill/>
        </p:spPr>
        <p:txBody>
          <a:bodyPr wrap="square" anchor="t" lIns="0" rIns="0" tIns="0" bIns="0">
            <a:spAutoFit/>
          </a:bodyPr>
          <a:lstStyle/>
          <a:p>
            <a:pPr algn="l">
              <a:lnSpc>
                <a:spcPct val="120000"/>
              </a:lnSpc>
              <a:spcAft>
                <a:spcPts val="400"/>
              </a:spcAft>
            </a:pPr>
            <a:r>
              <a:rPr sz="1500" b="1" i="0">
                <a:solidFill>
                  <a:srgbClr val="2563EB"/>
                </a:solidFill>
                <a:latin typeface="Calibri"/>
              </a:rPr>
              <a:t>The principle:  </a:t>
            </a:r>
            <a:r>
              <a:rPr sz="1350" b="0" i="0">
                <a:solidFill>
                  <a:srgbClr val="334155"/>
                </a:solidFill>
                <a:latin typeface="Calibri"/>
              </a:rPr>
              <a:t>every learned or derived number stays auditable — a value a cost engineer can read and defend. No black-box weight ever touches the price. The AI narrates and explains; it never decides the number in secret.</a:t>
            </a:r>
          </a:p>
        </p:txBody>
      </p:sp>
      <p:sp>
        <p:nvSpPr>
          <p:cNvPr id="11" name="Rounded Rectangle 10"/>
          <p:cNvSpPr/>
          <p:nvPr/>
        </p:nvSpPr>
        <p:spPr>
          <a:xfrm>
            <a:off x="411480" y="3200400"/>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200400"/>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319272"/>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Continuous learning</a:t>
            </a:r>
          </a:p>
        </p:txBody>
      </p:sp>
      <p:sp>
        <p:nvSpPr>
          <p:cNvPr id="14" name="TextBox 13"/>
          <p:cNvSpPr txBox="1"/>
          <p:nvPr/>
        </p:nvSpPr>
        <p:spPr>
          <a:xfrm>
            <a:off x="4114800" y="3319272"/>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Calibrates on YOUR quotes; conformal band with a guarantee</a:t>
            </a:r>
          </a:p>
        </p:txBody>
      </p:sp>
      <p:sp>
        <p:nvSpPr>
          <p:cNvPr id="15" name="Rounded Rectangle 14"/>
          <p:cNvSpPr/>
          <p:nvPr/>
        </p:nvSpPr>
        <p:spPr>
          <a:xfrm>
            <a:off x="411480" y="3803904"/>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803904"/>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922776"/>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Autonomous action</a:t>
            </a:r>
          </a:p>
        </p:txBody>
      </p:sp>
      <p:sp>
        <p:nvSpPr>
          <p:cNvPr id="18" name="TextBox 17"/>
          <p:cNvSpPr txBox="1"/>
          <p:nvPr/>
        </p:nvSpPr>
        <p:spPr>
          <a:xfrm>
            <a:off x="4114800" y="3922776"/>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Agent opens findings unattended AND learns which convert</a:t>
            </a:r>
          </a:p>
        </p:txBody>
      </p:sp>
      <p:sp>
        <p:nvSpPr>
          <p:cNvPr id="19" name="Rounded Rectangle 18"/>
          <p:cNvSpPr/>
          <p:nvPr/>
        </p:nvSpPr>
        <p:spPr>
          <a:xfrm>
            <a:off x="411480" y="4407408"/>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07408"/>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Causal reasoning</a:t>
            </a:r>
          </a:p>
        </p:txBody>
      </p:sp>
      <p:sp>
        <p:nvSpPr>
          <p:cNvPr id="22" name="TextBox 21"/>
          <p:cNvSpPr txBox="1"/>
          <p:nvPr/>
        </p:nvSpPr>
        <p:spPr>
          <a:xfrm>
            <a:off x="4114800" y="4526280"/>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Knows why a part costs what it does; coaches the negotiation</a:t>
            </a:r>
          </a:p>
        </p:txBody>
      </p:sp>
      <p:sp>
        <p:nvSpPr>
          <p:cNvPr id="23" name="Rounded Rectangle 22"/>
          <p:cNvSpPr/>
          <p:nvPr/>
        </p:nvSpPr>
        <p:spPr>
          <a:xfrm>
            <a:off x="411480" y="5010912"/>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010912"/>
            <a:ext cx="82296" cy="5303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129784"/>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Explainable — always</a:t>
            </a:r>
          </a:p>
        </p:txBody>
      </p:sp>
      <p:sp>
        <p:nvSpPr>
          <p:cNvPr id="26" name="TextBox 25"/>
          <p:cNvSpPr txBox="1"/>
          <p:nvPr/>
        </p:nvSpPr>
        <p:spPr>
          <a:xfrm>
            <a:off x="4114800" y="5129784"/>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Every number defensible line-by-line; the competitor’s edge is the opposite</a:t>
            </a:r>
          </a:p>
        </p:txBody>
      </p:sp>
      <p:sp>
        <p:nvSpPr>
          <p:cNvPr id="27" name="Rounded Rectangle 26"/>
          <p:cNvSpPr/>
          <p:nvPr/>
        </p:nvSpPr>
        <p:spPr>
          <a:xfrm>
            <a:off x="411480" y="5614416"/>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5614416"/>
            <a:ext cx="82296"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733288"/>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Runs in your walls</a:t>
            </a:r>
          </a:p>
        </p:txBody>
      </p:sp>
      <p:sp>
        <p:nvSpPr>
          <p:cNvPr id="30" name="TextBox 29"/>
          <p:cNvSpPr txBox="1"/>
          <p:nvPr/>
        </p:nvSpPr>
        <p:spPr>
          <a:xfrm>
            <a:off x="4114800" y="5733288"/>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On-premise; the knowledge is your IP and never leaves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we are, and the ask</a:t>
            </a:r>
          </a:p>
        </p:txBody>
      </p:sp>
      <p:sp>
        <p:nvSpPr>
          <p:cNvPr id="9" name="Rounded Rectangle 8"/>
          <p:cNvSpPr/>
          <p:nvPr/>
        </p:nvSpPr>
        <p:spPr>
          <a:xfrm>
            <a:off x="411480" y="1828800"/>
            <a:ext cx="5486400" cy="402336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59669"/>
                </a:solidFill>
                <a:latin typeface="Calibri"/>
              </a:rPr>
              <a:t>Status today</a:t>
            </a:r>
          </a:p>
        </p:txBody>
      </p:sp>
      <p:sp>
        <p:nvSpPr>
          <p:cNvPr id="11" name="TextBox 10"/>
          <p:cNvSpPr txBox="1"/>
          <p:nvPr/>
        </p:nvSpPr>
        <p:spPr>
          <a:xfrm>
            <a:off x="685800" y="256032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All capabilities built, tested (813 tests) and live — incl. 5 new for 2026</a:t>
            </a:r>
          </a:p>
        </p:txBody>
      </p:sp>
      <p:sp>
        <p:nvSpPr>
          <p:cNvPr id="12" name="TextBox 11"/>
          <p:cNvSpPr txBox="1"/>
          <p:nvPr/>
        </p:nvSpPr>
        <p:spPr>
          <a:xfrm>
            <a:off x="685800" y="3063239"/>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Verified end-to-end on the running system</a:t>
            </a:r>
          </a:p>
        </p:txBody>
      </p:sp>
      <p:sp>
        <p:nvSpPr>
          <p:cNvPr id="13" name="TextBox 12"/>
          <p:cNvSpPr txBox="1"/>
          <p:nvPr/>
        </p:nvSpPr>
        <p:spPr>
          <a:xfrm>
            <a:off x="685800" y="356616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Zero extra licence cost — built into our tool</a:t>
            </a:r>
          </a:p>
        </p:txBody>
      </p:sp>
      <p:sp>
        <p:nvSpPr>
          <p:cNvPr id="14" name="TextBox 13"/>
          <p:cNvSpPr txBox="1"/>
          <p:nvPr/>
        </p:nvSpPr>
        <p:spPr>
          <a:xfrm>
            <a:off x="685800" y="406908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Runs on-premise; no data leaves the company</a:t>
            </a:r>
          </a:p>
        </p:txBody>
      </p:sp>
      <p:sp>
        <p:nvSpPr>
          <p:cNvPr id="15" name="TextBox 14"/>
          <p:cNvSpPr txBox="1"/>
          <p:nvPr/>
        </p:nvSpPr>
        <p:spPr>
          <a:xfrm>
            <a:off x="685800" y="4709160"/>
            <a:ext cx="4937760" cy="1005840"/>
          </a:xfrm>
          <a:prstGeom prst="rect">
            <a:avLst/>
          </a:prstGeom>
          <a:noFill/>
        </p:spPr>
        <p:txBody>
          <a:bodyPr wrap="square" anchor="t" lIns="0" rIns="0" tIns="0" bIns="0">
            <a:spAutoFit/>
          </a:bodyPr>
          <a:lstStyle/>
          <a:p>
            <a:pPr algn="l">
              <a:lnSpc>
                <a:spcPct val="115000"/>
              </a:lnSpc>
              <a:spcAft>
                <a:spcPts val="400"/>
              </a:spcAft>
            </a:pPr>
            <a:r>
              <a:rPr sz="1200" b="1" i="0">
                <a:solidFill>
                  <a:srgbClr val="0F172A"/>
                </a:solidFill>
                <a:latin typeface="Calibri"/>
              </a:rPr>
              <a:t>Honest note: </a:t>
            </a:r>
            <a:r>
              <a:rPr sz="1200" b="0" i="0">
                <a:solidFill>
                  <a:srgbClr val="334155"/>
                </a:solidFill>
                <a:latin typeface="Calibri"/>
              </a:rPr>
              <a:t>the intelligence starts empty and grows with use. The mechanism is proven; the value builds as we feed it.</a:t>
            </a:r>
          </a:p>
        </p:txBody>
      </p:sp>
      <p:sp>
        <p:nvSpPr>
          <p:cNvPr id="16" name="Rounded Rectangle 15"/>
          <p:cNvSpPr/>
          <p:nvPr/>
        </p:nvSpPr>
        <p:spPr>
          <a:xfrm>
            <a:off x="6263640" y="1828800"/>
            <a:ext cx="5532120" cy="402336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563EB"/>
                </a:solidFill>
                <a:latin typeface="Calibri"/>
              </a:rPr>
              <a:t>The ask — three small decisions</a:t>
            </a:r>
          </a:p>
        </p:txBody>
      </p:sp>
      <p:sp>
        <p:nvSpPr>
          <p:cNvPr id="18" name="TextBox 17"/>
          <p:cNvSpPr txBox="1"/>
          <p:nvPr/>
        </p:nvSpPr>
        <p:spPr>
          <a:xfrm>
            <a:off x="6537960" y="260604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1.  Adopt the habit</a:t>
            </a:r>
          </a:p>
          <a:p>
            <a:pPr algn="l">
              <a:lnSpc>
                <a:spcPct val="110000"/>
              </a:lnSpc>
              <a:spcAft>
                <a:spcPts val="300"/>
              </a:spcAft>
            </a:pPr>
            <a:r>
              <a:rPr sz="1150" b="0" i="0">
                <a:solidFill>
                  <a:srgbClr val="334155"/>
                </a:solidFill>
                <a:latin typeface="Calibri"/>
              </a:rPr>
              <a:t>     Make "Log Actual £" part of the quote-handling routine. One click per quote.</a:t>
            </a:r>
          </a:p>
        </p:txBody>
      </p:sp>
      <p:sp>
        <p:nvSpPr>
          <p:cNvPr id="19" name="TextBox 18"/>
          <p:cNvSpPr txBox="1"/>
          <p:nvPr/>
        </p:nvSpPr>
        <p:spPr>
          <a:xfrm>
            <a:off x="6537960" y="356616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2.  Seed the memory</a:t>
            </a:r>
          </a:p>
          <a:p>
            <a:pPr algn="l">
              <a:lnSpc>
                <a:spcPct val="110000"/>
              </a:lnSpc>
              <a:spcAft>
                <a:spcPts val="300"/>
              </a:spcAft>
            </a:pPr>
            <a:r>
              <a:rPr sz="1150" b="0" i="0">
                <a:solidFill>
                  <a:srgbClr val="334155"/>
                </a:solidFill>
                <a:latin typeface="Calibri"/>
              </a:rPr>
              <a:t>     Approve a one-off import of historical quotes so the tool starts smart (~1–2 days of effort).</a:t>
            </a:r>
          </a:p>
        </p:txBody>
      </p:sp>
      <p:sp>
        <p:nvSpPr>
          <p:cNvPr id="20" name="TextBox 19"/>
          <p:cNvSpPr txBox="1"/>
          <p:nvPr/>
        </p:nvSpPr>
        <p:spPr>
          <a:xfrm>
            <a:off x="6537960" y="452628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3.  Review the findings</a:t>
            </a:r>
          </a:p>
          <a:p>
            <a:pPr algn="l">
              <a:lnSpc>
                <a:spcPct val="110000"/>
              </a:lnSpc>
              <a:spcAft>
                <a:spcPts val="300"/>
              </a:spcAft>
            </a:pPr>
            <a:r>
              <a:rPr sz="1150" b="0" i="0">
                <a:solidFill>
                  <a:srgbClr val="334155"/>
                </a:solidFill>
                <a:latin typeface="Calibri"/>
              </a:rPr>
              <a:t>     Put the agent's monthly findings on the sourcing team's agenda — it is already finding money.</a:t>
            </a:r>
          </a:p>
        </p:txBody>
      </p:sp>
      <p:sp>
        <p:nvSpPr>
          <p:cNvPr id="21" name="Rectangle 20"/>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