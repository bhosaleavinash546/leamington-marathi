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3.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 learning</c:v>
                </c:pt>
              </c:strCache>
            </c:strRef>
          </c:tx>
          <c:spPr>
            <a:solidFill>
              <a:srgbClr val="8A97A8"/>
            </a:solidFill>
            <a:effectLst/>
          </c:spPr>
          <c:invertIfNegative val="0"/>
          <c:dLbls>
            <c:numFmt formatCode="#,##0" sourceLinked="0"/>
            <c:txPr>
              <a:bodyPr/>
              <a:lstStyle/>
              <a:p>
                <a:pPr>
                  <a:defRPr b="1" i="0" strike="noStrike" sz="1050" u="none">
                    <a:solidFill>
                      <a:srgbClr val="0F1E3D"/>
                    </a:solidFill>
                    <a:latin typeface="Arial"/>
                  </a:defRPr>
                </a:pPr>
              </a:p>
            </c:txPr>
            <c:showLegendKey val="0"/>
            <c:showVal val="1"/>
            <c:showCatName val="0"/>
            <c:showSerName val="0"/>
            <c:showPercent val="0"/>
            <c:showBubbleSize val="0"/>
            <c:showLeaderLines val="0"/>
          </c:dLbls>
          <c:cat>
            <c:multiLvlStrRef>
              <c:f>Sheet1!$A$2:$A$3</c:f>
              <c:multiLvlStrCache>
                <c:ptCount val="2"/>
                <c:lvl>
                  <c:pt idx="0">
                    <c:v>Machining · Alu · UK</c:v>
                  </c:pt>
                  <c:pt idx="1">
                    <c:v>Casting · Alu · China</c:v>
                  </c:pt>
                </c:lvl>
              </c:multiLvlStrCache>
            </c:multiLvlStrRef>
          </c:cat>
          <c:val>
            <c:numRef>
              <c:f>Sheet1!$B$2:$B$3</c:f>
              <c:numCache>
                <c:formatCode>General</c:formatCode>
                <c:ptCount val="2"/>
                <c:pt idx="0">
                  <c:v>10.9</c:v>
                </c:pt>
                <c:pt idx="1">
                  <c:v>8.7</c:v>
                </c:pt>
              </c:numCache>
            </c:numRef>
          </c:val>
        </c:ser>
        <c:ser>
          <c:idx val="1"/>
          <c:order val="1"/>
          <c:tx>
            <c:strRef>
              <c:f>Sheet1!$C$1</c:f>
              <c:strCache>
                <c:ptCount val="1"/>
                <c:pt idx="0">
                  <c:v>After 3 real quotes</c:v>
                </c:pt>
              </c:strCache>
            </c:strRef>
          </c:tx>
          <c:spPr>
            <a:solidFill>
              <a:srgbClr val="0EA472"/>
            </a:solidFill>
            <a:effectLst/>
          </c:spPr>
          <c:invertIfNegative val="0"/>
          <c:dLbls>
            <c:numFmt formatCode="#,##0" sourceLinked="0"/>
            <c:txPr>
              <a:bodyPr/>
              <a:lstStyle/>
              <a:p>
                <a:pPr>
                  <a:defRPr b="1" i="0" strike="noStrike" sz="1050" u="none">
                    <a:solidFill>
                      <a:srgbClr val="0F1E3D"/>
                    </a:solidFill>
                    <a:latin typeface="Arial"/>
                  </a:defRPr>
                </a:pPr>
              </a:p>
            </c:txPr>
            <c:showLegendKey val="0"/>
            <c:showVal val="1"/>
            <c:showCatName val="0"/>
            <c:showSerName val="0"/>
            <c:showPercent val="0"/>
            <c:showBubbleSize val="0"/>
            <c:showLeaderLines val="0"/>
          </c:dLbls>
          <c:cat>
            <c:multiLvlStrRef>
              <c:f>Sheet1!$A$2:$A$3</c:f>
              <c:multiLvlStrCache>
                <c:ptCount val="2"/>
                <c:lvl>
                  <c:pt idx="0">
                    <c:v>Machining · Alu · UK</c:v>
                  </c:pt>
                  <c:pt idx="1">
                    <c:v>Casting · Alu · China</c:v>
                  </c:pt>
                </c:lvl>
              </c:multiLvlStrCache>
            </c:multiLvlStrRef>
          </c:cat>
          <c:val>
            <c:numRef>
              <c:f>Sheet1!$C$2:$C$3</c:f>
              <c:numCache>
                <c:formatCode>General</c:formatCode>
                <c:ptCount val="2"/>
                <c:pt idx="0">
                  <c:v>0.3</c:v>
                </c:pt>
                <c:pt idx="1">
                  <c:v>0.6</c:v>
                </c:pt>
              </c:numCache>
            </c:numRef>
          </c:val>
        </c:ser>
        <c:dLbls>
          <c:numFmt formatCode="#,##0" sourceLinked="0"/>
          <c:txPr>
            <a:bodyPr/>
            <a:lstStyle/>
            <a:p>
              <a:pPr>
                <a:defRPr b="1" i="0" strike="noStrike" sz="1050" u="none">
                  <a:solidFill>
                    <a:srgbClr val="0F1E3D"/>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4EAF2"/>
            </a:solidFill>
            <a:prstDash val="solid"/>
            <a:round/>
          </a:ln>
        </c:spPr>
        <c:txPr>
          <a:bodyPr/>
          <a:lstStyle/>
          <a:p>
            <a:pPr>
              <a:defRPr sz="950" b="0" i="0" u="none" strike="noStrike">
                <a:solidFill>
                  <a:srgbClr val="3E4C63"/>
                </a:solidFill>
                <a:latin typeface="Arial"/>
              </a:defRPr>
            </a:pPr>
            <a:endParaRPr lang="en-US"/>
          </a:p>
        </c:txPr>
        <c:crossAx val="2094734552"/>
        <c:crosses val="autoZero"/>
        <c:auto val="1"/>
        <c:lblAlgn val="ctr"/>
        <c:noMultiLvlLbl val="1"/>
      </c:catAx>
      <c:valAx>
        <c:axId val="2094734552"/>
        <c:scaling>
          <c:orientation val="minMax"/>
          <c:max val="12"/>
          <c:min val="0"/>
        </c:scaling>
        <c:delete val="0"/>
        <c:axPos val="l"/>
        <c:majorGridlines>
          <c:spPr>
            <a:ln w="9525" cap="flat">
              <a:solidFill>
                <a:srgbClr val="E4EAF2"/>
              </a:solidFill>
              <a:prstDash val="solid"/>
              <a:round/>
            </a:ln>
          </c:spPr>
        </c:majorGridlines>
        <c:numFmt formatCode="General" sourceLinked="0"/>
        <c:majorTickMark val="out"/>
        <c:minorTickMark val="none"/>
        <c:tickLblPos val="nextTo"/>
        <c:spPr>
          <a:ln w="12700" cap="flat">
            <a:solidFill>
              <a:srgbClr val="E4EAF2"/>
            </a:solidFill>
            <a:prstDash val="solid"/>
            <a:round/>
          </a:ln>
        </c:spPr>
        <c:txPr>
          <a:bodyPr/>
          <a:lstStyle/>
          <a:p>
            <a:pPr>
              <a:defRPr sz="1000" b="0" i="0" u="none" strike="noStrike">
                <a:solidFill>
                  <a:srgbClr val="8A97A8"/>
                </a:solidFill>
                <a:latin typeface="Arial"/>
              </a:defRPr>
            </a:pPr>
            <a:endParaRPr lang="en-US"/>
          </a:p>
        </c:txPr>
        <c:crossAx val="2094734554"/>
        <c:crosses val="autoZero"/>
        <c:crossBetween val="between"/>
        <c:majorUnit val="3"/>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Confidence band (± %)</c:v>
                </c:pt>
              </c:strCache>
            </c:strRef>
          </c:tx>
          <c:spPr>
            <a:solidFill>
              <a:srgbClr val="E0900C"/>
            </a:solidFill>
            <a:effectLst/>
          </c:spPr>
          <c:invertIfNegative val="0"/>
          <c:dLbls>
            <c:numFmt formatCode="#,##0" sourceLinked="0"/>
            <c:txPr>
              <a:bodyPr/>
              <a:lstStyle/>
              <a:p>
                <a:pPr>
                  <a:defRPr b="1" i="0" strike="noStrike" sz="1050" u="none">
                    <a:solidFill>
                      <a:srgbClr val="0F1E3D"/>
                    </a:solidFill>
                    <a:latin typeface="Arial"/>
                  </a:defRPr>
                </a:pPr>
              </a:p>
            </c:txPr>
            <c:showLegendKey val="0"/>
            <c:showVal val="1"/>
            <c:showCatName val="0"/>
            <c:showSerName val="0"/>
            <c:showPercent val="0"/>
            <c:showBubbleSize val="0"/>
            <c:showLeaderLines val="0"/>
          </c:dLbls>
          <c:cat>
            <c:multiLvlStrRef>
              <c:f>Sheet1!$A$2:$A$3</c:f>
              <c:multiLvlStrCache>
                <c:ptCount val="2"/>
                <c:lvl>
                  <c:pt idx="0">
                    <c:v>Before any real quotes</c:v>
                  </c:pt>
                  <c:pt idx="1">
                    <c:v>After 3 real quotes</c:v>
                  </c:pt>
                </c:lvl>
              </c:multiLvlStrCache>
            </c:multiLvlStrRef>
          </c:cat>
          <c:val>
            <c:numRef>
              <c:f>Sheet1!$B$2:$B$3</c:f>
              <c:numCache>
                <c:formatCode>General</c:formatCode>
                <c:ptCount val="2"/>
                <c:pt idx="0">
                  <c:v>20.4</c:v>
                </c:pt>
                <c:pt idx="1">
                  <c:v>2.8</c:v>
                </c:pt>
              </c:numCache>
            </c:numRef>
          </c:val>
        </c:ser>
        <c:dLbls>
          <c:numFmt formatCode="#,##0" sourceLinked="0"/>
          <c:txPr>
            <a:bodyPr/>
            <a:lstStyle/>
            <a:p>
              <a:pPr>
                <a:defRPr b="1" i="0" strike="noStrike" sz="1050" u="none">
                  <a:solidFill>
                    <a:srgbClr val="0F1E3D"/>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4EAF2"/>
            </a:solidFill>
            <a:prstDash val="solid"/>
            <a:round/>
          </a:ln>
        </c:spPr>
        <c:txPr>
          <a:bodyPr/>
          <a:lstStyle/>
          <a:p>
            <a:pPr>
              <a:defRPr sz="1050" b="0" i="0" u="none" strike="noStrike">
                <a:solidFill>
                  <a:srgbClr val="3E4C63"/>
                </a:solidFill>
                <a:latin typeface="Arial"/>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9525" cap="flat">
              <a:solidFill>
                <a:srgbClr val="E4EAF2"/>
              </a:solidFill>
              <a:prstDash val="solid"/>
              <a:round/>
            </a:ln>
          </c:spPr>
        </c:majorGridlines>
        <c:numFmt formatCode="General" sourceLinked="0"/>
        <c:majorTickMark val="out"/>
        <c:minorTickMark val="none"/>
        <c:tickLblPos val="nextTo"/>
        <c:spPr>
          <a:ln w="12700" cap="flat">
            <a:solidFill>
              <a:srgbClr val="E4EAF2"/>
            </a:solidFill>
            <a:prstDash val="solid"/>
            <a:round/>
          </a:ln>
        </c:spPr>
        <c:txPr>
          <a:bodyPr/>
          <a:lstStyle/>
          <a:p>
            <a:pPr>
              <a:defRPr sz="1000" b="0" i="0" u="none" strike="noStrike">
                <a:solidFill>
                  <a:srgbClr val="8A97A8"/>
                </a:solidFill>
                <a:latin typeface="Arial"/>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Manual (engineer)</c:v>
                </c:pt>
              </c:strCache>
            </c:strRef>
          </c:tx>
          <c:spPr>
            <a:solidFill>
              <a:srgbClr val="8A97A8"/>
            </a:solidFill>
            <a:effectLst/>
          </c:spPr>
          <c:invertIfNegative val="0"/>
          <c:dLbls>
            <c:numFmt formatCode="#,##0" sourceLinked="0"/>
            <c:txPr>
              <a:bodyPr/>
              <a:lstStyle/>
              <a:p>
                <a:pPr>
                  <a:defRPr b="1" i="0" strike="noStrike" sz="900" u="none">
                    <a:solidFill>
                      <a:srgbClr val="0F1E3D"/>
                    </a:solidFill>
                    <a:latin typeface="Arial"/>
                  </a:defRPr>
                </a:pPr>
              </a:p>
            </c:txPr>
            <c:showLegendKey val="0"/>
            <c:showVal val="1"/>
            <c:showCatName val="0"/>
            <c:showSerName val="0"/>
            <c:showPercent val="0"/>
            <c:showBubbleSize val="0"/>
            <c:showLeaderLines val="0"/>
          </c:dLbls>
          <c:cat>
            <c:multiLvlStrRef>
              <c:f>Sheet1!$A$2:$A$4</c:f>
              <c:multiLvlStrCache>
                <c:ptCount val="3"/>
                <c:lvl>
                  <c:pt idx="0">
                    <c:v>Components</c:v>
                  </c:pt>
                  <c:pt idx="1">
                    <c:v>Fab + assembly</c:v>
                  </c:pt>
                  <c:pt idx="2">
                    <c:v>Total / board</c:v>
                  </c:pt>
                </c:lvl>
              </c:multiLvlStrCache>
            </c:multiLvlStrRef>
          </c:cat>
          <c:val>
            <c:numRef>
              <c:f>Sheet1!$B$2:$B$4</c:f>
              <c:numCache>
                <c:formatCode>General</c:formatCode>
                <c:ptCount val="3"/>
                <c:pt idx="0">
                  <c:v>62</c:v>
                </c:pt>
                <c:pt idx="1">
                  <c:v>10</c:v>
                </c:pt>
                <c:pt idx="2">
                  <c:v>73</c:v>
                </c:pt>
              </c:numCache>
            </c:numRef>
          </c:val>
        </c:ser>
        <c:ser>
          <c:idx val="1"/>
          <c:order val="1"/>
          <c:tx>
            <c:strRef>
              <c:f>Sheet1!$C$1</c:f>
              <c:strCache>
                <c:ptCount val="1"/>
                <c:pt idx="0">
                  <c:v>AI (from photo)</c:v>
                </c:pt>
              </c:strCache>
            </c:strRef>
          </c:tx>
          <c:spPr>
            <a:solidFill>
              <a:srgbClr val="2563EB"/>
            </a:solidFill>
            <a:effectLst/>
          </c:spPr>
          <c:invertIfNegative val="0"/>
          <c:dLbls>
            <c:numFmt formatCode="#,##0" sourceLinked="0"/>
            <c:txPr>
              <a:bodyPr/>
              <a:lstStyle/>
              <a:p>
                <a:pPr>
                  <a:defRPr b="1" i="0" strike="noStrike" sz="900" u="none">
                    <a:solidFill>
                      <a:srgbClr val="0F1E3D"/>
                    </a:solidFill>
                    <a:latin typeface="Arial"/>
                  </a:defRPr>
                </a:pPr>
              </a:p>
            </c:txPr>
            <c:showLegendKey val="0"/>
            <c:showVal val="1"/>
            <c:showCatName val="0"/>
            <c:showSerName val="0"/>
            <c:showPercent val="0"/>
            <c:showBubbleSize val="0"/>
            <c:showLeaderLines val="0"/>
          </c:dLbls>
          <c:cat>
            <c:multiLvlStrRef>
              <c:f>Sheet1!$A$2:$A$4</c:f>
              <c:multiLvlStrCache>
                <c:ptCount val="3"/>
                <c:lvl>
                  <c:pt idx="0">
                    <c:v>Components</c:v>
                  </c:pt>
                  <c:pt idx="1">
                    <c:v>Fab + assembly</c:v>
                  </c:pt>
                  <c:pt idx="2">
                    <c:v>Total / board</c:v>
                  </c:pt>
                </c:lvl>
              </c:multiLvlStrCache>
            </c:multiLvlStrRef>
          </c:cat>
          <c:val>
            <c:numRef>
              <c:f>Sheet1!$C$2:$C$4</c:f>
              <c:numCache>
                <c:formatCode>General</c:formatCode>
                <c:ptCount val="3"/>
                <c:pt idx="0">
                  <c:v>62.29</c:v>
                </c:pt>
                <c:pt idx="1">
                  <c:v>6.82</c:v>
                </c:pt>
                <c:pt idx="2">
                  <c:v>69.11</c:v>
                </c:pt>
              </c:numCache>
            </c:numRef>
          </c:val>
        </c:ser>
        <c:dLbls>
          <c:numFmt formatCode="#,##0" sourceLinked="0"/>
          <c:txPr>
            <a:bodyPr/>
            <a:lstStyle/>
            <a:p>
              <a:pPr>
                <a:defRPr b="1" i="0" strike="noStrike" sz="900" u="none">
                  <a:solidFill>
                    <a:srgbClr val="0F1E3D"/>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4EAF2"/>
            </a:solidFill>
            <a:prstDash val="solid"/>
            <a:round/>
          </a:ln>
        </c:spPr>
        <c:txPr>
          <a:bodyPr/>
          <a:lstStyle/>
          <a:p>
            <a:pPr>
              <a:defRPr sz="950" b="0" i="0" u="none" strike="noStrike">
                <a:solidFill>
                  <a:srgbClr val="3E4C63"/>
                </a:solidFill>
                <a:latin typeface="Arial"/>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4EAF2"/>
              </a:solidFill>
              <a:prstDash val="solid"/>
              <a:round/>
            </a:ln>
          </c:spPr>
        </c:majorGridlines>
        <c:numFmt formatCode="General" sourceLinked="0"/>
        <c:majorTickMark val="out"/>
        <c:minorTickMark val="none"/>
        <c:tickLblPos val="nextTo"/>
        <c:spPr>
          <a:ln w="12700" cap="flat">
            <a:solidFill>
              <a:srgbClr val="E4EAF2"/>
            </a:solidFill>
            <a:prstDash val="solid"/>
            <a:round/>
          </a:ln>
        </c:spPr>
        <c:txPr>
          <a:bodyPr/>
          <a:lstStyle/>
          <a:p>
            <a:pPr>
              <a:defRPr sz="1000" b="0" i="0" u="none" strike="noStrike">
                <a:solidFill>
                  <a:srgbClr val="8A97A8"/>
                </a:solidFill>
                <a:latin typeface="Arial"/>
              </a:defRPr>
            </a:pPr>
            <a:endParaRPr lang="en-US"/>
          </a:p>
        </c:txPr>
        <c:crossAx val="2094734554"/>
        <c:crosses val="autoZero"/>
        <c:crossBetween val="between"/>
        <c:majorUnit val="20"/>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strong, then pause. "Every costing tool on the market does maths. Ours does something none of them do — it learns." The tool remembers every part we've costed, recognises the next one, corrects itself against real quotes, and hunts for savings while nobody's watching. One promise before we start: every number in this deck is from a live run of the real system — no mock-ups. Let's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remember four numbers, remember these. Error fell thirty-six-fold — eleven percent to under one — after the tool learned from just three real quotes. The background agent found half a million pounds a year of pricing issues with nobody at the keyboard. It recognised a brand-new bracket against past parts at ninety-nine percent and told us why. And it's production-grade — nine hundred and seventeen automated tests. The one line that matters: costing intelligence used to live in people's heads and walk out the door. Now it accumulates as a company asset that gets more valuable every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"Agentic" gets thrown around, so let me make it concrete — four plain verbs, and notice they form a loop. It REMEMBERS: every analysis becomes a stored case. It RECOGNISES: new parts get matched to that memory instantly. It SELF-CORRECTS: real quotes teach it, and its accuracy is measured, not claimed. And it ACTS: an agent raises findings without being asked. One design choice underpins all of it — every suggestion shows its source parts and its arithmetic. A number you can't defend is worthless in a negotiation. Ours you can defend, line by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whole machine on one slide — a genuine loop. The engineer costs a part exactly as they do today. Everything automatic happens on its own: it remembers, recognises, suggests, and the agent keeps watch. There is exactly ONE new habit — a single click, 'Log Actual £,' when a real quote lands. That one click is the fuel for every loop, and every loop makes the next estimate sharper. No new workload, compounding returns. That's the deal.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Capability one — the memory. For every analysis we keep a fingerprint of the part, the full result, any real quotes, and — the clever bit — the exact places an expert overrode the AI. Those corrections are our engineers literally teaching the tool. On the right is why it matters to us: it's shared, so a junior inherits senior judgement on day one; it lives on our servers, so it's our asset; and it compounds — genuinely useful after only twenty or thirty analyses. Every costing we run from today is a deposit into an account that only grows.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Capability two, shown with the tool's actual live output. An engineer starts a new aluminium bracket. Before they've finished, the tool has surfaced the three most similar parts we've ever costed — at ninety-eight to ninety-nine percent — and it tells you WHY they matched: same material family, weight class, region. Then it hands over the gold: the median cost, the shared material, and the real prices we actually paid. A junior just stood on the shoulders of every senior before them. And every number names its source. No black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Capability three is the accuracy engine, and this is a real measured result. Our machining estimates ran about eleven percent LOW against real prices. After the tool learned from three logged quotes, the error was three-tenths of a percent. Now the subtle part: machining ran low; our China castings ran high. Average them and everything looks 'fine' — the errors cancel and hide. The tool refuses to average. It corrects each process, material and region separately, so it catches exactly what a portfolio average conceals. Measured against reality and reported out loud — not asserted.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Capability four — honesty about precision, which is a feature not a weakness. Every estimate now comes as a range: optimistic, most likely, conservative. Early on, with no evidence, that range is wide — and that IS the truth. As real quotes prove the tool right, the range tightens on its own: on our test part, from plus-or-minus twenty percent to three. Give a buyer this and you've handed them a script — the conservative end is the walk-away, the optimistic end is the stretch target. A single number pretends to a confidence early estimates don't have. This tells the truth, and the truth negotiates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Capability five — the one that earns the word 'agentic.' A monitor runs on our server on a schedule and compares what we PAY against what things SHOULD cost, using everything the tool has learned. In the live demo, with nobody at the keyboard, it opened three findings by itself: a renegotiation worth four hundred thousand a year, an 'underwater' price that flags supply risk, and a stale estimate that needs a fresh quote. Half a million pounds a year, surfaced unattended — and every finding shows its arithmetic, ready to carry into a supplier meeting. The tool isn't waiting to be asked anymore. It's already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learning loop is the headline, but it stands on a real platform. The assistant answers from our own rate data with citations — it quotes our numbers, it doesn't improvise. The RFQ analyst turns a full quote package into a costed, risk-flagged negotiation brief. CAD feature costing shows a designer which hole or surface drives the price. And carbon co-costing puts a CO2 figure next to every pound — which automotive and aerospace customers now demand in the RFQ itself. Eighteen commodity engines, CAD-to-cost, PCB photo-to-BOM — and the agentic layer sits on top of all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 management question: what does this cost the team in effort? Honestly — almost nothing. Engineers keep costing parts exactly as they do now; the memory builds itself. The one new habit is a single click when a real quote arrives. Two optional accelerants: attach CAD or BOM files for sharper matching, and — my recommended first move — a one-off import of our historical quotes so the system starts SMART instead of empty. Low effort in, compounding value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on this slide was measured on the running system — live server, real database, real API calls — not projected. Segment error dropped to well under one percent in BOTH directions of bias. The confidence band tightened seven-fold. Recognition hit ninety-nine percent. The unattended agent surfaced half a million pounds. And nine hundred and seventeen tests stand guard so none of it quietly regresses. One honest caveat: these demos ran on small seeded datasets — real-world accuracy builds as OUR data accumulates. The mechanism is proven. The asset grows with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benefits, business language. Speed: new parts start from proven history, not a blank sheet. Accuracy: it compounds with every quote and it's always measured — which is what makes our numbers defensible with suppliers. Retention: your best engineers' judgement becomes company data instead of leaving in a leaver's head. And proactive savings: the agent finds money continuously, quantified per year. Then the strategic kicker — a competitor can buy the same software tomorrow. They cannot buy our accumulated costing intelligence. That's the moat, and it deepens every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this year, and it sharpens the moat. Every should-cost now carries TWO ranges. Left, the physics prior — a Monte-Carlo band reflecting how well the inputs are known; always available. Right, the new one: an empirical band built from the actual quotes you've logged, using conformal prediction — a method that comes with a coverage guarantee. So the tool stops asserting a precision and states an observed fact: 'ninety percent of your real quotes for this family landed within plus-or-minus six-and-a-half percent.' That band edge is measured error, not a claim — which is why a buyer can defend it in the room. And it tightens on its own. No competitor states uncertainty with a guarantee like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closes the loop on the agent. It used to rank findings by the raw gap — the theoretical money. Now it learns which findings actually convert into cash. Watch the table: the cast housing shows a two-hundred-thousand-pound gap, but casting renegotiations almost never close — twenty percent — so realizable value is forty thousand. The machined knuckle has HALF the raw gap, but machining usually closes — eighty percent — so it's worth eighty thousand realizable. The agent now ranks the machining finding ABOVE the bigger one. Why? Sourcing time is scarce — it points at money you can actually get, and tracks pounds truly saved so the tool proves its own worth.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a number becomes leverage. The tool now builds a small causal model of the part — it knows the material bucket is driven by a specific commodity index, aluminium here — and runs the same overhead-and-margin maths the engine already uses to work out how sensitive the price is. Then it writes the argument for you. Read the live output: material is eight-thirty-nine, driven by aluminium; every one-percent move shifts the piece price by eleven pence; a quote of ninety-five is only justified if aluminium were about fourteen percent above today — so ask them to prove it, or hold at eighty-six thirty-four. That's a sentence a buyer can say out loud and not get argued out 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ways to ask 'what if a commodity moves?' Left, one part: drag a slider from minus twenty to plus twenty percent and the price recomputes live under your finger — plus fifteen percent aluminium takes this part from eighty-six thirty-four to eighty-seven ninety-two. Right, the whole portfolio at once: push a move across every part and watch who changes status — steel up ten percent, seven parts flip underwater, here's the money at risk. That's sourcing getting ahead of the market instead of reacting. And the honest framing: it's always a conditional — IF the index moves — never a forecast we can't stand behind.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feature I'm proudest of this year. Photograph a circuit board, and in about sixty seconds you get a costed bill of materials. The story is honesty about the journey: it started as a clever demo, and complex automotive boards would sometimes come back EMPTY — a lot of compute, no result. We fixed that at the root, then hardened the whole pipeline. The chart is the proof: the same real ECU, costed by an engineer in half a day versus the AI from one photo — sixty-nine pounds against seventy-three, within about five percent, in sixty seconds. On the right, the five fixes that got us there. Bottom line: the two-to-three-times over-costing is gone. Same photo, same answer, every run — and it tells you exactly which lines to firm up before you quote.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take one competitive message away, take this. Rivals demo continuous learning and adaptive reasoning — but as a black box, a number you're told to trust. Our principle is the opposite, and it's harder to build: every learned or derived value stays auditable. The bias factor, the conformal band, the hit-rate, the coach's arithmetic — all a value a cost engineer can read and defend across the table. The AI narrates and explains; it never sets the price in secret. So we match the market on learning, autonomy and causal reasoning — and beat it on the one thing that wins deals: defensibility. Autonomous, self-improving, glass-box, AND on-premise. That combination doesn't exist anywhere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The capability is built, tested — nine hundred and seventeen tests — and live, at no extra licence cost, on our own infrastructure. I'll be straight about the one dependency: the intelligence starts empty and grows with use. So the ask is three small decisions. One: make 'Log Actual £' a one-click habit. Two: approve a one-off import of our historical quotes so it starts smart — a day or two of effort. Three: put the agent's findings on the sourcing agenda each month; it's already finding money. Do those three things and this becomes a compounding asset from day one. Thank you — happy to take questions, or show you the live system right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1E3B"/>
          </a:solidFill>
          <a:ln/>
        </p:spPr>
      </p:sp>
      <p:sp>
        <p:nvSpPr>
          <p:cNvPr id="3" name="Shape 1"/>
          <p:cNvSpPr/>
          <p:nvPr/>
        </p:nvSpPr>
        <p:spPr>
          <a:xfrm>
            <a:off x="0" y="0"/>
            <a:ext cx="12191695" cy="6858000"/>
          </a:xfrm>
          <a:prstGeom prst="rect">
            <a:avLst/>
          </a:prstGeom>
          <a:solidFill>
            <a:srgbClr val="0B1E3B"/>
          </a:solidFill>
          <a:ln/>
        </p:spPr>
      </p:sp>
      <p:sp>
        <p:nvSpPr>
          <p:cNvPr id="4" name="Shape 2"/>
          <p:cNvSpPr/>
          <p:nvPr/>
        </p:nvSpPr>
        <p:spPr>
          <a:xfrm>
            <a:off x="0" y="0"/>
            <a:ext cx="12191695" cy="6858000"/>
          </a:xfrm>
          <a:prstGeom prst="rect">
            <a:avLst/>
          </a:prstGeom>
          <a:solidFill>
            <a:srgbClr val="4F46E5">
              <a:alpha val="12000"/>
            </a:srgbClr>
          </a:solidFill>
          <a:ln/>
        </p:spPr>
      </p:sp>
      <p:sp>
        <p:nvSpPr>
          <p:cNvPr id="5" name="Shape 3"/>
          <p:cNvSpPr/>
          <p:nvPr/>
        </p:nvSpPr>
        <p:spPr>
          <a:xfrm>
            <a:off x="0" y="0"/>
            <a:ext cx="146304" cy="6858000"/>
          </a:xfrm>
          <a:prstGeom prst="rect">
            <a:avLst/>
          </a:prstGeom>
          <a:solidFill>
            <a:srgbClr val="4F46E5"/>
          </a:solidFill>
          <a:ln/>
        </p:spPr>
      </p:sp>
      <p:sp>
        <p:nvSpPr>
          <p:cNvPr id="6" name="Shape 4"/>
          <p:cNvSpPr/>
          <p:nvPr/>
        </p:nvSpPr>
        <p:spPr>
          <a:xfrm>
            <a:off x="0" y="6729984"/>
            <a:ext cx="12191695" cy="128016"/>
          </a:xfrm>
          <a:prstGeom prst="rect">
            <a:avLst/>
          </a:prstGeom>
          <a:solidFill>
            <a:srgbClr val="2563EB"/>
          </a:solidFill>
          <a:ln/>
        </p:spPr>
      </p:sp>
      <p:sp>
        <p:nvSpPr>
          <p:cNvPr id="7" name="Shape 5"/>
          <p:cNvSpPr/>
          <p:nvPr/>
        </p:nvSpPr>
        <p:spPr>
          <a:xfrm>
            <a:off x="822960" y="777240"/>
            <a:ext cx="566928" cy="566928"/>
          </a:xfrm>
          <a:prstGeom prst="roundRect">
            <a:avLst>
              <a:gd name="adj" fmla="val 22581"/>
            </a:avLst>
          </a:prstGeom>
          <a:solidFill>
            <a:srgbClr val="4F46E5"/>
          </a:solidFill>
          <a:ln/>
        </p:spPr>
      </p:sp>
      <p:sp>
        <p:nvSpPr>
          <p:cNvPr id="8" name="Text 6"/>
          <p:cNvSpPr/>
          <p:nvPr/>
        </p:nvSpPr>
        <p:spPr>
          <a:xfrm>
            <a:off x="822960" y="777240"/>
            <a:ext cx="566928" cy="566928"/>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cv</a:t>
            </a:r>
            <a:endParaRPr lang="en-US" sz="2400" dirty="0"/>
          </a:p>
        </p:txBody>
      </p:sp>
      <p:sp>
        <p:nvSpPr>
          <p:cNvPr id="9" name="Text 7"/>
          <p:cNvSpPr/>
          <p:nvPr/>
        </p:nvSpPr>
        <p:spPr>
          <a:xfrm>
            <a:off x="1508760" y="822960"/>
            <a:ext cx="5486400" cy="457200"/>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CostVision</a:t>
            </a:r>
            <a:endParaRPr lang="en-US" sz="2000" dirty="0"/>
          </a:p>
        </p:txBody>
      </p:sp>
      <p:sp>
        <p:nvSpPr>
          <p:cNvPr id="10" name="Text 8"/>
          <p:cNvSpPr/>
          <p:nvPr/>
        </p:nvSpPr>
        <p:spPr>
          <a:xfrm>
            <a:off x="1527048" y="1243584"/>
            <a:ext cx="5486400" cy="274320"/>
          </a:xfrm>
          <a:prstGeom prst="rect">
            <a:avLst/>
          </a:prstGeom>
          <a:noFill/>
          <a:ln/>
        </p:spPr>
        <p:txBody>
          <a:bodyPr wrap="square" lIns="0" tIns="0" rIns="0" bIns="0" rtlCol="0" anchor="t"/>
          <a:lstStyle/>
          <a:p>
            <a:pPr indent="0" marL="0">
              <a:buNone/>
            </a:pPr>
            <a:r>
              <a:rPr lang="en-US" sz="950" spc="250" kern="0" dirty="0">
                <a:solidFill>
                  <a:srgbClr val="A9BEDC"/>
                </a:solidFill>
                <a:latin typeface="Calibri" pitchFamily="34" charset="0"/>
                <a:ea typeface="Calibri" pitchFamily="34" charset="-122"/>
                <a:cs typeface="Calibri" pitchFamily="34" charset="-120"/>
              </a:rPr>
              <a:t>AI  COST  INTELLIGENCE</a:t>
            </a:r>
            <a:endParaRPr lang="en-US" sz="950" dirty="0"/>
          </a:p>
        </p:txBody>
      </p:sp>
      <p:sp>
        <p:nvSpPr>
          <p:cNvPr id="11" name="Text 9"/>
          <p:cNvSpPr/>
          <p:nvPr/>
        </p:nvSpPr>
        <p:spPr>
          <a:xfrm>
            <a:off x="822960" y="2514600"/>
            <a:ext cx="10972800" cy="1005840"/>
          </a:xfrm>
          <a:prstGeom prst="rect">
            <a:avLst/>
          </a:prstGeom>
          <a:noFill/>
          <a:ln/>
        </p:spPr>
        <p:txBody>
          <a:bodyPr wrap="square" lIns="0" tIns="0" rIns="0" bIns="0" rtlCol="0" anchor="t"/>
          <a:lstStyle/>
          <a:p>
            <a:pPr indent="0" marL="0">
              <a:buNone/>
            </a:pPr>
            <a:r>
              <a:rPr lang="en-US" sz="4800" b="1" dirty="0">
                <a:solidFill>
                  <a:srgbClr val="FFFFFF"/>
                </a:solidFill>
                <a:latin typeface="Calibri" pitchFamily="34" charset="0"/>
                <a:ea typeface="Calibri" pitchFamily="34" charset="-122"/>
                <a:cs typeface="Calibri" pitchFamily="34" charset="-120"/>
              </a:rPr>
              <a:t>Agentic AI in CostVision</a:t>
            </a:r>
            <a:endParaRPr lang="en-US" sz="4800" dirty="0"/>
          </a:p>
        </p:txBody>
      </p:sp>
      <p:sp>
        <p:nvSpPr>
          <p:cNvPr id="12" name="Text 10"/>
          <p:cNvSpPr/>
          <p:nvPr/>
        </p:nvSpPr>
        <p:spPr>
          <a:xfrm>
            <a:off x="841248" y="3657600"/>
            <a:ext cx="10424160" cy="822960"/>
          </a:xfrm>
          <a:prstGeom prst="rect">
            <a:avLst/>
          </a:prstGeom>
          <a:noFill/>
          <a:ln/>
        </p:spPr>
        <p:txBody>
          <a:bodyPr wrap="square" lIns="0" tIns="0" rIns="0" bIns="0" rtlCol="0" anchor="t"/>
          <a:lstStyle/>
          <a:p>
            <a:pPr indent="0" marL="0">
              <a:lnSpc>
                <a:spcPct val="115000"/>
              </a:lnSpc>
              <a:buNone/>
            </a:pPr>
            <a:r>
              <a:rPr lang="en-US" sz="1800" dirty="0">
                <a:solidFill>
                  <a:srgbClr val="D7E2F2"/>
                </a:solidFill>
                <a:latin typeface="Calibri" pitchFamily="34" charset="0"/>
                <a:ea typeface="Calibri" pitchFamily="34" charset="-122"/>
                <a:cs typeface="Calibri" pitchFamily="34" charset="-120"/>
              </a:rPr>
              <a:t>A costing tool that learns from every analysis, remembers your parts,</a:t>
            </a:r>
            <a:endParaRPr lang="en-US" sz="1800" dirty="0"/>
          </a:p>
          <a:p>
            <a:pPr indent="0" marL="0">
              <a:lnSpc>
                <a:spcPct val="115000"/>
              </a:lnSpc>
              <a:buNone/>
            </a:pPr>
            <a:r>
              <a:rPr lang="en-US" sz="1800" dirty="0">
                <a:solidFill>
                  <a:srgbClr val="D7E2F2"/>
                </a:solidFill>
                <a:latin typeface="Calibri" pitchFamily="34" charset="0"/>
                <a:ea typeface="Calibri" pitchFamily="34" charset="-122"/>
                <a:cs typeface="Calibri" pitchFamily="34" charset="-120"/>
              </a:rPr>
              <a:t>and finds savings on its own — while staying fully auditable.</a:t>
            </a:r>
            <a:endParaRPr lang="en-US" sz="1800" dirty="0"/>
          </a:p>
        </p:txBody>
      </p:sp>
      <p:sp>
        <p:nvSpPr>
          <p:cNvPr id="13" name="Shape 11"/>
          <p:cNvSpPr/>
          <p:nvPr/>
        </p:nvSpPr>
        <p:spPr>
          <a:xfrm>
            <a:off x="822960" y="4846320"/>
            <a:ext cx="2423160" cy="457200"/>
          </a:xfrm>
          <a:prstGeom prst="roundRect">
            <a:avLst>
              <a:gd name="adj" fmla="val 50000"/>
            </a:avLst>
          </a:prstGeom>
          <a:solidFill>
            <a:srgbClr val="FFFFFF">
              <a:alpha val="92000"/>
            </a:srgbClr>
          </a:solidFill>
          <a:ln/>
        </p:spPr>
      </p:sp>
      <p:sp>
        <p:nvSpPr>
          <p:cNvPr id="14" name="Shape 12"/>
          <p:cNvSpPr/>
          <p:nvPr/>
        </p:nvSpPr>
        <p:spPr>
          <a:xfrm>
            <a:off x="1024128" y="4983480"/>
            <a:ext cx="182880" cy="182880"/>
          </a:xfrm>
          <a:prstGeom prst="ellipse">
            <a:avLst/>
          </a:prstGeom>
          <a:solidFill>
            <a:srgbClr val="2E90FA"/>
          </a:solidFill>
          <a:ln/>
        </p:spPr>
      </p:sp>
      <p:sp>
        <p:nvSpPr>
          <p:cNvPr id="15" name="Text 13"/>
          <p:cNvSpPr/>
          <p:nvPr/>
        </p:nvSpPr>
        <p:spPr>
          <a:xfrm>
            <a:off x="1280160" y="4846320"/>
            <a:ext cx="1920240" cy="457200"/>
          </a:xfrm>
          <a:prstGeom prst="rect">
            <a:avLst/>
          </a:prstGeom>
          <a:noFill/>
          <a:ln/>
        </p:spPr>
        <p:txBody>
          <a:bodyPr wrap="square" lIns="0" tIns="0" rIns="0" bIns="0" rtlCol="0" anchor="ctr"/>
          <a:lstStyle/>
          <a:p>
            <a:pPr indent="0" marL="0">
              <a:buNone/>
            </a:pPr>
            <a:r>
              <a:rPr lang="en-US" sz="1250" b="1" dirty="0">
                <a:solidFill>
                  <a:srgbClr val="0B1E3B"/>
                </a:solidFill>
                <a:latin typeface="Calibri" pitchFamily="34" charset="0"/>
                <a:ea typeface="Calibri" pitchFamily="34" charset="-122"/>
                <a:cs typeface="Calibri" pitchFamily="34" charset="-120"/>
              </a:rPr>
              <a:t>Remembers</a:t>
            </a:r>
            <a:endParaRPr lang="en-US" sz="1250" dirty="0"/>
          </a:p>
        </p:txBody>
      </p:sp>
      <p:sp>
        <p:nvSpPr>
          <p:cNvPr id="16" name="Shape 14"/>
          <p:cNvSpPr/>
          <p:nvPr/>
        </p:nvSpPr>
        <p:spPr>
          <a:xfrm>
            <a:off x="3474720" y="4846320"/>
            <a:ext cx="2423160" cy="457200"/>
          </a:xfrm>
          <a:prstGeom prst="roundRect">
            <a:avLst>
              <a:gd name="adj" fmla="val 50000"/>
            </a:avLst>
          </a:prstGeom>
          <a:solidFill>
            <a:srgbClr val="FFFFFF">
              <a:alpha val="92000"/>
            </a:srgbClr>
          </a:solidFill>
          <a:ln/>
        </p:spPr>
      </p:sp>
      <p:sp>
        <p:nvSpPr>
          <p:cNvPr id="17" name="Shape 15"/>
          <p:cNvSpPr/>
          <p:nvPr/>
        </p:nvSpPr>
        <p:spPr>
          <a:xfrm>
            <a:off x="3675888" y="4983480"/>
            <a:ext cx="182880" cy="182880"/>
          </a:xfrm>
          <a:prstGeom prst="ellipse">
            <a:avLst/>
          </a:prstGeom>
          <a:solidFill>
            <a:srgbClr val="0E93B0"/>
          </a:solidFill>
          <a:ln/>
        </p:spPr>
      </p:sp>
      <p:sp>
        <p:nvSpPr>
          <p:cNvPr id="18" name="Text 16"/>
          <p:cNvSpPr/>
          <p:nvPr/>
        </p:nvSpPr>
        <p:spPr>
          <a:xfrm>
            <a:off x="3931920" y="4846320"/>
            <a:ext cx="1920240" cy="457200"/>
          </a:xfrm>
          <a:prstGeom prst="rect">
            <a:avLst/>
          </a:prstGeom>
          <a:noFill/>
          <a:ln/>
        </p:spPr>
        <p:txBody>
          <a:bodyPr wrap="square" lIns="0" tIns="0" rIns="0" bIns="0" rtlCol="0" anchor="ctr"/>
          <a:lstStyle/>
          <a:p>
            <a:pPr indent="0" marL="0">
              <a:buNone/>
            </a:pPr>
            <a:r>
              <a:rPr lang="en-US" sz="1250" b="1" dirty="0">
                <a:solidFill>
                  <a:srgbClr val="0B1E3B"/>
                </a:solidFill>
                <a:latin typeface="Calibri" pitchFamily="34" charset="0"/>
                <a:ea typeface="Calibri" pitchFamily="34" charset="-122"/>
                <a:cs typeface="Calibri" pitchFamily="34" charset="-120"/>
              </a:rPr>
              <a:t>Recognises</a:t>
            </a:r>
            <a:endParaRPr lang="en-US" sz="1250" dirty="0"/>
          </a:p>
        </p:txBody>
      </p:sp>
      <p:sp>
        <p:nvSpPr>
          <p:cNvPr id="19" name="Shape 17"/>
          <p:cNvSpPr/>
          <p:nvPr/>
        </p:nvSpPr>
        <p:spPr>
          <a:xfrm>
            <a:off x="6126480" y="4846320"/>
            <a:ext cx="2423160" cy="457200"/>
          </a:xfrm>
          <a:prstGeom prst="roundRect">
            <a:avLst>
              <a:gd name="adj" fmla="val 50000"/>
            </a:avLst>
          </a:prstGeom>
          <a:solidFill>
            <a:srgbClr val="FFFFFF">
              <a:alpha val="92000"/>
            </a:srgbClr>
          </a:solidFill>
          <a:ln/>
        </p:spPr>
      </p:sp>
      <p:sp>
        <p:nvSpPr>
          <p:cNvPr id="20" name="Shape 18"/>
          <p:cNvSpPr/>
          <p:nvPr/>
        </p:nvSpPr>
        <p:spPr>
          <a:xfrm>
            <a:off x="6327648" y="4983480"/>
            <a:ext cx="182880" cy="182880"/>
          </a:xfrm>
          <a:prstGeom prst="ellipse">
            <a:avLst/>
          </a:prstGeom>
          <a:solidFill>
            <a:srgbClr val="7C3AED"/>
          </a:solidFill>
          <a:ln/>
        </p:spPr>
      </p:sp>
      <p:sp>
        <p:nvSpPr>
          <p:cNvPr id="21" name="Text 19"/>
          <p:cNvSpPr/>
          <p:nvPr/>
        </p:nvSpPr>
        <p:spPr>
          <a:xfrm>
            <a:off x="6583680" y="4846320"/>
            <a:ext cx="1920240" cy="457200"/>
          </a:xfrm>
          <a:prstGeom prst="rect">
            <a:avLst/>
          </a:prstGeom>
          <a:noFill/>
          <a:ln/>
        </p:spPr>
        <p:txBody>
          <a:bodyPr wrap="square" lIns="0" tIns="0" rIns="0" bIns="0" rtlCol="0" anchor="ctr"/>
          <a:lstStyle/>
          <a:p>
            <a:pPr indent="0" marL="0">
              <a:buNone/>
            </a:pPr>
            <a:r>
              <a:rPr lang="en-US" sz="1250" b="1" dirty="0">
                <a:solidFill>
                  <a:srgbClr val="0B1E3B"/>
                </a:solidFill>
                <a:latin typeface="Calibri" pitchFamily="34" charset="0"/>
                <a:ea typeface="Calibri" pitchFamily="34" charset="-122"/>
                <a:cs typeface="Calibri" pitchFamily="34" charset="-120"/>
              </a:rPr>
              <a:t>Self-corrects</a:t>
            </a:r>
            <a:endParaRPr lang="en-US" sz="1250" dirty="0"/>
          </a:p>
        </p:txBody>
      </p:sp>
      <p:sp>
        <p:nvSpPr>
          <p:cNvPr id="22" name="Shape 20"/>
          <p:cNvSpPr/>
          <p:nvPr/>
        </p:nvSpPr>
        <p:spPr>
          <a:xfrm>
            <a:off x="8778240" y="4846320"/>
            <a:ext cx="2423160" cy="457200"/>
          </a:xfrm>
          <a:prstGeom prst="roundRect">
            <a:avLst>
              <a:gd name="adj" fmla="val 50000"/>
            </a:avLst>
          </a:prstGeom>
          <a:solidFill>
            <a:srgbClr val="FFFFFF">
              <a:alpha val="92000"/>
            </a:srgbClr>
          </a:solidFill>
          <a:ln/>
        </p:spPr>
      </p:sp>
      <p:sp>
        <p:nvSpPr>
          <p:cNvPr id="23" name="Shape 21"/>
          <p:cNvSpPr/>
          <p:nvPr/>
        </p:nvSpPr>
        <p:spPr>
          <a:xfrm>
            <a:off x="8979408" y="4983480"/>
            <a:ext cx="182880" cy="182880"/>
          </a:xfrm>
          <a:prstGeom prst="ellipse">
            <a:avLst/>
          </a:prstGeom>
          <a:solidFill>
            <a:srgbClr val="0EA472"/>
          </a:solidFill>
          <a:ln/>
        </p:spPr>
      </p:sp>
      <p:sp>
        <p:nvSpPr>
          <p:cNvPr id="24" name="Text 22"/>
          <p:cNvSpPr/>
          <p:nvPr/>
        </p:nvSpPr>
        <p:spPr>
          <a:xfrm>
            <a:off x="9235440" y="4846320"/>
            <a:ext cx="1920240" cy="457200"/>
          </a:xfrm>
          <a:prstGeom prst="rect">
            <a:avLst/>
          </a:prstGeom>
          <a:noFill/>
          <a:ln/>
        </p:spPr>
        <p:txBody>
          <a:bodyPr wrap="square" lIns="0" tIns="0" rIns="0" bIns="0" rtlCol="0" anchor="ctr"/>
          <a:lstStyle/>
          <a:p>
            <a:pPr indent="0" marL="0">
              <a:buNone/>
            </a:pPr>
            <a:r>
              <a:rPr lang="en-US" sz="1250" b="1" dirty="0">
                <a:solidFill>
                  <a:srgbClr val="0B1E3B"/>
                </a:solidFill>
                <a:latin typeface="Calibri" pitchFamily="34" charset="0"/>
                <a:ea typeface="Calibri" pitchFamily="34" charset="-122"/>
                <a:cs typeface="Calibri" pitchFamily="34" charset="-120"/>
              </a:rPr>
              <a:t>Acts autonomously</a:t>
            </a:r>
            <a:endParaRPr lang="en-US" sz="1250" dirty="0"/>
          </a:p>
        </p:txBody>
      </p:sp>
      <p:sp>
        <p:nvSpPr>
          <p:cNvPr id="25" name="Text 23"/>
          <p:cNvSpPr/>
          <p:nvPr/>
        </p:nvSpPr>
        <p:spPr>
          <a:xfrm>
            <a:off x="841248" y="5989320"/>
            <a:ext cx="10058400" cy="365760"/>
          </a:xfrm>
          <a:prstGeom prst="rect">
            <a:avLst/>
          </a:prstGeom>
          <a:noFill/>
          <a:ln/>
        </p:spPr>
        <p:txBody>
          <a:bodyPr wrap="square" lIns="0" tIns="0" rIns="0" bIns="0" rtlCol="0" anchor="t"/>
          <a:lstStyle/>
          <a:p>
            <a:pPr indent="0" marL="0">
              <a:buNone/>
            </a:pPr>
            <a:r>
              <a:rPr lang="en-US" sz="1150" dirty="0">
                <a:solidFill>
                  <a:srgbClr val="8FA6C6"/>
                </a:solidFill>
                <a:latin typeface="Calibri" pitchFamily="34" charset="0"/>
                <a:ea typeface="Calibri" pitchFamily="34" charset="-122"/>
                <a:cs typeface="Calibri" pitchFamily="34" charset="-120"/>
              </a:rPr>
              <a:t>Management briefing   ·   July 2026   ·   All figures verified from live system runs</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2563EB"/>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2563EB"/>
                </a:solidFill>
                <a:latin typeface="Calibri" pitchFamily="34" charset="0"/>
                <a:ea typeface="Calibri" pitchFamily="34" charset="-122"/>
                <a:cs typeface="Calibri" pitchFamily="34" charset="-120"/>
              </a:rPr>
              <a:t>EXECUTIVE SUMMARY</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500" b="1" dirty="0">
                <a:solidFill>
                  <a:srgbClr val="0F1E3D"/>
                </a:solidFill>
                <a:latin typeface="Calibri" pitchFamily="34" charset="0"/>
                <a:ea typeface="Calibri" pitchFamily="34" charset="-122"/>
                <a:cs typeface="Calibri" pitchFamily="34" charset="-120"/>
              </a:rPr>
              <a:t>What we built — in one slide</a:t>
            </a:r>
            <a:endParaRPr lang="en-US" sz="2500" dirty="0"/>
          </a:p>
        </p:txBody>
      </p:sp>
      <p:sp>
        <p:nvSpPr>
          <p:cNvPr id="9" name="Shape 7"/>
          <p:cNvSpPr/>
          <p:nvPr/>
        </p:nvSpPr>
        <p:spPr>
          <a:xfrm>
            <a:off x="548640" y="1371600"/>
            <a:ext cx="1051560" cy="45720"/>
          </a:xfrm>
          <a:prstGeom prst="rect">
            <a:avLst/>
          </a:prstGeom>
          <a:solidFill>
            <a:srgbClr val="2563EB"/>
          </a:solidFill>
          <a:ln/>
        </p:spPr>
      </p:sp>
      <p:sp>
        <p:nvSpPr>
          <p:cNvPr id="10" name="Shape 8"/>
          <p:cNvSpPr/>
          <p:nvPr/>
        </p:nvSpPr>
        <p:spPr>
          <a:xfrm>
            <a:off x="548640" y="1600200"/>
            <a:ext cx="2724912" cy="1874520"/>
          </a:xfrm>
          <a:prstGeom prst="roundRect">
            <a:avLst>
              <a:gd name="adj" fmla="val 3415"/>
            </a:avLst>
          </a:prstGeom>
          <a:solidFill>
            <a:srgbClr val="FFFFFF"/>
          </a:solidFill>
          <a:ln w="12700">
            <a:solidFill>
              <a:srgbClr val="E4EAF2"/>
            </a:solidFill>
            <a:prstDash val="solid"/>
          </a:ln>
          <a:effectLst>
            <a:outerShdw sx="100000" sy="100000" kx="0" ky="0" algn="bl" rotWithShape="0" blurRad="88900" dist="25400" dir="5400000">
              <a:srgbClr val="9DB0CC">
                <a:alpha val="22000"/>
              </a:srgbClr>
            </a:outerShdw>
          </a:effectLst>
        </p:spPr>
      </p:sp>
      <p:sp>
        <p:nvSpPr>
          <p:cNvPr id="11" name="Shape 9"/>
          <p:cNvSpPr/>
          <p:nvPr/>
        </p:nvSpPr>
        <p:spPr>
          <a:xfrm>
            <a:off x="548640" y="1600200"/>
            <a:ext cx="82296" cy="1874520"/>
          </a:xfrm>
          <a:prstGeom prst="rect">
            <a:avLst/>
          </a:prstGeom>
          <a:solidFill>
            <a:srgbClr val="0EA472"/>
          </a:solidFill>
          <a:ln/>
        </p:spPr>
      </p:sp>
      <p:sp>
        <p:nvSpPr>
          <p:cNvPr id="12" name="Shape 10"/>
          <p:cNvSpPr/>
          <p:nvPr/>
        </p:nvSpPr>
        <p:spPr>
          <a:xfrm>
            <a:off x="768096" y="1810512"/>
            <a:ext cx="402336" cy="402336"/>
          </a:xfrm>
          <a:prstGeom prst="ellipse">
            <a:avLst/>
          </a:prstGeom>
          <a:solidFill>
            <a:srgbClr val="E7F7F0"/>
          </a:solidFill>
          <a:ln/>
        </p:spPr>
      </p:sp>
      <p:sp>
        <p:nvSpPr>
          <p:cNvPr id="13" name="Text 11"/>
          <p:cNvSpPr/>
          <p:nvPr/>
        </p:nvSpPr>
        <p:spPr>
          <a:xfrm>
            <a:off x="768096" y="1801368"/>
            <a:ext cx="402336" cy="402336"/>
          </a:xfrm>
          <a:prstGeom prst="rect">
            <a:avLst/>
          </a:prstGeom>
          <a:noFill/>
          <a:ln/>
        </p:spPr>
        <p:txBody>
          <a:bodyPr wrap="square" lIns="0" tIns="0" rIns="0" bIns="0" rtlCol="0" anchor="ctr"/>
          <a:lstStyle/>
          <a:p>
            <a:pPr algn="ctr" indent="0" marL="0">
              <a:buNone/>
            </a:pPr>
            <a:r>
              <a:rPr lang="en-US" sz="1600" b="1" dirty="0">
                <a:solidFill>
                  <a:srgbClr val="0EA472"/>
                </a:solidFill>
                <a:latin typeface="Calibri" pitchFamily="34" charset="0"/>
                <a:ea typeface="Calibri" pitchFamily="34" charset="-122"/>
                <a:cs typeface="Calibri" pitchFamily="34" charset="-120"/>
              </a:rPr>
              <a:t>▼</a:t>
            </a:r>
            <a:endParaRPr lang="en-US" sz="1600" dirty="0"/>
          </a:p>
        </p:txBody>
      </p:sp>
      <p:sp>
        <p:nvSpPr>
          <p:cNvPr id="14" name="Text 12"/>
          <p:cNvSpPr/>
          <p:nvPr/>
        </p:nvSpPr>
        <p:spPr>
          <a:xfrm>
            <a:off x="1280160" y="1792224"/>
            <a:ext cx="1901952" cy="457200"/>
          </a:xfrm>
          <a:prstGeom prst="rect">
            <a:avLst/>
          </a:prstGeom>
          <a:noFill/>
          <a:ln/>
        </p:spPr>
        <p:txBody>
          <a:bodyPr wrap="square" lIns="0" tIns="0" rIns="0" bIns="0" rtlCol="0" anchor="ctr"/>
          <a:lstStyle/>
          <a:p>
            <a:pPr indent="0" marL="0">
              <a:buNone/>
            </a:pPr>
            <a:r>
              <a:rPr lang="en-US" sz="2300" b="1" dirty="0">
                <a:solidFill>
                  <a:srgbClr val="0EA472"/>
                </a:solidFill>
                <a:latin typeface="Calibri" pitchFamily="34" charset="0"/>
                <a:ea typeface="Calibri" pitchFamily="34" charset="-122"/>
                <a:cs typeface="Calibri" pitchFamily="34" charset="-120"/>
              </a:rPr>
              <a:t>36×</a:t>
            </a:r>
            <a:endParaRPr lang="en-US" sz="2300" dirty="0"/>
          </a:p>
        </p:txBody>
      </p:sp>
      <p:sp>
        <p:nvSpPr>
          <p:cNvPr id="15" name="Text 13"/>
          <p:cNvSpPr/>
          <p:nvPr/>
        </p:nvSpPr>
        <p:spPr>
          <a:xfrm>
            <a:off x="786384" y="2331720"/>
            <a:ext cx="2359152" cy="274320"/>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Error reduction</a:t>
            </a:r>
            <a:endParaRPr lang="en-US" sz="1250" dirty="0"/>
          </a:p>
        </p:txBody>
      </p:sp>
      <p:sp>
        <p:nvSpPr>
          <p:cNvPr id="16" name="Text 14"/>
          <p:cNvSpPr/>
          <p:nvPr/>
        </p:nvSpPr>
        <p:spPr>
          <a:xfrm>
            <a:off x="786384" y="2651760"/>
            <a:ext cx="2313432" cy="822960"/>
          </a:xfrm>
          <a:prstGeom prst="rect">
            <a:avLst/>
          </a:prstGeom>
          <a:noFill/>
          <a:ln/>
        </p:spPr>
        <p:txBody>
          <a:bodyPr wrap="square" lIns="0" tIns="0" rIns="0" bIns="0" rtlCol="0" anchor="t"/>
          <a:lstStyle/>
          <a:p>
            <a:pPr indent="0" marL="0">
              <a:lnSpc>
                <a:spcPct val="108000"/>
              </a:lnSpc>
              <a:buNone/>
            </a:pPr>
            <a:r>
              <a:rPr lang="en-US" sz="980" dirty="0">
                <a:solidFill>
                  <a:srgbClr val="8A97A8"/>
                </a:solidFill>
                <a:latin typeface="Calibri" pitchFamily="34" charset="0"/>
                <a:ea typeface="Calibri" pitchFamily="34" charset="-122"/>
                <a:cs typeface="Calibri" pitchFamily="34" charset="-120"/>
              </a:rPr>
              <a:t>Estimating error fell from 10.9% to 0.3% after learning from just 3 real quotes.</a:t>
            </a:r>
            <a:endParaRPr lang="en-US" sz="980" dirty="0"/>
          </a:p>
        </p:txBody>
      </p:sp>
      <p:sp>
        <p:nvSpPr>
          <p:cNvPr id="17" name="Shape 15"/>
          <p:cNvSpPr/>
          <p:nvPr/>
        </p:nvSpPr>
        <p:spPr>
          <a:xfrm>
            <a:off x="3392424" y="1600200"/>
            <a:ext cx="2724912" cy="1874520"/>
          </a:xfrm>
          <a:prstGeom prst="roundRect">
            <a:avLst>
              <a:gd name="adj" fmla="val 3415"/>
            </a:avLst>
          </a:prstGeom>
          <a:solidFill>
            <a:srgbClr val="FFFFFF"/>
          </a:solidFill>
          <a:ln w="12700">
            <a:solidFill>
              <a:srgbClr val="E4EAF2"/>
            </a:solidFill>
            <a:prstDash val="solid"/>
          </a:ln>
          <a:effectLst>
            <a:outerShdw sx="100000" sy="100000" kx="0" ky="0" algn="bl" rotWithShape="0" blurRad="1129030000" dist="322580000" dir="324000000000">
              <a:srgbClr val="9DB0CC">
                <a:alpha val="2200000000"/>
              </a:srgbClr>
            </a:outerShdw>
          </a:effectLst>
        </p:spPr>
      </p:sp>
      <p:sp>
        <p:nvSpPr>
          <p:cNvPr id="18" name="Shape 16"/>
          <p:cNvSpPr/>
          <p:nvPr/>
        </p:nvSpPr>
        <p:spPr>
          <a:xfrm>
            <a:off x="3392424" y="1600200"/>
            <a:ext cx="82296" cy="1874520"/>
          </a:xfrm>
          <a:prstGeom prst="rect">
            <a:avLst/>
          </a:prstGeom>
          <a:solidFill>
            <a:srgbClr val="E5484D"/>
          </a:solidFill>
          <a:ln/>
        </p:spPr>
      </p:sp>
      <p:sp>
        <p:nvSpPr>
          <p:cNvPr id="19" name="Shape 17"/>
          <p:cNvSpPr/>
          <p:nvPr/>
        </p:nvSpPr>
        <p:spPr>
          <a:xfrm>
            <a:off x="3611880" y="1810512"/>
            <a:ext cx="402336" cy="402336"/>
          </a:xfrm>
          <a:prstGeom prst="ellipse">
            <a:avLst/>
          </a:prstGeom>
          <a:solidFill>
            <a:srgbClr val="FDECEC"/>
          </a:solidFill>
          <a:ln/>
        </p:spPr>
      </p:sp>
      <p:sp>
        <p:nvSpPr>
          <p:cNvPr id="20" name="Text 18"/>
          <p:cNvSpPr/>
          <p:nvPr/>
        </p:nvSpPr>
        <p:spPr>
          <a:xfrm>
            <a:off x="3611880" y="1801368"/>
            <a:ext cx="402336" cy="402336"/>
          </a:xfrm>
          <a:prstGeom prst="rect">
            <a:avLst/>
          </a:prstGeom>
          <a:noFill/>
          <a:ln/>
        </p:spPr>
        <p:txBody>
          <a:bodyPr wrap="square" lIns="0" tIns="0" rIns="0" bIns="0" rtlCol="0" anchor="ctr"/>
          <a:lstStyle/>
          <a:p>
            <a:pPr algn="ctr" indent="0" marL="0">
              <a:buNone/>
            </a:pPr>
            <a:r>
              <a:rPr lang="en-US" sz="1600" b="1" dirty="0">
                <a:solidFill>
                  <a:srgbClr val="E5484D"/>
                </a:solidFill>
                <a:latin typeface="Calibri" pitchFamily="34" charset="0"/>
                <a:ea typeface="Calibri" pitchFamily="34" charset="-122"/>
                <a:cs typeface="Calibri" pitchFamily="34" charset="-120"/>
              </a:rPr>
              <a:t>◎</a:t>
            </a:r>
            <a:endParaRPr lang="en-US" sz="1600" dirty="0"/>
          </a:p>
        </p:txBody>
      </p:sp>
      <p:sp>
        <p:nvSpPr>
          <p:cNvPr id="21" name="Text 19"/>
          <p:cNvSpPr/>
          <p:nvPr/>
        </p:nvSpPr>
        <p:spPr>
          <a:xfrm>
            <a:off x="4123944" y="1792224"/>
            <a:ext cx="1901952" cy="457200"/>
          </a:xfrm>
          <a:prstGeom prst="rect">
            <a:avLst/>
          </a:prstGeom>
          <a:noFill/>
          <a:ln/>
        </p:spPr>
        <p:txBody>
          <a:bodyPr wrap="square" lIns="0" tIns="0" rIns="0" bIns="0" rtlCol="0" anchor="ctr"/>
          <a:lstStyle/>
          <a:p>
            <a:pPr indent="0" marL="0">
              <a:buNone/>
            </a:pPr>
            <a:r>
              <a:rPr lang="en-US" sz="2300" b="1" dirty="0">
                <a:solidFill>
                  <a:srgbClr val="E5484D"/>
                </a:solidFill>
                <a:latin typeface="Calibri" pitchFamily="34" charset="0"/>
                <a:ea typeface="Calibri" pitchFamily="34" charset="-122"/>
                <a:cs typeface="Calibri" pitchFamily="34" charset="-120"/>
              </a:rPr>
              <a:t>£512k/yr</a:t>
            </a:r>
            <a:endParaRPr lang="en-US" sz="2300" dirty="0"/>
          </a:p>
        </p:txBody>
      </p:sp>
      <p:sp>
        <p:nvSpPr>
          <p:cNvPr id="22" name="Text 20"/>
          <p:cNvSpPr/>
          <p:nvPr/>
        </p:nvSpPr>
        <p:spPr>
          <a:xfrm>
            <a:off x="3630168" y="2331720"/>
            <a:ext cx="2359152" cy="274320"/>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Found autonomously</a:t>
            </a:r>
            <a:endParaRPr lang="en-US" sz="1250" dirty="0"/>
          </a:p>
        </p:txBody>
      </p:sp>
      <p:sp>
        <p:nvSpPr>
          <p:cNvPr id="23" name="Text 21"/>
          <p:cNvSpPr/>
          <p:nvPr/>
        </p:nvSpPr>
        <p:spPr>
          <a:xfrm>
            <a:off x="3630168" y="2651760"/>
            <a:ext cx="2313432" cy="822960"/>
          </a:xfrm>
          <a:prstGeom prst="rect">
            <a:avLst/>
          </a:prstGeom>
          <a:noFill/>
          <a:ln/>
        </p:spPr>
        <p:txBody>
          <a:bodyPr wrap="square" lIns="0" tIns="0" rIns="0" bIns="0" rtlCol="0" anchor="t"/>
          <a:lstStyle/>
          <a:p>
            <a:pPr indent="0" marL="0">
              <a:lnSpc>
                <a:spcPct val="108000"/>
              </a:lnSpc>
              <a:buNone/>
            </a:pPr>
            <a:r>
              <a:rPr lang="en-US" sz="980" dirty="0">
                <a:solidFill>
                  <a:srgbClr val="8A97A8"/>
                </a:solidFill>
                <a:latin typeface="Calibri" pitchFamily="34" charset="0"/>
                <a:ea typeface="Calibri" pitchFamily="34" charset="-122"/>
                <a:cs typeface="Calibri" pitchFamily="34" charset="-120"/>
              </a:rPr>
              <a:t>The background agent flagged £512k/yr of pricing issues — nobody at the keyboard.</a:t>
            </a:r>
            <a:endParaRPr lang="en-US" sz="980" dirty="0"/>
          </a:p>
        </p:txBody>
      </p:sp>
      <p:sp>
        <p:nvSpPr>
          <p:cNvPr id="24" name="Shape 22"/>
          <p:cNvSpPr/>
          <p:nvPr/>
        </p:nvSpPr>
        <p:spPr>
          <a:xfrm>
            <a:off x="6236208" y="1600200"/>
            <a:ext cx="2724912" cy="1874520"/>
          </a:xfrm>
          <a:prstGeom prst="roundRect">
            <a:avLst>
              <a:gd name="adj" fmla="val 3415"/>
            </a:avLst>
          </a:prstGeom>
          <a:solidFill>
            <a:srgbClr val="FFFFFF"/>
          </a:solidFill>
          <a:ln w="12700">
            <a:solidFill>
              <a:srgbClr val="E4EAF2"/>
            </a:solidFill>
            <a:prstDash val="solid"/>
          </a:ln>
          <a:effectLst>
            <a:outerShdw sx="100000" sy="100000" kx="0" ky="0" algn="bl" rotWithShape="0" blurRad="14338681000000" dist="4096766000000" dir="19440000000000000">
              <a:srgbClr val="9DB0CC">
                <a:alpha val="220000000000000"/>
              </a:srgbClr>
            </a:outerShdw>
          </a:effectLst>
        </p:spPr>
      </p:sp>
      <p:sp>
        <p:nvSpPr>
          <p:cNvPr id="25" name="Shape 23"/>
          <p:cNvSpPr/>
          <p:nvPr/>
        </p:nvSpPr>
        <p:spPr>
          <a:xfrm>
            <a:off x="6236208" y="1600200"/>
            <a:ext cx="82296" cy="1874520"/>
          </a:xfrm>
          <a:prstGeom prst="rect">
            <a:avLst/>
          </a:prstGeom>
          <a:solidFill>
            <a:srgbClr val="0E93B0"/>
          </a:solidFill>
          <a:ln/>
        </p:spPr>
      </p:sp>
      <p:sp>
        <p:nvSpPr>
          <p:cNvPr id="26" name="Shape 24"/>
          <p:cNvSpPr/>
          <p:nvPr/>
        </p:nvSpPr>
        <p:spPr>
          <a:xfrm>
            <a:off x="6455664" y="1810512"/>
            <a:ext cx="402336" cy="402336"/>
          </a:xfrm>
          <a:prstGeom prst="ellipse">
            <a:avLst/>
          </a:prstGeom>
          <a:solidFill>
            <a:srgbClr val="E8F6FA"/>
          </a:solidFill>
          <a:ln/>
        </p:spPr>
      </p:sp>
      <p:sp>
        <p:nvSpPr>
          <p:cNvPr id="27" name="Text 25"/>
          <p:cNvSpPr/>
          <p:nvPr/>
        </p:nvSpPr>
        <p:spPr>
          <a:xfrm>
            <a:off x="6455664" y="1801368"/>
            <a:ext cx="402336" cy="402336"/>
          </a:xfrm>
          <a:prstGeom prst="rect">
            <a:avLst/>
          </a:prstGeom>
          <a:noFill/>
          <a:ln/>
        </p:spPr>
        <p:txBody>
          <a:bodyPr wrap="square" lIns="0" tIns="0" rIns="0" bIns="0" rtlCol="0" anchor="ctr"/>
          <a:lstStyle/>
          <a:p>
            <a:pPr algn="ctr" indent="0" marL="0">
              <a:buNone/>
            </a:pPr>
            <a:r>
              <a:rPr lang="en-US" sz="1600" b="1" dirty="0">
                <a:solidFill>
                  <a:srgbClr val="0E93B0"/>
                </a:solidFill>
                <a:latin typeface="Calibri" pitchFamily="34" charset="0"/>
                <a:ea typeface="Calibri" pitchFamily="34" charset="-122"/>
                <a:cs typeface="Calibri" pitchFamily="34" charset="-120"/>
              </a:rPr>
              <a:t>◈</a:t>
            </a:r>
            <a:endParaRPr lang="en-US" sz="1600" dirty="0"/>
          </a:p>
        </p:txBody>
      </p:sp>
      <p:sp>
        <p:nvSpPr>
          <p:cNvPr id="28" name="Text 26"/>
          <p:cNvSpPr/>
          <p:nvPr/>
        </p:nvSpPr>
        <p:spPr>
          <a:xfrm>
            <a:off x="6967728" y="1792224"/>
            <a:ext cx="1901952" cy="457200"/>
          </a:xfrm>
          <a:prstGeom prst="rect">
            <a:avLst/>
          </a:prstGeom>
          <a:noFill/>
          <a:ln/>
        </p:spPr>
        <p:txBody>
          <a:bodyPr wrap="square" lIns="0" tIns="0" rIns="0" bIns="0" rtlCol="0" anchor="ctr"/>
          <a:lstStyle/>
          <a:p>
            <a:pPr indent="0" marL="0">
              <a:buNone/>
            </a:pPr>
            <a:r>
              <a:rPr lang="en-US" sz="2300" b="1" dirty="0">
                <a:solidFill>
                  <a:srgbClr val="0E93B0"/>
                </a:solidFill>
                <a:latin typeface="Calibri" pitchFamily="34" charset="0"/>
                <a:ea typeface="Calibri" pitchFamily="34" charset="-122"/>
                <a:cs typeface="Calibri" pitchFamily="34" charset="-120"/>
              </a:rPr>
              <a:t>99%</a:t>
            </a:r>
            <a:endParaRPr lang="en-US" sz="2300" dirty="0"/>
          </a:p>
        </p:txBody>
      </p:sp>
      <p:sp>
        <p:nvSpPr>
          <p:cNvPr id="29" name="Text 27"/>
          <p:cNvSpPr/>
          <p:nvPr/>
        </p:nvSpPr>
        <p:spPr>
          <a:xfrm>
            <a:off x="6473952" y="2331720"/>
            <a:ext cx="2359152" cy="274320"/>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Part recognition</a:t>
            </a:r>
            <a:endParaRPr lang="en-US" sz="1250" dirty="0"/>
          </a:p>
        </p:txBody>
      </p:sp>
      <p:sp>
        <p:nvSpPr>
          <p:cNvPr id="30" name="Text 28"/>
          <p:cNvSpPr/>
          <p:nvPr/>
        </p:nvSpPr>
        <p:spPr>
          <a:xfrm>
            <a:off x="6473952" y="2651760"/>
            <a:ext cx="2313432" cy="822960"/>
          </a:xfrm>
          <a:prstGeom prst="rect">
            <a:avLst/>
          </a:prstGeom>
          <a:noFill/>
          <a:ln/>
        </p:spPr>
        <p:txBody>
          <a:bodyPr wrap="square" lIns="0" tIns="0" rIns="0" bIns="0" rtlCol="0" anchor="t"/>
          <a:lstStyle/>
          <a:p>
            <a:pPr indent="0" marL="0">
              <a:lnSpc>
                <a:spcPct val="108000"/>
              </a:lnSpc>
              <a:buNone/>
            </a:pPr>
            <a:r>
              <a:rPr lang="en-US" sz="980" dirty="0">
                <a:solidFill>
                  <a:srgbClr val="8A97A8"/>
                </a:solidFill>
                <a:latin typeface="Calibri" pitchFamily="34" charset="0"/>
                <a:ea typeface="Calibri" pitchFamily="34" charset="-122"/>
                <a:cs typeface="Calibri" pitchFamily="34" charset="-120"/>
              </a:rPr>
              <a:t>A new bracket matched 3 past parts at 98–99% similarity, with reasons shown.</a:t>
            </a:r>
            <a:endParaRPr lang="en-US" sz="980" dirty="0"/>
          </a:p>
        </p:txBody>
      </p:sp>
      <p:sp>
        <p:nvSpPr>
          <p:cNvPr id="31" name="Shape 29"/>
          <p:cNvSpPr/>
          <p:nvPr/>
        </p:nvSpPr>
        <p:spPr>
          <a:xfrm>
            <a:off x="9079992" y="1600200"/>
            <a:ext cx="2724912" cy="1874520"/>
          </a:xfrm>
          <a:prstGeom prst="roundRect">
            <a:avLst>
              <a:gd name="adj" fmla="val 3415"/>
            </a:avLst>
          </a:prstGeom>
          <a:solidFill>
            <a:srgbClr val="FFFFFF"/>
          </a:solidFill>
          <a:ln w="12700">
            <a:solidFill>
              <a:srgbClr val="E4EAF2"/>
            </a:solidFill>
            <a:prstDash val="solid"/>
          </a:ln>
          <a:effectLst>
            <a:outerShdw sx="100000" sy="100000" kx="0" ky="0" algn="bl" rotWithShape="0" blurRad="182101248700000000" dist="52028928200000000" dir="1.1664e+21">
              <a:srgbClr val="9DB0CC">
                <a:alpha val="22000000000000000000"/>
              </a:srgbClr>
            </a:outerShdw>
          </a:effectLst>
        </p:spPr>
      </p:sp>
      <p:sp>
        <p:nvSpPr>
          <p:cNvPr id="32" name="Shape 30"/>
          <p:cNvSpPr/>
          <p:nvPr/>
        </p:nvSpPr>
        <p:spPr>
          <a:xfrm>
            <a:off x="9079992" y="1600200"/>
            <a:ext cx="82296" cy="1874520"/>
          </a:xfrm>
          <a:prstGeom prst="rect">
            <a:avLst/>
          </a:prstGeom>
          <a:solidFill>
            <a:srgbClr val="7C3AED"/>
          </a:solidFill>
          <a:ln/>
        </p:spPr>
      </p:sp>
      <p:sp>
        <p:nvSpPr>
          <p:cNvPr id="33" name="Shape 31"/>
          <p:cNvSpPr/>
          <p:nvPr/>
        </p:nvSpPr>
        <p:spPr>
          <a:xfrm>
            <a:off x="9299448" y="1810512"/>
            <a:ext cx="402336" cy="402336"/>
          </a:xfrm>
          <a:prstGeom prst="ellipse">
            <a:avLst/>
          </a:prstGeom>
          <a:solidFill>
            <a:srgbClr val="F3EEFE"/>
          </a:solidFill>
          <a:ln/>
        </p:spPr>
      </p:sp>
      <p:sp>
        <p:nvSpPr>
          <p:cNvPr id="34" name="Text 32"/>
          <p:cNvSpPr/>
          <p:nvPr/>
        </p:nvSpPr>
        <p:spPr>
          <a:xfrm>
            <a:off x="9299448" y="1801368"/>
            <a:ext cx="402336" cy="402336"/>
          </a:xfrm>
          <a:prstGeom prst="rect">
            <a:avLst/>
          </a:prstGeom>
          <a:noFill/>
          <a:ln/>
        </p:spPr>
        <p:txBody>
          <a:bodyPr wrap="square" lIns="0" tIns="0" rIns="0" bIns="0" rtlCol="0" anchor="ctr"/>
          <a:lstStyle/>
          <a:p>
            <a:pPr algn="ctr" indent="0" marL="0">
              <a:buNone/>
            </a:pPr>
            <a:r>
              <a:rPr lang="en-US" sz="1600" b="1" dirty="0">
                <a:solidFill>
                  <a:srgbClr val="7C3AED"/>
                </a:solidFill>
                <a:latin typeface="Calibri" pitchFamily="34" charset="0"/>
                <a:ea typeface="Calibri" pitchFamily="34" charset="-122"/>
                <a:cs typeface="Calibri" pitchFamily="34" charset="-120"/>
              </a:rPr>
              <a:t>✓</a:t>
            </a:r>
            <a:endParaRPr lang="en-US" sz="1600" dirty="0"/>
          </a:p>
        </p:txBody>
      </p:sp>
      <p:sp>
        <p:nvSpPr>
          <p:cNvPr id="35" name="Text 33"/>
          <p:cNvSpPr/>
          <p:nvPr/>
        </p:nvSpPr>
        <p:spPr>
          <a:xfrm>
            <a:off x="9811512" y="1792224"/>
            <a:ext cx="1901952" cy="457200"/>
          </a:xfrm>
          <a:prstGeom prst="rect">
            <a:avLst/>
          </a:prstGeom>
          <a:noFill/>
          <a:ln/>
        </p:spPr>
        <p:txBody>
          <a:bodyPr wrap="square" lIns="0" tIns="0" rIns="0" bIns="0" rtlCol="0" anchor="ctr"/>
          <a:lstStyle/>
          <a:p>
            <a:pPr indent="0" marL="0">
              <a:buNone/>
            </a:pPr>
            <a:r>
              <a:rPr lang="en-US" sz="2300" b="1" dirty="0">
                <a:solidFill>
                  <a:srgbClr val="7C3AED"/>
                </a:solidFill>
                <a:latin typeface="Calibri" pitchFamily="34" charset="0"/>
                <a:ea typeface="Calibri" pitchFamily="34" charset="-122"/>
                <a:cs typeface="Calibri" pitchFamily="34" charset="-120"/>
              </a:rPr>
              <a:t>917</a:t>
            </a:r>
            <a:endParaRPr lang="en-US" sz="2300" dirty="0"/>
          </a:p>
        </p:txBody>
      </p:sp>
      <p:sp>
        <p:nvSpPr>
          <p:cNvPr id="36" name="Text 34"/>
          <p:cNvSpPr/>
          <p:nvPr/>
        </p:nvSpPr>
        <p:spPr>
          <a:xfrm>
            <a:off x="9317736" y="2331720"/>
            <a:ext cx="2359152" cy="274320"/>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Automated tests</a:t>
            </a:r>
            <a:endParaRPr lang="en-US" sz="1250" dirty="0"/>
          </a:p>
        </p:txBody>
      </p:sp>
      <p:sp>
        <p:nvSpPr>
          <p:cNvPr id="37" name="Text 35"/>
          <p:cNvSpPr/>
          <p:nvPr/>
        </p:nvSpPr>
        <p:spPr>
          <a:xfrm>
            <a:off x="9317736" y="2651760"/>
            <a:ext cx="2313432" cy="822960"/>
          </a:xfrm>
          <a:prstGeom prst="rect">
            <a:avLst/>
          </a:prstGeom>
          <a:noFill/>
          <a:ln/>
        </p:spPr>
        <p:txBody>
          <a:bodyPr wrap="square" lIns="0" tIns="0" rIns="0" bIns="0" rtlCol="0" anchor="t"/>
          <a:lstStyle/>
          <a:p>
            <a:pPr indent="0" marL="0">
              <a:lnSpc>
                <a:spcPct val="108000"/>
              </a:lnSpc>
              <a:buNone/>
            </a:pPr>
            <a:r>
              <a:rPr lang="en-US" sz="980" dirty="0">
                <a:solidFill>
                  <a:srgbClr val="8A97A8"/>
                </a:solidFill>
                <a:latin typeface="Calibri" pitchFamily="34" charset="0"/>
                <a:ea typeface="Calibri" pitchFamily="34" charset="-122"/>
                <a:cs typeface="Calibri" pitchFamily="34" charset="-120"/>
              </a:rPr>
              <a:t>Every capability covered by tests (77 suites), exercised end-to-end live.</a:t>
            </a:r>
            <a:endParaRPr lang="en-US" sz="980" dirty="0"/>
          </a:p>
        </p:txBody>
      </p:sp>
      <p:sp>
        <p:nvSpPr>
          <p:cNvPr id="38" name="Shape 36"/>
          <p:cNvSpPr/>
          <p:nvPr/>
        </p:nvSpPr>
        <p:spPr>
          <a:xfrm>
            <a:off x="548640" y="3703320"/>
            <a:ext cx="11091672" cy="2331720"/>
          </a:xfrm>
          <a:prstGeom prst="roundRect">
            <a:avLst>
              <a:gd name="adj" fmla="val 2745"/>
            </a:avLst>
          </a:prstGeom>
          <a:solidFill>
            <a:srgbClr val="EAF1FE"/>
          </a:solidFill>
          <a:ln w="12700">
            <a:solidFill>
              <a:srgbClr val="E4EAF2"/>
            </a:solidFill>
            <a:prstDash val="solid"/>
          </a:ln>
        </p:spPr>
      </p:sp>
      <p:sp>
        <p:nvSpPr>
          <p:cNvPr id="39" name="Shape 37"/>
          <p:cNvSpPr/>
          <p:nvPr/>
        </p:nvSpPr>
        <p:spPr>
          <a:xfrm>
            <a:off x="548640" y="3703320"/>
            <a:ext cx="82296" cy="2331720"/>
          </a:xfrm>
          <a:prstGeom prst="rect">
            <a:avLst/>
          </a:prstGeom>
          <a:solidFill>
            <a:srgbClr val="2563EB"/>
          </a:solidFill>
          <a:ln/>
        </p:spPr>
      </p:sp>
      <p:sp>
        <p:nvSpPr>
          <p:cNvPr id="40" name="Text 38"/>
          <p:cNvSpPr/>
          <p:nvPr/>
        </p:nvSpPr>
        <p:spPr>
          <a:xfrm>
            <a:off x="914400" y="3913632"/>
            <a:ext cx="10058400" cy="365760"/>
          </a:xfrm>
          <a:prstGeom prst="rect">
            <a:avLst/>
          </a:prstGeom>
          <a:noFill/>
          <a:ln/>
        </p:spPr>
        <p:txBody>
          <a:bodyPr wrap="square" lIns="0" tIns="0" rIns="0" bIns="0" rtlCol="0" anchor="t"/>
          <a:lstStyle/>
          <a:p>
            <a:pPr indent="0" marL="0">
              <a:buNone/>
            </a:pPr>
            <a:r>
              <a:rPr lang="en-US" sz="1500" b="1" dirty="0">
                <a:solidFill>
                  <a:srgbClr val="0F1E3D"/>
                </a:solidFill>
                <a:latin typeface="Calibri" pitchFamily="34" charset="0"/>
                <a:ea typeface="Calibri" pitchFamily="34" charset="-122"/>
                <a:cs typeface="Calibri" pitchFamily="34" charset="-120"/>
              </a:rPr>
              <a:t>The idea, in plain words</a:t>
            </a:r>
            <a:endParaRPr lang="en-US" sz="1500" dirty="0"/>
          </a:p>
        </p:txBody>
      </p:sp>
      <p:sp>
        <p:nvSpPr>
          <p:cNvPr id="41" name="Text 39"/>
          <p:cNvSpPr/>
          <p:nvPr/>
        </p:nvSpPr>
        <p:spPr>
          <a:xfrm>
            <a:off x="914400" y="4343400"/>
            <a:ext cx="10378440" cy="1554480"/>
          </a:xfrm>
          <a:prstGeom prst="rect">
            <a:avLst/>
          </a:prstGeom>
          <a:noFill/>
          <a:ln/>
        </p:spPr>
        <p:txBody>
          <a:bodyPr wrap="square" lIns="0" tIns="0" rIns="0" bIns="0" rtlCol="0" anchor="t"/>
          <a:lstStyle/>
          <a:p>
            <a:pPr indent="0" marL="0">
              <a:lnSpc>
                <a:spcPct val="128000"/>
              </a:lnSpc>
              <a:buNone/>
            </a:pPr>
            <a:r>
              <a:rPr lang="en-US" sz="1350" dirty="0">
                <a:solidFill>
                  <a:srgbClr val="3E4C63"/>
                </a:solidFill>
                <a:latin typeface="Calibri" pitchFamily="34" charset="0"/>
                <a:ea typeface="Calibri" pitchFamily="34" charset="-122"/>
                <a:cs typeface="Calibri" pitchFamily="34" charset="-120"/>
              </a:rPr>
              <a:t>Until now, every costing started from zero and the result depended on who did it. </a:t>
            </a:r>
            <a:pPr indent="0" marL="0">
              <a:lnSpc>
                <a:spcPct val="128000"/>
              </a:lnSpc>
              <a:buNone/>
            </a:pPr>
            <a:r>
              <a:rPr lang="en-US" sz="1350" b="1" dirty="0">
                <a:solidFill>
                  <a:srgbClr val="0F1E3D"/>
                </a:solidFill>
                <a:latin typeface="Calibri" pitchFamily="34" charset="0"/>
                <a:ea typeface="Calibri" pitchFamily="34" charset="-122"/>
                <a:cs typeface="Calibri" pitchFamily="34" charset="-120"/>
              </a:rPr>
              <a:t>Now the tool keeps an organisational memory — </a:t>
            </a:r>
            <a:pPr indent="0" marL="0">
              <a:lnSpc>
                <a:spcPct val="128000"/>
              </a:lnSpc>
              <a:buNone/>
            </a:pPr>
            <a:r>
              <a:rPr lang="en-US" sz="1350" dirty="0">
                <a:solidFill>
                  <a:srgbClr val="3E4C63"/>
                </a:solidFill>
                <a:latin typeface="Calibri" pitchFamily="34" charset="0"/>
                <a:ea typeface="Calibri" pitchFamily="34" charset="-122"/>
                <a:cs typeface="Calibri" pitchFamily="34" charset="-120"/>
              </a:rPr>
              <a:t>every analysis is stored, every real supplier quote teaches it, and every new part is compared against everything we have costed before. </a:t>
            </a:r>
            <a:pPr indent="0" marL="0">
              <a:lnSpc>
                <a:spcPct val="128000"/>
              </a:lnSpc>
              <a:buNone/>
            </a:pPr>
            <a:r>
              <a:rPr lang="en-US" sz="1350" dirty="0">
                <a:solidFill>
                  <a:srgbClr val="3E4C63"/>
                </a:solidFill>
                <a:latin typeface="Calibri" pitchFamily="34" charset="0"/>
                <a:ea typeface="Calibri" pitchFamily="34" charset="-122"/>
                <a:cs typeface="Calibri" pitchFamily="34" charset="-120"/>
              </a:rPr>
              <a:t>The knowledge stays in our database, on our servers: a company asset that grows more valuable with use, and does not walk out of the door when an expert leaves.</a:t>
            </a:r>
            <a:endParaRPr lang="en-US" sz="1350" dirty="0"/>
          </a:p>
        </p:txBody>
      </p:sp>
      <p:sp>
        <p:nvSpPr>
          <p:cNvPr id="42" name="Shape 40"/>
          <p:cNvSpPr/>
          <p:nvPr/>
        </p:nvSpPr>
        <p:spPr>
          <a:xfrm>
            <a:off x="548640" y="6400800"/>
            <a:ext cx="11094415" cy="12802"/>
          </a:xfrm>
          <a:prstGeom prst="rect">
            <a:avLst/>
          </a:prstGeom>
          <a:solidFill>
            <a:srgbClr val="E4EAF2"/>
          </a:solidFill>
          <a:ln/>
        </p:spPr>
      </p:sp>
      <p:sp>
        <p:nvSpPr>
          <p:cNvPr id="43" name="Text 41"/>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Agentic AI Management Briefing</a:t>
            </a:r>
            <a:endParaRPr lang="en-US" sz="850" dirty="0"/>
          </a:p>
        </p:txBody>
      </p:sp>
      <p:sp>
        <p:nvSpPr>
          <p:cNvPr id="44" name="Text 42"/>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 / 20</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4F46E5"/>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4F46E5"/>
                </a:solidFill>
                <a:latin typeface="Calibri" pitchFamily="34" charset="0"/>
                <a:ea typeface="Calibri" pitchFamily="34" charset="-122"/>
                <a:cs typeface="Calibri" pitchFamily="34" charset="-120"/>
              </a:rPr>
              <a:t>THE CONCEPT</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500" b="1" dirty="0">
                <a:solidFill>
                  <a:srgbClr val="0F1E3D"/>
                </a:solidFill>
                <a:latin typeface="Calibri" pitchFamily="34" charset="0"/>
                <a:ea typeface="Calibri" pitchFamily="34" charset="-122"/>
                <a:cs typeface="Calibri" pitchFamily="34" charset="-120"/>
              </a:rPr>
              <a:t>What "Agentic AI" means here — four plain words</a:t>
            </a:r>
            <a:endParaRPr lang="en-US" sz="2500" dirty="0"/>
          </a:p>
        </p:txBody>
      </p:sp>
      <p:sp>
        <p:nvSpPr>
          <p:cNvPr id="9" name="Shape 7"/>
          <p:cNvSpPr/>
          <p:nvPr/>
        </p:nvSpPr>
        <p:spPr>
          <a:xfrm>
            <a:off x="548640" y="1371600"/>
            <a:ext cx="1051560" cy="45720"/>
          </a:xfrm>
          <a:prstGeom prst="rect">
            <a:avLst/>
          </a:prstGeom>
          <a:solidFill>
            <a:srgbClr val="4F46E5"/>
          </a:solidFill>
          <a:ln/>
        </p:spPr>
      </p:sp>
      <p:sp>
        <p:nvSpPr>
          <p:cNvPr id="10" name="Shape 8"/>
          <p:cNvSpPr/>
          <p:nvPr/>
        </p:nvSpPr>
        <p:spPr>
          <a:xfrm>
            <a:off x="548640" y="1783080"/>
            <a:ext cx="2542032" cy="3246120"/>
          </a:xfrm>
          <a:prstGeom prst="roundRect">
            <a:avLst>
              <a:gd name="adj" fmla="val 2518"/>
            </a:avLst>
          </a:prstGeom>
          <a:solidFill>
            <a:srgbClr val="FFFFFF"/>
          </a:solidFill>
          <a:ln w="12700">
            <a:solidFill>
              <a:srgbClr val="E4EAF2"/>
            </a:solidFill>
            <a:prstDash val="solid"/>
          </a:ln>
          <a:effectLst>
            <a:outerShdw sx="100000" sy="100000" kx="0" ky="0" algn="bl" rotWithShape="0" blurRad="2.31268585849e+21" dist="660767388140000000000" dir="6.9984e+25">
              <a:srgbClr val="9DB0CC">
                <a:alpha val="2.2e+24"/>
              </a:srgbClr>
            </a:outerShdw>
          </a:effectLst>
        </p:spPr>
      </p:sp>
      <p:sp>
        <p:nvSpPr>
          <p:cNvPr id="11" name="Shape 9"/>
          <p:cNvSpPr/>
          <p:nvPr/>
        </p:nvSpPr>
        <p:spPr>
          <a:xfrm>
            <a:off x="548640" y="1783080"/>
            <a:ext cx="82296" cy="3246120"/>
          </a:xfrm>
          <a:prstGeom prst="rect">
            <a:avLst/>
          </a:prstGeom>
          <a:solidFill>
            <a:srgbClr val="2563EB"/>
          </a:solidFill>
          <a:ln/>
        </p:spPr>
      </p:sp>
      <p:sp>
        <p:nvSpPr>
          <p:cNvPr id="12" name="Shape 10"/>
          <p:cNvSpPr/>
          <p:nvPr/>
        </p:nvSpPr>
        <p:spPr>
          <a:xfrm>
            <a:off x="1435608" y="2103120"/>
            <a:ext cx="768096" cy="768096"/>
          </a:xfrm>
          <a:prstGeom prst="ellipse">
            <a:avLst/>
          </a:prstGeom>
          <a:solidFill>
            <a:srgbClr val="EAF1FE"/>
          </a:solidFill>
          <a:ln/>
        </p:spPr>
      </p:sp>
      <p:sp>
        <p:nvSpPr>
          <p:cNvPr id="13" name="Text 11"/>
          <p:cNvSpPr/>
          <p:nvPr/>
        </p:nvSpPr>
        <p:spPr>
          <a:xfrm>
            <a:off x="1435608" y="2093976"/>
            <a:ext cx="768096" cy="768096"/>
          </a:xfrm>
          <a:prstGeom prst="rect">
            <a:avLst/>
          </a:prstGeom>
          <a:noFill/>
          <a:ln/>
        </p:spPr>
        <p:txBody>
          <a:bodyPr wrap="square" lIns="0" tIns="0" rIns="0" bIns="0" rtlCol="0" anchor="ctr"/>
          <a:lstStyle/>
          <a:p>
            <a:pPr algn="ctr" indent="0" marL="0">
              <a:buNone/>
            </a:pPr>
            <a:r>
              <a:rPr lang="en-US" sz="2600" b="1" dirty="0">
                <a:solidFill>
                  <a:srgbClr val="2563EB"/>
                </a:solidFill>
                <a:latin typeface="Calibri" pitchFamily="34" charset="0"/>
                <a:ea typeface="Calibri" pitchFamily="34" charset="-122"/>
                <a:cs typeface="Calibri" pitchFamily="34" charset="-120"/>
              </a:rPr>
              <a:t>▤</a:t>
            </a:r>
            <a:endParaRPr lang="en-US" sz="2600" dirty="0"/>
          </a:p>
        </p:txBody>
      </p:sp>
      <p:sp>
        <p:nvSpPr>
          <p:cNvPr id="14" name="Text 12"/>
          <p:cNvSpPr/>
          <p:nvPr/>
        </p:nvSpPr>
        <p:spPr>
          <a:xfrm>
            <a:off x="804672" y="3017520"/>
            <a:ext cx="2084832" cy="228600"/>
          </a:xfrm>
          <a:prstGeom prst="rect">
            <a:avLst/>
          </a:prstGeom>
          <a:noFill/>
          <a:ln/>
        </p:spPr>
        <p:txBody>
          <a:bodyPr wrap="square" lIns="0" tIns="0" rIns="0" bIns="0" rtlCol="0" anchor="t"/>
          <a:lstStyle/>
          <a:p>
            <a:pPr indent="0" marL="0">
              <a:buNone/>
            </a:pPr>
            <a:r>
              <a:rPr lang="en-US" sz="900" b="1" spc="100" kern="0" dirty="0">
                <a:solidFill>
                  <a:srgbClr val="8A97A8"/>
                </a:solidFill>
                <a:latin typeface="Calibri" pitchFamily="34" charset="0"/>
                <a:ea typeface="Calibri" pitchFamily="34" charset="-122"/>
                <a:cs typeface="Calibri" pitchFamily="34" charset="-120"/>
              </a:rPr>
              <a:t>STEP 1</a:t>
            </a:r>
            <a:endParaRPr lang="en-US" sz="900" dirty="0"/>
          </a:p>
        </p:txBody>
      </p:sp>
      <p:sp>
        <p:nvSpPr>
          <p:cNvPr id="15" name="Text 13"/>
          <p:cNvSpPr/>
          <p:nvPr/>
        </p:nvSpPr>
        <p:spPr>
          <a:xfrm>
            <a:off x="804672" y="3246120"/>
            <a:ext cx="2084832" cy="365760"/>
          </a:xfrm>
          <a:prstGeom prst="rect">
            <a:avLst/>
          </a:prstGeom>
          <a:noFill/>
          <a:ln/>
        </p:spPr>
        <p:txBody>
          <a:bodyPr wrap="square" lIns="0" tIns="0" rIns="0" bIns="0" rtlCol="0" anchor="t"/>
          <a:lstStyle/>
          <a:p>
            <a:pPr indent="0" marL="0">
              <a:buNone/>
            </a:pPr>
            <a:r>
              <a:rPr lang="en-US" sz="1700" b="1" dirty="0">
                <a:solidFill>
                  <a:srgbClr val="2563EB"/>
                </a:solidFill>
                <a:latin typeface="Calibri" pitchFamily="34" charset="0"/>
                <a:ea typeface="Calibri" pitchFamily="34" charset="-122"/>
                <a:cs typeface="Calibri" pitchFamily="34" charset="-120"/>
              </a:rPr>
              <a:t>Remembers</a:t>
            </a:r>
            <a:endParaRPr lang="en-US" sz="1700" dirty="0"/>
          </a:p>
        </p:txBody>
      </p:sp>
      <p:sp>
        <p:nvSpPr>
          <p:cNvPr id="16" name="Text 14"/>
          <p:cNvSpPr/>
          <p:nvPr/>
        </p:nvSpPr>
        <p:spPr>
          <a:xfrm>
            <a:off x="804672" y="3749040"/>
            <a:ext cx="2039112" cy="1188720"/>
          </a:xfrm>
          <a:prstGeom prst="rect">
            <a:avLst/>
          </a:prstGeom>
          <a:noFill/>
          <a:ln/>
        </p:spPr>
        <p:txBody>
          <a:bodyPr wrap="square" lIns="0" tIns="0" rIns="0" bIns="0" rtlCol="0" anchor="t"/>
          <a:lstStyle/>
          <a:p>
            <a:pPr indent="0" marL="0">
              <a:lnSpc>
                <a:spcPct val="116000"/>
              </a:lnSpc>
              <a:buNone/>
            </a:pPr>
            <a:r>
              <a:rPr lang="en-US" sz="1100" dirty="0">
                <a:solidFill>
                  <a:srgbClr val="3E4C63"/>
                </a:solidFill>
                <a:latin typeface="Calibri" pitchFamily="34" charset="0"/>
                <a:ea typeface="Calibri" pitchFamily="34" charset="-122"/>
                <a:cs typeface="Calibri" pitchFamily="34" charset="-120"/>
              </a:rPr>
              <a:t>Every costing is saved as a "case": the part, the inputs, the result, and any real quote — shared across the team.</a:t>
            </a:r>
            <a:endParaRPr lang="en-US" sz="1100" dirty="0"/>
          </a:p>
        </p:txBody>
      </p:sp>
      <p:sp>
        <p:nvSpPr>
          <p:cNvPr id="17" name="Text 15"/>
          <p:cNvSpPr/>
          <p:nvPr/>
        </p:nvSpPr>
        <p:spPr>
          <a:xfrm>
            <a:off x="3108960" y="2697480"/>
            <a:ext cx="329184" cy="548640"/>
          </a:xfrm>
          <a:prstGeom prst="rect">
            <a:avLst/>
          </a:prstGeom>
          <a:noFill/>
          <a:ln/>
        </p:spPr>
        <p:txBody>
          <a:bodyPr wrap="square" lIns="0" tIns="0" rIns="0" bIns="0" rtlCol="0" anchor="ctr"/>
          <a:lstStyle/>
          <a:p>
            <a:pPr algn="ctr" indent="0" marL="0">
              <a:buNone/>
            </a:pPr>
            <a:r>
              <a:rPr lang="en-US" sz="2000" b="1" dirty="0">
                <a:solidFill>
                  <a:srgbClr val="4F46E5"/>
                </a:solidFill>
                <a:latin typeface="Calibri" pitchFamily="34" charset="0"/>
                <a:ea typeface="Calibri" pitchFamily="34" charset="-122"/>
                <a:cs typeface="Calibri" pitchFamily="34" charset="-120"/>
              </a:rPr>
              <a:t>→</a:t>
            </a:r>
            <a:endParaRPr lang="en-US" sz="2000" dirty="0"/>
          </a:p>
        </p:txBody>
      </p:sp>
      <p:sp>
        <p:nvSpPr>
          <p:cNvPr id="18" name="Shape 16"/>
          <p:cNvSpPr/>
          <p:nvPr/>
        </p:nvSpPr>
        <p:spPr>
          <a:xfrm>
            <a:off x="3419856" y="1783080"/>
            <a:ext cx="2542032" cy="3246120"/>
          </a:xfrm>
          <a:prstGeom prst="roundRect">
            <a:avLst>
              <a:gd name="adj" fmla="val 2518"/>
            </a:avLst>
          </a:prstGeom>
          <a:solidFill>
            <a:srgbClr val="FFFFFF"/>
          </a:solidFill>
          <a:ln w="12700">
            <a:solidFill>
              <a:srgbClr val="E4EAF2"/>
            </a:solidFill>
            <a:prstDash val="solid"/>
          </a:ln>
          <a:effectLst>
            <a:outerShdw sx="100000" sy="100000" kx="0" ky="0" algn="bl" rotWithShape="0" blurRad="2.9371110402823e+25" dist="8.391745829378e+24" dir="4.19904e+30">
              <a:srgbClr val="9DB0CC">
                <a:alpha val="2.2e+29"/>
              </a:srgbClr>
            </a:outerShdw>
          </a:effectLst>
        </p:spPr>
      </p:sp>
      <p:sp>
        <p:nvSpPr>
          <p:cNvPr id="19" name="Shape 17"/>
          <p:cNvSpPr/>
          <p:nvPr/>
        </p:nvSpPr>
        <p:spPr>
          <a:xfrm>
            <a:off x="3419856" y="1783080"/>
            <a:ext cx="82296" cy="3246120"/>
          </a:xfrm>
          <a:prstGeom prst="rect">
            <a:avLst/>
          </a:prstGeom>
          <a:solidFill>
            <a:srgbClr val="0E93B0"/>
          </a:solidFill>
          <a:ln/>
        </p:spPr>
      </p:sp>
      <p:sp>
        <p:nvSpPr>
          <p:cNvPr id="20" name="Shape 18"/>
          <p:cNvSpPr/>
          <p:nvPr/>
        </p:nvSpPr>
        <p:spPr>
          <a:xfrm>
            <a:off x="4306824" y="2103120"/>
            <a:ext cx="768096" cy="768096"/>
          </a:xfrm>
          <a:prstGeom prst="ellipse">
            <a:avLst/>
          </a:prstGeom>
          <a:solidFill>
            <a:srgbClr val="E8F6FA"/>
          </a:solidFill>
          <a:ln/>
        </p:spPr>
      </p:sp>
      <p:sp>
        <p:nvSpPr>
          <p:cNvPr id="21" name="Text 19"/>
          <p:cNvSpPr/>
          <p:nvPr/>
        </p:nvSpPr>
        <p:spPr>
          <a:xfrm>
            <a:off x="4306824" y="2093976"/>
            <a:ext cx="768096" cy="768096"/>
          </a:xfrm>
          <a:prstGeom prst="rect">
            <a:avLst/>
          </a:prstGeom>
          <a:noFill/>
          <a:ln/>
        </p:spPr>
        <p:txBody>
          <a:bodyPr wrap="square" lIns="0" tIns="0" rIns="0" bIns="0" rtlCol="0" anchor="ctr"/>
          <a:lstStyle/>
          <a:p>
            <a:pPr algn="ctr" indent="0" marL="0">
              <a:buNone/>
            </a:pPr>
            <a:r>
              <a:rPr lang="en-US" sz="2600" b="1" dirty="0">
                <a:solidFill>
                  <a:srgbClr val="0E93B0"/>
                </a:solidFill>
                <a:latin typeface="Calibri" pitchFamily="34" charset="0"/>
                <a:ea typeface="Calibri" pitchFamily="34" charset="-122"/>
                <a:cs typeface="Calibri" pitchFamily="34" charset="-120"/>
              </a:rPr>
              <a:t>◎</a:t>
            </a:r>
            <a:endParaRPr lang="en-US" sz="2600" dirty="0"/>
          </a:p>
        </p:txBody>
      </p:sp>
      <p:sp>
        <p:nvSpPr>
          <p:cNvPr id="22" name="Text 20"/>
          <p:cNvSpPr/>
          <p:nvPr/>
        </p:nvSpPr>
        <p:spPr>
          <a:xfrm>
            <a:off x="3675888" y="3017520"/>
            <a:ext cx="2084832" cy="228600"/>
          </a:xfrm>
          <a:prstGeom prst="rect">
            <a:avLst/>
          </a:prstGeom>
          <a:noFill/>
          <a:ln/>
        </p:spPr>
        <p:txBody>
          <a:bodyPr wrap="square" lIns="0" tIns="0" rIns="0" bIns="0" rtlCol="0" anchor="t"/>
          <a:lstStyle/>
          <a:p>
            <a:pPr indent="0" marL="0">
              <a:buNone/>
            </a:pPr>
            <a:r>
              <a:rPr lang="en-US" sz="900" b="1" spc="100" kern="0" dirty="0">
                <a:solidFill>
                  <a:srgbClr val="8A97A8"/>
                </a:solidFill>
                <a:latin typeface="Calibri" pitchFamily="34" charset="0"/>
                <a:ea typeface="Calibri" pitchFamily="34" charset="-122"/>
                <a:cs typeface="Calibri" pitchFamily="34" charset="-120"/>
              </a:rPr>
              <a:t>STEP 2</a:t>
            </a:r>
            <a:endParaRPr lang="en-US" sz="900" dirty="0"/>
          </a:p>
        </p:txBody>
      </p:sp>
      <p:sp>
        <p:nvSpPr>
          <p:cNvPr id="23" name="Text 21"/>
          <p:cNvSpPr/>
          <p:nvPr/>
        </p:nvSpPr>
        <p:spPr>
          <a:xfrm>
            <a:off x="3675888" y="3246120"/>
            <a:ext cx="2084832" cy="365760"/>
          </a:xfrm>
          <a:prstGeom prst="rect">
            <a:avLst/>
          </a:prstGeom>
          <a:noFill/>
          <a:ln/>
        </p:spPr>
        <p:txBody>
          <a:bodyPr wrap="square" lIns="0" tIns="0" rIns="0" bIns="0" rtlCol="0" anchor="t"/>
          <a:lstStyle/>
          <a:p>
            <a:pPr indent="0" marL="0">
              <a:buNone/>
            </a:pPr>
            <a:r>
              <a:rPr lang="en-US" sz="1700" b="1" dirty="0">
                <a:solidFill>
                  <a:srgbClr val="0E93B0"/>
                </a:solidFill>
                <a:latin typeface="Calibri" pitchFamily="34" charset="0"/>
                <a:ea typeface="Calibri" pitchFamily="34" charset="-122"/>
                <a:cs typeface="Calibri" pitchFamily="34" charset="-120"/>
              </a:rPr>
              <a:t>Recognises</a:t>
            </a:r>
            <a:endParaRPr lang="en-US" sz="1700" dirty="0"/>
          </a:p>
        </p:txBody>
      </p:sp>
      <p:sp>
        <p:nvSpPr>
          <p:cNvPr id="24" name="Text 22"/>
          <p:cNvSpPr/>
          <p:nvPr/>
        </p:nvSpPr>
        <p:spPr>
          <a:xfrm>
            <a:off x="3675888" y="3749040"/>
            <a:ext cx="2039112" cy="1188720"/>
          </a:xfrm>
          <a:prstGeom prst="rect">
            <a:avLst/>
          </a:prstGeom>
          <a:noFill/>
          <a:ln/>
        </p:spPr>
        <p:txBody>
          <a:bodyPr wrap="square" lIns="0" tIns="0" rIns="0" bIns="0" rtlCol="0" anchor="t"/>
          <a:lstStyle/>
          <a:p>
            <a:pPr indent="0" marL="0">
              <a:lnSpc>
                <a:spcPct val="116000"/>
              </a:lnSpc>
              <a:buNone/>
            </a:pPr>
            <a:r>
              <a:rPr lang="en-US" sz="1100" dirty="0">
                <a:solidFill>
                  <a:srgbClr val="3E4C63"/>
                </a:solidFill>
                <a:latin typeface="Calibri" pitchFamily="34" charset="0"/>
                <a:ea typeface="Calibri" pitchFamily="34" charset="-122"/>
                <a:cs typeface="Calibri" pitchFamily="34" charset="-120"/>
              </a:rPr>
              <a:t>Start a new part and it instantly finds the most similar past parts — like a senior saying "we've done this before".</a:t>
            </a:r>
            <a:endParaRPr lang="en-US" sz="1100" dirty="0"/>
          </a:p>
        </p:txBody>
      </p:sp>
      <p:sp>
        <p:nvSpPr>
          <p:cNvPr id="25" name="Text 23"/>
          <p:cNvSpPr/>
          <p:nvPr/>
        </p:nvSpPr>
        <p:spPr>
          <a:xfrm>
            <a:off x="5980176" y="2697480"/>
            <a:ext cx="329184" cy="548640"/>
          </a:xfrm>
          <a:prstGeom prst="rect">
            <a:avLst/>
          </a:prstGeom>
          <a:noFill/>
          <a:ln/>
        </p:spPr>
        <p:txBody>
          <a:bodyPr wrap="square" lIns="0" tIns="0" rIns="0" bIns="0" rtlCol="0" anchor="ctr"/>
          <a:lstStyle/>
          <a:p>
            <a:pPr algn="ctr" indent="0" marL="0">
              <a:buNone/>
            </a:pPr>
            <a:r>
              <a:rPr lang="en-US" sz="2000" b="1" dirty="0">
                <a:solidFill>
                  <a:srgbClr val="4F46E5"/>
                </a:solidFill>
                <a:latin typeface="Calibri" pitchFamily="34" charset="0"/>
                <a:ea typeface="Calibri" pitchFamily="34" charset="-122"/>
                <a:cs typeface="Calibri" pitchFamily="34" charset="-120"/>
              </a:rPr>
              <a:t>→</a:t>
            </a:r>
            <a:endParaRPr lang="en-US" sz="2000" dirty="0"/>
          </a:p>
        </p:txBody>
      </p:sp>
      <p:sp>
        <p:nvSpPr>
          <p:cNvPr id="26" name="Shape 24"/>
          <p:cNvSpPr/>
          <p:nvPr/>
        </p:nvSpPr>
        <p:spPr>
          <a:xfrm>
            <a:off x="6291072" y="1783080"/>
            <a:ext cx="2542032" cy="3246120"/>
          </a:xfrm>
          <a:prstGeom prst="roundRect">
            <a:avLst>
              <a:gd name="adj" fmla="val 2518"/>
            </a:avLst>
          </a:prstGeom>
          <a:solidFill>
            <a:srgbClr val="FFFFFF"/>
          </a:solidFill>
          <a:ln w="12700">
            <a:solidFill>
              <a:srgbClr val="E4EAF2"/>
            </a:solidFill>
            <a:prstDash val="solid"/>
          </a:ln>
          <a:effectLst>
            <a:outerShdw sx="100000" sy="100000" kx="0" ky="0" algn="bl" rotWithShape="0" blurRad="3.730131021158521e+29" dist="1.0657517203310059e+29" dir="2.519424e+35">
              <a:srgbClr val="9DB0CC">
                <a:alpha val="2.2e+34"/>
              </a:srgbClr>
            </a:outerShdw>
          </a:effectLst>
        </p:spPr>
      </p:sp>
      <p:sp>
        <p:nvSpPr>
          <p:cNvPr id="27" name="Shape 25"/>
          <p:cNvSpPr/>
          <p:nvPr/>
        </p:nvSpPr>
        <p:spPr>
          <a:xfrm>
            <a:off x="6291072" y="1783080"/>
            <a:ext cx="82296" cy="3246120"/>
          </a:xfrm>
          <a:prstGeom prst="rect">
            <a:avLst/>
          </a:prstGeom>
          <a:solidFill>
            <a:srgbClr val="7C3AED"/>
          </a:solidFill>
          <a:ln/>
        </p:spPr>
      </p:sp>
      <p:sp>
        <p:nvSpPr>
          <p:cNvPr id="28" name="Shape 26"/>
          <p:cNvSpPr/>
          <p:nvPr/>
        </p:nvSpPr>
        <p:spPr>
          <a:xfrm>
            <a:off x="7178040" y="2103120"/>
            <a:ext cx="768096" cy="768096"/>
          </a:xfrm>
          <a:prstGeom prst="ellipse">
            <a:avLst/>
          </a:prstGeom>
          <a:solidFill>
            <a:srgbClr val="F3EEFE"/>
          </a:solidFill>
          <a:ln/>
        </p:spPr>
      </p:sp>
      <p:sp>
        <p:nvSpPr>
          <p:cNvPr id="29" name="Text 27"/>
          <p:cNvSpPr/>
          <p:nvPr/>
        </p:nvSpPr>
        <p:spPr>
          <a:xfrm>
            <a:off x="7178040" y="2093976"/>
            <a:ext cx="768096" cy="768096"/>
          </a:xfrm>
          <a:prstGeom prst="rect">
            <a:avLst/>
          </a:prstGeom>
          <a:noFill/>
          <a:ln/>
        </p:spPr>
        <p:txBody>
          <a:bodyPr wrap="square" lIns="0" tIns="0" rIns="0" bIns="0" rtlCol="0" anchor="ctr"/>
          <a:lstStyle/>
          <a:p>
            <a:pPr algn="ctr" indent="0" marL="0">
              <a:buNone/>
            </a:pPr>
            <a:r>
              <a:rPr lang="en-US" sz="2600" b="1" dirty="0">
                <a:solidFill>
                  <a:srgbClr val="7C3AED"/>
                </a:solidFill>
                <a:latin typeface="Calibri" pitchFamily="34" charset="0"/>
                <a:ea typeface="Calibri" pitchFamily="34" charset="-122"/>
                <a:cs typeface="Calibri" pitchFamily="34" charset="-120"/>
              </a:rPr>
              <a:t>⟳</a:t>
            </a:r>
            <a:endParaRPr lang="en-US" sz="2600" dirty="0"/>
          </a:p>
        </p:txBody>
      </p:sp>
      <p:sp>
        <p:nvSpPr>
          <p:cNvPr id="30" name="Text 28"/>
          <p:cNvSpPr/>
          <p:nvPr/>
        </p:nvSpPr>
        <p:spPr>
          <a:xfrm>
            <a:off x="6547104" y="3017520"/>
            <a:ext cx="2084832" cy="228600"/>
          </a:xfrm>
          <a:prstGeom prst="rect">
            <a:avLst/>
          </a:prstGeom>
          <a:noFill/>
          <a:ln/>
        </p:spPr>
        <p:txBody>
          <a:bodyPr wrap="square" lIns="0" tIns="0" rIns="0" bIns="0" rtlCol="0" anchor="t"/>
          <a:lstStyle/>
          <a:p>
            <a:pPr indent="0" marL="0">
              <a:buNone/>
            </a:pPr>
            <a:r>
              <a:rPr lang="en-US" sz="900" b="1" spc="100" kern="0" dirty="0">
                <a:solidFill>
                  <a:srgbClr val="8A97A8"/>
                </a:solidFill>
                <a:latin typeface="Calibri" pitchFamily="34" charset="0"/>
                <a:ea typeface="Calibri" pitchFamily="34" charset="-122"/>
                <a:cs typeface="Calibri" pitchFamily="34" charset="-120"/>
              </a:rPr>
              <a:t>STEP 3</a:t>
            </a:r>
            <a:endParaRPr lang="en-US" sz="900" dirty="0"/>
          </a:p>
        </p:txBody>
      </p:sp>
      <p:sp>
        <p:nvSpPr>
          <p:cNvPr id="31" name="Text 29"/>
          <p:cNvSpPr/>
          <p:nvPr/>
        </p:nvSpPr>
        <p:spPr>
          <a:xfrm>
            <a:off x="6547104" y="3246120"/>
            <a:ext cx="2084832" cy="365760"/>
          </a:xfrm>
          <a:prstGeom prst="rect">
            <a:avLst/>
          </a:prstGeom>
          <a:noFill/>
          <a:ln/>
        </p:spPr>
        <p:txBody>
          <a:bodyPr wrap="square" lIns="0" tIns="0" rIns="0" bIns="0" rtlCol="0" anchor="t"/>
          <a:lstStyle/>
          <a:p>
            <a:pPr indent="0" marL="0">
              <a:buNone/>
            </a:pPr>
            <a:r>
              <a:rPr lang="en-US" sz="1700" b="1" dirty="0">
                <a:solidFill>
                  <a:srgbClr val="7C3AED"/>
                </a:solidFill>
                <a:latin typeface="Calibri" pitchFamily="34" charset="0"/>
                <a:ea typeface="Calibri" pitchFamily="34" charset="-122"/>
                <a:cs typeface="Calibri" pitchFamily="34" charset="-120"/>
              </a:rPr>
              <a:t>Self-corrects</a:t>
            </a:r>
            <a:endParaRPr lang="en-US" sz="1700" dirty="0"/>
          </a:p>
        </p:txBody>
      </p:sp>
      <p:sp>
        <p:nvSpPr>
          <p:cNvPr id="32" name="Text 30"/>
          <p:cNvSpPr/>
          <p:nvPr/>
        </p:nvSpPr>
        <p:spPr>
          <a:xfrm>
            <a:off x="6547104" y="3749040"/>
            <a:ext cx="2039112" cy="1188720"/>
          </a:xfrm>
          <a:prstGeom prst="rect">
            <a:avLst/>
          </a:prstGeom>
          <a:noFill/>
          <a:ln/>
        </p:spPr>
        <p:txBody>
          <a:bodyPr wrap="square" lIns="0" tIns="0" rIns="0" bIns="0" rtlCol="0" anchor="t"/>
          <a:lstStyle/>
          <a:p>
            <a:pPr indent="0" marL="0">
              <a:lnSpc>
                <a:spcPct val="116000"/>
              </a:lnSpc>
              <a:buNone/>
            </a:pPr>
            <a:r>
              <a:rPr lang="en-US" sz="1100" dirty="0">
                <a:solidFill>
                  <a:srgbClr val="3E4C63"/>
                </a:solidFill>
                <a:latin typeface="Calibri" pitchFamily="34" charset="0"/>
                <a:ea typeface="Calibri" pitchFamily="34" charset="-122"/>
                <a:cs typeface="Calibri" pitchFamily="34" charset="-120"/>
              </a:rPr>
              <a:t>Log the real supplier price and the tool measures its own error, then corrects future estimates. Measured, not claimed.</a:t>
            </a:r>
            <a:endParaRPr lang="en-US" sz="1100" dirty="0"/>
          </a:p>
        </p:txBody>
      </p:sp>
      <p:sp>
        <p:nvSpPr>
          <p:cNvPr id="33" name="Text 31"/>
          <p:cNvSpPr/>
          <p:nvPr/>
        </p:nvSpPr>
        <p:spPr>
          <a:xfrm>
            <a:off x="8851392" y="2697480"/>
            <a:ext cx="329184" cy="548640"/>
          </a:xfrm>
          <a:prstGeom prst="rect">
            <a:avLst/>
          </a:prstGeom>
          <a:noFill/>
          <a:ln/>
        </p:spPr>
        <p:txBody>
          <a:bodyPr wrap="square" lIns="0" tIns="0" rIns="0" bIns="0" rtlCol="0" anchor="ctr"/>
          <a:lstStyle/>
          <a:p>
            <a:pPr algn="ctr" indent="0" marL="0">
              <a:buNone/>
            </a:pPr>
            <a:r>
              <a:rPr lang="en-US" sz="2000" b="1" dirty="0">
                <a:solidFill>
                  <a:srgbClr val="4F46E5"/>
                </a:solidFill>
                <a:latin typeface="Calibri" pitchFamily="34" charset="0"/>
                <a:ea typeface="Calibri" pitchFamily="34" charset="-122"/>
                <a:cs typeface="Calibri" pitchFamily="34" charset="-120"/>
              </a:rPr>
              <a:t>→</a:t>
            </a:r>
            <a:endParaRPr lang="en-US" sz="2000" dirty="0"/>
          </a:p>
        </p:txBody>
      </p:sp>
      <p:sp>
        <p:nvSpPr>
          <p:cNvPr id="34" name="Shape 32"/>
          <p:cNvSpPr/>
          <p:nvPr/>
        </p:nvSpPr>
        <p:spPr>
          <a:xfrm>
            <a:off x="9162288" y="1783080"/>
            <a:ext cx="2542032" cy="3246120"/>
          </a:xfrm>
          <a:prstGeom prst="roundRect">
            <a:avLst>
              <a:gd name="adj" fmla="val 2518"/>
            </a:avLst>
          </a:prstGeom>
          <a:solidFill>
            <a:srgbClr val="FFFFFF"/>
          </a:solidFill>
          <a:ln w="12700">
            <a:solidFill>
              <a:srgbClr val="E4EAF2"/>
            </a:solidFill>
            <a:prstDash val="solid"/>
          </a:ln>
          <a:effectLst>
            <a:outerShdw sx="100000" sy="100000" kx="0" ky="0" algn="bl" rotWithShape="0" blurRad="4.737266396871321e+33" dist="1.3535046848203775e+33" dir="1.5116544e+40">
              <a:srgbClr val="9DB0CC">
                <a:alpha val="2.2e+39"/>
              </a:srgbClr>
            </a:outerShdw>
          </a:effectLst>
        </p:spPr>
      </p:sp>
      <p:sp>
        <p:nvSpPr>
          <p:cNvPr id="35" name="Shape 33"/>
          <p:cNvSpPr/>
          <p:nvPr/>
        </p:nvSpPr>
        <p:spPr>
          <a:xfrm>
            <a:off x="9162288" y="1783080"/>
            <a:ext cx="82296" cy="3246120"/>
          </a:xfrm>
          <a:prstGeom prst="rect">
            <a:avLst/>
          </a:prstGeom>
          <a:solidFill>
            <a:srgbClr val="0EA472"/>
          </a:solidFill>
          <a:ln/>
        </p:spPr>
      </p:sp>
      <p:sp>
        <p:nvSpPr>
          <p:cNvPr id="36" name="Shape 34"/>
          <p:cNvSpPr/>
          <p:nvPr/>
        </p:nvSpPr>
        <p:spPr>
          <a:xfrm>
            <a:off x="10049256" y="2103120"/>
            <a:ext cx="768096" cy="768096"/>
          </a:xfrm>
          <a:prstGeom prst="ellipse">
            <a:avLst/>
          </a:prstGeom>
          <a:solidFill>
            <a:srgbClr val="E7F7F0"/>
          </a:solidFill>
          <a:ln/>
        </p:spPr>
      </p:sp>
      <p:sp>
        <p:nvSpPr>
          <p:cNvPr id="37" name="Text 35"/>
          <p:cNvSpPr/>
          <p:nvPr/>
        </p:nvSpPr>
        <p:spPr>
          <a:xfrm>
            <a:off x="10049256" y="2093976"/>
            <a:ext cx="768096" cy="768096"/>
          </a:xfrm>
          <a:prstGeom prst="rect">
            <a:avLst/>
          </a:prstGeom>
          <a:noFill/>
          <a:ln/>
        </p:spPr>
        <p:txBody>
          <a:bodyPr wrap="square" lIns="0" tIns="0" rIns="0" bIns="0" rtlCol="0" anchor="ctr"/>
          <a:lstStyle/>
          <a:p>
            <a:pPr algn="ctr" indent="0" marL="0">
              <a:buNone/>
            </a:pPr>
            <a:r>
              <a:rPr lang="en-US" sz="2600" b="1" dirty="0">
                <a:solidFill>
                  <a:srgbClr val="0EA472"/>
                </a:solidFill>
                <a:latin typeface="Calibri" pitchFamily="34" charset="0"/>
                <a:ea typeface="Calibri" pitchFamily="34" charset="-122"/>
                <a:cs typeface="Calibri" pitchFamily="34" charset="-120"/>
              </a:rPr>
              <a:t>➤</a:t>
            </a:r>
            <a:endParaRPr lang="en-US" sz="2600" dirty="0"/>
          </a:p>
        </p:txBody>
      </p:sp>
      <p:sp>
        <p:nvSpPr>
          <p:cNvPr id="38" name="Text 36"/>
          <p:cNvSpPr/>
          <p:nvPr/>
        </p:nvSpPr>
        <p:spPr>
          <a:xfrm>
            <a:off x="9418320" y="3017520"/>
            <a:ext cx="2084832" cy="228600"/>
          </a:xfrm>
          <a:prstGeom prst="rect">
            <a:avLst/>
          </a:prstGeom>
          <a:noFill/>
          <a:ln/>
        </p:spPr>
        <p:txBody>
          <a:bodyPr wrap="square" lIns="0" tIns="0" rIns="0" bIns="0" rtlCol="0" anchor="t"/>
          <a:lstStyle/>
          <a:p>
            <a:pPr indent="0" marL="0">
              <a:buNone/>
            </a:pPr>
            <a:r>
              <a:rPr lang="en-US" sz="900" b="1" spc="100" kern="0" dirty="0">
                <a:solidFill>
                  <a:srgbClr val="8A97A8"/>
                </a:solidFill>
                <a:latin typeface="Calibri" pitchFamily="34" charset="0"/>
                <a:ea typeface="Calibri" pitchFamily="34" charset="-122"/>
                <a:cs typeface="Calibri" pitchFamily="34" charset="-120"/>
              </a:rPr>
              <a:t>STEP 4</a:t>
            </a:r>
            <a:endParaRPr lang="en-US" sz="900" dirty="0"/>
          </a:p>
        </p:txBody>
      </p:sp>
      <p:sp>
        <p:nvSpPr>
          <p:cNvPr id="39" name="Text 37"/>
          <p:cNvSpPr/>
          <p:nvPr/>
        </p:nvSpPr>
        <p:spPr>
          <a:xfrm>
            <a:off x="9418320" y="3246120"/>
            <a:ext cx="2084832" cy="365760"/>
          </a:xfrm>
          <a:prstGeom prst="rect">
            <a:avLst/>
          </a:prstGeom>
          <a:noFill/>
          <a:ln/>
        </p:spPr>
        <p:txBody>
          <a:bodyPr wrap="square" lIns="0" tIns="0" rIns="0" bIns="0" rtlCol="0" anchor="t"/>
          <a:lstStyle/>
          <a:p>
            <a:pPr indent="0" marL="0">
              <a:buNone/>
            </a:pPr>
            <a:r>
              <a:rPr lang="en-US" sz="1700" b="1" dirty="0">
                <a:solidFill>
                  <a:srgbClr val="0EA472"/>
                </a:solidFill>
                <a:latin typeface="Calibri" pitchFamily="34" charset="0"/>
                <a:ea typeface="Calibri" pitchFamily="34" charset="-122"/>
                <a:cs typeface="Calibri" pitchFamily="34" charset="-120"/>
              </a:rPr>
              <a:t>Acts</a:t>
            </a:r>
            <a:endParaRPr lang="en-US" sz="1700" dirty="0"/>
          </a:p>
        </p:txBody>
      </p:sp>
      <p:sp>
        <p:nvSpPr>
          <p:cNvPr id="40" name="Text 38"/>
          <p:cNvSpPr/>
          <p:nvPr/>
        </p:nvSpPr>
        <p:spPr>
          <a:xfrm>
            <a:off x="9418320" y="3749040"/>
            <a:ext cx="2039112" cy="1188720"/>
          </a:xfrm>
          <a:prstGeom prst="rect">
            <a:avLst/>
          </a:prstGeom>
          <a:noFill/>
          <a:ln/>
        </p:spPr>
        <p:txBody>
          <a:bodyPr wrap="square" lIns="0" tIns="0" rIns="0" bIns="0" rtlCol="0" anchor="t"/>
          <a:lstStyle/>
          <a:p>
            <a:pPr indent="0" marL="0">
              <a:lnSpc>
                <a:spcPct val="116000"/>
              </a:lnSpc>
              <a:buNone/>
            </a:pPr>
            <a:r>
              <a:rPr lang="en-US" sz="1100" dirty="0">
                <a:solidFill>
                  <a:srgbClr val="3E4C63"/>
                </a:solidFill>
                <a:latin typeface="Calibri" pitchFamily="34" charset="0"/>
                <a:ea typeface="Calibri" pitchFamily="34" charset="-122"/>
                <a:cs typeface="Calibri" pitchFamily="34" charset="-120"/>
              </a:rPr>
              <a:t>A background agent re-checks all stored parts on a schedule and raises findings by itself — "you're overpaying here".</a:t>
            </a:r>
            <a:endParaRPr lang="en-US" sz="1100" dirty="0"/>
          </a:p>
        </p:txBody>
      </p:sp>
      <p:sp>
        <p:nvSpPr>
          <p:cNvPr id="41" name="Shape 39"/>
          <p:cNvSpPr/>
          <p:nvPr/>
        </p:nvSpPr>
        <p:spPr>
          <a:xfrm>
            <a:off x="548640" y="5257800"/>
            <a:ext cx="11091672" cy="749808"/>
          </a:xfrm>
          <a:prstGeom prst="roundRect">
            <a:avLst>
              <a:gd name="adj" fmla="val 8537"/>
            </a:avLst>
          </a:prstGeom>
          <a:solidFill>
            <a:srgbClr val="F4F7FB"/>
          </a:solidFill>
          <a:ln w="12700">
            <a:solidFill>
              <a:srgbClr val="E4EAF2"/>
            </a:solidFill>
            <a:prstDash val="solid"/>
          </a:ln>
        </p:spPr>
      </p:sp>
      <p:sp>
        <p:nvSpPr>
          <p:cNvPr id="42" name="Text 40"/>
          <p:cNvSpPr/>
          <p:nvPr/>
        </p:nvSpPr>
        <p:spPr>
          <a:xfrm>
            <a:off x="868680" y="5257800"/>
            <a:ext cx="10424160" cy="749808"/>
          </a:xfrm>
          <a:prstGeom prst="rect">
            <a:avLst/>
          </a:prstGeom>
          <a:noFill/>
          <a:ln/>
        </p:spPr>
        <p:txBody>
          <a:bodyPr wrap="square" lIns="0" tIns="0" rIns="0" bIns="0" rtlCol="0" anchor="ctr"/>
          <a:lstStyle/>
          <a:p>
            <a:pPr indent="0" marL="0">
              <a:lnSpc>
                <a:spcPct val="112000"/>
              </a:lnSpc>
              <a:buNone/>
            </a:pPr>
            <a:r>
              <a:rPr lang="en-US" sz="1200" b="1" dirty="0">
                <a:solidFill>
                  <a:srgbClr val="0F1E3D"/>
                </a:solidFill>
                <a:latin typeface="Calibri" pitchFamily="34" charset="0"/>
                <a:ea typeface="Calibri" pitchFamily="34" charset="-122"/>
                <a:cs typeface="Calibri" pitchFamily="34" charset="-120"/>
              </a:rPr>
              <a:t>Deliberate design choice:  </a:t>
            </a:r>
            <a:pPr indent="0" marL="0">
              <a:lnSpc>
                <a:spcPct val="112000"/>
              </a:lnSpc>
              <a:buNone/>
            </a:pPr>
            <a:r>
              <a:rPr lang="en-US" sz="1200" dirty="0">
                <a:solidFill>
                  <a:srgbClr val="3E4C63"/>
                </a:solidFill>
                <a:latin typeface="Calibri" pitchFamily="34" charset="0"/>
                <a:ea typeface="Calibri" pitchFamily="34" charset="-122"/>
                <a:cs typeface="Calibri" pitchFamily="34" charset="-120"/>
              </a:rPr>
              <a:t>the learning is statistics over our own data — every suggestion shows its source parts and its arithmetic. Auditable and defensible in front of a supplier, which is where costing tools win or lose.</a:t>
            </a:r>
            <a:endParaRPr lang="en-US" sz="1200" dirty="0"/>
          </a:p>
        </p:txBody>
      </p:sp>
      <p:sp>
        <p:nvSpPr>
          <p:cNvPr id="43" name="Shape 41"/>
          <p:cNvSpPr/>
          <p:nvPr/>
        </p:nvSpPr>
        <p:spPr>
          <a:xfrm>
            <a:off x="548640" y="6400800"/>
            <a:ext cx="11094415" cy="12802"/>
          </a:xfrm>
          <a:prstGeom prst="rect">
            <a:avLst/>
          </a:prstGeom>
          <a:solidFill>
            <a:srgbClr val="E4EAF2"/>
          </a:solidFill>
          <a:ln/>
        </p:spPr>
      </p:sp>
      <p:sp>
        <p:nvSpPr>
          <p:cNvPr id="44" name="Text 42"/>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Agentic AI Management Briefing</a:t>
            </a:r>
            <a:endParaRPr lang="en-US" sz="850" dirty="0"/>
          </a:p>
        </p:txBody>
      </p:sp>
      <p:sp>
        <p:nvSpPr>
          <p:cNvPr id="45" name="Text 43"/>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3 / 20</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DA5A0"/>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DA5A0"/>
                </a:solidFill>
                <a:latin typeface="Calibri" pitchFamily="34" charset="0"/>
                <a:ea typeface="Calibri" pitchFamily="34" charset="-122"/>
                <a:cs typeface="Calibri" pitchFamily="34" charset="-120"/>
              </a:rPr>
              <a:t>HOW IT WORKS</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500" b="1" dirty="0">
                <a:solidFill>
                  <a:srgbClr val="0F1E3D"/>
                </a:solidFill>
                <a:latin typeface="Calibri" pitchFamily="34" charset="0"/>
                <a:ea typeface="Calibri" pitchFamily="34" charset="-122"/>
                <a:cs typeface="Calibri" pitchFamily="34" charset="-120"/>
              </a:rPr>
              <a:t>How it works — the learning loop</a:t>
            </a:r>
            <a:endParaRPr lang="en-US" sz="2500" dirty="0"/>
          </a:p>
        </p:txBody>
      </p:sp>
      <p:sp>
        <p:nvSpPr>
          <p:cNvPr id="9" name="Shape 7"/>
          <p:cNvSpPr/>
          <p:nvPr/>
        </p:nvSpPr>
        <p:spPr>
          <a:xfrm>
            <a:off x="548640" y="1371600"/>
            <a:ext cx="1051560" cy="45720"/>
          </a:xfrm>
          <a:prstGeom prst="rect">
            <a:avLst/>
          </a:prstGeom>
          <a:solidFill>
            <a:srgbClr val="0DA5A0"/>
          </a:solidFill>
          <a:ln/>
        </p:spPr>
      </p:sp>
      <p:sp>
        <p:nvSpPr>
          <p:cNvPr id="10" name="Shape 8"/>
          <p:cNvSpPr/>
          <p:nvPr/>
        </p:nvSpPr>
        <p:spPr>
          <a:xfrm>
            <a:off x="548640" y="1783080"/>
            <a:ext cx="1664208" cy="1554480"/>
          </a:xfrm>
          <a:prstGeom prst="roundRect">
            <a:avLst>
              <a:gd name="adj" fmla="val 4118"/>
            </a:avLst>
          </a:prstGeom>
          <a:solidFill>
            <a:srgbClr val="FFFFFF"/>
          </a:solidFill>
          <a:ln w="12700">
            <a:solidFill>
              <a:srgbClr val="E4EAF2"/>
            </a:solidFill>
            <a:prstDash val="solid"/>
          </a:ln>
          <a:effectLst>
            <a:outerShdw sx="100000" sy="100000" kx="0" ky="0" algn="bl" rotWithShape="0" blurRad="6.016328324026578e+37" dist="1.7189509497218795e+37" dir="9.069926400000001e+44">
              <a:srgbClr val="9DB0CC">
                <a:alpha val="2.2e+44"/>
              </a:srgbClr>
            </a:outerShdw>
          </a:effectLst>
        </p:spPr>
      </p:sp>
      <p:sp>
        <p:nvSpPr>
          <p:cNvPr id="11" name="Shape 9"/>
          <p:cNvSpPr/>
          <p:nvPr/>
        </p:nvSpPr>
        <p:spPr>
          <a:xfrm>
            <a:off x="548640" y="1783080"/>
            <a:ext cx="1664208" cy="91440"/>
          </a:xfrm>
          <a:prstGeom prst="rect">
            <a:avLst/>
          </a:prstGeom>
          <a:solidFill>
            <a:srgbClr val="2563EB"/>
          </a:solidFill>
          <a:ln/>
        </p:spPr>
      </p:sp>
      <p:sp>
        <p:nvSpPr>
          <p:cNvPr id="12" name="Shape 10"/>
          <p:cNvSpPr/>
          <p:nvPr/>
        </p:nvSpPr>
        <p:spPr>
          <a:xfrm>
            <a:off x="1161288" y="2039112"/>
            <a:ext cx="438912" cy="438912"/>
          </a:xfrm>
          <a:prstGeom prst="ellipse">
            <a:avLst/>
          </a:prstGeom>
          <a:solidFill>
            <a:srgbClr val="2563EB"/>
          </a:solidFill>
          <a:ln/>
          <a:effectLst>
            <a:outerShdw sx="100000" sy="100000" kx="0" ky="0" algn="bl" rotWithShape="0" blurRad="63500" dist="19050" dir="5400000">
              <a:srgbClr val="A7B6CE">
                <a:alpha val="18000"/>
              </a:srgbClr>
            </a:outerShdw>
          </a:effectLst>
        </p:spPr>
      </p:sp>
      <p:sp>
        <p:nvSpPr>
          <p:cNvPr id="13" name="Text 11"/>
          <p:cNvSpPr/>
          <p:nvPr/>
        </p:nvSpPr>
        <p:spPr>
          <a:xfrm>
            <a:off x="1161288" y="2039112"/>
            <a:ext cx="438912" cy="438912"/>
          </a:xfrm>
          <a:prstGeom prst="rect">
            <a:avLst/>
          </a:prstGeom>
          <a:noFill/>
          <a:ln/>
        </p:spPr>
        <p:txBody>
          <a:bodyPr wrap="square" lIns="0" tIns="0" rIns="0" bIns="0" rtlCol="0" anchor="ctr"/>
          <a:lstStyle/>
          <a:p>
            <a:pPr algn="ctr" indent="0" marL="0">
              <a:buNone/>
            </a:pPr>
            <a:r>
              <a:rPr lang="en-US" sz="1632" b="1" dirty="0">
                <a:solidFill>
                  <a:srgbClr val="FFFFFF"/>
                </a:solidFill>
                <a:latin typeface="Calibri" pitchFamily="34" charset="0"/>
                <a:ea typeface="Calibri" pitchFamily="34" charset="-122"/>
                <a:cs typeface="Calibri" pitchFamily="34" charset="-120"/>
              </a:rPr>
              <a:t>1</a:t>
            </a:r>
            <a:endParaRPr lang="en-US" sz="1632" dirty="0"/>
          </a:p>
        </p:txBody>
      </p:sp>
      <p:sp>
        <p:nvSpPr>
          <p:cNvPr id="14" name="Text 12"/>
          <p:cNvSpPr/>
          <p:nvPr/>
        </p:nvSpPr>
        <p:spPr>
          <a:xfrm>
            <a:off x="640080" y="2560320"/>
            <a:ext cx="1481328" cy="292608"/>
          </a:xfrm>
          <a:prstGeom prst="rect">
            <a:avLst/>
          </a:prstGeom>
          <a:noFill/>
          <a:ln/>
        </p:spPr>
        <p:txBody>
          <a:bodyPr wrap="square" lIns="0" tIns="0" rIns="0" bIns="0" rtlCol="0" anchor="t"/>
          <a:lstStyle/>
          <a:p>
            <a:pPr algn="ctr" indent="0" marL="0">
              <a:buNone/>
            </a:pPr>
            <a:r>
              <a:rPr lang="en-US" sz="1300" b="1" dirty="0">
                <a:solidFill>
                  <a:srgbClr val="0F1E3D"/>
                </a:solidFill>
                <a:latin typeface="Calibri" pitchFamily="34" charset="0"/>
                <a:ea typeface="Calibri" pitchFamily="34" charset="-122"/>
                <a:cs typeface="Calibri" pitchFamily="34" charset="-120"/>
              </a:rPr>
              <a:t>Analyse</a:t>
            </a:r>
            <a:endParaRPr lang="en-US" sz="1300" dirty="0"/>
          </a:p>
        </p:txBody>
      </p:sp>
      <p:sp>
        <p:nvSpPr>
          <p:cNvPr id="15" name="Text 13"/>
          <p:cNvSpPr/>
          <p:nvPr/>
        </p:nvSpPr>
        <p:spPr>
          <a:xfrm>
            <a:off x="676656" y="2852928"/>
            <a:ext cx="1408176" cy="457200"/>
          </a:xfrm>
          <a:prstGeom prst="rect">
            <a:avLst/>
          </a:prstGeom>
          <a:noFill/>
          <a:ln/>
        </p:spPr>
        <p:txBody>
          <a:bodyPr wrap="square" lIns="0" tIns="0" rIns="0" bIns="0" rtlCol="0" anchor="t"/>
          <a:lstStyle/>
          <a:p>
            <a:pPr algn="ctr" indent="0" marL="0">
              <a:lnSpc>
                <a:spcPct val="102000"/>
              </a:lnSpc>
              <a:buNone/>
            </a:pPr>
            <a:r>
              <a:rPr lang="en-US" sz="880" dirty="0">
                <a:solidFill>
                  <a:srgbClr val="8A97A8"/>
                </a:solidFill>
                <a:latin typeface="Calibri" pitchFamily="34" charset="0"/>
                <a:ea typeface="Calibri" pitchFamily="34" charset="-122"/>
                <a:cs typeface="Calibri" pitchFamily="34" charset="-120"/>
              </a:rPr>
              <a:t>Engineer costs a part as usual</a:t>
            </a:r>
            <a:endParaRPr lang="en-US" sz="880" dirty="0"/>
          </a:p>
        </p:txBody>
      </p:sp>
      <p:sp>
        <p:nvSpPr>
          <p:cNvPr id="16" name="Shape 14"/>
          <p:cNvSpPr/>
          <p:nvPr/>
        </p:nvSpPr>
        <p:spPr>
          <a:xfrm>
            <a:off x="2231136" y="2560320"/>
            <a:ext cx="164592" cy="0"/>
          </a:xfrm>
          <a:prstGeom prst="line">
            <a:avLst/>
          </a:prstGeom>
          <a:noFill/>
          <a:ln w="22225">
            <a:solidFill>
              <a:srgbClr val="D4DEEC"/>
            </a:solidFill>
            <a:prstDash val="solid"/>
            <a:headEnd type="none"/>
            <a:tailEnd type="triangle"/>
          </a:ln>
        </p:spPr>
      </p:sp>
      <p:sp>
        <p:nvSpPr>
          <p:cNvPr id="17" name="Shape 15"/>
          <p:cNvSpPr/>
          <p:nvPr/>
        </p:nvSpPr>
        <p:spPr>
          <a:xfrm>
            <a:off x="2414016" y="1783080"/>
            <a:ext cx="1664208" cy="1554480"/>
          </a:xfrm>
          <a:prstGeom prst="roundRect">
            <a:avLst>
              <a:gd name="adj" fmla="val 4118"/>
            </a:avLst>
          </a:prstGeom>
          <a:solidFill>
            <a:srgbClr val="FFFFFF"/>
          </a:solidFill>
          <a:ln w="12700">
            <a:solidFill>
              <a:srgbClr val="E4EAF2"/>
            </a:solidFill>
            <a:prstDash val="solid"/>
          </a:ln>
          <a:effectLst>
            <a:outerShdw sx="100000" sy="100000" kx="0" ky="0" algn="bl" rotWithShape="0" blurRad="7.640736971513755e+41" dist="2.183067706146787e+41" dir="5.44195584e+49">
              <a:srgbClr val="9DB0CC">
                <a:alpha val="2.2e+49"/>
              </a:srgbClr>
            </a:outerShdw>
          </a:effectLst>
        </p:spPr>
      </p:sp>
      <p:sp>
        <p:nvSpPr>
          <p:cNvPr id="18" name="Shape 16"/>
          <p:cNvSpPr/>
          <p:nvPr/>
        </p:nvSpPr>
        <p:spPr>
          <a:xfrm>
            <a:off x="2414016" y="1783080"/>
            <a:ext cx="1664208" cy="91440"/>
          </a:xfrm>
          <a:prstGeom prst="rect">
            <a:avLst/>
          </a:prstGeom>
          <a:solidFill>
            <a:srgbClr val="4F46E5"/>
          </a:solidFill>
          <a:ln/>
        </p:spPr>
      </p:sp>
      <p:sp>
        <p:nvSpPr>
          <p:cNvPr id="19" name="Shape 17"/>
          <p:cNvSpPr/>
          <p:nvPr/>
        </p:nvSpPr>
        <p:spPr>
          <a:xfrm>
            <a:off x="3026664" y="2039112"/>
            <a:ext cx="438912" cy="438912"/>
          </a:xfrm>
          <a:prstGeom prst="ellipse">
            <a:avLst/>
          </a:prstGeom>
          <a:solidFill>
            <a:srgbClr val="4F46E5"/>
          </a:solidFill>
          <a:ln/>
          <a:effectLst>
            <a:outerShdw sx="100000" sy="100000" kx="0" ky="0" algn="bl" rotWithShape="0" blurRad="806450000" dist="241935000" dir="324000000000">
              <a:srgbClr val="A7B6CE">
                <a:alpha val="1800000000"/>
              </a:srgbClr>
            </a:outerShdw>
          </a:effectLst>
        </p:spPr>
      </p:sp>
      <p:sp>
        <p:nvSpPr>
          <p:cNvPr id="20" name="Text 18"/>
          <p:cNvSpPr/>
          <p:nvPr/>
        </p:nvSpPr>
        <p:spPr>
          <a:xfrm>
            <a:off x="3026664" y="2039112"/>
            <a:ext cx="438912" cy="438912"/>
          </a:xfrm>
          <a:prstGeom prst="rect">
            <a:avLst/>
          </a:prstGeom>
          <a:noFill/>
          <a:ln/>
        </p:spPr>
        <p:txBody>
          <a:bodyPr wrap="square" lIns="0" tIns="0" rIns="0" bIns="0" rtlCol="0" anchor="ctr"/>
          <a:lstStyle/>
          <a:p>
            <a:pPr algn="ctr" indent="0" marL="0">
              <a:buNone/>
            </a:pPr>
            <a:r>
              <a:rPr lang="en-US" sz="1632" b="1" dirty="0">
                <a:solidFill>
                  <a:srgbClr val="FFFFFF"/>
                </a:solidFill>
                <a:latin typeface="Calibri" pitchFamily="34" charset="0"/>
                <a:ea typeface="Calibri" pitchFamily="34" charset="-122"/>
                <a:cs typeface="Calibri" pitchFamily="34" charset="-120"/>
              </a:rPr>
              <a:t>2</a:t>
            </a:r>
            <a:endParaRPr lang="en-US" sz="1632" dirty="0"/>
          </a:p>
        </p:txBody>
      </p:sp>
      <p:sp>
        <p:nvSpPr>
          <p:cNvPr id="21" name="Text 19"/>
          <p:cNvSpPr/>
          <p:nvPr/>
        </p:nvSpPr>
        <p:spPr>
          <a:xfrm>
            <a:off x="2505456" y="2560320"/>
            <a:ext cx="1481328" cy="292608"/>
          </a:xfrm>
          <a:prstGeom prst="rect">
            <a:avLst/>
          </a:prstGeom>
          <a:noFill/>
          <a:ln/>
        </p:spPr>
        <p:txBody>
          <a:bodyPr wrap="square" lIns="0" tIns="0" rIns="0" bIns="0" rtlCol="0" anchor="t"/>
          <a:lstStyle/>
          <a:p>
            <a:pPr algn="ctr" indent="0" marL="0">
              <a:buNone/>
            </a:pPr>
            <a:r>
              <a:rPr lang="en-US" sz="1300" b="1" dirty="0">
                <a:solidFill>
                  <a:srgbClr val="0F1E3D"/>
                </a:solidFill>
                <a:latin typeface="Calibri" pitchFamily="34" charset="0"/>
                <a:ea typeface="Calibri" pitchFamily="34" charset="-122"/>
                <a:cs typeface="Calibri" pitchFamily="34" charset="-120"/>
              </a:rPr>
              <a:t>Remember</a:t>
            </a:r>
            <a:endParaRPr lang="en-US" sz="1300" dirty="0"/>
          </a:p>
        </p:txBody>
      </p:sp>
      <p:sp>
        <p:nvSpPr>
          <p:cNvPr id="22" name="Text 20"/>
          <p:cNvSpPr/>
          <p:nvPr/>
        </p:nvSpPr>
        <p:spPr>
          <a:xfrm>
            <a:off x="2542032" y="2852928"/>
            <a:ext cx="1408176" cy="457200"/>
          </a:xfrm>
          <a:prstGeom prst="rect">
            <a:avLst/>
          </a:prstGeom>
          <a:noFill/>
          <a:ln/>
        </p:spPr>
        <p:txBody>
          <a:bodyPr wrap="square" lIns="0" tIns="0" rIns="0" bIns="0" rtlCol="0" anchor="t"/>
          <a:lstStyle/>
          <a:p>
            <a:pPr algn="ctr" indent="0" marL="0">
              <a:lnSpc>
                <a:spcPct val="102000"/>
              </a:lnSpc>
              <a:buNone/>
            </a:pPr>
            <a:r>
              <a:rPr lang="en-US" sz="880" dirty="0">
                <a:solidFill>
                  <a:srgbClr val="8A97A8"/>
                </a:solidFill>
                <a:latin typeface="Calibri" pitchFamily="34" charset="0"/>
                <a:ea typeface="Calibri" pitchFamily="34" charset="-122"/>
                <a:cs typeface="Calibri" pitchFamily="34" charset="-120"/>
              </a:rPr>
              <a:t>Saved to the knowledge base</a:t>
            </a:r>
            <a:endParaRPr lang="en-US" sz="880" dirty="0"/>
          </a:p>
        </p:txBody>
      </p:sp>
      <p:sp>
        <p:nvSpPr>
          <p:cNvPr id="23" name="Shape 21"/>
          <p:cNvSpPr/>
          <p:nvPr/>
        </p:nvSpPr>
        <p:spPr>
          <a:xfrm>
            <a:off x="4096512" y="2560320"/>
            <a:ext cx="164592" cy="0"/>
          </a:xfrm>
          <a:prstGeom prst="line">
            <a:avLst/>
          </a:prstGeom>
          <a:noFill/>
          <a:ln w="22225">
            <a:solidFill>
              <a:srgbClr val="D4DEEC"/>
            </a:solidFill>
            <a:prstDash val="solid"/>
            <a:headEnd type="none"/>
            <a:tailEnd type="triangle"/>
          </a:ln>
        </p:spPr>
      </p:sp>
      <p:sp>
        <p:nvSpPr>
          <p:cNvPr id="24" name="Shape 22"/>
          <p:cNvSpPr/>
          <p:nvPr/>
        </p:nvSpPr>
        <p:spPr>
          <a:xfrm>
            <a:off x="4279392" y="1783080"/>
            <a:ext cx="1664208" cy="1554480"/>
          </a:xfrm>
          <a:prstGeom prst="roundRect">
            <a:avLst>
              <a:gd name="adj" fmla="val 4118"/>
            </a:avLst>
          </a:prstGeom>
          <a:solidFill>
            <a:srgbClr val="FFFFFF"/>
          </a:solidFill>
          <a:ln w="12700">
            <a:solidFill>
              <a:srgbClr val="E4EAF2"/>
            </a:solidFill>
            <a:prstDash val="solid"/>
          </a:ln>
          <a:effectLst>
            <a:outerShdw sx="100000" sy="100000" kx="0" ky="0" algn="bl" rotWithShape="0" blurRad="9.703735953822469e+45" dist="2.7724959868064195e+45" dir="3.2651735040000005e+54">
              <a:srgbClr val="9DB0CC">
                <a:alpha val="2.2e+54"/>
              </a:srgbClr>
            </a:outerShdw>
          </a:effectLst>
        </p:spPr>
      </p:sp>
      <p:sp>
        <p:nvSpPr>
          <p:cNvPr id="25" name="Shape 23"/>
          <p:cNvSpPr/>
          <p:nvPr/>
        </p:nvSpPr>
        <p:spPr>
          <a:xfrm>
            <a:off x="4279392" y="1783080"/>
            <a:ext cx="1664208" cy="91440"/>
          </a:xfrm>
          <a:prstGeom prst="rect">
            <a:avLst/>
          </a:prstGeom>
          <a:solidFill>
            <a:srgbClr val="0E93B0"/>
          </a:solidFill>
          <a:ln/>
        </p:spPr>
      </p:sp>
      <p:sp>
        <p:nvSpPr>
          <p:cNvPr id="26" name="Shape 24"/>
          <p:cNvSpPr/>
          <p:nvPr/>
        </p:nvSpPr>
        <p:spPr>
          <a:xfrm>
            <a:off x="4892040" y="2039112"/>
            <a:ext cx="438912" cy="438912"/>
          </a:xfrm>
          <a:prstGeom prst="ellipse">
            <a:avLst/>
          </a:prstGeom>
          <a:solidFill>
            <a:srgbClr val="0E93B0"/>
          </a:solidFill>
          <a:ln/>
          <a:effectLst>
            <a:outerShdw sx="100000" sy="100000" kx="0" ky="0" algn="bl" rotWithShape="0" blurRad="10241915000000" dist="3072574500000" dir="19440000000000000">
              <a:srgbClr val="A7B6CE">
                <a:alpha val="180000000000000"/>
              </a:srgbClr>
            </a:outerShdw>
          </a:effectLst>
        </p:spPr>
      </p:sp>
      <p:sp>
        <p:nvSpPr>
          <p:cNvPr id="27" name="Text 25"/>
          <p:cNvSpPr/>
          <p:nvPr/>
        </p:nvSpPr>
        <p:spPr>
          <a:xfrm>
            <a:off x="4892040" y="2039112"/>
            <a:ext cx="438912" cy="438912"/>
          </a:xfrm>
          <a:prstGeom prst="rect">
            <a:avLst/>
          </a:prstGeom>
          <a:noFill/>
          <a:ln/>
        </p:spPr>
        <p:txBody>
          <a:bodyPr wrap="square" lIns="0" tIns="0" rIns="0" bIns="0" rtlCol="0" anchor="ctr"/>
          <a:lstStyle/>
          <a:p>
            <a:pPr algn="ctr" indent="0" marL="0">
              <a:buNone/>
            </a:pPr>
            <a:r>
              <a:rPr lang="en-US" sz="1632" b="1" dirty="0">
                <a:solidFill>
                  <a:srgbClr val="FFFFFF"/>
                </a:solidFill>
                <a:latin typeface="Calibri" pitchFamily="34" charset="0"/>
                <a:ea typeface="Calibri" pitchFamily="34" charset="-122"/>
                <a:cs typeface="Calibri" pitchFamily="34" charset="-120"/>
              </a:rPr>
              <a:t>3</a:t>
            </a:r>
            <a:endParaRPr lang="en-US" sz="1632" dirty="0"/>
          </a:p>
        </p:txBody>
      </p:sp>
      <p:sp>
        <p:nvSpPr>
          <p:cNvPr id="28" name="Text 26"/>
          <p:cNvSpPr/>
          <p:nvPr/>
        </p:nvSpPr>
        <p:spPr>
          <a:xfrm>
            <a:off x="4370832" y="2560320"/>
            <a:ext cx="1481328" cy="292608"/>
          </a:xfrm>
          <a:prstGeom prst="rect">
            <a:avLst/>
          </a:prstGeom>
          <a:noFill/>
          <a:ln/>
        </p:spPr>
        <p:txBody>
          <a:bodyPr wrap="square" lIns="0" tIns="0" rIns="0" bIns="0" rtlCol="0" anchor="t"/>
          <a:lstStyle/>
          <a:p>
            <a:pPr algn="ctr" indent="0" marL="0">
              <a:buNone/>
            </a:pPr>
            <a:r>
              <a:rPr lang="en-US" sz="1300" b="1" dirty="0">
                <a:solidFill>
                  <a:srgbClr val="0F1E3D"/>
                </a:solidFill>
                <a:latin typeface="Calibri" pitchFamily="34" charset="0"/>
                <a:ea typeface="Calibri" pitchFamily="34" charset="-122"/>
                <a:cs typeface="Calibri" pitchFamily="34" charset="-120"/>
              </a:rPr>
              <a:t>Recognise</a:t>
            </a:r>
            <a:endParaRPr lang="en-US" sz="1300" dirty="0"/>
          </a:p>
        </p:txBody>
      </p:sp>
      <p:sp>
        <p:nvSpPr>
          <p:cNvPr id="29" name="Text 27"/>
          <p:cNvSpPr/>
          <p:nvPr/>
        </p:nvSpPr>
        <p:spPr>
          <a:xfrm>
            <a:off x="4407408" y="2852928"/>
            <a:ext cx="1408176" cy="457200"/>
          </a:xfrm>
          <a:prstGeom prst="rect">
            <a:avLst/>
          </a:prstGeom>
          <a:noFill/>
          <a:ln/>
        </p:spPr>
        <p:txBody>
          <a:bodyPr wrap="square" lIns="0" tIns="0" rIns="0" bIns="0" rtlCol="0" anchor="t"/>
          <a:lstStyle/>
          <a:p>
            <a:pPr algn="ctr" indent="0" marL="0">
              <a:lnSpc>
                <a:spcPct val="102000"/>
              </a:lnSpc>
              <a:buNone/>
            </a:pPr>
            <a:r>
              <a:rPr lang="en-US" sz="880" dirty="0">
                <a:solidFill>
                  <a:srgbClr val="8A97A8"/>
                </a:solidFill>
                <a:latin typeface="Calibri" pitchFamily="34" charset="0"/>
                <a:ea typeface="Calibri" pitchFamily="34" charset="-122"/>
                <a:cs typeface="Calibri" pitchFamily="34" charset="-120"/>
              </a:rPr>
              <a:t>Similar past parts found</a:t>
            </a:r>
            <a:endParaRPr lang="en-US" sz="880" dirty="0"/>
          </a:p>
        </p:txBody>
      </p:sp>
      <p:sp>
        <p:nvSpPr>
          <p:cNvPr id="30" name="Shape 28"/>
          <p:cNvSpPr/>
          <p:nvPr/>
        </p:nvSpPr>
        <p:spPr>
          <a:xfrm>
            <a:off x="5961888" y="2560320"/>
            <a:ext cx="164592" cy="0"/>
          </a:xfrm>
          <a:prstGeom prst="line">
            <a:avLst/>
          </a:prstGeom>
          <a:noFill/>
          <a:ln w="22225">
            <a:solidFill>
              <a:srgbClr val="D4DEEC"/>
            </a:solidFill>
            <a:prstDash val="solid"/>
            <a:headEnd type="none"/>
            <a:tailEnd type="triangle"/>
          </a:ln>
        </p:spPr>
      </p:sp>
      <p:sp>
        <p:nvSpPr>
          <p:cNvPr id="31" name="Shape 29"/>
          <p:cNvSpPr/>
          <p:nvPr/>
        </p:nvSpPr>
        <p:spPr>
          <a:xfrm>
            <a:off x="6144768" y="1783080"/>
            <a:ext cx="1664208" cy="1554480"/>
          </a:xfrm>
          <a:prstGeom prst="roundRect">
            <a:avLst>
              <a:gd name="adj" fmla="val 4118"/>
            </a:avLst>
          </a:prstGeom>
          <a:solidFill>
            <a:srgbClr val="FFFFFF"/>
          </a:solidFill>
          <a:ln w="12700">
            <a:solidFill>
              <a:srgbClr val="E4EAF2"/>
            </a:solidFill>
            <a:prstDash val="solid"/>
          </a:ln>
          <a:effectLst>
            <a:outerShdw sx="100000" sy="100000" kx="0" ky="0" algn="bl" rotWithShape="0" blurRad="1.2323744661354536e+50" dist="3.5210699032441527e+49" dir="1.9591041024000004e+59">
              <a:srgbClr val="9DB0CC">
                <a:alpha val="2.2e+59"/>
              </a:srgbClr>
            </a:outerShdw>
          </a:effectLst>
        </p:spPr>
      </p:sp>
      <p:sp>
        <p:nvSpPr>
          <p:cNvPr id="32" name="Shape 30"/>
          <p:cNvSpPr/>
          <p:nvPr/>
        </p:nvSpPr>
        <p:spPr>
          <a:xfrm>
            <a:off x="6144768" y="1783080"/>
            <a:ext cx="1664208" cy="91440"/>
          </a:xfrm>
          <a:prstGeom prst="rect">
            <a:avLst/>
          </a:prstGeom>
          <a:solidFill>
            <a:srgbClr val="7C3AED"/>
          </a:solidFill>
          <a:ln/>
        </p:spPr>
      </p:sp>
      <p:sp>
        <p:nvSpPr>
          <p:cNvPr id="33" name="Shape 31"/>
          <p:cNvSpPr/>
          <p:nvPr/>
        </p:nvSpPr>
        <p:spPr>
          <a:xfrm>
            <a:off x="6757416" y="2039112"/>
            <a:ext cx="438912" cy="438912"/>
          </a:xfrm>
          <a:prstGeom prst="ellipse">
            <a:avLst/>
          </a:prstGeom>
          <a:solidFill>
            <a:srgbClr val="7C3AED"/>
          </a:solidFill>
          <a:ln/>
          <a:effectLst>
            <a:outerShdw sx="100000" sy="100000" kx="0" ky="0" algn="bl" rotWithShape="0" blurRad="130072320500000000" dist="39021696150000000" dir="1.1664e+21">
              <a:srgbClr val="A7B6CE">
                <a:alpha val="18000000000000000000"/>
              </a:srgbClr>
            </a:outerShdw>
          </a:effectLst>
        </p:spPr>
      </p:sp>
      <p:sp>
        <p:nvSpPr>
          <p:cNvPr id="34" name="Text 32"/>
          <p:cNvSpPr/>
          <p:nvPr/>
        </p:nvSpPr>
        <p:spPr>
          <a:xfrm>
            <a:off x="6757416" y="2039112"/>
            <a:ext cx="438912" cy="438912"/>
          </a:xfrm>
          <a:prstGeom prst="rect">
            <a:avLst/>
          </a:prstGeom>
          <a:noFill/>
          <a:ln/>
        </p:spPr>
        <p:txBody>
          <a:bodyPr wrap="square" lIns="0" tIns="0" rIns="0" bIns="0" rtlCol="0" anchor="ctr"/>
          <a:lstStyle/>
          <a:p>
            <a:pPr algn="ctr" indent="0" marL="0">
              <a:buNone/>
            </a:pPr>
            <a:r>
              <a:rPr lang="en-US" sz="1632" b="1" dirty="0">
                <a:solidFill>
                  <a:srgbClr val="FFFFFF"/>
                </a:solidFill>
                <a:latin typeface="Calibri" pitchFamily="34" charset="0"/>
                <a:ea typeface="Calibri" pitchFamily="34" charset="-122"/>
                <a:cs typeface="Calibri" pitchFamily="34" charset="-120"/>
              </a:rPr>
              <a:t>4</a:t>
            </a:r>
            <a:endParaRPr lang="en-US" sz="1632" dirty="0"/>
          </a:p>
        </p:txBody>
      </p:sp>
      <p:sp>
        <p:nvSpPr>
          <p:cNvPr id="35" name="Text 33"/>
          <p:cNvSpPr/>
          <p:nvPr/>
        </p:nvSpPr>
        <p:spPr>
          <a:xfrm>
            <a:off x="6236208" y="2560320"/>
            <a:ext cx="1481328" cy="292608"/>
          </a:xfrm>
          <a:prstGeom prst="rect">
            <a:avLst/>
          </a:prstGeom>
          <a:noFill/>
          <a:ln/>
        </p:spPr>
        <p:txBody>
          <a:bodyPr wrap="square" lIns="0" tIns="0" rIns="0" bIns="0" rtlCol="0" anchor="t"/>
          <a:lstStyle/>
          <a:p>
            <a:pPr algn="ctr" indent="0" marL="0">
              <a:buNone/>
            </a:pPr>
            <a:r>
              <a:rPr lang="en-US" sz="1300" b="1" dirty="0">
                <a:solidFill>
                  <a:srgbClr val="0F1E3D"/>
                </a:solidFill>
                <a:latin typeface="Calibri" pitchFamily="34" charset="0"/>
                <a:ea typeface="Calibri" pitchFamily="34" charset="-122"/>
                <a:cs typeface="Calibri" pitchFamily="34" charset="-120"/>
              </a:rPr>
              <a:t>Suggest</a:t>
            </a:r>
            <a:endParaRPr lang="en-US" sz="1300" dirty="0"/>
          </a:p>
        </p:txBody>
      </p:sp>
      <p:sp>
        <p:nvSpPr>
          <p:cNvPr id="36" name="Text 34"/>
          <p:cNvSpPr/>
          <p:nvPr/>
        </p:nvSpPr>
        <p:spPr>
          <a:xfrm>
            <a:off x="6272784" y="2852928"/>
            <a:ext cx="1408176" cy="457200"/>
          </a:xfrm>
          <a:prstGeom prst="rect">
            <a:avLst/>
          </a:prstGeom>
          <a:noFill/>
          <a:ln/>
        </p:spPr>
        <p:txBody>
          <a:bodyPr wrap="square" lIns="0" tIns="0" rIns="0" bIns="0" rtlCol="0" anchor="t"/>
          <a:lstStyle/>
          <a:p>
            <a:pPr algn="ctr" indent="0" marL="0">
              <a:lnSpc>
                <a:spcPct val="102000"/>
              </a:lnSpc>
              <a:buNone/>
            </a:pPr>
            <a:r>
              <a:rPr lang="en-US" sz="880" dirty="0">
                <a:solidFill>
                  <a:srgbClr val="8A97A8"/>
                </a:solidFill>
                <a:latin typeface="Calibri" pitchFamily="34" charset="0"/>
                <a:ea typeface="Calibri" pitchFamily="34" charset="-122"/>
                <a:cs typeface="Calibri" pitchFamily="34" charset="-120"/>
              </a:rPr>
              <a:t>Benchmarks &amp; real quotes shown</a:t>
            </a:r>
            <a:endParaRPr lang="en-US" sz="880" dirty="0"/>
          </a:p>
        </p:txBody>
      </p:sp>
      <p:sp>
        <p:nvSpPr>
          <p:cNvPr id="37" name="Shape 35"/>
          <p:cNvSpPr/>
          <p:nvPr/>
        </p:nvSpPr>
        <p:spPr>
          <a:xfrm>
            <a:off x="7827264" y="2560320"/>
            <a:ext cx="164592" cy="0"/>
          </a:xfrm>
          <a:prstGeom prst="line">
            <a:avLst/>
          </a:prstGeom>
          <a:noFill/>
          <a:ln w="22225">
            <a:solidFill>
              <a:srgbClr val="D4DEEC"/>
            </a:solidFill>
            <a:prstDash val="solid"/>
            <a:headEnd type="none"/>
            <a:tailEnd type="triangle"/>
          </a:ln>
        </p:spPr>
      </p:sp>
      <p:sp>
        <p:nvSpPr>
          <p:cNvPr id="38" name="Shape 36"/>
          <p:cNvSpPr/>
          <p:nvPr/>
        </p:nvSpPr>
        <p:spPr>
          <a:xfrm>
            <a:off x="8010144" y="1783080"/>
            <a:ext cx="1664208" cy="1554480"/>
          </a:xfrm>
          <a:prstGeom prst="roundRect">
            <a:avLst>
              <a:gd name="adj" fmla="val 4118"/>
            </a:avLst>
          </a:prstGeom>
          <a:solidFill>
            <a:srgbClr val="FFFFFF"/>
          </a:solidFill>
          <a:ln w="12700">
            <a:solidFill>
              <a:srgbClr val="E4EAF2"/>
            </a:solidFill>
            <a:prstDash val="solid"/>
          </a:ln>
          <a:effectLst>
            <a:outerShdw sx="100000" sy="100000" kx="0" ky="0" algn="bl" rotWithShape="0" blurRad="1.5651155719920262e+54" dist="4.471758777120074e+53" dir="1.1754624614400003e+64">
              <a:srgbClr val="9DB0CC">
                <a:alpha val="2.2e+64"/>
              </a:srgbClr>
            </a:outerShdw>
          </a:effectLst>
        </p:spPr>
      </p:sp>
      <p:sp>
        <p:nvSpPr>
          <p:cNvPr id="39" name="Shape 37"/>
          <p:cNvSpPr/>
          <p:nvPr/>
        </p:nvSpPr>
        <p:spPr>
          <a:xfrm>
            <a:off x="8010144" y="1783080"/>
            <a:ext cx="1664208" cy="91440"/>
          </a:xfrm>
          <a:prstGeom prst="rect">
            <a:avLst/>
          </a:prstGeom>
          <a:solidFill>
            <a:srgbClr val="E0900C"/>
          </a:solidFill>
          <a:ln/>
        </p:spPr>
      </p:sp>
      <p:sp>
        <p:nvSpPr>
          <p:cNvPr id="40" name="Shape 38"/>
          <p:cNvSpPr/>
          <p:nvPr/>
        </p:nvSpPr>
        <p:spPr>
          <a:xfrm>
            <a:off x="8622792" y="2039112"/>
            <a:ext cx="438912" cy="438912"/>
          </a:xfrm>
          <a:prstGeom prst="ellipse">
            <a:avLst/>
          </a:prstGeom>
          <a:solidFill>
            <a:srgbClr val="E0900C"/>
          </a:solidFill>
          <a:ln/>
          <a:effectLst>
            <a:outerShdw sx="100000" sy="100000" kx="0" ky="0" algn="bl" rotWithShape="0" blurRad="1.65191847035e+21" dist="495575541105000000000" dir="6.9984e+25">
              <a:srgbClr val="A7B6CE">
                <a:alpha val="1.8e+24"/>
              </a:srgbClr>
            </a:outerShdw>
          </a:effectLst>
        </p:spPr>
      </p:sp>
      <p:sp>
        <p:nvSpPr>
          <p:cNvPr id="41" name="Text 39"/>
          <p:cNvSpPr/>
          <p:nvPr/>
        </p:nvSpPr>
        <p:spPr>
          <a:xfrm>
            <a:off x="8622792" y="2039112"/>
            <a:ext cx="438912" cy="438912"/>
          </a:xfrm>
          <a:prstGeom prst="rect">
            <a:avLst/>
          </a:prstGeom>
          <a:noFill/>
          <a:ln/>
        </p:spPr>
        <p:txBody>
          <a:bodyPr wrap="square" lIns="0" tIns="0" rIns="0" bIns="0" rtlCol="0" anchor="ctr"/>
          <a:lstStyle/>
          <a:p>
            <a:pPr algn="ctr" indent="0" marL="0">
              <a:buNone/>
            </a:pPr>
            <a:r>
              <a:rPr lang="en-US" sz="1632" b="1" dirty="0">
                <a:solidFill>
                  <a:srgbClr val="FFFFFF"/>
                </a:solidFill>
                <a:latin typeface="Calibri" pitchFamily="34" charset="0"/>
                <a:ea typeface="Calibri" pitchFamily="34" charset="-122"/>
                <a:cs typeface="Calibri" pitchFamily="34" charset="-120"/>
              </a:rPr>
              <a:t>5</a:t>
            </a:r>
            <a:endParaRPr lang="en-US" sz="1632" dirty="0"/>
          </a:p>
        </p:txBody>
      </p:sp>
      <p:sp>
        <p:nvSpPr>
          <p:cNvPr id="42" name="Text 40"/>
          <p:cNvSpPr/>
          <p:nvPr/>
        </p:nvSpPr>
        <p:spPr>
          <a:xfrm>
            <a:off x="8101584" y="2560320"/>
            <a:ext cx="1481328" cy="292608"/>
          </a:xfrm>
          <a:prstGeom prst="rect">
            <a:avLst/>
          </a:prstGeom>
          <a:noFill/>
          <a:ln/>
        </p:spPr>
        <p:txBody>
          <a:bodyPr wrap="square" lIns="0" tIns="0" rIns="0" bIns="0" rtlCol="0" anchor="t"/>
          <a:lstStyle/>
          <a:p>
            <a:pPr algn="ctr" indent="0" marL="0">
              <a:buNone/>
            </a:pPr>
            <a:r>
              <a:rPr lang="en-US" sz="1300" b="1" dirty="0">
                <a:solidFill>
                  <a:srgbClr val="0F1E3D"/>
                </a:solidFill>
                <a:latin typeface="Calibri" pitchFamily="34" charset="0"/>
                <a:ea typeface="Calibri" pitchFamily="34" charset="-122"/>
                <a:cs typeface="Calibri" pitchFamily="34" charset="-120"/>
              </a:rPr>
              <a:t>Learn</a:t>
            </a:r>
            <a:endParaRPr lang="en-US" sz="1300" dirty="0"/>
          </a:p>
        </p:txBody>
      </p:sp>
      <p:sp>
        <p:nvSpPr>
          <p:cNvPr id="43" name="Text 41"/>
          <p:cNvSpPr/>
          <p:nvPr/>
        </p:nvSpPr>
        <p:spPr>
          <a:xfrm>
            <a:off x="8138160" y="2852928"/>
            <a:ext cx="1408176" cy="457200"/>
          </a:xfrm>
          <a:prstGeom prst="rect">
            <a:avLst/>
          </a:prstGeom>
          <a:noFill/>
          <a:ln/>
        </p:spPr>
        <p:txBody>
          <a:bodyPr wrap="square" lIns="0" tIns="0" rIns="0" bIns="0" rtlCol="0" anchor="t"/>
          <a:lstStyle/>
          <a:p>
            <a:pPr algn="ctr" indent="0" marL="0">
              <a:lnSpc>
                <a:spcPct val="102000"/>
              </a:lnSpc>
              <a:buNone/>
            </a:pPr>
            <a:r>
              <a:rPr lang="en-US" sz="880" dirty="0">
                <a:solidFill>
                  <a:srgbClr val="8A97A8"/>
                </a:solidFill>
                <a:latin typeface="Calibri" pitchFamily="34" charset="0"/>
                <a:ea typeface="Calibri" pitchFamily="34" charset="-122"/>
                <a:cs typeface="Calibri" pitchFamily="34" charset="-120"/>
              </a:rPr>
              <a:t>Real quote logged → self-corrects</a:t>
            </a:r>
            <a:endParaRPr lang="en-US" sz="880" dirty="0"/>
          </a:p>
        </p:txBody>
      </p:sp>
      <p:sp>
        <p:nvSpPr>
          <p:cNvPr id="44" name="Shape 42"/>
          <p:cNvSpPr/>
          <p:nvPr/>
        </p:nvSpPr>
        <p:spPr>
          <a:xfrm>
            <a:off x="9692640" y="2560320"/>
            <a:ext cx="164592" cy="0"/>
          </a:xfrm>
          <a:prstGeom prst="line">
            <a:avLst/>
          </a:prstGeom>
          <a:noFill/>
          <a:ln w="22225">
            <a:solidFill>
              <a:srgbClr val="D4DEEC"/>
            </a:solidFill>
            <a:prstDash val="solid"/>
            <a:headEnd type="none"/>
            <a:tailEnd type="triangle"/>
          </a:ln>
        </p:spPr>
      </p:sp>
      <p:sp>
        <p:nvSpPr>
          <p:cNvPr id="45" name="Shape 43"/>
          <p:cNvSpPr/>
          <p:nvPr/>
        </p:nvSpPr>
        <p:spPr>
          <a:xfrm>
            <a:off x="9875520" y="1783080"/>
            <a:ext cx="1664208" cy="1554480"/>
          </a:xfrm>
          <a:prstGeom prst="roundRect">
            <a:avLst>
              <a:gd name="adj" fmla="val 4118"/>
            </a:avLst>
          </a:prstGeom>
          <a:solidFill>
            <a:srgbClr val="FFFFFF"/>
          </a:solidFill>
          <a:ln w="12700">
            <a:solidFill>
              <a:srgbClr val="E4EAF2"/>
            </a:solidFill>
            <a:prstDash val="solid"/>
          </a:ln>
          <a:effectLst>
            <a:outerShdw sx="100000" sy="100000" kx="0" ky="0" algn="bl" rotWithShape="0" blurRad="1.9876967764298733e+58" dist="5.679133646942494e+57" dir="7.052774768640002e+68">
              <a:srgbClr val="9DB0CC">
                <a:alpha val="2.2e+69"/>
              </a:srgbClr>
            </a:outerShdw>
          </a:effectLst>
        </p:spPr>
      </p:sp>
      <p:sp>
        <p:nvSpPr>
          <p:cNvPr id="46" name="Shape 44"/>
          <p:cNvSpPr/>
          <p:nvPr/>
        </p:nvSpPr>
        <p:spPr>
          <a:xfrm>
            <a:off x="9875520" y="1783080"/>
            <a:ext cx="1664208" cy="91440"/>
          </a:xfrm>
          <a:prstGeom prst="rect">
            <a:avLst/>
          </a:prstGeom>
          <a:solidFill>
            <a:srgbClr val="0EA472"/>
          </a:solidFill>
          <a:ln/>
        </p:spPr>
      </p:sp>
      <p:sp>
        <p:nvSpPr>
          <p:cNvPr id="47" name="Shape 45"/>
          <p:cNvSpPr/>
          <p:nvPr/>
        </p:nvSpPr>
        <p:spPr>
          <a:xfrm>
            <a:off x="10488168" y="2039112"/>
            <a:ext cx="438912" cy="438912"/>
          </a:xfrm>
          <a:prstGeom prst="ellipse">
            <a:avLst/>
          </a:prstGeom>
          <a:solidFill>
            <a:srgbClr val="0EA472"/>
          </a:solidFill>
          <a:ln/>
          <a:effectLst>
            <a:outerShdw sx="100000" sy="100000" kx="0" ky="0" algn="bl" rotWithShape="0" blurRad="2.0979364573445003e+25" dist="6.2938093720335e+24" dir="4.19904e+30">
              <a:srgbClr val="A7B6CE">
                <a:alpha val="1.8e+29"/>
              </a:srgbClr>
            </a:outerShdw>
          </a:effectLst>
        </p:spPr>
      </p:sp>
      <p:sp>
        <p:nvSpPr>
          <p:cNvPr id="48" name="Text 46"/>
          <p:cNvSpPr/>
          <p:nvPr/>
        </p:nvSpPr>
        <p:spPr>
          <a:xfrm>
            <a:off x="10488168" y="2039112"/>
            <a:ext cx="438912" cy="438912"/>
          </a:xfrm>
          <a:prstGeom prst="rect">
            <a:avLst/>
          </a:prstGeom>
          <a:noFill/>
          <a:ln/>
        </p:spPr>
        <p:txBody>
          <a:bodyPr wrap="square" lIns="0" tIns="0" rIns="0" bIns="0" rtlCol="0" anchor="ctr"/>
          <a:lstStyle/>
          <a:p>
            <a:pPr algn="ctr" indent="0" marL="0">
              <a:buNone/>
            </a:pPr>
            <a:r>
              <a:rPr lang="en-US" sz="1632" b="1" dirty="0">
                <a:solidFill>
                  <a:srgbClr val="FFFFFF"/>
                </a:solidFill>
                <a:latin typeface="Calibri" pitchFamily="34" charset="0"/>
                <a:ea typeface="Calibri" pitchFamily="34" charset="-122"/>
                <a:cs typeface="Calibri" pitchFamily="34" charset="-120"/>
              </a:rPr>
              <a:t>6</a:t>
            </a:r>
            <a:endParaRPr lang="en-US" sz="1632" dirty="0"/>
          </a:p>
        </p:txBody>
      </p:sp>
      <p:sp>
        <p:nvSpPr>
          <p:cNvPr id="49" name="Text 47"/>
          <p:cNvSpPr/>
          <p:nvPr/>
        </p:nvSpPr>
        <p:spPr>
          <a:xfrm>
            <a:off x="9966960" y="2560320"/>
            <a:ext cx="1481328" cy="292608"/>
          </a:xfrm>
          <a:prstGeom prst="rect">
            <a:avLst/>
          </a:prstGeom>
          <a:noFill/>
          <a:ln/>
        </p:spPr>
        <p:txBody>
          <a:bodyPr wrap="square" lIns="0" tIns="0" rIns="0" bIns="0" rtlCol="0" anchor="t"/>
          <a:lstStyle/>
          <a:p>
            <a:pPr algn="ctr" indent="0" marL="0">
              <a:buNone/>
            </a:pPr>
            <a:r>
              <a:rPr lang="en-US" sz="1300" b="1" dirty="0">
                <a:solidFill>
                  <a:srgbClr val="0F1E3D"/>
                </a:solidFill>
                <a:latin typeface="Calibri" pitchFamily="34" charset="0"/>
                <a:ea typeface="Calibri" pitchFamily="34" charset="-122"/>
                <a:cs typeface="Calibri" pitchFamily="34" charset="-120"/>
              </a:rPr>
              <a:t>Act</a:t>
            </a:r>
            <a:endParaRPr lang="en-US" sz="1300" dirty="0"/>
          </a:p>
        </p:txBody>
      </p:sp>
      <p:sp>
        <p:nvSpPr>
          <p:cNvPr id="50" name="Text 48"/>
          <p:cNvSpPr/>
          <p:nvPr/>
        </p:nvSpPr>
        <p:spPr>
          <a:xfrm>
            <a:off x="10003536" y="2852928"/>
            <a:ext cx="1408176" cy="457200"/>
          </a:xfrm>
          <a:prstGeom prst="rect">
            <a:avLst/>
          </a:prstGeom>
          <a:noFill/>
          <a:ln/>
        </p:spPr>
        <p:txBody>
          <a:bodyPr wrap="square" lIns="0" tIns="0" rIns="0" bIns="0" rtlCol="0" anchor="t"/>
          <a:lstStyle/>
          <a:p>
            <a:pPr algn="ctr" indent="0" marL="0">
              <a:lnSpc>
                <a:spcPct val="102000"/>
              </a:lnSpc>
              <a:buNone/>
            </a:pPr>
            <a:r>
              <a:rPr lang="en-US" sz="880" dirty="0">
                <a:solidFill>
                  <a:srgbClr val="8A97A8"/>
                </a:solidFill>
                <a:latin typeface="Calibri" pitchFamily="34" charset="0"/>
                <a:ea typeface="Calibri" pitchFamily="34" charset="-122"/>
                <a:cs typeface="Calibri" pitchFamily="34" charset="-120"/>
              </a:rPr>
              <a:t>Agent flags drift &amp; savings</a:t>
            </a:r>
            <a:endParaRPr lang="en-US" sz="880" dirty="0"/>
          </a:p>
        </p:txBody>
      </p:sp>
      <p:sp>
        <p:nvSpPr>
          <p:cNvPr id="51" name="Shape 49"/>
          <p:cNvSpPr/>
          <p:nvPr/>
        </p:nvSpPr>
        <p:spPr>
          <a:xfrm>
            <a:off x="10707624" y="3337560"/>
            <a:ext cx="0" cy="502920"/>
          </a:xfrm>
          <a:prstGeom prst="line">
            <a:avLst/>
          </a:prstGeom>
          <a:noFill/>
          <a:ln w="22225">
            <a:solidFill>
              <a:srgbClr val="0DA5A0"/>
            </a:solidFill>
            <a:prstDash val="solid"/>
            <a:tailEnd type="none"/>
          </a:ln>
        </p:spPr>
      </p:sp>
      <p:sp>
        <p:nvSpPr>
          <p:cNvPr id="52" name="Shape 50"/>
          <p:cNvSpPr/>
          <p:nvPr/>
        </p:nvSpPr>
        <p:spPr>
          <a:xfrm>
            <a:off x="1380744" y="3840480"/>
            <a:ext cx="9326880" cy="0"/>
          </a:xfrm>
          <a:prstGeom prst="line">
            <a:avLst/>
          </a:prstGeom>
          <a:noFill/>
          <a:ln w="22225">
            <a:solidFill>
              <a:srgbClr val="0DA5A0"/>
            </a:solidFill>
            <a:prstDash val="solid"/>
            <a:headEnd type="triangle"/>
            <a:tailEnd type="none"/>
          </a:ln>
        </p:spPr>
      </p:sp>
      <p:sp>
        <p:nvSpPr>
          <p:cNvPr id="53" name="Shape 51"/>
          <p:cNvSpPr/>
          <p:nvPr/>
        </p:nvSpPr>
        <p:spPr>
          <a:xfrm>
            <a:off x="1380744" y="3337560"/>
            <a:ext cx="0" cy="502920"/>
          </a:xfrm>
          <a:prstGeom prst="line">
            <a:avLst/>
          </a:prstGeom>
          <a:noFill/>
          <a:ln w="22225">
            <a:solidFill>
              <a:srgbClr val="0DA5A0"/>
            </a:solidFill>
            <a:prstDash val="solid"/>
            <a:tailEnd type="none"/>
          </a:ln>
        </p:spPr>
      </p:sp>
      <p:sp>
        <p:nvSpPr>
          <p:cNvPr id="54" name="Shape 52"/>
          <p:cNvSpPr/>
          <p:nvPr/>
        </p:nvSpPr>
        <p:spPr>
          <a:xfrm>
            <a:off x="3169768" y="3666744"/>
            <a:ext cx="5852160" cy="365760"/>
          </a:xfrm>
          <a:prstGeom prst="roundRect">
            <a:avLst>
              <a:gd name="adj" fmla="val 50000"/>
            </a:avLst>
          </a:prstGeom>
          <a:solidFill>
            <a:srgbClr val="E7F7F0"/>
          </a:solidFill>
          <a:ln/>
        </p:spPr>
      </p:sp>
      <p:sp>
        <p:nvSpPr>
          <p:cNvPr id="55" name="Text 53"/>
          <p:cNvSpPr/>
          <p:nvPr/>
        </p:nvSpPr>
        <p:spPr>
          <a:xfrm>
            <a:off x="3169768" y="3666744"/>
            <a:ext cx="5852160" cy="365760"/>
          </a:xfrm>
          <a:prstGeom prst="rect">
            <a:avLst/>
          </a:prstGeom>
          <a:noFill/>
          <a:ln/>
        </p:spPr>
        <p:txBody>
          <a:bodyPr wrap="square" lIns="0" tIns="0" rIns="0" bIns="0" rtlCol="0" anchor="ctr"/>
          <a:lstStyle/>
          <a:p>
            <a:pPr algn="ctr" indent="0" marL="0">
              <a:buNone/>
            </a:pPr>
            <a:r>
              <a:rPr lang="en-US" sz="1100" b="1" dirty="0">
                <a:solidFill>
                  <a:srgbClr val="0DA5A0"/>
                </a:solidFill>
                <a:latin typeface="Calibri" pitchFamily="34" charset="0"/>
                <a:ea typeface="Calibri" pitchFamily="34" charset="-122"/>
                <a:cs typeface="Calibri" pitchFamily="34" charset="-120"/>
              </a:rPr>
              <a:t>↻   Every loop feeds the next — the estimate improves each cycle</a:t>
            </a:r>
            <a:endParaRPr lang="en-US" sz="1100" dirty="0"/>
          </a:p>
        </p:txBody>
      </p:sp>
      <p:sp>
        <p:nvSpPr>
          <p:cNvPr id="56" name="Shape 54"/>
          <p:cNvSpPr/>
          <p:nvPr/>
        </p:nvSpPr>
        <p:spPr>
          <a:xfrm>
            <a:off x="548640" y="4892040"/>
            <a:ext cx="11091672" cy="1143000"/>
          </a:xfrm>
          <a:prstGeom prst="roundRect">
            <a:avLst>
              <a:gd name="adj" fmla="val 5600"/>
            </a:avLst>
          </a:prstGeom>
          <a:solidFill>
            <a:srgbClr val="EAF1FE"/>
          </a:solidFill>
          <a:ln w="12700">
            <a:solidFill>
              <a:srgbClr val="E4EAF2"/>
            </a:solidFill>
            <a:prstDash val="solid"/>
          </a:ln>
        </p:spPr>
      </p:sp>
      <p:sp>
        <p:nvSpPr>
          <p:cNvPr id="57" name="Shape 55"/>
          <p:cNvSpPr/>
          <p:nvPr/>
        </p:nvSpPr>
        <p:spPr>
          <a:xfrm>
            <a:off x="548640" y="4892040"/>
            <a:ext cx="82296" cy="1143000"/>
          </a:xfrm>
          <a:prstGeom prst="rect">
            <a:avLst/>
          </a:prstGeom>
          <a:solidFill>
            <a:srgbClr val="0DA5A0"/>
          </a:solidFill>
          <a:ln/>
        </p:spPr>
      </p:sp>
      <p:sp>
        <p:nvSpPr>
          <p:cNvPr id="58" name="Text 56"/>
          <p:cNvSpPr/>
          <p:nvPr/>
        </p:nvSpPr>
        <p:spPr>
          <a:xfrm>
            <a:off x="914400" y="5074920"/>
            <a:ext cx="10378440" cy="822960"/>
          </a:xfrm>
          <a:prstGeom prst="rect">
            <a:avLst/>
          </a:prstGeom>
          <a:noFill/>
          <a:ln/>
        </p:spPr>
        <p:txBody>
          <a:bodyPr wrap="square" lIns="0" tIns="0" rIns="0" bIns="0" rtlCol="0" anchor="t"/>
          <a:lstStyle/>
          <a:p>
            <a:pPr indent="0" marL="0">
              <a:lnSpc>
                <a:spcPct val="120000"/>
              </a:lnSpc>
              <a:buNone/>
            </a:pPr>
            <a:r>
              <a:rPr lang="en-US" sz="1250" b="1" dirty="0">
                <a:solidFill>
                  <a:srgbClr val="0F1E3D"/>
                </a:solidFill>
                <a:latin typeface="Calibri" pitchFamily="34" charset="0"/>
                <a:ea typeface="Calibri" pitchFamily="34" charset="-122"/>
                <a:cs typeface="Calibri" pitchFamily="34" charset="-120"/>
              </a:rPr>
              <a:t>No extra work for the engineer.  </a:t>
            </a:r>
            <a:pPr indent="0" marL="0">
              <a:lnSpc>
                <a:spcPct val="120000"/>
              </a:lnSpc>
              <a:buNone/>
            </a:pPr>
            <a:r>
              <a:rPr lang="en-US" sz="1250" dirty="0">
                <a:solidFill>
                  <a:srgbClr val="3E4C63"/>
                </a:solidFill>
                <a:latin typeface="Calibri" pitchFamily="34" charset="0"/>
                <a:ea typeface="Calibri" pitchFamily="34" charset="-122"/>
                <a:cs typeface="Calibri" pitchFamily="34" charset="-120"/>
              </a:rPr>
              <a:t>Steps 2, 3, 4 and 6 happen automatically. The only new habit is one click — "Log Actual £" — when a real supplier quote arrives. That single click is the fuel for everything on this slide.</a:t>
            </a:r>
            <a:endParaRPr lang="en-US" sz="1250" dirty="0"/>
          </a:p>
        </p:txBody>
      </p:sp>
      <p:sp>
        <p:nvSpPr>
          <p:cNvPr id="59" name="Shape 57"/>
          <p:cNvSpPr/>
          <p:nvPr/>
        </p:nvSpPr>
        <p:spPr>
          <a:xfrm>
            <a:off x="548640" y="6400800"/>
            <a:ext cx="11094415" cy="12802"/>
          </a:xfrm>
          <a:prstGeom prst="rect">
            <a:avLst/>
          </a:prstGeom>
          <a:solidFill>
            <a:srgbClr val="E4EAF2"/>
          </a:solidFill>
          <a:ln/>
        </p:spPr>
      </p:sp>
      <p:sp>
        <p:nvSpPr>
          <p:cNvPr id="60" name="Text 58"/>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Agentic AI Management Briefing</a:t>
            </a:r>
            <a:endParaRPr lang="en-US" sz="850" dirty="0"/>
          </a:p>
        </p:txBody>
      </p:sp>
      <p:sp>
        <p:nvSpPr>
          <p:cNvPr id="61" name="Text 5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4 / 20</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2563EB"/>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2563EB"/>
                </a:solidFill>
                <a:latin typeface="Calibri" pitchFamily="34" charset="0"/>
                <a:ea typeface="Calibri" pitchFamily="34" charset="-122"/>
                <a:cs typeface="Calibri" pitchFamily="34" charset="-120"/>
              </a:rPr>
              <a:t>CAPABILITY 1 OF 5</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500" b="1" dirty="0">
                <a:solidFill>
                  <a:srgbClr val="0F1E3D"/>
                </a:solidFill>
                <a:latin typeface="Calibri" pitchFamily="34" charset="0"/>
                <a:ea typeface="Calibri" pitchFamily="34" charset="-122"/>
                <a:cs typeface="Calibri" pitchFamily="34" charset="-120"/>
              </a:rPr>
              <a:t>The memory — an organisational knowledge base</a:t>
            </a:r>
            <a:endParaRPr lang="en-US" sz="2500" dirty="0"/>
          </a:p>
        </p:txBody>
      </p:sp>
      <p:sp>
        <p:nvSpPr>
          <p:cNvPr id="9" name="Shape 7"/>
          <p:cNvSpPr/>
          <p:nvPr/>
        </p:nvSpPr>
        <p:spPr>
          <a:xfrm>
            <a:off x="548640" y="1371600"/>
            <a:ext cx="1051560" cy="45720"/>
          </a:xfrm>
          <a:prstGeom prst="rect">
            <a:avLst/>
          </a:prstGeom>
          <a:solidFill>
            <a:srgbClr val="2563EB"/>
          </a:solidFill>
          <a:ln/>
        </p:spPr>
      </p:sp>
      <p:sp>
        <p:nvSpPr>
          <p:cNvPr id="10" name="Shape 8"/>
          <p:cNvSpPr/>
          <p:nvPr/>
        </p:nvSpPr>
        <p:spPr>
          <a:xfrm>
            <a:off x="548640" y="1645920"/>
            <a:ext cx="5394960" cy="4160520"/>
          </a:xfrm>
          <a:prstGeom prst="roundRect">
            <a:avLst>
              <a:gd name="adj" fmla="val 1538"/>
            </a:avLst>
          </a:prstGeom>
          <a:solidFill>
            <a:srgbClr val="FFFFFF"/>
          </a:solidFill>
          <a:ln w="12700">
            <a:solidFill>
              <a:srgbClr val="E4EAF2"/>
            </a:solidFill>
            <a:prstDash val="solid"/>
          </a:ln>
          <a:effectLst>
            <a:outerShdw sx="100000" sy="100000" kx="0" ky="0" algn="bl" rotWithShape="0" blurRad="2.524374906065939e+62" dist="7.212499731616968e+61" dir="4.2316648611840007e+73">
              <a:srgbClr val="9DB0CC">
                <a:alpha val="2.2e+74"/>
              </a:srgbClr>
            </a:outerShdw>
          </a:effectLst>
        </p:spPr>
      </p:sp>
      <p:sp>
        <p:nvSpPr>
          <p:cNvPr id="11" name="Shape 9"/>
          <p:cNvSpPr/>
          <p:nvPr/>
        </p:nvSpPr>
        <p:spPr>
          <a:xfrm>
            <a:off x="548640" y="1645920"/>
            <a:ext cx="5394960" cy="457200"/>
          </a:xfrm>
          <a:prstGeom prst="rect">
            <a:avLst/>
          </a:prstGeom>
          <a:solidFill>
            <a:srgbClr val="EAF1FE"/>
          </a:solidFill>
          <a:ln/>
        </p:spPr>
      </p:sp>
      <p:sp>
        <p:nvSpPr>
          <p:cNvPr id="12" name="Text 10"/>
          <p:cNvSpPr/>
          <p:nvPr/>
        </p:nvSpPr>
        <p:spPr>
          <a:xfrm>
            <a:off x="822960" y="1645920"/>
            <a:ext cx="4937760" cy="457200"/>
          </a:xfrm>
          <a:prstGeom prst="rect">
            <a:avLst/>
          </a:prstGeom>
          <a:noFill/>
          <a:ln/>
        </p:spPr>
        <p:txBody>
          <a:bodyPr wrap="square" lIns="0" tIns="0" rIns="0" bIns="0" rtlCol="0" anchor="ctr"/>
          <a:lstStyle/>
          <a:p>
            <a:pPr indent="0" marL="0">
              <a:buNone/>
            </a:pPr>
            <a:r>
              <a:rPr lang="en-US" sz="1400" b="1" dirty="0">
                <a:solidFill>
                  <a:srgbClr val="0F1E3D"/>
                </a:solidFill>
                <a:latin typeface="Calibri" pitchFamily="34" charset="0"/>
                <a:ea typeface="Calibri" pitchFamily="34" charset="-122"/>
                <a:cs typeface="Calibri" pitchFamily="34" charset="-120"/>
              </a:rPr>
              <a:t>What is stored for every analysis</a:t>
            </a:r>
            <a:endParaRPr lang="en-US" sz="1400" dirty="0"/>
          </a:p>
        </p:txBody>
      </p:sp>
      <p:sp>
        <p:nvSpPr>
          <p:cNvPr id="13" name="Shape 11"/>
          <p:cNvSpPr/>
          <p:nvPr/>
        </p:nvSpPr>
        <p:spPr>
          <a:xfrm>
            <a:off x="841248" y="2386584"/>
            <a:ext cx="128016" cy="128016"/>
          </a:xfrm>
          <a:prstGeom prst="ellipse">
            <a:avLst/>
          </a:prstGeom>
          <a:solidFill>
            <a:srgbClr val="2563EB"/>
          </a:solidFill>
          <a:ln/>
        </p:spPr>
      </p:sp>
      <p:sp>
        <p:nvSpPr>
          <p:cNvPr id="14" name="Text 12"/>
          <p:cNvSpPr/>
          <p:nvPr/>
        </p:nvSpPr>
        <p:spPr>
          <a:xfrm>
            <a:off x="1097280" y="2331720"/>
            <a:ext cx="4572000" cy="548640"/>
          </a:xfrm>
          <a:prstGeom prst="rect">
            <a:avLst/>
          </a:prstGeom>
          <a:noFill/>
          <a:ln/>
        </p:spPr>
        <p:txBody>
          <a:bodyPr wrap="square" lIns="0" tIns="0" rIns="0" bIns="0" rtlCol="0" anchor="t"/>
          <a:lstStyle/>
          <a:p>
            <a:pPr indent="0" marL="0">
              <a:lnSpc>
                <a:spcPct val="105000"/>
              </a:lnSpc>
              <a:buNone/>
            </a:pPr>
            <a:r>
              <a:rPr lang="en-US" sz="1200" b="1" dirty="0">
                <a:solidFill>
                  <a:srgbClr val="0F1E3D"/>
                </a:solidFill>
                <a:latin typeface="Calibri" pitchFamily="34" charset="0"/>
                <a:ea typeface="Calibri" pitchFamily="34" charset="-122"/>
                <a:cs typeface="Calibri" pitchFamily="34" charset="-120"/>
              </a:rPr>
              <a:t>Part "fingerprint" — </a:t>
            </a:r>
            <a:pPr indent="0" marL="0">
              <a:lnSpc>
                <a:spcPct val="105000"/>
              </a:lnSpc>
              <a:buNone/>
            </a:pPr>
            <a:r>
              <a:rPr lang="en-US" sz="1200" dirty="0">
                <a:solidFill>
                  <a:srgbClr val="3E4C63"/>
                </a:solidFill>
                <a:latin typeface="Calibri" pitchFamily="34" charset="0"/>
                <a:ea typeface="Calibri" pitchFamily="34" charset="-122"/>
                <a:cs typeface="Calibri" pitchFamily="34" charset="-120"/>
              </a:rPr>
              <a:t>process, material, weight, size, region, volume</a:t>
            </a:r>
            <a:endParaRPr lang="en-US" sz="1200" dirty="0"/>
          </a:p>
        </p:txBody>
      </p:sp>
      <p:sp>
        <p:nvSpPr>
          <p:cNvPr id="15" name="Shape 13"/>
          <p:cNvSpPr/>
          <p:nvPr/>
        </p:nvSpPr>
        <p:spPr>
          <a:xfrm>
            <a:off x="841248" y="3054096"/>
            <a:ext cx="128016" cy="128016"/>
          </a:xfrm>
          <a:prstGeom prst="ellipse">
            <a:avLst/>
          </a:prstGeom>
          <a:solidFill>
            <a:srgbClr val="2563EB"/>
          </a:solidFill>
          <a:ln/>
        </p:spPr>
      </p:sp>
      <p:sp>
        <p:nvSpPr>
          <p:cNvPr id="16" name="Text 14"/>
          <p:cNvSpPr/>
          <p:nvPr/>
        </p:nvSpPr>
        <p:spPr>
          <a:xfrm>
            <a:off x="1097280" y="2999232"/>
            <a:ext cx="4572000" cy="548640"/>
          </a:xfrm>
          <a:prstGeom prst="rect">
            <a:avLst/>
          </a:prstGeom>
          <a:noFill/>
          <a:ln/>
        </p:spPr>
        <p:txBody>
          <a:bodyPr wrap="square" lIns="0" tIns="0" rIns="0" bIns="0" rtlCol="0" anchor="t"/>
          <a:lstStyle/>
          <a:p>
            <a:pPr indent="0" marL="0">
              <a:lnSpc>
                <a:spcPct val="105000"/>
              </a:lnSpc>
              <a:buNone/>
            </a:pPr>
            <a:r>
              <a:rPr lang="en-US" sz="1200" b="1" dirty="0">
                <a:solidFill>
                  <a:srgbClr val="0F1E3D"/>
                </a:solidFill>
                <a:latin typeface="Calibri" pitchFamily="34" charset="0"/>
                <a:ea typeface="Calibri" pitchFamily="34" charset="-122"/>
                <a:cs typeface="Calibri" pitchFamily="34" charset="-120"/>
              </a:rPr>
              <a:t>The full cost result — </a:t>
            </a:r>
            <a:pPr indent="0" marL="0">
              <a:lnSpc>
                <a:spcPct val="105000"/>
              </a:lnSpc>
              <a:buNone/>
            </a:pPr>
            <a:r>
              <a:rPr lang="en-US" sz="1200" dirty="0">
                <a:solidFill>
                  <a:srgbClr val="3E4C63"/>
                </a:solidFill>
                <a:latin typeface="Calibri" pitchFamily="34" charset="0"/>
                <a:ea typeface="Calibri" pitchFamily="34" charset="-122"/>
                <a:cs typeface="Calibri" pitchFamily="34" charset="-120"/>
              </a:rPr>
              <a:t>total + breakdown by cost driver</a:t>
            </a:r>
            <a:endParaRPr lang="en-US" sz="1200" dirty="0"/>
          </a:p>
        </p:txBody>
      </p:sp>
      <p:sp>
        <p:nvSpPr>
          <p:cNvPr id="17" name="Shape 15"/>
          <p:cNvSpPr/>
          <p:nvPr/>
        </p:nvSpPr>
        <p:spPr>
          <a:xfrm>
            <a:off x="841248" y="3721608"/>
            <a:ext cx="128016" cy="128016"/>
          </a:xfrm>
          <a:prstGeom prst="ellipse">
            <a:avLst/>
          </a:prstGeom>
          <a:solidFill>
            <a:srgbClr val="2563EB"/>
          </a:solidFill>
          <a:ln/>
        </p:spPr>
      </p:sp>
      <p:sp>
        <p:nvSpPr>
          <p:cNvPr id="18" name="Text 16"/>
          <p:cNvSpPr/>
          <p:nvPr/>
        </p:nvSpPr>
        <p:spPr>
          <a:xfrm>
            <a:off x="1097280" y="3666744"/>
            <a:ext cx="4572000" cy="548640"/>
          </a:xfrm>
          <a:prstGeom prst="rect">
            <a:avLst/>
          </a:prstGeom>
          <a:noFill/>
          <a:ln/>
        </p:spPr>
        <p:txBody>
          <a:bodyPr wrap="square" lIns="0" tIns="0" rIns="0" bIns="0" rtlCol="0" anchor="t"/>
          <a:lstStyle/>
          <a:p>
            <a:pPr indent="0" marL="0">
              <a:lnSpc>
                <a:spcPct val="105000"/>
              </a:lnSpc>
              <a:buNone/>
            </a:pPr>
            <a:r>
              <a:rPr lang="en-US" sz="1200" b="1" dirty="0">
                <a:solidFill>
                  <a:srgbClr val="0F1E3D"/>
                </a:solidFill>
                <a:latin typeface="Calibri" pitchFamily="34" charset="0"/>
                <a:ea typeface="Calibri" pitchFamily="34" charset="-122"/>
                <a:cs typeface="Calibri" pitchFamily="34" charset="-120"/>
              </a:rPr>
              <a:t>Real quotes — </a:t>
            </a:r>
            <a:pPr indent="0" marL="0">
              <a:lnSpc>
                <a:spcPct val="105000"/>
              </a:lnSpc>
              <a:buNone/>
            </a:pPr>
            <a:r>
              <a:rPr lang="en-US" sz="1200" dirty="0">
                <a:solidFill>
                  <a:srgbClr val="3E4C63"/>
                </a:solidFill>
                <a:latin typeface="Calibri" pitchFamily="34" charset="0"/>
                <a:ea typeface="Calibri" pitchFamily="34" charset="-122"/>
                <a:cs typeface="Calibri" pitchFamily="34" charset="-120"/>
              </a:rPr>
              <a:t>actual supplier / PO prices, when logged</a:t>
            </a:r>
            <a:endParaRPr lang="en-US" sz="1200" dirty="0"/>
          </a:p>
        </p:txBody>
      </p:sp>
      <p:sp>
        <p:nvSpPr>
          <p:cNvPr id="19" name="Shape 17"/>
          <p:cNvSpPr/>
          <p:nvPr/>
        </p:nvSpPr>
        <p:spPr>
          <a:xfrm>
            <a:off x="841248" y="4389120"/>
            <a:ext cx="128016" cy="128016"/>
          </a:xfrm>
          <a:prstGeom prst="ellipse">
            <a:avLst/>
          </a:prstGeom>
          <a:solidFill>
            <a:srgbClr val="2563EB"/>
          </a:solidFill>
          <a:ln/>
        </p:spPr>
      </p:sp>
      <p:sp>
        <p:nvSpPr>
          <p:cNvPr id="20" name="Text 18"/>
          <p:cNvSpPr/>
          <p:nvPr/>
        </p:nvSpPr>
        <p:spPr>
          <a:xfrm>
            <a:off x="1097280" y="4334256"/>
            <a:ext cx="4572000" cy="548640"/>
          </a:xfrm>
          <a:prstGeom prst="rect">
            <a:avLst/>
          </a:prstGeom>
          <a:noFill/>
          <a:ln/>
        </p:spPr>
        <p:txBody>
          <a:bodyPr wrap="square" lIns="0" tIns="0" rIns="0" bIns="0" rtlCol="0" anchor="t"/>
          <a:lstStyle/>
          <a:p>
            <a:pPr indent="0" marL="0">
              <a:lnSpc>
                <a:spcPct val="105000"/>
              </a:lnSpc>
              <a:buNone/>
            </a:pPr>
            <a:r>
              <a:rPr lang="en-US" sz="1200" b="1" dirty="0">
                <a:solidFill>
                  <a:srgbClr val="0F1E3D"/>
                </a:solidFill>
                <a:latin typeface="Calibri" pitchFamily="34" charset="0"/>
                <a:ea typeface="Calibri" pitchFamily="34" charset="-122"/>
                <a:cs typeface="Calibri" pitchFamily="34" charset="-120"/>
              </a:rPr>
              <a:t>Expert corrections — </a:t>
            </a:r>
            <a:pPr indent="0" marL="0">
              <a:lnSpc>
                <a:spcPct val="105000"/>
              </a:lnSpc>
              <a:buNone/>
            </a:pPr>
            <a:r>
              <a:rPr lang="en-US" sz="1200" dirty="0">
                <a:solidFill>
                  <a:srgbClr val="3E4C63"/>
                </a:solidFill>
                <a:latin typeface="Calibri" pitchFamily="34" charset="0"/>
                <a:ea typeface="Calibri" pitchFamily="34" charset="-122"/>
                <a:cs typeface="Calibri" pitchFamily="34" charset="-120"/>
              </a:rPr>
              <a:t>where a person adjusted the AI's values</a:t>
            </a:r>
            <a:endParaRPr lang="en-US" sz="1200" dirty="0"/>
          </a:p>
        </p:txBody>
      </p:sp>
      <p:sp>
        <p:nvSpPr>
          <p:cNvPr id="21" name="Shape 19"/>
          <p:cNvSpPr/>
          <p:nvPr/>
        </p:nvSpPr>
        <p:spPr>
          <a:xfrm>
            <a:off x="841248" y="5056632"/>
            <a:ext cx="128016" cy="128016"/>
          </a:xfrm>
          <a:prstGeom prst="ellipse">
            <a:avLst/>
          </a:prstGeom>
          <a:solidFill>
            <a:srgbClr val="2563EB"/>
          </a:solidFill>
          <a:ln/>
        </p:spPr>
      </p:sp>
      <p:sp>
        <p:nvSpPr>
          <p:cNvPr id="22" name="Text 20"/>
          <p:cNvSpPr/>
          <p:nvPr/>
        </p:nvSpPr>
        <p:spPr>
          <a:xfrm>
            <a:off x="1097280" y="5001768"/>
            <a:ext cx="4572000" cy="548640"/>
          </a:xfrm>
          <a:prstGeom prst="rect">
            <a:avLst/>
          </a:prstGeom>
          <a:noFill/>
          <a:ln/>
        </p:spPr>
        <p:txBody>
          <a:bodyPr wrap="square" lIns="0" tIns="0" rIns="0" bIns="0" rtlCol="0" anchor="t"/>
          <a:lstStyle/>
          <a:p>
            <a:pPr indent="0" marL="0">
              <a:lnSpc>
                <a:spcPct val="105000"/>
              </a:lnSpc>
              <a:buNone/>
            </a:pPr>
            <a:r>
              <a:rPr lang="en-US" sz="1200" b="1" dirty="0">
                <a:solidFill>
                  <a:srgbClr val="0F1E3D"/>
                </a:solidFill>
                <a:latin typeface="Calibri" pitchFamily="34" charset="0"/>
                <a:ea typeface="Calibri" pitchFamily="34" charset="-122"/>
                <a:cs typeface="Calibri" pitchFamily="34" charset="-120"/>
              </a:rPr>
              <a:t>CAD shape data — </a:t>
            </a:r>
            <a:pPr indent="0" marL="0">
              <a:lnSpc>
                <a:spcPct val="105000"/>
              </a:lnSpc>
              <a:buNone/>
            </a:pPr>
            <a:r>
              <a:rPr lang="en-US" sz="1200" dirty="0">
                <a:solidFill>
                  <a:srgbClr val="3E4C63"/>
                </a:solidFill>
                <a:latin typeface="Calibri" pitchFamily="34" charset="0"/>
                <a:ea typeface="Calibri" pitchFamily="34" charset="-122"/>
                <a:cs typeface="Calibri" pitchFamily="34" charset="-120"/>
              </a:rPr>
              <a:t>dimensions &amp; features, when a CAD file was used</a:t>
            </a:r>
            <a:endParaRPr lang="en-US" sz="1200" dirty="0"/>
          </a:p>
        </p:txBody>
      </p:sp>
      <p:sp>
        <p:nvSpPr>
          <p:cNvPr id="23" name="Shape 21"/>
          <p:cNvSpPr/>
          <p:nvPr/>
        </p:nvSpPr>
        <p:spPr>
          <a:xfrm>
            <a:off x="6245352" y="1645920"/>
            <a:ext cx="5394960" cy="4160520"/>
          </a:xfrm>
          <a:prstGeom prst="roundRect">
            <a:avLst>
              <a:gd name="adj" fmla="val 1538"/>
            </a:avLst>
          </a:prstGeom>
          <a:solidFill>
            <a:srgbClr val="EAF1FE"/>
          </a:solidFill>
          <a:ln w="12700">
            <a:solidFill>
              <a:srgbClr val="E4EAF2"/>
            </a:solidFill>
            <a:prstDash val="solid"/>
          </a:ln>
        </p:spPr>
      </p:sp>
      <p:sp>
        <p:nvSpPr>
          <p:cNvPr id="24" name="Text 22"/>
          <p:cNvSpPr/>
          <p:nvPr/>
        </p:nvSpPr>
        <p:spPr>
          <a:xfrm>
            <a:off x="6519672" y="1810512"/>
            <a:ext cx="4937760" cy="365760"/>
          </a:xfrm>
          <a:prstGeom prst="rect">
            <a:avLst/>
          </a:prstGeom>
          <a:noFill/>
          <a:ln/>
        </p:spPr>
        <p:txBody>
          <a:bodyPr wrap="square" lIns="0" tIns="0" rIns="0" bIns="0" rtlCol="0" anchor="t"/>
          <a:lstStyle/>
          <a:p>
            <a:pPr indent="0" marL="0">
              <a:buNone/>
            </a:pPr>
            <a:r>
              <a:rPr lang="en-US" sz="1400" b="1" dirty="0">
                <a:solidFill>
                  <a:srgbClr val="0F1E3D"/>
                </a:solidFill>
                <a:latin typeface="Calibri" pitchFamily="34" charset="0"/>
                <a:ea typeface="Calibri" pitchFamily="34" charset="-122"/>
                <a:cs typeface="Calibri" pitchFamily="34" charset="-120"/>
              </a:rPr>
              <a:t>Why it matters to us</a:t>
            </a:r>
            <a:endParaRPr lang="en-US" sz="1400" dirty="0"/>
          </a:p>
        </p:txBody>
      </p:sp>
      <p:sp>
        <p:nvSpPr>
          <p:cNvPr id="25" name="Shape 23"/>
          <p:cNvSpPr/>
          <p:nvPr/>
        </p:nvSpPr>
        <p:spPr>
          <a:xfrm>
            <a:off x="6519672" y="2304288"/>
            <a:ext cx="310896" cy="310896"/>
          </a:xfrm>
          <a:prstGeom prst="ellipse">
            <a:avLst/>
          </a:prstGeom>
          <a:solidFill>
            <a:srgbClr val="E7F7F0"/>
          </a:solidFill>
          <a:ln/>
        </p:spPr>
      </p:sp>
      <p:sp>
        <p:nvSpPr>
          <p:cNvPr id="26" name="Text 24"/>
          <p:cNvSpPr/>
          <p:nvPr/>
        </p:nvSpPr>
        <p:spPr>
          <a:xfrm>
            <a:off x="6519672" y="2295144"/>
            <a:ext cx="310896" cy="310896"/>
          </a:xfrm>
          <a:prstGeom prst="rect">
            <a:avLst/>
          </a:prstGeom>
          <a:noFill/>
          <a:ln/>
        </p:spPr>
        <p:txBody>
          <a:bodyPr wrap="square" lIns="0" tIns="0" rIns="0" bIns="0" rtlCol="0" anchor="ctr"/>
          <a:lstStyle/>
          <a:p>
            <a:pPr algn="ctr" indent="0" marL="0">
              <a:buNone/>
            </a:pPr>
            <a:r>
              <a:rPr lang="en-US" sz="1200" b="1" dirty="0">
                <a:solidFill>
                  <a:srgbClr val="0EA472"/>
                </a:solidFill>
                <a:latin typeface="Calibri" pitchFamily="34" charset="0"/>
                <a:ea typeface="Calibri" pitchFamily="34" charset="-122"/>
                <a:cs typeface="Calibri" pitchFamily="34" charset="-120"/>
              </a:rPr>
              <a:t>✓</a:t>
            </a:r>
            <a:endParaRPr lang="en-US" sz="1200" dirty="0"/>
          </a:p>
        </p:txBody>
      </p:sp>
      <p:sp>
        <p:nvSpPr>
          <p:cNvPr id="27" name="Text 25"/>
          <p:cNvSpPr/>
          <p:nvPr/>
        </p:nvSpPr>
        <p:spPr>
          <a:xfrm>
            <a:off x="6940296" y="2286000"/>
            <a:ext cx="4480560" cy="274320"/>
          </a:xfrm>
          <a:prstGeom prst="rect">
            <a:avLst/>
          </a:prstGeom>
          <a:noFill/>
          <a:ln/>
        </p:spPr>
        <p:txBody>
          <a:bodyPr wrap="square" lIns="0" tIns="0" rIns="0" bIns="0" rtlCol="0" anchor="t"/>
          <a:lstStyle/>
          <a:p>
            <a:pPr indent="0" marL="0">
              <a:buNone/>
            </a:pPr>
            <a:r>
              <a:rPr lang="en-US" sz="1250" b="1" dirty="0">
                <a:solidFill>
                  <a:srgbClr val="0EA472"/>
                </a:solidFill>
                <a:latin typeface="Calibri" pitchFamily="34" charset="0"/>
                <a:ea typeface="Calibri" pitchFamily="34" charset="-122"/>
                <a:cs typeface="Calibri" pitchFamily="34" charset="-120"/>
              </a:rPr>
              <a:t>Shared, not personal</a:t>
            </a:r>
            <a:endParaRPr lang="en-US" sz="1250" dirty="0"/>
          </a:p>
        </p:txBody>
      </p:sp>
      <p:sp>
        <p:nvSpPr>
          <p:cNvPr id="28" name="Text 26"/>
          <p:cNvSpPr/>
          <p:nvPr/>
        </p:nvSpPr>
        <p:spPr>
          <a:xfrm>
            <a:off x="6940296" y="2578608"/>
            <a:ext cx="4434840" cy="502920"/>
          </a:xfrm>
          <a:prstGeom prst="rect">
            <a:avLst/>
          </a:prstGeom>
          <a:noFill/>
          <a:ln/>
        </p:spPr>
        <p:txBody>
          <a:bodyPr wrap="square" lIns="0" tIns="0" rIns="0" bIns="0" rtlCol="0" anchor="t"/>
          <a:lstStyle/>
          <a:p>
            <a:pPr indent="0" marL="0">
              <a:lnSpc>
                <a:spcPct val="105000"/>
              </a:lnSpc>
              <a:buNone/>
            </a:pPr>
            <a:r>
              <a:rPr lang="en-US" sz="1100" dirty="0">
                <a:solidFill>
                  <a:srgbClr val="3E4C63"/>
                </a:solidFill>
                <a:latin typeface="Calibri" pitchFamily="34" charset="0"/>
                <a:ea typeface="Calibri" pitchFamily="34" charset="-122"/>
                <a:cs typeface="Calibri" pitchFamily="34" charset="-120"/>
              </a:rPr>
              <a:t>One engineer's analysis instantly helps everyone — juniors inherit senior judgement.</a:t>
            </a:r>
            <a:endParaRPr lang="en-US" sz="1100" dirty="0"/>
          </a:p>
        </p:txBody>
      </p:sp>
      <p:sp>
        <p:nvSpPr>
          <p:cNvPr id="29" name="Shape 27"/>
          <p:cNvSpPr/>
          <p:nvPr/>
        </p:nvSpPr>
        <p:spPr>
          <a:xfrm>
            <a:off x="6519672" y="3154680"/>
            <a:ext cx="310896" cy="310896"/>
          </a:xfrm>
          <a:prstGeom prst="ellipse">
            <a:avLst/>
          </a:prstGeom>
          <a:solidFill>
            <a:srgbClr val="E7F7F0"/>
          </a:solidFill>
          <a:ln/>
        </p:spPr>
      </p:sp>
      <p:sp>
        <p:nvSpPr>
          <p:cNvPr id="30" name="Text 28"/>
          <p:cNvSpPr/>
          <p:nvPr/>
        </p:nvSpPr>
        <p:spPr>
          <a:xfrm>
            <a:off x="6519672" y="3145536"/>
            <a:ext cx="310896" cy="310896"/>
          </a:xfrm>
          <a:prstGeom prst="rect">
            <a:avLst/>
          </a:prstGeom>
          <a:noFill/>
          <a:ln/>
        </p:spPr>
        <p:txBody>
          <a:bodyPr wrap="square" lIns="0" tIns="0" rIns="0" bIns="0" rtlCol="0" anchor="ctr"/>
          <a:lstStyle/>
          <a:p>
            <a:pPr algn="ctr" indent="0" marL="0">
              <a:buNone/>
            </a:pPr>
            <a:r>
              <a:rPr lang="en-US" sz="1200" b="1" dirty="0">
                <a:solidFill>
                  <a:srgbClr val="0EA472"/>
                </a:solidFill>
                <a:latin typeface="Calibri" pitchFamily="34" charset="0"/>
                <a:ea typeface="Calibri" pitchFamily="34" charset="-122"/>
                <a:cs typeface="Calibri" pitchFamily="34" charset="-120"/>
              </a:rPr>
              <a:t>✓</a:t>
            </a:r>
            <a:endParaRPr lang="en-US" sz="1200" dirty="0"/>
          </a:p>
        </p:txBody>
      </p:sp>
      <p:sp>
        <p:nvSpPr>
          <p:cNvPr id="31" name="Text 29"/>
          <p:cNvSpPr/>
          <p:nvPr/>
        </p:nvSpPr>
        <p:spPr>
          <a:xfrm>
            <a:off x="6940296" y="3136392"/>
            <a:ext cx="4480560" cy="274320"/>
          </a:xfrm>
          <a:prstGeom prst="rect">
            <a:avLst/>
          </a:prstGeom>
          <a:noFill/>
          <a:ln/>
        </p:spPr>
        <p:txBody>
          <a:bodyPr wrap="square" lIns="0" tIns="0" rIns="0" bIns="0" rtlCol="0" anchor="t"/>
          <a:lstStyle/>
          <a:p>
            <a:pPr indent="0" marL="0">
              <a:buNone/>
            </a:pPr>
            <a:r>
              <a:rPr lang="en-US" sz="1250" b="1" dirty="0">
                <a:solidFill>
                  <a:srgbClr val="0EA472"/>
                </a:solidFill>
                <a:latin typeface="Calibri" pitchFamily="34" charset="0"/>
                <a:ea typeface="Calibri" pitchFamily="34" charset="-122"/>
                <a:cs typeface="Calibri" pitchFamily="34" charset="-120"/>
              </a:rPr>
              <a:t>Stays on our servers</a:t>
            </a:r>
            <a:endParaRPr lang="en-US" sz="1250" dirty="0"/>
          </a:p>
        </p:txBody>
      </p:sp>
      <p:sp>
        <p:nvSpPr>
          <p:cNvPr id="32" name="Text 30"/>
          <p:cNvSpPr/>
          <p:nvPr/>
        </p:nvSpPr>
        <p:spPr>
          <a:xfrm>
            <a:off x="6940296" y="3429000"/>
            <a:ext cx="4434840" cy="502920"/>
          </a:xfrm>
          <a:prstGeom prst="rect">
            <a:avLst/>
          </a:prstGeom>
          <a:noFill/>
          <a:ln/>
        </p:spPr>
        <p:txBody>
          <a:bodyPr wrap="square" lIns="0" tIns="0" rIns="0" bIns="0" rtlCol="0" anchor="t"/>
          <a:lstStyle/>
          <a:p>
            <a:pPr indent="0" marL="0">
              <a:lnSpc>
                <a:spcPct val="105000"/>
              </a:lnSpc>
              <a:buNone/>
            </a:pPr>
            <a:r>
              <a:rPr lang="en-US" sz="1100" dirty="0">
                <a:solidFill>
                  <a:srgbClr val="3E4C63"/>
                </a:solidFill>
                <a:latin typeface="Calibri" pitchFamily="34" charset="0"/>
                <a:ea typeface="Calibri" pitchFamily="34" charset="-122"/>
                <a:cs typeface="Calibri" pitchFamily="34" charset="-120"/>
              </a:rPr>
              <a:t>Our database, our infrastructure. The knowledge is a company asset, not a vendor's.</a:t>
            </a:r>
            <a:endParaRPr lang="en-US" sz="1100" dirty="0"/>
          </a:p>
        </p:txBody>
      </p:sp>
      <p:sp>
        <p:nvSpPr>
          <p:cNvPr id="33" name="Shape 31"/>
          <p:cNvSpPr/>
          <p:nvPr/>
        </p:nvSpPr>
        <p:spPr>
          <a:xfrm>
            <a:off x="6519672" y="4005072"/>
            <a:ext cx="310896" cy="310896"/>
          </a:xfrm>
          <a:prstGeom prst="ellipse">
            <a:avLst/>
          </a:prstGeom>
          <a:solidFill>
            <a:srgbClr val="E7F7F0"/>
          </a:solidFill>
          <a:ln/>
        </p:spPr>
      </p:sp>
      <p:sp>
        <p:nvSpPr>
          <p:cNvPr id="34" name="Text 32"/>
          <p:cNvSpPr/>
          <p:nvPr/>
        </p:nvSpPr>
        <p:spPr>
          <a:xfrm>
            <a:off x="6519672" y="3995928"/>
            <a:ext cx="310896" cy="310896"/>
          </a:xfrm>
          <a:prstGeom prst="rect">
            <a:avLst/>
          </a:prstGeom>
          <a:noFill/>
          <a:ln/>
        </p:spPr>
        <p:txBody>
          <a:bodyPr wrap="square" lIns="0" tIns="0" rIns="0" bIns="0" rtlCol="0" anchor="ctr"/>
          <a:lstStyle/>
          <a:p>
            <a:pPr algn="ctr" indent="0" marL="0">
              <a:buNone/>
            </a:pPr>
            <a:r>
              <a:rPr lang="en-US" sz="1200" b="1" dirty="0">
                <a:solidFill>
                  <a:srgbClr val="0EA472"/>
                </a:solidFill>
                <a:latin typeface="Calibri" pitchFamily="34" charset="0"/>
                <a:ea typeface="Calibri" pitchFamily="34" charset="-122"/>
                <a:cs typeface="Calibri" pitchFamily="34" charset="-120"/>
              </a:rPr>
              <a:t>✓</a:t>
            </a:r>
            <a:endParaRPr lang="en-US" sz="1200" dirty="0"/>
          </a:p>
        </p:txBody>
      </p:sp>
      <p:sp>
        <p:nvSpPr>
          <p:cNvPr id="35" name="Text 33"/>
          <p:cNvSpPr/>
          <p:nvPr/>
        </p:nvSpPr>
        <p:spPr>
          <a:xfrm>
            <a:off x="6940296" y="3986784"/>
            <a:ext cx="4480560" cy="274320"/>
          </a:xfrm>
          <a:prstGeom prst="rect">
            <a:avLst/>
          </a:prstGeom>
          <a:noFill/>
          <a:ln/>
        </p:spPr>
        <p:txBody>
          <a:bodyPr wrap="square" lIns="0" tIns="0" rIns="0" bIns="0" rtlCol="0" anchor="t"/>
          <a:lstStyle/>
          <a:p>
            <a:pPr indent="0" marL="0">
              <a:buNone/>
            </a:pPr>
            <a:r>
              <a:rPr lang="en-US" sz="1250" b="1" dirty="0">
                <a:solidFill>
                  <a:srgbClr val="0EA472"/>
                </a:solidFill>
                <a:latin typeface="Calibri" pitchFamily="34" charset="0"/>
                <a:ea typeface="Calibri" pitchFamily="34" charset="-122"/>
                <a:cs typeface="Calibri" pitchFamily="34" charset="-120"/>
              </a:rPr>
              <a:t>No duplicates</a:t>
            </a:r>
            <a:endParaRPr lang="en-US" sz="1250" dirty="0"/>
          </a:p>
        </p:txBody>
      </p:sp>
      <p:sp>
        <p:nvSpPr>
          <p:cNvPr id="36" name="Text 34"/>
          <p:cNvSpPr/>
          <p:nvPr/>
        </p:nvSpPr>
        <p:spPr>
          <a:xfrm>
            <a:off x="6940296" y="4279392"/>
            <a:ext cx="4434840" cy="502920"/>
          </a:xfrm>
          <a:prstGeom prst="rect">
            <a:avLst/>
          </a:prstGeom>
          <a:noFill/>
          <a:ln/>
        </p:spPr>
        <p:txBody>
          <a:bodyPr wrap="square" lIns="0" tIns="0" rIns="0" bIns="0" rtlCol="0" anchor="t"/>
          <a:lstStyle/>
          <a:p>
            <a:pPr indent="0" marL="0">
              <a:lnSpc>
                <a:spcPct val="105000"/>
              </a:lnSpc>
              <a:buNone/>
            </a:pPr>
            <a:r>
              <a:rPr lang="en-US" sz="1100" dirty="0">
                <a:solidFill>
                  <a:srgbClr val="3E4C63"/>
                </a:solidFill>
                <a:latin typeface="Calibri" pitchFamily="34" charset="0"/>
                <a:ea typeface="Calibri" pitchFamily="34" charset="-122"/>
                <a:cs typeface="Calibri" pitchFamily="34" charset="-120"/>
              </a:rPr>
              <a:t>Re-costing a part updates its case — the memory stays clean.</a:t>
            </a:r>
            <a:endParaRPr lang="en-US" sz="1100" dirty="0"/>
          </a:p>
        </p:txBody>
      </p:sp>
      <p:sp>
        <p:nvSpPr>
          <p:cNvPr id="37" name="Shape 35"/>
          <p:cNvSpPr/>
          <p:nvPr/>
        </p:nvSpPr>
        <p:spPr>
          <a:xfrm>
            <a:off x="6519672" y="4855464"/>
            <a:ext cx="310896" cy="310896"/>
          </a:xfrm>
          <a:prstGeom prst="ellipse">
            <a:avLst/>
          </a:prstGeom>
          <a:solidFill>
            <a:srgbClr val="E7F7F0"/>
          </a:solidFill>
          <a:ln/>
        </p:spPr>
      </p:sp>
      <p:sp>
        <p:nvSpPr>
          <p:cNvPr id="38" name="Text 36"/>
          <p:cNvSpPr/>
          <p:nvPr/>
        </p:nvSpPr>
        <p:spPr>
          <a:xfrm>
            <a:off x="6519672" y="4846320"/>
            <a:ext cx="310896" cy="310896"/>
          </a:xfrm>
          <a:prstGeom prst="rect">
            <a:avLst/>
          </a:prstGeom>
          <a:noFill/>
          <a:ln/>
        </p:spPr>
        <p:txBody>
          <a:bodyPr wrap="square" lIns="0" tIns="0" rIns="0" bIns="0" rtlCol="0" anchor="ctr"/>
          <a:lstStyle/>
          <a:p>
            <a:pPr algn="ctr" indent="0" marL="0">
              <a:buNone/>
            </a:pPr>
            <a:r>
              <a:rPr lang="en-US" sz="1200" b="1" dirty="0">
                <a:solidFill>
                  <a:srgbClr val="0EA472"/>
                </a:solidFill>
                <a:latin typeface="Calibri" pitchFamily="34" charset="0"/>
                <a:ea typeface="Calibri" pitchFamily="34" charset="-122"/>
                <a:cs typeface="Calibri" pitchFamily="34" charset="-120"/>
              </a:rPr>
              <a:t>✓</a:t>
            </a:r>
            <a:endParaRPr lang="en-US" sz="1200" dirty="0"/>
          </a:p>
        </p:txBody>
      </p:sp>
      <p:sp>
        <p:nvSpPr>
          <p:cNvPr id="39" name="Text 37"/>
          <p:cNvSpPr/>
          <p:nvPr/>
        </p:nvSpPr>
        <p:spPr>
          <a:xfrm>
            <a:off x="6940296" y="4837176"/>
            <a:ext cx="4480560" cy="274320"/>
          </a:xfrm>
          <a:prstGeom prst="rect">
            <a:avLst/>
          </a:prstGeom>
          <a:noFill/>
          <a:ln/>
        </p:spPr>
        <p:txBody>
          <a:bodyPr wrap="square" lIns="0" tIns="0" rIns="0" bIns="0" rtlCol="0" anchor="t"/>
          <a:lstStyle/>
          <a:p>
            <a:pPr indent="0" marL="0">
              <a:buNone/>
            </a:pPr>
            <a:r>
              <a:rPr lang="en-US" sz="1250" b="1" dirty="0">
                <a:solidFill>
                  <a:srgbClr val="0EA472"/>
                </a:solidFill>
                <a:latin typeface="Calibri" pitchFamily="34" charset="0"/>
                <a:ea typeface="Calibri" pitchFamily="34" charset="-122"/>
                <a:cs typeface="Calibri" pitchFamily="34" charset="-120"/>
              </a:rPr>
              <a:t>Compounds with use</a:t>
            </a:r>
            <a:endParaRPr lang="en-US" sz="1250" dirty="0"/>
          </a:p>
        </p:txBody>
      </p:sp>
      <p:sp>
        <p:nvSpPr>
          <p:cNvPr id="40" name="Text 38"/>
          <p:cNvSpPr/>
          <p:nvPr/>
        </p:nvSpPr>
        <p:spPr>
          <a:xfrm>
            <a:off x="6940296" y="5129784"/>
            <a:ext cx="4434840" cy="502920"/>
          </a:xfrm>
          <a:prstGeom prst="rect">
            <a:avLst/>
          </a:prstGeom>
          <a:noFill/>
          <a:ln/>
        </p:spPr>
        <p:txBody>
          <a:bodyPr wrap="square" lIns="0" tIns="0" rIns="0" bIns="0" rtlCol="0" anchor="t"/>
          <a:lstStyle/>
          <a:p>
            <a:pPr indent="0" marL="0">
              <a:lnSpc>
                <a:spcPct val="105000"/>
              </a:lnSpc>
              <a:buNone/>
            </a:pPr>
            <a:r>
              <a:rPr lang="en-US" sz="1100" dirty="0">
                <a:solidFill>
                  <a:srgbClr val="3E4C63"/>
                </a:solidFill>
                <a:latin typeface="Calibri" pitchFamily="34" charset="0"/>
                <a:ea typeface="Calibri" pitchFamily="34" charset="-122"/>
                <a:cs typeface="Calibri" pitchFamily="34" charset="-120"/>
              </a:rPr>
              <a:t>Useful from ~20–30 analyses; every costing from today is an investment.</a:t>
            </a:r>
            <a:endParaRPr lang="en-US" sz="1100" dirty="0"/>
          </a:p>
        </p:txBody>
      </p:sp>
      <p:sp>
        <p:nvSpPr>
          <p:cNvPr id="41" name="Shape 39"/>
          <p:cNvSpPr/>
          <p:nvPr/>
        </p:nvSpPr>
        <p:spPr>
          <a:xfrm>
            <a:off x="548640" y="6400800"/>
            <a:ext cx="11094415" cy="12802"/>
          </a:xfrm>
          <a:prstGeom prst="rect">
            <a:avLst/>
          </a:prstGeom>
          <a:solidFill>
            <a:srgbClr val="E4EAF2"/>
          </a:solidFill>
          <a:ln/>
        </p:spPr>
      </p:sp>
      <p:sp>
        <p:nvSpPr>
          <p:cNvPr id="42" name="Text 40"/>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Agentic AI Management Briefing</a:t>
            </a:r>
            <a:endParaRPr lang="en-US" sz="850" dirty="0"/>
          </a:p>
        </p:txBody>
      </p:sp>
      <p:sp>
        <p:nvSpPr>
          <p:cNvPr id="43" name="Text 41"/>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5 / 20</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93B0"/>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93B0"/>
                </a:solidFill>
                <a:latin typeface="Calibri" pitchFamily="34" charset="0"/>
                <a:ea typeface="Calibri" pitchFamily="34" charset="-122"/>
                <a:cs typeface="Calibri" pitchFamily="34" charset="-120"/>
              </a:rPr>
              <a:t>CAPABILITY 2 OF 5</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500" b="1" dirty="0">
                <a:solidFill>
                  <a:srgbClr val="0F1E3D"/>
                </a:solidFill>
                <a:latin typeface="Calibri" pitchFamily="34" charset="0"/>
                <a:ea typeface="Calibri" pitchFamily="34" charset="-122"/>
                <a:cs typeface="Calibri" pitchFamily="34" charset="-120"/>
              </a:rPr>
              <a:t>Recognition — "we have costed this before"</a:t>
            </a:r>
            <a:endParaRPr lang="en-US" sz="2500" dirty="0"/>
          </a:p>
        </p:txBody>
      </p:sp>
      <p:sp>
        <p:nvSpPr>
          <p:cNvPr id="9" name="Shape 7"/>
          <p:cNvSpPr/>
          <p:nvPr/>
        </p:nvSpPr>
        <p:spPr>
          <a:xfrm>
            <a:off x="548640" y="1371600"/>
            <a:ext cx="1051560" cy="45720"/>
          </a:xfrm>
          <a:prstGeom prst="rect">
            <a:avLst/>
          </a:prstGeom>
          <a:solidFill>
            <a:srgbClr val="0E93B0"/>
          </a:solidFill>
          <a:ln/>
        </p:spPr>
      </p:sp>
      <p:sp>
        <p:nvSpPr>
          <p:cNvPr id="10" name="Text 8"/>
          <p:cNvSpPr/>
          <p:nvPr/>
        </p:nvSpPr>
        <p:spPr>
          <a:xfrm>
            <a:off x="548640" y="1572768"/>
            <a:ext cx="10972800" cy="320040"/>
          </a:xfrm>
          <a:prstGeom prst="rect">
            <a:avLst/>
          </a:prstGeom>
          <a:noFill/>
          <a:ln/>
        </p:spPr>
        <p:txBody>
          <a:bodyPr wrap="square" lIns="0" tIns="0" rIns="0" bIns="0" rtlCol="0" anchor="t"/>
          <a:lstStyle/>
          <a:p>
            <a:pPr indent="0" marL="0">
              <a:buNone/>
            </a:pPr>
            <a:r>
              <a:rPr lang="en-US" sz="1300" dirty="0">
                <a:solidFill>
                  <a:srgbClr val="3E4C63"/>
                </a:solidFill>
                <a:latin typeface="Calibri" pitchFamily="34" charset="0"/>
                <a:ea typeface="Calibri" pitchFamily="34" charset="-122"/>
                <a:cs typeface="Calibri" pitchFamily="34" charset="-120"/>
              </a:rPr>
              <a:t>Live example: an engineer costs a new 0.85 kg aluminium bracket. The tool answers instantly:</a:t>
            </a:r>
            <a:endParaRPr lang="en-US" sz="1300" dirty="0"/>
          </a:p>
        </p:txBody>
      </p:sp>
      <p:sp>
        <p:nvSpPr>
          <p:cNvPr id="11" name="Shape 9"/>
          <p:cNvSpPr/>
          <p:nvPr/>
        </p:nvSpPr>
        <p:spPr>
          <a:xfrm>
            <a:off x="548640" y="2011680"/>
            <a:ext cx="11091672" cy="2743200"/>
          </a:xfrm>
          <a:prstGeom prst="roundRect">
            <a:avLst>
              <a:gd name="adj" fmla="val 2333"/>
            </a:avLst>
          </a:prstGeom>
          <a:solidFill>
            <a:srgbClr val="FFFFFF"/>
          </a:solidFill>
          <a:ln w="12700">
            <a:solidFill>
              <a:srgbClr val="E4EAF2"/>
            </a:solidFill>
            <a:prstDash val="solid"/>
          </a:ln>
          <a:effectLst>
            <a:outerShdw sx="100000" sy="100000" kx="0" ky="0" algn="bl" rotWithShape="0" blurRad="3.2059561307037426e+66" dist="9.15987465915355e+65" dir="2.5389989167104004e+78">
              <a:srgbClr val="9DB0CC">
                <a:alpha val="2.2000000000000002e+79"/>
              </a:srgbClr>
            </a:outerShdw>
          </a:effectLst>
        </p:spPr>
      </p:sp>
      <p:sp>
        <p:nvSpPr>
          <p:cNvPr id="12" name="Shape 10"/>
          <p:cNvSpPr/>
          <p:nvPr/>
        </p:nvSpPr>
        <p:spPr>
          <a:xfrm>
            <a:off x="548640" y="2011680"/>
            <a:ext cx="82296" cy="2743200"/>
          </a:xfrm>
          <a:prstGeom prst="rect">
            <a:avLst/>
          </a:prstGeom>
          <a:solidFill>
            <a:srgbClr val="0E93B0"/>
          </a:solidFill>
          <a:ln/>
        </p:spPr>
      </p:sp>
      <p:sp>
        <p:nvSpPr>
          <p:cNvPr id="13" name="Text 11"/>
          <p:cNvSpPr/>
          <p:nvPr/>
        </p:nvSpPr>
        <p:spPr>
          <a:xfrm>
            <a:off x="868680" y="2212848"/>
            <a:ext cx="10515600" cy="320040"/>
          </a:xfrm>
          <a:prstGeom prst="rect">
            <a:avLst/>
          </a:prstGeom>
          <a:noFill/>
          <a:ln/>
        </p:spPr>
        <p:txBody>
          <a:bodyPr wrap="square" lIns="0" tIns="0" rIns="0" bIns="0" rtlCol="0" anchor="t"/>
          <a:lstStyle/>
          <a:p>
            <a:pPr indent="0" marL="0">
              <a:buNone/>
            </a:pPr>
            <a:r>
              <a:rPr lang="en-US" sz="1400" b="1" dirty="0">
                <a:solidFill>
                  <a:srgbClr val="0F1E3D"/>
                </a:solidFill>
                <a:latin typeface="Calibri" pitchFamily="34" charset="0"/>
                <a:ea typeface="Calibri" pitchFamily="34" charset="-122"/>
                <a:cs typeface="Calibri" pitchFamily="34" charset="-120"/>
              </a:rPr>
              <a:t>◎  AI memory — similar past parts</a:t>
            </a:r>
            <a:pPr indent="0" marL="0">
              <a:buNone/>
            </a:pPr>
            <a:r>
              <a:rPr lang="en-US" sz="1050" dirty="0">
                <a:solidFill>
                  <a:srgbClr val="8A97A8"/>
                </a:solidFill>
                <a:latin typeface="Calibri" pitchFamily="34" charset="0"/>
                <a:ea typeface="Calibri" pitchFamily="34" charset="-122"/>
                <a:cs typeface="Calibri" pitchFamily="34" charset="-120"/>
              </a:rPr>
              <a:t>      knowledge base: 3 analyses · 2 with actuals</a:t>
            </a:r>
            <a:endParaRPr lang="en-US" sz="1400" dirty="0"/>
          </a:p>
        </p:txBody>
      </p:sp>
      <p:sp>
        <p:nvSpPr>
          <p:cNvPr id="14" name="Shape 12"/>
          <p:cNvSpPr/>
          <p:nvPr/>
        </p:nvSpPr>
        <p:spPr>
          <a:xfrm>
            <a:off x="868680" y="2633472"/>
            <a:ext cx="10424160" cy="12802"/>
          </a:xfrm>
          <a:prstGeom prst="rect">
            <a:avLst/>
          </a:prstGeom>
          <a:solidFill>
            <a:srgbClr val="E4EAF2"/>
          </a:solidFill>
          <a:ln/>
        </p:spPr>
      </p:sp>
      <p:sp>
        <p:nvSpPr>
          <p:cNvPr id="15" name="Text 13"/>
          <p:cNvSpPr/>
          <p:nvPr/>
        </p:nvSpPr>
        <p:spPr>
          <a:xfrm>
            <a:off x="1005840" y="2761488"/>
            <a:ext cx="3291840" cy="365760"/>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EV Battery Bracket</a:t>
            </a:r>
            <a:endParaRPr lang="en-US" sz="1250" dirty="0"/>
          </a:p>
        </p:txBody>
      </p:sp>
      <p:sp>
        <p:nvSpPr>
          <p:cNvPr id="16" name="Shape 14"/>
          <p:cNvSpPr/>
          <p:nvPr/>
        </p:nvSpPr>
        <p:spPr>
          <a:xfrm>
            <a:off x="4206240" y="2798064"/>
            <a:ext cx="685800" cy="292608"/>
          </a:xfrm>
          <a:prstGeom prst="roundRect">
            <a:avLst>
              <a:gd name="adj" fmla="val 50000"/>
            </a:avLst>
          </a:prstGeom>
          <a:solidFill>
            <a:srgbClr val="E7F7F0"/>
          </a:solidFill>
          <a:ln/>
        </p:spPr>
      </p:sp>
      <p:sp>
        <p:nvSpPr>
          <p:cNvPr id="17" name="Text 15"/>
          <p:cNvSpPr/>
          <p:nvPr/>
        </p:nvSpPr>
        <p:spPr>
          <a:xfrm>
            <a:off x="4206240" y="2798064"/>
            <a:ext cx="685800" cy="292608"/>
          </a:xfrm>
          <a:prstGeom prst="rect">
            <a:avLst/>
          </a:prstGeom>
          <a:noFill/>
          <a:ln/>
        </p:spPr>
        <p:txBody>
          <a:bodyPr wrap="square" lIns="0" tIns="0" rIns="0" bIns="0" rtlCol="0" anchor="ctr"/>
          <a:lstStyle/>
          <a:p>
            <a:pPr algn="ctr" indent="0" marL="0">
              <a:buNone/>
            </a:pPr>
            <a:r>
              <a:rPr lang="en-US" sz="850" b="1" dirty="0">
                <a:solidFill>
                  <a:srgbClr val="0EA472"/>
                </a:solidFill>
                <a:latin typeface="Calibri" pitchFamily="34" charset="0"/>
                <a:ea typeface="Calibri" pitchFamily="34" charset="-122"/>
                <a:cs typeface="Calibri" pitchFamily="34" charset="-120"/>
              </a:rPr>
              <a:t>99% match</a:t>
            </a:r>
            <a:endParaRPr lang="en-US" sz="850" dirty="0"/>
          </a:p>
        </p:txBody>
      </p:sp>
      <p:sp>
        <p:nvSpPr>
          <p:cNvPr id="18" name="Text 16"/>
          <p:cNvSpPr/>
          <p:nvPr/>
        </p:nvSpPr>
        <p:spPr>
          <a:xfrm>
            <a:off x="5029200" y="2761488"/>
            <a:ext cx="3017520" cy="365760"/>
          </a:xfrm>
          <a:prstGeom prst="rect">
            <a:avLst/>
          </a:prstGeom>
          <a:noFill/>
          <a:ln/>
        </p:spPr>
        <p:txBody>
          <a:bodyPr wrap="square" lIns="0" tIns="0" rIns="0" bIns="0" rtlCol="0" anchor="ctr"/>
          <a:lstStyle/>
          <a:p>
            <a:pPr indent="0" marL="0">
              <a:buNone/>
            </a:pPr>
            <a:r>
              <a:rPr lang="en-US" sz="1000" dirty="0">
                <a:solidFill>
                  <a:srgbClr val="8A97A8"/>
                </a:solidFill>
                <a:latin typeface="Calibri" pitchFamily="34" charset="0"/>
                <a:ea typeface="Calibri" pitchFamily="34" charset="-122"/>
                <a:cs typeface="Calibri" pitchFamily="34" charset="-120"/>
              </a:rPr>
              <a:t>material family · weight · region</a:t>
            </a:r>
            <a:endParaRPr lang="en-US" sz="1000" dirty="0"/>
          </a:p>
        </p:txBody>
      </p:sp>
      <p:sp>
        <p:nvSpPr>
          <p:cNvPr id="19" name="Text 17"/>
          <p:cNvSpPr/>
          <p:nvPr/>
        </p:nvSpPr>
        <p:spPr>
          <a:xfrm>
            <a:off x="8321040" y="2761488"/>
            <a:ext cx="1188720" cy="365760"/>
          </a:xfrm>
          <a:prstGeom prst="rect">
            <a:avLst/>
          </a:prstGeom>
          <a:noFill/>
          <a:ln/>
        </p:spPr>
        <p:txBody>
          <a:bodyPr wrap="square" lIns="0" tIns="0" rIns="0" bIns="0" rtlCol="0" anchor="ctr"/>
          <a:lstStyle/>
          <a:p>
            <a:pPr algn="r" indent="0" marL="0">
              <a:buNone/>
            </a:pPr>
            <a:r>
              <a:rPr lang="en-US" sz="1250" b="1" dirty="0">
                <a:solidFill>
                  <a:srgbClr val="0F1E3D"/>
                </a:solidFill>
                <a:latin typeface="Calibri" pitchFamily="34" charset="0"/>
                <a:ea typeface="Calibri" pitchFamily="34" charset="-122"/>
                <a:cs typeface="Calibri" pitchFamily="34" charset="-120"/>
              </a:rPr>
              <a:t>£41.20</a:t>
            </a:r>
            <a:endParaRPr lang="en-US" sz="1250" dirty="0"/>
          </a:p>
        </p:txBody>
      </p:sp>
      <p:sp>
        <p:nvSpPr>
          <p:cNvPr id="20" name="Text 18"/>
          <p:cNvSpPr/>
          <p:nvPr/>
        </p:nvSpPr>
        <p:spPr>
          <a:xfrm>
            <a:off x="9601200" y="2761488"/>
            <a:ext cx="1554480" cy="365760"/>
          </a:xfrm>
          <a:prstGeom prst="rect">
            <a:avLst/>
          </a:prstGeom>
          <a:noFill/>
          <a:ln/>
        </p:spPr>
        <p:txBody>
          <a:bodyPr wrap="square" lIns="0" tIns="0" rIns="0" bIns="0" rtlCol="0" anchor="ctr"/>
          <a:lstStyle/>
          <a:p>
            <a:pPr algn="r" indent="0" marL="0">
              <a:buNone/>
            </a:pPr>
            <a:r>
              <a:rPr lang="en-US" sz="1100" b="1" dirty="0">
                <a:solidFill>
                  <a:srgbClr val="7C3AED"/>
                </a:solidFill>
                <a:latin typeface="Calibri" pitchFamily="34" charset="0"/>
                <a:ea typeface="Calibri" pitchFamily="34" charset="-122"/>
                <a:cs typeface="Calibri" pitchFamily="34" charset="-120"/>
              </a:rPr>
              <a:t>actual £46.50</a:t>
            </a:r>
            <a:endParaRPr lang="en-US" sz="1100" dirty="0"/>
          </a:p>
        </p:txBody>
      </p:sp>
      <p:sp>
        <p:nvSpPr>
          <p:cNvPr id="21" name="Text 19"/>
          <p:cNvSpPr/>
          <p:nvPr/>
        </p:nvSpPr>
        <p:spPr>
          <a:xfrm>
            <a:off x="1005840" y="3236976"/>
            <a:ext cx="3291840" cy="365760"/>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Sensor Mount Bracket</a:t>
            </a:r>
            <a:endParaRPr lang="en-US" sz="1250" dirty="0"/>
          </a:p>
        </p:txBody>
      </p:sp>
      <p:sp>
        <p:nvSpPr>
          <p:cNvPr id="22" name="Shape 20"/>
          <p:cNvSpPr/>
          <p:nvPr/>
        </p:nvSpPr>
        <p:spPr>
          <a:xfrm>
            <a:off x="4206240" y="3273552"/>
            <a:ext cx="685800" cy="292608"/>
          </a:xfrm>
          <a:prstGeom prst="roundRect">
            <a:avLst>
              <a:gd name="adj" fmla="val 50000"/>
            </a:avLst>
          </a:prstGeom>
          <a:solidFill>
            <a:srgbClr val="E7F7F0"/>
          </a:solidFill>
          <a:ln/>
        </p:spPr>
      </p:sp>
      <p:sp>
        <p:nvSpPr>
          <p:cNvPr id="23" name="Text 21"/>
          <p:cNvSpPr/>
          <p:nvPr/>
        </p:nvSpPr>
        <p:spPr>
          <a:xfrm>
            <a:off x="4206240" y="3273552"/>
            <a:ext cx="685800" cy="292608"/>
          </a:xfrm>
          <a:prstGeom prst="rect">
            <a:avLst/>
          </a:prstGeom>
          <a:noFill/>
          <a:ln/>
        </p:spPr>
        <p:txBody>
          <a:bodyPr wrap="square" lIns="0" tIns="0" rIns="0" bIns="0" rtlCol="0" anchor="ctr"/>
          <a:lstStyle/>
          <a:p>
            <a:pPr algn="ctr" indent="0" marL="0">
              <a:buNone/>
            </a:pPr>
            <a:r>
              <a:rPr lang="en-US" sz="850" b="1" dirty="0">
                <a:solidFill>
                  <a:srgbClr val="0EA472"/>
                </a:solidFill>
                <a:latin typeface="Calibri" pitchFamily="34" charset="0"/>
                <a:ea typeface="Calibri" pitchFamily="34" charset="-122"/>
                <a:cs typeface="Calibri" pitchFamily="34" charset="-120"/>
              </a:rPr>
              <a:t>98% match</a:t>
            </a:r>
            <a:endParaRPr lang="en-US" sz="850" dirty="0"/>
          </a:p>
        </p:txBody>
      </p:sp>
      <p:sp>
        <p:nvSpPr>
          <p:cNvPr id="24" name="Text 22"/>
          <p:cNvSpPr/>
          <p:nvPr/>
        </p:nvSpPr>
        <p:spPr>
          <a:xfrm>
            <a:off x="5029200" y="3236976"/>
            <a:ext cx="3017520" cy="365760"/>
          </a:xfrm>
          <a:prstGeom prst="rect">
            <a:avLst/>
          </a:prstGeom>
          <a:noFill/>
          <a:ln/>
        </p:spPr>
        <p:txBody>
          <a:bodyPr wrap="square" lIns="0" tIns="0" rIns="0" bIns="0" rtlCol="0" anchor="ctr"/>
          <a:lstStyle/>
          <a:p>
            <a:pPr indent="0" marL="0">
              <a:buNone/>
            </a:pPr>
            <a:r>
              <a:rPr lang="en-US" sz="1000" dirty="0">
                <a:solidFill>
                  <a:srgbClr val="8A97A8"/>
                </a:solidFill>
                <a:latin typeface="Calibri" pitchFamily="34" charset="0"/>
                <a:ea typeface="Calibri" pitchFamily="34" charset="-122"/>
                <a:cs typeface="Calibri" pitchFamily="34" charset="-120"/>
              </a:rPr>
              <a:t>material family · weight · region</a:t>
            </a:r>
            <a:endParaRPr lang="en-US" sz="1000" dirty="0"/>
          </a:p>
        </p:txBody>
      </p:sp>
      <p:sp>
        <p:nvSpPr>
          <p:cNvPr id="25" name="Text 23"/>
          <p:cNvSpPr/>
          <p:nvPr/>
        </p:nvSpPr>
        <p:spPr>
          <a:xfrm>
            <a:off x="8321040" y="3236976"/>
            <a:ext cx="1188720" cy="365760"/>
          </a:xfrm>
          <a:prstGeom prst="rect">
            <a:avLst/>
          </a:prstGeom>
          <a:noFill/>
          <a:ln/>
        </p:spPr>
        <p:txBody>
          <a:bodyPr wrap="square" lIns="0" tIns="0" rIns="0" bIns="0" rtlCol="0" anchor="ctr"/>
          <a:lstStyle/>
          <a:p>
            <a:pPr algn="r" indent="0" marL="0">
              <a:buNone/>
            </a:pPr>
            <a:r>
              <a:rPr lang="en-US" sz="1250" b="1" dirty="0">
                <a:solidFill>
                  <a:srgbClr val="0F1E3D"/>
                </a:solidFill>
                <a:latin typeface="Calibri" pitchFamily="34" charset="0"/>
                <a:ea typeface="Calibri" pitchFamily="34" charset="-122"/>
                <a:cs typeface="Calibri" pitchFamily="34" charset="-120"/>
              </a:rPr>
              <a:t>£38.50</a:t>
            </a:r>
            <a:endParaRPr lang="en-US" sz="1250" dirty="0"/>
          </a:p>
        </p:txBody>
      </p:sp>
      <p:sp>
        <p:nvSpPr>
          <p:cNvPr id="26" name="Text 24"/>
          <p:cNvSpPr/>
          <p:nvPr/>
        </p:nvSpPr>
        <p:spPr>
          <a:xfrm>
            <a:off x="9601200" y="3236976"/>
            <a:ext cx="1554480" cy="365760"/>
          </a:xfrm>
          <a:prstGeom prst="rect">
            <a:avLst/>
          </a:prstGeom>
          <a:noFill/>
          <a:ln/>
        </p:spPr>
        <p:txBody>
          <a:bodyPr wrap="square" lIns="0" tIns="0" rIns="0" bIns="0" rtlCol="0" anchor="ctr"/>
          <a:lstStyle/>
          <a:p>
            <a:pPr algn="r" indent="0" marL="0">
              <a:buNone/>
            </a:pPr>
            <a:endParaRPr lang="en-US" sz="1100" dirty="0"/>
          </a:p>
        </p:txBody>
      </p:sp>
      <p:sp>
        <p:nvSpPr>
          <p:cNvPr id="27" name="Text 25"/>
          <p:cNvSpPr/>
          <p:nvPr/>
        </p:nvSpPr>
        <p:spPr>
          <a:xfrm>
            <a:off x="1005840" y="3712464"/>
            <a:ext cx="3291840" cy="365760"/>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Inverter Bracket</a:t>
            </a:r>
            <a:endParaRPr lang="en-US" sz="1250" dirty="0"/>
          </a:p>
        </p:txBody>
      </p:sp>
      <p:sp>
        <p:nvSpPr>
          <p:cNvPr id="28" name="Shape 26"/>
          <p:cNvSpPr/>
          <p:nvPr/>
        </p:nvSpPr>
        <p:spPr>
          <a:xfrm>
            <a:off x="4206240" y="3749040"/>
            <a:ext cx="685800" cy="292608"/>
          </a:xfrm>
          <a:prstGeom prst="roundRect">
            <a:avLst>
              <a:gd name="adj" fmla="val 50000"/>
            </a:avLst>
          </a:prstGeom>
          <a:solidFill>
            <a:srgbClr val="E7F7F0"/>
          </a:solidFill>
          <a:ln/>
        </p:spPr>
      </p:sp>
      <p:sp>
        <p:nvSpPr>
          <p:cNvPr id="29" name="Text 27"/>
          <p:cNvSpPr/>
          <p:nvPr/>
        </p:nvSpPr>
        <p:spPr>
          <a:xfrm>
            <a:off x="4206240" y="3749040"/>
            <a:ext cx="685800" cy="292608"/>
          </a:xfrm>
          <a:prstGeom prst="rect">
            <a:avLst/>
          </a:prstGeom>
          <a:noFill/>
          <a:ln/>
        </p:spPr>
        <p:txBody>
          <a:bodyPr wrap="square" lIns="0" tIns="0" rIns="0" bIns="0" rtlCol="0" anchor="ctr"/>
          <a:lstStyle/>
          <a:p>
            <a:pPr algn="ctr" indent="0" marL="0">
              <a:buNone/>
            </a:pPr>
            <a:r>
              <a:rPr lang="en-US" sz="850" b="1" dirty="0">
                <a:solidFill>
                  <a:srgbClr val="0EA472"/>
                </a:solidFill>
                <a:latin typeface="Calibri" pitchFamily="34" charset="0"/>
                <a:ea typeface="Calibri" pitchFamily="34" charset="-122"/>
                <a:cs typeface="Calibri" pitchFamily="34" charset="-120"/>
              </a:rPr>
              <a:t>98% match</a:t>
            </a:r>
            <a:endParaRPr lang="en-US" sz="850" dirty="0"/>
          </a:p>
        </p:txBody>
      </p:sp>
      <p:sp>
        <p:nvSpPr>
          <p:cNvPr id="30" name="Text 28"/>
          <p:cNvSpPr/>
          <p:nvPr/>
        </p:nvSpPr>
        <p:spPr>
          <a:xfrm>
            <a:off x="5029200" y="3712464"/>
            <a:ext cx="3017520" cy="365760"/>
          </a:xfrm>
          <a:prstGeom prst="rect">
            <a:avLst/>
          </a:prstGeom>
          <a:noFill/>
          <a:ln/>
        </p:spPr>
        <p:txBody>
          <a:bodyPr wrap="square" lIns="0" tIns="0" rIns="0" bIns="0" rtlCol="0" anchor="ctr"/>
          <a:lstStyle/>
          <a:p>
            <a:pPr indent="0" marL="0">
              <a:buNone/>
            </a:pPr>
            <a:r>
              <a:rPr lang="en-US" sz="1000" dirty="0">
                <a:solidFill>
                  <a:srgbClr val="8A97A8"/>
                </a:solidFill>
                <a:latin typeface="Calibri" pitchFamily="34" charset="0"/>
                <a:ea typeface="Calibri" pitchFamily="34" charset="-122"/>
                <a:cs typeface="Calibri" pitchFamily="34" charset="-120"/>
              </a:rPr>
              <a:t>material family · weight · region</a:t>
            </a:r>
            <a:endParaRPr lang="en-US" sz="1000" dirty="0"/>
          </a:p>
        </p:txBody>
      </p:sp>
      <p:sp>
        <p:nvSpPr>
          <p:cNvPr id="31" name="Text 29"/>
          <p:cNvSpPr/>
          <p:nvPr/>
        </p:nvSpPr>
        <p:spPr>
          <a:xfrm>
            <a:off x="8321040" y="3712464"/>
            <a:ext cx="1188720" cy="365760"/>
          </a:xfrm>
          <a:prstGeom prst="rect">
            <a:avLst/>
          </a:prstGeom>
          <a:noFill/>
          <a:ln/>
        </p:spPr>
        <p:txBody>
          <a:bodyPr wrap="square" lIns="0" tIns="0" rIns="0" bIns="0" rtlCol="0" anchor="ctr"/>
          <a:lstStyle/>
          <a:p>
            <a:pPr algn="r" indent="0" marL="0">
              <a:buNone/>
            </a:pPr>
            <a:r>
              <a:rPr lang="en-US" sz="1250" b="1" dirty="0">
                <a:solidFill>
                  <a:srgbClr val="0F1E3D"/>
                </a:solidFill>
                <a:latin typeface="Calibri" pitchFamily="34" charset="0"/>
                <a:ea typeface="Calibri" pitchFamily="34" charset="-122"/>
                <a:cs typeface="Calibri" pitchFamily="34" charset="-120"/>
              </a:rPr>
              <a:t>£44.80</a:t>
            </a:r>
            <a:endParaRPr lang="en-US" sz="1250" dirty="0"/>
          </a:p>
        </p:txBody>
      </p:sp>
      <p:sp>
        <p:nvSpPr>
          <p:cNvPr id="32" name="Text 30"/>
          <p:cNvSpPr/>
          <p:nvPr/>
        </p:nvSpPr>
        <p:spPr>
          <a:xfrm>
            <a:off x="9601200" y="3712464"/>
            <a:ext cx="1554480" cy="365760"/>
          </a:xfrm>
          <a:prstGeom prst="rect">
            <a:avLst/>
          </a:prstGeom>
          <a:noFill/>
          <a:ln/>
        </p:spPr>
        <p:txBody>
          <a:bodyPr wrap="square" lIns="0" tIns="0" rIns="0" bIns="0" rtlCol="0" anchor="ctr"/>
          <a:lstStyle/>
          <a:p>
            <a:pPr algn="r" indent="0" marL="0">
              <a:buNone/>
            </a:pPr>
            <a:r>
              <a:rPr lang="en-US" sz="1100" b="1" dirty="0">
                <a:solidFill>
                  <a:srgbClr val="7C3AED"/>
                </a:solidFill>
                <a:latin typeface="Calibri" pitchFamily="34" charset="0"/>
                <a:ea typeface="Calibri" pitchFamily="34" charset="-122"/>
                <a:cs typeface="Calibri" pitchFamily="34" charset="-120"/>
              </a:rPr>
              <a:t>actual £50.20</a:t>
            </a:r>
            <a:endParaRPr lang="en-US" sz="1100" dirty="0"/>
          </a:p>
        </p:txBody>
      </p:sp>
      <p:sp>
        <p:nvSpPr>
          <p:cNvPr id="33" name="Shape 31"/>
          <p:cNvSpPr/>
          <p:nvPr/>
        </p:nvSpPr>
        <p:spPr>
          <a:xfrm>
            <a:off x="868680" y="4224528"/>
            <a:ext cx="10424160" cy="12802"/>
          </a:xfrm>
          <a:prstGeom prst="rect">
            <a:avLst/>
          </a:prstGeom>
          <a:solidFill>
            <a:srgbClr val="E4EAF2"/>
          </a:solidFill>
          <a:ln/>
        </p:spPr>
      </p:sp>
      <p:sp>
        <p:nvSpPr>
          <p:cNvPr id="34" name="Text 32"/>
          <p:cNvSpPr/>
          <p:nvPr/>
        </p:nvSpPr>
        <p:spPr>
          <a:xfrm>
            <a:off x="1005840" y="4343400"/>
            <a:ext cx="10241280" cy="320040"/>
          </a:xfrm>
          <a:prstGeom prst="rect">
            <a:avLst/>
          </a:prstGeom>
          <a:noFill/>
          <a:ln/>
        </p:spPr>
        <p:txBody>
          <a:bodyPr wrap="square" lIns="0" tIns="0" rIns="0" bIns="0" rtlCol="0" anchor="ctr"/>
          <a:lstStyle/>
          <a:p>
            <a:pPr indent="0" marL="0">
              <a:buNone/>
            </a:pPr>
            <a:r>
              <a:rPr lang="en-US" sz="1150" dirty="0">
                <a:solidFill>
                  <a:srgbClr val="3E4C63"/>
                </a:solidFill>
                <a:latin typeface="Calibri" pitchFamily="34" charset="0"/>
                <a:ea typeface="Calibri" pitchFamily="34" charset="-122"/>
                <a:cs typeface="Calibri" pitchFamily="34" charset="-120"/>
              </a:rPr>
              <a:t>Median of 3 similar parts £41.20   ·   3 of 3 used aluminium 6061   ·   </a:t>
            </a:r>
            <a:pPr indent="0" marL="0">
              <a:buNone/>
            </a:pPr>
            <a:r>
              <a:rPr lang="en-US" sz="1150" b="1" dirty="0">
                <a:solidFill>
                  <a:srgbClr val="7C3AED"/>
                </a:solidFill>
                <a:latin typeface="Calibri" pitchFamily="34" charset="0"/>
                <a:ea typeface="Calibri" pitchFamily="34" charset="-122"/>
                <a:cs typeface="Calibri" pitchFamily="34" charset="-120"/>
              </a:rPr>
              <a:t>2 real quotes logged → median actual £48.35</a:t>
            </a:r>
            <a:endParaRPr lang="en-US" sz="1150" dirty="0"/>
          </a:p>
        </p:txBody>
      </p:sp>
      <p:sp>
        <p:nvSpPr>
          <p:cNvPr id="35" name="Shape 33"/>
          <p:cNvSpPr/>
          <p:nvPr/>
        </p:nvSpPr>
        <p:spPr>
          <a:xfrm>
            <a:off x="548640" y="4983480"/>
            <a:ext cx="11091672" cy="777240"/>
          </a:xfrm>
          <a:prstGeom prst="roundRect">
            <a:avLst>
              <a:gd name="adj" fmla="val 8235"/>
            </a:avLst>
          </a:prstGeom>
          <a:solidFill>
            <a:srgbClr val="EAF1FE"/>
          </a:solidFill>
          <a:ln w="12700">
            <a:solidFill>
              <a:srgbClr val="E4EAF2"/>
            </a:solidFill>
            <a:prstDash val="solid"/>
          </a:ln>
        </p:spPr>
      </p:sp>
      <p:sp>
        <p:nvSpPr>
          <p:cNvPr id="36" name="Text 34"/>
          <p:cNvSpPr/>
          <p:nvPr/>
        </p:nvSpPr>
        <p:spPr>
          <a:xfrm>
            <a:off x="914400" y="4983480"/>
            <a:ext cx="10332720" cy="777240"/>
          </a:xfrm>
          <a:prstGeom prst="rect">
            <a:avLst/>
          </a:prstGeom>
          <a:noFill/>
          <a:ln/>
        </p:spPr>
        <p:txBody>
          <a:bodyPr wrap="square" lIns="0" tIns="0" rIns="0" bIns="0" rtlCol="0" anchor="ctr"/>
          <a:lstStyle/>
          <a:p>
            <a:pPr indent="0" marL="0">
              <a:lnSpc>
                <a:spcPct val="110000"/>
              </a:lnSpc>
              <a:buNone/>
            </a:pPr>
            <a:r>
              <a:rPr lang="en-US" sz="1250" dirty="0">
                <a:solidFill>
                  <a:srgbClr val="3E4C63"/>
                </a:solidFill>
                <a:latin typeface="Calibri" pitchFamily="34" charset="0"/>
                <a:ea typeface="Calibri" pitchFamily="34" charset="-122"/>
                <a:cs typeface="Calibri" pitchFamily="34" charset="-120"/>
              </a:rPr>
              <a:t>Every match is explained (what matched, and how strongly) and every suggestion names its source parts — </a:t>
            </a:r>
            <a:pPr indent="0" marL="0">
              <a:lnSpc>
                <a:spcPct val="110000"/>
              </a:lnSpc>
              <a:buNone/>
            </a:pPr>
            <a:r>
              <a:rPr lang="en-US" sz="1250" b="1" dirty="0">
                <a:solidFill>
                  <a:srgbClr val="0F1E3D"/>
                </a:solidFill>
                <a:latin typeface="Calibri" pitchFamily="34" charset="0"/>
                <a:ea typeface="Calibri" pitchFamily="34" charset="-122"/>
                <a:cs typeface="Calibri" pitchFamily="34" charset="-120"/>
              </a:rPr>
              <a:t>no black box.</a:t>
            </a:r>
            <a:endParaRPr lang="en-US" sz="1250" dirty="0"/>
          </a:p>
        </p:txBody>
      </p:sp>
      <p:sp>
        <p:nvSpPr>
          <p:cNvPr id="37" name="Shape 35"/>
          <p:cNvSpPr/>
          <p:nvPr/>
        </p:nvSpPr>
        <p:spPr>
          <a:xfrm>
            <a:off x="548640" y="6400800"/>
            <a:ext cx="11094415" cy="12802"/>
          </a:xfrm>
          <a:prstGeom prst="rect">
            <a:avLst/>
          </a:prstGeom>
          <a:solidFill>
            <a:srgbClr val="E4EAF2"/>
          </a:solidFill>
          <a:ln/>
        </p:spPr>
      </p:sp>
      <p:sp>
        <p:nvSpPr>
          <p:cNvPr id="38" name="Text 36"/>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Agentic AI Management Briefing</a:t>
            </a:r>
            <a:endParaRPr lang="en-US" sz="850" dirty="0"/>
          </a:p>
        </p:txBody>
      </p:sp>
      <p:sp>
        <p:nvSpPr>
          <p:cNvPr id="39" name="Text 37"/>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6 / 20</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7C3AED"/>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7C3AED"/>
                </a:solidFill>
                <a:latin typeface="Calibri" pitchFamily="34" charset="0"/>
                <a:ea typeface="Calibri" pitchFamily="34" charset="-122"/>
                <a:cs typeface="Calibri" pitchFamily="34" charset="-120"/>
              </a:rPr>
              <a:t>CAPABILITY 3 OF 5</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500" b="1" dirty="0">
                <a:solidFill>
                  <a:srgbClr val="0F1E3D"/>
                </a:solidFill>
                <a:latin typeface="Calibri" pitchFamily="34" charset="0"/>
                <a:ea typeface="Calibri" pitchFamily="34" charset="-122"/>
                <a:cs typeface="Calibri" pitchFamily="34" charset="-120"/>
              </a:rPr>
              <a:t>Self-correction — it learns from real quotes</a:t>
            </a:r>
            <a:endParaRPr lang="en-US" sz="2500" dirty="0"/>
          </a:p>
        </p:txBody>
      </p:sp>
      <p:sp>
        <p:nvSpPr>
          <p:cNvPr id="9" name="Shape 7"/>
          <p:cNvSpPr/>
          <p:nvPr/>
        </p:nvSpPr>
        <p:spPr>
          <a:xfrm>
            <a:off x="548640" y="1371600"/>
            <a:ext cx="1051560" cy="45720"/>
          </a:xfrm>
          <a:prstGeom prst="rect">
            <a:avLst/>
          </a:prstGeom>
          <a:solidFill>
            <a:srgbClr val="7C3AED"/>
          </a:solidFill>
          <a:ln/>
        </p:spPr>
      </p:sp>
      <p:sp>
        <p:nvSpPr>
          <p:cNvPr id="10" name="Shape 8"/>
          <p:cNvSpPr/>
          <p:nvPr/>
        </p:nvSpPr>
        <p:spPr>
          <a:xfrm>
            <a:off x="548640" y="1645920"/>
            <a:ext cx="6126480" cy="4114800"/>
          </a:xfrm>
          <a:prstGeom prst="roundRect">
            <a:avLst>
              <a:gd name="adj" fmla="val 1556"/>
            </a:avLst>
          </a:prstGeom>
          <a:solidFill>
            <a:srgbClr val="FFFFFF"/>
          </a:solidFill>
          <a:ln w="12700">
            <a:solidFill>
              <a:srgbClr val="E4EAF2"/>
            </a:solidFill>
            <a:prstDash val="solid"/>
          </a:ln>
          <a:effectLst>
            <a:outerShdw sx="100000" sy="100000" kx="0" ky="0" algn="bl" rotWithShape="0" blurRad="4.071564285993753e+70" dist="1.1633040817125008e+70" dir="1.5233993500262402e+83">
              <a:srgbClr val="9DB0CC">
                <a:alpha val="2.2000000000000003e+84"/>
              </a:srgbClr>
            </a:outerShdw>
          </a:effectLst>
        </p:spPr>
      </p:sp>
      <p:graphicFrame>
        <p:nvGraphicFramePr>
          <p:cNvPr id="11" name="Chart 0" descr=""/>
          <p:cNvGraphicFramePr/>
          <p:nvPr/>
        </p:nvGraphicFramePr>
        <p:xfrm>
          <a:off x="731520" y="1874520"/>
          <a:ext cx="5760720" cy="3429000"/>
        </p:xfrm>
        <a:graphic xmlns:a="http://schemas.openxmlformats.org/drawingml/2006/main">
          <a:graphicData uri="http://schemas.openxmlformats.org/drawingml/2006/chart">
            <c:chart xmlns:c="http://schemas.openxmlformats.org/drawingml/2006/chart" r:id="rId1"/>
          </a:graphicData>
        </a:graphic>
      </p:graphicFrame>
      <p:sp>
        <p:nvSpPr>
          <p:cNvPr id="12" name="Text 9"/>
          <p:cNvSpPr/>
          <p:nvPr/>
        </p:nvSpPr>
        <p:spPr>
          <a:xfrm>
            <a:off x="731520" y="5779008"/>
            <a:ext cx="5943600" cy="365760"/>
          </a:xfrm>
          <a:prstGeom prst="rect">
            <a:avLst/>
          </a:prstGeom>
          <a:noFill/>
          <a:ln/>
        </p:spPr>
        <p:txBody>
          <a:bodyPr wrap="square" lIns="0" tIns="0" rIns="0" bIns="0" rtlCol="0" anchor="t"/>
          <a:lstStyle/>
          <a:p>
            <a:pPr indent="0" marL="0">
              <a:buNone/>
            </a:pPr>
            <a:r>
              <a:rPr lang="en-US" sz="950" i="1" dirty="0">
                <a:solidFill>
                  <a:srgbClr val="8A97A8"/>
                </a:solidFill>
                <a:latin typeface="Calibri" pitchFamily="34" charset="0"/>
                <a:ea typeface="Calibri" pitchFamily="34" charset="-122"/>
                <a:cs typeface="Calibri" pitchFamily="34" charset="-120"/>
              </a:rPr>
              <a:t>Estimating error (%) vs real supplier prices — live system run</a:t>
            </a:r>
            <a:endParaRPr lang="en-US" sz="950" dirty="0"/>
          </a:p>
        </p:txBody>
      </p:sp>
      <p:sp>
        <p:nvSpPr>
          <p:cNvPr id="13" name="Shape 10"/>
          <p:cNvSpPr/>
          <p:nvPr/>
        </p:nvSpPr>
        <p:spPr>
          <a:xfrm>
            <a:off x="6995160" y="1645920"/>
            <a:ext cx="4647895" cy="4114800"/>
          </a:xfrm>
          <a:prstGeom prst="roundRect">
            <a:avLst>
              <a:gd name="adj" fmla="val 1556"/>
            </a:avLst>
          </a:prstGeom>
          <a:solidFill>
            <a:srgbClr val="EAF1FE"/>
          </a:solidFill>
          <a:ln w="12700">
            <a:solidFill>
              <a:srgbClr val="E4EAF2"/>
            </a:solidFill>
            <a:prstDash val="solid"/>
          </a:ln>
        </p:spPr>
      </p:sp>
      <p:sp>
        <p:nvSpPr>
          <p:cNvPr id="14" name="Text 11"/>
          <p:cNvSpPr/>
          <p:nvPr/>
        </p:nvSpPr>
        <p:spPr>
          <a:xfrm>
            <a:off x="7287768" y="1847088"/>
            <a:ext cx="4099255" cy="320040"/>
          </a:xfrm>
          <a:prstGeom prst="rect">
            <a:avLst/>
          </a:prstGeom>
          <a:noFill/>
          <a:ln/>
        </p:spPr>
        <p:txBody>
          <a:bodyPr wrap="square" lIns="0" tIns="0" rIns="0" bIns="0" rtlCol="0" anchor="t"/>
          <a:lstStyle/>
          <a:p>
            <a:pPr indent="0" marL="0">
              <a:buNone/>
            </a:pPr>
            <a:r>
              <a:rPr lang="en-US" sz="1450" b="1" dirty="0">
                <a:solidFill>
                  <a:srgbClr val="0F1E3D"/>
                </a:solidFill>
                <a:latin typeface="Calibri" pitchFamily="34" charset="0"/>
                <a:ea typeface="Calibri" pitchFamily="34" charset="-122"/>
                <a:cs typeface="Calibri" pitchFamily="34" charset="-120"/>
              </a:rPr>
              <a:t>How it works, simply</a:t>
            </a:r>
            <a:endParaRPr lang="en-US" sz="1450" dirty="0"/>
          </a:p>
        </p:txBody>
      </p:sp>
      <p:sp>
        <p:nvSpPr>
          <p:cNvPr id="15" name="Shape 12"/>
          <p:cNvSpPr/>
          <p:nvPr/>
        </p:nvSpPr>
        <p:spPr>
          <a:xfrm>
            <a:off x="7287768" y="2286000"/>
            <a:ext cx="310896" cy="310896"/>
          </a:xfrm>
          <a:prstGeom prst="ellipse">
            <a:avLst/>
          </a:prstGeom>
          <a:solidFill>
            <a:srgbClr val="7C3AED"/>
          </a:solidFill>
          <a:ln/>
          <a:effectLst>
            <a:outerShdw sx="100000" sy="100000" kx="0" ky="0" algn="bl" rotWithShape="0" blurRad="2.6643793008275154e+29" dist="7.993137902482545e+28" dir="2.519424e+35">
              <a:srgbClr val="A7B6CE">
                <a:alpha val="1.7999999999999998e+34"/>
              </a:srgbClr>
            </a:outerShdw>
          </a:effectLst>
        </p:spPr>
      </p:sp>
      <p:sp>
        <p:nvSpPr>
          <p:cNvPr id="16" name="Text 13"/>
          <p:cNvSpPr/>
          <p:nvPr/>
        </p:nvSpPr>
        <p:spPr>
          <a:xfrm>
            <a:off x="7287768" y="2286000"/>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1</a:t>
            </a:r>
            <a:endParaRPr lang="en-US" sz="1156" dirty="0"/>
          </a:p>
        </p:txBody>
      </p:sp>
      <p:sp>
        <p:nvSpPr>
          <p:cNvPr id="17" name="Text 14"/>
          <p:cNvSpPr/>
          <p:nvPr/>
        </p:nvSpPr>
        <p:spPr>
          <a:xfrm>
            <a:off x="7726680" y="2258568"/>
            <a:ext cx="3642055" cy="594360"/>
          </a:xfrm>
          <a:prstGeom prst="rect">
            <a:avLst/>
          </a:prstGeom>
          <a:noFill/>
          <a:ln/>
        </p:spPr>
        <p:txBody>
          <a:bodyPr wrap="square" lIns="0" tIns="0" rIns="0" bIns="0" rtlCol="0" anchor="t"/>
          <a:lstStyle/>
          <a:p>
            <a:pPr indent="0" marL="0">
              <a:lnSpc>
                <a:spcPct val="108000"/>
              </a:lnSpc>
              <a:buNone/>
            </a:pPr>
            <a:r>
              <a:rPr lang="en-US" sz="1150" dirty="0">
                <a:solidFill>
                  <a:srgbClr val="3E4C63"/>
                </a:solidFill>
                <a:latin typeface="Calibri" pitchFamily="34" charset="0"/>
                <a:ea typeface="Calibri" pitchFamily="34" charset="-122"/>
                <a:cs typeface="Calibri" pitchFamily="34" charset="-120"/>
              </a:rPr>
              <a:t>A real supplier quote arrives → one click logs it.</a:t>
            </a:r>
            <a:endParaRPr lang="en-US" sz="1150" dirty="0"/>
          </a:p>
        </p:txBody>
      </p:sp>
      <p:sp>
        <p:nvSpPr>
          <p:cNvPr id="18" name="Shape 15"/>
          <p:cNvSpPr/>
          <p:nvPr/>
        </p:nvSpPr>
        <p:spPr>
          <a:xfrm>
            <a:off x="7287768" y="2944368"/>
            <a:ext cx="310896" cy="310896"/>
          </a:xfrm>
          <a:prstGeom prst="ellipse">
            <a:avLst/>
          </a:prstGeom>
          <a:solidFill>
            <a:srgbClr val="7C3AED"/>
          </a:solidFill>
          <a:ln/>
          <a:effectLst>
            <a:outerShdw sx="100000" sy="100000" kx="0" ky="0" algn="bl" rotWithShape="0" blurRad="3.3837617120509443e+33" dist="1.0151285136152831e+33" dir="1.5116544e+40">
              <a:srgbClr val="A7B6CE">
                <a:alpha val="1.8e+39"/>
              </a:srgbClr>
            </a:outerShdw>
          </a:effectLst>
        </p:spPr>
      </p:sp>
      <p:sp>
        <p:nvSpPr>
          <p:cNvPr id="19" name="Text 16"/>
          <p:cNvSpPr/>
          <p:nvPr/>
        </p:nvSpPr>
        <p:spPr>
          <a:xfrm>
            <a:off x="7287768" y="2944368"/>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2</a:t>
            </a:r>
            <a:endParaRPr lang="en-US" sz="1156" dirty="0"/>
          </a:p>
        </p:txBody>
      </p:sp>
      <p:sp>
        <p:nvSpPr>
          <p:cNvPr id="20" name="Text 17"/>
          <p:cNvSpPr/>
          <p:nvPr/>
        </p:nvSpPr>
        <p:spPr>
          <a:xfrm>
            <a:off x="7726680" y="2916936"/>
            <a:ext cx="3642055" cy="594360"/>
          </a:xfrm>
          <a:prstGeom prst="rect">
            <a:avLst/>
          </a:prstGeom>
          <a:noFill/>
          <a:ln/>
        </p:spPr>
        <p:txBody>
          <a:bodyPr wrap="square" lIns="0" tIns="0" rIns="0" bIns="0" rtlCol="0" anchor="t"/>
          <a:lstStyle/>
          <a:p>
            <a:pPr indent="0" marL="0">
              <a:lnSpc>
                <a:spcPct val="108000"/>
              </a:lnSpc>
              <a:buNone/>
            </a:pPr>
            <a:r>
              <a:rPr lang="en-US" sz="1150" dirty="0">
                <a:solidFill>
                  <a:srgbClr val="3E4C63"/>
                </a:solidFill>
                <a:latin typeface="Calibri" pitchFamily="34" charset="0"/>
                <a:ea typeface="Calibri" pitchFamily="34" charset="-122"/>
                <a:cs typeface="Calibri" pitchFamily="34" charset="-120"/>
              </a:rPr>
              <a:t>The tool compares its estimate with reality and measures its own error.</a:t>
            </a:r>
            <a:endParaRPr lang="en-US" sz="1150" dirty="0"/>
          </a:p>
        </p:txBody>
      </p:sp>
      <p:sp>
        <p:nvSpPr>
          <p:cNvPr id="21" name="Shape 18"/>
          <p:cNvSpPr/>
          <p:nvPr/>
        </p:nvSpPr>
        <p:spPr>
          <a:xfrm>
            <a:off x="7287768" y="3602736"/>
            <a:ext cx="310896" cy="310896"/>
          </a:xfrm>
          <a:prstGeom prst="ellipse">
            <a:avLst/>
          </a:prstGeom>
          <a:solidFill>
            <a:srgbClr val="7C3AED"/>
          </a:solidFill>
          <a:ln/>
          <a:effectLst>
            <a:outerShdw sx="100000" sy="100000" kx="0" ky="0" algn="bl" rotWithShape="0" blurRad="4.297377374304699e+37" dist="1.2892132122914095e+37" dir="9.069926400000001e+44">
              <a:srgbClr val="A7B6CE">
                <a:alpha val="1.8e+44"/>
              </a:srgbClr>
            </a:outerShdw>
          </a:effectLst>
        </p:spPr>
      </p:sp>
      <p:sp>
        <p:nvSpPr>
          <p:cNvPr id="22" name="Text 19"/>
          <p:cNvSpPr/>
          <p:nvPr/>
        </p:nvSpPr>
        <p:spPr>
          <a:xfrm>
            <a:off x="7287768" y="3602736"/>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3</a:t>
            </a:r>
            <a:endParaRPr lang="en-US" sz="1156" dirty="0"/>
          </a:p>
        </p:txBody>
      </p:sp>
      <p:sp>
        <p:nvSpPr>
          <p:cNvPr id="23" name="Text 20"/>
          <p:cNvSpPr/>
          <p:nvPr/>
        </p:nvSpPr>
        <p:spPr>
          <a:xfrm>
            <a:off x="7726680" y="3575304"/>
            <a:ext cx="3642055" cy="594360"/>
          </a:xfrm>
          <a:prstGeom prst="rect">
            <a:avLst/>
          </a:prstGeom>
          <a:noFill/>
          <a:ln/>
        </p:spPr>
        <p:txBody>
          <a:bodyPr wrap="square" lIns="0" tIns="0" rIns="0" bIns="0" rtlCol="0" anchor="t"/>
          <a:lstStyle/>
          <a:p>
            <a:pPr indent="0" marL="0">
              <a:lnSpc>
                <a:spcPct val="108000"/>
              </a:lnSpc>
              <a:buNone/>
            </a:pPr>
            <a:r>
              <a:rPr lang="en-US" sz="1150" dirty="0">
                <a:solidFill>
                  <a:srgbClr val="3E4C63"/>
                </a:solidFill>
                <a:latin typeface="Calibri" pitchFamily="34" charset="0"/>
                <a:ea typeface="Calibri" pitchFamily="34" charset="-122"/>
                <a:cs typeface="Calibri" pitchFamily="34" charset="-120"/>
              </a:rPr>
              <a:t>From 3 quotes in a category it self-corrects future estimates — per process, material &amp; region.</a:t>
            </a:r>
            <a:endParaRPr lang="en-US" sz="1150" dirty="0"/>
          </a:p>
        </p:txBody>
      </p:sp>
      <p:sp>
        <p:nvSpPr>
          <p:cNvPr id="24" name="Shape 21"/>
          <p:cNvSpPr/>
          <p:nvPr/>
        </p:nvSpPr>
        <p:spPr>
          <a:xfrm>
            <a:off x="7287768" y="4261104"/>
            <a:ext cx="310896" cy="310896"/>
          </a:xfrm>
          <a:prstGeom prst="ellipse">
            <a:avLst/>
          </a:prstGeom>
          <a:solidFill>
            <a:srgbClr val="7C3AED"/>
          </a:solidFill>
          <a:ln/>
          <a:effectLst>
            <a:outerShdw sx="100000" sy="100000" kx="0" ky="0" algn="bl" rotWithShape="0" blurRad="5.457669265366968e+41" dist="1.6373007796100902e+41" dir="5.44195584e+49">
              <a:srgbClr val="A7B6CE">
                <a:alpha val="1.8e+49"/>
              </a:srgbClr>
            </a:outerShdw>
          </a:effectLst>
        </p:spPr>
      </p:sp>
      <p:sp>
        <p:nvSpPr>
          <p:cNvPr id="25" name="Text 22"/>
          <p:cNvSpPr/>
          <p:nvPr/>
        </p:nvSpPr>
        <p:spPr>
          <a:xfrm>
            <a:off x="7287768" y="4261104"/>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4</a:t>
            </a:r>
            <a:endParaRPr lang="en-US" sz="1156" dirty="0"/>
          </a:p>
        </p:txBody>
      </p:sp>
      <p:sp>
        <p:nvSpPr>
          <p:cNvPr id="26" name="Text 23"/>
          <p:cNvSpPr/>
          <p:nvPr/>
        </p:nvSpPr>
        <p:spPr>
          <a:xfrm>
            <a:off x="7726680" y="4233672"/>
            <a:ext cx="3642055" cy="594360"/>
          </a:xfrm>
          <a:prstGeom prst="rect">
            <a:avLst/>
          </a:prstGeom>
          <a:noFill/>
          <a:ln/>
        </p:spPr>
        <p:txBody>
          <a:bodyPr wrap="square" lIns="0" tIns="0" rIns="0" bIns="0" rtlCol="0" anchor="t"/>
          <a:lstStyle/>
          <a:p>
            <a:pPr indent="0" marL="0">
              <a:lnSpc>
                <a:spcPct val="108000"/>
              </a:lnSpc>
              <a:buNone/>
            </a:pPr>
            <a:r>
              <a:rPr lang="en-US" sz="1150" dirty="0">
                <a:solidFill>
                  <a:srgbClr val="3E4C63"/>
                </a:solidFill>
                <a:latin typeface="Calibri" pitchFamily="34" charset="0"/>
                <a:ea typeface="Calibri" pitchFamily="34" charset="-122"/>
                <a:cs typeface="Calibri" pitchFamily="34" charset="-120"/>
              </a:rPr>
              <a:t>It reports its accuracy openly (error % before and after).</a:t>
            </a:r>
            <a:endParaRPr lang="en-US" sz="1150" dirty="0"/>
          </a:p>
        </p:txBody>
      </p:sp>
      <p:sp>
        <p:nvSpPr>
          <p:cNvPr id="27" name="Shape 24"/>
          <p:cNvSpPr/>
          <p:nvPr/>
        </p:nvSpPr>
        <p:spPr>
          <a:xfrm>
            <a:off x="7287768" y="4956048"/>
            <a:ext cx="4099255" cy="12802"/>
          </a:xfrm>
          <a:prstGeom prst="rect">
            <a:avLst/>
          </a:prstGeom>
          <a:solidFill>
            <a:srgbClr val="D4DEEC"/>
          </a:solidFill>
          <a:ln/>
        </p:spPr>
      </p:sp>
      <p:sp>
        <p:nvSpPr>
          <p:cNvPr id="28" name="Text 25"/>
          <p:cNvSpPr/>
          <p:nvPr/>
        </p:nvSpPr>
        <p:spPr>
          <a:xfrm>
            <a:off x="7287768" y="5074920"/>
            <a:ext cx="4099255" cy="640080"/>
          </a:xfrm>
          <a:prstGeom prst="rect">
            <a:avLst/>
          </a:prstGeom>
          <a:noFill/>
          <a:ln/>
        </p:spPr>
        <p:txBody>
          <a:bodyPr wrap="square" lIns="0" tIns="0" rIns="0" bIns="0" rtlCol="0" anchor="t"/>
          <a:lstStyle/>
          <a:p>
            <a:pPr indent="0" marL="0">
              <a:lnSpc>
                <a:spcPct val="110000"/>
              </a:lnSpc>
              <a:buNone/>
            </a:pPr>
            <a:r>
              <a:rPr lang="en-US" sz="1100" b="1" dirty="0">
                <a:solidFill>
                  <a:srgbClr val="0F1E3D"/>
                </a:solidFill>
                <a:latin typeface="Calibri" pitchFamily="34" charset="0"/>
                <a:ea typeface="Calibri" pitchFamily="34" charset="-122"/>
                <a:cs typeface="Calibri" pitchFamily="34" charset="-120"/>
              </a:rPr>
              <a:t>Why per-category matters:  </a:t>
            </a:r>
            <a:pPr indent="0" marL="0">
              <a:lnSpc>
                <a:spcPct val="110000"/>
              </a:lnSpc>
              <a:buNone/>
            </a:pPr>
            <a:r>
              <a:rPr lang="en-US" sz="1100" dirty="0">
                <a:solidFill>
                  <a:srgbClr val="3E4C63"/>
                </a:solidFill>
                <a:latin typeface="Calibri" pitchFamily="34" charset="0"/>
                <a:ea typeface="Calibri" pitchFamily="34" charset="-122"/>
                <a:cs typeface="Calibri" pitchFamily="34" charset="-120"/>
              </a:rPr>
              <a:t>machining ran 12% low while China castings ran 8% high — averaged together they looked "fine". The tool catches what averages hide.</a:t>
            </a:r>
            <a:endParaRPr lang="en-US" sz="1100" dirty="0"/>
          </a:p>
        </p:txBody>
      </p:sp>
      <p:sp>
        <p:nvSpPr>
          <p:cNvPr id="29" name="Shape 26"/>
          <p:cNvSpPr/>
          <p:nvPr/>
        </p:nvSpPr>
        <p:spPr>
          <a:xfrm>
            <a:off x="548640" y="6400800"/>
            <a:ext cx="11094415" cy="12802"/>
          </a:xfrm>
          <a:prstGeom prst="rect">
            <a:avLst/>
          </a:prstGeom>
          <a:solidFill>
            <a:srgbClr val="E4EAF2"/>
          </a:solidFill>
          <a:ln/>
        </p:spPr>
      </p:sp>
      <p:sp>
        <p:nvSpPr>
          <p:cNvPr id="30" name="Text 27"/>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Agentic AI Management Briefing</a:t>
            </a:r>
            <a:endParaRPr lang="en-US" sz="850" dirty="0"/>
          </a:p>
        </p:txBody>
      </p:sp>
      <p:sp>
        <p:nvSpPr>
          <p:cNvPr id="31" name="Text 28"/>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7 / 20</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E0900C"/>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E0900C"/>
                </a:solidFill>
                <a:latin typeface="Calibri" pitchFamily="34" charset="0"/>
                <a:ea typeface="Calibri" pitchFamily="34" charset="-122"/>
                <a:cs typeface="Calibri" pitchFamily="34" charset="-120"/>
              </a:rPr>
              <a:t>CAPABILITY 4 OF 5</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500" b="1" dirty="0">
                <a:solidFill>
                  <a:srgbClr val="0F1E3D"/>
                </a:solidFill>
                <a:latin typeface="Calibri" pitchFamily="34" charset="0"/>
                <a:ea typeface="Calibri" pitchFamily="34" charset="-122"/>
                <a:cs typeface="Calibri" pitchFamily="34" charset="-120"/>
              </a:rPr>
              <a:t>Honest ranges — from "±20%" to "±3%", earned with data</a:t>
            </a:r>
            <a:endParaRPr lang="en-US" sz="2500" dirty="0"/>
          </a:p>
        </p:txBody>
      </p:sp>
      <p:sp>
        <p:nvSpPr>
          <p:cNvPr id="9" name="Shape 7"/>
          <p:cNvSpPr/>
          <p:nvPr/>
        </p:nvSpPr>
        <p:spPr>
          <a:xfrm>
            <a:off x="548640" y="1371600"/>
            <a:ext cx="1051560" cy="45720"/>
          </a:xfrm>
          <a:prstGeom prst="rect">
            <a:avLst/>
          </a:prstGeom>
          <a:solidFill>
            <a:srgbClr val="E0900C"/>
          </a:solidFill>
          <a:ln/>
        </p:spPr>
      </p:sp>
      <p:sp>
        <p:nvSpPr>
          <p:cNvPr id="10" name="Shape 8"/>
          <p:cNvSpPr/>
          <p:nvPr/>
        </p:nvSpPr>
        <p:spPr>
          <a:xfrm>
            <a:off x="548640" y="1645920"/>
            <a:ext cx="5486400" cy="4114800"/>
          </a:xfrm>
          <a:prstGeom prst="roundRect">
            <a:avLst>
              <a:gd name="adj" fmla="val 1556"/>
            </a:avLst>
          </a:prstGeom>
          <a:solidFill>
            <a:srgbClr val="FFFFFF"/>
          </a:solidFill>
          <a:ln w="12700">
            <a:solidFill>
              <a:srgbClr val="E4EAF2"/>
            </a:solidFill>
            <a:prstDash val="solid"/>
          </a:ln>
          <a:effectLst>
            <a:outerShdw sx="100000" sy="100000" kx="0" ky="0" algn="bl" rotWithShape="0" blurRad="5.170886643212067e+74" dist="1.477396183774876e+74" dir="9.14039610015744e+87">
              <a:srgbClr val="9DB0CC">
                <a:alpha val="2.2000000000000003e+89"/>
              </a:srgbClr>
            </a:outerShdw>
          </a:effectLst>
        </p:spPr>
      </p:sp>
      <p:graphicFrame>
        <p:nvGraphicFramePr>
          <p:cNvPr id="11" name="Chart 0" descr=""/>
          <p:cNvGraphicFramePr/>
          <p:nvPr/>
        </p:nvGraphicFramePr>
        <p:xfrm>
          <a:off x="731520" y="1874520"/>
          <a:ext cx="5120640" cy="3429000"/>
        </p:xfrm>
        <a:graphic xmlns:a="http://schemas.openxmlformats.org/drawingml/2006/main">
          <a:graphicData uri="http://schemas.openxmlformats.org/drawingml/2006/chart">
            <c:chart xmlns:c="http://schemas.openxmlformats.org/drawingml/2006/chart" r:id="rId1"/>
          </a:graphicData>
        </a:graphic>
      </p:graphicFrame>
      <p:sp>
        <p:nvSpPr>
          <p:cNvPr id="12" name="Text 9"/>
          <p:cNvSpPr/>
          <p:nvPr/>
        </p:nvSpPr>
        <p:spPr>
          <a:xfrm>
            <a:off x="731520" y="5779008"/>
            <a:ext cx="5212080" cy="365760"/>
          </a:xfrm>
          <a:prstGeom prst="rect">
            <a:avLst/>
          </a:prstGeom>
          <a:noFill/>
          <a:ln/>
        </p:spPr>
        <p:txBody>
          <a:bodyPr wrap="square" lIns="0" tIns="0" rIns="0" bIns="0" rtlCol="0" anchor="t"/>
          <a:lstStyle/>
          <a:p>
            <a:pPr indent="0" marL="0">
              <a:buNone/>
            </a:pPr>
            <a:r>
              <a:rPr lang="en-US" sz="950" i="1" dirty="0">
                <a:solidFill>
                  <a:srgbClr val="8A97A8"/>
                </a:solidFill>
                <a:latin typeface="Calibri" pitchFamily="34" charset="0"/>
                <a:ea typeface="Calibri" pitchFamily="34" charset="-122"/>
                <a:cs typeface="Calibri" pitchFamily="34" charset="-120"/>
              </a:rPr>
              <a:t>Width of the cost confidence band on the same part (± %)</a:t>
            </a:r>
            <a:endParaRPr lang="en-US" sz="950" dirty="0"/>
          </a:p>
        </p:txBody>
      </p:sp>
      <p:sp>
        <p:nvSpPr>
          <p:cNvPr id="13" name="Shape 10"/>
          <p:cNvSpPr/>
          <p:nvPr/>
        </p:nvSpPr>
        <p:spPr>
          <a:xfrm>
            <a:off x="6355080" y="1645920"/>
            <a:ext cx="5287975" cy="4114800"/>
          </a:xfrm>
          <a:prstGeom prst="roundRect">
            <a:avLst>
              <a:gd name="adj" fmla="val 1556"/>
            </a:avLst>
          </a:prstGeom>
          <a:solidFill>
            <a:srgbClr val="EAF1FE"/>
          </a:solidFill>
          <a:ln w="12700">
            <a:solidFill>
              <a:srgbClr val="E4EAF2"/>
            </a:solidFill>
            <a:prstDash val="solid"/>
          </a:ln>
        </p:spPr>
      </p:sp>
      <p:sp>
        <p:nvSpPr>
          <p:cNvPr id="14" name="Text 11"/>
          <p:cNvSpPr/>
          <p:nvPr/>
        </p:nvSpPr>
        <p:spPr>
          <a:xfrm>
            <a:off x="6647688" y="1847088"/>
            <a:ext cx="4739335" cy="320040"/>
          </a:xfrm>
          <a:prstGeom prst="rect">
            <a:avLst/>
          </a:prstGeom>
          <a:noFill/>
          <a:ln/>
        </p:spPr>
        <p:txBody>
          <a:bodyPr wrap="square" lIns="0" tIns="0" rIns="0" bIns="0" rtlCol="0" anchor="t"/>
          <a:lstStyle/>
          <a:p>
            <a:pPr indent="0" marL="0">
              <a:buNone/>
            </a:pPr>
            <a:r>
              <a:rPr lang="en-US" sz="1450" b="1" dirty="0">
                <a:solidFill>
                  <a:srgbClr val="0F1E3D"/>
                </a:solidFill>
                <a:latin typeface="Calibri" pitchFamily="34" charset="0"/>
                <a:ea typeface="Calibri" pitchFamily="34" charset="-122"/>
                <a:cs typeface="Calibri" pitchFamily="34" charset="-120"/>
              </a:rPr>
              <a:t>Every estimate now comes as a range</a:t>
            </a:r>
            <a:endParaRPr lang="en-US" sz="1450" dirty="0"/>
          </a:p>
        </p:txBody>
      </p:sp>
      <p:sp>
        <p:nvSpPr>
          <p:cNvPr id="15" name="Shape 12"/>
          <p:cNvSpPr/>
          <p:nvPr/>
        </p:nvSpPr>
        <p:spPr>
          <a:xfrm>
            <a:off x="6647688" y="2286000"/>
            <a:ext cx="1645920" cy="384048"/>
          </a:xfrm>
          <a:prstGeom prst="roundRect">
            <a:avLst>
              <a:gd name="adj" fmla="val 19048"/>
            </a:avLst>
          </a:prstGeom>
          <a:solidFill>
            <a:srgbClr val="FEF6E7"/>
          </a:solidFill>
          <a:ln/>
        </p:spPr>
      </p:sp>
      <p:sp>
        <p:nvSpPr>
          <p:cNvPr id="16" name="Text 13"/>
          <p:cNvSpPr/>
          <p:nvPr/>
        </p:nvSpPr>
        <p:spPr>
          <a:xfrm>
            <a:off x="6647688" y="2286000"/>
            <a:ext cx="1645920" cy="384048"/>
          </a:xfrm>
          <a:prstGeom prst="rect">
            <a:avLst/>
          </a:prstGeom>
          <a:noFill/>
          <a:ln/>
        </p:spPr>
        <p:txBody>
          <a:bodyPr wrap="square" lIns="0" tIns="0" rIns="0" bIns="0" rtlCol="0" anchor="ctr"/>
          <a:lstStyle/>
          <a:p>
            <a:pPr algn="ctr" indent="0" marL="0">
              <a:buNone/>
            </a:pPr>
            <a:r>
              <a:rPr lang="en-US" sz="1000" b="1" dirty="0">
                <a:solidFill>
                  <a:srgbClr val="E0900C"/>
                </a:solidFill>
                <a:latin typeface="Calibri" pitchFamily="34" charset="0"/>
                <a:ea typeface="Calibri" pitchFamily="34" charset="-122"/>
                <a:cs typeface="Calibri" pitchFamily="34" charset="-120"/>
              </a:rPr>
              <a:t>Optimistic (P10)</a:t>
            </a:r>
            <a:endParaRPr lang="en-US" sz="1000" dirty="0"/>
          </a:p>
        </p:txBody>
      </p:sp>
      <p:sp>
        <p:nvSpPr>
          <p:cNvPr id="17" name="Shape 14"/>
          <p:cNvSpPr/>
          <p:nvPr/>
        </p:nvSpPr>
        <p:spPr>
          <a:xfrm>
            <a:off x="8430768" y="2286000"/>
            <a:ext cx="1645920" cy="384048"/>
          </a:xfrm>
          <a:prstGeom prst="roundRect">
            <a:avLst>
              <a:gd name="adj" fmla="val 19048"/>
            </a:avLst>
          </a:prstGeom>
          <a:solidFill>
            <a:srgbClr val="FEF6E7"/>
          </a:solidFill>
          <a:ln/>
        </p:spPr>
      </p:sp>
      <p:sp>
        <p:nvSpPr>
          <p:cNvPr id="18" name="Text 15"/>
          <p:cNvSpPr/>
          <p:nvPr/>
        </p:nvSpPr>
        <p:spPr>
          <a:xfrm>
            <a:off x="8430768" y="2286000"/>
            <a:ext cx="1645920" cy="384048"/>
          </a:xfrm>
          <a:prstGeom prst="rect">
            <a:avLst/>
          </a:prstGeom>
          <a:noFill/>
          <a:ln/>
        </p:spPr>
        <p:txBody>
          <a:bodyPr wrap="square" lIns="0" tIns="0" rIns="0" bIns="0" rtlCol="0" anchor="ctr"/>
          <a:lstStyle/>
          <a:p>
            <a:pPr algn="ctr" indent="0" marL="0">
              <a:buNone/>
            </a:pPr>
            <a:r>
              <a:rPr lang="en-US" sz="1000" b="1" dirty="0">
                <a:solidFill>
                  <a:srgbClr val="E0900C"/>
                </a:solidFill>
                <a:latin typeface="Calibri" pitchFamily="34" charset="0"/>
                <a:ea typeface="Calibri" pitchFamily="34" charset="-122"/>
                <a:cs typeface="Calibri" pitchFamily="34" charset="-120"/>
              </a:rPr>
              <a:t>Most likely (P50)</a:t>
            </a:r>
            <a:endParaRPr lang="en-US" sz="1000" dirty="0"/>
          </a:p>
        </p:txBody>
      </p:sp>
      <p:sp>
        <p:nvSpPr>
          <p:cNvPr id="19" name="Shape 16"/>
          <p:cNvSpPr/>
          <p:nvPr/>
        </p:nvSpPr>
        <p:spPr>
          <a:xfrm>
            <a:off x="10213848" y="2286000"/>
            <a:ext cx="1645920" cy="384048"/>
          </a:xfrm>
          <a:prstGeom prst="roundRect">
            <a:avLst>
              <a:gd name="adj" fmla="val 19048"/>
            </a:avLst>
          </a:prstGeom>
          <a:solidFill>
            <a:srgbClr val="FEF6E7"/>
          </a:solidFill>
          <a:ln/>
        </p:spPr>
      </p:sp>
      <p:sp>
        <p:nvSpPr>
          <p:cNvPr id="20" name="Text 17"/>
          <p:cNvSpPr/>
          <p:nvPr/>
        </p:nvSpPr>
        <p:spPr>
          <a:xfrm>
            <a:off x="10213848" y="2286000"/>
            <a:ext cx="1645920" cy="384048"/>
          </a:xfrm>
          <a:prstGeom prst="rect">
            <a:avLst/>
          </a:prstGeom>
          <a:noFill/>
          <a:ln/>
        </p:spPr>
        <p:txBody>
          <a:bodyPr wrap="square" lIns="0" tIns="0" rIns="0" bIns="0" rtlCol="0" anchor="ctr"/>
          <a:lstStyle/>
          <a:p>
            <a:pPr algn="ctr" indent="0" marL="0">
              <a:buNone/>
            </a:pPr>
            <a:r>
              <a:rPr lang="en-US" sz="1000" b="1" dirty="0">
                <a:solidFill>
                  <a:srgbClr val="E0900C"/>
                </a:solidFill>
                <a:latin typeface="Calibri" pitchFamily="34" charset="0"/>
                <a:ea typeface="Calibri" pitchFamily="34" charset="-122"/>
                <a:cs typeface="Calibri" pitchFamily="34" charset="-120"/>
              </a:rPr>
              <a:t>Conservative (P90)</a:t>
            </a:r>
            <a:endParaRPr lang="en-US" sz="1000" dirty="0"/>
          </a:p>
        </p:txBody>
      </p:sp>
      <p:sp>
        <p:nvSpPr>
          <p:cNvPr id="21" name="Text 18"/>
          <p:cNvSpPr/>
          <p:nvPr/>
        </p:nvSpPr>
        <p:spPr>
          <a:xfrm>
            <a:off x="6647688" y="2880360"/>
            <a:ext cx="4739335" cy="914400"/>
          </a:xfrm>
          <a:prstGeom prst="rect">
            <a:avLst/>
          </a:prstGeom>
          <a:noFill/>
          <a:ln/>
        </p:spPr>
        <p:txBody>
          <a:bodyPr wrap="square" lIns="0" tIns="0" rIns="0" bIns="0" rtlCol="0" anchor="t"/>
          <a:lstStyle/>
          <a:p>
            <a:pPr indent="0" marL="0">
              <a:lnSpc>
                <a:spcPct val="115000"/>
              </a:lnSpc>
              <a:buNone/>
            </a:pPr>
            <a:r>
              <a:rPr lang="en-US" sz="1200" dirty="0">
                <a:solidFill>
                  <a:srgbClr val="3E4C63"/>
                </a:solidFill>
                <a:latin typeface="Calibri" pitchFamily="34" charset="0"/>
                <a:ea typeface="Calibri" pitchFamily="34" charset="-122"/>
                <a:cs typeface="Calibri" pitchFamily="34" charset="-120"/>
              </a:rPr>
              <a:t>A single number implies a precision that early estimates don't have. The range tells buyers how much to trust the number — and what target to set in negotiation.</a:t>
            </a:r>
            <a:endParaRPr lang="en-US" sz="1200" dirty="0"/>
          </a:p>
        </p:txBody>
      </p:sp>
      <p:sp>
        <p:nvSpPr>
          <p:cNvPr id="22" name="Shape 19"/>
          <p:cNvSpPr/>
          <p:nvPr/>
        </p:nvSpPr>
        <p:spPr>
          <a:xfrm>
            <a:off x="6647688" y="3886200"/>
            <a:ext cx="4739335" cy="12802"/>
          </a:xfrm>
          <a:prstGeom prst="rect">
            <a:avLst/>
          </a:prstGeom>
          <a:solidFill>
            <a:srgbClr val="D4DEEC"/>
          </a:solidFill>
          <a:ln/>
        </p:spPr>
      </p:sp>
      <p:sp>
        <p:nvSpPr>
          <p:cNvPr id="23" name="Text 20"/>
          <p:cNvSpPr/>
          <p:nvPr/>
        </p:nvSpPr>
        <p:spPr>
          <a:xfrm>
            <a:off x="6647688" y="4041648"/>
            <a:ext cx="4739335" cy="1463040"/>
          </a:xfrm>
          <a:prstGeom prst="rect">
            <a:avLst/>
          </a:prstGeom>
          <a:noFill/>
          <a:ln/>
        </p:spPr>
        <p:txBody>
          <a:bodyPr wrap="square" lIns="0" tIns="0" rIns="0" bIns="0" rtlCol="0" anchor="t"/>
          <a:lstStyle/>
          <a:p>
            <a:pPr indent="0" marL="0">
              <a:lnSpc>
                <a:spcPct val="118000"/>
              </a:lnSpc>
              <a:buNone/>
            </a:pPr>
            <a:r>
              <a:rPr lang="en-US" sz="1200" b="1" dirty="0">
                <a:solidFill>
                  <a:srgbClr val="0F1E3D"/>
                </a:solidFill>
                <a:latin typeface="Calibri" pitchFamily="34" charset="0"/>
                <a:ea typeface="Calibri" pitchFamily="34" charset="-122"/>
                <a:cs typeface="Calibri" pitchFamily="34" charset="-120"/>
              </a:rPr>
              <a:t>The band is earned, not guessed:  </a:t>
            </a:r>
            <a:pPr indent="0" marL="0">
              <a:lnSpc>
                <a:spcPct val="118000"/>
              </a:lnSpc>
              <a:buNone/>
            </a:pPr>
            <a:r>
              <a:rPr lang="en-US" sz="1200" dirty="0">
                <a:solidFill>
                  <a:srgbClr val="3E4C63"/>
                </a:solidFill>
                <a:latin typeface="Calibri" pitchFamily="34" charset="0"/>
                <a:ea typeface="Calibri" pitchFamily="34" charset="-122"/>
                <a:cs typeface="Calibri" pitchFamily="34" charset="-120"/>
              </a:rPr>
              <a:t>it starts wide with no evidence and tightens automatically as real quotes prove the accuracy — on our test part, from ±20% to ±3% after three quotes.</a:t>
            </a:r>
            <a:endParaRPr lang="en-US" sz="1200" dirty="0"/>
          </a:p>
        </p:txBody>
      </p:sp>
      <p:sp>
        <p:nvSpPr>
          <p:cNvPr id="24" name="Shape 21"/>
          <p:cNvSpPr/>
          <p:nvPr/>
        </p:nvSpPr>
        <p:spPr>
          <a:xfrm>
            <a:off x="548640" y="6400800"/>
            <a:ext cx="11094415" cy="12802"/>
          </a:xfrm>
          <a:prstGeom prst="rect">
            <a:avLst/>
          </a:prstGeom>
          <a:solidFill>
            <a:srgbClr val="E4EAF2"/>
          </a:solidFill>
          <a:ln/>
        </p:spPr>
      </p:sp>
      <p:sp>
        <p:nvSpPr>
          <p:cNvPr id="25" name="Text 22"/>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Agentic AI Management Briefing</a:t>
            </a:r>
            <a:endParaRPr lang="en-US" sz="850" dirty="0"/>
          </a:p>
        </p:txBody>
      </p:sp>
      <p:sp>
        <p:nvSpPr>
          <p:cNvPr id="26" name="Text 23"/>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8 / 20</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E5484D"/>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E5484D"/>
                </a:solidFill>
                <a:latin typeface="Calibri" pitchFamily="34" charset="0"/>
                <a:ea typeface="Calibri" pitchFamily="34" charset="-122"/>
                <a:cs typeface="Calibri" pitchFamily="34" charset="-120"/>
              </a:rPr>
              <a:t>CAPABILITY 5 OF 5</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500" b="1" dirty="0">
                <a:solidFill>
                  <a:srgbClr val="0F1E3D"/>
                </a:solidFill>
                <a:latin typeface="Calibri" pitchFamily="34" charset="0"/>
                <a:ea typeface="Calibri" pitchFamily="34" charset="-122"/>
                <a:cs typeface="Calibri" pitchFamily="34" charset="-120"/>
              </a:rPr>
              <a:t>The autonomous agent — finds money unattended</a:t>
            </a:r>
            <a:endParaRPr lang="en-US" sz="2500" dirty="0"/>
          </a:p>
        </p:txBody>
      </p:sp>
      <p:sp>
        <p:nvSpPr>
          <p:cNvPr id="9" name="Shape 7"/>
          <p:cNvSpPr/>
          <p:nvPr/>
        </p:nvSpPr>
        <p:spPr>
          <a:xfrm>
            <a:off x="548640" y="1371600"/>
            <a:ext cx="1051560" cy="45720"/>
          </a:xfrm>
          <a:prstGeom prst="rect">
            <a:avLst/>
          </a:prstGeom>
          <a:solidFill>
            <a:srgbClr val="E5484D"/>
          </a:solidFill>
          <a:ln/>
        </p:spPr>
      </p:sp>
      <p:sp>
        <p:nvSpPr>
          <p:cNvPr id="10" name="Text 8"/>
          <p:cNvSpPr/>
          <p:nvPr/>
        </p:nvSpPr>
        <p:spPr>
          <a:xfrm>
            <a:off x="548640" y="1572768"/>
            <a:ext cx="10972800" cy="365760"/>
          </a:xfrm>
          <a:prstGeom prst="rect">
            <a:avLst/>
          </a:prstGeom>
          <a:noFill/>
          <a:ln/>
        </p:spPr>
        <p:txBody>
          <a:bodyPr wrap="square" lIns="0" tIns="0" rIns="0" bIns="0" rtlCol="0" anchor="t"/>
          <a:lstStyle/>
          <a:p>
            <a:pPr indent="0" marL="0">
              <a:buNone/>
            </a:pPr>
            <a:r>
              <a:rPr lang="en-US" sz="1300" dirty="0">
                <a:solidFill>
                  <a:srgbClr val="3E4C63"/>
                </a:solidFill>
                <a:latin typeface="Calibri" pitchFamily="34" charset="0"/>
                <a:ea typeface="Calibri" pitchFamily="34" charset="-122"/>
                <a:cs typeface="Calibri" pitchFamily="34" charset="-120"/>
              </a:rPr>
              <a:t>A background monitor re-checks every stored part on a schedule. In the live demo it opened these findings </a:t>
            </a:r>
            <a:pPr indent="0" marL="0">
              <a:buNone/>
            </a:pPr>
            <a:r>
              <a:rPr lang="en-US" sz="1300" b="1" dirty="0">
                <a:solidFill>
                  <a:srgbClr val="0F1E3D"/>
                </a:solidFill>
                <a:latin typeface="Calibri" pitchFamily="34" charset="0"/>
                <a:ea typeface="Calibri" pitchFamily="34" charset="-122"/>
                <a:cs typeface="Calibri" pitchFamily="34" charset="-120"/>
              </a:rPr>
              <a:t>entirely unattended:</a:t>
            </a:r>
            <a:endParaRPr lang="en-US" sz="1300" dirty="0"/>
          </a:p>
        </p:txBody>
      </p:sp>
      <p:sp>
        <p:nvSpPr>
          <p:cNvPr id="11" name="Shape 9"/>
          <p:cNvSpPr/>
          <p:nvPr/>
        </p:nvSpPr>
        <p:spPr>
          <a:xfrm>
            <a:off x="548640" y="2057400"/>
            <a:ext cx="11091672" cy="868680"/>
          </a:xfrm>
          <a:prstGeom prst="roundRect">
            <a:avLst>
              <a:gd name="adj" fmla="val 7368"/>
            </a:avLst>
          </a:prstGeom>
          <a:solidFill>
            <a:srgbClr val="FFFFFF"/>
          </a:solidFill>
          <a:ln w="12700">
            <a:solidFill>
              <a:srgbClr val="E4EAF2"/>
            </a:solidFill>
            <a:prstDash val="solid"/>
          </a:ln>
          <a:effectLst>
            <a:outerShdw sx="100000" sy="100000" kx="0" ky="0" algn="bl" rotWithShape="0" blurRad="6.567026036879325e+78" dist="1.8762931533940924e+78" dir="5.484237660094465e+92">
              <a:srgbClr val="9DB0CC">
                <a:alpha val="2.2e+94"/>
              </a:srgbClr>
            </a:outerShdw>
          </a:effectLst>
        </p:spPr>
      </p:sp>
      <p:sp>
        <p:nvSpPr>
          <p:cNvPr id="12" name="Shape 10"/>
          <p:cNvSpPr/>
          <p:nvPr/>
        </p:nvSpPr>
        <p:spPr>
          <a:xfrm>
            <a:off x="548640" y="2057400"/>
            <a:ext cx="82296" cy="868680"/>
          </a:xfrm>
          <a:prstGeom prst="rect">
            <a:avLst/>
          </a:prstGeom>
          <a:solidFill>
            <a:srgbClr val="E5484D"/>
          </a:solidFill>
          <a:ln/>
        </p:spPr>
      </p:sp>
      <p:sp>
        <p:nvSpPr>
          <p:cNvPr id="13" name="Shape 11"/>
          <p:cNvSpPr/>
          <p:nvPr/>
        </p:nvSpPr>
        <p:spPr>
          <a:xfrm>
            <a:off x="822960" y="2295144"/>
            <a:ext cx="402336" cy="402336"/>
          </a:xfrm>
          <a:prstGeom prst="ellipse">
            <a:avLst/>
          </a:prstGeom>
          <a:solidFill>
            <a:srgbClr val="FDECEC"/>
          </a:solidFill>
          <a:ln/>
        </p:spPr>
      </p:sp>
      <p:sp>
        <p:nvSpPr>
          <p:cNvPr id="14" name="Text 12"/>
          <p:cNvSpPr/>
          <p:nvPr/>
        </p:nvSpPr>
        <p:spPr>
          <a:xfrm>
            <a:off x="822960" y="2286000"/>
            <a:ext cx="402336" cy="402336"/>
          </a:xfrm>
          <a:prstGeom prst="rect">
            <a:avLst/>
          </a:prstGeom>
          <a:noFill/>
          <a:ln/>
        </p:spPr>
        <p:txBody>
          <a:bodyPr wrap="square" lIns="0" tIns="0" rIns="0" bIns="0" rtlCol="0" anchor="ctr"/>
          <a:lstStyle/>
          <a:p>
            <a:pPr algn="ctr" indent="0" marL="0">
              <a:buNone/>
            </a:pPr>
            <a:r>
              <a:rPr lang="en-US" sz="1500" b="1" dirty="0">
                <a:solidFill>
                  <a:srgbClr val="E5484D"/>
                </a:solidFill>
                <a:latin typeface="Calibri" pitchFamily="34" charset="0"/>
                <a:ea typeface="Calibri" pitchFamily="34" charset="-122"/>
                <a:cs typeface="Calibri" pitchFamily="34" charset="-120"/>
              </a:rPr>
              <a:t>◆</a:t>
            </a:r>
            <a:endParaRPr lang="en-US" sz="1500" dirty="0"/>
          </a:p>
        </p:txBody>
      </p:sp>
      <p:sp>
        <p:nvSpPr>
          <p:cNvPr id="15" name="Text 13"/>
          <p:cNvSpPr/>
          <p:nvPr/>
        </p:nvSpPr>
        <p:spPr>
          <a:xfrm>
            <a:off x="1389888" y="2203704"/>
            <a:ext cx="3657600" cy="292608"/>
          </a:xfrm>
          <a:prstGeom prst="rect">
            <a:avLst/>
          </a:prstGeom>
          <a:noFill/>
          <a:ln/>
        </p:spPr>
        <p:txBody>
          <a:bodyPr wrap="square" lIns="0" tIns="0" rIns="0" bIns="0" rtlCol="0" anchor="t"/>
          <a:lstStyle/>
          <a:p>
            <a:pPr indent="0" marL="0">
              <a:buNone/>
            </a:pPr>
            <a:r>
              <a:rPr lang="en-US" sz="1250" b="1" spc="50" kern="0" dirty="0">
                <a:solidFill>
                  <a:srgbClr val="E5484D"/>
                </a:solidFill>
                <a:latin typeface="Calibri" pitchFamily="34" charset="0"/>
                <a:ea typeface="Calibri" pitchFamily="34" charset="-122"/>
                <a:cs typeface="Calibri" pitchFamily="34" charset="-120"/>
              </a:rPr>
              <a:t>RENEGOTIATION</a:t>
            </a:r>
            <a:endParaRPr lang="en-US" sz="1250" dirty="0"/>
          </a:p>
        </p:txBody>
      </p:sp>
      <p:sp>
        <p:nvSpPr>
          <p:cNvPr id="16" name="Text 14"/>
          <p:cNvSpPr/>
          <p:nvPr/>
        </p:nvSpPr>
        <p:spPr>
          <a:xfrm>
            <a:off x="1389888" y="2514600"/>
            <a:ext cx="7772400" cy="365760"/>
          </a:xfrm>
          <a:prstGeom prst="rect">
            <a:avLst/>
          </a:prstGeom>
          <a:noFill/>
          <a:ln/>
        </p:spPr>
        <p:txBody>
          <a:bodyPr wrap="square" lIns="0" tIns="0" rIns="0" bIns="0" rtlCol="0" anchor="t"/>
          <a:lstStyle/>
          <a:p>
            <a:pPr indent="0" marL="0">
              <a:buNone/>
            </a:pPr>
            <a:r>
              <a:rPr lang="en-US" sz="1100" dirty="0">
                <a:solidFill>
                  <a:srgbClr val="3E4C63"/>
                </a:solidFill>
                <a:latin typeface="Calibri" pitchFamily="34" charset="0"/>
                <a:ea typeface="Calibri" pitchFamily="34" charset="-122"/>
                <a:cs typeface="Calibri" pitchFamily="34" charset="-120"/>
              </a:rPr>
              <a:t>Supplier price £48.00 is 20% above should-cost £40.00 at 50,000 pcs — clear recovery opportunity.</a:t>
            </a:r>
            <a:endParaRPr lang="en-US" sz="1100" dirty="0"/>
          </a:p>
        </p:txBody>
      </p:sp>
      <p:sp>
        <p:nvSpPr>
          <p:cNvPr id="17" name="Text 15"/>
          <p:cNvSpPr/>
          <p:nvPr/>
        </p:nvSpPr>
        <p:spPr>
          <a:xfrm>
            <a:off x="9235440" y="2276856"/>
            <a:ext cx="2194560" cy="457200"/>
          </a:xfrm>
          <a:prstGeom prst="rect">
            <a:avLst/>
          </a:prstGeom>
          <a:noFill/>
          <a:ln/>
        </p:spPr>
        <p:txBody>
          <a:bodyPr wrap="square" lIns="0" tIns="0" rIns="0" bIns="0" rtlCol="0" anchor="ctr"/>
          <a:lstStyle/>
          <a:p>
            <a:pPr algn="r" indent="0" marL="0">
              <a:buNone/>
            </a:pPr>
            <a:r>
              <a:rPr lang="en-US" sz="1500" b="1" dirty="0">
                <a:solidFill>
                  <a:srgbClr val="E5484D"/>
                </a:solidFill>
                <a:latin typeface="Calibri" pitchFamily="34" charset="0"/>
                <a:ea typeface="Calibri" pitchFamily="34" charset="-122"/>
                <a:cs typeface="Calibri" pitchFamily="34" charset="-120"/>
              </a:rPr>
              <a:t>≈ £400,000 / yr</a:t>
            </a:r>
            <a:endParaRPr lang="en-US" sz="1500" dirty="0"/>
          </a:p>
        </p:txBody>
      </p:sp>
      <p:sp>
        <p:nvSpPr>
          <p:cNvPr id="18" name="Shape 16"/>
          <p:cNvSpPr/>
          <p:nvPr/>
        </p:nvSpPr>
        <p:spPr>
          <a:xfrm>
            <a:off x="548640" y="3044952"/>
            <a:ext cx="11091672" cy="868680"/>
          </a:xfrm>
          <a:prstGeom prst="roundRect">
            <a:avLst>
              <a:gd name="adj" fmla="val 7368"/>
            </a:avLst>
          </a:prstGeom>
          <a:solidFill>
            <a:srgbClr val="FFFFFF"/>
          </a:solidFill>
          <a:ln w="12700">
            <a:solidFill>
              <a:srgbClr val="E4EAF2"/>
            </a:solidFill>
            <a:prstDash val="solid"/>
          </a:ln>
          <a:effectLst>
            <a:outerShdw sx="100000" sy="100000" kx="0" ky="0" algn="bl" rotWithShape="0" blurRad="8.340123066836742e+82" dist="2.3828923048104974e+82" dir="3.2905425960566786e+97">
              <a:srgbClr val="9DB0CC">
                <a:alpha val="2.2000000000000003e+99"/>
              </a:srgbClr>
            </a:outerShdw>
          </a:effectLst>
        </p:spPr>
      </p:sp>
      <p:sp>
        <p:nvSpPr>
          <p:cNvPr id="19" name="Shape 17"/>
          <p:cNvSpPr/>
          <p:nvPr/>
        </p:nvSpPr>
        <p:spPr>
          <a:xfrm>
            <a:off x="548640" y="3044952"/>
            <a:ext cx="82296" cy="868680"/>
          </a:xfrm>
          <a:prstGeom prst="rect">
            <a:avLst/>
          </a:prstGeom>
          <a:solidFill>
            <a:srgbClr val="E0900C"/>
          </a:solidFill>
          <a:ln/>
        </p:spPr>
      </p:sp>
      <p:sp>
        <p:nvSpPr>
          <p:cNvPr id="20" name="Shape 18"/>
          <p:cNvSpPr/>
          <p:nvPr/>
        </p:nvSpPr>
        <p:spPr>
          <a:xfrm>
            <a:off x="822960" y="3282696"/>
            <a:ext cx="402336" cy="402336"/>
          </a:xfrm>
          <a:prstGeom prst="ellipse">
            <a:avLst/>
          </a:prstGeom>
          <a:solidFill>
            <a:srgbClr val="FEF6E7"/>
          </a:solidFill>
          <a:ln/>
        </p:spPr>
      </p:sp>
      <p:sp>
        <p:nvSpPr>
          <p:cNvPr id="21" name="Text 19"/>
          <p:cNvSpPr/>
          <p:nvPr/>
        </p:nvSpPr>
        <p:spPr>
          <a:xfrm>
            <a:off x="822960" y="3273552"/>
            <a:ext cx="402336" cy="402336"/>
          </a:xfrm>
          <a:prstGeom prst="rect">
            <a:avLst/>
          </a:prstGeom>
          <a:noFill/>
          <a:ln/>
        </p:spPr>
        <p:txBody>
          <a:bodyPr wrap="square" lIns="0" tIns="0" rIns="0" bIns="0" rtlCol="0" anchor="ctr"/>
          <a:lstStyle/>
          <a:p>
            <a:pPr algn="ctr" indent="0" marL="0">
              <a:buNone/>
            </a:pPr>
            <a:r>
              <a:rPr lang="en-US" sz="1500" b="1" dirty="0">
                <a:solidFill>
                  <a:srgbClr val="E0900C"/>
                </a:solidFill>
                <a:latin typeface="Calibri" pitchFamily="34" charset="0"/>
                <a:ea typeface="Calibri" pitchFamily="34" charset="-122"/>
                <a:cs typeface="Calibri" pitchFamily="34" charset="-120"/>
              </a:rPr>
              <a:t>▼</a:t>
            </a:r>
            <a:endParaRPr lang="en-US" sz="1500" dirty="0"/>
          </a:p>
        </p:txBody>
      </p:sp>
      <p:sp>
        <p:nvSpPr>
          <p:cNvPr id="22" name="Text 20"/>
          <p:cNvSpPr/>
          <p:nvPr/>
        </p:nvSpPr>
        <p:spPr>
          <a:xfrm>
            <a:off x="1389888" y="3191256"/>
            <a:ext cx="3657600" cy="292608"/>
          </a:xfrm>
          <a:prstGeom prst="rect">
            <a:avLst/>
          </a:prstGeom>
          <a:noFill/>
          <a:ln/>
        </p:spPr>
        <p:txBody>
          <a:bodyPr wrap="square" lIns="0" tIns="0" rIns="0" bIns="0" rtlCol="0" anchor="t"/>
          <a:lstStyle/>
          <a:p>
            <a:pPr indent="0" marL="0">
              <a:buNone/>
            </a:pPr>
            <a:r>
              <a:rPr lang="en-US" sz="1250" b="1" spc="50" kern="0" dirty="0">
                <a:solidFill>
                  <a:srgbClr val="E0900C"/>
                </a:solidFill>
                <a:latin typeface="Calibri" pitchFamily="34" charset="0"/>
                <a:ea typeface="Calibri" pitchFamily="34" charset="-122"/>
                <a:cs typeface="Calibri" pitchFamily="34" charset="-120"/>
              </a:rPr>
              <a:t>UNDERWATER PRICE</a:t>
            </a:r>
            <a:endParaRPr lang="en-US" sz="1250" dirty="0"/>
          </a:p>
        </p:txBody>
      </p:sp>
      <p:sp>
        <p:nvSpPr>
          <p:cNvPr id="23" name="Text 21"/>
          <p:cNvSpPr/>
          <p:nvPr/>
        </p:nvSpPr>
        <p:spPr>
          <a:xfrm>
            <a:off x="1389888" y="3502152"/>
            <a:ext cx="7772400" cy="365760"/>
          </a:xfrm>
          <a:prstGeom prst="rect">
            <a:avLst/>
          </a:prstGeom>
          <a:noFill/>
          <a:ln/>
        </p:spPr>
        <p:txBody>
          <a:bodyPr wrap="square" lIns="0" tIns="0" rIns="0" bIns="0" rtlCol="0" anchor="t"/>
          <a:lstStyle/>
          <a:p>
            <a:pPr indent="0" marL="0">
              <a:buNone/>
            </a:pPr>
            <a:r>
              <a:rPr lang="en-US" sz="1100" dirty="0">
                <a:solidFill>
                  <a:srgbClr val="3E4C63"/>
                </a:solidFill>
                <a:latin typeface="Calibri" pitchFamily="34" charset="0"/>
                <a:ea typeface="Calibri" pitchFamily="34" charset="-122"/>
                <a:cs typeface="Calibri" pitchFamily="34" charset="-120"/>
              </a:rPr>
              <a:t>Supplier price 25% BELOW should-cost — verify scope &amp; quality; pricing may be unsustainable.</a:t>
            </a:r>
            <a:endParaRPr lang="en-US" sz="1100" dirty="0"/>
          </a:p>
        </p:txBody>
      </p:sp>
      <p:sp>
        <p:nvSpPr>
          <p:cNvPr id="24" name="Text 22"/>
          <p:cNvSpPr/>
          <p:nvPr/>
        </p:nvSpPr>
        <p:spPr>
          <a:xfrm>
            <a:off x="9235440" y="3264408"/>
            <a:ext cx="2194560" cy="457200"/>
          </a:xfrm>
          <a:prstGeom prst="rect">
            <a:avLst/>
          </a:prstGeom>
          <a:noFill/>
          <a:ln/>
        </p:spPr>
        <p:txBody>
          <a:bodyPr wrap="square" lIns="0" tIns="0" rIns="0" bIns="0" rtlCol="0" anchor="ctr"/>
          <a:lstStyle/>
          <a:p>
            <a:pPr algn="r" indent="0" marL="0">
              <a:buNone/>
            </a:pPr>
            <a:r>
              <a:rPr lang="en-US" sz="1500" b="1" dirty="0">
                <a:solidFill>
                  <a:srgbClr val="E0900C"/>
                </a:solidFill>
                <a:latin typeface="Calibri" pitchFamily="34" charset="0"/>
                <a:ea typeface="Calibri" pitchFamily="34" charset="-122"/>
                <a:cs typeface="Calibri" pitchFamily="34" charset="-120"/>
              </a:rPr>
              <a:t>≈ £112,000 / yr</a:t>
            </a:r>
            <a:endParaRPr lang="en-US" sz="1500" dirty="0"/>
          </a:p>
        </p:txBody>
      </p:sp>
      <p:sp>
        <p:nvSpPr>
          <p:cNvPr id="25" name="Shape 23"/>
          <p:cNvSpPr/>
          <p:nvPr/>
        </p:nvSpPr>
        <p:spPr>
          <a:xfrm>
            <a:off x="548640" y="4032504"/>
            <a:ext cx="11091672" cy="868680"/>
          </a:xfrm>
          <a:prstGeom prst="roundRect">
            <a:avLst>
              <a:gd name="adj" fmla="val 7368"/>
            </a:avLst>
          </a:prstGeom>
          <a:solidFill>
            <a:srgbClr val="FFFFFF"/>
          </a:solidFill>
          <a:ln w="12700">
            <a:solidFill>
              <a:srgbClr val="E4EAF2"/>
            </a:solidFill>
            <a:prstDash val="solid"/>
          </a:ln>
          <a:effectLst>
            <a:outerShdw sx="100000" sy="100000" kx="0" ky="0" algn="bl" rotWithShape="0" blurRad="1.0591956294882662e+87" dist="3.0262732271093317e+86" dir="1.9743255576340073e+102">
              <a:srgbClr val="9DB0CC">
                <a:alpha val="2.2000000000000003e+104"/>
              </a:srgbClr>
            </a:outerShdw>
          </a:effectLst>
        </p:spPr>
      </p:sp>
      <p:sp>
        <p:nvSpPr>
          <p:cNvPr id="26" name="Shape 24"/>
          <p:cNvSpPr/>
          <p:nvPr/>
        </p:nvSpPr>
        <p:spPr>
          <a:xfrm>
            <a:off x="548640" y="4032504"/>
            <a:ext cx="82296" cy="868680"/>
          </a:xfrm>
          <a:prstGeom prst="rect">
            <a:avLst/>
          </a:prstGeom>
          <a:solidFill>
            <a:srgbClr val="8A97A8"/>
          </a:solidFill>
          <a:ln/>
        </p:spPr>
      </p:sp>
      <p:sp>
        <p:nvSpPr>
          <p:cNvPr id="27" name="Shape 25"/>
          <p:cNvSpPr/>
          <p:nvPr/>
        </p:nvSpPr>
        <p:spPr>
          <a:xfrm>
            <a:off x="822960" y="4270248"/>
            <a:ext cx="402336" cy="402336"/>
          </a:xfrm>
          <a:prstGeom prst="ellipse">
            <a:avLst/>
          </a:prstGeom>
          <a:solidFill>
            <a:srgbClr val="F4F7FB"/>
          </a:solidFill>
          <a:ln/>
        </p:spPr>
      </p:sp>
      <p:sp>
        <p:nvSpPr>
          <p:cNvPr id="28" name="Text 26"/>
          <p:cNvSpPr/>
          <p:nvPr/>
        </p:nvSpPr>
        <p:spPr>
          <a:xfrm>
            <a:off x="822960" y="4261104"/>
            <a:ext cx="402336" cy="402336"/>
          </a:xfrm>
          <a:prstGeom prst="rect">
            <a:avLst/>
          </a:prstGeom>
          <a:noFill/>
          <a:ln/>
        </p:spPr>
        <p:txBody>
          <a:bodyPr wrap="square" lIns="0" tIns="0" rIns="0" bIns="0" rtlCol="0" anchor="ctr"/>
          <a:lstStyle/>
          <a:p>
            <a:pPr algn="ctr" indent="0" marL="0">
              <a:buNone/>
            </a:pPr>
            <a:r>
              <a:rPr lang="en-US" sz="1500" b="1" dirty="0">
                <a:solidFill>
                  <a:srgbClr val="8A97A8"/>
                </a:solidFill>
                <a:latin typeface="Calibri" pitchFamily="34" charset="0"/>
                <a:ea typeface="Calibri" pitchFamily="34" charset="-122"/>
                <a:cs typeface="Calibri" pitchFamily="34" charset="-120"/>
              </a:rPr>
              <a:t>⏱</a:t>
            </a:r>
            <a:endParaRPr lang="en-US" sz="1500" dirty="0"/>
          </a:p>
        </p:txBody>
      </p:sp>
      <p:sp>
        <p:nvSpPr>
          <p:cNvPr id="29" name="Text 27"/>
          <p:cNvSpPr/>
          <p:nvPr/>
        </p:nvSpPr>
        <p:spPr>
          <a:xfrm>
            <a:off x="1389888" y="4178808"/>
            <a:ext cx="3657600" cy="292608"/>
          </a:xfrm>
          <a:prstGeom prst="rect">
            <a:avLst/>
          </a:prstGeom>
          <a:noFill/>
          <a:ln/>
        </p:spPr>
        <p:txBody>
          <a:bodyPr wrap="square" lIns="0" tIns="0" rIns="0" bIns="0" rtlCol="0" anchor="t"/>
          <a:lstStyle/>
          <a:p>
            <a:pPr indent="0" marL="0">
              <a:buNone/>
            </a:pPr>
            <a:r>
              <a:rPr lang="en-US" sz="1250" b="1" spc="50" kern="0" dirty="0">
                <a:solidFill>
                  <a:srgbClr val="8A97A8"/>
                </a:solidFill>
                <a:latin typeface="Calibri" pitchFamily="34" charset="0"/>
                <a:ea typeface="Calibri" pitchFamily="34" charset="-122"/>
                <a:cs typeface="Calibri" pitchFamily="34" charset="-120"/>
              </a:rPr>
              <a:t>STALE ESTIMATE</a:t>
            </a:r>
            <a:endParaRPr lang="en-US" sz="1250" dirty="0"/>
          </a:p>
        </p:txBody>
      </p:sp>
      <p:sp>
        <p:nvSpPr>
          <p:cNvPr id="30" name="Text 28"/>
          <p:cNvSpPr/>
          <p:nvPr/>
        </p:nvSpPr>
        <p:spPr>
          <a:xfrm>
            <a:off x="1389888" y="4489704"/>
            <a:ext cx="7772400" cy="365760"/>
          </a:xfrm>
          <a:prstGeom prst="rect">
            <a:avLst/>
          </a:prstGeom>
          <a:noFill/>
          <a:ln/>
        </p:spPr>
        <p:txBody>
          <a:bodyPr wrap="square" lIns="0" tIns="0" rIns="0" bIns="0" rtlCol="0" anchor="t"/>
          <a:lstStyle/>
          <a:p>
            <a:pPr indent="0" marL="0">
              <a:buNone/>
            </a:pPr>
            <a:r>
              <a:rPr lang="en-US" sz="1100" dirty="0">
                <a:solidFill>
                  <a:srgbClr val="3E4C63"/>
                </a:solidFill>
                <a:latin typeface="Calibri" pitchFamily="34" charset="0"/>
                <a:ea typeface="Calibri" pitchFamily="34" charset="-122"/>
                <a:cs typeface="Calibri" pitchFamily="34" charset="-120"/>
              </a:rPr>
              <a:t>A 120-day-old estimate was never validated with a real quote — the agent asks for a refresh.</a:t>
            </a:r>
            <a:endParaRPr lang="en-US" sz="1100" dirty="0"/>
          </a:p>
        </p:txBody>
      </p:sp>
      <p:sp>
        <p:nvSpPr>
          <p:cNvPr id="31" name="Text 29"/>
          <p:cNvSpPr/>
          <p:nvPr/>
        </p:nvSpPr>
        <p:spPr>
          <a:xfrm>
            <a:off x="9235440" y="4251960"/>
            <a:ext cx="2194560" cy="457200"/>
          </a:xfrm>
          <a:prstGeom prst="rect">
            <a:avLst/>
          </a:prstGeom>
          <a:noFill/>
          <a:ln/>
        </p:spPr>
        <p:txBody>
          <a:bodyPr wrap="square" lIns="0" tIns="0" rIns="0" bIns="0" rtlCol="0" anchor="ctr"/>
          <a:lstStyle/>
          <a:p>
            <a:pPr algn="r" indent="0" marL="0">
              <a:buNone/>
            </a:pPr>
            <a:r>
              <a:rPr lang="en-US" sz="1500" b="1" dirty="0">
                <a:solidFill>
                  <a:srgbClr val="8A97A8"/>
                </a:solidFill>
                <a:latin typeface="Calibri" pitchFamily="34" charset="0"/>
                <a:ea typeface="Calibri" pitchFamily="34" charset="-122"/>
                <a:cs typeface="Calibri" pitchFamily="34" charset="-120"/>
              </a:rPr>
              <a:t>Needs refresh</a:t>
            </a:r>
            <a:endParaRPr lang="en-US" sz="1500" dirty="0"/>
          </a:p>
        </p:txBody>
      </p:sp>
      <p:sp>
        <p:nvSpPr>
          <p:cNvPr id="32" name="Shape 30"/>
          <p:cNvSpPr/>
          <p:nvPr/>
        </p:nvSpPr>
        <p:spPr>
          <a:xfrm>
            <a:off x="548640" y="5074920"/>
            <a:ext cx="11091672" cy="749808"/>
          </a:xfrm>
          <a:prstGeom prst="roundRect">
            <a:avLst>
              <a:gd name="adj" fmla="val 8537"/>
            </a:avLst>
          </a:prstGeom>
          <a:solidFill>
            <a:srgbClr val="FDECEC"/>
          </a:solidFill>
          <a:ln w="12700">
            <a:solidFill>
              <a:srgbClr val="E4EAF2"/>
            </a:solidFill>
            <a:prstDash val="solid"/>
          </a:ln>
        </p:spPr>
      </p:sp>
      <p:sp>
        <p:nvSpPr>
          <p:cNvPr id="33" name="Text 31"/>
          <p:cNvSpPr/>
          <p:nvPr/>
        </p:nvSpPr>
        <p:spPr>
          <a:xfrm>
            <a:off x="914400" y="5074920"/>
            <a:ext cx="10332720" cy="749808"/>
          </a:xfrm>
          <a:prstGeom prst="rect">
            <a:avLst/>
          </a:prstGeom>
          <a:noFill/>
          <a:ln/>
        </p:spPr>
        <p:txBody>
          <a:bodyPr wrap="square" lIns="0" tIns="0" rIns="0" bIns="0" rtlCol="0" anchor="ctr"/>
          <a:lstStyle/>
          <a:p>
            <a:pPr indent="0" marL="0">
              <a:buNone/>
            </a:pPr>
            <a:r>
              <a:rPr lang="en-US" sz="1250" dirty="0">
                <a:solidFill>
                  <a:srgbClr val="3E4C63"/>
                </a:solidFill>
                <a:latin typeface="Calibri" pitchFamily="34" charset="0"/>
                <a:ea typeface="Calibri" pitchFamily="34" charset="-122"/>
                <a:cs typeface="Calibri" pitchFamily="34" charset="-120"/>
              </a:rPr>
              <a:t>Total surfaced in the demo:  </a:t>
            </a:r>
            <a:pPr indent="0" marL="0">
              <a:buNone/>
            </a:pPr>
            <a:r>
              <a:rPr lang="en-US" sz="1500" b="1" dirty="0">
                <a:solidFill>
                  <a:srgbClr val="E5484D"/>
                </a:solidFill>
                <a:latin typeface="Calibri" pitchFamily="34" charset="0"/>
                <a:ea typeface="Calibri" pitchFamily="34" charset="-122"/>
                <a:cs typeface="Calibri" pitchFamily="34" charset="-120"/>
              </a:rPr>
              <a:t>≈ £512,000 / yr</a:t>
            </a:r>
            <a:pPr indent="0" marL="0">
              <a:buNone/>
            </a:pPr>
            <a:r>
              <a:rPr lang="en-US" sz="1250" dirty="0">
                <a:solidFill>
                  <a:srgbClr val="8A97A8"/>
                </a:solidFill>
                <a:latin typeface="Calibri" pitchFamily="34" charset="0"/>
                <a:ea typeface="Calibri" pitchFamily="34" charset="-122"/>
                <a:cs typeface="Calibri" pitchFamily="34" charset="-120"/>
              </a:rPr>
              <a:t>    Every finding shows its arithmetic, and one click dismisses it once handled.</a:t>
            </a:r>
            <a:endParaRPr lang="en-US" sz="1250" dirty="0"/>
          </a:p>
        </p:txBody>
      </p:sp>
      <p:sp>
        <p:nvSpPr>
          <p:cNvPr id="34" name="Shape 32"/>
          <p:cNvSpPr/>
          <p:nvPr/>
        </p:nvSpPr>
        <p:spPr>
          <a:xfrm>
            <a:off x="548640" y="6400800"/>
            <a:ext cx="11094415" cy="12802"/>
          </a:xfrm>
          <a:prstGeom prst="rect">
            <a:avLst/>
          </a:prstGeom>
          <a:solidFill>
            <a:srgbClr val="E4EAF2"/>
          </a:solidFill>
          <a:ln/>
        </p:spPr>
      </p:sp>
      <p:sp>
        <p:nvSpPr>
          <p:cNvPr id="35" name="Text 33"/>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Agentic AI Management Briefing</a:t>
            </a:r>
            <a:endParaRPr lang="en-US" sz="850" dirty="0"/>
          </a:p>
        </p:txBody>
      </p:sp>
      <p:sp>
        <p:nvSpPr>
          <p:cNvPr id="36" name="Text 34"/>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9 / 20</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4F46E5"/>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4F46E5"/>
                </a:solidFill>
                <a:latin typeface="Calibri" pitchFamily="34" charset="0"/>
                <a:ea typeface="Calibri" pitchFamily="34" charset="-122"/>
                <a:cs typeface="Calibri" pitchFamily="34" charset="-120"/>
              </a:rPr>
              <a:t>THE WIDER AI PLATFORM</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500" b="1" dirty="0">
                <a:solidFill>
                  <a:srgbClr val="0F1E3D"/>
                </a:solidFill>
                <a:latin typeface="Calibri" pitchFamily="34" charset="0"/>
                <a:ea typeface="Calibri" pitchFamily="34" charset="-122"/>
                <a:cs typeface="Calibri" pitchFamily="34" charset="-120"/>
              </a:rPr>
              <a:t>Supporting AI capabilities already in the tool</a:t>
            </a:r>
            <a:endParaRPr lang="en-US" sz="2500" dirty="0"/>
          </a:p>
        </p:txBody>
      </p:sp>
      <p:sp>
        <p:nvSpPr>
          <p:cNvPr id="9" name="Shape 7"/>
          <p:cNvSpPr/>
          <p:nvPr/>
        </p:nvSpPr>
        <p:spPr>
          <a:xfrm>
            <a:off x="548640" y="1371600"/>
            <a:ext cx="1051560" cy="45720"/>
          </a:xfrm>
          <a:prstGeom prst="rect">
            <a:avLst/>
          </a:prstGeom>
          <a:solidFill>
            <a:srgbClr val="4F46E5"/>
          </a:solidFill>
          <a:ln/>
        </p:spPr>
      </p:sp>
      <p:sp>
        <p:nvSpPr>
          <p:cNvPr id="10" name="Shape 8"/>
          <p:cNvSpPr/>
          <p:nvPr/>
        </p:nvSpPr>
        <p:spPr>
          <a:xfrm>
            <a:off x="548640" y="1691640"/>
            <a:ext cx="5422392" cy="1828800"/>
          </a:xfrm>
          <a:prstGeom prst="roundRect">
            <a:avLst>
              <a:gd name="adj" fmla="val 3500"/>
            </a:avLst>
          </a:prstGeom>
          <a:solidFill>
            <a:srgbClr val="FFFFFF"/>
          </a:solidFill>
          <a:ln w="12700">
            <a:solidFill>
              <a:srgbClr val="E4EAF2"/>
            </a:solidFill>
            <a:prstDash val="solid"/>
          </a:ln>
          <a:effectLst>
            <a:outerShdw sx="100000" sy="100000" kx="0" ky="0" algn="bl" rotWithShape="0" blurRad="1.3451784494500981e+91" dist="3.8433669984288512e+90" dir="1.1845953345804043e+107">
              <a:srgbClr val="9DB0CC">
                <a:alpha val="2.2000000000000003e+109"/>
              </a:srgbClr>
            </a:outerShdw>
          </a:effectLst>
        </p:spPr>
      </p:sp>
      <p:sp>
        <p:nvSpPr>
          <p:cNvPr id="11" name="Shape 9"/>
          <p:cNvSpPr/>
          <p:nvPr/>
        </p:nvSpPr>
        <p:spPr>
          <a:xfrm>
            <a:off x="548640" y="1691640"/>
            <a:ext cx="82296" cy="1828800"/>
          </a:xfrm>
          <a:prstGeom prst="rect">
            <a:avLst/>
          </a:prstGeom>
          <a:solidFill>
            <a:srgbClr val="2563EB"/>
          </a:solidFill>
          <a:ln/>
        </p:spPr>
      </p:sp>
      <p:sp>
        <p:nvSpPr>
          <p:cNvPr id="12" name="Shape 10"/>
          <p:cNvSpPr/>
          <p:nvPr/>
        </p:nvSpPr>
        <p:spPr>
          <a:xfrm>
            <a:off x="822960" y="1947672"/>
            <a:ext cx="548640" cy="548640"/>
          </a:xfrm>
          <a:prstGeom prst="ellipse">
            <a:avLst/>
          </a:prstGeom>
          <a:solidFill>
            <a:srgbClr val="EAF1FE"/>
          </a:solidFill>
          <a:ln/>
        </p:spPr>
      </p:sp>
      <p:sp>
        <p:nvSpPr>
          <p:cNvPr id="13" name="Text 11"/>
          <p:cNvSpPr/>
          <p:nvPr/>
        </p:nvSpPr>
        <p:spPr>
          <a:xfrm>
            <a:off x="822960" y="1938528"/>
            <a:ext cx="548640" cy="548640"/>
          </a:xfrm>
          <a:prstGeom prst="rect">
            <a:avLst/>
          </a:prstGeom>
          <a:noFill/>
          <a:ln/>
        </p:spPr>
        <p:txBody>
          <a:bodyPr wrap="square" lIns="0" tIns="0" rIns="0" bIns="0" rtlCol="0" anchor="ctr"/>
          <a:lstStyle/>
          <a:p>
            <a:pPr algn="ctr" indent="0" marL="0">
              <a:buNone/>
            </a:pPr>
            <a:r>
              <a:rPr lang="en-US" sz="2000" b="1" dirty="0">
                <a:solidFill>
                  <a:srgbClr val="2563EB"/>
                </a:solidFill>
                <a:latin typeface="Calibri" pitchFamily="34" charset="0"/>
                <a:ea typeface="Calibri" pitchFamily="34" charset="-122"/>
                <a:cs typeface="Calibri" pitchFamily="34" charset="-120"/>
              </a:rPr>
              <a:t>◆</a:t>
            </a:r>
            <a:endParaRPr lang="en-US" sz="2000" dirty="0"/>
          </a:p>
        </p:txBody>
      </p:sp>
      <p:sp>
        <p:nvSpPr>
          <p:cNvPr id="14" name="Text 12"/>
          <p:cNvSpPr/>
          <p:nvPr/>
        </p:nvSpPr>
        <p:spPr>
          <a:xfrm>
            <a:off x="1517904" y="1984248"/>
            <a:ext cx="4297680" cy="365760"/>
          </a:xfrm>
          <a:prstGeom prst="rect">
            <a:avLst/>
          </a:prstGeom>
          <a:noFill/>
          <a:ln/>
        </p:spPr>
        <p:txBody>
          <a:bodyPr wrap="square" lIns="0" tIns="0" rIns="0" bIns="0" rtlCol="0" anchor="ctr"/>
          <a:lstStyle/>
          <a:p>
            <a:pPr indent="0" marL="0">
              <a:buNone/>
            </a:pPr>
            <a:r>
              <a:rPr lang="en-US" sz="1500" b="1" dirty="0">
                <a:solidFill>
                  <a:srgbClr val="2563EB"/>
                </a:solidFill>
                <a:latin typeface="Calibri" pitchFamily="34" charset="0"/>
                <a:ea typeface="Calibri" pitchFamily="34" charset="-122"/>
                <a:cs typeface="Calibri" pitchFamily="34" charset="-120"/>
              </a:rPr>
              <a:t>Grounded AI assistant</a:t>
            </a:r>
            <a:endParaRPr lang="en-US" sz="1500" dirty="0"/>
          </a:p>
        </p:txBody>
      </p:sp>
      <p:sp>
        <p:nvSpPr>
          <p:cNvPr id="15" name="Text 13"/>
          <p:cNvSpPr/>
          <p:nvPr/>
        </p:nvSpPr>
        <p:spPr>
          <a:xfrm>
            <a:off x="841248" y="2624328"/>
            <a:ext cx="5029200" cy="822960"/>
          </a:xfrm>
          <a:prstGeom prst="rect">
            <a:avLst/>
          </a:prstGeom>
          <a:noFill/>
          <a:ln/>
        </p:spPr>
        <p:txBody>
          <a:bodyPr wrap="square" lIns="0" tIns="0" rIns="0" bIns="0" rtlCol="0" anchor="t"/>
          <a:lstStyle/>
          <a:p>
            <a:pPr indent="0" marL="0">
              <a:lnSpc>
                <a:spcPct val="116000"/>
              </a:lnSpc>
              <a:buNone/>
            </a:pPr>
            <a:r>
              <a:rPr lang="en-US" sz="1150" dirty="0">
                <a:solidFill>
                  <a:srgbClr val="3E4C63"/>
                </a:solidFill>
                <a:latin typeface="Calibri" pitchFamily="34" charset="0"/>
                <a:ea typeface="Calibri" pitchFamily="34" charset="-122"/>
                <a:cs typeface="Calibri" pitchFamily="34" charset="-120"/>
              </a:rPr>
              <a:t>Answers cite our actual rate library and past costings — the AI quotes our data, it doesn't improvise. Every figure traceable.</a:t>
            </a:r>
            <a:endParaRPr lang="en-US" sz="1150" dirty="0"/>
          </a:p>
        </p:txBody>
      </p:sp>
      <p:sp>
        <p:nvSpPr>
          <p:cNvPr id="16" name="Shape 14"/>
          <p:cNvSpPr/>
          <p:nvPr/>
        </p:nvSpPr>
        <p:spPr>
          <a:xfrm>
            <a:off x="6217920" y="1691640"/>
            <a:ext cx="5422392" cy="1828800"/>
          </a:xfrm>
          <a:prstGeom prst="roundRect">
            <a:avLst>
              <a:gd name="adj" fmla="val 3500"/>
            </a:avLst>
          </a:prstGeom>
          <a:solidFill>
            <a:srgbClr val="FFFFFF"/>
          </a:solidFill>
          <a:ln w="12700">
            <a:solidFill>
              <a:srgbClr val="E4EAF2"/>
            </a:solidFill>
            <a:prstDash val="solid"/>
          </a:ln>
          <a:effectLst>
            <a:outerShdw sx="100000" sy="100000" kx="0" ky="0" algn="bl" rotWithShape="0" blurRad="1.7083766308016246e+95" dist="4.8810760880046414e+94" dir="7.107572007482426e+111">
              <a:srgbClr val="9DB0CC">
                <a:alpha val="2.2000000000000003e+114"/>
              </a:srgbClr>
            </a:outerShdw>
          </a:effectLst>
        </p:spPr>
      </p:sp>
      <p:sp>
        <p:nvSpPr>
          <p:cNvPr id="17" name="Shape 15"/>
          <p:cNvSpPr/>
          <p:nvPr/>
        </p:nvSpPr>
        <p:spPr>
          <a:xfrm>
            <a:off x="6217920" y="1691640"/>
            <a:ext cx="82296" cy="1828800"/>
          </a:xfrm>
          <a:prstGeom prst="rect">
            <a:avLst/>
          </a:prstGeom>
          <a:solidFill>
            <a:srgbClr val="7C3AED"/>
          </a:solidFill>
          <a:ln/>
        </p:spPr>
      </p:sp>
      <p:sp>
        <p:nvSpPr>
          <p:cNvPr id="18" name="Shape 16"/>
          <p:cNvSpPr/>
          <p:nvPr/>
        </p:nvSpPr>
        <p:spPr>
          <a:xfrm>
            <a:off x="6492240" y="1947672"/>
            <a:ext cx="548640" cy="548640"/>
          </a:xfrm>
          <a:prstGeom prst="ellipse">
            <a:avLst/>
          </a:prstGeom>
          <a:solidFill>
            <a:srgbClr val="F3EEFE"/>
          </a:solidFill>
          <a:ln/>
        </p:spPr>
      </p:sp>
      <p:sp>
        <p:nvSpPr>
          <p:cNvPr id="19" name="Text 17"/>
          <p:cNvSpPr/>
          <p:nvPr/>
        </p:nvSpPr>
        <p:spPr>
          <a:xfrm>
            <a:off x="6492240" y="1938528"/>
            <a:ext cx="548640" cy="548640"/>
          </a:xfrm>
          <a:prstGeom prst="rect">
            <a:avLst/>
          </a:prstGeom>
          <a:noFill/>
          <a:ln/>
        </p:spPr>
        <p:txBody>
          <a:bodyPr wrap="square" lIns="0" tIns="0" rIns="0" bIns="0" rtlCol="0" anchor="ctr"/>
          <a:lstStyle/>
          <a:p>
            <a:pPr algn="ctr" indent="0" marL="0">
              <a:buNone/>
            </a:pPr>
            <a:r>
              <a:rPr lang="en-US" sz="2000" b="1" dirty="0">
                <a:solidFill>
                  <a:srgbClr val="7C3AED"/>
                </a:solidFill>
                <a:latin typeface="Calibri" pitchFamily="34" charset="0"/>
                <a:ea typeface="Calibri" pitchFamily="34" charset="-122"/>
                <a:cs typeface="Calibri" pitchFamily="34" charset="-120"/>
              </a:rPr>
              <a:t>▤</a:t>
            </a:r>
            <a:endParaRPr lang="en-US" sz="2000" dirty="0"/>
          </a:p>
        </p:txBody>
      </p:sp>
      <p:sp>
        <p:nvSpPr>
          <p:cNvPr id="20" name="Text 18"/>
          <p:cNvSpPr/>
          <p:nvPr/>
        </p:nvSpPr>
        <p:spPr>
          <a:xfrm>
            <a:off x="7187184" y="1984248"/>
            <a:ext cx="4297680" cy="365760"/>
          </a:xfrm>
          <a:prstGeom prst="rect">
            <a:avLst/>
          </a:prstGeom>
          <a:noFill/>
          <a:ln/>
        </p:spPr>
        <p:txBody>
          <a:bodyPr wrap="square" lIns="0" tIns="0" rIns="0" bIns="0" rtlCol="0" anchor="ctr"/>
          <a:lstStyle/>
          <a:p>
            <a:pPr indent="0" marL="0">
              <a:buNone/>
            </a:pPr>
            <a:r>
              <a:rPr lang="en-US" sz="1500" b="1" dirty="0">
                <a:solidFill>
                  <a:srgbClr val="7C3AED"/>
                </a:solidFill>
                <a:latin typeface="Calibri" pitchFamily="34" charset="0"/>
                <a:ea typeface="Calibri" pitchFamily="34" charset="-122"/>
                <a:cs typeface="Calibri" pitchFamily="34" charset="-120"/>
              </a:rPr>
              <a:t>RFQ analyst</a:t>
            </a:r>
            <a:endParaRPr lang="en-US" sz="1500" dirty="0"/>
          </a:p>
        </p:txBody>
      </p:sp>
      <p:sp>
        <p:nvSpPr>
          <p:cNvPr id="21" name="Text 19"/>
          <p:cNvSpPr/>
          <p:nvPr/>
        </p:nvSpPr>
        <p:spPr>
          <a:xfrm>
            <a:off x="6510528" y="2624328"/>
            <a:ext cx="5029200" cy="822960"/>
          </a:xfrm>
          <a:prstGeom prst="rect">
            <a:avLst/>
          </a:prstGeom>
          <a:noFill/>
          <a:ln/>
        </p:spPr>
        <p:txBody>
          <a:bodyPr wrap="square" lIns="0" tIns="0" rIns="0" bIns="0" rtlCol="0" anchor="t"/>
          <a:lstStyle/>
          <a:p>
            <a:pPr indent="0" marL="0">
              <a:lnSpc>
                <a:spcPct val="116000"/>
              </a:lnSpc>
              <a:buNone/>
            </a:pPr>
            <a:r>
              <a:rPr lang="en-US" sz="1150" dirty="0">
                <a:solidFill>
                  <a:srgbClr val="3E4C63"/>
                </a:solidFill>
                <a:latin typeface="Calibri" pitchFamily="34" charset="0"/>
                <a:ea typeface="Calibri" pitchFamily="34" charset="-122"/>
                <a:cs typeface="Calibri" pitchFamily="34" charset="-120"/>
              </a:rPr>
              <a:t>Drop in an RFQ package: it costs every line, flags risky prices and single-source parts, and drafts a prioritised negotiation brief.</a:t>
            </a:r>
            <a:endParaRPr lang="en-US" sz="1150" dirty="0"/>
          </a:p>
        </p:txBody>
      </p:sp>
      <p:sp>
        <p:nvSpPr>
          <p:cNvPr id="22" name="Shape 20"/>
          <p:cNvSpPr/>
          <p:nvPr/>
        </p:nvSpPr>
        <p:spPr>
          <a:xfrm>
            <a:off x="548640" y="3703320"/>
            <a:ext cx="5422392" cy="1828800"/>
          </a:xfrm>
          <a:prstGeom prst="roundRect">
            <a:avLst>
              <a:gd name="adj" fmla="val 3500"/>
            </a:avLst>
          </a:prstGeom>
          <a:solidFill>
            <a:srgbClr val="FFFFFF"/>
          </a:solidFill>
          <a:ln w="12700">
            <a:solidFill>
              <a:srgbClr val="E4EAF2"/>
            </a:solidFill>
            <a:prstDash val="solid"/>
          </a:ln>
          <a:effectLst>
            <a:outerShdw sx="100000" sy="100000" kx="0" ky="0" algn="bl" rotWithShape="0" blurRad="2.1696383211180632e+99" dist="6.198966631765894e+98" dir="4.2645432044894554e+116">
              <a:srgbClr val="9DB0CC">
                <a:alpha val="2.2000000000000005e+119"/>
              </a:srgbClr>
            </a:outerShdw>
          </a:effectLst>
        </p:spPr>
      </p:sp>
      <p:sp>
        <p:nvSpPr>
          <p:cNvPr id="23" name="Shape 21"/>
          <p:cNvSpPr/>
          <p:nvPr/>
        </p:nvSpPr>
        <p:spPr>
          <a:xfrm>
            <a:off x="548640" y="3703320"/>
            <a:ext cx="82296" cy="1828800"/>
          </a:xfrm>
          <a:prstGeom prst="rect">
            <a:avLst/>
          </a:prstGeom>
          <a:solidFill>
            <a:srgbClr val="0E93B0"/>
          </a:solidFill>
          <a:ln/>
        </p:spPr>
      </p:sp>
      <p:sp>
        <p:nvSpPr>
          <p:cNvPr id="24" name="Shape 22"/>
          <p:cNvSpPr/>
          <p:nvPr/>
        </p:nvSpPr>
        <p:spPr>
          <a:xfrm>
            <a:off x="822960" y="3959352"/>
            <a:ext cx="548640" cy="548640"/>
          </a:xfrm>
          <a:prstGeom prst="ellipse">
            <a:avLst/>
          </a:prstGeom>
          <a:solidFill>
            <a:srgbClr val="E8F6FA"/>
          </a:solidFill>
          <a:ln/>
        </p:spPr>
      </p:sp>
      <p:sp>
        <p:nvSpPr>
          <p:cNvPr id="25" name="Text 23"/>
          <p:cNvSpPr/>
          <p:nvPr/>
        </p:nvSpPr>
        <p:spPr>
          <a:xfrm>
            <a:off x="822960" y="3950208"/>
            <a:ext cx="548640" cy="548640"/>
          </a:xfrm>
          <a:prstGeom prst="rect">
            <a:avLst/>
          </a:prstGeom>
          <a:noFill/>
          <a:ln/>
        </p:spPr>
        <p:txBody>
          <a:bodyPr wrap="square" lIns="0" tIns="0" rIns="0" bIns="0" rtlCol="0" anchor="ctr"/>
          <a:lstStyle/>
          <a:p>
            <a:pPr algn="ctr" indent="0" marL="0">
              <a:buNone/>
            </a:pPr>
            <a:r>
              <a:rPr lang="en-US" sz="2000" b="1" dirty="0">
                <a:solidFill>
                  <a:srgbClr val="0E93B0"/>
                </a:solidFill>
                <a:latin typeface="Calibri" pitchFamily="34" charset="0"/>
                <a:ea typeface="Calibri" pitchFamily="34" charset="-122"/>
                <a:cs typeface="Calibri" pitchFamily="34" charset="-120"/>
              </a:rPr>
              <a:t>◈</a:t>
            </a:r>
            <a:endParaRPr lang="en-US" sz="2000" dirty="0"/>
          </a:p>
        </p:txBody>
      </p:sp>
      <p:sp>
        <p:nvSpPr>
          <p:cNvPr id="26" name="Text 24"/>
          <p:cNvSpPr/>
          <p:nvPr/>
        </p:nvSpPr>
        <p:spPr>
          <a:xfrm>
            <a:off x="1517904" y="3995928"/>
            <a:ext cx="4297680" cy="365760"/>
          </a:xfrm>
          <a:prstGeom prst="rect">
            <a:avLst/>
          </a:prstGeom>
          <a:noFill/>
          <a:ln/>
        </p:spPr>
        <p:txBody>
          <a:bodyPr wrap="square" lIns="0" tIns="0" rIns="0" bIns="0" rtlCol="0" anchor="ctr"/>
          <a:lstStyle/>
          <a:p>
            <a:pPr indent="0" marL="0">
              <a:buNone/>
            </a:pPr>
            <a:r>
              <a:rPr lang="en-US" sz="1500" b="1" dirty="0">
                <a:solidFill>
                  <a:srgbClr val="0E93B0"/>
                </a:solidFill>
                <a:latin typeface="Calibri" pitchFamily="34" charset="0"/>
                <a:ea typeface="Calibri" pitchFamily="34" charset="-122"/>
                <a:cs typeface="Calibri" pitchFamily="34" charset="-120"/>
              </a:rPr>
              <a:t>CAD feature costing</a:t>
            </a:r>
            <a:endParaRPr lang="en-US" sz="1500" dirty="0"/>
          </a:p>
        </p:txBody>
      </p:sp>
      <p:sp>
        <p:nvSpPr>
          <p:cNvPr id="27" name="Text 25"/>
          <p:cNvSpPr/>
          <p:nvPr/>
        </p:nvSpPr>
        <p:spPr>
          <a:xfrm>
            <a:off x="841248" y="4636008"/>
            <a:ext cx="5029200" cy="822960"/>
          </a:xfrm>
          <a:prstGeom prst="rect">
            <a:avLst/>
          </a:prstGeom>
          <a:noFill/>
          <a:ln/>
        </p:spPr>
        <p:txBody>
          <a:bodyPr wrap="square" lIns="0" tIns="0" rIns="0" bIns="0" rtlCol="0" anchor="t"/>
          <a:lstStyle/>
          <a:p>
            <a:pPr indent="0" marL="0">
              <a:lnSpc>
                <a:spcPct val="116000"/>
              </a:lnSpc>
              <a:buNone/>
            </a:pPr>
            <a:r>
              <a:rPr lang="en-US" sz="1150" dirty="0">
                <a:solidFill>
                  <a:srgbClr val="3E4C63"/>
                </a:solidFill>
                <a:latin typeface="Calibri" pitchFamily="34" charset="0"/>
                <a:ea typeface="Calibri" pitchFamily="34" charset="-122"/>
                <a:cs typeface="Calibri" pitchFamily="34" charset="-120"/>
              </a:rPr>
              <a:t>Reads the 3D model and prices individual design features — holes, threads, surfaces — so designers see what drives cost.</a:t>
            </a:r>
            <a:endParaRPr lang="en-US" sz="1150" dirty="0"/>
          </a:p>
        </p:txBody>
      </p:sp>
      <p:sp>
        <p:nvSpPr>
          <p:cNvPr id="28" name="Shape 26"/>
          <p:cNvSpPr/>
          <p:nvPr/>
        </p:nvSpPr>
        <p:spPr>
          <a:xfrm>
            <a:off x="6217920" y="3703320"/>
            <a:ext cx="5422392" cy="1828800"/>
          </a:xfrm>
          <a:prstGeom prst="roundRect">
            <a:avLst>
              <a:gd name="adj" fmla="val 3500"/>
            </a:avLst>
          </a:prstGeom>
          <a:solidFill>
            <a:srgbClr val="FFFFFF"/>
          </a:solidFill>
          <a:ln w="12700">
            <a:solidFill>
              <a:srgbClr val="E4EAF2"/>
            </a:solidFill>
            <a:prstDash val="solid"/>
          </a:ln>
          <a:effectLst>
            <a:outerShdw sx="100000" sy="100000" kx="0" ky="0" algn="bl" rotWithShape="0" blurRad="2.7554406678199403e+103" dist="7.872687622342685e+102" dir="2.5587259226936733e+121">
              <a:srgbClr val="9DB0CC">
                <a:alpha val="2.2000000000000006e+124"/>
              </a:srgbClr>
            </a:outerShdw>
          </a:effectLst>
        </p:spPr>
      </p:sp>
      <p:sp>
        <p:nvSpPr>
          <p:cNvPr id="29" name="Shape 27"/>
          <p:cNvSpPr/>
          <p:nvPr/>
        </p:nvSpPr>
        <p:spPr>
          <a:xfrm>
            <a:off x="6217920" y="3703320"/>
            <a:ext cx="82296" cy="1828800"/>
          </a:xfrm>
          <a:prstGeom prst="rect">
            <a:avLst/>
          </a:prstGeom>
          <a:solidFill>
            <a:srgbClr val="0EA472"/>
          </a:solidFill>
          <a:ln/>
        </p:spPr>
      </p:sp>
      <p:sp>
        <p:nvSpPr>
          <p:cNvPr id="30" name="Shape 28"/>
          <p:cNvSpPr/>
          <p:nvPr/>
        </p:nvSpPr>
        <p:spPr>
          <a:xfrm>
            <a:off x="6492240" y="3959352"/>
            <a:ext cx="548640" cy="548640"/>
          </a:xfrm>
          <a:prstGeom prst="ellipse">
            <a:avLst/>
          </a:prstGeom>
          <a:solidFill>
            <a:srgbClr val="E7F7F0"/>
          </a:solidFill>
          <a:ln/>
        </p:spPr>
      </p:sp>
      <p:sp>
        <p:nvSpPr>
          <p:cNvPr id="31" name="Text 29"/>
          <p:cNvSpPr/>
          <p:nvPr/>
        </p:nvSpPr>
        <p:spPr>
          <a:xfrm>
            <a:off x="6492240" y="3950208"/>
            <a:ext cx="548640" cy="548640"/>
          </a:xfrm>
          <a:prstGeom prst="rect">
            <a:avLst/>
          </a:prstGeom>
          <a:noFill/>
          <a:ln/>
        </p:spPr>
        <p:txBody>
          <a:bodyPr wrap="square" lIns="0" tIns="0" rIns="0" bIns="0" rtlCol="0" anchor="ctr"/>
          <a:lstStyle/>
          <a:p>
            <a:pPr algn="ctr" indent="0" marL="0">
              <a:buNone/>
            </a:pPr>
            <a:r>
              <a:rPr lang="en-US" sz="2000" b="1" dirty="0">
                <a:solidFill>
                  <a:srgbClr val="0EA472"/>
                </a:solidFill>
                <a:latin typeface="Calibri" pitchFamily="34" charset="0"/>
                <a:ea typeface="Calibri" pitchFamily="34" charset="-122"/>
                <a:cs typeface="Calibri" pitchFamily="34" charset="-120"/>
              </a:rPr>
              <a:t>♢</a:t>
            </a:r>
            <a:endParaRPr lang="en-US" sz="2000" dirty="0"/>
          </a:p>
        </p:txBody>
      </p:sp>
      <p:sp>
        <p:nvSpPr>
          <p:cNvPr id="32" name="Text 30"/>
          <p:cNvSpPr/>
          <p:nvPr/>
        </p:nvSpPr>
        <p:spPr>
          <a:xfrm>
            <a:off x="7187184" y="3995928"/>
            <a:ext cx="4297680" cy="365760"/>
          </a:xfrm>
          <a:prstGeom prst="rect">
            <a:avLst/>
          </a:prstGeom>
          <a:noFill/>
          <a:ln/>
        </p:spPr>
        <p:txBody>
          <a:bodyPr wrap="square" lIns="0" tIns="0" rIns="0" bIns="0" rtlCol="0" anchor="ctr"/>
          <a:lstStyle/>
          <a:p>
            <a:pPr indent="0" marL="0">
              <a:buNone/>
            </a:pPr>
            <a:r>
              <a:rPr lang="en-US" sz="1500" b="1" dirty="0">
                <a:solidFill>
                  <a:srgbClr val="0EA472"/>
                </a:solidFill>
                <a:latin typeface="Calibri" pitchFamily="34" charset="0"/>
                <a:ea typeface="Calibri" pitchFamily="34" charset="-122"/>
                <a:cs typeface="Calibri" pitchFamily="34" charset="-120"/>
              </a:rPr>
              <a:t>Carbon co-costing</a:t>
            </a:r>
            <a:endParaRPr lang="en-US" sz="1500" dirty="0"/>
          </a:p>
        </p:txBody>
      </p:sp>
      <p:sp>
        <p:nvSpPr>
          <p:cNvPr id="33" name="Text 31"/>
          <p:cNvSpPr/>
          <p:nvPr/>
        </p:nvSpPr>
        <p:spPr>
          <a:xfrm>
            <a:off x="6510528" y="4636008"/>
            <a:ext cx="5029200" cy="822960"/>
          </a:xfrm>
          <a:prstGeom prst="rect">
            <a:avLst/>
          </a:prstGeom>
          <a:noFill/>
          <a:ln/>
        </p:spPr>
        <p:txBody>
          <a:bodyPr wrap="square" lIns="0" tIns="0" rIns="0" bIns="0" rtlCol="0" anchor="t"/>
          <a:lstStyle/>
          <a:p>
            <a:pPr indent="0" marL="0">
              <a:lnSpc>
                <a:spcPct val="116000"/>
              </a:lnSpc>
              <a:buNone/>
            </a:pPr>
            <a:r>
              <a:rPr lang="en-US" sz="1150" dirty="0">
                <a:solidFill>
                  <a:srgbClr val="3E4C63"/>
                </a:solidFill>
                <a:latin typeface="Calibri" pitchFamily="34" charset="0"/>
                <a:ea typeface="Calibri" pitchFamily="34" charset="-122"/>
                <a:cs typeface="Calibri" pitchFamily="34" charset="-120"/>
              </a:rPr>
              <a:t>Every part gets a CO₂e figure alongside the £ — increasingly demanded in automotive &amp; aerospace RFQs.</a:t>
            </a:r>
            <a:endParaRPr lang="en-US" sz="1150" dirty="0"/>
          </a:p>
        </p:txBody>
      </p:sp>
      <p:sp>
        <p:nvSpPr>
          <p:cNvPr id="34" name="Shape 32"/>
          <p:cNvSpPr/>
          <p:nvPr/>
        </p:nvSpPr>
        <p:spPr>
          <a:xfrm>
            <a:off x="548640" y="5715000"/>
            <a:ext cx="11091672" cy="457200"/>
          </a:xfrm>
          <a:prstGeom prst="roundRect">
            <a:avLst>
              <a:gd name="adj" fmla="val 14000"/>
            </a:avLst>
          </a:prstGeom>
          <a:solidFill>
            <a:srgbClr val="F4F7FB"/>
          </a:solidFill>
          <a:ln w="12700">
            <a:solidFill>
              <a:srgbClr val="E4EAF2"/>
            </a:solidFill>
            <a:prstDash val="solid"/>
          </a:ln>
        </p:spPr>
      </p:sp>
      <p:sp>
        <p:nvSpPr>
          <p:cNvPr id="35" name="Text 33"/>
          <p:cNvSpPr/>
          <p:nvPr/>
        </p:nvSpPr>
        <p:spPr>
          <a:xfrm>
            <a:off x="868680" y="5715000"/>
            <a:ext cx="10424160" cy="457200"/>
          </a:xfrm>
          <a:prstGeom prst="rect">
            <a:avLst/>
          </a:prstGeom>
          <a:noFill/>
          <a:ln/>
        </p:spPr>
        <p:txBody>
          <a:bodyPr wrap="square" lIns="0" tIns="0" rIns="0" bIns="0" rtlCol="0" anchor="ctr"/>
          <a:lstStyle/>
          <a:p>
            <a:pPr indent="0" marL="0">
              <a:buNone/>
            </a:pPr>
            <a:r>
              <a:rPr lang="en-US" sz="1150" i="1" dirty="0">
                <a:solidFill>
                  <a:srgbClr val="8A97A8"/>
                </a:solidFill>
                <a:latin typeface="Calibri" pitchFamily="34" charset="0"/>
                <a:ea typeface="Calibri" pitchFamily="34" charset="-122"/>
                <a:cs typeface="Calibri" pitchFamily="34" charset="-120"/>
              </a:rPr>
              <a:t>Together with 18 commodity cost engines, CAD-to-cost, and PCB photo-to-BOM — the agentic layer sits on top of all of it.</a:t>
            </a:r>
            <a:endParaRPr lang="en-US" sz="1150" dirty="0"/>
          </a:p>
        </p:txBody>
      </p:sp>
      <p:sp>
        <p:nvSpPr>
          <p:cNvPr id="36" name="Shape 34"/>
          <p:cNvSpPr/>
          <p:nvPr/>
        </p:nvSpPr>
        <p:spPr>
          <a:xfrm>
            <a:off x="548640" y="6400800"/>
            <a:ext cx="11094415" cy="12802"/>
          </a:xfrm>
          <a:prstGeom prst="rect">
            <a:avLst/>
          </a:prstGeom>
          <a:solidFill>
            <a:srgbClr val="E4EAF2"/>
          </a:solidFill>
          <a:ln/>
        </p:spPr>
      </p:sp>
      <p:sp>
        <p:nvSpPr>
          <p:cNvPr id="37" name="Text 35"/>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Agentic AI Management Briefing</a:t>
            </a:r>
            <a:endParaRPr lang="en-US" sz="850" dirty="0"/>
          </a:p>
        </p:txBody>
      </p:sp>
      <p:sp>
        <p:nvSpPr>
          <p:cNvPr id="38" name="Text 36"/>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10 / 20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2563EB"/>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2563EB"/>
                </a:solidFill>
                <a:latin typeface="Calibri" pitchFamily="34" charset="0"/>
                <a:ea typeface="Calibri" pitchFamily="34" charset="-122"/>
                <a:cs typeface="Calibri" pitchFamily="34" charset="-120"/>
              </a:rPr>
              <a:t>INPUTS REQUIRED</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500" b="1" dirty="0">
                <a:solidFill>
                  <a:srgbClr val="0F1E3D"/>
                </a:solidFill>
                <a:latin typeface="Calibri" pitchFamily="34" charset="0"/>
                <a:ea typeface="Calibri" pitchFamily="34" charset="-122"/>
                <a:cs typeface="Calibri" pitchFamily="34" charset="-120"/>
              </a:rPr>
              <a:t>What it needs from us — honestly, very little</a:t>
            </a:r>
            <a:endParaRPr lang="en-US" sz="2500" dirty="0"/>
          </a:p>
        </p:txBody>
      </p:sp>
      <p:sp>
        <p:nvSpPr>
          <p:cNvPr id="9" name="Shape 7"/>
          <p:cNvSpPr/>
          <p:nvPr/>
        </p:nvSpPr>
        <p:spPr>
          <a:xfrm>
            <a:off x="548640" y="1371600"/>
            <a:ext cx="1051560" cy="45720"/>
          </a:xfrm>
          <a:prstGeom prst="rect">
            <a:avLst/>
          </a:prstGeom>
          <a:solidFill>
            <a:srgbClr val="2563EB"/>
          </a:solidFill>
          <a:ln/>
        </p:spPr>
      </p:sp>
      <p:sp>
        <p:nvSpPr>
          <p:cNvPr id="10" name="Shape 8"/>
          <p:cNvSpPr/>
          <p:nvPr/>
        </p:nvSpPr>
        <p:spPr>
          <a:xfrm>
            <a:off x="548640" y="1691640"/>
            <a:ext cx="5394960" cy="4114800"/>
          </a:xfrm>
          <a:prstGeom prst="roundRect">
            <a:avLst>
              <a:gd name="adj" fmla="val 1556"/>
            </a:avLst>
          </a:prstGeom>
          <a:solidFill>
            <a:srgbClr val="EAF1FE"/>
          </a:solidFill>
          <a:ln w="12700">
            <a:solidFill>
              <a:srgbClr val="E4EAF2"/>
            </a:solidFill>
            <a:prstDash val="solid"/>
          </a:ln>
        </p:spPr>
      </p:sp>
      <p:sp>
        <p:nvSpPr>
          <p:cNvPr id="11" name="Shape 9"/>
          <p:cNvSpPr/>
          <p:nvPr/>
        </p:nvSpPr>
        <p:spPr>
          <a:xfrm>
            <a:off x="548640" y="1691640"/>
            <a:ext cx="5394960" cy="457200"/>
          </a:xfrm>
          <a:prstGeom prst="rect">
            <a:avLst/>
          </a:prstGeom>
          <a:solidFill>
            <a:srgbClr val="2563EB"/>
          </a:solidFill>
          <a:ln/>
        </p:spPr>
      </p:sp>
      <p:sp>
        <p:nvSpPr>
          <p:cNvPr id="12" name="Text 10"/>
          <p:cNvSpPr/>
          <p:nvPr/>
        </p:nvSpPr>
        <p:spPr>
          <a:xfrm>
            <a:off x="841248" y="1691640"/>
            <a:ext cx="4937760" cy="45720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You provide</a:t>
            </a:r>
            <a:endParaRPr lang="en-US" sz="1500" dirty="0"/>
          </a:p>
        </p:txBody>
      </p:sp>
      <p:sp>
        <p:nvSpPr>
          <p:cNvPr id="13" name="Shape 11"/>
          <p:cNvSpPr/>
          <p:nvPr/>
        </p:nvSpPr>
        <p:spPr>
          <a:xfrm>
            <a:off x="841248" y="2377440"/>
            <a:ext cx="365760" cy="365760"/>
          </a:xfrm>
          <a:prstGeom prst="ellipse">
            <a:avLst/>
          </a:prstGeom>
          <a:solidFill>
            <a:srgbClr val="2563EB"/>
          </a:solidFill>
          <a:ln/>
          <a:effectLst>
            <a:outerShdw sx="100000" sy="100000" kx="0" ky="0" algn="bl" rotWithShape="0" blurRad="6.93123996701605e+45" dist="2.0793719901048145e+45" dir="3.2651735040000005e+54">
              <a:srgbClr val="A7B6CE">
                <a:alpha val="1.8e+54"/>
              </a:srgbClr>
            </a:outerShdw>
          </a:effectLst>
        </p:spPr>
      </p:sp>
      <p:sp>
        <p:nvSpPr>
          <p:cNvPr id="14" name="Text 12"/>
          <p:cNvSpPr/>
          <p:nvPr/>
        </p:nvSpPr>
        <p:spPr>
          <a:xfrm>
            <a:off x="841248" y="2377440"/>
            <a:ext cx="365760" cy="365760"/>
          </a:xfrm>
          <a:prstGeom prst="rect">
            <a:avLst/>
          </a:prstGeom>
          <a:noFill/>
          <a:ln/>
        </p:spPr>
        <p:txBody>
          <a:bodyPr wrap="square" lIns="0" tIns="0" rIns="0" bIns="0" rtlCol="0" anchor="ctr"/>
          <a:lstStyle/>
          <a:p>
            <a:pPr algn="ctr" indent="0" marL="0">
              <a:buNone/>
            </a:pPr>
            <a:r>
              <a:rPr lang="en-US" sz="1360" b="1" dirty="0">
                <a:solidFill>
                  <a:srgbClr val="FFFFFF"/>
                </a:solidFill>
                <a:latin typeface="Calibri" pitchFamily="34" charset="0"/>
                <a:ea typeface="Calibri" pitchFamily="34" charset="-122"/>
                <a:cs typeface="Calibri" pitchFamily="34" charset="-120"/>
              </a:rPr>
              <a:t>1</a:t>
            </a:r>
            <a:endParaRPr lang="en-US" sz="1360" dirty="0"/>
          </a:p>
        </p:txBody>
      </p:sp>
      <p:sp>
        <p:nvSpPr>
          <p:cNvPr id="15" name="Text 13"/>
          <p:cNvSpPr/>
          <p:nvPr/>
        </p:nvSpPr>
        <p:spPr>
          <a:xfrm>
            <a:off x="1335024" y="2340864"/>
            <a:ext cx="438912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Keep costing parts as normal</a:t>
            </a:r>
            <a:endParaRPr lang="en-US" sz="1250" dirty="0"/>
          </a:p>
        </p:txBody>
      </p:sp>
      <p:sp>
        <p:nvSpPr>
          <p:cNvPr id="16" name="Text 14"/>
          <p:cNvSpPr/>
          <p:nvPr/>
        </p:nvSpPr>
        <p:spPr>
          <a:xfrm>
            <a:off x="1335024" y="2651760"/>
            <a:ext cx="4343400" cy="365760"/>
          </a:xfrm>
          <a:prstGeom prst="rect">
            <a:avLst/>
          </a:prstGeom>
          <a:noFill/>
          <a:ln/>
        </p:spPr>
        <p:txBody>
          <a:bodyPr wrap="square" lIns="0" tIns="0" rIns="0" bIns="0" rtlCol="0" anchor="t"/>
          <a:lstStyle/>
          <a:p>
            <a:pPr indent="0" marL="0">
              <a:buNone/>
            </a:pPr>
            <a:r>
              <a:rPr lang="en-US" sz="1050" dirty="0">
                <a:solidFill>
                  <a:srgbClr val="8A97A8"/>
                </a:solidFill>
                <a:latin typeface="Calibri" pitchFamily="34" charset="0"/>
                <a:ea typeface="Calibri" pitchFamily="34" charset="-122"/>
                <a:cs typeface="Calibri" pitchFamily="34" charset="-120"/>
              </a:rPr>
              <a:t>every analysis feeds the memory automatically</a:t>
            </a:r>
            <a:endParaRPr lang="en-US" sz="1050" dirty="0"/>
          </a:p>
        </p:txBody>
      </p:sp>
      <p:sp>
        <p:nvSpPr>
          <p:cNvPr id="17" name="Shape 15"/>
          <p:cNvSpPr/>
          <p:nvPr/>
        </p:nvSpPr>
        <p:spPr>
          <a:xfrm>
            <a:off x="841248" y="3200400"/>
            <a:ext cx="365760" cy="365760"/>
          </a:xfrm>
          <a:prstGeom prst="ellipse">
            <a:avLst/>
          </a:prstGeom>
          <a:solidFill>
            <a:srgbClr val="2563EB"/>
          </a:solidFill>
          <a:ln/>
          <a:effectLst>
            <a:outerShdw sx="100000" sy="100000" kx="0" ky="0" algn="bl" rotWithShape="0" blurRad="8.802674758110384e+49" dist="2.640802427433114e+49" dir="1.9591041024000004e+59">
              <a:srgbClr val="A7B6CE">
                <a:alpha val="1.8000000000000001e+59"/>
              </a:srgbClr>
            </a:outerShdw>
          </a:effectLst>
        </p:spPr>
      </p:sp>
      <p:sp>
        <p:nvSpPr>
          <p:cNvPr id="18" name="Text 16"/>
          <p:cNvSpPr/>
          <p:nvPr/>
        </p:nvSpPr>
        <p:spPr>
          <a:xfrm>
            <a:off x="841248" y="3200400"/>
            <a:ext cx="365760" cy="365760"/>
          </a:xfrm>
          <a:prstGeom prst="rect">
            <a:avLst/>
          </a:prstGeom>
          <a:noFill/>
          <a:ln/>
        </p:spPr>
        <p:txBody>
          <a:bodyPr wrap="square" lIns="0" tIns="0" rIns="0" bIns="0" rtlCol="0" anchor="ctr"/>
          <a:lstStyle/>
          <a:p>
            <a:pPr algn="ctr" indent="0" marL="0">
              <a:buNone/>
            </a:pPr>
            <a:r>
              <a:rPr lang="en-US" sz="1360" b="1" dirty="0">
                <a:solidFill>
                  <a:srgbClr val="FFFFFF"/>
                </a:solidFill>
                <a:latin typeface="Calibri" pitchFamily="34" charset="0"/>
                <a:ea typeface="Calibri" pitchFamily="34" charset="-122"/>
                <a:cs typeface="Calibri" pitchFamily="34" charset="-120"/>
              </a:rPr>
              <a:t>2</a:t>
            </a:r>
            <a:endParaRPr lang="en-US" sz="1360" dirty="0"/>
          </a:p>
        </p:txBody>
      </p:sp>
      <p:sp>
        <p:nvSpPr>
          <p:cNvPr id="19" name="Text 17"/>
          <p:cNvSpPr/>
          <p:nvPr/>
        </p:nvSpPr>
        <p:spPr>
          <a:xfrm>
            <a:off x="1335024" y="3163824"/>
            <a:ext cx="438912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One click when a real quote arrives</a:t>
            </a:r>
            <a:endParaRPr lang="en-US" sz="1250" dirty="0"/>
          </a:p>
        </p:txBody>
      </p:sp>
      <p:sp>
        <p:nvSpPr>
          <p:cNvPr id="20" name="Text 18"/>
          <p:cNvSpPr/>
          <p:nvPr/>
        </p:nvSpPr>
        <p:spPr>
          <a:xfrm>
            <a:off x="1335024" y="3474720"/>
            <a:ext cx="4343400" cy="365760"/>
          </a:xfrm>
          <a:prstGeom prst="rect">
            <a:avLst/>
          </a:prstGeom>
          <a:noFill/>
          <a:ln/>
        </p:spPr>
        <p:txBody>
          <a:bodyPr wrap="square" lIns="0" tIns="0" rIns="0" bIns="0" rtlCol="0" anchor="t"/>
          <a:lstStyle/>
          <a:p>
            <a:pPr indent="0" marL="0">
              <a:buNone/>
            </a:pPr>
            <a:r>
              <a:rPr lang="en-US" sz="1050" dirty="0">
                <a:solidFill>
                  <a:srgbClr val="8A97A8"/>
                </a:solidFill>
                <a:latin typeface="Calibri" pitchFamily="34" charset="0"/>
                <a:ea typeface="Calibri" pitchFamily="34" charset="-122"/>
                <a:cs typeface="Calibri" pitchFamily="34" charset="-120"/>
              </a:rPr>
              <a:t>"Log Actual £" — this is the learning fuel</a:t>
            </a:r>
            <a:endParaRPr lang="en-US" sz="1050" dirty="0"/>
          </a:p>
        </p:txBody>
      </p:sp>
      <p:sp>
        <p:nvSpPr>
          <p:cNvPr id="21" name="Shape 19"/>
          <p:cNvSpPr/>
          <p:nvPr/>
        </p:nvSpPr>
        <p:spPr>
          <a:xfrm>
            <a:off x="841248" y="4023360"/>
            <a:ext cx="365760" cy="365760"/>
          </a:xfrm>
          <a:prstGeom prst="ellipse">
            <a:avLst/>
          </a:prstGeom>
          <a:solidFill>
            <a:srgbClr val="2563EB"/>
          </a:solidFill>
          <a:ln/>
          <a:effectLst>
            <a:outerShdw sx="100000" sy="100000" kx="0" ky="0" algn="bl" rotWithShape="0" blurRad="1.1179396942800187e+54" dist="3.353819082840055e+53" dir="1.1754624614400003e+64">
              <a:srgbClr val="A7B6CE">
                <a:alpha val="1.8e+64"/>
              </a:srgbClr>
            </a:outerShdw>
          </a:effectLst>
        </p:spPr>
      </p:sp>
      <p:sp>
        <p:nvSpPr>
          <p:cNvPr id="22" name="Text 20"/>
          <p:cNvSpPr/>
          <p:nvPr/>
        </p:nvSpPr>
        <p:spPr>
          <a:xfrm>
            <a:off x="841248" y="4023360"/>
            <a:ext cx="365760" cy="365760"/>
          </a:xfrm>
          <a:prstGeom prst="rect">
            <a:avLst/>
          </a:prstGeom>
          <a:noFill/>
          <a:ln/>
        </p:spPr>
        <p:txBody>
          <a:bodyPr wrap="square" lIns="0" tIns="0" rIns="0" bIns="0" rtlCol="0" anchor="ctr"/>
          <a:lstStyle/>
          <a:p>
            <a:pPr algn="ctr" indent="0" marL="0">
              <a:buNone/>
            </a:pPr>
            <a:r>
              <a:rPr lang="en-US" sz="1360" b="1" dirty="0">
                <a:solidFill>
                  <a:srgbClr val="FFFFFF"/>
                </a:solidFill>
                <a:latin typeface="Calibri" pitchFamily="34" charset="0"/>
                <a:ea typeface="Calibri" pitchFamily="34" charset="-122"/>
                <a:cs typeface="Calibri" pitchFamily="34" charset="-120"/>
              </a:rPr>
              <a:t>3</a:t>
            </a:r>
            <a:endParaRPr lang="en-US" sz="1360" dirty="0"/>
          </a:p>
        </p:txBody>
      </p:sp>
      <p:sp>
        <p:nvSpPr>
          <p:cNvPr id="23" name="Text 21"/>
          <p:cNvSpPr/>
          <p:nvPr/>
        </p:nvSpPr>
        <p:spPr>
          <a:xfrm>
            <a:off x="1335024" y="3986784"/>
            <a:ext cx="438912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Optional: CAD file or BOM</a:t>
            </a:r>
            <a:endParaRPr lang="en-US" sz="1250" dirty="0"/>
          </a:p>
        </p:txBody>
      </p:sp>
      <p:sp>
        <p:nvSpPr>
          <p:cNvPr id="24" name="Text 22"/>
          <p:cNvSpPr/>
          <p:nvPr/>
        </p:nvSpPr>
        <p:spPr>
          <a:xfrm>
            <a:off x="1335024" y="4297680"/>
            <a:ext cx="4343400" cy="365760"/>
          </a:xfrm>
          <a:prstGeom prst="rect">
            <a:avLst/>
          </a:prstGeom>
          <a:noFill/>
          <a:ln/>
        </p:spPr>
        <p:txBody>
          <a:bodyPr wrap="square" lIns="0" tIns="0" rIns="0" bIns="0" rtlCol="0" anchor="t"/>
          <a:lstStyle/>
          <a:p>
            <a:pPr indent="0" marL="0">
              <a:buNone/>
            </a:pPr>
            <a:r>
              <a:rPr lang="en-US" sz="1050" dirty="0">
                <a:solidFill>
                  <a:srgbClr val="8A97A8"/>
                </a:solidFill>
                <a:latin typeface="Calibri" pitchFamily="34" charset="0"/>
                <a:ea typeface="Calibri" pitchFamily="34" charset="-122"/>
                <a:cs typeface="Calibri" pitchFamily="34" charset="-120"/>
              </a:rPr>
              <a:t>sharper matching and better auto-fill</a:t>
            </a:r>
            <a:endParaRPr lang="en-US" sz="1050" dirty="0"/>
          </a:p>
        </p:txBody>
      </p:sp>
      <p:sp>
        <p:nvSpPr>
          <p:cNvPr id="25" name="Shape 23"/>
          <p:cNvSpPr/>
          <p:nvPr/>
        </p:nvSpPr>
        <p:spPr>
          <a:xfrm>
            <a:off x="841248" y="4846320"/>
            <a:ext cx="365760" cy="365760"/>
          </a:xfrm>
          <a:prstGeom prst="ellipse">
            <a:avLst/>
          </a:prstGeom>
          <a:solidFill>
            <a:srgbClr val="2563EB"/>
          </a:solidFill>
          <a:ln/>
          <a:effectLst>
            <a:outerShdw sx="100000" sy="100000" kx="0" ky="0" algn="bl" rotWithShape="0" blurRad="1.419783411735624e+58" dist="4.2593502352068695e+57" dir="7.052774768640002e+68">
              <a:srgbClr val="A7B6CE">
                <a:alpha val="1.8e+69"/>
              </a:srgbClr>
            </a:outerShdw>
          </a:effectLst>
        </p:spPr>
      </p:sp>
      <p:sp>
        <p:nvSpPr>
          <p:cNvPr id="26" name="Text 24"/>
          <p:cNvSpPr/>
          <p:nvPr/>
        </p:nvSpPr>
        <p:spPr>
          <a:xfrm>
            <a:off x="841248" y="4846320"/>
            <a:ext cx="365760" cy="365760"/>
          </a:xfrm>
          <a:prstGeom prst="rect">
            <a:avLst/>
          </a:prstGeom>
          <a:noFill/>
          <a:ln/>
        </p:spPr>
        <p:txBody>
          <a:bodyPr wrap="square" lIns="0" tIns="0" rIns="0" bIns="0" rtlCol="0" anchor="ctr"/>
          <a:lstStyle/>
          <a:p>
            <a:pPr algn="ctr" indent="0" marL="0">
              <a:buNone/>
            </a:pPr>
            <a:r>
              <a:rPr lang="en-US" sz="1360" b="1" dirty="0">
                <a:solidFill>
                  <a:srgbClr val="FFFFFF"/>
                </a:solidFill>
                <a:latin typeface="Calibri" pitchFamily="34" charset="0"/>
                <a:ea typeface="Calibri" pitchFamily="34" charset="-122"/>
                <a:cs typeface="Calibri" pitchFamily="34" charset="-120"/>
              </a:rPr>
              <a:t>4</a:t>
            </a:r>
            <a:endParaRPr lang="en-US" sz="1360" dirty="0"/>
          </a:p>
        </p:txBody>
      </p:sp>
      <p:sp>
        <p:nvSpPr>
          <p:cNvPr id="27" name="Text 25"/>
          <p:cNvSpPr/>
          <p:nvPr/>
        </p:nvSpPr>
        <p:spPr>
          <a:xfrm>
            <a:off x="1335024" y="4809744"/>
            <a:ext cx="438912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Optional: historic quotes (CSV)</a:t>
            </a:r>
            <a:endParaRPr lang="en-US" sz="1250" dirty="0"/>
          </a:p>
        </p:txBody>
      </p:sp>
      <p:sp>
        <p:nvSpPr>
          <p:cNvPr id="28" name="Text 26"/>
          <p:cNvSpPr/>
          <p:nvPr/>
        </p:nvSpPr>
        <p:spPr>
          <a:xfrm>
            <a:off x="1335024" y="5120640"/>
            <a:ext cx="4343400" cy="365760"/>
          </a:xfrm>
          <a:prstGeom prst="rect">
            <a:avLst/>
          </a:prstGeom>
          <a:noFill/>
          <a:ln/>
        </p:spPr>
        <p:txBody>
          <a:bodyPr wrap="square" lIns="0" tIns="0" rIns="0" bIns="0" rtlCol="0" anchor="t"/>
          <a:lstStyle/>
          <a:p>
            <a:pPr indent="0" marL="0">
              <a:buNone/>
            </a:pPr>
            <a:r>
              <a:rPr lang="en-US" sz="1050" dirty="0">
                <a:solidFill>
                  <a:srgbClr val="8A97A8"/>
                </a:solidFill>
                <a:latin typeface="Calibri" pitchFamily="34" charset="0"/>
                <a:ea typeface="Calibri" pitchFamily="34" charset="-122"/>
                <a:cs typeface="Calibri" pitchFamily="34" charset="-120"/>
              </a:rPr>
              <a:t>seeds the memory so it starts smart, not empty</a:t>
            </a:r>
            <a:endParaRPr lang="en-US" sz="1050" dirty="0"/>
          </a:p>
        </p:txBody>
      </p:sp>
      <p:sp>
        <p:nvSpPr>
          <p:cNvPr id="29" name="Shape 27"/>
          <p:cNvSpPr/>
          <p:nvPr/>
        </p:nvSpPr>
        <p:spPr>
          <a:xfrm>
            <a:off x="6245352" y="1691640"/>
            <a:ext cx="5394960" cy="4114800"/>
          </a:xfrm>
          <a:prstGeom prst="roundRect">
            <a:avLst>
              <a:gd name="adj" fmla="val 1556"/>
            </a:avLst>
          </a:prstGeom>
          <a:solidFill>
            <a:srgbClr val="FFFFFF"/>
          </a:solidFill>
          <a:ln w="12700">
            <a:solidFill>
              <a:srgbClr val="E4EAF2"/>
            </a:solidFill>
            <a:prstDash val="solid"/>
          </a:ln>
          <a:effectLst>
            <a:outerShdw sx="100000" sy="100000" kx="0" ky="0" algn="bl" rotWithShape="0" blurRad="3.499409648131324e+107" dist="9.998313280375211e+106" dir="1.535235553616204e+126">
              <a:srgbClr val="9DB0CC">
                <a:alpha val="2.2000000000000006e+129"/>
              </a:srgbClr>
            </a:outerShdw>
          </a:effectLst>
        </p:spPr>
      </p:sp>
      <p:sp>
        <p:nvSpPr>
          <p:cNvPr id="30" name="Shape 28"/>
          <p:cNvSpPr/>
          <p:nvPr/>
        </p:nvSpPr>
        <p:spPr>
          <a:xfrm>
            <a:off x="6245352" y="1691640"/>
            <a:ext cx="5394960" cy="457200"/>
          </a:xfrm>
          <a:prstGeom prst="rect">
            <a:avLst/>
          </a:prstGeom>
          <a:solidFill>
            <a:srgbClr val="E7F7F0"/>
          </a:solidFill>
          <a:ln/>
        </p:spPr>
      </p:sp>
      <p:sp>
        <p:nvSpPr>
          <p:cNvPr id="31" name="Text 29"/>
          <p:cNvSpPr/>
          <p:nvPr/>
        </p:nvSpPr>
        <p:spPr>
          <a:xfrm>
            <a:off x="6537960" y="1691640"/>
            <a:ext cx="4937760" cy="457200"/>
          </a:xfrm>
          <a:prstGeom prst="rect">
            <a:avLst/>
          </a:prstGeom>
          <a:noFill/>
          <a:ln/>
        </p:spPr>
        <p:txBody>
          <a:bodyPr wrap="square" lIns="0" tIns="0" rIns="0" bIns="0" rtlCol="0" anchor="ctr"/>
          <a:lstStyle/>
          <a:p>
            <a:pPr indent="0" marL="0">
              <a:buNone/>
            </a:pPr>
            <a:r>
              <a:rPr lang="en-US" sz="1500" b="1" dirty="0">
                <a:solidFill>
                  <a:srgbClr val="0EA472"/>
                </a:solidFill>
                <a:latin typeface="Calibri" pitchFamily="34" charset="0"/>
                <a:ea typeface="Calibri" pitchFamily="34" charset="-122"/>
                <a:cs typeface="Calibri" pitchFamily="34" charset="-120"/>
              </a:rPr>
              <a:t>The tool does</a:t>
            </a:r>
            <a:endParaRPr lang="en-US" sz="1500" dirty="0"/>
          </a:p>
        </p:txBody>
      </p:sp>
      <p:sp>
        <p:nvSpPr>
          <p:cNvPr id="32" name="Shape 30"/>
          <p:cNvSpPr/>
          <p:nvPr/>
        </p:nvSpPr>
        <p:spPr>
          <a:xfrm>
            <a:off x="6519672" y="2350008"/>
            <a:ext cx="292608" cy="292608"/>
          </a:xfrm>
          <a:prstGeom prst="ellipse">
            <a:avLst/>
          </a:prstGeom>
          <a:solidFill>
            <a:srgbClr val="E7F7F0"/>
          </a:solidFill>
          <a:ln/>
        </p:spPr>
      </p:sp>
      <p:sp>
        <p:nvSpPr>
          <p:cNvPr id="33" name="Text 31"/>
          <p:cNvSpPr/>
          <p:nvPr/>
        </p:nvSpPr>
        <p:spPr>
          <a:xfrm>
            <a:off x="6519672" y="2340864"/>
            <a:ext cx="292608" cy="292608"/>
          </a:xfrm>
          <a:prstGeom prst="rect">
            <a:avLst/>
          </a:prstGeom>
          <a:noFill/>
          <a:ln/>
        </p:spPr>
        <p:txBody>
          <a:bodyPr wrap="square" lIns="0" tIns="0" rIns="0" bIns="0" rtlCol="0" anchor="ctr"/>
          <a:lstStyle/>
          <a:p>
            <a:pPr algn="ctr" indent="0" marL="0">
              <a:buNone/>
            </a:pPr>
            <a:r>
              <a:rPr lang="en-US" sz="1100" b="1" dirty="0">
                <a:solidFill>
                  <a:srgbClr val="0EA472"/>
                </a:solidFill>
                <a:latin typeface="Calibri" pitchFamily="34" charset="0"/>
                <a:ea typeface="Calibri" pitchFamily="34" charset="-122"/>
                <a:cs typeface="Calibri" pitchFamily="34" charset="-120"/>
              </a:rPr>
              <a:t>✓</a:t>
            </a:r>
            <a:endParaRPr lang="en-US" sz="1100" dirty="0"/>
          </a:p>
        </p:txBody>
      </p:sp>
      <p:sp>
        <p:nvSpPr>
          <p:cNvPr id="34" name="Text 32"/>
          <p:cNvSpPr/>
          <p:nvPr/>
        </p:nvSpPr>
        <p:spPr>
          <a:xfrm>
            <a:off x="6922008" y="2331720"/>
            <a:ext cx="4480560" cy="365760"/>
          </a:xfrm>
          <a:prstGeom prst="rect">
            <a:avLst/>
          </a:prstGeom>
          <a:noFill/>
          <a:ln/>
        </p:spPr>
        <p:txBody>
          <a:bodyPr wrap="square" lIns="0" tIns="0" rIns="0" bIns="0" rtlCol="0" anchor="ctr"/>
          <a:lstStyle/>
          <a:p>
            <a:pPr indent="0" marL="0">
              <a:buNone/>
            </a:pPr>
            <a:r>
              <a:rPr lang="en-US" sz="1200" dirty="0">
                <a:solidFill>
                  <a:srgbClr val="3E4C63"/>
                </a:solidFill>
                <a:latin typeface="Calibri" pitchFamily="34" charset="0"/>
                <a:ea typeface="Calibri" pitchFamily="34" charset="-122"/>
                <a:cs typeface="Calibri" pitchFamily="34" charset="-120"/>
              </a:rPr>
              <a:t>Remembers every analysis (no duplicates, org-wide)</a:t>
            </a:r>
            <a:endParaRPr lang="en-US" sz="1200" dirty="0"/>
          </a:p>
        </p:txBody>
      </p:sp>
      <p:sp>
        <p:nvSpPr>
          <p:cNvPr id="35" name="Shape 33"/>
          <p:cNvSpPr/>
          <p:nvPr/>
        </p:nvSpPr>
        <p:spPr>
          <a:xfrm>
            <a:off x="6519672" y="2916936"/>
            <a:ext cx="292608" cy="292608"/>
          </a:xfrm>
          <a:prstGeom prst="ellipse">
            <a:avLst/>
          </a:prstGeom>
          <a:solidFill>
            <a:srgbClr val="E7F7F0"/>
          </a:solidFill>
          <a:ln/>
        </p:spPr>
      </p:sp>
      <p:sp>
        <p:nvSpPr>
          <p:cNvPr id="36" name="Text 34"/>
          <p:cNvSpPr/>
          <p:nvPr/>
        </p:nvSpPr>
        <p:spPr>
          <a:xfrm>
            <a:off x="6519672" y="2907792"/>
            <a:ext cx="292608" cy="292608"/>
          </a:xfrm>
          <a:prstGeom prst="rect">
            <a:avLst/>
          </a:prstGeom>
          <a:noFill/>
          <a:ln/>
        </p:spPr>
        <p:txBody>
          <a:bodyPr wrap="square" lIns="0" tIns="0" rIns="0" bIns="0" rtlCol="0" anchor="ctr"/>
          <a:lstStyle/>
          <a:p>
            <a:pPr algn="ctr" indent="0" marL="0">
              <a:buNone/>
            </a:pPr>
            <a:r>
              <a:rPr lang="en-US" sz="1100" b="1" dirty="0">
                <a:solidFill>
                  <a:srgbClr val="0EA472"/>
                </a:solidFill>
                <a:latin typeface="Calibri" pitchFamily="34" charset="0"/>
                <a:ea typeface="Calibri" pitchFamily="34" charset="-122"/>
                <a:cs typeface="Calibri" pitchFamily="34" charset="-120"/>
              </a:rPr>
              <a:t>✓</a:t>
            </a:r>
            <a:endParaRPr lang="en-US" sz="1100" dirty="0"/>
          </a:p>
        </p:txBody>
      </p:sp>
      <p:sp>
        <p:nvSpPr>
          <p:cNvPr id="37" name="Text 35"/>
          <p:cNvSpPr/>
          <p:nvPr/>
        </p:nvSpPr>
        <p:spPr>
          <a:xfrm>
            <a:off x="6922008" y="2898648"/>
            <a:ext cx="4480560" cy="365760"/>
          </a:xfrm>
          <a:prstGeom prst="rect">
            <a:avLst/>
          </a:prstGeom>
          <a:noFill/>
          <a:ln/>
        </p:spPr>
        <p:txBody>
          <a:bodyPr wrap="square" lIns="0" tIns="0" rIns="0" bIns="0" rtlCol="0" anchor="ctr"/>
          <a:lstStyle/>
          <a:p>
            <a:pPr indent="0" marL="0">
              <a:buNone/>
            </a:pPr>
            <a:r>
              <a:rPr lang="en-US" sz="1200" dirty="0">
                <a:solidFill>
                  <a:srgbClr val="3E4C63"/>
                </a:solidFill>
                <a:latin typeface="Calibri" pitchFamily="34" charset="0"/>
                <a:ea typeface="Calibri" pitchFamily="34" charset="-122"/>
                <a:cs typeface="Calibri" pitchFamily="34" charset="-120"/>
              </a:rPr>
              <a:t>Finds &amp; explains similar past parts instantly</a:t>
            </a:r>
            <a:endParaRPr lang="en-US" sz="1200" dirty="0"/>
          </a:p>
        </p:txBody>
      </p:sp>
      <p:sp>
        <p:nvSpPr>
          <p:cNvPr id="38" name="Shape 36"/>
          <p:cNvSpPr/>
          <p:nvPr/>
        </p:nvSpPr>
        <p:spPr>
          <a:xfrm>
            <a:off x="6519672" y="3483864"/>
            <a:ext cx="292608" cy="292608"/>
          </a:xfrm>
          <a:prstGeom prst="ellipse">
            <a:avLst/>
          </a:prstGeom>
          <a:solidFill>
            <a:srgbClr val="E7F7F0"/>
          </a:solidFill>
          <a:ln/>
        </p:spPr>
      </p:sp>
      <p:sp>
        <p:nvSpPr>
          <p:cNvPr id="39" name="Text 37"/>
          <p:cNvSpPr/>
          <p:nvPr/>
        </p:nvSpPr>
        <p:spPr>
          <a:xfrm>
            <a:off x="6519672" y="3474720"/>
            <a:ext cx="292608" cy="292608"/>
          </a:xfrm>
          <a:prstGeom prst="rect">
            <a:avLst/>
          </a:prstGeom>
          <a:noFill/>
          <a:ln/>
        </p:spPr>
        <p:txBody>
          <a:bodyPr wrap="square" lIns="0" tIns="0" rIns="0" bIns="0" rtlCol="0" anchor="ctr"/>
          <a:lstStyle/>
          <a:p>
            <a:pPr algn="ctr" indent="0" marL="0">
              <a:buNone/>
            </a:pPr>
            <a:r>
              <a:rPr lang="en-US" sz="1100" b="1" dirty="0">
                <a:solidFill>
                  <a:srgbClr val="0EA472"/>
                </a:solidFill>
                <a:latin typeface="Calibri" pitchFamily="34" charset="0"/>
                <a:ea typeface="Calibri" pitchFamily="34" charset="-122"/>
                <a:cs typeface="Calibri" pitchFamily="34" charset="-120"/>
              </a:rPr>
              <a:t>✓</a:t>
            </a:r>
            <a:endParaRPr lang="en-US" sz="1100" dirty="0"/>
          </a:p>
        </p:txBody>
      </p:sp>
      <p:sp>
        <p:nvSpPr>
          <p:cNvPr id="40" name="Text 38"/>
          <p:cNvSpPr/>
          <p:nvPr/>
        </p:nvSpPr>
        <p:spPr>
          <a:xfrm>
            <a:off x="6922008" y="3465576"/>
            <a:ext cx="4480560" cy="365760"/>
          </a:xfrm>
          <a:prstGeom prst="rect">
            <a:avLst/>
          </a:prstGeom>
          <a:noFill/>
          <a:ln/>
        </p:spPr>
        <p:txBody>
          <a:bodyPr wrap="square" lIns="0" tIns="0" rIns="0" bIns="0" rtlCol="0" anchor="ctr"/>
          <a:lstStyle/>
          <a:p>
            <a:pPr indent="0" marL="0">
              <a:buNone/>
            </a:pPr>
            <a:r>
              <a:rPr lang="en-US" sz="1200" dirty="0">
                <a:solidFill>
                  <a:srgbClr val="3E4C63"/>
                </a:solidFill>
                <a:latin typeface="Calibri" pitchFamily="34" charset="0"/>
                <a:ea typeface="Calibri" pitchFamily="34" charset="-122"/>
                <a:cs typeface="Calibri" pitchFamily="34" charset="-120"/>
              </a:rPr>
              <a:t>Suggests benchmarks, materials and real prices</a:t>
            </a:r>
            <a:endParaRPr lang="en-US" sz="1200" dirty="0"/>
          </a:p>
        </p:txBody>
      </p:sp>
      <p:sp>
        <p:nvSpPr>
          <p:cNvPr id="41" name="Shape 39"/>
          <p:cNvSpPr/>
          <p:nvPr/>
        </p:nvSpPr>
        <p:spPr>
          <a:xfrm>
            <a:off x="6519672" y="4050792"/>
            <a:ext cx="292608" cy="292608"/>
          </a:xfrm>
          <a:prstGeom prst="ellipse">
            <a:avLst/>
          </a:prstGeom>
          <a:solidFill>
            <a:srgbClr val="E7F7F0"/>
          </a:solidFill>
          <a:ln/>
        </p:spPr>
      </p:sp>
      <p:sp>
        <p:nvSpPr>
          <p:cNvPr id="42" name="Text 40"/>
          <p:cNvSpPr/>
          <p:nvPr/>
        </p:nvSpPr>
        <p:spPr>
          <a:xfrm>
            <a:off x="6519672" y="4041648"/>
            <a:ext cx="292608" cy="292608"/>
          </a:xfrm>
          <a:prstGeom prst="rect">
            <a:avLst/>
          </a:prstGeom>
          <a:noFill/>
          <a:ln/>
        </p:spPr>
        <p:txBody>
          <a:bodyPr wrap="square" lIns="0" tIns="0" rIns="0" bIns="0" rtlCol="0" anchor="ctr"/>
          <a:lstStyle/>
          <a:p>
            <a:pPr algn="ctr" indent="0" marL="0">
              <a:buNone/>
            </a:pPr>
            <a:r>
              <a:rPr lang="en-US" sz="1100" b="1" dirty="0">
                <a:solidFill>
                  <a:srgbClr val="0EA472"/>
                </a:solidFill>
                <a:latin typeface="Calibri" pitchFamily="34" charset="0"/>
                <a:ea typeface="Calibri" pitchFamily="34" charset="-122"/>
                <a:cs typeface="Calibri" pitchFamily="34" charset="-120"/>
              </a:rPr>
              <a:t>✓</a:t>
            </a:r>
            <a:endParaRPr lang="en-US" sz="1100" dirty="0"/>
          </a:p>
        </p:txBody>
      </p:sp>
      <p:sp>
        <p:nvSpPr>
          <p:cNvPr id="43" name="Text 41"/>
          <p:cNvSpPr/>
          <p:nvPr/>
        </p:nvSpPr>
        <p:spPr>
          <a:xfrm>
            <a:off x="6922008" y="4032504"/>
            <a:ext cx="4480560" cy="365760"/>
          </a:xfrm>
          <a:prstGeom prst="rect">
            <a:avLst/>
          </a:prstGeom>
          <a:noFill/>
          <a:ln/>
        </p:spPr>
        <p:txBody>
          <a:bodyPr wrap="square" lIns="0" tIns="0" rIns="0" bIns="0" rtlCol="0" anchor="ctr"/>
          <a:lstStyle/>
          <a:p>
            <a:pPr indent="0" marL="0">
              <a:buNone/>
            </a:pPr>
            <a:r>
              <a:rPr lang="en-US" sz="1200" dirty="0">
                <a:solidFill>
                  <a:srgbClr val="3E4C63"/>
                </a:solidFill>
                <a:latin typeface="Calibri" pitchFamily="34" charset="0"/>
                <a:ea typeface="Calibri" pitchFamily="34" charset="-122"/>
                <a:cs typeface="Calibri" pitchFamily="34" charset="-120"/>
              </a:rPr>
              <a:t>Measures its own error and self-corrects per category</a:t>
            </a:r>
            <a:endParaRPr lang="en-US" sz="1200" dirty="0"/>
          </a:p>
        </p:txBody>
      </p:sp>
      <p:sp>
        <p:nvSpPr>
          <p:cNvPr id="44" name="Shape 42"/>
          <p:cNvSpPr/>
          <p:nvPr/>
        </p:nvSpPr>
        <p:spPr>
          <a:xfrm>
            <a:off x="6519672" y="4617720"/>
            <a:ext cx="292608" cy="292608"/>
          </a:xfrm>
          <a:prstGeom prst="ellipse">
            <a:avLst/>
          </a:prstGeom>
          <a:solidFill>
            <a:srgbClr val="E7F7F0"/>
          </a:solidFill>
          <a:ln/>
        </p:spPr>
      </p:sp>
      <p:sp>
        <p:nvSpPr>
          <p:cNvPr id="45" name="Text 43"/>
          <p:cNvSpPr/>
          <p:nvPr/>
        </p:nvSpPr>
        <p:spPr>
          <a:xfrm>
            <a:off x="6519672" y="4608576"/>
            <a:ext cx="292608" cy="292608"/>
          </a:xfrm>
          <a:prstGeom prst="rect">
            <a:avLst/>
          </a:prstGeom>
          <a:noFill/>
          <a:ln/>
        </p:spPr>
        <p:txBody>
          <a:bodyPr wrap="square" lIns="0" tIns="0" rIns="0" bIns="0" rtlCol="0" anchor="ctr"/>
          <a:lstStyle/>
          <a:p>
            <a:pPr algn="ctr" indent="0" marL="0">
              <a:buNone/>
            </a:pPr>
            <a:r>
              <a:rPr lang="en-US" sz="1100" b="1" dirty="0">
                <a:solidFill>
                  <a:srgbClr val="0EA472"/>
                </a:solidFill>
                <a:latin typeface="Calibri" pitchFamily="34" charset="0"/>
                <a:ea typeface="Calibri" pitchFamily="34" charset="-122"/>
                <a:cs typeface="Calibri" pitchFamily="34" charset="-120"/>
              </a:rPr>
              <a:t>✓</a:t>
            </a:r>
            <a:endParaRPr lang="en-US" sz="1100" dirty="0"/>
          </a:p>
        </p:txBody>
      </p:sp>
      <p:sp>
        <p:nvSpPr>
          <p:cNvPr id="46" name="Text 44"/>
          <p:cNvSpPr/>
          <p:nvPr/>
        </p:nvSpPr>
        <p:spPr>
          <a:xfrm>
            <a:off x="6922008" y="4599432"/>
            <a:ext cx="4480560" cy="365760"/>
          </a:xfrm>
          <a:prstGeom prst="rect">
            <a:avLst/>
          </a:prstGeom>
          <a:noFill/>
          <a:ln/>
        </p:spPr>
        <p:txBody>
          <a:bodyPr wrap="square" lIns="0" tIns="0" rIns="0" bIns="0" rtlCol="0" anchor="ctr"/>
          <a:lstStyle/>
          <a:p>
            <a:pPr indent="0" marL="0">
              <a:buNone/>
            </a:pPr>
            <a:r>
              <a:rPr lang="en-US" sz="1200" dirty="0">
                <a:solidFill>
                  <a:srgbClr val="3E4C63"/>
                </a:solidFill>
                <a:latin typeface="Calibri" pitchFamily="34" charset="0"/>
                <a:ea typeface="Calibri" pitchFamily="34" charset="-122"/>
                <a:cs typeface="Calibri" pitchFamily="34" charset="-120"/>
              </a:rPr>
              <a:t>Tightens confidence ranges as evidence grows</a:t>
            </a:r>
            <a:endParaRPr lang="en-US" sz="1200" dirty="0"/>
          </a:p>
        </p:txBody>
      </p:sp>
      <p:sp>
        <p:nvSpPr>
          <p:cNvPr id="47" name="Shape 45"/>
          <p:cNvSpPr/>
          <p:nvPr/>
        </p:nvSpPr>
        <p:spPr>
          <a:xfrm>
            <a:off x="6519672" y="5184648"/>
            <a:ext cx="292608" cy="292608"/>
          </a:xfrm>
          <a:prstGeom prst="ellipse">
            <a:avLst/>
          </a:prstGeom>
          <a:solidFill>
            <a:srgbClr val="E7F7F0"/>
          </a:solidFill>
          <a:ln/>
        </p:spPr>
      </p:sp>
      <p:sp>
        <p:nvSpPr>
          <p:cNvPr id="48" name="Text 46"/>
          <p:cNvSpPr/>
          <p:nvPr/>
        </p:nvSpPr>
        <p:spPr>
          <a:xfrm>
            <a:off x="6519672" y="5175504"/>
            <a:ext cx="292608" cy="292608"/>
          </a:xfrm>
          <a:prstGeom prst="rect">
            <a:avLst/>
          </a:prstGeom>
          <a:noFill/>
          <a:ln/>
        </p:spPr>
        <p:txBody>
          <a:bodyPr wrap="square" lIns="0" tIns="0" rIns="0" bIns="0" rtlCol="0" anchor="ctr"/>
          <a:lstStyle/>
          <a:p>
            <a:pPr algn="ctr" indent="0" marL="0">
              <a:buNone/>
            </a:pPr>
            <a:r>
              <a:rPr lang="en-US" sz="1100" b="1" dirty="0">
                <a:solidFill>
                  <a:srgbClr val="0EA472"/>
                </a:solidFill>
                <a:latin typeface="Calibri" pitchFamily="34" charset="0"/>
                <a:ea typeface="Calibri" pitchFamily="34" charset="-122"/>
                <a:cs typeface="Calibri" pitchFamily="34" charset="-120"/>
              </a:rPr>
              <a:t>✓</a:t>
            </a:r>
            <a:endParaRPr lang="en-US" sz="1100" dirty="0"/>
          </a:p>
        </p:txBody>
      </p:sp>
      <p:sp>
        <p:nvSpPr>
          <p:cNvPr id="49" name="Text 47"/>
          <p:cNvSpPr/>
          <p:nvPr/>
        </p:nvSpPr>
        <p:spPr>
          <a:xfrm>
            <a:off x="6922008" y="5166360"/>
            <a:ext cx="4480560" cy="365760"/>
          </a:xfrm>
          <a:prstGeom prst="rect">
            <a:avLst/>
          </a:prstGeom>
          <a:noFill/>
          <a:ln/>
        </p:spPr>
        <p:txBody>
          <a:bodyPr wrap="square" lIns="0" tIns="0" rIns="0" bIns="0" rtlCol="0" anchor="ctr"/>
          <a:lstStyle/>
          <a:p>
            <a:pPr indent="0" marL="0">
              <a:buNone/>
            </a:pPr>
            <a:r>
              <a:rPr lang="en-US" sz="1200" dirty="0">
                <a:solidFill>
                  <a:srgbClr val="3E4C63"/>
                </a:solidFill>
                <a:latin typeface="Calibri" pitchFamily="34" charset="0"/>
                <a:ea typeface="Calibri" pitchFamily="34" charset="-122"/>
                <a:cs typeface="Calibri" pitchFamily="34" charset="-120"/>
              </a:rPr>
              <a:t>Monitors all parts in the background &amp; raises findings</a:t>
            </a:r>
            <a:endParaRPr lang="en-US" sz="1200" dirty="0"/>
          </a:p>
        </p:txBody>
      </p:sp>
      <p:sp>
        <p:nvSpPr>
          <p:cNvPr id="50" name="Shape 48"/>
          <p:cNvSpPr/>
          <p:nvPr/>
        </p:nvSpPr>
        <p:spPr>
          <a:xfrm>
            <a:off x="548640" y="6400800"/>
            <a:ext cx="11094415" cy="12802"/>
          </a:xfrm>
          <a:prstGeom prst="rect">
            <a:avLst/>
          </a:prstGeom>
          <a:solidFill>
            <a:srgbClr val="E4EAF2"/>
          </a:solidFill>
          <a:ln/>
        </p:spPr>
      </p:sp>
      <p:sp>
        <p:nvSpPr>
          <p:cNvPr id="51" name="Text 49"/>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Agentic AI Management Briefing</a:t>
            </a:r>
            <a:endParaRPr lang="en-US" sz="850" dirty="0"/>
          </a:p>
        </p:txBody>
      </p:sp>
      <p:sp>
        <p:nvSpPr>
          <p:cNvPr id="52" name="Text 50"/>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11 / 20</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A472"/>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A472"/>
                </a:solidFill>
                <a:latin typeface="Calibri" pitchFamily="34" charset="0"/>
                <a:ea typeface="Calibri" pitchFamily="34" charset="-122"/>
                <a:cs typeface="Calibri" pitchFamily="34" charset="-120"/>
              </a:rPr>
              <a:t>EVIDENCE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500" b="1" dirty="0">
                <a:solidFill>
                  <a:srgbClr val="0F1E3D"/>
                </a:solidFill>
                <a:latin typeface="Calibri" pitchFamily="34" charset="0"/>
                <a:ea typeface="Calibri" pitchFamily="34" charset="-122"/>
                <a:cs typeface="Calibri" pitchFamily="34" charset="-120"/>
              </a:rPr>
              <a:t>Results &amp; accuracy — measured, not promised</a:t>
            </a:r>
            <a:endParaRPr lang="en-US" sz="2500" dirty="0"/>
          </a:p>
        </p:txBody>
      </p:sp>
      <p:sp>
        <p:nvSpPr>
          <p:cNvPr id="9" name="Shape 7"/>
          <p:cNvSpPr/>
          <p:nvPr/>
        </p:nvSpPr>
        <p:spPr>
          <a:xfrm>
            <a:off x="548640" y="1371600"/>
            <a:ext cx="1051560" cy="45720"/>
          </a:xfrm>
          <a:prstGeom prst="rect">
            <a:avLst/>
          </a:prstGeom>
          <a:solidFill>
            <a:srgbClr val="0EA472"/>
          </a:solidFill>
          <a:ln/>
        </p:spPr>
      </p:sp>
      <p:sp>
        <p:nvSpPr>
          <p:cNvPr id="10" name="Shape 8"/>
          <p:cNvSpPr/>
          <p:nvPr/>
        </p:nvSpPr>
        <p:spPr>
          <a:xfrm>
            <a:off x="548640" y="1691640"/>
            <a:ext cx="11091672" cy="512064"/>
          </a:xfrm>
          <a:prstGeom prst="roundRect">
            <a:avLst>
              <a:gd name="adj" fmla="val 8929"/>
            </a:avLst>
          </a:prstGeom>
          <a:solidFill>
            <a:srgbClr val="F4F7FB"/>
          </a:solidFill>
          <a:ln w="12700">
            <a:solidFill>
              <a:srgbClr val="E4EAF2"/>
            </a:solidFill>
            <a:prstDash val="solid"/>
          </a:ln>
        </p:spPr>
      </p:sp>
      <p:sp>
        <p:nvSpPr>
          <p:cNvPr id="11" name="Shape 9"/>
          <p:cNvSpPr/>
          <p:nvPr/>
        </p:nvSpPr>
        <p:spPr>
          <a:xfrm>
            <a:off x="822960" y="1865376"/>
            <a:ext cx="146304" cy="146304"/>
          </a:xfrm>
          <a:prstGeom prst="ellipse">
            <a:avLst/>
          </a:prstGeom>
          <a:solidFill>
            <a:srgbClr val="0EA472"/>
          </a:solidFill>
          <a:ln/>
        </p:spPr>
      </p:sp>
      <p:sp>
        <p:nvSpPr>
          <p:cNvPr id="12" name="Text 10"/>
          <p:cNvSpPr/>
          <p:nvPr/>
        </p:nvSpPr>
        <p:spPr>
          <a:xfrm>
            <a:off x="1152144" y="1691640"/>
            <a:ext cx="7498080" cy="512064"/>
          </a:xfrm>
          <a:prstGeom prst="rect">
            <a:avLst/>
          </a:prstGeom>
          <a:noFill/>
          <a:ln/>
        </p:spPr>
        <p:txBody>
          <a:bodyPr wrap="square" lIns="0" tIns="0" rIns="0" bIns="0" rtlCol="0" anchor="ctr"/>
          <a:lstStyle/>
          <a:p>
            <a:pPr indent="0" marL="0">
              <a:buNone/>
            </a:pPr>
            <a:r>
              <a:rPr lang="en-US" sz="1250" dirty="0">
                <a:solidFill>
                  <a:srgbClr val="3E4C63"/>
                </a:solidFill>
                <a:latin typeface="Calibri" pitchFamily="34" charset="0"/>
                <a:ea typeface="Calibri" pitchFamily="34" charset="-122"/>
                <a:cs typeface="Calibri" pitchFamily="34" charset="-120"/>
              </a:rPr>
              <a:t>Estimating error after learning (machining segment)</a:t>
            </a:r>
            <a:endParaRPr lang="en-US" sz="1250" dirty="0"/>
          </a:p>
        </p:txBody>
      </p:sp>
      <p:sp>
        <p:nvSpPr>
          <p:cNvPr id="13" name="Text 11"/>
          <p:cNvSpPr/>
          <p:nvPr/>
        </p:nvSpPr>
        <p:spPr>
          <a:xfrm>
            <a:off x="8412480" y="1691640"/>
            <a:ext cx="2880360" cy="512064"/>
          </a:xfrm>
          <a:prstGeom prst="rect">
            <a:avLst/>
          </a:prstGeom>
          <a:noFill/>
          <a:ln/>
        </p:spPr>
        <p:txBody>
          <a:bodyPr wrap="square" lIns="0" tIns="0" rIns="0" bIns="0" rtlCol="0" anchor="ctr"/>
          <a:lstStyle/>
          <a:p>
            <a:pPr algn="r" indent="0" marL="0">
              <a:buNone/>
            </a:pPr>
            <a:r>
              <a:rPr lang="en-US" sz="1400" b="1" dirty="0">
                <a:solidFill>
                  <a:srgbClr val="0EA472"/>
                </a:solidFill>
                <a:latin typeface="Calibri" pitchFamily="34" charset="0"/>
                <a:ea typeface="Calibri" pitchFamily="34" charset="-122"/>
                <a:cs typeface="Calibri" pitchFamily="34" charset="-120"/>
              </a:rPr>
              <a:t>10.9%  →  0.3%</a:t>
            </a:r>
            <a:endParaRPr lang="en-US" sz="1400" dirty="0"/>
          </a:p>
        </p:txBody>
      </p:sp>
      <p:sp>
        <p:nvSpPr>
          <p:cNvPr id="14" name="Shape 12"/>
          <p:cNvSpPr/>
          <p:nvPr/>
        </p:nvSpPr>
        <p:spPr>
          <a:xfrm>
            <a:off x="548640" y="2295144"/>
            <a:ext cx="11091672" cy="512064"/>
          </a:xfrm>
          <a:prstGeom prst="roundRect">
            <a:avLst>
              <a:gd name="adj" fmla="val 8929"/>
            </a:avLst>
          </a:prstGeom>
          <a:solidFill>
            <a:srgbClr val="FFFFFF"/>
          </a:solidFill>
          <a:ln w="12700">
            <a:solidFill>
              <a:srgbClr val="E4EAF2"/>
            </a:solidFill>
            <a:prstDash val="solid"/>
          </a:ln>
        </p:spPr>
      </p:sp>
      <p:sp>
        <p:nvSpPr>
          <p:cNvPr id="15" name="Shape 13"/>
          <p:cNvSpPr/>
          <p:nvPr/>
        </p:nvSpPr>
        <p:spPr>
          <a:xfrm>
            <a:off x="822960" y="2468880"/>
            <a:ext cx="146304" cy="146304"/>
          </a:xfrm>
          <a:prstGeom prst="ellipse">
            <a:avLst/>
          </a:prstGeom>
          <a:solidFill>
            <a:srgbClr val="0EA472"/>
          </a:solidFill>
          <a:ln/>
        </p:spPr>
      </p:sp>
      <p:sp>
        <p:nvSpPr>
          <p:cNvPr id="16" name="Text 14"/>
          <p:cNvSpPr/>
          <p:nvPr/>
        </p:nvSpPr>
        <p:spPr>
          <a:xfrm>
            <a:off x="1152144" y="2295144"/>
            <a:ext cx="7498080" cy="512064"/>
          </a:xfrm>
          <a:prstGeom prst="rect">
            <a:avLst/>
          </a:prstGeom>
          <a:noFill/>
          <a:ln/>
        </p:spPr>
        <p:txBody>
          <a:bodyPr wrap="square" lIns="0" tIns="0" rIns="0" bIns="0" rtlCol="0" anchor="ctr"/>
          <a:lstStyle/>
          <a:p>
            <a:pPr indent="0" marL="0">
              <a:buNone/>
            </a:pPr>
            <a:r>
              <a:rPr lang="en-US" sz="1250" dirty="0">
                <a:solidFill>
                  <a:srgbClr val="3E4C63"/>
                </a:solidFill>
                <a:latin typeface="Calibri" pitchFamily="34" charset="0"/>
                <a:ea typeface="Calibri" pitchFamily="34" charset="-122"/>
                <a:cs typeface="Calibri" pitchFamily="34" charset="-120"/>
              </a:rPr>
              <a:t>Estimating error after learning (casting · China)</a:t>
            </a:r>
            <a:endParaRPr lang="en-US" sz="1250" dirty="0"/>
          </a:p>
        </p:txBody>
      </p:sp>
      <p:sp>
        <p:nvSpPr>
          <p:cNvPr id="17" name="Text 15"/>
          <p:cNvSpPr/>
          <p:nvPr/>
        </p:nvSpPr>
        <p:spPr>
          <a:xfrm>
            <a:off x="8412480" y="2295144"/>
            <a:ext cx="2880360" cy="512064"/>
          </a:xfrm>
          <a:prstGeom prst="rect">
            <a:avLst/>
          </a:prstGeom>
          <a:noFill/>
          <a:ln/>
        </p:spPr>
        <p:txBody>
          <a:bodyPr wrap="square" lIns="0" tIns="0" rIns="0" bIns="0" rtlCol="0" anchor="ctr"/>
          <a:lstStyle/>
          <a:p>
            <a:pPr algn="r" indent="0" marL="0">
              <a:buNone/>
            </a:pPr>
            <a:r>
              <a:rPr lang="en-US" sz="1400" b="1" dirty="0">
                <a:solidFill>
                  <a:srgbClr val="0EA472"/>
                </a:solidFill>
                <a:latin typeface="Calibri" pitchFamily="34" charset="0"/>
                <a:ea typeface="Calibri" pitchFamily="34" charset="-122"/>
                <a:cs typeface="Calibri" pitchFamily="34" charset="-120"/>
              </a:rPr>
              <a:t>8.7%  →  0.6%</a:t>
            </a:r>
            <a:endParaRPr lang="en-US" sz="1400" dirty="0"/>
          </a:p>
        </p:txBody>
      </p:sp>
      <p:sp>
        <p:nvSpPr>
          <p:cNvPr id="18" name="Shape 16"/>
          <p:cNvSpPr/>
          <p:nvPr/>
        </p:nvSpPr>
        <p:spPr>
          <a:xfrm>
            <a:off x="548640" y="2898648"/>
            <a:ext cx="11091672" cy="512064"/>
          </a:xfrm>
          <a:prstGeom prst="roundRect">
            <a:avLst>
              <a:gd name="adj" fmla="val 8929"/>
            </a:avLst>
          </a:prstGeom>
          <a:solidFill>
            <a:srgbClr val="F4F7FB"/>
          </a:solidFill>
          <a:ln w="12700">
            <a:solidFill>
              <a:srgbClr val="E4EAF2"/>
            </a:solidFill>
            <a:prstDash val="solid"/>
          </a:ln>
        </p:spPr>
      </p:sp>
      <p:sp>
        <p:nvSpPr>
          <p:cNvPr id="19" name="Shape 17"/>
          <p:cNvSpPr/>
          <p:nvPr/>
        </p:nvSpPr>
        <p:spPr>
          <a:xfrm>
            <a:off x="822960" y="3072384"/>
            <a:ext cx="146304" cy="146304"/>
          </a:xfrm>
          <a:prstGeom prst="ellipse">
            <a:avLst/>
          </a:prstGeom>
          <a:solidFill>
            <a:srgbClr val="0EA472"/>
          </a:solidFill>
          <a:ln/>
        </p:spPr>
      </p:sp>
      <p:sp>
        <p:nvSpPr>
          <p:cNvPr id="20" name="Text 18"/>
          <p:cNvSpPr/>
          <p:nvPr/>
        </p:nvSpPr>
        <p:spPr>
          <a:xfrm>
            <a:off x="1152144" y="2898648"/>
            <a:ext cx="7498080" cy="512064"/>
          </a:xfrm>
          <a:prstGeom prst="rect">
            <a:avLst/>
          </a:prstGeom>
          <a:noFill/>
          <a:ln/>
        </p:spPr>
        <p:txBody>
          <a:bodyPr wrap="square" lIns="0" tIns="0" rIns="0" bIns="0" rtlCol="0" anchor="ctr"/>
          <a:lstStyle/>
          <a:p>
            <a:pPr indent="0" marL="0">
              <a:buNone/>
            </a:pPr>
            <a:r>
              <a:rPr lang="en-US" sz="1250" dirty="0">
                <a:solidFill>
                  <a:srgbClr val="3E4C63"/>
                </a:solidFill>
                <a:latin typeface="Calibri" pitchFamily="34" charset="0"/>
                <a:ea typeface="Calibri" pitchFamily="34" charset="-122"/>
                <a:cs typeface="Calibri" pitchFamily="34" charset="-120"/>
              </a:rPr>
              <a:t>Confidence band on the same part</a:t>
            </a:r>
            <a:endParaRPr lang="en-US" sz="1250" dirty="0"/>
          </a:p>
        </p:txBody>
      </p:sp>
      <p:sp>
        <p:nvSpPr>
          <p:cNvPr id="21" name="Text 19"/>
          <p:cNvSpPr/>
          <p:nvPr/>
        </p:nvSpPr>
        <p:spPr>
          <a:xfrm>
            <a:off x="8412480" y="2898648"/>
            <a:ext cx="2880360" cy="512064"/>
          </a:xfrm>
          <a:prstGeom prst="rect">
            <a:avLst/>
          </a:prstGeom>
          <a:noFill/>
          <a:ln/>
        </p:spPr>
        <p:txBody>
          <a:bodyPr wrap="square" lIns="0" tIns="0" rIns="0" bIns="0" rtlCol="0" anchor="ctr"/>
          <a:lstStyle/>
          <a:p>
            <a:pPr algn="r" indent="0" marL="0">
              <a:buNone/>
            </a:pPr>
            <a:r>
              <a:rPr lang="en-US" sz="1400" b="1" dirty="0">
                <a:solidFill>
                  <a:srgbClr val="0EA472"/>
                </a:solidFill>
                <a:latin typeface="Calibri" pitchFamily="34" charset="0"/>
                <a:ea typeface="Calibri" pitchFamily="34" charset="-122"/>
                <a:cs typeface="Calibri" pitchFamily="34" charset="-120"/>
              </a:rPr>
              <a:t>±20.4%  →  ±2.8%</a:t>
            </a:r>
            <a:endParaRPr lang="en-US" sz="1400" dirty="0"/>
          </a:p>
        </p:txBody>
      </p:sp>
      <p:sp>
        <p:nvSpPr>
          <p:cNvPr id="22" name="Shape 20"/>
          <p:cNvSpPr/>
          <p:nvPr/>
        </p:nvSpPr>
        <p:spPr>
          <a:xfrm>
            <a:off x="548640" y="3502152"/>
            <a:ext cx="11091672" cy="512064"/>
          </a:xfrm>
          <a:prstGeom prst="roundRect">
            <a:avLst>
              <a:gd name="adj" fmla="val 8929"/>
            </a:avLst>
          </a:prstGeom>
          <a:solidFill>
            <a:srgbClr val="FFFFFF"/>
          </a:solidFill>
          <a:ln w="12700">
            <a:solidFill>
              <a:srgbClr val="E4EAF2"/>
            </a:solidFill>
            <a:prstDash val="solid"/>
          </a:ln>
        </p:spPr>
      </p:sp>
      <p:sp>
        <p:nvSpPr>
          <p:cNvPr id="23" name="Shape 21"/>
          <p:cNvSpPr/>
          <p:nvPr/>
        </p:nvSpPr>
        <p:spPr>
          <a:xfrm>
            <a:off x="822960" y="3675888"/>
            <a:ext cx="146304" cy="146304"/>
          </a:xfrm>
          <a:prstGeom prst="ellipse">
            <a:avLst/>
          </a:prstGeom>
          <a:solidFill>
            <a:srgbClr val="0E93B0"/>
          </a:solidFill>
          <a:ln/>
        </p:spPr>
      </p:sp>
      <p:sp>
        <p:nvSpPr>
          <p:cNvPr id="24" name="Text 22"/>
          <p:cNvSpPr/>
          <p:nvPr/>
        </p:nvSpPr>
        <p:spPr>
          <a:xfrm>
            <a:off x="1152144" y="3502152"/>
            <a:ext cx="7498080" cy="512064"/>
          </a:xfrm>
          <a:prstGeom prst="rect">
            <a:avLst/>
          </a:prstGeom>
          <a:noFill/>
          <a:ln/>
        </p:spPr>
        <p:txBody>
          <a:bodyPr wrap="square" lIns="0" tIns="0" rIns="0" bIns="0" rtlCol="0" anchor="ctr"/>
          <a:lstStyle/>
          <a:p>
            <a:pPr indent="0" marL="0">
              <a:buNone/>
            </a:pPr>
            <a:r>
              <a:rPr lang="en-US" sz="1250" dirty="0">
                <a:solidFill>
                  <a:srgbClr val="3E4C63"/>
                </a:solidFill>
                <a:latin typeface="Calibri" pitchFamily="34" charset="0"/>
                <a:ea typeface="Calibri" pitchFamily="34" charset="-122"/>
                <a:cs typeface="Calibri" pitchFamily="34" charset="-120"/>
              </a:rPr>
              <a:t>Similar-part recognition on live example</a:t>
            </a:r>
            <a:endParaRPr lang="en-US" sz="1250" dirty="0"/>
          </a:p>
        </p:txBody>
      </p:sp>
      <p:sp>
        <p:nvSpPr>
          <p:cNvPr id="25" name="Text 23"/>
          <p:cNvSpPr/>
          <p:nvPr/>
        </p:nvSpPr>
        <p:spPr>
          <a:xfrm>
            <a:off x="8412480" y="3502152"/>
            <a:ext cx="2880360" cy="512064"/>
          </a:xfrm>
          <a:prstGeom prst="rect">
            <a:avLst/>
          </a:prstGeom>
          <a:noFill/>
          <a:ln/>
        </p:spPr>
        <p:txBody>
          <a:bodyPr wrap="square" lIns="0" tIns="0" rIns="0" bIns="0" rtlCol="0" anchor="ctr"/>
          <a:lstStyle/>
          <a:p>
            <a:pPr algn="r" indent="0" marL="0">
              <a:buNone/>
            </a:pPr>
            <a:r>
              <a:rPr lang="en-US" sz="1400" b="1" dirty="0">
                <a:solidFill>
                  <a:srgbClr val="0E93B0"/>
                </a:solidFill>
                <a:latin typeface="Calibri" pitchFamily="34" charset="0"/>
                <a:ea typeface="Calibri" pitchFamily="34" charset="-122"/>
                <a:cs typeface="Calibri" pitchFamily="34" charset="-120"/>
              </a:rPr>
              <a:t>98–99% match, reasons shown</a:t>
            </a:r>
            <a:endParaRPr lang="en-US" sz="1400" dirty="0"/>
          </a:p>
        </p:txBody>
      </p:sp>
      <p:sp>
        <p:nvSpPr>
          <p:cNvPr id="26" name="Shape 24"/>
          <p:cNvSpPr/>
          <p:nvPr/>
        </p:nvSpPr>
        <p:spPr>
          <a:xfrm>
            <a:off x="548640" y="4105656"/>
            <a:ext cx="11091672" cy="512064"/>
          </a:xfrm>
          <a:prstGeom prst="roundRect">
            <a:avLst>
              <a:gd name="adj" fmla="val 8929"/>
            </a:avLst>
          </a:prstGeom>
          <a:solidFill>
            <a:srgbClr val="F4F7FB"/>
          </a:solidFill>
          <a:ln w="12700">
            <a:solidFill>
              <a:srgbClr val="E4EAF2"/>
            </a:solidFill>
            <a:prstDash val="solid"/>
          </a:ln>
        </p:spPr>
      </p:sp>
      <p:sp>
        <p:nvSpPr>
          <p:cNvPr id="27" name="Shape 25"/>
          <p:cNvSpPr/>
          <p:nvPr/>
        </p:nvSpPr>
        <p:spPr>
          <a:xfrm>
            <a:off x="822960" y="4279392"/>
            <a:ext cx="146304" cy="146304"/>
          </a:xfrm>
          <a:prstGeom prst="ellipse">
            <a:avLst/>
          </a:prstGeom>
          <a:solidFill>
            <a:srgbClr val="E5484D"/>
          </a:solidFill>
          <a:ln/>
        </p:spPr>
      </p:sp>
      <p:sp>
        <p:nvSpPr>
          <p:cNvPr id="28" name="Text 26"/>
          <p:cNvSpPr/>
          <p:nvPr/>
        </p:nvSpPr>
        <p:spPr>
          <a:xfrm>
            <a:off x="1152144" y="4105656"/>
            <a:ext cx="7498080" cy="512064"/>
          </a:xfrm>
          <a:prstGeom prst="rect">
            <a:avLst/>
          </a:prstGeom>
          <a:noFill/>
          <a:ln/>
        </p:spPr>
        <p:txBody>
          <a:bodyPr wrap="square" lIns="0" tIns="0" rIns="0" bIns="0" rtlCol="0" anchor="ctr"/>
          <a:lstStyle/>
          <a:p>
            <a:pPr indent="0" marL="0">
              <a:buNone/>
            </a:pPr>
            <a:r>
              <a:rPr lang="en-US" sz="1250" dirty="0">
                <a:solidFill>
                  <a:srgbClr val="3E4C63"/>
                </a:solidFill>
                <a:latin typeface="Calibri" pitchFamily="34" charset="0"/>
                <a:ea typeface="Calibri" pitchFamily="34" charset="-122"/>
                <a:cs typeface="Calibri" pitchFamily="34" charset="-120"/>
              </a:rPr>
              <a:t>Autonomous findings in unattended demo</a:t>
            </a:r>
            <a:endParaRPr lang="en-US" sz="1250" dirty="0"/>
          </a:p>
        </p:txBody>
      </p:sp>
      <p:sp>
        <p:nvSpPr>
          <p:cNvPr id="29" name="Text 27"/>
          <p:cNvSpPr/>
          <p:nvPr/>
        </p:nvSpPr>
        <p:spPr>
          <a:xfrm>
            <a:off x="8412480" y="4105656"/>
            <a:ext cx="2880360" cy="512064"/>
          </a:xfrm>
          <a:prstGeom prst="rect">
            <a:avLst/>
          </a:prstGeom>
          <a:noFill/>
          <a:ln/>
        </p:spPr>
        <p:txBody>
          <a:bodyPr wrap="square" lIns="0" tIns="0" rIns="0" bIns="0" rtlCol="0" anchor="ctr"/>
          <a:lstStyle/>
          <a:p>
            <a:pPr algn="r" indent="0" marL="0">
              <a:buNone/>
            </a:pPr>
            <a:r>
              <a:rPr lang="en-US" sz="1400" b="1" dirty="0">
                <a:solidFill>
                  <a:srgbClr val="E5484D"/>
                </a:solidFill>
                <a:latin typeface="Calibri" pitchFamily="34" charset="0"/>
                <a:ea typeface="Calibri" pitchFamily="34" charset="-122"/>
                <a:cs typeface="Calibri" pitchFamily="34" charset="-120"/>
              </a:rPr>
              <a:t>£512,000 / yr surfaced</a:t>
            </a:r>
            <a:endParaRPr lang="en-US" sz="1400" dirty="0"/>
          </a:p>
        </p:txBody>
      </p:sp>
      <p:sp>
        <p:nvSpPr>
          <p:cNvPr id="30" name="Shape 28"/>
          <p:cNvSpPr/>
          <p:nvPr/>
        </p:nvSpPr>
        <p:spPr>
          <a:xfrm>
            <a:off x="548640" y="4709160"/>
            <a:ext cx="11091672" cy="512064"/>
          </a:xfrm>
          <a:prstGeom prst="roundRect">
            <a:avLst>
              <a:gd name="adj" fmla="val 8929"/>
            </a:avLst>
          </a:prstGeom>
          <a:solidFill>
            <a:srgbClr val="FFFFFF"/>
          </a:solidFill>
          <a:ln w="12700">
            <a:solidFill>
              <a:srgbClr val="E4EAF2"/>
            </a:solidFill>
            <a:prstDash val="solid"/>
          </a:ln>
        </p:spPr>
      </p:sp>
      <p:sp>
        <p:nvSpPr>
          <p:cNvPr id="31" name="Shape 29"/>
          <p:cNvSpPr/>
          <p:nvPr/>
        </p:nvSpPr>
        <p:spPr>
          <a:xfrm>
            <a:off x="822960" y="4882896"/>
            <a:ext cx="146304" cy="146304"/>
          </a:xfrm>
          <a:prstGeom prst="ellipse">
            <a:avLst/>
          </a:prstGeom>
          <a:solidFill>
            <a:srgbClr val="7C3AED"/>
          </a:solidFill>
          <a:ln/>
        </p:spPr>
      </p:sp>
      <p:sp>
        <p:nvSpPr>
          <p:cNvPr id="32" name="Text 30"/>
          <p:cNvSpPr/>
          <p:nvPr/>
        </p:nvSpPr>
        <p:spPr>
          <a:xfrm>
            <a:off x="1152144" y="4709160"/>
            <a:ext cx="7498080" cy="512064"/>
          </a:xfrm>
          <a:prstGeom prst="rect">
            <a:avLst/>
          </a:prstGeom>
          <a:noFill/>
          <a:ln/>
        </p:spPr>
        <p:txBody>
          <a:bodyPr wrap="square" lIns="0" tIns="0" rIns="0" bIns="0" rtlCol="0" anchor="ctr"/>
          <a:lstStyle/>
          <a:p>
            <a:pPr indent="0" marL="0">
              <a:buNone/>
            </a:pPr>
            <a:r>
              <a:rPr lang="en-US" sz="1250" dirty="0">
                <a:solidFill>
                  <a:srgbClr val="3E4C63"/>
                </a:solidFill>
                <a:latin typeface="Calibri" pitchFamily="34" charset="0"/>
                <a:ea typeface="Calibri" pitchFamily="34" charset="-122"/>
                <a:cs typeface="Calibri" pitchFamily="34" charset="-120"/>
              </a:rPr>
              <a:t>Automated tests protecting all of this</a:t>
            </a:r>
            <a:endParaRPr lang="en-US" sz="1250" dirty="0"/>
          </a:p>
        </p:txBody>
      </p:sp>
      <p:sp>
        <p:nvSpPr>
          <p:cNvPr id="33" name="Text 31"/>
          <p:cNvSpPr/>
          <p:nvPr/>
        </p:nvSpPr>
        <p:spPr>
          <a:xfrm>
            <a:off x="8412480" y="4709160"/>
            <a:ext cx="2880360" cy="512064"/>
          </a:xfrm>
          <a:prstGeom prst="rect">
            <a:avLst/>
          </a:prstGeom>
          <a:noFill/>
          <a:ln/>
        </p:spPr>
        <p:txBody>
          <a:bodyPr wrap="square" lIns="0" tIns="0" rIns="0" bIns="0" rtlCol="0" anchor="ctr"/>
          <a:lstStyle/>
          <a:p>
            <a:pPr algn="r" indent="0" marL="0">
              <a:buNone/>
            </a:pPr>
            <a:r>
              <a:rPr lang="en-US" sz="1400" b="1" dirty="0">
                <a:solidFill>
                  <a:srgbClr val="7C3AED"/>
                </a:solidFill>
                <a:latin typeface="Calibri" pitchFamily="34" charset="0"/>
                <a:ea typeface="Calibri" pitchFamily="34" charset="-122"/>
                <a:cs typeface="Calibri" pitchFamily="34" charset="-120"/>
              </a:rPr>
              <a:t>917 passing (77 suites)</a:t>
            </a:r>
            <a:endParaRPr lang="en-US" sz="1400" dirty="0"/>
          </a:p>
        </p:txBody>
      </p:sp>
      <p:sp>
        <p:nvSpPr>
          <p:cNvPr id="34" name="Shape 32"/>
          <p:cNvSpPr/>
          <p:nvPr/>
        </p:nvSpPr>
        <p:spPr>
          <a:xfrm>
            <a:off x="548640" y="5394960"/>
            <a:ext cx="11091672" cy="621792"/>
          </a:xfrm>
          <a:prstGeom prst="roundRect">
            <a:avLst>
              <a:gd name="adj" fmla="val 10294"/>
            </a:avLst>
          </a:prstGeom>
          <a:solidFill>
            <a:srgbClr val="E7F7F0"/>
          </a:solidFill>
          <a:ln w="12700">
            <a:solidFill>
              <a:srgbClr val="E4EAF2"/>
            </a:solidFill>
            <a:prstDash val="solid"/>
          </a:ln>
        </p:spPr>
      </p:sp>
      <p:sp>
        <p:nvSpPr>
          <p:cNvPr id="35" name="Text 33"/>
          <p:cNvSpPr/>
          <p:nvPr/>
        </p:nvSpPr>
        <p:spPr>
          <a:xfrm>
            <a:off x="914400" y="5394960"/>
            <a:ext cx="10332720" cy="621792"/>
          </a:xfrm>
          <a:prstGeom prst="rect">
            <a:avLst/>
          </a:prstGeom>
          <a:noFill/>
          <a:ln/>
        </p:spPr>
        <p:txBody>
          <a:bodyPr wrap="square" lIns="0" tIns="0" rIns="0" bIns="0" rtlCol="0" anchor="ctr"/>
          <a:lstStyle/>
          <a:p>
            <a:pPr indent="0" marL="0">
              <a:buNone/>
            </a:pPr>
            <a:r>
              <a:rPr lang="en-US" sz="1150" b="1" dirty="0">
                <a:solidFill>
                  <a:srgbClr val="0F1E3D"/>
                </a:solidFill>
                <a:latin typeface="Calibri" pitchFamily="34" charset="0"/>
                <a:ea typeface="Calibri" pitchFamily="34" charset="-122"/>
                <a:cs typeface="Calibri" pitchFamily="34" charset="-120"/>
              </a:rPr>
              <a:t>How we verified:  </a:t>
            </a:r>
            <a:pPr indent="0" marL="0">
              <a:buNone/>
            </a:pPr>
            <a:r>
              <a:rPr lang="en-US" sz="1150" dirty="0">
                <a:solidFill>
                  <a:srgbClr val="3E4C63"/>
                </a:solidFill>
                <a:latin typeface="Calibri" pitchFamily="34" charset="0"/>
                <a:ea typeface="Calibri" pitchFamily="34" charset="-122"/>
                <a:cs typeface="Calibri" pitchFamily="34" charset="-120"/>
              </a:rPr>
              <a:t>every number above comes from running the real system end-to-end — live server, real database, real API calls — not from slides or simulations.</a:t>
            </a:r>
            <a:endParaRPr lang="en-US" sz="1150" dirty="0"/>
          </a:p>
        </p:txBody>
      </p:sp>
      <p:sp>
        <p:nvSpPr>
          <p:cNvPr id="36" name="Shape 34"/>
          <p:cNvSpPr/>
          <p:nvPr/>
        </p:nvSpPr>
        <p:spPr>
          <a:xfrm>
            <a:off x="548640" y="6400800"/>
            <a:ext cx="11094415" cy="12802"/>
          </a:xfrm>
          <a:prstGeom prst="rect">
            <a:avLst/>
          </a:prstGeom>
          <a:solidFill>
            <a:srgbClr val="E4EAF2"/>
          </a:solidFill>
          <a:ln/>
        </p:spPr>
      </p:sp>
      <p:sp>
        <p:nvSpPr>
          <p:cNvPr id="37" name="Text 35"/>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Agentic AI Management Briefing</a:t>
            </a:r>
            <a:endParaRPr lang="en-US" sz="850" dirty="0"/>
          </a:p>
        </p:txBody>
      </p:sp>
      <p:sp>
        <p:nvSpPr>
          <p:cNvPr id="38" name="Text 36"/>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12 / 20</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4F46E5"/>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4F46E5"/>
                </a:solidFill>
                <a:latin typeface="Calibri" pitchFamily="34" charset="0"/>
                <a:ea typeface="Calibri" pitchFamily="34" charset="-122"/>
                <a:cs typeface="Calibri" pitchFamily="34" charset="-120"/>
              </a:rPr>
              <a:t>BENEFITS</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500" b="1" dirty="0">
                <a:solidFill>
                  <a:srgbClr val="0F1E3D"/>
                </a:solidFill>
                <a:latin typeface="Calibri" pitchFamily="34" charset="0"/>
                <a:ea typeface="Calibri" pitchFamily="34" charset="-122"/>
                <a:cs typeface="Calibri" pitchFamily="34" charset="-120"/>
              </a:rPr>
              <a:t>What this means for the business</a:t>
            </a:r>
            <a:endParaRPr lang="en-US" sz="2500" dirty="0"/>
          </a:p>
        </p:txBody>
      </p:sp>
      <p:sp>
        <p:nvSpPr>
          <p:cNvPr id="9" name="Shape 7"/>
          <p:cNvSpPr/>
          <p:nvPr/>
        </p:nvSpPr>
        <p:spPr>
          <a:xfrm>
            <a:off x="548640" y="1371600"/>
            <a:ext cx="1051560" cy="45720"/>
          </a:xfrm>
          <a:prstGeom prst="rect">
            <a:avLst/>
          </a:prstGeom>
          <a:solidFill>
            <a:srgbClr val="4F46E5"/>
          </a:solidFill>
          <a:ln/>
        </p:spPr>
      </p:sp>
      <p:sp>
        <p:nvSpPr>
          <p:cNvPr id="10" name="Shape 8"/>
          <p:cNvSpPr/>
          <p:nvPr/>
        </p:nvSpPr>
        <p:spPr>
          <a:xfrm>
            <a:off x="548640" y="1691640"/>
            <a:ext cx="5422392" cy="1783080"/>
          </a:xfrm>
          <a:prstGeom prst="roundRect">
            <a:avLst>
              <a:gd name="adj" fmla="val 3590"/>
            </a:avLst>
          </a:prstGeom>
          <a:solidFill>
            <a:srgbClr val="FFFFFF"/>
          </a:solidFill>
          <a:ln w="12700">
            <a:solidFill>
              <a:srgbClr val="E4EAF2"/>
            </a:solidFill>
            <a:prstDash val="solid"/>
          </a:ln>
          <a:effectLst>
            <a:outerShdw sx="100000" sy="100000" kx="0" ky="0" algn="bl" rotWithShape="0" blurRad="4.4442502531267815e+111" dist="1.2697857866076517e+111" dir="9.211413321697224e+130">
              <a:srgbClr val="9DB0CC">
                <a:alpha val="2.2000000000000004e+134"/>
              </a:srgbClr>
            </a:outerShdw>
          </a:effectLst>
        </p:spPr>
      </p:sp>
      <p:sp>
        <p:nvSpPr>
          <p:cNvPr id="11" name="Shape 9"/>
          <p:cNvSpPr/>
          <p:nvPr/>
        </p:nvSpPr>
        <p:spPr>
          <a:xfrm>
            <a:off x="548640" y="1691640"/>
            <a:ext cx="82296" cy="1783080"/>
          </a:xfrm>
          <a:prstGeom prst="rect">
            <a:avLst/>
          </a:prstGeom>
          <a:solidFill>
            <a:srgbClr val="2563EB"/>
          </a:solidFill>
          <a:ln/>
        </p:spPr>
      </p:sp>
      <p:sp>
        <p:nvSpPr>
          <p:cNvPr id="12" name="Shape 10"/>
          <p:cNvSpPr/>
          <p:nvPr/>
        </p:nvSpPr>
        <p:spPr>
          <a:xfrm>
            <a:off x="822960" y="1965960"/>
            <a:ext cx="548640" cy="548640"/>
          </a:xfrm>
          <a:prstGeom prst="ellipse">
            <a:avLst/>
          </a:prstGeom>
          <a:solidFill>
            <a:srgbClr val="EAF1FE"/>
          </a:solidFill>
          <a:ln/>
        </p:spPr>
      </p:sp>
      <p:sp>
        <p:nvSpPr>
          <p:cNvPr id="13" name="Text 11"/>
          <p:cNvSpPr/>
          <p:nvPr/>
        </p:nvSpPr>
        <p:spPr>
          <a:xfrm>
            <a:off x="822960" y="1956816"/>
            <a:ext cx="548640" cy="548640"/>
          </a:xfrm>
          <a:prstGeom prst="rect">
            <a:avLst/>
          </a:prstGeom>
          <a:noFill/>
          <a:ln/>
        </p:spPr>
        <p:txBody>
          <a:bodyPr wrap="square" lIns="0" tIns="0" rIns="0" bIns="0" rtlCol="0" anchor="ctr"/>
          <a:lstStyle/>
          <a:p>
            <a:pPr algn="ctr" indent="0" marL="0">
              <a:buNone/>
            </a:pPr>
            <a:r>
              <a:rPr lang="en-US" sz="2000" b="1" dirty="0">
                <a:solidFill>
                  <a:srgbClr val="2563EB"/>
                </a:solidFill>
                <a:latin typeface="Calibri" pitchFamily="34" charset="0"/>
                <a:ea typeface="Calibri" pitchFamily="34" charset="-122"/>
                <a:cs typeface="Calibri" pitchFamily="34" charset="-120"/>
              </a:rPr>
              <a:t>⚡</a:t>
            </a:r>
            <a:endParaRPr lang="en-US" sz="2000" dirty="0"/>
          </a:p>
        </p:txBody>
      </p:sp>
      <p:sp>
        <p:nvSpPr>
          <p:cNvPr id="14" name="Text 12"/>
          <p:cNvSpPr/>
          <p:nvPr/>
        </p:nvSpPr>
        <p:spPr>
          <a:xfrm>
            <a:off x="1517904" y="2002536"/>
            <a:ext cx="4297680" cy="365760"/>
          </a:xfrm>
          <a:prstGeom prst="rect">
            <a:avLst/>
          </a:prstGeom>
          <a:noFill/>
          <a:ln/>
        </p:spPr>
        <p:txBody>
          <a:bodyPr wrap="square" lIns="0" tIns="0" rIns="0" bIns="0" rtlCol="0" anchor="ctr"/>
          <a:lstStyle/>
          <a:p>
            <a:pPr indent="0" marL="0">
              <a:buNone/>
            </a:pPr>
            <a:r>
              <a:rPr lang="en-US" sz="1550" b="1" dirty="0">
                <a:solidFill>
                  <a:srgbClr val="2563EB"/>
                </a:solidFill>
                <a:latin typeface="Calibri" pitchFamily="34" charset="0"/>
                <a:ea typeface="Calibri" pitchFamily="34" charset="-122"/>
                <a:cs typeface="Calibri" pitchFamily="34" charset="-120"/>
              </a:rPr>
              <a:t>Faster costing</a:t>
            </a:r>
            <a:endParaRPr lang="en-US" sz="1550" dirty="0"/>
          </a:p>
        </p:txBody>
      </p:sp>
      <p:sp>
        <p:nvSpPr>
          <p:cNvPr id="15" name="Text 13"/>
          <p:cNvSpPr/>
          <p:nvPr/>
        </p:nvSpPr>
        <p:spPr>
          <a:xfrm>
            <a:off x="841248" y="2606040"/>
            <a:ext cx="5029200" cy="777240"/>
          </a:xfrm>
          <a:prstGeom prst="rect">
            <a:avLst/>
          </a:prstGeom>
          <a:noFill/>
          <a:ln/>
        </p:spPr>
        <p:txBody>
          <a:bodyPr wrap="square" lIns="0" tIns="0" rIns="0" bIns="0" rtlCol="0" anchor="t"/>
          <a:lstStyle/>
          <a:p>
            <a:pPr indent="0" marL="0">
              <a:lnSpc>
                <a:spcPct val="116000"/>
              </a:lnSpc>
              <a:buNone/>
            </a:pPr>
            <a:r>
              <a:rPr lang="en-US" sz="1150" dirty="0">
                <a:solidFill>
                  <a:srgbClr val="3E4C63"/>
                </a:solidFill>
                <a:latin typeface="Calibri" pitchFamily="34" charset="0"/>
                <a:ea typeface="Calibri" pitchFamily="34" charset="-122"/>
                <a:cs typeface="Calibri" pitchFamily="34" charset="-120"/>
              </a:rPr>
              <a:t>New parts start from proven history instead of a blank sheet — matches, materials and benchmarks appear instantly.</a:t>
            </a:r>
            <a:endParaRPr lang="en-US" sz="1150" dirty="0"/>
          </a:p>
        </p:txBody>
      </p:sp>
      <p:sp>
        <p:nvSpPr>
          <p:cNvPr id="16" name="Shape 14"/>
          <p:cNvSpPr/>
          <p:nvPr/>
        </p:nvSpPr>
        <p:spPr>
          <a:xfrm>
            <a:off x="6217920" y="1691640"/>
            <a:ext cx="5422392" cy="1783080"/>
          </a:xfrm>
          <a:prstGeom prst="roundRect">
            <a:avLst>
              <a:gd name="adj" fmla="val 3590"/>
            </a:avLst>
          </a:prstGeom>
          <a:solidFill>
            <a:srgbClr val="FFFFFF"/>
          </a:solidFill>
          <a:ln w="12700">
            <a:solidFill>
              <a:srgbClr val="E4EAF2"/>
            </a:solidFill>
            <a:prstDash val="solid"/>
          </a:ln>
          <a:effectLst>
            <a:outerShdw sx="100000" sy="100000" kx="0" ky="0" algn="bl" rotWithShape="0" blurRad="5.644197821471012e+115" dist="1.6126279489917177e+115" dir="5.526847993018334e+135">
              <a:srgbClr val="9DB0CC">
                <a:alpha val="2.2000000000000005e+139"/>
              </a:srgbClr>
            </a:outerShdw>
          </a:effectLst>
        </p:spPr>
      </p:sp>
      <p:sp>
        <p:nvSpPr>
          <p:cNvPr id="17" name="Shape 15"/>
          <p:cNvSpPr/>
          <p:nvPr/>
        </p:nvSpPr>
        <p:spPr>
          <a:xfrm>
            <a:off x="6217920" y="1691640"/>
            <a:ext cx="82296" cy="1783080"/>
          </a:xfrm>
          <a:prstGeom prst="rect">
            <a:avLst/>
          </a:prstGeom>
          <a:solidFill>
            <a:srgbClr val="0EA472"/>
          </a:solidFill>
          <a:ln/>
        </p:spPr>
      </p:sp>
      <p:sp>
        <p:nvSpPr>
          <p:cNvPr id="18" name="Shape 16"/>
          <p:cNvSpPr/>
          <p:nvPr/>
        </p:nvSpPr>
        <p:spPr>
          <a:xfrm>
            <a:off x="6492240" y="1965960"/>
            <a:ext cx="548640" cy="548640"/>
          </a:xfrm>
          <a:prstGeom prst="ellipse">
            <a:avLst/>
          </a:prstGeom>
          <a:solidFill>
            <a:srgbClr val="E7F7F0"/>
          </a:solidFill>
          <a:ln/>
        </p:spPr>
      </p:sp>
      <p:sp>
        <p:nvSpPr>
          <p:cNvPr id="19" name="Text 17"/>
          <p:cNvSpPr/>
          <p:nvPr/>
        </p:nvSpPr>
        <p:spPr>
          <a:xfrm>
            <a:off x="6492240" y="1956816"/>
            <a:ext cx="548640" cy="548640"/>
          </a:xfrm>
          <a:prstGeom prst="rect">
            <a:avLst/>
          </a:prstGeom>
          <a:noFill/>
          <a:ln/>
        </p:spPr>
        <p:txBody>
          <a:bodyPr wrap="square" lIns="0" tIns="0" rIns="0" bIns="0" rtlCol="0" anchor="ctr"/>
          <a:lstStyle/>
          <a:p>
            <a:pPr algn="ctr" indent="0" marL="0">
              <a:buNone/>
            </a:pPr>
            <a:r>
              <a:rPr lang="en-US" sz="2000" b="1" dirty="0">
                <a:solidFill>
                  <a:srgbClr val="0EA472"/>
                </a:solidFill>
                <a:latin typeface="Calibri" pitchFamily="34" charset="0"/>
                <a:ea typeface="Calibri" pitchFamily="34" charset="-122"/>
                <a:cs typeface="Calibri" pitchFamily="34" charset="-120"/>
              </a:rPr>
              <a:t>◎</a:t>
            </a:r>
            <a:endParaRPr lang="en-US" sz="2000" dirty="0"/>
          </a:p>
        </p:txBody>
      </p:sp>
      <p:sp>
        <p:nvSpPr>
          <p:cNvPr id="20" name="Text 18"/>
          <p:cNvSpPr/>
          <p:nvPr/>
        </p:nvSpPr>
        <p:spPr>
          <a:xfrm>
            <a:off x="7187184" y="2002536"/>
            <a:ext cx="4297680" cy="365760"/>
          </a:xfrm>
          <a:prstGeom prst="rect">
            <a:avLst/>
          </a:prstGeom>
          <a:noFill/>
          <a:ln/>
        </p:spPr>
        <p:txBody>
          <a:bodyPr wrap="square" lIns="0" tIns="0" rIns="0" bIns="0" rtlCol="0" anchor="ctr"/>
          <a:lstStyle/>
          <a:p>
            <a:pPr indent="0" marL="0">
              <a:buNone/>
            </a:pPr>
            <a:r>
              <a:rPr lang="en-US" sz="1550" b="1" dirty="0">
                <a:solidFill>
                  <a:srgbClr val="0EA472"/>
                </a:solidFill>
                <a:latin typeface="Calibri" pitchFamily="34" charset="0"/>
                <a:ea typeface="Calibri" pitchFamily="34" charset="-122"/>
                <a:cs typeface="Calibri" pitchFamily="34" charset="-120"/>
              </a:rPr>
              <a:t>Accuracy that compounds</a:t>
            </a:r>
            <a:endParaRPr lang="en-US" sz="1550" dirty="0"/>
          </a:p>
        </p:txBody>
      </p:sp>
      <p:sp>
        <p:nvSpPr>
          <p:cNvPr id="21" name="Text 19"/>
          <p:cNvSpPr/>
          <p:nvPr/>
        </p:nvSpPr>
        <p:spPr>
          <a:xfrm>
            <a:off x="6510528" y="2606040"/>
            <a:ext cx="5029200" cy="777240"/>
          </a:xfrm>
          <a:prstGeom prst="rect">
            <a:avLst/>
          </a:prstGeom>
          <a:noFill/>
          <a:ln/>
        </p:spPr>
        <p:txBody>
          <a:bodyPr wrap="square" lIns="0" tIns="0" rIns="0" bIns="0" rtlCol="0" anchor="t"/>
          <a:lstStyle/>
          <a:p>
            <a:pPr indent="0" marL="0">
              <a:lnSpc>
                <a:spcPct val="116000"/>
              </a:lnSpc>
              <a:buNone/>
            </a:pPr>
            <a:r>
              <a:rPr lang="en-US" sz="1150" dirty="0">
                <a:solidFill>
                  <a:srgbClr val="3E4C63"/>
                </a:solidFill>
                <a:latin typeface="Calibri" pitchFamily="34" charset="0"/>
                <a:ea typeface="Calibri" pitchFamily="34" charset="-122"/>
                <a:cs typeface="Calibri" pitchFamily="34" charset="-120"/>
              </a:rPr>
              <a:t>Every real quote makes the next estimate better. Accuracy is measured and reported — defensible in any negotiation.</a:t>
            </a:r>
            <a:endParaRPr lang="en-US" sz="1150" dirty="0"/>
          </a:p>
        </p:txBody>
      </p:sp>
      <p:sp>
        <p:nvSpPr>
          <p:cNvPr id="22" name="Shape 20"/>
          <p:cNvSpPr/>
          <p:nvPr/>
        </p:nvSpPr>
        <p:spPr>
          <a:xfrm>
            <a:off x="548640" y="3657600"/>
            <a:ext cx="5422392" cy="1783080"/>
          </a:xfrm>
          <a:prstGeom prst="roundRect">
            <a:avLst>
              <a:gd name="adj" fmla="val 3590"/>
            </a:avLst>
          </a:prstGeom>
          <a:solidFill>
            <a:srgbClr val="FFFFFF"/>
          </a:solidFill>
          <a:ln w="12700">
            <a:solidFill>
              <a:srgbClr val="E4EAF2"/>
            </a:solidFill>
            <a:prstDash val="solid"/>
          </a:ln>
          <a:effectLst>
            <a:outerShdw sx="100000" sy="100000" kx="0" ky="0" algn="bl" rotWithShape="0" blurRad="7.168131233268186e+119" dist="2.0480374952194813e+119" dir="3.3161087958110005e+140">
              <a:srgbClr val="9DB0CC">
                <a:alpha val="2.2000000000000006e+144"/>
              </a:srgbClr>
            </a:outerShdw>
          </a:effectLst>
        </p:spPr>
      </p:sp>
      <p:sp>
        <p:nvSpPr>
          <p:cNvPr id="23" name="Shape 21"/>
          <p:cNvSpPr/>
          <p:nvPr/>
        </p:nvSpPr>
        <p:spPr>
          <a:xfrm>
            <a:off x="548640" y="3657600"/>
            <a:ext cx="82296" cy="1783080"/>
          </a:xfrm>
          <a:prstGeom prst="rect">
            <a:avLst/>
          </a:prstGeom>
          <a:solidFill>
            <a:srgbClr val="7C3AED"/>
          </a:solidFill>
          <a:ln/>
        </p:spPr>
      </p:sp>
      <p:sp>
        <p:nvSpPr>
          <p:cNvPr id="24" name="Shape 22"/>
          <p:cNvSpPr/>
          <p:nvPr/>
        </p:nvSpPr>
        <p:spPr>
          <a:xfrm>
            <a:off x="822960" y="3931920"/>
            <a:ext cx="548640" cy="548640"/>
          </a:xfrm>
          <a:prstGeom prst="ellipse">
            <a:avLst/>
          </a:prstGeom>
          <a:solidFill>
            <a:srgbClr val="F3EEFE"/>
          </a:solidFill>
          <a:ln/>
        </p:spPr>
      </p:sp>
      <p:sp>
        <p:nvSpPr>
          <p:cNvPr id="25" name="Text 23"/>
          <p:cNvSpPr/>
          <p:nvPr/>
        </p:nvSpPr>
        <p:spPr>
          <a:xfrm>
            <a:off x="822960" y="3922776"/>
            <a:ext cx="548640" cy="548640"/>
          </a:xfrm>
          <a:prstGeom prst="rect">
            <a:avLst/>
          </a:prstGeom>
          <a:noFill/>
          <a:ln/>
        </p:spPr>
        <p:txBody>
          <a:bodyPr wrap="square" lIns="0" tIns="0" rIns="0" bIns="0" rtlCol="0" anchor="ctr"/>
          <a:lstStyle/>
          <a:p>
            <a:pPr algn="ctr" indent="0" marL="0">
              <a:buNone/>
            </a:pPr>
            <a:r>
              <a:rPr lang="en-US" sz="2000" b="1" dirty="0">
                <a:solidFill>
                  <a:srgbClr val="7C3AED"/>
                </a:solidFill>
                <a:latin typeface="Calibri" pitchFamily="34" charset="0"/>
                <a:ea typeface="Calibri" pitchFamily="34" charset="-122"/>
                <a:cs typeface="Calibri" pitchFamily="34" charset="-120"/>
              </a:rPr>
              <a:t>▤</a:t>
            </a:r>
            <a:endParaRPr lang="en-US" sz="2000" dirty="0"/>
          </a:p>
        </p:txBody>
      </p:sp>
      <p:sp>
        <p:nvSpPr>
          <p:cNvPr id="26" name="Text 24"/>
          <p:cNvSpPr/>
          <p:nvPr/>
        </p:nvSpPr>
        <p:spPr>
          <a:xfrm>
            <a:off x="1517904" y="3968496"/>
            <a:ext cx="4297680" cy="365760"/>
          </a:xfrm>
          <a:prstGeom prst="rect">
            <a:avLst/>
          </a:prstGeom>
          <a:noFill/>
          <a:ln/>
        </p:spPr>
        <p:txBody>
          <a:bodyPr wrap="square" lIns="0" tIns="0" rIns="0" bIns="0" rtlCol="0" anchor="ctr"/>
          <a:lstStyle/>
          <a:p>
            <a:pPr indent="0" marL="0">
              <a:buNone/>
            </a:pPr>
            <a:r>
              <a:rPr lang="en-US" sz="1550" b="1" dirty="0">
                <a:solidFill>
                  <a:srgbClr val="7C3AED"/>
                </a:solidFill>
                <a:latin typeface="Calibri" pitchFamily="34" charset="0"/>
                <a:ea typeface="Calibri" pitchFamily="34" charset="-122"/>
                <a:cs typeface="Calibri" pitchFamily="34" charset="-120"/>
              </a:rPr>
              <a:t>Knowledge stays</a:t>
            </a:r>
            <a:endParaRPr lang="en-US" sz="1550" dirty="0"/>
          </a:p>
        </p:txBody>
      </p:sp>
      <p:sp>
        <p:nvSpPr>
          <p:cNvPr id="27" name="Text 25"/>
          <p:cNvSpPr/>
          <p:nvPr/>
        </p:nvSpPr>
        <p:spPr>
          <a:xfrm>
            <a:off x="841248" y="4572000"/>
            <a:ext cx="5029200" cy="777240"/>
          </a:xfrm>
          <a:prstGeom prst="rect">
            <a:avLst/>
          </a:prstGeom>
          <a:noFill/>
          <a:ln/>
        </p:spPr>
        <p:txBody>
          <a:bodyPr wrap="square" lIns="0" tIns="0" rIns="0" bIns="0" rtlCol="0" anchor="t"/>
          <a:lstStyle/>
          <a:p>
            <a:pPr indent="0" marL="0">
              <a:lnSpc>
                <a:spcPct val="116000"/>
              </a:lnSpc>
              <a:buNone/>
            </a:pPr>
            <a:r>
              <a:rPr lang="en-US" sz="1150" dirty="0">
                <a:solidFill>
                  <a:srgbClr val="3E4C63"/>
                </a:solidFill>
                <a:latin typeface="Calibri" pitchFamily="34" charset="0"/>
                <a:ea typeface="Calibri" pitchFamily="34" charset="-122"/>
                <a:cs typeface="Calibri" pitchFamily="34" charset="-120"/>
              </a:rPr>
              <a:t>Senior engineers' judgement is captured as data. It doesn't leave when people do — juniors inherit it from day one.</a:t>
            </a:r>
            <a:endParaRPr lang="en-US" sz="1150" dirty="0"/>
          </a:p>
        </p:txBody>
      </p:sp>
      <p:sp>
        <p:nvSpPr>
          <p:cNvPr id="28" name="Shape 26"/>
          <p:cNvSpPr/>
          <p:nvPr/>
        </p:nvSpPr>
        <p:spPr>
          <a:xfrm>
            <a:off x="6217920" y="3657600"/>
            <a:ext cx="5422392" cy="1783080"/>
          </a:xfrm>
          <a:prstGeom prst="roundRect">
            <a:avLst>
              <a:gd name="adj" fmla="val 3590"/>
            </a:avLst>
          </a:prstGeom>
          <a:solidFill>
            <a:srgbClr val="FFFFFF"/>
          </a:solidFill>
          <a:ln w="12700">
            <a:solidFill>
              <a:srgbClr val="E4EAF2"/>
            </a:solidFill>
            <a:prstDash val="solid"/>
          </a:ln>
          <a:effectLst>
            <a:outerShdw sx="100000" sy="100000" kx="0" ky="0" algn="bl" rotWithShape="0" blurRad="9.103526666250596e+123" dist="2.6010076189287412e+123" dir="1.9896652774866004e+145">
              <a:srgbClr val="9DB0CC">
                <a:alpha val="2.2000000000000004e+149"/>
              </a:srgbClr>
            </a:outerShdw>
          </a:effectLst>
        </p:spPr>
      </p:sp>
      <p:sp>
        <p:nvSpPr>
          <p:cNvPr id="29" name="Shape 27"/>
          <p:cNvSpPr/>
          <p:nvPr/>
        </p:nvSpPr>
        <p:spPr>
          <a:xfrm>
            <a:off x="6217920" y="3657600"/>
            <a:ext cx="82296" cy="1783080"/>
          </a:xfrm>
          <a:prstGeom prst="rect">
            <a:avLst/>
          </a:prstGeom>
          <a:solidFill>
            <a:srgbClr val="E5484D"/>
          </a:solidFill>
          <a:ln/>
        </p:spPr>
      </p:sp>
      <p:sp>
        <p:nvSpPr>
          <p:cNvPr id="30" name="Shape 28"/>
          <p:cNvSpPr/>
          <p:nvPr/>
        </p:nvSpPr>
        <p:spPr>
          <a:xfrm>
            <a:off x="6492240" y="3931920"/>
            <a:ext cx="548640" cy="548640"/>
          </a:xfrm>
          <a:prstGeom prst="ellipse">
            <a:avLst/>
          </a:prstGeom>
          <a:solidFill>
            <a:srgbClr val="FDECEC"/>
          </a:solidFill>
          <a:ln/>
        </p:spPr>
      </p:sp>
      <p:sp>
        <p:nvSpPr>
          <p:cNvPr id="31" name="Text 29"/>
          <p:cNvSpPr/>
          <p:nvPr/>
        </p:nvSpPr>
        <p:spPr>
          <a:xfrm>
            <a:off x="6492240" y="3922776"/>
            <a:ext cx="548640" cy="548640"/>
          </a:xfrm>
          <a:prstGeom prst="rect">
            <a:avLst/>
          </a:prstGeom>
          <a:noFill/>
          <a:ln/>
        </p:spPr>
        <p:txBody>
          <a:bodyPr wrap="square" lIns="0" tIns="0" rIns="0" bIns="0" rtlCol="0" anchor="ctr"/>
          <a:lstStyle/>
          <a:p>
            <a:pPr algn="ctr" indent="0" marL="0">
              <a:buNone/>
            </a:pPr>
            <a:r>
              <a:rPr lang="en-US" sz="2000" b="1" dirty="0">
                <a:solidFill>
                  <a:srgbClr val="E5484D"/>
                </a:solidFill>
                <a:latin typeface="Calibri" pitchFamily="34" charset="0"/>
                <a:ea typeface="Calibri" pitchFamily="34" charset="-122"/>
                <a:cs typeface="Calibri" pitchFamily="34" charset="-120"/>
              </a:rPr>
              <a:t>£</a:t>
            </a:r>
            <a:endParaRPr lang="en-US" sz="2000" dirty="0"/>
          </a:p>
        </p:txBody>
      </p:sp>
      <p:sp>
        <p:nvSpPr>
          <p:cNvPr id="32" name="Text 30"/>
          <p:cNvSpPr/>
          <p:nvPr/>
        </p:nvSpPr>
        <p:spPr>
          <a:xfrm>
            <a:off x="7187184" y="3968496"/>
            <a:ext cx="4297680" cy="365760"/>
          </a:xfrm>
          <a:prstGeom prst="rect">
            <a:avLst/>
          </a:prstGeom>
          <a:noFill/>
          <a:ln/>
        </p:spPr>
        <p:txBody>
          <a:bodyPr wrap="square" lIns="0" tIns="0" rIns="0" bIns="0" rtlCol="0" anchor="ctr"/>
          <a:lstStyle/>
          <a:p>
            <a:pPr indent="0" marL="0">
              <a:buNone/>
            </a:pPr>
            <a:r>
              <a:rPr lang="en-US" sz="1550" b="1" dirty="0">
                <a:solidFill>
                  <a:srgbClr val="E5484D"/>
                </a:solidFill>
                <a:latin typeface="Calibri" pitchFamily="34" charset="0"/>
                <a:ea typeface="Calibri" pitchFamily="34" charset="-122"/>
                <a:cs typeface="Calibri" pitchFamily="34" charset="-120"/>
              </a:rPr>
              <a:t>Money found proactively</a:t>
            </a:r>
            <a:endParaRPr lang="en-US" sz="1550" dirty="0"/>
          </a:p>
        </p:txBody>
      </p:sp>
      <p:sp>
        <p:nvSpPr>
          <p:cNvPr id="33" name="Text 31"/>
          <p:cNvSpPr/>
          <p:nvPr/>
        </p:nvSpPr>
        <p:spPr>
          <a:xfrm>
            <a:off x="6510528" y="4572000"/>
            <a:ext cx="5029200" cy="777240"/>
          </a:xfrm>
          <a:prstGeom prst="rect">
            <a:avLst/>
          </a:prstGeom>
          <a:noFill/>
          <a:ln/>
        </p:spPr>
        <p:txBody>
          <a:bodyPr wrap="square" lIns="0" tIns="0" rIns="0" bIns="0" rtlCol="0" anchor="t"/>
          <a:lstStyle/>
          <a:p>
            <a:pPr indent="0" marL="0">
              <a:lnSpc>
                <a:spcPct val="116000"/>
              </a:lnSpc>
              <a:buNone/>
            </a:pPr>
            <a:r>
              <a:rPr lang="en-US" sz="1150" dirty="0">
                <a:solidFill>
                  <a:srgbClr val="3E4C63"/>
                </a:solidFill>
                <a:latin typeface="Calibri" pitchFamily="34" charset="0"/>
                <a:ea typeface="Calibri" pitchFamily="34" charset="-122"/>
                <a:cs typeface="Calibri" pitchFamily="34" charset="-120"/>
              </a:rPr>
              <a:t>The agent watches all parts continuously and flags overpayment and pricing risk by itself, quantified in £/yr.</a:t>
            </a:r>
            <a:endParaRPr lang="en-US" sz="1150" dirty="0"/>
          </a:p>
        </p:txBody>
      </p:sp>
      <p:sp>
        <p:nvSpPr>
          <p:cNvPr id="34" name="Shape 32"/>
          <p:cNvSpPr/>
          <p:nvPr/>
        </p:nvSpPr>
        <p:spPr>
          <a:xfrm>
            <a:off x="548640" y="5669280"/>
            <a:ext cx="11091672" cy="502920"/>
          </a:xfrm>
          <a:prstGeom prst="roundRect">
            <a:avLst>
              <a:gd name="adj" fmla="val 12727"/>
            </a:avLst>
          </a:prstGeom>
          <a:solidFill>
            <a:srgbClr val="EAF1FE"/>
          </a:solidFill>
          <a:ln w="12700">
            <a:solidFill>
              <a:srgbClr val="E4EAF2"/>
            </a:solidFill>
            <a:prstDash val="solid"/>
          </a:ln>
        </p:spPr>
      </p:sp>
      <p:sp>
        <p:nvSpPr>
          <p:cNvPr id="35" name="Text 33"/>
          <p:cNvSpPr/>
          <p:nvPr/>
        </p:nvSpPr>
        <p:spPr>
          <a:xfrm>
            <a:off x="914400" y="5669280"/>
            <a:ext cx="10332720" cy="502920"/>
          </a:xfrm>
          <a:prstGeom prst="rect">
            <a:avLst/>
          </a:prstGeom>
          <a:noFill/>
          <a:ln/>
        </p:spPr>
        <p:txBody>
          <a:bodyPr wrap="square" lIns="0" tIns="0" rIns="0" bIns="0" rtlCol="0" anchor="ctr"/>
          <a:lstStyle/>
          <a:p>
            <a:pPr indent="0" marL="0">
              <a:buNone/>
            </a:pPr>
            <a:r>
              <a:rPr lang="en-US" sz="1200" b="1" dirty="0">
                <a:solidFill>
                  <a:srgbClr val="0F1E3D"/>
                </a:solidFill>
                <a:latin typeface="Calibri" pitchFamily="34" charset="0"/>
                <a:ea typeface="Calibri" pitchFamily="34" charset="-122"/>
                <a:cs typeface="Calibri" pitchFamily="34" charset="-120"/>
              </a:rPr>
              <a:t>And it is ours:  </a:t>
            </a:r>
            <a:pPr indent="0" marL="0">
              <a:buNone/>
            </a:pPr>
            <a:r>
              <a:rPr lang="en-US" sz="1200" dirty="0">
                <a:solidFill>
                  <a:srgbClr val="3E4C63"/>
                </a:solidFill>
                <a:latin typeface="Calibri" pitchFamily="34" charset="0"/>
                <a:ea typeface="Calibri" pitchFamily="34" charset="-122"/>
                <a:cs typeface="Calibri" pitchFamily="34" charset="-120"/>
              </a:rPr>
              <a:t>the knowledge base runs on our infrastructure and grows into a proprietary asset competitors cannot buy.</a:t>
            </a:r>
            <a:endParaRPr lang="en-US" sz="1200" dirty="0"/>
          </a:p>
        </p:txBody>
      </p:sp>
      <p:sp>
        <p:nvSpPr>
          <p:cNvPr id="36" name="Shape 34"/>
          <p:cNvSpPr/>
          <p:nvPr/>
        </p:nvSpPr>
        <p:spPr>
          <a:xfrm>
            <a:off x="548640" y="6400800"/>
            <a:ext cx="11094415" cy="12802"/>
          </a:xfrm>
          <a:prstGeom prst="rect">
            <a:avLst/>
          </a:prstGeom>
          <a:solidFill>
            <a:srgbClr val="E4EAF2"/>
          </a:solidFill>
          <a:ln/>
        </p:spPr>
      </p:sp>
      <p:sp>
        <p:nvSpPr>
          <p:cNvPr id="37" name="Text 35"/>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Agentic AI Management Briefing</a:t>
            </a:r>
            <a:endParaRPr lang="en-US" sz="850" dirty="0"/>
          </a:p>
        </p:txBody>
      </p:sp>
      <p:sp>
        <p:nvSpPr>
          <p:cNvPr id="38" name="Text 36"/>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13 / 20</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2563EB"/>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2563EB"/>
                </a:solidFill>
                <a:latin typeface="Calibri" pitchFamily="34" charset="0"/>
                <a:ea typeface="Calibri" pitchFamily="34" charset="-122"/>
                <a:cs typeface="Calibri" pitchFamily="34" charset="-120"/>
              </a:rPr>
              <a:t>NEW IN 2026 · ADVANCED INTELLIGENCE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500" b="1" dirty="0">
                <a:solidFill>
                  <a:srgbClr val="0F1E3D"/>
                </a:solidFill>
                <a:latin typeface="Calibri" pitchFamily="34" charset="0"/>
                <a:ea typeface="Calibri" pitchFamily="34" charset="-122"/>
                <a:cs typeface="Calibri" pitchFamily="34" charset="-120"/>
              </a:rPr>
              <a:t>Confidence you can defend — not just assert</a:t>
            </a:r>
            <a:endParaRPr lang="en-US" sz="2500" dirty="0"/>
          </a:p>
        </p:txBody>
      </p:sp>
      <p:sp>
        <p:nvSpPr>
          <p:cNvPr id="9" name="Shape 7"/>
          <p:cNvSpPr/>
          <p:nvPr/>
        </p:nvSpPr>
        <p:spPr>
          <a:xfrm>
            <a:off x="548640" y="1371600"/>
            <a:ext cx="1051560" cy="45720"/>
          </a:xfrm>
          <a:prstGeom prst="rect">
            <a:avLst/>
          </a:prstGeom>
          <a:solidFill>
            <a:srgbClr val="2563EB"/>
          </a:solidFill>
          <a:ln/>
        </p:spPr>
      </p:sp>
      <p:sp>
        <p:nvSpPr>
          <p:cNvPr id="10" name="Text 8"/>
          <p:cNvSpPr/>
          <p:nvPr/>
        </p:nvSpPr>
        <p:spPr>
          <a:xfrm>
            <a:off x="548640" y="1572768"/>
            <a:ext cx="10972800" cy="365760"/>
          </a:xfrm>
          <a:prstGeom prst="rect">
            <a:avLst/>
          </a:prstGeom>
          <a:noFill/>
          <a:ln/>
        </p:spPr>
        <p:txBody>
          <a:bodyPr wrap="square" lIns="0" tIns="0" rIns="0" bIns="0" rtlCol="0" anchor="t"/>
          <a:lstStyle/>
          <a:p>
            <a:pPr indent="0" marL="0">
              <a:buNone/>
            </a:pPr>
            <a:r>
              <a:rPr lang="en-US" sz="1350" dirty="0">
                <a:solidFill>
                  <a:srgbClr val="3E4C63"/>
                </a:solidFill>
                <a:latin typeface="Calibri" pitchFamily="34" charset="0"/>
                <a:ea typeface="Calibri" pitchFamily="34" charset="-122"/>
                <a:cs typeface="Calibri" pitchFamily="34" charset="-120"/>
              </a:rPr>
              <a:t>Every should-cost now carries two ranges — the physics estimate, and an </a:t>
            </a:r>
            <a:pPr indent="0" marL="0">
              <a:buNone/>
            </a:pPr>
            <a:r>
              <a:rPr lang="en-US" sz="1350" b="1" dirty="0">
                <a:solidFill>
                  <a:srgbClr val="0F1E3D"/>
                </a:solidFill>
                <a:latin typeface="Calibri" pitchFamily="34" charset="0"/>
                <a:ea typeface="Calibri" pitchFamily="34" charset="-122"/>
                <a:cs typeface="Calibri" pitchFamily="34" charset="-120"/>
              </a:rPr>
              <a:t>empirical band proven against your own logged quotes.</a:t>
            </a:r>
            <a:endParaRPr lang="en-US" sz="1350" dirty="0"/>
          </a:p>
        </p:txBody>
      </p:sp>
      <p:sp>
        <p:nvSpPr>
          <p:cNvPr id="11" name="Shape 9"/>
          <p:cNvSpPr/>
          <p:nvPr/>
        </p:nvSpPr>
        <p:spPr>
          <a:xfrm>
            <a:off x="548640" y="2103120"/>
            <a:ext cx="5394960" cy="2331720"/>
          </a:xfrm>
          <a:prstGeom prst="roundRect">
            <a:avLst>
              <a:gd name="adj" fmla="val 2745"/>
            </a:avLst>
          </a:prstGeom>
          <a:solidFill>
            <a:srgbClr val="FFFFFF"/>
          </a:solidFill>
          <a:ln w="12700">
            <a:solidFill>
              <a:srgbClr val="E4EAF2"/>
            </a:solidFill>
            <a:prstDash val="solid"/>
          </a:ln>
          <a:effectLst>
            <a:outerShdw sx="100000" sy="100000" kx="0" ky="0" algn="bl" rotWithShape="0" blurRad="1.1561478866138256e+128" dist="3.303279676039501e+127" dir="1.1937991664919603e+150">
              <a:srgbClr val="9DB0CC">
                <a:alpha val="2.2000000000000004e+154"/>
              </a:srgbClr>
            </a:outerShdw>
          </a:effectLst>
        </p:spPr>
      </p:sp>
      <p:sp>
        <p:nvSpPr>
          <p:cNvPr id="12" name="Shape 10"/>
          <p:cNvSpPr/>
          <p:nvPr/>
        </p:nvSpPr>
        <p:spPr>
          <a:xfrm>
            <a:off x="548640" y="2103120"/>
            <a:ext cx="82296" cy="2331720"/>
          </a:xfrm>
          <a:prstGeom prst="rect">
            <a:avLst/>
          </a:prstGeom>
          <a:solidFill>
            <a:srgbClr val="2563EB"/>
          </a:solidFill>
          <a:ln/>
        </p:spPr>
      </p:sp>
      <p:sp>
        <p:nvSpPr>
          <p:cNvPr id="13" name="Shape 11"/>
          <p:cNvSpPr/>
          <p:nvPr/>
        </p:nvSpPr>
        <p:spPr>
          <a:xfrm>
            <a:off x="822960" y="2359152"/>
            <a:ext cx="457200" cy="457200"/>
          </a:xfrm>
          <a:prstGeom prst="ellipse">
            <a:avLst/>
          </a:prstGeom>
          <a:solidFill>
            <a:srgbClr val="EAF1FE"/>
          </a:solidFill>
          <a:ln/>
        </p:spPr>
      </p:sp>
      <p:sp>
        <p:nvSpPr>
          <p:cNvPr id="14" name="Text 12"/>
          <p:cNvSpPr/>
          <p:nvPr/>
        </p:nvSpPr>
        <p:spPr>
          <a:xfrm>
            <a:off x="822960" y="2350008"/>
            <a:ext cx="457200" cy="457200"/>
          </a:xfrm>
          <a:prstGeom prst="rect">
            <a:avLst/>
          </a:prstGeom>
          <a:noFill/>
          <a:ln/>
        </p:spPr>
        <p:txBody>
          <a:bodyPr wrap="square" lIns="0" tIns="0" rIns="0" bIns="0" rtlCol="0" anchor="ctr"/>
          <a:lstStyle/>
          <a:p>
            <a:pPr algn="ctr" indent="0" marL="0">
              <a:buNone/>
            </a:pPr>
            <a:r>
              <a:rPr lang="en-US" sz="1700" b="1" dirty="0">
                <a:solidFill>
                  <a:srgbClr val="2563EB"/>
                </a:solidFill>
                <a:latin typeface="Calibri" pitchFamily="34" charset="0"/>
                <a:ea typeface="Calibri" pitchFamily="34" charset="-122"/>
                <a:cs typeface="Calibri" pitchFamily="34" charset="-120"/>
              </a:rPr>
              <a:t>◈</a:t>
            </a:r>
            <a:endParaRPr lang="en-US" sz="1700" dirty="0"/>
          </a:p>
        </p:txBody>
      </p:sp>
      <p:sp>
        <p:nvSpPr>
          <p:cNvPr id="15" name="Text 13"/>
          <p:cNvSpPr/>
          <p:nvPr/>
        </p:nvSpPr>
        <p:spPr>
          <a:xfrm>
            <a:off x="1417320" y="2395728"/>
            <a:ext cx="429768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Physics prior (Monte-Carlo)</a:t>
            </a:r>
            <a:endParaRPr lang="en-US" sz="1400" dirty="0"/>
          </a:p>
        </p:txBody>
      </p:sp>
      <p:sp>
        <p:nvSpPr>
          <p:cNvPr id="16" name="Text 14"/>
          <p:cNvSpPr/>
          <p:nvPr/>
        </p:nvSpPr>
        <p:spPr>
          <a:xfrm>
            <a:off x="868680" y="3017520"/>
            <a:ext cx="4754880" cy="548640"/>
          </a:xfrm>
          <a:prstGeom prst="rect">
            <a:avLst/>
          </a:prstGeom>
          <a:noFill/>
          <a:ln/>
        </p:spPr>
        <p:txBody>
          <a:bodyPr wrap="square" lIns="0" tIns="0" rIns="0" bIns="0" rtlCol="0" anchor="t"/>
          <a:lstStyle/>
          <a:p>
            <a:pPr indent="0" marL="0">
              <a:lnSpc>
                <a:spcPct val="112000"/>
              </a:lnSpc>
              <a:buNone/>
            </a:pPr>
            <a:r>
              <a:rPr lang="en-US" sz="1200" dirty="0">
                <a:solidFill>
                  <a:srgbClr val="3E4C63"/>
                </a:solidFill>
                <a:latin typeface="Calibri" pitchFamily="34" charset="0"/>
                <a:ea typeface="Calibri" pitchFamily="34" charset="-122"/>
                <a:cs typeface="Calibri" pitchFamily="34" charset="-120"/>
              </a:rPr>
              <a:t>How well the inputs are known — before you have any real quotes.</a:t>
            </a:r>
            <a:endParaRPr lang="en-US" sz="1200" dirty="0"/>
          </a:p>
        </p:txBody>
      </p:sp>
      <p:sp>
        <p:nvSpPr>
          <p:cNvPr id="17" name="Shape 15"/>
          <p:cNvSpPr/>
          <p:nvPr/>
        </p:nvSpPr>
        <p:spPr>
          <a:xfrm>
            <a:off x="868680" y="3611880"/>
            <a:ext cx="4754880" cy="457200"/>
          </a:xfrm>
          <a:prstGeom prst="roundRect">
            <a:avLst>
              <a:gd name="adj" fmla="val 16000"/>
            </a:avLst>
          </a:prstGeom>
          <a:solidFill>
            <a:srgbClr val="EAF1FE"/>
          </a:solidFill>
          <a:ln/>
        </p:spPr>
      </p:sp>
      <p:sp>
        <p:nvSpPr>
          <p:cNvPr id="18" name="Text 16"/>
          <p:cNvSpPr/>
          <p:nvPr/>
        </p:nvSpPr>
        <p:spPr>
          <a:xfrm>
            <a:off x="868680" y="3611880"/>
            <a:ext cx="4754880" cy="457200"/>
          </a:xfrm>
          <a:prstGeom prst="rect">
            <a:avLst/>
          </a:prstGeom>
          <a:noFill/>
          <a:ln/>
        </p:spPr>
        <p:txBody>
          <a:bodyPr wrap="square" lIns="0" tIns="0" rIns="0" bIns="0" rtlCol="0" anchor="ctr"/>
          <a:lstStyle/>
          <a:p>
            <a:pPr algn="ctr" indent="0" marL="0">
              <a:buNone/>
            </a:pPr>
            <a:r>
              <a:rPr lang="en-US" sz="1400" b="1" dirty="0">
                <a:solidFill>
                  <a:srgbClr val="0F1E3D"/>
                </a:solidFill>
                <a:latin typeface="Calibri" pitchFamily="34" charset="0"/>
                <a:ea typeface="Calibri" pitchFamily="34" charset="-122"/>
                <a:cs typeface="Calibri" pitchFamily="34" charset="-120"/>
              </a:rPr>
              <a:t>Example:   £86.34   ± 3.4%</a:t>
            </a:r>
            <a:endParaRPr lang="en-US" sz="1400" dirty="0"/>
          </a:p>
        </p:txBody>
      </p:sp>
      <p:sp>
        <p:nvSpPr>
          <p:cNvPr id="19" name="Text 17"/>
          <p:cNvSpPr/>
          <p:nvPr/>
        </p:nvSpPr>
        <p:spPr>
          <a:xfrm>
            <a:off x="868680" y="4114800"/>
            <a:ext cx="4754880" cy="274320"/>
          </a:xfrm>
          <a:prstGeom prst="rect">
            <a:avLst/>
          </a:prstGeom>
          <a:noFill/>
          <a:ln/>
        </p:spPr>
        <p:txBody>
          <a:bodyPr wrap="square" lIns="0" tIns="0" rIns="0" bIns="0" rtlCol="0" anchor="t"/>
          <a:lstStyle/>
          <a:p>
            <a:pPr indent="0" marL="0">
              <a:buNone/>
            </a:pPr>
            <a:r>
              <a:rPr lang="en-US" sz="1000" i="1" dirty="0">
                <a:solidFill>
                  <a:srgbClr val="8A97A8"/>
                </a:solidFill>
                <a:latin typeface="Calibri" pitchFamily="34" charset="0"/>
                <a:ea typeface="Calibri" pitchFamily="34" charset="-122"/>
                <a:cs typeface="Calibri" pitchFamily="34" charset="-120"/>
              </a:rPr>
              <a:t>Always available — every part, every commodity.</a:t>
            </a:r>
            <a:endParaRPr lang="en-US" sz="1000" dirty="0"/>
          </a:p>
        </p:txBody>
      </p:sp>
      <p:sp>
        <p:nvSpPr>
          <p:cNvPr id="20" name="Shape 18"/>
          <p:cNvSpPr/>
          <p:nvPr/>
        </p:nvSpPr>
        <p:spPr>
          <a:xfrm>
            <a:off x="6245352" y="2103120"/>
            <a:ext cx="5394960" cy="2331720"/>
          </a:xfrm>
          <a:prstGeom prst="roundRect">
            <a:avLst>
              <a:gd name="adj" fmla="val 2745"/>
            </a:avLst>
          </a:prstGeom>
          <a:solidFill>
            <a:srgbClr val="E7F7F0"/>
          </a:solidFill>
          <a:ln w="12700">
            <a:solidFill>
              <a:srgbClr val="E4EAF2"/>
            </a:solidFill>
            <a:prstDash val="solid"/>
          </a:ln>
        </p:spPr>
      </p:sp>
      <p:sp>
        <p:nvSpPr>
          <p:cNvPr id="21" name="Shape 19"/>
          <p:cNvSpPr/>
          <p:nvPr/>
        </p:nvSpPr>
        <p:spPr>
          <a:xfrm>
            <a:off x="6245352" y="2103120"/>
            <a:ext cx="82296" cy="2331720"/>
          </a:xfrm>
          <a:prstGeom prst="rect">
            <a:avLst/>
          </a:prstGeom>
          <a:solidFill>
            <a:srgbClr val="0EA472"/>
          </a:solidFill>
          <a:ln/>
        </p:spPr>
      </p:sp>
      <p:sp>
        <p:nvSpPr>
          <p:cNvPr id="22" name="Shape 20"/>
          <p:cNvSpPr/>
          <p:nvPr/>
        </p:nvSpPr>
        <p:spPr>
          <a:xfrm>
            <a:off x="6519672" y="2359152"/>
            <a:ext cx="457200" cy="457200"/>
          </a:xfrm>
          <a:prstGeom prst="ellipse">
            <a:avLst/>
          </a:prstGeom>
          <a:solidFill>
            <a:srgbClr val="E7F7F0"/>
          </a:solidFill>
          <a:ln/>
        </p:spPr>
      </p:sp>
      <p:sp>
        <p:nvSpPr>
          <p:cNvPr id="23" name="Text 21"/>
          <p:cNvSpPr/>
          <p:nvPr/>
        </p:nvSpPr>
        <p:spPr>
          <a:xfrm>
            <a:off x="6519672" y="2350008"/>
            <a:ext cx="457200" cy="457200"/>
          </a:xfrm>
          <a:prstGeom prst="rect">
            <a:avLst/>
          </a:prstGeom>
          <a:noFill/>
          <a:ln/>
        </p:spPr>
        <p:txBody>
          <a:bodyPr wrap="square" lIns="0" tIns="0" rIns="0" bIns="0" rtlCol="0" anchor="ctr"/>
          <a:lstStyle/>
          <a:p>
            <a:pPr algn="ctr" indent="0" marL="0">
              <a:buNone/>
            </a:pPr>
            <a:r>
              <a:rPr lang="en-US" sz="1700" b="1" dirty="0">
                <a:solidFill>
                  <a:srgbClr val="0EA472"/>
                </a:solidFill>
                <a:latin typeface="Calibri" pitchFamily="34" charset="0"/>
                <a:ea typeface="Calibri" pitchFamily="34" charset="-122"/>
                <a:cs typeface="Calibri" pitchFamily="34" charset="-120"/>
              </a:rPr>
              <a:t>✓</a:t>
            </a:r>
            <a:endParaRPr lang="en-US" sz="1700" dirty="0"/>
          </a:p>
        </p:txBody>
      </p:sp>
      <p:sp>
        <p:nvSpPr>
          <p:cNvPr id="24" name="Text 22"/>
          <p:cNvSpPr/>
          <p:nvPr/>
        </p:nvSpPr>
        <p:spPr>
          <a:xfrm>
            <a:off x="7114032" y="2395728"/>
            <a:ext cx="4297680" cy="365760"/>
          </a:xfrm>
          <a:prstGeom prst="rect">
            <a:avLst/>
          </a:prstGeom>
          <a:noFill/>
          <a:ln/>
        </p:spPr>
        <p:txBody>
          <a:bodyPr wrap="square" lIns="0" tIns="0" rIns="0" bIns="0" rtlCol="0" anchor="ctr"/>
          <a:lstStyle/>
          <a:p>
            <a:pPr indent="0" marL="0">
              <a:buNone/>
            </a:pPr>
            <a:r>
              <a:rPr lang="en-US" sz="1400" b="1" dirty="0">
                <a:solidFill>
                  <a:srgbClr val="0EA472"/>
                </a:solidFill>
                <a:latin typeface="Calibri" pitchFamily="34" charset="0"/>
                <a:ea typeface="Calibri" pitchFamily="34" charset="-122"/>
                <a:cs typeface="Calibri" pitchFamily="34" charset="-120"/>
              </a:rPr>
              <a:t>Empirical band (conformal)</a:t>
            </a:r>
            <a:endParaRPr lang="en-US" sz="1400" dirty="0"/>
          </a:p>
        </p:txBody>
      </p:sp>
      <p:sp>
        <p:nvSpPr>
          <p:cNvPr id="25" name="Text 23"/>
          <p:cNvSpPr/>
          <p:nvPr/>
        </p:nvSpPr>
        <p:spPr>
          <a:xfrm>
            <a:off x="6565392" y="3017520"/>
            <a:ext cx="4754880" cy="548640"/>
          </a:xfrm>
          <a:prstGeom prst="rect">
            <a:avLst/>
          </a:prstGeom>
          <a:noFill/>
          <a:ln/>
        </p:spPr>
        <p:txBody>
          <a:bodyPr wrap="square" lIns="0" tIns="0" rIns="0" bIns="0" rtlCol="0" anchor="t"/>
          <a:lstStyle/>
          <a:p>
            <a:pPr indent="0" marL="0">
              <a:lnSpc>
                <a:spcPct val="112000"/>
              </a:lnSpc>
              <a:buNone/>
            </a:pPr>
            <a:r>
              <a:rPr lang="en-US" sz="1200" dirty="0">
                <a:solidFill>
                  <a:srgbClr val="3E4C63"/>
                </a:solidFill>
                <a:latin typeface="Calibri" pitchFamily="34" charset="0"/>
                <a:ea typeface="Calibri" pitchFamily="34" charset="-122"/>
                <a:cs typeface="Calibri" pitchFamily="34" charset="-120"/>
              </a:rPr>
              <a:t>Proven against the quotes YOU logged — with a coverage guarantee.</a:t>
            </a:r>
            <a:endParaRPr lang="en-US" sz="1200" dirty="0"/>
          </a:p>
        </p:txBody>
      </p:sp>
      <p:sp>
        <p:nvSpPr>
          <p:cNvPr id="26" name="Shape 24"/>
          <p:cNvSpPr/>
          <p:nvPr/>
        </p:nvSpPr>
        <p:spPr>
          <a:xfrm>
            <a:off x="6565392" y="3566160"/>
            <a:ext cx="4754880" cy="548640"/>
          </a:xfrm>
          <a:prstGeom prst="roundRect">
            <a:avLst>
              <a:gd name="adj" fmla="val 13333"/>
            </a:avLst>
          </a:prstGeom>
          <a:solidFill>
            <a:srgbClr val="FFFFFF"/>
          </a:solidFill>
          <a:ln w="12700">
            <a:solidFill>
              <a:srgbClr val="E4EAF2"/>
            </a:solidFill>
            <a:prstDash val="solid"/>
          </a:ln>
        </p:spPr>
      </p:sp>
      <p:sp>
        <p:nvSpPr>
          <p:cNvPr id="27" name="Text 25"/>
          <p:cNvSpPr/>
          <p:nvPr/>
        </p:nvSpPr>
        <p:spPr>
          <a:xfrm>
            <a:off x="6565392" y="3566160"/>
            <a:ext cx="4754880" cy="548640"/>
          </a:xfrm>
          <a:prstGeom prst="rect">
            <a:avLst/>
          </a:prstGeom>
          <a:noFill/>
          <a:ln/>
        </p:spPr>
        <p:txBody>
          <a:bodyPr wrap="square" lIns="0" tIns="0" rIns="0" bIns="0" rtlCol="0" anchor="ctr"/>
          <a:lstStyle/>
          <a:p>
            <a:pPr algn="ctr" indent="0" marL="0">
              <a:buNone/>
            </a:pPr>
            <a:r>
              <a:rPr lang="en-US" sz="1150" b="1" dirty="0">
                <a:solidFill>
                  <a:srgbClr val="0F1E3D"/>
                </a:solidFill>
                <a:latin typeface="Calibri" pitchFamily="34" charset="0"/>
                <a:ea typeface="Calibri" pitchFamily="34" charset="-122"/>
                <a:cs typeface="Calibri" pitchFamily="34" charset="-120"/>
              </a:rPr>
              <a:t>90% of your quotes land within </a:t>
            </a:r>
            <a:pPr algn="ctr" indent="0" marL="0">
              <a:buNone/>
            </a:pPr>
            <a:r>
              <a:rPr lang="en-US" sz="1150" b="1" dirty="0">
                <a:solidFill>
                  <a:srgbClr val="0EA472"/>
                </a:solidFill>
                <a:latin typeface="Calibri" pitchFamily="34" charset="0"/>
                <a:ea typeface="Calibri" pitchFamily="34" charset="-122"/>
                <a:cs typeface="Calibri" pitchFamily="34" charset="-120"/>
              </a:rPr>
              <a:t>± 6.5%</a:t>
            </a:r>
            <a:pPr algn="ctr" indent="0" marL="0">
              <a:buNone/>
            </a:pPr>
            <a:r>
              <a:rPr lang="en-US" sz="1150" b="1" dirty="0">
                <a:solidFill>
                  <a:srgbClr val="0F1E3D"/>
                </a:solidFill>
                <a:latin typeface="Calibri" pitchFamily="34" charset="0"/>
                <a:ea typeface="Calibri" pitchFamily="34" charset="-122"/>
                <a:cs typeface="Calibri" pitchFamily="34" charset="-120"/>
              </a:rPr>
              <a:t>  →  £81.54 – £92.88</a:t>
            </a:r>
            <a:endParaRPr lang="en-US" sz="1150" dirty="0"/>
          </a:p>
        </p:txBody>
      </p:sp>
      <p:sp>
        <p:nvSpPr>
          <p:cNvPr id="28" name="Text 26"/>
          <p:cNvSpPr/>
          <p:nvPr/>
        </p:nvSpPr>
        <p:spPr>
          <a:xfrm>
            <a:off x="6565392" y="4160520"/>
            <a:ext cx="4754880" cy="274320"/>
          </a:xfrm>
          <a:prstGeom prst="rect">
            <a:avLst/>
          </a:prstGeom>
          <a:noFill/>
          <a:ln/>
        </p:spPr>
        <p:txBody>
          <a:bodyPr wrap="square" lIns="0" tIns="0" rIns="0" bIns="0" rtlCol="0" anchor="t"/>
          <a:lstStyle/>
          <a:p>
            <a:pPr indent="0" marL="0">
              <a:buNone/>
            </a:pPr>
            <a:r>
              <a:rPr lang="en-US" sz="1000" i="1" dirty="0">
                <a:solidFill>
                  <a:srgbClr val="0EA472"/>
                </a:solidFill>
                <a:latin typeface="Calibri" pitchFamily="34" charset="0"/>
                <a:ea typeface="Calibri" pitchFamily="34" charset="-122"/>
                <a:cs typeface="Calibri" pitchFamily="34" charset="-120"/>
              </a:rPr>
              <a:t>Tightens automatically as more quotes are logged.</a:t>
            </a:r>
            <a:endParaRPr lang="en-US" sz="1000" dirty="0"/>
          </a:p>
        </p:txBody>
      </p:sp>
      <p:sp>
        <p:nvSpPr>
          <p:cNvPr id="29" name="Shape 27"/>
          <p:cNvSpPr/>
          <p:nvPr/>
        </p:nvSpPr>
        <p:spPr>
          <a:xfrm>
            <a:off x="548640" y="4663440"/>
            <a:ext cx="11091672" cy="1143000"/>
          </a:xfrm>
          <a:prstGeom prst="roundRect">
            <a:avLst>
              <a:gd name="adj" fmla="val 5600"/>
            </a:avLst>
          </a:prstGeom>
          <a:solidFill>
            <a:srgbClr val="EAF1FE"/>
          </a:solidFill>
          <a:ln w="12700">
            <a:solidFill>
              <a:srgbClr val="E4EAF2"/>
            </a:solidFill>
            <a:prstDash val="solid"/>
          </a:ln>
        </p:spPr>
      </p:sp>
      <p:sp>
        <p:nvSpPr>
          <p:cNvPr id="30" name="Shape 28"/>
          <p:cNvSpPr/>
          <p:nvPr/>
        </p:nvSpPr>
        <p:spPr>
          <a:xfrm>
            <a:off x="548640" y="4663440"/>
            <a:ext cx="82296" cy="1143000"/>
          </a:xfrm>
          <a:prstGeom prst="rect">
            <a:avLst/>
          </a:prstGeom>
          <a:solidFill>
            <a:srgbClr val="2563EB"/>
          </a:solidFill>
          <a:ln/>
        </p:spPr>
      </p:sp>
      <p:sp>
        <p:nvSpPr>
          <p:cNvPr id="31" name="Text 29"/>
          <p:cNvSpPr/>
          <p:nvPr/>
        </p:nvSpPr>
        <p:spPr>
          <a:xfrm>
            <a:off x="914400" y="4818888"/>
            <a:ext cx="10332720" cy="868680"/>
          </a:xfrm>
          <a:prstGeom prst="rect">
            <a:avLst/>
          </a:prstGeom>
          <a:noFill/>
          <a:ln/>
        </p:spPr>
        <p:txBody>
          <a:bodyPr wrap="square" lIns="0" tIns="0" rIns="0" bIns="0" rtlCol="0" anchor="t"/>
          <a:lstStyle/>
          <a:p>
            <a:pPr indent="0" marL="0">
              <a:lnSpc>
                <a:spcPct val="118000"/>
              </a:lnSpc>
              <a:buNone/>
            </a:pPr>
            <a:r>
              <a:rPr lang="en-US" sz="1200" b="1" dirty="0">
                <a:solidFill>
                  <a:srgbClr val="2563EB"/>
                </a:solidFill>
                <a:latin typeface="Calibri" pitchFamily="34" charset="0"/>
                <a:ea typeface="Calibri" pitchFamily="34" charset="-122"/>
                <a:cs typeface="Calibri" pitchFamily="34" charset="-120"/>
              </a:rPr>
              <a:t>Why it helps:   </a:t>
            </a:r>
            <a:pPr indent="0" marL="0">
              <a:lnSpc>
                <a:spcPct val="118000"/>
              </a:lnSpc>
              <a:buNone/>
            </a:pPr>
            <a:r>
              <a:rPr lang="en-US" sz="1200" dirty="0">
                <a:solidFill>
                  <a:srgbClr val="3E4C63"/>
                </a:solidFill>
                <a:latin typeface="Calibri" pitchFamily="34" charset="0"/>
                <a:ea typeface="Calibri" pitchFamily="34" charset="-122"/>
                <a:cs typeface="Calibri" pitchFamily="34" charset="-120"/>
              </a:rPr>
              <a:t>a buyer can't defend "trust me, ±5%". They CAN defend "90% of our real quotes for this family landed within ±6.5%." The band edge is an observed error — evidence, not an assertion. It is the honest uncertainty no competitor states this way.</a:t>
            </a:r>
            <a:endParaRPr lang="en-US" sz="1200" dirty="0"/>
          </a:p>
        </p:txBody>
      </p:sp>
      <p:sp>
        <p:nvSpPr>
          <p:cNvPr id="32" name="Shape 30"/>
          <p:cNvSpPr/>
          <p:nvPr/>
        </p:nvSpPr>
        <p:spPr>
          <a:xfrm>
            <a:off x="548640" y="6400800"/>
            <a:ext cx="11094415" cy="12802"/>
          </a:xfrm>
          <a:prstGeom prst="rect">
            <a:avLst/>
          </a:prstGeom>
          <a:solidFill>
            <a:srgbClr val="E4EAF2"/>
          </a:solidFill>
          <a:ln/>
        </p:spPr>
      </p:sp>
      <p:sp>
        <p:nvSpPr>
          <p:cNvPr id="33" name="Text 31"/>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Agentic AI Management Briefing</a:t>
            </a:r>
            <a:endParaRPr lang="en-US" sz="850" dirty="0"/>
          </a:p>
        </p:txBody>
      </p:sp>
      <p:sp>
        <p:nvSpPr>
          <p:cNvPr id="34" name="Text 32"/>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14 / 20</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7C3AED"/>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7C3AED"/>
                </a:solidFill>
                <a:latin typeface="Calibri" pitchFamily="34" charset="0"/>
                <a:ea typeface="Calibri" pitchFamily="34" charset="-122"/>
                <a:cs typeface="Calibri" pitchFamily="34" charset="-120"/>
              </a:rPr>
              <a:t>NEW IN 2026 · ADVANCED INTELLIGENCE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500" b="1" dirty="0">
                <a:solidFill>
                  <a:srgbClr val="0F1E3D"/>
                </a:solidFill>
                <a:latin typeface="Calibri" pitchFamily="34" charset="0"/>
                <a:ea typeface="Calibri" pitchFamily="34" charset="-122"/>
                <a:cs typeface="Calibri" pitchFamily="34" charset="-120"/>
              </a:rPr>
              <a:t>The agent learns what actually earns money</a:t>
            </a:r>
            <a:endParaRPr lang="en-US" sz="2500" dirty="0"/>
          </a:p>
        </p:txBody>
      </p:sp>
      <p:sp>
        <p:nvSpPr>
          <p:cNvPr id="9" name="Shape 7"/>
          <p:cNvSpPr/>
          <p:nvPr/>
        </p:nvSpPr>
        <p:spPr>
          <a:xfrm>
            <a:off x="548640" y="1371600"/>
            <a:ext cx="1051560" cy="45720"/>
          </a:xfrm>
          <a:prstGeom prst="rect">
            <a:avLst/>
          </a:prstGeom>
          <a:solidFill>
            <a:srgbClr val="7C3AED"/>
          </a:solidFill>
          <a:ln/>
        </p:spPr>
      </p:sp>
      <p:sp>
        <p:nvSpPr>
          <p:cNvPr id="10" name="Text 8"/>
          <p:cNvSpPr/>
          <p:nvPr/>
        </p:nvSpPr>
        <p:spPr>
          <a:xfrm>
            <a:off x="548640" y="1572768"/>
            <a:ext cx="11064240" cy="365760"/>
          </a:xfrm>
          <a:prstGeom prst="rect">
            <a:avLst/>
          </a:prstGeom>
          <a:noFill/>
          <a:ln/>
        </p:spPr>
        <p:txBody>
          <a:bodyPr wrap="square" lIns="0" tIns="0" rIns="0" bIns="0" rtlCol="0" anchor="t"/>
          <a:lstStyle/>
          <a:p>
            <a:pPr indent="0" marL="0">
              <a:buNone/>
            </a:pPr>
            <a:r>
              <a:rPr lang="en-US" sz="1350" dirty="0">
                <a:solidFill>
                  <a:srgbClr val="3E4C63"/>
                </a:solidFill>
                <a:latin typeface="Calibri" pitchFamily="34" charset="0"/>
                <a:ea typeface="Calibri" pitchFamily="34" charset="-122"/>
                <a:cs typeface="Calibri" pitchFamily="34" charset="-120"/>
              </a:rPr>
              <a:t>The agent no longer just finds gaps — it learns which findings </a:t>
            </a:r>
            <a:pPr indent="0" marL="0">
              <a:buNone/>
            </a:pPr>
            <a:r>
              <a:rPr lang="en-US" sz="1350" b="1" dirty="0">
                <a:solidFill>
                  <a:srgbClr val="0F1E3D"/>
                </a:solidFill>
                <a:latin typeface="Calibri" pitchFamily="34" charset="0"/>
                <a:ea typeface="Calibri" pitchFamily="34" charset="-122"/>
                <a:cs typeface="Calibri" pitchFamily="34" charset="-120"/>
              </a:rPr>
              <a:t>actually convert into savings, and re-ranks by the money it can really recover.</a:t>
            </a:r>
            <a:endParaRPr lang="en-US" sz="1350" dirty="0"/>
          </a:p>
        </p:txBody>
      </p:sp>
      <p:sp>
        <p:nvSpPr>
          <p:cNvPr id="11" name="Shape 9"/>
          <p:cNvSpPr/>
          <p:nvPr/>
        </p:nvSpPr>
        <p:spPr>
          <a:xfrm>
            <a:off x="548640" y="2103120"/>
            <a:ext cx="11091672" cy="457200"/>
          </a:xfrm>
          <a:prstGeom prst="roundRect">
            <a:avLst>
              <a:gd name="adj" fmla="val 10000"/>
            </a:avLst>
          </a:prstGeom>
          <a:solidFill>
            <a:srgbClr val="0F1E3D"/>
          </a:solidFill>
          <a:ln/>
        </p:spPr>
      </p:sp>
      <p:sp>
        <p:nvSpPr>
          <p:cNvPr id="12" name="Text 10"/>
          <p:cNvSpPr/>
          <p:nvPr/>
        </p:nvSpPr>
        <p:spPr>
          <a:xfrm>
            <a:off x="777240" y="2103120"/>
            <a:ext cx="3108960" cy="45720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Finding</a:t>
            </a:r>
            <a:endParaRPr lang="en-US" sz="1150" dirty="0"/>
          </a:p>
        </p:txBody>
      </p:sp>
      <p:sp>
        <p:nvSpPr>
          <p:cNvPr id="13" name="Text 11"/>
          <p:cNvSpPr/>
          <p:nvPr/>
        </p:nvSpPr>
        <p:spPr>
          <a:xfrm>
            <a:off x="4389120" y="2103120"/>
            <a:ext cx="3108960" cy="45720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Raw gap (impact)</a:t>
            </a:r>
            <a:endParaRPr lang="en-US" sz="1150" dirty="0"/>
          </a:p>
        </p:txBody>
      </p:sp>
      <p:sp>
        <p:nvSpPr>
          <p:cNvPr id="14" name="Text 12"/>
          <p:cNvSpPr/>
          <p:nvPr/>
        </p:nvSpPr>
        <p:spPr>
          <a:xfrm>
            <a:off x="7223760" y="2103120"/>
            <a:ext cx="3108960" cy="45720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Learned conversion</a:t>
            </a:r>
            <a:endParaRPr lang="en-US" sz="1150" dirty="0"/>
          </a:p>
        </p:txBody>
      </p:sp>
      <p:sp>
        <p:nvSpPr>
          <p:cNvPr id="15" name="Text 13"/>
          <p:cNvSpPr/>
          <p:nvPr/>
        </p:nvSpPr>
        <p:spPr>
          <a:xfrm>
            <a:off x="9784080" y="2103120"/>
            <a:ext cx="3108960" cy="45720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Expected realizable</a:t>
            </a:r>
            <a:endParaRPr lang="en-US" sz="1150" dirty="0"/>
          </a:p>
        </p:txBody>
      </p:sp>
      <p:sp>
        <p:nvSpPr>
          <p:cNvPr id="16" name="Shape 14"/>
          <p:cNvSpPr/>
          <p:nvPr/>
        </p:nvSpPr>
        <p:spPr>
          <a:xfrm>
            <a:off x="548640" y="2560320"/>
            <a:ext cx="11091672" cy="603504"/>
          </a:xfrm>
          <a:prstGeom prst="rect">
            <a:avLst/>
          </a:prstGeom>
          <a:solidFill>
            <a:srgbClr val="F4F7FB"/>
          </a:solidFill>
          <a:ln/>
        </p:spPr>
      </p:sp>
      <p:sp>
        <p:nvSpPr>
          <p:cNvPr id="17" name="Text 15"/>
          <p:cNvSpPr/>
          <p:nvPr/>
        </p:nvSpPr>
        <p:spPr>
          <a:xfrm>
            <a:off x="777240" y="2560320"/>
            <a:ext cx="3291840" cy="603504"/>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Cast Housing</a:t>
            </a:r>
            <a:endParaRPr lang="en-US" sz="1250" dirty="0"/>
          </a:p>
        </p:txBody>
      </p:sp>
      <p:sp>
        <p:nvSpPr>
          <p:cNvPr id="18" name="Text 16"/>
          <p:cNvSpPr/>
          <p:nvPr/>
        </p:nvSpPr>
        <p:spPr>
          <a:xfrm>
            <a:off x="4389120" y="2560320"/>
            <a:ext cx="2743200" cy="603504"/>
          </a:xfrm>
          <a:prstGeom prst="rect">
            <a:avLst/>
          </a:prstGeom>
          <a:noFill/>
          <a:ln/>
        </p:spPr>
        <p:txBody>
          <a:bodyPr wrap="square" lIns="0" tIns="0" rIns="0" bIns="0" rtlCol="0" anchor="ctr"/>
          <a:lstStyle/>
          <a:p>
            <a:pPr indent="0" marL="0">
              <a:buNone/>
            </a:pPr>
            <a:r>
              <a:rPr lang="en-US" sz="1200" dirty="0">
                <a:solidFill>
                  <a:srgbClr val="3E4C63"/>
                </a:solidFill>
                <a:latin typeface="Calibri" pitchFamily="34" charset="0"/>
                <a:ea typeface="Calibri" pitchFamily="34" charset="-122"/>
                <a:cs typeface="Calibri" pitchFamily="34" charset="-120"/>
              </a:rPr>
              <a:t>£200k / yr</a:t>
            </a:r>
            <a:endParaRPr lang="en-US" sz="1200" dirty="0"/>
          </a:p>
        </p:txBody>
      </p:sp>
      <p:sp>
        <p:nvSpPr>
          <p:cNvPr id="19" name="Text 17"/>
          <p:cNvSpPr/>
          <p:nvPr/>
        </p:nvSpPr>
        <p:spPr>
          <a:xfrm>
            <a:off x="7223760" y="2560320"/>
            <a:ext cx="2560320" cy="603504"/>
          </a:xfrm>
          <a:prstGeom prst="rect">
            <a:avLst/>
          </a:prstGeom>
          <a:noFill/>
          <a:ln/>
        </p:spPr>
        <p:txBody>
          <a:bodyPr wrap="square" lIns="0" tIns="0" rIns="0" bIns="0" rtlCol="0" anchor="ctr"/>
          <a:lstStyle/>
          <a:p>
            <a:pPr indent="0" marL="0">
              <a:buNone/>
            </a:pPr>
            <a:r>
              <a:rPr lang="en-US" sz="1200" dirty="0">
                <a:solidFill>
                  <a:srgbClr val="3E4C63"/>
                </a:solidFill>
                <a:latin typeface="Calibri" pitchFamily="34" charset="0"/>
                <a:ea typeface="Calibri" pitchFamily="34" charset="-122"/>
                <a:cs typeface="Calibri" pitchFamily="34" charset="-120"/>
              </a:rPr>
              <a:t>20% — rarely closes</a:t>
            </a:r>
            <a:endParaRPr lang="en-US" sz="1200" dirty="0"/>
          </a:p>
        </p:txBody>
      </p:sp>
      <p:sp>
        <p:nvSpPr>
          <p:cNvPr id="20" name="Shape 18"/>
          <p:cNvSpPr/>
          <p:nvPr/>
        </p:nvSpPr>
        <p:spPr>
          <a:xfrm>
            <a:off x="9784080" y="2706624"/>
            <a:ext cx="914400" cy="310896"/>
          </a:xfrm>
          <a:prstGeom prst="roundRect">
            <a:avLst>
              <a:gd name="adj" fmla="val 47059"/>
            </a:avLst>
          </a:prstGeom>
          <a:solidFill>
            <a:srgbClr val="FDECEC"/>
          </a:solidFill>
          <a:ln/>
        </p:spPr>
      </p:sp>
      <p:sp>
        <p:nvSpPr>
          <p:cNvPr id="21" name="Text 19"/>
          <p:cNvSpPr/>
          <p:nvPr/>
        </p:nvSpPr>
        <p:spPr>
          <a:xfrm>
            <a:off x="9784080" y="2706624"/>
            <a:ext cx="914400" cy="310896"/>
          </a:xfrm>
          <a:prstGeom prst="rect">
            <a:avLst/>
          </a:prstGeom>
          <a:noFill/>
          <a:ln/>
        </p:spPr>
        <p:txBody>
          <a:bodyPr wrap="square" lIns="0" tIns="0" rIns="0" bIns="0" rtlCol="0" anchor="ctr"/>
          <a:lstStyle/>
          <a:p>
            <a:pPr algn="ctr" indent="0" marL="0">
              <a:buNone/>
            </a:pPr>
            <a:r>
              <a:rPr lang="en-US" sz="1250" b="1" dirty="0">
                <a:solidFill>
                  <a:srgbClr val="E5484D"/>
                </a:solidFill>
                <a:latin typeface="Calibri" pitchFamily="34" charset="0"/>
                <a:ea typeface="Calibri" pitchFamily="34" charset="-122"/>
                <a:cs typeface="Calibri" pitchFamily="34" charset="-120"/>
              </a:rPr>
              <a:t>£40k</a:t>
            </a:r>
            <a:endParaRPr lang="en-US" sz="1250" dirty="0"/>
          </a:p>
        </p:txBody>
      </p:sp>
      <p:sp>
        <p:nvSpPr>
          <p:cNvPr id="22" name="Shape 20"/>
          <p:cNvSpPr/>
          <p:nvPr/>
        </p:nvSpPr>
        <p:spPr>
          <a:xfrm>
            <a:off x="548640" y="3163824"/>
            <a:ext cx="11091672" cy="603504"/>
          </a:xfrm>
          <a:prstGeom prst="rect">
            <a:avLst/>
          </a:prstGeom>
          <a:solidFill>
            <a:srgbClr val="FFFFFF"/>
          </a:solidFill>
          <a:ln/>
        </p:spPr>
      </p:sp>
      <p:sp>
        <p:nvSpPr>
          <p:cNvPr id="23" name="Text 21"/>
          <p:cNvSpPr/>
          <p:nvPr/>
        </p:nvSpPr>
        <p:spPr>
          <a:xfrm>
            <a:off x="777240" y="3163824"/>
            <a:ext cx="3291840" cy="603504"/>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Machined Knuckle</a:t>
            </a:r>
            <a:endParaRPr lang="en-US" sz="1250" dirty="0"/>
          </a:p>
        </p:txBody>
      </p:sp>
      <p:sp>
        <p:nvSpPr>
          <p:cNvPr id="24" name="Text 22"/>
          <p:cNvSpPr/>
          <p:nvPr/>
        </p:nvSpPr>
        <p:spPr>
          <a:xfrm>
            <a:off x="4389120" y="3163824"/>
            <a:ext cx="2743200" cy="603504"/>
          </a:xfrm>
          <a:prstGeom prst="rect">
            <a:avLst/>
          </a:prstGeom>
          <a:noFill/>
          <a:ln/>
        </p:spPr>
        <p:txBody>
          <a:bodyPr wrap="square" lIns="0" tIns="0" rIns="0" bIns="0" rtlCol="0" anchor="ctr"/>
          <a:lstStyle/>
          <a:p>
            <a:pPr indent="0" marL="0">
              <a:buNone/>
            </a:pPr>
            <a:r>
              <a:rPr lang="en-US" sz="1200" dirty="0">
                <a:solidFill>
                  <a:srgbClr val="3E4C63"/>
                </a:solidFill>
                <a:latin typeface="Calibri" pitchFamily="34" charset="0"/>
                <a:ea typeface="Calibri" pitchFamily="34" charset="-122"/>
                <a:cs typeface="Calibri" pitchFamily="34" charset="-120"/>
              </a:rPr>
              <a:t>£100k / yr</a:t>
            </a:r>
            <a:endParaRPr lang="en-US" sz="1200" dirty="0"/>
          </a:p>
        </p:txBody>
      </p:sp>
      <p:sp>
        <p:nvSpPr>
          <p:cNvPr id="25" name="Text 23"/>
          <p:cNvSpPr/>
          <p:nvPr/>
        </p:nvSpPr>
        <p:spPr>
          <a:xfrm>
            <a:off x="7223760" y="3163824"/>
            <a:ext cx="2560320" cy="603504"/>
          </a:xfrm>
          <a:prstGeom prst="rect">
            <a:avLst/>
          </a:prstGeom>
          <a:noFill/>
          <a:ln/>
        </p:spPr>
        <p:txBody>
          <a:bodyPr wrap="square" lIns="0" tIns="0" rIns="0" bIns="0" rtlCol="0" anchor="ctr"/>
          <a:lstStyle/>
          <a:p>
            <a:pPr indent="0" marL="0">
              <a:buNone/>
            </a:pPr>
            <a:r>
              <a:rPr lang="en-US" sz="1200" dirty="0">
                <a:solidFill>
                  <a:srgbClr val="3E4C63"/>
                </a:solidFill>
                <a:latin typeface="Calibri" pitchFamily="34" charset="0"/>
                <a:ea typeface="Calibri" pitchFamily="34" charset="-122"/>
                <a:cs typeface="Calibri" pitchFamily="34" charset="-120"/>
              </a:rPr>
              <a:t>80% — usually closes</a:t>
            </a:r>
            <a:endParaRPr lang="en-US" sz="1200" dirty="0"/>
          </a:p>
        </p:txBody>
      </p:sp>
      <p:sp>
        <p:nvSpPr>
          <p:cNvPr id="26" name="Shape 24"/>
          <p:cNvSpPr/>
          <p:nvPr/>
        </p:nvSpPr>
        <p:spPr>
          <a:xfrm>
            <a:off x="9784080" y="3310128"/>
            <a:ext cx="914400" cy="310896"/>
          </a:xfrm>
          <a:prstGeom prst="roundRect">
            <a:avLst>
              <a:gd name="adj" fmla="val 47059"/>
            </a:avLst>
          </a:prstGeom>
          <a:solidFill>
            <a:srgbClr val="E7F7F0"/>
          </a:solidFill>
          <a:ln/>
        </p:spPr>
      </p:sp>
      <p:sp>
        <p:nvSpPr>
          <p:cNvPr id="27" name="Text 25"/>
          <p:cNvSpPr/>
          <p:nvPr/>
        </p:nvSpPr>
        <p:spPr>
          <a:xfrm>
            <a:off x="9784080" y="3310128"/>
            <a:ext cx="914400" cy="310896"/>
          </a:xfrm>
          <a:prstGeom prst="rect">
            <a:avLst/>
          </a:prstGeom>
          <a:noFill/>
          <a:ln/>
        </p:spPr>
        <p:txBody>
          <a:bodyPr wrap="square" lIns="0" tIns="0" rIns="0" bIns="0" rtlCol="0" anchor="ctr"/>
          <a:lstStyle/>
          <a:p>
            <a:pPr algn="ctr" indent="0" marL="0">
              <a:buNone/>
            </a:pPr>
            <a:r>
              <a:rPr lang="en-US" sz="1250" b="1" dirty="0">
                <a:solidFill>
                  <a:srgbClr val="0EA472"/>
                </a:solidFill>
                <a:latin typeface="Calibri" pitchFamily="34" charset="0"/>
                <a:ea typeface="Calibri" pitchFamily="34" charset="-122"/>
                <a:cs typeface="Calibri" pitchFamily="34" charset="-120"/>
              </a:rPr>
              <a:t>£80k</a:t>
            </a:r>
            <a:endParaRPr lang="en-US" sz="1250" dirty="0"/>
          </a:p>
        </p:txBody>
      </p:sp>
      <p:sp>
        <p:nvSpPr>
          <p:cNvPr id="28" name="Shape 26"/>
          <p:cNvSpPr/>
          <p:nvPr/>
        </p:nvSpPr>
        <p:spPr>
          <a:xfrm>
            <a:off x="548640" y="3886200"/>
            <a:ext cx="11091672" cy="822960"/>
          </a:xfrm>
          <a:prstGeom prst="roundRect">
            <a:avLst>
              <a:gd name="adj" fmla="val 7778"/>
            </a:avLst>
          </a:prstGeom>
          <a:solidFill>
            <a:srgbClr val="F3EEFE"/>
          </a:solidFill>
          <a:ln w="12700">
            <a:solidFill>
              <a:srgbClr val="E4EAF2"/>
            </a:solidFill>
            <a:prstDash val="solid"/>
          </a:ln>
        </p:spPr>
      </p:sp>
      <p:sp>
        <p:nvSpPr>
          <p:cNvPr id="29" name="Shape 27"/>
          <p:cNvSpPr/>
          <p:nvPr/>
        </p:nvSpPr>
        <p:spPr>
          <a:xfrm>
            <a:off x="548640" y="3886200"/>
            <a:ext cx="82296" cy="822960"/>
          </a:xfrm>
          <a:prstGeom prst="rect">
            <a:avLst/>
          </a:prstGeom>
          <a:solidFill>
            <a:srgbClr val="7C3AED"/>
          </a:solidFill>
          <a:ln/>
        </p:spPr>
      </p:sp>
      <p:sp>
        <p:nvSpPr>
          <p:cNvPr id="30" name="Text 28"/>
          <p:cNvSpPr/>
          <p:nvPr/>
        </p:nvSpPr>
        <p:spPr>
          <a:xfrm>
            <a:off x="914400" y="3886200"/>
            <a:ext cx="10332720" cy="822960"/>
          </a:xfrm>
          <a:prstGeom prst="rect">
            <a:avLst/>
          </a:prstGeom>
          <a:noFill/>
          <a:ln/>
        </p:spPr>
        <p:txBody>
          <a:bodyPr wrap="square" lIns="0" tIns="0" rIns="0" bIns="0" rtlCol="0" anchor="ctr"/>
          <a:lstStyle/>
          <a:p>
            <a:pPr indent="0" marL="0">
              <a:lnSpc>
                <a:spcPct val="115000"/>
              </a:lnSpc>
              <a:buNone/>
            </a:pPr>
            <a:r>
              <a:rPr lang="en-US" sz="1200" b="1" dirty="0">
                <a:solidFill>
                  <a:srgbClr val="7C3AED"/>
                </a:solidFill>
                <a:latin typeface="Calibri" pitchFamily="34" charset="0"/>
                <a:ea typeface="Calibri" pitchFamily="34" charset="-122"/>
                <a:cs typeface="Calibri" pitchFamily="34" charset="-120"/>
              </a:rPr>
              <a:t>The result:  </a:t>
            </a:r>
            <a:pPr indent="0" marL="0">
              <a:lnSpc>
                <a:spcPct val="115000"/>
              </a:lnSpc>
              <a:buNone/>
            </a:pPr>
            <a:r>
              <a:rPr lang="en-US" sz="1200" dirty="0">
                <a:solidFill>
                  <a:srgbClr val="3E4C63"/>
                </a:solidFill>
                <a:latin typeface="Calibri" pitchFamily="34" charset="0"/>
                <a:ea typeface="Calibri" pitchFamily="34" charset="-122"/>
                <a:cs typeface="Calibri" pitchFamily="34" charset="-120"/>
              </a:rPr>
              <a:t>the machining finding — HALF the raw gap — now ranks ABOVE the casting one, because the agent learned casting renegotiations don't close. It stops shouting about theoretical money and surfaces the money you can get.</a:t>
            </a:r>
            <a:endParaRPr lang="en-US" sz="1200" dirty="0"/>
          </a:p>
        </p:txBody>
      </p:sp>
      <p:sp>
        <p:nvSpPr>
          <p:cNvPr id="31" name="Shape 29"/>
          <p:cNvSpPr/>
          <p:nvPr/>
        </p:nvSpPr>
        <p:spPr>
          <a:xfrm>
            <a:off x="548640" y="4828032"/>
            <a:ext cx="11091672" cy="749808"/>
          </a:xfrm>
          <a:prstGeom prst="roundRect">
            <a:avLst>
              <a:gd name="adj" fmla="val 8537"/>
            </a:avLst>
          </a:prstGeom>
          <a:solidFill>
            <a:srgbClr val="F4F7FB"/>
          </a:solidFill>
          <a:ln w="12700">
            <a:solidFill>
              <a:srgbClr val="E4EAF2"/>
            </a:solidFill>
            <a:prstDash val="solid"/>
          </a:ln>
        </p:spPr>
      </p:sp>
      <p:sp>
        <p:nvSpPr>
          <p:cNvPr id="32" name="Text 30"/>
          <p:cNvSpPr/>
          <p:nvPr/>
        </p:nvSpPr>
        <p:spPr>
          <a:xfrm>
            <a:off x="914400" y="4828032"/>
            <a:ext cx="10332720" cy="749808"/>
          </a:xfrm>
          <a:prstGeom prst="rect">
            <a:avLst/>
          </a:prstGeom>
          <a:noFill/>
          <a:ln/>
        </p:spPr>
        <p:txBody>
          <a:bodyPr wrap="square" lIns="0" tIns="0" rIns="0" bIns="0" rtlCol="0" anchor="ctr"/>
          <a:lstStyle/>
          <a:p>
            <a:pPr indent="0" marL="0">
              <a:lnSpc>
                <a:spcPct val="112000"/>
              </a:lnSpc>
              <a:buNone/>
            </a:pPr>
            <a:r>
              <a:rPr lang="en-US" sz="1150" b="1" dirty="0">
                <a:solidFill>
                  <a:srgbClr val="0EA472"/>
                </a:solidFill>
                <a:latin typeface="Calibri" pitchFamily="34" charset="0"/>
                <a:ea typeface="Calibri" pitchFamily="34" charset="-122"/>
                <a:cs typeface="Calibri" pitchFamily="34" charset="-120"/>
              </a:rPr>
              <a:t>Why it helps:  </a:t>
            </a:r>
            <a:pPr indent="0" marL="0">
              <a:lnSpc>
                <a:spcPct val="112000"/>
              </a:lnSpc>
              <a:buNone/>
            </a:pPr>
            <a:r>
              <a:rPr lang="en-US" sz="1150" dirty="0">
                <a:solidFill>
                  <a:srgbClr val="3E4C63"/>
                </a:solidFill>
                <a:latin typeface="Calibri" pitchFamily="34" charset="0"/>
                <a:ea typeface="Calibri" pitchFamily="34" charset="-122"/>
                <a:cs typeface="Calibri" pitchFamily="34" charset="-120"/>
              </a:rPr>
              <a:t>sourcing time is scarce — the agent spends it where the return is real, and tracks the £ actually saved so you can prove the tool paid for itself. One click ("Actioned £") teaches it after every negotiation.</a:t>
            </a:r>
            <a:endParaRPr lang="en-US" sz="1150" dirty="0"/>
          </a:p>
        </p:txBody>
      </p:sp>
      <p:sp>
        <p:nvSpPr>
          <p:cNvPr id="33" name="Shape 31"/>
          <p:cNvSpPr/>
          <p:nvPr/>
        </p:nvSpPr>
        <p:spPr>
          <a:xfrm>
            <a:off x="548640" y="6400800"/>
            <a:ext cx="11094415" cy="12802"/>
          </a:xfrm>
          <a:prstGeom prst="rect">
            <a:avLst/>
          </a:prstGeom>
          <a:solidFill>
            <a:srgbClr val="E4EAF2"/>
          </a:solidFill>
          <a:ln/>
        </p:spPr>
      </p:sp>
      <p:sp>
        <p:nvSpPr>
          <p:cNvPr id="34" name="Text 32"/>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Agentic AI Management Briefing</a:t>
            </a:r>
            <a:endParaRPr lang="en-US" sz="850" dirty="0"/>
          </a:p>
        </p:txBody>
      </p:sp>
      <p:sp>
        <p:nvSpPr>
          <p:cNvPr id="35" name="Text 33"/>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15 / 20</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93B0"/>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93B0"/>
                </a:solidFill>
                <a:latin typeface="Calibri" pitchFamily="34" charset="0"/>
                <a:ea typeface="Calibri" pitchFamily="34" charset="-122"/>
                <a:cs typeface="Calibri" pitchFamily="34" charset="-120"/>
              </a:rPr>
              <a:t>NEW IN 2026 · ADVANCED INTELLIGENCE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500" b="1" dirty="0">
                <a:solidFill>
                  <a:srgbClr val="0F1E3D"/>
                </a:solidFill>
                <a:latin typeface="Calibri" pitchFamily="34" charset="0"/>
                <a:ea typeface="Calibri" pitchFamily="34" charset="-122"/>
                <a:cs typeface="Calibri" pitchFamily="34" charset="-120"/>
              </a:rPr>
              <a:t>The negotiation coach — it hands you the argument</a:t>
            </a:r>
            <a:endParaRPr lang="en-US" sz="2500" dirty="0"/>
          </a:p>
        </p:txBody>
      </p:sp>
      <p:sp>
        <p:nvSpPr>
          <p:cNvPr id="9" name="Shape 7"/>
          <p:cNvSpPr/>
          <p:nvPr/>
        </p:nvSpPr>
        <p:spPr>
          <a:xfrm>
            <a:off x="548640" y="1371600"/>
            <a:ext cx="1051560" cy="45720"/>
          </a:xfrm>
          <a:prstGeom prst="rect">
            <a:avLst/>
          </a:prstGeom>
          <a:solidFill>
            <a:srgbClr val="0E93B0"/>
          </a:solidFill>
          <a:ln/>
        </p:spPr>
      </p:sp>
      <p:sp>
        <p:nvSpPr>
          <p:cNvPr id="10" name="Text 8"/>
          <p:cNvSpPr/>
          <p:nvPr/>
        </p:nvSpPr>
        <p:spPr>
          <a:xfrm>
            <a:off x="548640" y="1572768"/>
            <a:ext cx="11064240" cy="365760"/>
          </a:xfrm>
          <a:prstGeom prst="rect">
            <a:avLst/>
          </a:prstGeom>
          <a:noFill/>
          <a:ln/>
        </p:spPr>
        <p:txBody>
          <a:bodyPr wrap="square" lIns="0" tIns="0" rIns="0" bIns="0" rtlCol="0" anchor="t"/>
          <a:lstStyle/>
          <a:p>
            <a:pPr indent="0" marL="0">
              <a:buNone/>
            </a:pPr>
            <a:r>
              <a:rPr lang="en-US" sz="1350" dirty="0">
                <a:solidFill>
                  <a:srgbClr val="3E4C63"/>
                </a:solidFill>
                <a:latin typeface="Calibri" pitchFamily="34" charset="0"/>
                <a:ea typeface="Calibri" pitchFamily="34" charset="-122"/>
                <a:cs typeface="Calibri" pitchFamily="34" charset="-120"/>
              </a:rPr>
              <a:t>The tool now knows </a:t>
            </a:r>
            <a:pPr indent="0" marL="0">
              <a:buNone/>
            </a:pPr>
            <a:r>
              <a:rPr lang="en-US" sz="1350" b="1" i="1" dirty="0">
                <a:solidFill>
                  <a:srgbClr val="0F1E3D"/>
                </a:solidFill>
                <a:latin typeface="Calibri" pitchFamily="34" charset="0"/>
                <a:ea typeface="Calibri" pitchFamily="34" charset="-122"/>
                <a:cs typeface="Calibri" pitchFamily="34" charset="-120"/>
              </a:rPr>
              <a:t>why</a:t>
            </a:r>
            <a:pPr indent="0" marL="0">
              <a:buNone/>
            </a:pPr>
            <a:r>
              <a:rPr lang="en-US" sz="1350" dirty="0">
                <a:solidFill>
                  <a:srgbClr val="3E4C63"/>
                </a:solidFill>
                <a:latin typeface="Calibri" pitchFamily="34" charset="0"/>
                <a:ea typeface="Calibri" pitchFamily="34" charset="-122"/>
                <a:cs typeface="Calibri" pitchFamily="34" charset="-120"/>
              </a:rPr>
              <a:t> a part costs what it does — and turns that into the sentence that wins the negotiation.</a:t>
            </a:r>
            <a:endParaRPr lang="en-US" sz="1350" dirty="0"/>
          </a:p>
        </p:txBody>
      </p:sp>
      <p:sp>
        <p:nvSpPr>
          <p:cNvPr id="11" name="Shape 9"/>
          <p:cNvSpPr/>
          <p:nvPr/>
        </p:nvSpPr>
        <p:spPr>
          <a:xfrm>
            <a:off x="548640" y="2057400"/>
            <a:ext cx="11091672" cy="1783080"/>
          </a:xfrm>
          <a:prstGeom prst="roundRect">
            <a:avLst>
              <a:gd name="adj" fmla="val 3590"/>
            </a:avLst>
          </a:prstGeom>
          <a:solidFill>
            <a:srgbClr val="E8F6FA"/>
          </a:solidFill>
          <a:ln w="12700">
            <a:solidFill>
              <a:srgbClr val="E4EAF2"/>
            </a:solidFill>
            <a:prstDash val="solid"/>
          </a:ln>
        </p:spPr>
      </p:sp>
      <p:sp>
        <p:nvSpPr>
          <p:cNvPr id="12" name="Shape 10"/>
          <p:cNvSpPr/>
          <p:nvPr/>
        </p:nvSpPr>
        <p:spPr>
          <a:xfrm>
            <a:off x="548640" y="2057400"/>
            <a:ext cx="82296" cy="1783080"/>
          </a:xfrm>
          <a:prstGeom prst="rect">
            <a:avLst/>
          </a:prstGeom>
          <a:solidFill>
            <a:srgbClr val="0E93B0"/>
          </a:solidFill>
          <a:ln/>
        </p:spPr>
      </p:sp>
      <p:sp>
        <p:nvSpPr>
          <p:cNvPr id="13" name="Text 11"/>
          <p:cNvSpPr/>
          <p:nvPr/>
        </p:nvSpPr>
        <p:spPr>
          <a:xfrm>
            <a:off x="868680" y="2240280"/>
            <a:ext cx="10515600" cy="320040"/>
          </a:xfrm>
          <a:prstGeom prst="rect">
            <a:avLst/>
          </a:prstGeom>
          <a:noFill/>
          <a:ln/>
        </p:spPr>
        <p:txBody>
          <a:bodyPr wrap="square" lIns="0" tIns="0" rIns="0" bIns="0" rtlCol="0" anchor="t"/>
          <a:lstStyle/>
          <a:p>
            <a:pPr indent="0" marL="0">
              <a:buNone/>
            </a:pPr>
            <a:r>
              <a:rPr lang="en-US" sz="1200" b="1" dirty="0">
                <a:solidFill>
                  <a:srgbClr val="0E93B0"/>
                </a:solidFill>
                <a:latin typeface="Calibri" pitchFamily="34" charset="0"/>
                <a:ea typeface="Calibri" pitchFamily="34" charset="-122"/>
                <a:cs typeface="Calibri" pitchFamily="34" charset="-120"/>
              </a:rPr>
              <a:t>◈  Live example — real output from the tool</a:t>
            </a:r>
            <a:endParaRPr lang="en-US" sz="1200" dirty="0"/>
          </a:p>
        </p:txBody>
      </p:sp>
      <p:sp>
        <p:nvSpPr>
          <p:cNvPr id="14" name="Text 12"/>
          <p:cNvSpPr/>
          <p:nvPr/>
        </p:nvSpPr>
        <p:spPr>
          <a:xfrm>
            <a:off x="868680" y="2624328"/>
            <a:ext cx="10424160" cy="1097280"/>
          </a:xfrm>
          <a:prstGeom prst="rect">
            <a:avLst/>
          </a:prstGeom>
          <a:noFill/>
          <a:ln/>
        </p:spPr>
        <p:txBody>
          <a:bodyPr wrap="square" lIns="0" tIns="0" rIns="0" bIns="0" rtlCol="0" anchor="t"/>
          <a:lstStyle/>
          <a:p>
            <a:pPr indent="0" marL="0">
              <a:lnSpc>
                <a:spcPct val="130000"/>
              </a:lnSpc>
              <a:buNone/>
            </a:pPr>
            <a:r>
              <a:rPr lang="en-US" sz="1400" b="1" dirty="0">
                <a:solidFill>
                  <a:srgbClr val="0F1E3D"/>
                </a:solidFill>
                <a:latin typeface="Calibri" pitchFamily="34" charset="0"/>
                <a:ea typeface="Calibri" pitchFamily="34" charset="-122"/>
                <a:cs typeface="Calibri" pitchFamily="34" charset="-120"/>
              </a:rPr>
              <a:t>"Material is £8.39 of this part, driven by Aluminium. Every 1% move in the Aluminium index shifts the piece price by £0.11.  </a:t>
            </a:r>
            <a:pPr indent="0" marL="0">
              <a:lnSpc>
                <a:spcPct val="130000"/>
              </a:lnSpc>
              <a:buNone/>
            </a:pPr>
            <a:r>
              <a:rPr lang="en-US" sz="1400" b="1" dirty="0">
                <a:solidFill>
                  <a:srgbClr val="7C3AED"/>
                </a:solidFill>
                <a:latin typeface="Calibri" pitchFamily="34" charset="0"/>
                <a:ea typeface="Calibri" pitchFamily="34" charset="-122"/>
                <a:cs typeface="Calibri" pitchFamily="34" charset="-120"/>
              </a:rPr>
              <a:t>A quote of £95 is only justified if Aluminium were ~14% above today's index — ask the supplier to show that, or hold at £86.34."</a:t>
            </a:r>
            <a:endParaRPr lang="en-US" sz="1400" dirty="0"/>
          </a:p>
        </p:txBody>
      </p:sp>
      <p:sp>
        <p:nvSpPr>
          <p:cNvPr id="15" name="Shape 13"/>
          <p:cNvSpPr/>
          <p:nvPr/>
        </p:nvSpPr>
        <p:spPr>
          <a:xfrm>
            <a:off x="548640" y="4069080"/>
            <a:ext cx="5394960" cy="1600200"/>
          </a:xfrm>
          <a:prstGeom prst="roundRect">
            <a:avLst>
              <a:gd name="adj" fmla="val 4000"/>
            </a:avLst>
          </a:prstGeom>
          <a:solidFill>
            <a:srgbClr val="FFFFFF"/>
          </a:solidFill>
          <a:ln w="12700">
            <a:solidFill>
              <a:srgbClr val="E4EAF2"/>
            </a:solidFill>
            <a:prstDash val="solid"/>
          </a:ln>
          <a:effectLst>
            <a:outerShdw sx="100000" sy="100000" kx="0" ky="0" algn="bl" rotWithShape="0" blurRad="1.4683078159995586e+132" dist="4.195165188570166e+131" dir="7.162794998951762e+154">
              <a:srgbClr val="9DB0CC">
                <a:alpha val="2.2000000000000003e+159"/>
              </a:srgbClr>
            </a:outerShdw>
          </a:effectLst>
        </p:spPr>
      </p:sp>
      <p:sp>
        <p:nvSpPr>
          <p:cNvPr id="16" name="Text 14"/>
          <p:cNvSpPr/>
          <p:nvPr/>
        </p:nvSpPr>
        <p:spPr>
          <a:xfrm>
            <a:off x="841248" y="4251960"/>
            <a:ext cx="4846320" cy="320040"/>
          </a:xfrm>
          <a:prstGeom prst="rect">
            <a:avLst/>
          </a:prstGeom>
          <a:noFill/>
          <a:ln/>
        </p:spPr>
        <p:txBody>
          <a:bodyPr wrap="square" lIns="0" tIns="0" rIns="0" bIns="0" rtlCol="0" anchor="t"/>
          <a:lstStyle/>
          <a:p>
            <a:pPr indent="0" marL="0">
              <a:buNone/>
            </a:pPr>
            <a:r>
              <a:rPr lang="en-US" sz="1350" b="1" dirty="0">
                <a:solidFill>
                  <a:srgbClr val="0F1E3D"/>
                </a:solidFill>
                <a:latin typeface="Calibri" pitchFamily="34" charset="0"/>
                <a:ea typeface="Calibri" pitchFamily="34" charset="-122"/>
                <a:cs typeface="Calibri" pitchFamily="34" charset="-120"/>
              </a:rPr>
              <a:t>What it does</a:t>
            </a:r>
            <a:endParaRPr lang="en-US" sz="1350" dirty="0"/>
          </a:p>
        </p:txBody>
      </p:sp>
      <p:sp>
        <p:nvSpPr>
          <p:cNvPr id="17" name="Text 15"/>
          <p:cNvSpPr/>
          <p:nvPr/>
        </p:nvSpPr>
        <p:spPr>
          <a:xfrm>
            <a:off x="841248" y="4636008"/>
            <a:ext cx="4846320" cy="914400"/>
          </a:xfrm>
          <a:prstGeom prst="rect">
            <a:avLst/>
          </a:prstGeom>
          <a:noFill/>
          <a:ln/>
        </p:spPr>
        <p:txBody>
          <a:bodyPr wrap="square" lIns="0" tIns="0" rIns="0" bIns="0" rtlCol="0" anchor="t"/>
          <a:lstStyle/>
          <a:p>
            <a:pPr indent="0" marL="0">
              <a:lnSpc>
                <a:spcPct val="118000"/>
              </a:lnSpc>
              <a:buNone/>
            </a:pPr>
            <a:r>
              <a:rPr lang="en-US" sz="1150" dirty="0">
                <a:solidFill>
                  <a:srgbClr val="3E4C63"/>
                </a:solidFill>
                <a:latin typeface="Calibri" pitchFamily="34" charset="0"/>
                <a:ea typeface="Calibri" pitchFamily="34" charset="-122"/>
                <a:cs typeface="Calibri" pitchFamily="34" charset="-120"/>
              </a:rPr>
              <a:t>Links the material to its commodity index, then works out — through the same maths the engine uses — exactly how much a supplier's price implies the metal has moved.</a:t>
            </a:r>
            <a:endParaRPr lang="en-US" sz="1150" dirty="0"/>
          </a:p>
        </p:txBody>
      </p:sp>
      <p:sp>
        <p:nvSpPr>
          <p:cNvPr id="18" name="Shape 16"/>
          <p:cNvSpPr/>
          <p:nvPr/>
        </p:nvSpPr>
        <p:spPr>
          <a:xfrm>
            <a:off x="6245352" y="4069080"/>
            <a:ext cx="5394960" cy="1600200"/>
          </a:xfrm>
          <a:prstGeom prst="roundRect">
            <a:avLst>
              <a:gd name="adj" fmla="val 4000"/>
            </a:avLst>
          </a:prstGeom>
          <a:solidFill>
            <a:srgbClr val="E7F7F0"/>
          </a:solidFill>
          <a:ln w="12700">
            <a:solidFill>
              <a:srgbClr val="E4EAF2"/>
            </a:solidFill>
            <a:prstDash val="solid"/>
          </a:ln>
        </p:spPr>
      </p:sp>
      <p:sp>
        <p:nvSpPr>
          <p:cNvPr id="19" name="Text 17"/>
          <p:cNvSpPr/>
          <p:nvPr/>
        </p:nvSpPr>
        <p:spPr>
          <a:xfrm>
            <a:off x="6537960" y="4251960"/>
            <a:ext cx="4846320" cy="320040"/>
          </a:xfrm>
          <a:prstGeom prst="rect">
            <a:avLst/>
          </a:prstGeom>
          <a:noFill/>
          <a:ln/>
        </p:spPr>
        <p:txBody>
          <a:bodyPr wrap="square" lIns="0" tIns="0" rIns="0" bIns="0" rtlCol="0" anchor="t"/>
          <a:lstStyle/>
          <a:p>
            <a:pPr indent="0" marL="0">
              <a:buNone/>
            </a:pPr>
            <a:r>
              <a:rPr lang="en-US" sz="1350" b="1" dirty="0">
                <a:solidFill>
                  <a:srgbClr val="0EA472"/>
                </a:solidFill>
                <a:latin typeface="Calibri" pitchFamily="34" charset="0"/>
                <a:ea typeface="Calibri" pitchFamily="34" charset="-122"/>
                <a:cs typeface="Calibri" pitchFamily="34" charset="-120"/>
              </a:rPr>
              <a:t>Why it helps</a:t>
            </a:r>
            <a:endParaRPr lang="en-US" sz="1350" dirty="0"/>
          </a:p>
        </p:txBody>
      </p:sp>
      <p:sp>
        <p:nvSpPr>
          <p:cNvPr id="20" name="Text 18"/>
          <p:cNvSpPr/>
          <p:nvPr/>
        </p:nvSpPr>
        <p:spPr>
          <a:xfrm>
            <a:off x="6537960" y="4636008"/>
            <a:ext cx="4846320" cy="914400"/>
          </a:xfrm>
          <a:prstGeom prst="rect">
            <a:avLst/>
          </a:prstGeom>
          <a:noFill/>
          <a:ln/>
        </p:spPr>
        <p:txBody>
          <a:bodyPr wrap="square" lIns="0" tIns="0" rIns="0" bIns="0" rtlCol="0" anchor="t"/>
          <a:lstStyle/>
          <a:p>
            <a:pPr indent="0" marL="0">
              <a:lnSpc>
                <a:spcPct val="118000"/>
              </a:lnSpc>
              <a:buNone/>
            </a:pPr>
            <a:r>
              <a:rPr lang="en-US" sz="1150" dirty="0">
                <a:solidFill>
                  <a:srgbClr val="3E4C63"/>
                </a:solidFill>
                <a:latin typeface="Calibri" pitchFamily="34" charset="0"/>
                <a:ea typeface="Calibri" pitchFamily="34" charset="-122"/>
                <a:cs typeface="Calibri" pitchFamily="34" charset="-120"/>
              </a:rPr>
              <a:t>The buyer walks in with a defensible, arithmetic counter-argument instead of "that feels high". It converts should-cost into negotiating power — the number and the words to win with it.</a:t>
            </a:r>
            <a:endParaRPr lang="en-US" sz="1150" dirty="0"/>
          </a:p>
        </p:txBody>
      </p:sp>
      <p:sp>
        <p:nvSpPr>
          <p:cNvPr id="21" name="Shape 19"/>
          <p:cNvSpPr/>
          <p:nvPr/>
        </p:nvSpPr>
        <p:spPr>
          <a:xfrm>
            <a:off x="548640" y="6400800"/>
            <a:ext cx="11094415" cy="12802"/>
          </a:xfrm>
          <a:prstGeom prst="rect">
            <a:avLst/>
          </a:prstGeom>
          <a:solidFill>
            <a:srgbClr val="E4EAF2"/>
          </a:solidFill>
          <a:ln/>
        </p:spPr>
      </p:sp>
      <p:sp>
        <p:nvSpPr>
          <p:cNvPr id="22" name="Text 20"/>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Agentic AI Management Briefing</a:t>
            </a:r>
            <a:endParaRPr lang="en-US" sz="850" dirty="0"/>
          </a:p>
        </p:txBody>
      </p:sp>
      <p:sp>
        <p:nvSpPr>
          <p:cNvPr id="23" name="Text 21"/>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16 / 20</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E0900C"/>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E0900C"/>
                </a:solidFill>
                <a:latin typeface="Calibri" pitchFamily="34" charset="0"/>
                <a:ea typeface="Calibri" pitchFamily="34" charset="-122"/>
                <a:cs typeface="Calibri" pitchFamily="34" charset="-120"/>
              </a:rPr>
              <a:t>NEW IN 2026 · ADVANCED INTELLIGENCE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500" b="1" dirty="0">
                <a:solidFill>
                  <a:srgbClr val="0F1E3D"/>
                </a:solidFill>
                <a:latin typeface="Calibri" pitchFamily="34" charset="0"/>
                <a:ea typeface="Calibri" pitchFamily="34" charset="-122"/>
                <a:cs typeface="Calibri" pitchFamily="34" charset="-120"/>
              </a:rPr>
              <a:t>Cost weather on demand — the what-if engine</a:t>
            </a:r>
            <a:endParaRPr lang="en-US" sz="2500" dirty="0"/>
          </a:p>
        </p:txBody>
      </p:sp>
      <p:sp>
        <p:nvSpPr>
          <p:cNvPr id="9" name="Shape 7"/>
          <p:cNvSpPr/>
          <p:nvPr/>
        </p:nvSpPr>
        <p:spPr>
          <a:xfrm>
            <a:off x="548640" y="1371600"/>
            <a:ext cx="1051560" cy="45720"/>
          </a:xfrm>
          <a:prstGeom prst="rect">
            <a:avLst/>
          </a:prstGeom>
          <a:solidFill>
            <a:srgbClr val="E0900C"/>
          </a:solidFill>
          <a:ln/>
        </p:spPr>
      </p:sp>
      <p:sp>
        <p:nvSpPr>
          <p:cNvPr id="10" name="Text 8"/>
          <p:cNvSpPr/>
          <p:nvPr/>
        </p:nvSpPr>
        <p:spPr>
          <a:xfrm>
            <a:off x="548640" y="1572768"/>
            <a:ext cx="11064240" cy="365760"/>
          </a:xfrm>
          <a:prstGeom prst="rect">
            <a:avLst/>
          </a:prstGeom>
          <a:noFill/>
          <a:ln/>
        </p:spPr>
        <p:txBody>
          <a:bodyPr wrap="square" lIns="0" tIns="0" rIns="0" bIns="0" rtlCol="0" anchor="t"/>
          <a:lstStyle/>
          <a:p>
            <a:pPr indent="0" marL="0">
              <a:buNone/>
            </a:pPr>
            <a:r>
              <a:rPr lang="en-US" sz="1350" dirty="0">
                <a:solidFill>
                  <a:srgbClr val="3E4C63"/>
                </a:solidFill>
                <a:latin typeface="Calibri" pitchFamily="34" charset="0"/>
                <a:ea typeface="Calibri" pitchFamily="34" charset="-122"/>
                <a:cs typeface="Calibri" pitchFamily="34" charset="-120"/>
              </a:rPr>
              <a:t>Ask "what if a commodity moves?" and get the answer instantly — for one part, or the whole portfolio.</a:t>
            </a:r>
            <a:endParaRPr lang="en-US" sz="1350" dirty="0"/>
          </a:p>
        </p:txBody>
      </p:sp>
      <p:sp>
        <p:nvSpPr>
          <p:cNvPr id="11" name="Shape 9"/>
          <p:cNvSpPr/>
          <p:nvPr/>
        </p:nvSpPr>
        <p:spPr>
          <a:xfrm>
            <a:off x="548640" y="2103120"/>
            <a:ext cx="5394960" cy="2468880"/>
          </a:xfrm>
          <a:prstGeom prst="roundRect">
            <a:avLst>
              <a:gd name="adj" fmla="val 2593"/>
            </a:avLst>
          </a:prstGeom>
          <a:solidFill>
            <a:srgbClr val="FFFFFF"/>
          </a:solidFill>
          <a:ln w="12700">
            <a:solidFill>
              <a:srgbClr val="E4EAF2"/>
            </a:solidFill>
            <a:prstDash val="solid"/>
          </a:ln>
          <a:effectLst>
            <a:outerShdw sx="100000" sy="100000" kx="0" ky="0" algn="bl" rotWithShape="0" blurRad="1.8647509263194394e+136" dist="5.327859789484111e+135" dir="4.297676999371057e+159">
              <a:srgbClr val="9DB0CC">
                <a:alpha val="2.2000000000000003e+164"/>
              </a:srgbClr>
            </a:outerShdw>
          </a:effectLst>
        </p:spPr>
      </p:sp>
      <p:sp>
        <p:nvSpPr>
          <p:cNvPr id="12" name="Shape 10"/>
          <p:cNvSpPr/>
          <p:nvPr/>
        </p:nvSpPr>
        <p:spPr>
          <a:xfrm>
            <a:off x="548640" y="2103120"/>
            <a:ext cx="82296" cy="2468880"/>
          </a:xfrm>
          <a:prstGeom prst="rect">
            <a:avLst/>
          </a:prstGeom>
          <a:solidFill>
            <a:srgbClr val="2563EB"/>
          </a:solidFill>
          <a:ln/>
        </p:spPr>
      </p:sp>
      <p:sp>
        <p:nvSpPr>
          <p:cNvPr id="13" name="Shape 11"/>
          <p:cNvSpPr/>
          <p:nvPr/>
        </p:nvSpPr>
        <p:spPr>
          <a:xfrm>
            <a:off x="822960" y="2359152"/>
            <a:ext cx="457200" cy="457200"/>
          </a:xfrm>
          <a:prstGeom prst="ellipse">
            <a:avLst/>
          </a:prstGeom>
          <a:solidFill>
            <a:srgbClr val="EAF1FE"/>
          </a:solidFill>
          <a:ln/>
        </p:spPr>
      </p:sp>
      <p:sp>
        <p:nvSpPr>
          <p:cNvPr id="14" name="Text 12"/>
          <p:cNvSpPr/>
          <p:nvPr/>
        </p:nvSpPr>
        <p:spPr>
          <a:xfrm>
            <a:off x="822960" y="2350008"/>
            <a:ext cx="457200" cy="457200"/>
          </a:xfrm>
          <a:prstGeom prst="rect">
            <a:avLst/>
          </a:prstGeom>
          <a:noFill/>
          <a:ln/>
        </p:spPr>
        <p:txBody>
          <a:bodyPr wrap="square" lIns="0" tIns="0" rIns="0" bIns="0" rtlCol="0" anchor="ctr"/>
          <a:lstStyle/>
          <a:p>
            <a:pPr algn="ctr" indent="0" marL="0">
              <a:buNone/>
            </a:pPr>
            <a:r>
              <a:rPr lang="en-US" sz="1600" b="1" dirty="0">
                <a:solidFill>
                  <a:srgbClr val="2563EB"/>
                </a:solidFill>
                <a:latin typeface="Calibri" pitchFamily="34" charset="0"/>
                <a:ea typeface="Calibri" pitchFamily="34" charset="-122"/>
                <a:cs typeface="Calibri" pitchFamily="34" charset="-120"/>
              </a:rPr>
              <a:t>◧</a:t>
            </a:r>
            <a:endParaRPr lang="en-US" sz="1600" dirty="0"/>
          </a:p>
        </p:txBody>
      </p:sp>
      <p:sp>
        <p:nvSpPr>
          <p:cNvPr id="15" name="Text 13"/>
          <p:cNvSpPr/>
          <p:nvPr/>
        </p:nvSpPr>
        <p:spPr>
          <a:xfrm>
            <a:off x="1417320" y="2395728"/>
            <a:ext cx="429768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One part — the live slider</a:t>
            </a:r>
            <a:endParaRPr lang="en-US" sz="1400" dirty="0"/>
          </a:p>
        </p:txBody>
      </p:sp>
      <p:sp>
        <p:nvSpPr>
          <p:cNvPr id="16" name="Text 14"/>
          <p:cNvSpPr/>
          <p:nvPr/>
        </p:nvSpPr>
        <p:spPr>
          <a:xfrm>
            <a:off x="868680" y="3017520"/>
            <a:ext cx="4754880" cy="548640"/>
          </a:xfrm>
          <a:prstGeom prst="rect">
            <a:avLst/>
          </a:prstGeom>
          <a:noFill/>
          <a:ln/>
        </p:spPr>
        <p:txBody>
          <a:bodyPr wrap="square" lIns="0" tIns="0" rIns="0" bIns="0" rtlCol="0" anchor="t"/>
          <a:lstStyle/>
          <a:p>
            <a:pPr indent="0" marL="0">
              <a:lnSpc>
                <a:spcPct val="112000"/>
              </a:lnSpc>
              <a:buNone/>
            </a:pPr>
            <a:r>
              <a:rPr lang="en-US" sz="1200" dirty="0">
                <a:solidFill>
                  <a:srgbClr val="3E4C63"/>
                </a:solidFill>
                <a:latin typeface="Calibri" pitchFamily="34" charset="0"/>
                <a:ea typeface="Calibri" pitchFamily="34" charset="-122"/>
                <a:cs typeface="Calibri" pitchFamily="34" charset="-120"/>
              </a:rPr>
              <a:t>Drag a commodity −20% … +20% and the piece price recomputes as you move.</a:t>
            </a:r>
            <a:endParaRPr lang="en-US" sz="1200" dirty="0"/>
          </a:p>
        </p:txBody>
      </p:sp>
      <p:sp>
        <p:nvSpPr>
          <p:cNvPr id="17" name="Shape 15"/>
          <p:cNvSpPr/>
          <p:nvPr/>
        </p:nvSpPr>
        <p:spPr>
          <a:xfrm>
            <a:off x="868680" y="3611880"/>
            <a:ext cx="4754880" cy="457200"/>
          </a:xfrm>
          <a:prstGeom prst="roundRect">
            <a:avLst>
              <a:gd name="adj" fmla="val 16000"/>
            </a:avLst>
          </a:prstGeom>
          <a:solidFill>
            <a:srgbClr val="EAF1FE"/>
          </a:solidFill>
          <a:ln/>
        </p:spPr>
      </p:sp>
      <p:sp>
        <p:nvSpPr>
          <p:cNvPr id="18" name="Text 16"/>
          <p:cNvSpPr/>
          <p:nvPr/>
        </p:nvSpPr>
        <p:spPr>
          <a:xfrm>
            <a:off x="868680" y="3611880"/>
            <a:ext cx="4754880" cy="457200"/>
          </a:xfrm>
          <a:prstGeom prst="rect">
            <a:avLst/>
          </a:prstGeom>
          <a:noFill/>
          <a:ln/>
        </p:spPr>
        <p:txBody>
          <a:bodyPr wrap="square" lIns="0" tIns="0" rIns="0" bIns="0" rtlCol="0" anchor="ctr"/>
          <a:lstStyle/>
          <a:p>
            <a:pPr algn="ctr" indent="0" marL="0">
              <a:buNone/>
            </a:pPr>
            <a:r>
              <a:rPr lang="en-US" sz="1300" b="1" dirty="0">
                <a:solidFill>
                  <a:srgbClr val="0F1E3D"/>
                </a:solidFill>
                <a:latin typeface="Calibri" pitchFamily="34" charset="0"/>
                <a:ea typeface="Calibri" pitchFamily="34" charset="-122"/>
                <a:cs typeface="Calibri" pitchFamily="34" charset="-120"/>
              </a:rPr>
              <a:t>Aluminium +15%   →   £86.34 → £87.92</a:t>
            </a:r>
            <a:endParaRPr lang="en-US" sz="1300" dirty="0"/>
          </a:p>
        </p:txBody>
      </p:sp>
      <p:sp>
        <p:nvSpPr>
          <p:cNvPr id="19" name="Text 17"/>
          <p:cNvSpPr/>
          <p:nvPr/>
        </p:nvSpPr>
        <p:spPr>
          <a:xfrm>
            <a:off x="868680" y="4133088"/>
            <a:ext cx="4754880" cy="274320"/>
          </a:xfrm>
          <a:prstGeom prst="rect">
            <a:avLst/>
          </a:prstGeom>
          <a:noFill/>
          <a:ln/>
        </p:spPr>
        <p:txBody>
          <a:bodyPr wrap="square" lIns="0" tIns="0" rIns="0" bIns="0" rtlCol="0" anchor="t"/>
          <a:lstStyle/>
          <a:p>
            <a:pPr indent="0" marL="0">
              <a:buNone/>
            </a:pPr>
            <a:r>
              <a:rPr lang="en-US" sz="1000" i="1" dirty="0">
                <a:solidFill>
                  <a:srgbClr val="8A97A8"/>
                </a:solidFill>
                <a:latin typeface="Calibri" pitchFamily="34" charset="0"/>
                <a:ea typeface="Calibri" pitchFamily="34" charset="-122"/>
                <a:cs typeface="Calibri" pitchFamily="34" charset="-120"/>
              </a:rPr>
              <a:t>Instant sensitivity in a single gesture.</a:t>
            </a:r>
            <a:endParaRPr lang="en-US" sz="1000" dirty="0"/>
          </a:p>
        </p:txBody>
      </p:sp>
      <p:sp>
        <p:nvSpPr>
          <p:cNvPr id="20" name="Shape 18"/>
          <p:cNvSpPr/>
          <p:nvPr/>
        </p:nvSpPr>
        <p:spPr>
          <a:xfrm>
            <a:off x="6245352" y="2103120"/>
            <a:ext cx="5394960" cy="2468880"/>
          </a:xfrm>
          <a:prstGeom prst="roundRect">
            <a:avLst>
              <a:gd name="adj" fmla="val 2593"/>
            </a:avLst>
          </a:prstGeom>
          <a:solidFill>
            <a:srgbClr val="FFFFFF"/>
          </a:solidFill>
          <a:ln w="12700">
            <a:solidFill>
              <a:srgbClr val="E4EAF2"/>
            </a:solidFill>
            <a:prstDash val="solid"/>
          </a:ln>
          <a:effectLst>
            <a:outerShdw sx="100000" sy="100000" kx="0" ky="0" algn="bl" rotWithShape="0" blurRad="2.368233676425688e+140" dist="6.766381932644821e+139" dir="2.5786061996226343e+164">
              <a:srgbClr val="9DB0CC">
                <a:alpha val="2.2000000000000004e+169"/>
              </a:srgbClr>
            </a:outerShdw>
          </a:effectLst>
        </p:spPr>
      </p:sp>
      <p:sp>
        <p:nvSpPr>
          <p:cNvPr id="21" name="Shape 19"/>
          <p:cNvSpPr/>
          <p:nvPr/>
        </p:nvSpPr>
        <p:spPr>
          <a:xfrm>
            <a:off x="6245352" y="2103120"/>
            <a:ext cx="82296" cy="2468880"/>
          </a:xfrm>
          <a:prstGeom prst="rect">
            <a:avLst/>
          </a:prstGeom>
          <a:solidFill>
            <a:srgbClr val="7C3AED"/>
          </a:solidFill>
          <a:ln/>
        </p:spPr>
      </p:sp>
      <p:sp>
        <p:nvSpPr>
          <p:cNvPr id="22" name="Shape 20"/>
          <p:cNvSpPr/>
          <p:nvPr/>
        </p:nvSpPr>
        <p:spPr>
          <a:xfrm>
            <a:off x="6519672" y="2359152"/>
            <a:ext cx="457200" cy="457200"/>
          </a:xfrm>
          <a:prstGeom prst="ellipse">
            <a:avLst/>
          </a:prstGeom>
          <a:solidFill>
            <a:srgbClr val="F3EEFE"/>
          </a:solidFill>
          <a:ln/>
        </p:spPr>
      </p:sp>
      <p:sp>
        <p:nvSpPr>
          <p:cNvPr id="23" name="Text 21"/>
          <p:cNvSpPr/>
          <p:nvPr/>
        </p:nvSpPr>
        <p:spPr>
          <a:xfrm>
            <a:off x="6519672" y="2350008"/>
            <a:ext cx="457200" cy="457200"/>
          </a:xfrm>
          <a:prstGeom prst="rect">
            <a:avLst/>
          </a:prstGeom>
          <a:noFill/>
          <a:ln/>
        </p:spPr>
        <p:txBody>
          <a:bodyPr wrap="square" lIns="0" tIns="0" rIns="0" bIns="0" rtlCol="0" anchor="ctr"/>
          <a:lstStyle/>
          <a:p>
            <a:pPr algn="ctr" indent="0" marL="0">
              <a:buNone/>
            </a:pPr>
            <a:r>
              <a:rPr lang="en-US" sz="1600" b="1" dirty="0">
                <a:solidFill>
                  <a:srgbClr val="7C3AED"/>
                </a:solidFill>
                <a:latin typeface="Calibri" pitchFamily="34" charset="0"/>
                <a:ea typeface="Calibri" pitchFamily="34" charset="-122"/>
                <a:cs typeface="Calibri" pitchFamily="34" charset="-120"/>
              </a:rPr>
              <a:t>◫</a:t>
            </a:r>
            <a:endParaRPr lang="en-US" sz="1600" dirty="0"/>
          </a:p>
        </p:txBody>
      </p:sp>
      <p:sp>
        <p:nvSpPr>
          <p:cNvPr id="24" name="Text 22"/>
          <p:cNvSpPr/>
          <p:nvPr/>
        </p:nvSpPr>
        <p:spPr>
          <a:xfrm>
            <a:off x="7114032" y="2395728"/>
            <a:ext cx="4297680" cy="365760"/>
          </a:xfrm>
          <a:prstGeom prst="rect">
            <a:avLst/>
          </a:prstGeom>
          <a:noFill/>
          <a:ln/>
        </p:spPr>
        <p:txBody>
          <a:bodyPr wrap="square" lIns="0" tIns="0" rIns="0" bIns="0" rtlCol="0" anchor="ctr"/>
          <a:lstStyle/>
          <a:p>
            <a:pPr indent="0" marL="0">
              <a:buNone/>
            </a:pPr>
            <a:r>
              <a:rPr lang="en-US" sz="1400" b="1" dirty="0">
                <a:solidFill>
                  <a:srgbClr val="7C3AED"/>
                </a:solidFill>
                <a:latin typeface="Calibri" pitchFamily="34" charset="0"/>
                <a:ea typeface="Calibri" pitchFamily="34" charset="-122"/>
                <a:cs typeface="Calibri" pitchFamily="34" charset="-120"/>
              </a:rPr>
              <a:t>Whole portfolio — the scenario</a:t>
            </a:r>
            <a:endParaRPr lang="en-US" sz="1400" dirty="0"/>
          </a:p>
        </p:txBody>
      </p:sp>
      <p:sp>
        <p:nvSpPr>
          <p:cNvPr id="25" name="Text 23"/>
          <p:cNvSpPr/>
          <p:nvPr/>
        </p:nvSpPr>
        <p:spPr>
          <a:xfrm>
            <a:off x="6565392" y="3017520"/>
            <a:ext cx="4754880" cy="548640"/>
          </a:xfrm>
          <a:prstGeom prst="rect">
            <a:avLst/>
          </a:prstGeom>
          <a:noFill/>
          <a:ln/>
        </p:spPr>
        <p:txBody>
          <a:bodyPr wrap="square" lIns="0" tIns="0" rIns="0" bIns="0" rtlCol="0" anchor="t"/>
          <a:lstStyle/>
          <a:p>
            <a:pPr indent="0" marL="0">
              <a:lnSpc>
                <a:spcPct val="112000"/>
              </a:lnSpc>
              <a:buNone/>
            </a:pPr>
            <a:r>
              <a:rPr lang="en-US" sz="1200" dirty="0">
                <a:solidFill>
                  <a:srgbClr val="3E4C63"/>
                </a:solidFill>
                <a:latin typeface="Calibri" pitchFamily="34" charset="0"/>
                <a:ea typeface="Calibri" pitchFamily="34" charset="-122"/>
                <a:cs typeface="Calibri" pitchFamily="34" charset="-120"/>
              </a:rPr>
              <a:t>Apply a move across every part at once and see who changes status.</a:t>
            </a:r>
            <a:endParaRPr lang="en-US" sz="1200" dirty="0"/>
          </a:p>
        </p:txBody>
      </p:sp>
      <p:sp>
        <p:nvSpPr>
          <p:cNvPr id="26" name="Shape 24"/>
          <p:cNvSpPr/>
          <p:nvPr/>
        </p:nvSpPr>
        <p:spPr>
          <a:xfrm>
            <a:off x="6565392" y="3611880"/>
            <a:ext cx="4754880" cy="457200"/>
          </a:xfrm>
          <a:prstGeom prst="roundRect">
            <a:avLst>
              <a:gd name="adj" fmla="val 16000"/>
            </a:avLst>
          </a:prstGeom>
          <a:solidFill>
            <a:srgbClr val="F3EEFE"/>
          </a:solidFill>
          <a:ln/>
        </p:spPr>
      </p:sp>
      <p:sp>
        <p:nvSpPr>
          <p:cNvPr id="27" name="Text 25"/>
          <p:cNvSpPr/>
          <p:nvPr/>
        </p:nvSpPr>
        <p:spPr>
          <a:xfrm>
            <a:off x="6565392" y="3611880"/>
            <a:ext cx="4754880" cy="457200"/>
          </a:xfrm>
          <a:prstGeom prst="rect">
            <a:avLst/>
          </a:prstGeom>
          <a:noFill/>
          <a:ln/>
        </p:spPr>
        <p:txBody>
          <a:bodyPr wrap="square" lIns="0" tIns="0" rIns="0" bIns="0" rtlCol="0" anchor="ctr"/>
          <a:lstStyle/>
          <a:p>
            <a:pPr algn="ctr" indent="0" marL="0">
              <a:buNone/>
            </a:pPr>
            <a:r>
              <a:rPr lang="en-US" sz="1300" b="1" dirty="0">
                <a:solidFill>
                  <a:srgbClr val="0F1E3D"/>
                </a:solidFill>
                <a:latin typeface="Calibri" pitchFamily="34" charset="0"/>
                <a:ea typeface="Calibri" pitchFamily="34" charset="-122"/>
                <a:cs typeface="Calibri" pitchFamily="34" charset="-120"/>
              </a:rPr>
              <a:t>Steel +10%   →   7 parts cross underwater</a:t>
            </a:r>
            <a:endParaRPr lang="en-US" sz="1300" dirty="0"/>
          </a:p>
        </p:txBody>
      </p:sp>
      <p:sp>
        <p:nvSpPr>
          <p:cNvPr id="28" name="Text 26"/>
          <p:cNvSpPr/>
          <p:nvPr/>
        </p:nvSpPr>
        <p:spPr>
          <a:xfrm>
            <a:off x="6565392" y="4133088"/>
            <a:ext cx="4754880" cy="274320"/>
          </a:xfrm>
          <a:prstGeom prst="rect">
            <a:avLst/>
          </a:prstGeom>
          <a:noFill/>
          <a:ln/>
        </p:spPr>
        <p:txBody>
          <a:bodyPr wrap="square" lIns="0" tIns="0" rIns="0" bIns="0" rtlCol="0" anchor="t"/>
          <a:lstStyle/>
          <a:p>
            <a:pPr indent="0" marL="0">
              <a:buNone/>
            </a:pPr>
            <a:r>
              <a:rPr lang="en-US" sz="1000" i="1" dirty="0">
                <a:solidFill>
                  <a:srgbClr val="8A97A8"/>
                </a:solidFill>
                <a:latin typeface="Calibri" pitchFamily="34" charset="0"/>
                <a:ea typeface="Calibri" pitchFamily="34" charset="-122"/>
                <a:cs typeface="Calibri" pitchFamily="34" charset="-120"/>
              </a:rPr>
              <a:t>Pre-empt losses before the market moves them.</a:t>
            </a:r>
            <a:endParaRPr lang="en-US" sz="1000" dirty="0"/>
          </a:p>
        </p:txBody>
      </p:sp>
      <p:sp>
        <p:nvSpPr>
          <p:cNvPr id="29" name="Shape 27"/>
          <p:cNvSpPr/>
          <p:nvPr/>
        </p:nvSpPr>
        <p:spPr>
          <a:xfrm>
            <a:off x="548640" y="4800600"/>
            <a:ext cx="11091672" cy="914400"/>
          </a:xfrm>
          <a:prstGeom prst="roundRect">
            <a:avLst>
              <a:gd name="adj" fmla="val 7000"/>
            </a:avLst>
          </a:prstGeom>
          <a:solidFill>
            <a:srgbClr val="FEF6E7"/>
          </a:solidFill>
          <a:ln w="12700">
            <a:solidFill>
              <a:srgbClr val="E4EAF2"/>
            </a:solidFill>
            <a:prstDash val="solid"/>
          </a:ln>
        </p:spPr>
      </p:sp>
      <p:sp>
        <p:nvSpPr>
          <p:cNvPr id="30" name="Shape 28"/>
          <p:cNvSpPr/>
          <p:nvPr/>
        </p:nvSpPr>
        <p:spPr>
          <a:xfrm>
            <a:off x="548640" y="4800600"/>
            <a:ext cx="82296" cy="914400"/>
          </a:xfrm>
          <a:prstGeom prst="rect">
            <a:avLst/>
          </a:prstGeom>
          <a:solidFill>
            <a:srgbClr val="E0900C"/>
          </a:solidFill>
          <a:ln/>
        </p:spPr>
      </p:sp>
      <p:sp>
        <p:nvSpPr>
          <p:cNvPr id="31" name="Text 29"/>
          <p:cNvSpPr/>
          <p:nvPr/>
        </p:nvSpPr>
        <p:spPr>
          <a:xfrm>
            <a:off x="914400" y="4956048"/>
            <a:ext cx="10332720" cy="640080"/>
          </a:xfrm>
          <a:prstGeom prst="rect">
            <a:avLst/>
          </a:prstGeom>
          <a:noFill/>
          <a:ln/>
        </p:spPr>
        <p:txBody>
          <a:bodyPr wrap="square" lIns="0" tIns="0" rIns="0" bIns="0" rtlCol="0" anchor="t"/>
          <a:lstStyle/>
          <a:p>
            <a:pPr indent="0" marL="0">
              <a:lnSpc>
                <a:spcPct val="115000"/>
              </a:lnSpc>
              <a:buNone/>
            </a:pPr>
            <a:r>
              <a:rPr lang="en-US" sz="1200" b="1" dirty="0">
                <a:solidFill>
                  <a:srgbClr val="E0900C"/>
                </a:solidFill>
                <a:latin typeface="Calibri" pitchFamily="34" charset="0"/>
                <a:ea typeface="Calibri" pitchFamily="34" charset="-122"/>
                <a:cs typeface="Calibri" pitchFamily="34" charset="-120"/>
              </a:rPr>
              <a:t>Honest by design:   </a:t>
            </a:r>
            <a:pPr indent="0" marL="0">
              <a:lnSpc>
                <a:spcPct val="115000"/>
              </a:lnSpc>
              <a:buNone/>
            </a:pPr>
            <a:r>
              <a:rPr lang="en-US" sz="1200" dirty="0">
                <a:solidFill>
                  <a:srgbClr val="3E4C63"/>
                </a:solidFill>
                <a:latin typeface="Calibri" pitchFamily="34" charset="0"/>
                <a:ea typeface="Calibri" pitchFamily="34" charset="-122"/>
                <a:cs typeface="Calibri" pitchFamily="34" charset="-120"/>
              </a:rPr>
              <a:t>this is a conditional — "IF the index moves" — never a price forecast. So it stays defensible even on an indicative commodity feed, and upgrades to a true forecast the day a live market feed is connected.</a:t>
            </a:r>
            <a:endParaRPr lang="en-US" sz="1200" dirty="0"/>
          </a:p>
        </p:txBody>
      </p:sp>
      <p:sp>
        <p:nvSpPr>
          <p:cNvPr id="32" name="Shape 30"/>
          <p:cNvSpPr/>
          <p:nvPr/>
        </p:nvSpPr>
        <p:spPr>
          <a:xfrm>
            <a:off x="548640" y="6400800"/>
            <a:ext cx="11094415" cy="12802"/>
          </a:xfrm>
          <a:prstGeom prst="rect">
            <a:avLst/>
          </a:prstGeom>
          <a:solidFill>
            <a:srgbClr val="E4EAF2"/>
          </a:solidFill>
          <a:ln/>
        </p:spPr>
      </p:sp>
      <p:sp>
        <p:nvSpPr>
          <p:cNvPr id="33" name="Text 31"/>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Agentic AI Management Briefing</a:t>
            </a:r>
            <a:endParaRPr lang="en-US" sz="850" dirty="0"/>
          </a:p>
        </p:txBody>
      </p:sp>
      <p:sp>
        <p:nvSpPr>
          <p:cNvPr id="34" name="Text 32"/>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17 / 20</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A472"/>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A472"/>
                </a:solidFill>
                <a:latin typeface="Calibri" pitchFamily="34" charset="0"/>
                <a:ea typeface="Calibri" pitchFamily="34" charset="-122"/>
                <a:cs typeface="Calibri" pitchFamily="34" charset="-120"/>
              </a:rPr>
              <a:t>NEW IN 2026 · ADVANCED INTELLIGENCE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500" b="1" dirty="0">
                <a:solidFill>
                  <a:srgbClr val="0F1E3D"/>
                </a:solidFill>
                <a:latin typeface="Calibri" pitchFamily="34" charset="0"/>
                <a:ea typeface="Calibri" pitchFamily="34" charset="-122"/>
                <a:cs typeface="Calibri" pitchFamily="34" charset="-120"/>
              </a:rPr>
              <a:t>PCB photo → BOM → should-cost — now supplier-grade</a:t>
            </a:r>
            <a:endParaRPr lang="en-US" sz="2500" dirty="0"/>
          </a:p>
        </p:txBody>
      </p:sp>
      <p:sp>
        <p:nvSpPr>
          <p:cNvPr id="9" name="Shape 7"/>
          <p:cNvSpPr/>
          <p:nvPr/>
        </p:nvSpPr>
        <p:spPr>
          <a:xfrm>
            <a:off x="548640" y="1371600"/>
            <a:ext cx="1051560" cy="45720"/>
          </a:xfrm>
          <a:prstGeom prst="rect">
            <a:avLst/>
          </a:prstGeom>
          <a:solidFill>
            <a:srgbClr val="0EA472"/>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Photograph a circuit board, get a costed BOM in ~60 seconds. This year we hardened it from a clever demo into a </a:t>
            </a:r>
            <a:pPr indent="0" marL="0">
              <a:buNone/>
            </a:pPr>
            <a:r>
              <a:rPr lang="en-US" sz="1250" b="1" dirty="0">
                <a:solidFill>
                  <a:srgbClr val="0F1E3D"/>
                </a:solidFill>
                <a:latin typeface="Calibri" pitchFamily="34" charset="0"/>
                <a:ea typeface="Calibri" pitchFamily="34" charset="-122"/>
                <a:cs typeface="Calibri" pitchFamily="34" charset="-120"/>
              </a:rPr>
              <a:t>number you can put in front of a supplier.</a:t>
            </a:r>
            <a:endParaRPr lang="en-US" sz="1250" dirty="0"/>
          </a:p>
        </p:txBody>
      </p:sp>
      <p:sp>
        <p:nvSpPr>
          <p:cNvPr id="11" name="Shape 9"/>
          <p:cNvSpPr/>
          <p:nvPr/>
        </p:nvSpPr>
        <p:spPr>
          <a:xfrm>
            <a:off x="548640" y="2011680"/>
            <a:ext cx="5623560" cy="3200400"/>
          </a:xfrm>
          <a:prstGeom prst="roundRect">
            <a:avLst>
              <a:gd name="adj" fmla="val 2000"/>
            </a:avLst>
          </a:prstGeom>
          <a:solidFill>
            <a:srgbClr val="FFFFFF"/>
          </a:solidFill>
          <a:ln w="12700">
            <a:solidFill>
              <a:srgbClr val="E4EAF2"/>
            </a:solidFill>
            <a:prstDash val="solid"/>
          </a:ln>
          <a:effectLst>
            <a:outerShdw sx="100000" sy="100000" kx="0" ky="0" algn="bl" rotWithShape="0" blurRad="3.0076567690606238e+144" dist="8.593305054458923e+143" dir="1.5471637197735807e+169">
              <a:srgbClr val="9DB0CC">
                <a:alpha val="2.2e+174"/>
              </a:srgbClr>
            </a:outerShdw>
          </a:effectLst>
        </p:spPr>
      </p:sp>
      <p:graphicFrame>
        <p:nvGraphicFramePr>
          <p:cNvPr id="12" name="Chart 0" descr=""/>
          <p:cNvGraphicFramePr/>
          <p:nvPr/>
        </p:nvGraphicFramePr>
        <p:xfrm>
          <a:off x="731520" y="2194560"/>
          <a:ext cx="5257800" cy="2788920"/>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p:nvPr/>
        </p:nvSpPr>
        <p:spPr>
          <a:xfrm>
            <a:off x="731520" y="5230368"/>
            <a:ext cx="5577840" cy="320040"/>
          </a:xfrm>
          <a:prstGeom prst="rect">
            <a:avLst/>
          </a:prstGeom>
          <a:noFill/>
          <a:ln/>
        </p:spPr>
        <p:txBody>
          <a:bodyPr wrap="square" lIns="0" tIns="0" rIns="0" bIns="0" rtlCol="0" anchor="t"/>
          <a:lstStyle/>
          <a:p>
            <a:pPr indent="0" marL="0">
              <a:lnSpc>
                <a:spcPct val="105000"/>
              </a:lnSpc>
              <a:buNone/>
            </a:pPr>
            <a:r>
              <a:rPr lang="en-US" sz="900" i="1" dirty="0">
                <a:solidFill>
                  <a:srgbClr val="8A97A8"/>
                </a:solidFill>
                <a:latin typeface="Calibri" pitchFamily="34" charset="0"/>
                <a:ea typeface="Calibri" pitchFamily="34" charset="-122"/>
                <a:cs typeface="Calibri" pitchFamily="34" charset="-120"/>
              </a:rPr>
              <a:t>Real automotive ECU, China @ 10k/yr — AI within ~5% of a half-day manual estimate, in ~60 s.</a:t>
            </a:r>
            <a:endParaRPr lang="en-US" sz="900" dirty="0"/>
          </a:p>
        </p:txBody>
      </p:sp>
      <p:sp>
        <p:nvSpPr>
          <p:cNvPr id="14" name="Shape 11"/>
          <p:cNvSpPr/>
          <p:nvPr/>
        </p:nvSpPr>
        <p:spPr>
          <a:xfrm>
            <a:off x="6355080" y="2011680"/>
            <a:ext cx="5287975" cy="3200400"/>
          </a:xfrm>
          <a:prstGeom prst="roundRect">
            <a:avLst>
              <a:gd name="adj" fmla="val 2000"/>
            </a:avLst>
          </a:prstGeom>
          <a:solidFill>
            <a:srgbClr val="EAF1FE"/>
          </a:solidFill>
          <a:ln w="12700">
            <a:solidFill>
              <a:srgbClr val="E4EAF2"/>
            </a:solidFill>
            <a:prstDash val="solid"/>
          </a:ln>
        </p:spPr>
      </p:sp>
      <p:sp>
        <p:nvSpPr>
          <p:cNvPr id="15" name="Text 12"/>
          <p:cNvSpPr/>
          <p:nvPr/>
        </p:nvSpPr>
        <p:spPr>
          <a:xfrm>
            <a:off x="6629400" y="2176272"/>
            <a:ext cx="4830775" cy="320040"/>
          </a:xfrm>
          <a:prstGeom prst="rect">
            <a:avLst/>
          </a:prstGeom>
          <a:noFill/>
          <a:ln/>
        </p:spPr>
        <p:txBody>
          <a:bodyPr wrap="square" lIns="0" tIns="0" rIns="0" bIns="0" rtlCol="0" anchor="t"/>
          <a:lstStyle/>
          <a:p>
            <a:pPr indent="0" marL="0">
              <a:buNone/>
            </a:pPr>
            <a:r>
              <a:rPr lang="en-US" sz="1350" b="1" dirty="0">
                <a:solidFill>
                  <a:srgbClr val="0F1E3D"/>
                </a:solidFill>
                <a:latin typeface="Calibri" pitchFamily="34" charset="0"/>
                <a:ea typeface="Calibri" pitchFamily="34" charset="-122"/>
                <a:cs typeface="Calibri" pitchFamily="34" charset="-120"/>
              </a:rPr>
              <a:t>What we fixed this year</a:t>
            </a:r>
            <a:endParaRPr lang="en-US" sz="1350" dirty="0"/>
          </a:p>
        </p:txBody>
      </p:sp>
      <p:sp>
        <p:nvSpPr>
          <p:cNvPr id="16" name="Shape 13"/>
          <p:cNvSpPr/>
          <p:nvPr/>
        </p:nvSpPr>
        <p:spPr>
          <a:xfrm>
            <a:off x="6611112" y="2560320"/>
            <a:ext cx="274320" cy="274320"/>
          </a:xfrm>
          <a:prstGeom prst="ellipse">
            <a:avLst/>
          </a:prstGeom>
          <a:solidFill>
            <a:srgbClr val="E7F7F0"/>
          </a:solidFill>
          <a:ln/>
        </p:spPr>
      </p:sp>
      <p:sp>
        <p:nvSpPr>
          <p:cNvPr id="17" name="Text 14"/>
          <p:cNvSpPr/>
          <p:nvPr/>
        </p:nvSpPr>
        <p:spPr>
          <a:xfrm>
            <a:off x="6611112" y="2551176"/>
            <a:ext cx="274320" cy="274320"/>
          </a:xfrm>
          <a:prstGeom prst="rect">
            <a:avLst/>
          </a:prstGeom>
          <a:noFill/>
          <a:ln/>
        </p:spPr>
        <p:txBody>
          <a:bodyPr wrap="square" lIns="0" tIns="0" rIns="0" bIns="0" rtlCol="0" anchor="ctr"/>
          <a:lstStyle/>
          <a:p>
            <a:pPr algn="ctr" indent="0" marL="0">
              <a:buNone/>
            </a:pPr>
            <a:r>
              <a:rPr lang="en-US" sz="1000" b="1" dirty="0">
                <a:solidFill>
                  <a:srgbClr val="0EA472"/>
                </a:solidFill>
                <a:latin typeface="Calibri" pitchFamily="34" charset="0"/>
                <a:ea typeface="Calibri" pitchFamily="34" charset="-122"/>
                <a:cs typeface="Calibri" pitchFamily="34" charset="-120"/>
              </a:rPr>
              <a:t>✓</a:t>
            </a:r>
            <a:endParaRPr lang="en-US" sz="1000" dirty="0"/>
          </a:p>
        </p:txBody>
      </p:sp>
      <p:sp>
        <p:nvSpPr>
          <p:cNvPr id="18" name="Text 15"/>
          <p:cNvSpPr/>
          <p:nvPr/>
        </p:nvSpPr>
        <p:spPr>
          <a:xfrm>
            <a:off x="6976872" y="2542032"/>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Empty-BOM bug — killed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complex boards used to return nothing; now we read every block.</a:t>
            </a:r>
            <a:endParaRPr lang="en-US" sz="1030" dirty="0"/>
          </a:p>
        </p:txBody>
      </p:sp>
      <p:sp>
        <p:nvSpPr>
          <p:cNvPr id="19" name="Shape 16"/>
          <p:cNvSpPr/>
          <p:nvPr/>
        </p:nvSpPr>
        <p:spPr>
          <a:xfrm>
            <a:off x="6611112" y="3072384"/>
            <a:ext cx="274320" cy="274320"/>
          </a:xfrm>
          <a:prstGeom prst="ellipse">
            <a:avLst/>
          </a:prstGeom>
          <a:solidFill>
            <a:srgbClr val="EAF1FE"/>
          </a:solidFill>
          <a:ln/>
        </p:spPr>
      </p:sp>
      <p:sp>
        <p:nvSpPr>
          <p:cNvPr id="20" name="Text 17"/>
          <p:cNvSpPr/>
          <p:nvPr/>
        </p:nvSpPr>
        <p:spPr>
          <a:xfrm>
            <a:off x="6611112" y="3063240"/>
            <a:ext cx="274320" cy="274320"/>
          </a:xfrm>
          <a:prstGeom prst="rect">
            <a:avLst/>
          </a:prstGeom>
          <a:noFill/>
          <a:ln/>
        </p:spPr>
        <p:txBody>
          <a:bodyPr wrap="square" lIns="0" tIns="0" rIns="0" bIns="0" rtlCol="0" anchor="ctr"/>
          <a:lstStyle/>
          <a:p>
            <a:pPr algn="ctr" indent="0" marL="0">
              <a:buNone/>
            </a:pPr>
            <a:r>
              <a:rPr lang="en-US" sz="1000" b="1" dirty="0">
                <a:solidFill>
                  <a:srgbClr val="2563EB"/>
                </a:solidFill>
                <a:latin typeface="Calibri" pitchFamily="34" charset="0"/>
                <a:ea typeface="Calibri" pitchFamily="34" charset="-122"/>
                <a:cs typeface="Calibri" pitchFamily="34" charset="-120"/>
              </a:rPr>
              <a:t>✓</a:t>
            </a:r>
            <a:endParaRPr lang="en-US" sz="1000" dirty="0"/>
          </a:p>
        </p:txBody>
      </p:sp>
      <p:sp>
        <p:nvSpPr>
          <p:cNvPr id="21" name="Text 18"/>
          <p:cNvSpPr/>
          <p:nvPr/>
        </p:nvSpPr>
        <p:spPr>
          <a:xfrm>
            <a:off x="6976872" y="3054096"/>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Catalogue grounding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confirmed parts snap to real market prices — offline.</a:t>
            </a:r>
            <a:endParaRPr lang="en-US" sz="1030" dirty="0"/>
          </a:p>
        </p:txBody>
      </p:sp>
      <p:sp>
        <p:nvSpPr>
          <p:cNvPr id="22" name="Shape 19"/>
          <p:cNvSpPr/>
          <p:nvPr/>
        </p:nvSpPr>
        <p:spPr>
          <a:xfrm>
            <a:off x="6611112" y="3584448"/>
            <a:ext cx="274320" cy="274320"/>
          </a:xfrm>
          <a:prstGeom prst="ellipse">
            <a:avLst/>
          </a:prstGeom>
          <a:solidFill>
            <a:srgbClr val="F3EEFE"/>
          </a:solidFill>
          <a:ln/>
        </p:spPr>
      </p:sp>
      <p:sp>
        <p:nvSpPr>
          <p:cNvPr id="23" name="Text 20"/>
          <p:cNvSpPr/>
          <p:nvPr/>
        </p:nvSpPr>
        <p:spPr>
          <a:xfrm>
            <a:off x="6611112" y="357530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24" name="Text 21"/>
          <p:cNvSpPr/>
          <p:nvPr/>
        </p:nvSpPr>
        <p:spPr>
          <a:xfrm>
            <a:off x="6976872" y="3566160"/>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Class-median + magnitude cap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a misread MCU £84 → £18, capped &amp; flagged.</a:t>
            </a:r>
            <a:endParaRPr lang="en-US" sz="1030" dirty="0"/>
          </a:p>
        </p:txBody>
      </p:sp>
      <p:sp>
        <p:nvSpPr>
          <p:cNvPr id="25" name="Shape 22"/>
          <p:cNvSpPr/>
          <p:nvPr/>
        </p:nvSpPr>
        <p:spPr>
          <a:xfrm>
            <a:off x="6611112" y="4096512"/>
            <a:ext cx="274320" cy="274320"/>
          </a:xfrm>
          <a:prstGeom prst="ellipse">
            <a:avLst/>
          </a:prstGeom>
          <a:solidFill>
            <a:srgbClr val="E8F6FA"/>
          </a:solidFill>
          <a:ln/>
        </p:spPr>
      </p:sp>
      <p:sp>
        <p:nvSpPr>
          <p:cNvPr id="26" name="Text 23"/>
          <p:cNvSpPr/>
          <p:nvPr/>
        </p:nvSpPr>
        <p:spPr>
          <a:xfrm>
            <a:off x="6611112" y="4087368"/>
            <a:ext cx="274320" cy="274320"/>
          </a:xfrm>
          <a:prstGeom prst="rect">
            <a:avLst/>
          </a:prstGeom>
          <a:noFill/>
          <a:ln/>
        </p:spPr>
        <p:txBody>
          <a:bodyPr wrap="square" lIns="0" tIns="0" rIns="0" bIns="0" rtlCol="0" anchor="ctr"/>
          <a:lstStyle/>
          <a:p>
            <a:pPr algn="ctr" indent="0" marL="0">
              <a:buNone/>
            </a:pPr>
            <a:r>
              <a:rPr lang="en-US" sz="1000" b="1" dirty="0">
                <a:solidFill>
                  <a:srgbClr val="0E93B0"/>
                </a:solidFill>
                <a:latin typeface="Calibri" pitchFamily="34" charset="0"/>
                <a:ea typeface="Calibri" pitchFamily="34" charset="-122"/>
                <a:cs typeface="Calibri" pitchFamily="34" charset="-120"/>
              </a:rPr>
              <a:t>✓</a:t>
            </a:r>
            <a:endParaRPr lang="en-US" sz="1000" dirty="0"/>
          </a:p>
        </p:txBody>
      </p:sp>
      <p:sp>
        <p:nvSpPr>
          <p:cNvPr id="27" name="Text 24"/>
          <p:cNvSpPr/>
          <p:nvPr/>
        </p:nvSpPr>
        <p:spPr>
          <a:xfrm>
            <a:off x="6976872" y="4078224"/>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Deterministic fabrication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fab from stable board features — no run-to-run swing.</a:t>
            </a:r>
            <a:endParaRPr lang="en-US" sz="1030" dirty="0"/>
          </a:p>
        </p:txBody>
      </p:sp>
      <p:sp>
        <p:nvSpPr>
          <p:cNvPr id="28" name="Shape 25"/>
          <p:cNvSpPr/>
          <p:nvPr/>
        </p:nvSpPr>
        <p:spPr>
          <a:xfrm>
            <a:off x="6611112" y="4608576"/>
            <a:ext cx="274320" cy="274320"/>
          </a:xfrm>
          <a:prstGeom prst="ellipse">
            <a:avLst/>
          </a:prstGeom>
          <a:solidFill>
            <a:srgbClr val="FEF6E7"/>
          </a:solidFill>
          <a:ln/>
        </p:spPr>
      </p:sp>
      <p:sp>
        <p:nvSpPr>
          <p:cNvPr id="29" name="Text 26"/>
          <p:cNvSpPr/>
          <p:nvPr/>
        </p:nvSpPr>
        <p:spPr>
          <a:xfrm>
            <a:off x="6611112" y="4599432"/>
            <a:ext cx="274320" cy="274320"/>
          </a:xfrm>
          <a:prstGeom prst="rect">
            <a:avLst/>
          </a:prstGeom>
          <a:noFill/>
          <a:ln/>
        </p:spPr>
        <p:txBody>
          <a:bodyPr wrap="square" lIns="0" tIns="0" rIns="0" bIns="0" rtlCol="0" anchor="ctr"/>
          <a:lstStyle/>
          <a:p>
            <a:pPr algn="ctr" indent="0" marL="0">
              <a:buNone/>
            </a:pPr>
            <a:r>
              <a:rPr lang="en-US" sz="1000" b="1" dirty="0">
                <a:solidFill>
                  <a:srgbClr val="E0900C"/>
                </a:solidFill>
                <a:latin typeface="Calibri" pitchFamily="34" charset="0"/>
                <a:ea typeface="Calibri" pitchFamily="34" charset="-122"/>
                <a:cs typeface="Calibri" pitchFamily="34" charset="-120"/>
              </a:rPr>
              <a:t>✓</a:t>
            </a:r>
            <a:endParaRPr lang="en-US" sz="1000" dirty="0"/>
          </a:p>
        </p:txBody>
      </p:sp>
      <p:sp>
        <p:nvSpPr>
          <p:cNvPr id="30" name="Text 27"/>
          <p:cNvSpPr/>
          <p:nvPr/>
        </p:nvSpPr>
        <p:spPr>
          <a:xfrm>
            <a:off x="6976872" y="4590288"/>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Confirmed vs to-verify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headline splits the £ you can trust from the £ to firm up.</a:t>
            </a:r>
            <a:endParaRPr lang="en-US" sz="1030" dirty="0"/>
          </a:p>
        </p:txBody>
      </p:sp>
      <p:sp>
        <p:nvSpPr>
          <p:cNvPr id="31" name="Shape 28"/>
          <p:cNvSpPr/>
          <p:nvPr/>
        </p:nvSpPr>
        <p:spPr>
          <a:xfrm>
            <a:off x="548640" y="5394960"/>
            <a:ext cx="11091672" cy="640080"/>
          </a:xfrm>
          <a:prstGeom prst="roundRect">
            <a:avLst>
              <a:gd name="adj" fmla="val 10000"/>
            </a:avLst>
          </a:prstGeom>
          <a:solidFill>
            <a:srgbClr val="E7F7F0"/>
          </a:solidFill>
          <a:ln w="12700">
            <a:solidFill>
              <a:srgbClr val="E4EAF2"/>
            </a:solidFill>
            <a:prstDash val="solid"/>
          </a:ln>
        </p:spPr>
      </p:sp>
      <p:sp>
        <p:nvSpPr>
          <p:cNvPr id="32" name="Text 29"/>
          <p:cNvSpPr/>
          <p:nvPr/>
        </p:nvSpPr>
        <p:spPr>
          <a:xfrm>
            <a:off x="914400" y="5394960"/>
            <a:ext cx="10332720" cy="640080"/>
          </a:xfrm>
          <a:prstGeom prst="rect">
            <a:avLst/>
          </a:prstGeom>
          <a:noFill/>
          <a:ln/>
        </p:spPr>
        <p:txBody>
          <a:bodyPr wrap="square" lIns="0" tIns="0" rIns="0" bIns="0" rtlCol="0" anchor="ctr"/>
          <a:lstStyle/>
          <a:p>
            <a:pPr indent="0" marL="0">
              <a:lnSpc>
                <a:spcPct val="108000"/>
              </a:lnSpc>
              <a:buNone/>
            </a:pPr>
            <a:r>
              <a:rPr lang="en-US" sz="1150" b="1" dirty="0">
                <a:solidFill>
                  <a:srgbClr val="0EA472"/>
                </a:solidFill>
                <a:latin typeface="Calibri" pitchFamily="34" charset="0"/>
                <a:ea typeface="Calibri" pitchFamily="34" charset="-122"/>
                <a:cs typeface="Calibri" pitchFamily="34" charset="-120"/>
              </a:rPr>
              <a:t>Result:  </a:t>
            </a:r>
            <a:pPr indent="0" marL="0">
              <a:lnSpc>
                <a:spcPct val="108000"/>
              </a:lnSpc>
              <a:buNone/>
            </a:pPr>
            <a:r>
              <a:rPr lang="en-US" sz="1150" dirty="0">
                <a:solidFill>
                  <a:srgbClr val="3E4C63"/>
                </a:solidFill>
                <a:latin typeface="Calibri" pitchFamily="34" charset="0"/>
                <a:ea typeface="Calibri" pitchFamily="34" charset="-122"/>
                <a:cs typeface="Calibri" pitchFamily="34" charset="-120"/>
              </a:rPr>
              <a:t>the 2–3× over-costing is gone. That live ECU came back ASIL-B, 23 BOM lines, £69.11/board — £37.65 confirmed, £24.64 flagged to verify. Same photo, same answer, every run.</a:t>
            </a:r>
            <a:endParaRPr lang="en-US" sz="1150" dirty="0"/>
          </a:p>
        </p:txBody>
      </p:sp>
      <p:sp>
        <p:nvSpPr>
          <p:cNvPr id="33" name="Shape 30"/>
          <p:cNvSpPr/>
          <p:nvPr/>
        </p:nvSpPr>
        <p:spPr>
          <a:xfrm>
            <a:off x="548640" y="6400800"/>
            <a:ext cx="11094415" cy="12802"/>
          </a:xfrm>
          <a:prstGeom prst="rect">
            <a:avLst/>
          </a:prstGeom>
          <a:solidFill>
            <a:srgbClr val="E4EAF2"/>
          </a:solidFill>
          <a:ln/>
        </p:spPr>
      </p:sp>
      <p:sp>
        <p:nvSpPr>
          <p:cNvPr id="34" name="Text 31"/>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Agentic AI Management Briefing</a:t>
            </a:r>
            <a:endParaRPr lang="en-US" sz="850" dirty="0"/>
          </a:p>
        </p:txBody>
      </p:sp>
      <p:sp>
        <p:nvSpPr>
          <p:cNvPr id="35" name="Text 32"/>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18 / 20</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4F46E5"/>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4F46E5"/>
                </a:solidFill>
                <a:latin typeface="Calibri" pitchFamily="34" charset="0"/>
                <a:ea typeface="Calibri" pitchFamily="34" charset="-122"/>
                <a:cs typeface="Calibri" pitchFamily="34" charset="-120"/>
              </a:rPr>
              <a:t>THE DIFFERENTIATOR</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500" b="1" dirty="0">
                <a:solidFill>
                  <a:srgbClr val="0F1E3D"/>
                </a:solidFill>
                <a:latin typeface="Calibri" pitchFamily="34" charset="0"/>
                <a:ea typeface="Calibri" pitchFamily="34" charset="-122"/>
                <a:cs typeface="Calibri" pitchFamily="34" charset="-120"/>
              </a:rPr>
              <a:t>Why ours is different — glass-box autonomy</a:t>
            </a:r>
            <a:endParaRPr lang="en-US" sz="2500" dirty="0"/>
          </a:p>
        </p:txBody>
      </p:sp>
      <p:sp>
        <p:nvSpPr>
          <p:cNvPr id="9" name="Shape 7"/>
          <p:cNvSpPr/>
          <p:nvPr/>
        </p:nvSpPr>
        <p:spPr>
          <a:xfrm>
            <a:off x="548640" y="1371600"/>
            <a:ext cx="1051560" cy="45720"/>
          </a:xfrm>
          <a:prstGeom prst="rect">
            <a:avLst/>
          </a:prstGeom>
          <a:solidFill>
            <a:srgbClr val="4F46E5"/>
          </a:solidFill>
          <a:ln/>
        </p:spPr>
      </p:sp>
      <p:sp>
        <p:nvSpPr>
          <p:cNvPr id="10" name="Shape 8"/>
          <p:cNvSpPr/>
          <p:nvPr/>
        </p:nvSpPr>
        <p:spPr>
          <a:xfrm>
            <a:off x="548640" y="1645920"/>
            <a:ext cx="11091672" cy="1097280"/>
          </a:xfrm>
          <a:prstGeom prst="roundRect">
            <a:avLst>
              <a:gd name="adj" fmla="val 5833"/>
            </a:avLst>
          </a:prstGeom>
          <a:solidFill>
            <a:srgbClr val="EAF1FE"/>
          </a:solidFill>
          <a:ln w="12700">
            <a:solidFill>
              <a:srgbClr val="E4EAF2"/>
            </a:solidFill>
            <a:prstDash val="solid"/>
          </a:ln>
        </p:spPr>
      </p:sp>
      <p:sp>
        <p:nvSpPr>
          <p:cNvPr id="11" name="Shape 9"/>
          <p:cNvSpPr/>
          <p:nvPr/>
        </p:nvSpPr>
        <p:spPr>
          <a:xfrm>
            <a:off x="548640" y="1645920"/>
            <a:ext cx="82296" cy="1097280"/>
          </a:xfrm>
          <a:prstGeom prst="rect">
            <a:avLst/>
          </a:prstGeom>
          <a:solidFill>
            <a:srgbClr val="4F46E5"/>
          </a:solidFill>
          <a:ln/>
        </p:spPr>
      </p:sp>
      <p:sp>
        <p:nvSpPr>
          <p:cNvPr id="12" name="Text 10"/>
          <p:cNvSpPr/>
          <p:nvPr/>
        </p:nvSpPr>
        <p:spPr>
          <a:xfrm>
            <a:off x="914400" y="1783080"/>
            <a:ext cx="10332720" cy="822960"/>
          </a:xfrm>
          <a:prstGeom prst="rect">
            <a:avLst/>
          </a:prstGeom>
          <a:noFill/>
          <a:ln/>
        </p:spPr>
        <p:txBody>
          <a:bodyPr wrap="square" lIns="0" tIns="0" rIns="0" bIns="0" rtlCol="0" anchor="t"/>
          <a:lstStyle/>
          <a:p>
            <a:pPr indent="0" marL="0">
              <a:lnSpc>
                <a:spcPct val="120000"/>
              </a:lnSpc>
              <a:buNone/>
            </a:pPr>
            <a:r>
              <a:rPr lang="en-US" sz="1500" b="1" dirty="0">
                <a:solidFill>
                  <a:srgbClr val="4F46E5"/>
                </a:solidFill>
                <a:latin typeface="Calibri" pitchFamily="34" charset="0"/>
                <a:ea typeface="Calibri" pitchFamily="34" charset="-122"/>
                <a:cs typeface="Calibri" pitchFamily="34" charset="-120"/>
              </a:rPr>
              <a:t>The principle:   </a:t>
            </a:r>
            <a:pPr indent="0" marL="0">
              <a:lnSpc>
                <a:spcPct val="120000"/>
              </a:lnSpc>
              <a:buNone/>
            </a:pPr>
            <a:r>
              <a:rPr lang="en-US" sz="1300" dirty="0">
                <a:solidFill>
                  <a:srgbClr val="3E4C63"/>
                </a:solidFill>
                <a:latin typeface="Calibri" pitchFamily="34" charset="0"/>
                <a:ea typeface="Calibri" pitchFamily="34" charset="-122"/>
                <a:cs typeface="Calibri" pitchFamily="34" charset="-120"/>
              </a:rPr>
              <a:t>every learned or derived number stays auditable — a value a cost engineer can read and defend. No black-box weight ever touches the price. The AI narrates and explains; it never decides the number in secret.</a:t>
            </a:r>
            <a:endParaRPr lang="en-US" sz="1500" dirty="0"/>
          </a:p>
        </p:txBody>
      </p:sp>
      <p:sp>
        <p:nvSpPr>
          <p:cNvPr id="13" name="Shape 11"/>
          <p:cNvSpPr/>
          <p:nvPr/>
        </p:nvSpPr>
        <p:spPr>
          <a:xfrm>
            <a:off x="548640" y="2971800"/>
            <a:ext cx="11091672" cy="530352"/>
          </a:xfrm>
          <a:prstGeom prst="roundRect">
            <a:avLst>
              <a:gd name="adj" fmla="val 8621"/>
            </a:avLst>
          </a:prstGeom>
          <a:solidFill>
            <a:srgbClr val="F4F7FB"/>
          </a:solidFill>
          <a:ln w="12700">
            <a:solidFill>
              <a:srgbClr val="E4EAF2"/>
            </a:solidFill>
            <a:prstDash val="solid"/>
          </a:ln>
        </p:spPr>
      </p:sp>
      <p:sp>
        <p:nvSpPr>
          <p:cNvPr id="14" name="Shape 12"/>
          <p:cNvSpPr/>
          <p:nvPr/>
        </p:nvSpPr>
        <p:spPr>
          <a:xfrm>
            <a:off x="548640" y="2971800"/>
            <a:ext cx="73152" cy="530352"/>
          </a:xfrm>
          <a:prstGeom prst="rect">
            <a:avLst/>
          </a:prstGeom>
          <a:solidFill>
            <a:srgbClr val="0EA472"/>
          </a:solidFill>
          <a:ln/>
        </p:spPr>
      </p:sp>
      <p:sp>
        <p:nvSpPr>
          <p:cNvPr id="15" name="Shape 13"/>
          <p:cNvSpPr/>
          <p:nvPr/>
        </p:nvSpPr>
        <p:spPr>
          <a:xfrm>
            <a:off x="804672" y="3090672"/>
            <a:ext cx="292608" cy="292608"/>
          </a:xfrm>
          <a:prstGeom prst="ellipse">
            <a:avLst/>
          </a:prstGeom>
          <a:solidFill>
            <a:srgbClr val="E7F7F0"/>
          </a:solidFill>
          <a:ln/>
        </p:spPr>
      </p:sp>
      <p:sp>
        <p:nvSpPr>
          <p:cNvPr id="16" name="Text 14"/>
          <p:cNvSpPr/>
          <p:nvPr/>
        </p:nvSpPr>
        <p:spPr>
          <a:xfrm>
            <a:off x="804672" y="3081528"/>
            <a:ext cx="292608" cy="292608"/>
          </a:xfrm>
          <a:prstGeom prst="rect">
            <a:avLst/>
          </a:prstGeom>
          <a:noFill/>
          <a:ln/>
        </p:spPr>
        <p:txBody>
          <a:bodyPr wrap="square" lIns="0" tIns="0" rIns="0" bIns="0" rtlCol="0" anchor="ctr"/>
          <a:lstStyle/>
          <a:p>
            <a:pPr algn="ctr" indent="0" marL="0">
              <a:buNone/>
            </a:pPr>
            <a:r>
              <a:rPr lang="en-US" sz="1100" b="1" dirty="0">
                <a:solidFill>
                  <a:srgbClr val="0EA472"/>
                </a:solidFill>
                <a:latin typeface="Calibri" pitchFamily="34" charset="0"/>
                <a:ea typeface="Calibri" pitchFamily="34" charset="-122"/>
                <a:cs typeface="Calibri" pitchFamily="34" charset="-120"/>
              </a:rPr>
              <a:t>⟳</a:t>
            </a:r>
            <a:endParaRPr lang="en-US" sz="1100" dirty="0"/>
          </a:p>
        </p:txBody>
      </p:sp>
      <p:sp>
        <p:nvSpPr>
          <p:cNvPr id="17" name="Text 15"/>
          <p:cNvSpPr/>
          <p:nvPr/>
        </p:nvSpPr>
        <p:spPr>
          <a:xfrm>
            <a:off x="1234440" y="2971800"/>
            <a:ext cx="3291840" cy="530352"/>
          </a:xfrm>
          <a:prstGeom prst="rect">
            <a:avLst/>
          </a:prstGeom>
          <a:noFill/>
          <a:ln/>
        </p:spPr>
        <p:txBody>
          <a:bodyPr wrap="square" lIns="0" tIns="0" rIns="0" bIns="0" rtlCol="0" anchor="ctr"/>
          <a:lstStyle/>
          <a:p>
            <a:pPr indent="0" marL="0">
              <a:buNone/>
            </a:pPr>
            <a:r>
              <a:rPr lang="en-US" sz="1250" b="1" dirty="0">
                <a:solidFill>
                  <a:srgbClr val="0EA472"/>
                </a:solidFill>
                <a:latin typeface="Calibri" pitchFamily="34" charset="0"/>
                <a:ea typeface="Calibri" pitchFamily="34" charset="-122"/>
                <a:cs typeface="Calibri" pitchFamily="34" charset="-120"/>
              </a:rPr>
              <a:t>Continuous learning</a:t>
            </a:r>
            <a:endParaRPr lang="en-US" sz="1250" dirty="0"/>
          </a:p>
        </p:txBody>
      </p:sp>
      <p:sp>
        <p:nvSpPr>
          <p:cNvPr id="18" name="Text 16"/>
          <p:cNvSpPr/>
          <p:nvPr/>
        </p:nvSpPr>
        <p:spPr>
          <a:xfrm>
            <a:off x="4572000" y="2971800"/>
            <a:ext cx="6858000" cy="530352"/>
          </a:xfrm>
          <a:prstGeom prst="rect">
            <a:avLst/>
          </a:prstGeom>
          <a:noFill/>
          <a:ln/>
        </p:spPr>
        <p:txBody>
          <a:bodyPr wrap="square" lIns="0" tIns="0" rIns="0" bIns="0" rtlCol="0" anchor="ctr"/>
          <a:lstStyle/>
          <a:p>
            <a:pPr indent="0" marL="0">
              <a:buNone/>
            </a:pPr>
            <a:r>
              <a:rPr lang="en-US" sz="1200" dirty="0">
                <a:solidFill>
                  <a:srgbClr val="3E4C63"/>
                </a:solidFill>
                <a:latin typeface="Calibri" pitchFamily="34" charset="0"/>
                <a:ea typeface="Calibri" pitchFamily="34" charset="-122"/>
                <a:cs typeface="Calibri" pitchFamily="34" charset="-120"/>
              </a:rPr>
              <a:t>Calibrates on YOUR quotes; conformal band with a guarantee</a:t>
            </a:r>
            <a:endParaRPr lang="en-US" sz="1200" dirty="0"/>
          </a:p>
        </p:txBody>
      </p:sp>
      <p:sp>
        <p:nvSpPr>
          <p:cNvPr id="19" name="Shape 17"/>
          <p:cNvSpPr/>
          <p:nvPr/>
        </p:nvSpPr>
        <p:spPr>
          <a:xfrm>
            <a:off x="548640" y="3593592"/>
            <a:ext cx="11091672" cy="530352"/>
          </a:xfrm>
          <a:prstGeom prst="roundRect">
            <a:avLst>
              <a:gd name="adj" fmla="val 8621"/>
            </a:avLst>
          </a:prstGeom>
          <a:solidFill>
            <a:srgbClr val="FFFFFF"/>
          </a:solidFill>
          <a:ln w="12700">
            <a:solidFill>
              <a:srgbClr val="E4EAF2"/>
            </a:solidFill>
            <a:prstDash val="solid"/>
          </a:ln>
        </p:spPr>
      </p:sp>
      <p:sp>
        <p:nvSpPr>
          <p:cNvPr id="20" name="Shape 18"/>
          <p:cNvSpPr/>
          <p:nvPr/>
        </p:nvSpPr>
        <p:spPr>
          <a:xfrm>
            <a:off x="548640" y="3593592"/>
            <a:ext cx="73152" cy="530352"/>
          </a:xfrm>
          <a:prstGeom prst="rect">
            <a:avLst/>
          </a:prstGeom>
          <a:solidFill>
            <a:srgbClr val="0EA472"/>
          </a:solidFill>
          <a:ln/>
        </p:spPr>
      </p:sp>
      <p:sp>
        <p:nvSpPr>
          <p:cNvPr id="21" name="Shape 19"/>
          <p:cNvSpPr/>
          <p:nvPr/>
        </p:nvSpPr>
        <p:spPr>
          <a:xfrm>
            <a:off x="804672" y="3712464"/>
            <a:ext cx="292608" cy="292608"/>
          </a:xfrm>
          <a:prstGeom prst="ellipse">
            <a:avLst/>
          </a:prstGeom>
          <a:solidFill>
            <a:srgbClr val="E7F7F0"/>
          </a:solidFill>
          <a:ln/>
        </p:spPr>
      </p:sp>
      <p:sp>
        <p:nvSpPr>
          <p:cNvPr id="22" name="Text 20"/>
          <p:cNvSpPr/>
          <p:nvPr/>
        </p:nvSpPr>
        <p:spPr>
          <a:xfrm>
            <a:off x="804672" y="3703320"/>
            <a:ext cx="292608" cy="292608"/>
          </a:xfrm>
          <a:prstGeom prst="rect">
            <a:avLst/>
          </a:prstGeom>
          <a:noFill/>
          <a:ln/>
        </p:spPr>
        <p:txBody>
          <a:bodyPr wrap="square" lIns="0" tIns="0" rIns="0" bIns="0" rtlCol="0" anchor="ctr"/>
          <a:lstStyle/>
          <a:p>
            <a:pPr algn="ctr" indent="0" marL="0">
              <a:buNone/>
            </a:pPr>
            <a:r>
              <a:rPr lang="en-US" sz="1100" b="1" dirty="0">
                <a:solidFill>
                  <a:srgbClr val="0EA472"/>
                </a:solidFill>
                <a:latin typeface="Calibri" pitchFamily="34" charset="0"/>
                <a:ea typeface="Calibri" pitchFamily="34" charset="-122"/>
                <a:cs typeface="Calibri" pitchFamily="34" charset="-120"/>
              </a:rPr>
              <a:t>➤</a:t>
            </a:r>
            <a:endParaRPr lang="en-US" sz="1100" dirty="0"/>
          </a:p>
        </p:txBody>
      </p:sp>
      <p:sp>
        <p:nvSpPr>
          <p:cNvPr id="23" name="Text 21"/>
          <p:cNvSpPr/>
          <p:nvPr/>
        </p:nvSpPr>
        <p:spPr>
          <a:xfrm>
            <a:off x="1234440" y="3593592"/>
            <a:ext cx="3291840" cy="530352"/>
          </a:xfrm>
          <a:prstGeom prst="rect">
            <a:avLst/>
          </a:prstGeom>
          <a:noFill/>
          <a:ln/>
        </p:spPr>
        <p:txBody>
          <a:bodyPr wrap="square" lIns="0" tIns="0" rIns="0" bIns="0" rtlCol="0" anchor="ctr"/>
          <a:lstStyle/>
          <a:p>
            <a:pPr indent="0" marL="0">
              <a:buNone/>
            </a:pPr>
            <a:r>
              <a:rPr lang="en-US" sz="1250" b="1" dirty="0">
                <a:solidFill>
                  <a:srgbClr val="0EA472"/>
                </a:solidFill>
                <a:latin typeface="Calibri" pitchFamily="34" charset="0"/>
                <a:ea typeface="Calibri" pitchFamily="34" charset="-122"/>
                <a:cs typeface="Calibri" pitchFamily="34" charset="-120"/>
              </a:rPr>
              <a:t>Autonomous action</a:t>
            </a:r>
            <a:endParaRPr lang="en-US" sz="1250" dirty="0"/>
          </a:p>
        </p:txBody>
      </p:sp>
      <p:sp>
        <p:nvSpPr>
          <p:cNvPr id="24" name="Text 22"/>
          <p:cNvSpPr/>
          <p:nvPr/>
        </p:nvSpPr>
        <p:spPr>
          <a:xfrm>
            <a:off x="4572000" y="3593592"/>
            <a:ext cx="6858000" cy="530352"/>
          </a:xfrm>
          <a:prstGeom prst="rect">
            <a:avLst/>
          </a:prstGeom>
          <a:noFill/>
          <a:ln/>
        </p:spPr>
        <p:txBody>
          <a:bodyPr wrap="square" lIns="0" tIns="0" rIns="0" bIns="0" rtlCol="0" anchor="ctr"/>
          <a:lstStyle/>
          <a:p>
            <a:pPr indent="0" marL="0">
              <a:buNone/>
            </a:pPr>
            <a:r>
              <a:rPr lang="en-US" sz="1200" dirty="0">
                <a:solidFill>
                  <a:srgbClr val="3E4C63"/>
                </a:solidFill>
                <a:latin typeface="Calibri" pitchFamily="34" charset="0"/>
                <a:ea typeface="Calibri" pitchFamily="34" charset="-122"/>
                <a:cs typeface="Calibri" pitchFamily="34" charset="-120"/>
              </a:rPr>
              <a:t>Agent opens findings unattended AND learns which convert</a:t>
            </a:r>
            <a:endParaRPr lang="en-US" sz="1200" dirty="0"/>
          </a:p>
        </p:txBody>
      </p:sp>
      <p:sp>
        <p:nvSpPr>
          <p:cNvPr id="25" name="Shape 23"/>
          <p:cNvSpPr/>
          <p:nvPr/>
        </p:nvSpPr>
        <p:spPr>
          <a:xfrm>
            <a:off x="548640" y="4215384"/>
            <a:ext cx="11091672" cy="530352"/>
          </a:xfrm>
          <a:prstGeom prst="roundRect">
            <a:avLst>
              <a:gd name="adj" fmla="val 8621"/>
            </a:avLst>
          </a:prstGeom>
          <a:solidFill>
            <a:srgbClr val="F4F7FB"/>
          </a:solidFill>
          <a:ln w="12700">
            <a:solidFill>
              <a:srgbClr val="E4EAF2"/>
            </a:solidFill>
            <a:prstDash val="solid"/>
          </a:ln>
        </p:spPr>
      </p:sp>
      <p:sp>
        <p:nvSpPr>
          <p:cNvPr id="26" name="Shape 24"/>
          <p:cNvSpPr/>
          <p:nvPr/>
        </p:nvSpPr>
        <p:spPr>
          <a:xfrm>
            <a:off x="548640" y="4215384"/>
            <a:ext cx="73152" cy="530352"/>
          </a:xfrm>
          <a:prstGeom prst="rect">
            <a:avLst/>
          </a:prstGeom>
          <a:solidFill>
            <a:srgbClr val="0EA472"/>
          </a:solidFill>
          <a:ln/>
        </p:spPr>
      </p:sp>
      <p:sp>
        <p:nvSpPr>
          <p:cNvPr id="27" name="Shape 25"/>
          <p:cNvSpPr/>
          <p:nvPr/>
        </p:nvSpPr>
        <p:spPr>
          <a:xfrm>
            <a:off x="804672" y="4334256"/>
            <a:ext cx="292608" cy="292608"/>
          </a:xfrm>
          <a:prstGeom prst="ellipse">
            <a:avLst/>
          </a:prstGeom>
          <a:solidFill>
            <a:srgbClr val="E7F7F0"/>
          </a:solidFill>
          <a:ln/>
        </p:spPr>
      </p:sp>
      <p:sp>
        <p:nvSpPr>
          <p:cNvPr id="28" name="Text 26"/>
          <p:cNvSpPr/>
          <p:nvPr/>
        </p:nvSpPr>
        <p:spPr>
          <a:xfrm>
            <a:off x="804672" y="4325112"/>
            <a:ext cx="292608" cy="292608"/>
          </a:xfrm>
          <a:prstGeom prst="rect">
            <a:avLst/>
          </a:prstGeom>
          <a:noFill/>
          <a:ln/>
        </p:spPr>
        <p:txBody>
          <a:bodyPr wrap="square" lIns="0" tIns="0" rIns="0" bIns="0" rtlCol="0" anchor="ctr"/>
          <a:lstStyle/>
          <a:p>
            <a:pPr algn="ctr" indent="0" marL="0">
              <a:buNone/>
            </a:pPr>
            <a:r>
              <a:rPr lang="en-US" sz="1100" b="1" dirty="0">
                <a:solidFill>
                  <a:srgbClr val="0EA472"/>
                </a:solidFill>
                <a:latin typeface="Calibri" pitchFamily="34" charset="0"/>
                <a:ea typeface="Calibri" pitchFamily="34" charset="-122"/>
                <a:cs typeface="Calibri" pitchFamily="34" charset="-120"/>
              </a:rPr>
              <a:t>◎</a:t>
            </a:r>
            <a:endParaRPr lang="en-US" sz="1100" dirty="0"/>
          </a:p>
        </p:txBody>
      </p:sp>
      <p:sp>
        <p:nvSpPr>
          <p:cNvPr id="29" name="Text 27"/>
          <p:cNvSpPr/>
          <p:nvPr/>
        </p:nvSpPr>
        <p:spPr>
          <a:xfrm>
            <a:off x="1234440" y="4215384"/>
            <a:ext cx="3291840" cy="530352"/>
          </a:xfrm>
          <a:prstGeom prst="rect">
            <a:avLst/>
          </a:prstGeom>
          <a:noFill/>
          <a:ln/>
        </p:spPr>
        <p:txBody>
          <a:bodyPr wrap="square" lIns="0" tIns="0" rIns="0" bIns="0" rtlCol="0" anchor="ctr"/>
          <a:lstStyle/>
          <a:p>
            <a:pPr indent="0" marL="0">
              <a:buNone/>
            </a:pPr>
            <a:r>
              <a:rPr lang="en-US" sz="1250" b="1" dirty="0">
                <a:solidFill>
                  <a:srgbClr val="0EA472"/>
                </a:solidFill>
                <a:latin typeface="Calibri" pitchFamily="34" charset="0"/>
                <a:ea typeface="Calibri" pitchFamily="34" charset="-122"/>
                <a:cs typeface="Calibri" pitchFamily="34" charset="-120"/>
              </a:rPr>
              <a:t>Causal reasoning</a:t>
            </a:r>
            <a:endParaRPr lang="en-US" sz="1250" dirty="0"/>
          </a:p>
        </p:txBody>
      </p:sp>
      <p:sp>
        <p:nvSpPr>
          <p:cNvPr id="30" name="Text 28"/>
          <p:cNvSpPr/>
          <p:nvPr/>
        </p:nvSpPr>
        <p:spPr>
          <a:xfrm>
            <a:off x="4572000" y="4215384"/>
            <a:ext cx="6858000" cy="530352"/>
          </a:xfrm>
          <a:prstGeom prst="rect">
            <a:avLst/>
          </a:prstGeom>
          <a:noFill/>
          <a:ln/>
        </p:spPr>
        <p:txBody>
          <a:bodyPr wrap="square" lIns="0" tIns="0" rIns="0" bIns="0" rtlCol="0" anchor="ctr"/>
          <a:lstStyle/>
          <a:p>
            <a:pPr indent="0" marL="0">
              <a:buNone/>
            </a:pPr>
            <a:r>
              <a:rPr lang="en-US" sz="1200" dirty="0">
                <a:solidFill>
                  <a:srgbClr val="3E4C63"/>
                </a:solidFill>
                <a:latin typeface="Calibri" pitchFamily="34" charset="0"/>
                <a:ea typeface="Calibri" pitchFamily="34" charset="-122"/>
                <a:cs typeface="Calibri" pitchFamily="34" charset="-120"/>
              </a:rPr>
              <a:t>Knows why a part costs what it does; coaches the negotiation</a:t>
            </a:r>
            <a:endParaRPr lang="en-US" sz="1200" dirty="0"/>
          </a:p>
        </p:txBody>
      </p:sp>
      <p:sp>
        <p:nvSpPr>
          <p:cNvPr id="31" name="Shape 29"/>
          <p:cNvSpPr/>
          <p:nvPr/>
        </p:nvSpPr>
        <p:spPr>
          <a:xfrm>
            <a:off x="548640" y="4837176"/>
            <a:ext cx="11091672" cy="530352"/>
          </a:xfrm>
          <a:prstGeom prst="roundRect">
            <a:avLst>
              <a:gd name="adj" fmla="val 8621"/>
            </a:avLst>
          </a:prstGeom>
          <a:solidFill>
            <a:srgbClr val="FFFFFF"/>
          </a:solidFill>
          <a:ln w="12700">
            <a:solidFill>
              <a:srgbClr val="E4EAF2"/>
            </a:solidFill>
            <a:prstDash val="solid"/>
          </a:ln>
        </p:spPr>
      </p:sp>
      <p:sp>
        <p:nvSpPr>
          <p:cNvPr id="32" name="Shape 30"/>
          <p:cNvSpPr/>
          <p:nvPr/>
        </p:nvSpPr>
        <p:spPr>
          <a:xfrm>
            <a:off x="548640" y="4837176"/>
            <a:ext cx="73152" cy="530352"/>
          </a:xfrm>
          <a:prstGeom prst="rect">
            <a:avLst/>
          </a:prstGeom>
          <a:solidFill>
            <a:srgbClr val="2563EB"/>
          </a:solidFill>
          <a:ln/>
        </p:spPr>
      </p:sp>
      <p:sp>
        <p:nvSpPr>
          <p:cNvPr id="33" name="Shape 31"/>
          <p:cNvSpPr/>
          <p:nvPr/>
        </p:nvSpPr>
        <p:spPr>
          <a:xfrm>
            <a:off x="804672" y="4956048"/>
            <a:ext cx="292608" cy="292608"/>
          </a:xfrm>
          <a:prstGeom prst="ellipse">
            <a:avLst/>
          </a:prstGeom>
          <a:solidFill>
            <a:srgbClr val="EAF1FE"/>
          </a:solidFill>
          <a:ln/>
        </p:spPr>
      </p:sp>
      <p:sp>
        <p:nvSpPr>
          <p:cNvPr id="34" name="Text 32"/>
          <p:cNvSpPr/>
          <p:nvPr/>
        </p:nvSpPr>
        <p:spPr>
          <a:xfrm>
            <a:off x="804672" y="4946904"/>
            <a:ext cx="292608" cy="292608"/>
          </a:xfrm>
          <a:prstGeom prst="rect">
            <a:avLst/>
          </a:prstGeom>
          <a:noFill/>
          <a:ln/>
        </p:spPr>
        <p:txBody>
          <a:bodyPr wrap="square" lIns="0" tIns="0" rIns="0" bIns="0" rtlCol="0" anchor="ctr"/>
          <a:lstStyle/>
          <a:p>
            <a:pPr algn="ctr" indent="0" marL="0">
              <a:buNone/>
            </a:pPr>
            <a:r>
              <a:rPr lang="en-US" sz="1100" b="1" dirty="0">
                <a:solidFill>
                  <a:srgbClr val="2563EB"/>
                </a:solidFill>
                <a:latin typeface="Calibri" pitchFamily="34" charset="0"/>
                <a:ea typeface="Calibri" pitchFamily="34" charset="-122"/>
                <a:cs typeface="Calibri" pitchFamily="34" charset="-120"/>
              </a:rPr>
              <a:t>◈</a:t>
            </a:r>
            <a:endParaRPr lang="en-US" sz="1100" dirty="0"/>
          </a:p>
        </p:txBody>
      </p:sp>
      <p:sp>
        <p:nvSpPr>
          <p:cNvPr id="35" name="Text 33"/>
          <p:cNvSpPr/>
          <p:nvPr/>
        </p:nvSpPr>
        <p:spPr>
          <a:xfrm>
            <a:off x="1234440" y="4837176"/>
            <a:ext cx="3291840" cy="530352"/>
          </a:xfrm>
          <a:prstGeom prst="rect">
            <a:avLst/>
          </a:prstGeom>
          <a:noFill/>
          <a:ln/>
        </p:spPr>
        <p:txBody>
          <a:bodyPr wrap="square" lIns="0" tIns="0" rIns="0" bIns="0" rtlCol="0" anchor="ctr"/>
          <a:lstStyle/>
          <a:p>
            <a:pPr indent="0" marL="0">
              <a:buNone/>
            </a:pPr>
            <a:r>
              <a:rPr lang="en-US" sz="1250" b="1" dirty="0">
                <a:solidFill>
                  <a:srgbClr val="2563EB"/>
                </a:solidFill>
                <a:latin typeface="Calibri" pitchFamily="34" charset="0"/>
                <a:ea typeface="Calibri" pitchFamily="34" charset="-122"/>
                <a:cs typeface="Calibri" pitchFamily="34" charset="-120"/>
              </a:rPr>
              <a:t>Explainable — always</a:t>
            </a:r>
            <a:endParaRPr lang="en-US" sz="1250" dirty="0"/>
          </a:p>
        </p:txBody>
      </p:sp>
      <p:sp>
        <p:nvSpPr>
          <p:cNvPr id="36" name="Text 34"/>
          <p:cNvSpPr/>
          <p:nvPr/>
        </p:nvSpPr>
        <p:spPr>
          <a:xfrm>
            <a:off x="4572000" y="4837176"/>
            <a:ext cx="6858000" cy="530352"/>
          </a:xfrm>
          <a:prstGeom prst="rect">
            <a:avLst/>
          </a:prstGeom>
          <a:noFill/>
          <a:ln/>
        </p:spPr>
        <p:txBody>
          <a:bodyPr wrap="square" lIns="0" tIns="0" rIns="0" bIns="0" rtlCol="0" anchor="ctr"/>
          <a:lstStyle/>
          <a:p>
            <a:pPr indent="0" marL="0">
              <a:buNone/>
            </a:pPr>
            <a:r>
              <a:rPr lang="en-US" sz="1200" dirty="0">
                <a:solidFill>
                  <a:srgbClr val="3E4C63"/>
                </a:solidFill>
                <a:latin typeface="Calibri" pitchFamily="34" charset="0"/>
                <a:ea typeface="Calibri" pitchFamily="34" charset="-122"/>
                <a:cs typeface="Calibri" pitchFamily="34" charset="-120"/>
              </a:rPr>
              <a:t>Every number defensible line-by-line; the competitor's edge is the opposite</a:t>
            </a:r>
            <a:endParaRPr lang="en-US" sz="1200" dirty="0"/>
          </a:p>
        </p:txBody>
      </p:sp>
      <p:sp>
        <p:nvSpPr>
          <p:cNvPr id="37" name="Shape 35"/>
          <p:cNvSpPr/>
          <p:nvPr/>
        </p:nvSpPr>
        <p:spPr>
          <a:xfrm>
            <a:off x="548640" y="5458968"/>
            <a:ext cx="11091672" cy="530352"/>
          </a:xfrm>
          <a:prstGeom prst="roundRect">
            <a:avLst>
              <a:gd name="adj" fmla="val 8621"/>
            </a:avLst>
          </a:prstGeom>
          <a:solidFill>
            <a:srgbClr val="F4F7FB"/>
          </a:solidFill>
          <a:ln w="12700">
            <a:solidFill>
              <a:srgbClr val="E4EAF2"/>
            </a:solidFill>
            <a:prstDash val="solid"/>
          </a:ln>
        </p:spPr>
      </p:sp>
      <p:sp>
        <p:nvSpPr>
          <p:cNvPr id="38" name="Shape 36"/>
          <p:cNvSpPr/>
          <p:nvPr/>
        </p:nvSpPr>
        <p:spPr>
          <a:xfrm>
            <a:off x="548640" y="5458968"/>
            <a:ext cx="73152" cy="530352"/>
          </a:xfrm>
          <a:prstGeom prst="rect">
            <a:avLst/>
          </a:prstGeom>
          <a:solidFill>
            <a:srgbClr val="7C3AED"/>
          </a:solidFill>
          <a:ln/>
        </p:spPr>
      </p:sp>
      <p:sp>
        <p:nvSpPr>
          <p:cNvPr id="39" name="Shape 37"/>
          <p:cNvSpPr/>
          <p:nvPr/>
        </p:nvSpPr>
        <p:spPr>
          <a:xfrm>
            <a:off x="804672" y="5577840"/>
            <a:ext cx="292608" cy="292608"/>
          </a:xfrm>
          <a:prstGeom prst="ellipse">
            <a:avLst/>
          </a:prstGeom>
          <a:solidFill>
            <a:srgbClr val="F3EEFE"/>
          </a:solidFill>
          <a:ln/>
        </p:spPr>
      </p:sp>
      <p:sp>
        <p:nvSpPr>
          <p:cNvPr id="40" name="Text 38"/>
          <p:cNvSpPr/>
          <p:nvPr/>
        </p:nvSpPr>
        <p:spPr>
          <a:xfrm>
            <a:off x="804672" y="5568696"/>
            <a:ext cx="292608" cy="292608"/>
          </a:xfrm>
          <a:prstGeom prst="rect">
            <a:avLst/>
          </a:prstGeom>
          <a:noFill/>
          <a:ln/>
        </p:spPr>
        <p:txBody>
          <a:bodyPr wrap="square" lIns="0" tIns="0" rIns="0" bIns="0" rtlCol="0" anchor="ctr"/>
          <a:lstStyle/>
          <a:p>
            <a:pPr algn="ctr" indent="0" marL="0">
              <a:buNone/>
            </a:pPr>
            <a:r>
              <a:rPr lang="en-US" sz="1100" b="1" dirty="0">
                <a:solidFill>
                  <a:srgbClr val="7C3AED"/>
                </a:solidFill>
                <a:latin typeface="Calibri" pitchFamily="34" charset="0"/>
                <a:ea typeface="Calibri" pitchFamily="34" charset="-122"/>
                <a:cs typeface="Calibri" pitchFamily="34" charset="-120"/>
              </a:rPr>
              <a:t>▤</a:t>
            </a:r>
            <a:endParaRPr lang="en-US" sz="1100" dirty="0"/>
          </a:p>
        </p:txBody>
      </p:sp>
      <p:sp>
        <p:nvSpPr>
          <p:cNvPr id="41" name="Text 39"/>
          <p:cNvSpPr/>
          <p:nvPr/>
        </p:nvSpPr>
        <p:spPr>
          <a:xfrm>
            <a:off x="1234440" y="5458968"/>
            <a:ext cx="3291840" cy="530352"/>
          </a:xfrm>
          <a:prstGeom prst="rect">
            <a:avLst/>
          </a:prstGeom>
          <a:noFill/>
          <a:ln/>
        </p:spPr>
        <p:txBody>
          <a:bodyPr wrap="square" lIns="0" tIns="0" rIns="0" bIns="0" rtlCol="0" anchor="ctr"/>
          <a:lstStyle/>
          <a:p>
            <a:pPr indent="0" marL="0">
              <a:buNone/>
            </a:pPr>
            <a:r>
              <a:rPr lang="en-US" sz="1250" b="1" dirty="0">
                <a:solidFill>
                  <a:srgbClr val="7C3AED"/>
                </a:solidFill>
                <a:latin typeface="Calibri" pitchFamily="34" charset="0"/>
                <a:ea typeface="Calibri" pitchFamily="34" charset="-122"/>
                <a:cs typeface="Calibri" pitchFamily="34" charset="-120"/>
              </a:rPr>
              <a:t>Runs in your walls</a:t>
            </a:r>
            <a:endParaRPr lang="en-US" sz="1250" dirty="0"/>
          </a:p>
        </p:txBody>
      </p:sp>
      <p:sp>
        <p:nvSpPr>
          <p:cNvPr id="42" name="Text 40"/>
          <p:cNvSpPr/>
          <p:nvPr/>
        </p:nvSpPr>
        <p:spPr>
          <a:xfrm>
            <a:off x="4572000" y="5458968"/>
            <a:ext cx="6858000" cy="530352"/>
          </a:xfrm>
          <a:prstGeom prst="rect">
            <a:avLst/>
          </a:prstGeom>
          <a:noFill/>
          <a:ln/>
        </p:spPr>
        <p:txBody>
          <a:bodyPr wrap="square" lIns="0" tIns="0" rIns="0" bIns="0" rtlCol="0" anchor="ctr"/>
          <a:lstStyle/>
          <a:p>
            <a:pPr indent="0" marL="0">
              <a:buNone/>
            </a:pPr>
            <a:r>
              <a:rPr lang="en-US" sz="1200" dirty="0">
                <a:solidFill>
                  <a:srgbClr val="3E4C63"/>
                </a:solidFill>
                <a:latin typeface="Calibri" pitchFamily="34" charset="0"/>
                <a:ea typeface="Calibri" pitchFamily="34" charset="-122"/>
                <a:cs typeface="Calibri" pitchFamily="34" charset="-120"/>
              </a:rPr>
              <a:t>On-premise; the knowledge is your IP and never leaves</a:t>
            </a:r>
            <a:endParaRPr lang="en-US" sz="1200" dirty="0"/>
          </a:p>
        </p:txBody>
      </p:sp>
      <p:sp>
        <p:nvSpPr>
          <p:cNvPr id="43" name="Shape 41"/>
          <p:cNvSpPr/>
          <p:nvPr/>
        </p:nvSpPr>
        <p:spPr>
          <a:xfrm>
            <a:off x="548640" y="6400800"/>
            <a:ext cx="11094415" cy="12802"/>
          </a:xfrm>
          <a:prstGeom prst="rect">
            <a:avLst/>
          </a:prstGeom>
          <a:solidFill>
            <a:srgbClr val="E4EAF2"/>
          </a:solidFill>
          <a:ln/>
        </p:spPr>
      </p:sp>
      <p:sp>
        <p:nvSpPr>
          <p:cNvPr id="44" name="Text 42"/>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Agentic AI Management Briefing</a:t>
            </a:r>
            <a:endParaRPr lang="en-US" sz="850" dirty="0"/>
          </a:p>
        </p:txBody>
      </p:sp>
      <p:sp>
        <p:nvSpPr>
          <p:cNvPr id="45" name="Text 43"/>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19 / 20</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A472"/>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A472"/>
                </a:solidFill>
                <a:latin typeface="Calibri" pitchFamily="34" charset="0"/>
                <a:ea typeface="Calibri" pitchFamily="34" charset="-122"/>
                <a:cs typeface="Calibri" pitchFamily="34" charset="-120"/>
              </a:rPr>
              <a:t>NEXT STEPS</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500" b="1" dirty="0">
                <a:solidFill>
                  <a:srgbClr val="0F1E3D"/>
                </a:solidFill>
                <a:latin typeface="Calibri" pitchFamily="34" charset="0"/>
                <a:ea typeface="Calibri" pitchFamily="34" charset="-122"/>
                <a:cs typeface="Calibri" pitchFamily="34" charset="-120"/>
              </a:rPr>
              <a:t>Where we are, and the ask</a:t>
            </a:r>
            <a:endParaRPr lang="en-US" sz="2500" dirty="0"/>
          </a:p>
        </p:txBody>
      </p:sp>
      <p:sp>
        <p:nvSpPr>
          <p:cNvPr id="9" name="Shape 7"/>
          <p:cNvSpPr/>
          <p:nvPr/>
        </p:nvSpPr>
        <p:spPr>
          <a:xfrm>
            <a:off x="548640" y="1371600"/>
            <a:ext cx="1051560" cy="45720"/>
          </a:xfrm>
          <a:prstGeom prst="rect">
            <a:avLst/>
          </a:prstGeom>
          <a:solidFill>
            <a:srgbClr val="0EA472"/>
          </a:solidFill>
          <a:ln/>
        </p:spPr>
      </p:sp>
      <p:sp>
        <p:nvSpPr>
          <p:cNvPr id="10" name="Shape 8"/>
          <p:cNvSpPr/>
          <p:nvPr/>
        </p:nvSpPr>
        <p:spPr>
          <a:xfrm>
            <a:off x="548640" y="1691640"/>
            <a:ext cx="5394960" cy="4160520"/>
          </a:xfrm>
          <a:prstGeom prst="roundRect">
            <a:avLst>
              <a:gd name="adj" fmla="val 1538"/>
            </a:avLst>
          </a:prstGeom>
          <a:solidFill>
            <a:srgbClr val="FFFFFF"/>
          </a:solidFill>
          <a:ln w="12700">
            <a:solidFill>
              <a:srgbClr val="E4EAF2"/>
            </a:solidFill>
            <a:prstDash val="solid"/>
          </a:ln>
          <a:effectLst>
            <a:outerShdw sx="100000" sy="100000" kx="0" ky="0" algn="bl" rotWithShape="0" blurRad="3.819724096706992e+148" dist="1.0913497419162833e+148" dir="9.282982318641485e+173">
              <a:srgbClr val="9DB0CC">
                <a:alpha val="2.2000000000000003e+179"/>
              </a:srgbClr>
            </a:outerShdw>
          </a:effectLst>
        </p:spPr>
      </p:sp>
      <p:sp>
        <p:nvSpPr>
          <p:cNvPr id="11" name="Shape 9"/>
          <p:cNvSpPr/>
          <p:nvPr/>
        </p:nvSpPr>
        <p:spPr>
          <a:xfrm>
            <a:off x="548640" y="1691640"/>
            <a:ext cx="5394960" cy="457200"/>
          </a:xfrm>
          <a:prstGeom prst="rect">
            <a:avLst/>
          </a:prstGeom>
          <a:solidFill>
            <a:srgbClr val="E7F7F0"/>
          </a:solidFill>
          <a:ln/>
        </p:spPr>
      </p:sp>
      <p:sp>
        <p:nvSpPr>
          <p:cNvPr id="12" name="Text 10"/>
          <p:cNvSpPr/>
          <p:nvPr/>
        </p:nvSpPr>
        <p:spPr>
          <a:xfrm>
            <a:off x="841248" y="1691640"/>
            <a:ext cx="4937760" cy="457200"/>
          </a:xfrm>
          <a:prstGeom prst="rect">
            <a:avLst/>
          </a:prstGeom>
          <a:noFill/>
          <a:ln/>
        </p:spPr>
        <p:txBody>
          <a:bodyPr wrap="square" lIns="0" tIns="0" rIns="0" bIns="0" rtlCol="0" anchor="ctr"/>
          <a:lstStyle/>
          <a:p>
            <a:pPr indent="0" marL="0">
              <a:buNone/>
            </a:pPr>
            <a:r>
              <a:rPr lang="en-US" sz="1500" b="1" dirty="0">
                <a:solidFill>
                  <a:srgbClr val="0EA472"/>
                </a:solidFill>
                <a:latin typeface="Calibri" pitchFamily="34" charset="0"/>
                <a:ea typeface="Calibri" pitchFamily="34" charset="-122"/>
                <a:cs typeface="Calibri" pitchFamily="34" charset="-120"/>
              </a:rPr>
              <a:t>Status today</a:t>
            </a:r>
            <a:endParaRPr lang="en-US" sz="1500" dirty="0"/>
          </a:p>
        </p:txBody>
      </p:sp>
      <p:sp>
        <p:nvSpPr>
          <p:cNvPr id="13" name="Shape 11"/>
          <p:cNvSpPr/>
          <p:nvPr/>
        </p:nvSpPr>
        <p:spPr>
          <a:xfrm>
            <a:off x="822960" y="2377440"/>
            <a:ext cx="310896" cy="310896"/>
          </a:xfrm>
          <a:prstGeom prst="ellipse">
            <a:avLst/>
          </a:prstGeom>
          <a:solidFill>
            <a:srgbClr val="E7F7F0"/>
          </a:solidFill>
          <a:ln/>
        </p:spPr>
      </p:sp>
      <p:sp>
        <p:nvSpPr>
          <p:cNvPr id="14" name="Text 12"/>
          <p:cNvSpPr/>
          <p:nvPr/>
        </p:nvSpPr>
        <p:spPr>
          <a:xfrm>
            <a:off x="822960" y="2368296"/>
            <a:ext cx="310896" cy="310896"/>
          </a:xfrm>
          <a:prstGeom prst="rect">
            <a:avLst/>
          </a:prstGeom>
          <a:noFill/>
          <a:ln/>
        </p:spPr>
        <p:txBody>
          <a:bodyPr wrap="square" lIns="0" tIns="0" rIns="0" bIns="0" rtlCol="0" anchor="ctr"/>
          <a:lstStyle/>
          <a:p>
            <a:pPr algn="ctr" indent="0" marL="0">
              <a:buNone/>
            </a:pPr>
            <a:r>
              <a:rPr lang="en-US" sz="1200" b="1" dirty="0">
                <a:solidFill>
                  <a:srgbClr val="0EA472"/>
                </a:solidFill>
                <a:latin typeface="Calibri" pitchFamily="34" charset="0"/>
                <a:ea typeface="Calibri" pitchFamily="34" charset="-122"/>
                <a:cs typeface="Calibri" pitchFamily="34" charset="-120"/>
              </a:rPr>
              <a:t>✓</a:t>
            </a:r>
            <a:endParaRPr lang="en-US" sz="1200" dirty="0"/>
          </a:p>
        </p:txBody>
      </p:sp>
      <p:sp>
        <p:nvSpPr>
          <p:cNvPr id="15" name="Text 13"/>
          <p:cNvSpPr/>
          <p:nvPr/>
        </p:nvSpPr>
        <p:spPr>
          <a:xfrm>
            <a:off x="1243584" y="2359152"/>
            <a:ext cx="4434840" cy="457200"/>
          </a:xfrm>
          <a:prstGeom prst="rect">
            <a:avLst/>
          </a:prstGeom>
          <a:noFill/>
          <a:ln/>
        </p:spPr>
        <p:txBody>
          <a:bodyPr wrap="square" lIns="0" tIns="0" rIns="0" bIns="0" rtlCol="0" anchor="ctr"/>
          <a:lstStyle/>
          <a:p>
            <a:pPr indent="0" marL="0">
              <a:buNone/>
            </a:pPr>
            <a:r>
              <a:rPr lang="en-US" sz="1200" dirty="0">
                <a:solidFill>
                  <a:srgbClr val="3E4C63"/>
                </a:solidFill>
                <a:latin typeface="Calibri" pitchFamily="34" charset="0"/>
                <a:ea typeface="Calibri" pitchFamily="34" charset="-122"/>
                <a:cs typeface="Calibri" pitchFamily="34" charset="-120"/>
              </a:rPr>
              <a:t>All capabilities built, tested (917 tests) and live — incl. 6 new for 2026</a:t>
            </a:r>
            <a:endParaRPr lang="en-US" sz="1200" dirty="0"/>
          </a:p>
        </p:txBody>
      </p:sp>
      <p:sp>
        <p:nvSpPr>
          <p:cNvPr id="16" name="Shape 14"/>
          <p:cNvSpPr/>
          <p:nvPr/>
        </p:nvSpPr>
        <p:spPr>
          <a:xfrm>
            <a:off x="822960" y="2944368"/>
            <a:ext cx="310896" cy="310896"/>
          </a:xfrm>
          <a:prstGeom prst="ellipse">
            <a:avLst/>
          </a:prstGeom>
          <a:solidFill>
            <a:srgbClr val="E7F7F0"/>
          </a:solidFill>
          <a:ln/>
        </p:spPr>
      </p:sp>
      <p:sp>
        <p:nvSpPr>
          <p:cNvPr id="17" name="Text 15"/>
          <p:cNvSpPr/>
          <p:nvPr/>
        </p:nvSpPr>
        <p:spPr>
          <a:xfrm>
            <a:off x="822960" y="2935224"/>
            <a:ext cx="310896" cy="310896"/>
          </a:xfrm>
          <a:prstGeom prst="rect">
            <a:avLst/>
          </a:prstGeom>
          <a:noFill/>
          <a:ln/>
        </p:spPr>
        <p:txBody>
          <a:bodyPr wrap="square" lIns="0" tIns="0" rIns="0" bIns="0" rtlCol="0" anchor="ctr"/>
          <a:lstStyle/>
          <a:p>
            <a:pPr algn="ctr" indent="0" marL="0">
              <a:buNone/>
            </a:pPr>
            <a:r>
              <a:rPr lang="en-US" sz="1200" b="1" dirty="0">
                <a:solidFill>
                  <a:srgbClr val="0EA472"/>
                </a:solidFill>
                <a:latin typeface="Calibri" pitchFamily="34" charset="0"/>
                <a:ea typeface="Calibri" pitchFamily="34" charset="-122"/>
                <a:cs typeface="Calibri" pitchFamily="34" charset="-120"/>
              </a:rPr>
              <a:t>✓</a:t>
            </a:r>
            <a:endParaRPr lang="en-US" sz="1200" dirty="0"/>
          </a:p>
        </p:txBody>
      </p:sp>
      <p:sp>
        <p:nvSpPr>
          <p:cNvPr id="18" name="Text 16"/>
          <p:cNvSpPr/>
          <p:nvPr/>
        </p:nvSpPr>
        <p:spPr>
          <a:xfrm>
            <a:off x="1243584" y="2926080"/>
            <a:ext cx="4434840" cy="457200"/>
          </a:xfrm>
          <a:prstGeom prst="rect">
            <a:avLst/>
          </a:prstGeom>
          <a:noFill/>
          <a:ln/>
        </p:spPr>
        <p:txBody>
          <a:bodyPr wrap="square" lIns="0" tIns="0" rIns="0" bIns="0" rtlCol="0" anchor="ctr"/>
          <a:lstStyle/>
          <a:p>
            <a:pPr indent="0" marL="0">
              <a:buNone/>
            </a:pPr>
            <a:r>
              <a:rPr lang="en-US" sz="1200" dirty="0">
                <a:solidFill>
                  <a:srgbClr val="3E4C63"/>
                </a:solidFill>
                <a:latin typeface="Calibri" pitchFamily="34" charset="0"/>
                <a:ea typeface="Calibri" pitchFamily="34" charset="-122"/>
                <a:cs typeface="Calibri" pitchFamily="34" charset="-120"/>
              </a:rPr>
              <a:t>Verified end-to-end on the running system</a:t>
            </a:r>
            <a:endParaRPr lang="en-US" sz="1200" dirty="0"/>
          </a:p>
        </p:txBody>
      </p:sp>
      <p:sp>
        <p:nvSpPr>
          <p:cNvPr id="19" name="Shape 17"/>
          <p:cNvSpPr/>
          <p:nvPr/>
        </p:nvSpPr>
        <p:spPr>
          <a:xfrm>
            <a:off x="822960" y="3511296"/>
            <a:ext cx="310896" cy="310896"/>
          </a:xfrm>
          <a:prstGeom prst="ellipse">
            <a:avLst/>
          </a:prstGeom>
          <a:solidFill>
            <a:srgbClr val="E7F7F0"/>
          </a:solidFill>
          <a:ln/>
        </p:spPr>
      </p:sp>
      <p:sp>
        <p:nvSpPr>
          <p:cNvPr id="20" name="Text 18"/>
          <p:cNvSpPr/>
          <p:nvPr/>
        </p:nvSpPr>
        <p:spPr>
          <a:xfrm>
            <a:off x="822960" y="3502152"/>
            <a:ext cx="310896" cy="310896"/>
          </a:xfrm>
          <a:prstGeom prst="rect">
            <a:avLst/>
          </a:prstGeom>
          <a:noFill/>
          <a:ln/>
        </p:spPr>
        <p:txBody>
          <a:bodyPr wrap="square" lIns="0" tIns="0" rIns="0" bIns="0" rtlCol="0" anchor="ctr"/>
          <a:lstStyle/>
          <a:p>
            <a:pPr algn="ctr" indent="0" marL="0">
              <a:buNone/>
            </a:pPr>
            <a:r>
              <a:rPr lang="en-US" sz="1200" b="1" dirty="0">
                <a:solidFill>
                  <a:srgbClr val="0EA472"/>
                </a:solidFill>
                <a:latin typeface="Calibri" pitchFamily="34" charset="0"/>
                <a:ea typeface="Calibri" pitchFamily="34" charset="-122"/>
                <a:cs typeface="Calibri" pitchFamily="34" charset="-120"/>
              </a:rPr>
              <a:t>✓</a:t>
            </a:r>
            <a:endParaRPr lang="en-US" sz="1200" dirty="0"/>
          </a:p>
        </p:txBody>
      </p:sp>
      <p:sp>
        <p:nvSpPr>
          <p:cNvPr id="21" name="Text 19"/>
          <p:cNvSpPr/>
          <p:nvPr/>
        </p:nvSpPr>
        <p:spPr>
          <a:xfrm>
            <a:off x="1243584" y="3493008"/>
            <a:ext cx="4434840" cy="457200"/>
          </a:xfrm>
          <a:prstGeom prst="rect">
            <a:avLst/>
          </a:prstGeom>
          <a:noFill/>
          <a:ln/>
        </p:spPr>
        <p:txBody>
          <a:bodyPr wrap="square" lIns="0" tIns="0" rIns="0" bIns="0" rtlCol="0" anchor="ctr"/>
          <a:lstStyle/>
          <a:p>
            <a:pPr indent="0" marL="0">
              <a:buNone/>
            </a:pPr>
            <a:r>
              <a:rPr lang="en-US" sz="1200" dirty="0">
                <a:solidFill>
                  <a:srgbClr val="3E4C63"/>
                </a:solidFill>
                <a:latin typeface="Calibri" pitchFamily="34" charset="0"/>
                <a:ea typeface="Calibri" pitchFamily="34" charset="-122"/>
                <a:cs typeface="Calibri" pitchFamily="34" charset="-120"/>
              </a:rPr>
              <a:t>Zero extra licence cost — built into our tool</a:t>
            </a:r>
            <a:endParaRPr lang="en-US" sz="1200" dirty="0"/>
          </a:p>
        </p:txBody>
      </p:sp>
      <p:sp>
        <p:nvSpPr>
          <p:cNvPr id="22" name="Shape 20"/>
          <p:cNvSpPr/>
          <p:nvPr/>
        </p:nvSpPr>
        <p:spPr>
          <a:xfrm>
            <a:off x="822960" y="4078224"/>
            <a:ext cx="310896" cy="310896"/>
          </a:xfrm>
          <a:prstGeom prst="ellipse">
            <a:avLst/>
          </a:prstGeom>
          <a:solidFill>
            <a:srgbClr val="E7F7F0"/>
          </a:solidFill>
          <a:ln/>
        </p:spPr>
      </p:sp>
      <p:sp>
        <p:nvSpPr>
          <p:cNvPr id="23" name="Text 21"/>
          <p:cNvSpPr/>
          <p:nvPr/>
        </p:nvSpPr>
        <p:spPr>
          <a:xfrm>
            <a:off x="822960" y="4069080"/>
            <a:ext cx="310896" cy="310896"/>
          </a:xfrm>
          <a:prstGeom prst="rect">
            <a:avLst/>
          </a:prstGeom>
          <a:noFill/>
          <a:ln/>
        </p:spPr>
        <p:txBody>
          <a:bodyPr wrap="square" lIns="0" tIns="0" rIns="0" bIns="0" rtlCol="0" anchor="ctr"/>
          <a:lstStyle/>
          <a:p>
            <a:pPr algn="ctr" indent="0" marL="0">
              <a:buNone/>
            </a:pPr>
            <a:r>
              <a:rPr lang="en-US" sz="1200" b="1" dirty="0">
                <a:solidFill>
                  <a:srgbClr val="0EA472"/>
                </a:solidFill>
                <a:latin typeface="Calibri" pitchFamily="34" charset="0"/>
                <a:ea typeface="Calibri" pitchFamily="34" charset="-122"/>
                <a:cs typeface="Calibri" pitchFamily="34" charset="-120"/>
              </a:rPr>
              <a:t>✓</a:t>
            </a:r>
            <a:endParaRPr lang="en-US" sz="1200" dirty="0"/>
          </a:p>
        </p:txBody>
      </p:sp>
      <p:sp>
        <p:nvSpPr>
          <p:cNvPr id="24" name="Text 22"/>
          <p:cNvSpPr/>
          <p:nvPr/>
        </p:nvSpPr>
        <p:spPr>
          <a:xfrm>
            <a:off x="1243584" y="4059936"/>
            <a:ext cx="4434840" cy="457200"/>
          </a:xfrm>
          <a:prstGeom prst="rect">
            <a:avLst/>
          </a:prstGeom>
          <a:noFill/>
          <a:ln/>
        </p:spPr>
        <p:txBody>
          <a:bodyPr wrap="square" lIns="0" tIns="0" rIns="0" bIns="0" rtlCol="0" anchor="ctr"/>
          <a:lstStyle/>
          <a:p>
            <a:pPr indent="0" marL="0">
              <a:buNone/>
            </a:pPr>
            <a:r>
              <a:rPr lang="en-US" sz="1200" dirty="0">
                <a:solidFill>
                  <a:srgbClr val="3E4C63"/>
                </a:solidFill>
                <a:latin typeface="Calibri" pitchFamily="34" charset="0"/>
                <a:ea typeface="Calibri" pitchFamily="34" charset="-122"/>
                <a:cs typeface="Calibri" pitchFamily="34" charset="-120"/>
              </a:rPr>
              <a:t>Runs on-premise; no data leaves the company</a:t>
            </a:r>
            <a:endParaRPr lang="en-US" sz="1200" dirty="0"/>
          </a:p>
        </p:txBody>
      </p:sp>
      <p:sp>
        <p:nvSpPr>
          <p:cNvPr id="25" name="Shape 23"/>
          <p:cNvSpPr/>
          <p:nvPr/>
        </p:nvSpPr>
        <p:spPr>
          <a:xfrm>
            <a:off x="822960" y="4754880"/>
            <a:ext cx="4846320" cy="914400"/>
          </a:xfrm>
          <a:prstGeom prst="roundRect">
            <a:avLst>
              <a:gd name="adj" fmla="val 7000"/>
            </a:avLst>
          </a:prstGeom>
          <a:solidFill>
            <a:srgbClr val="EAF1FE"/>
          </a:solidFill>
          <a:ln w="12700">
            <a:solidFill>
              <a:srgbClr val="E4EAF2"/>
            </a:solidFill>
            <a:prstDash val="solid"/>
          </a:ln>
        </p:spPr>
      </p:sp>
      <p:sp>
        <p:nvSpPr>
          <p:cNvPr id="26" name="Text 24"/>
          <p:cNvSpPr/>
          <p:nvPr/>
        </p:nvSpPr>
        <p:spPr>
          <a:xfrm>
            <a:off x="1005840" y="4892040"/>
            <a:ext cx="4526280" cy="731520"/>
          </a:xfrm>
          <a:prstGeom prst="rect">
            <a:avLst/>
          </a:prstGeom>
          <a:noFill/>
          <a:ln/>
        </p:spPr>
        <p:txBody>
          <a:bodyPr wrap="square" lIns="0" tIns="0" rIns="0" bIns="0" rtlCol="0" anchor="t"/>
          <a:lstStyle/>
          <a:p>
            <a:pPr indent="0" marL="0">
              <a:lnSpc>
                <a:spcPct val="112000"/>
              </a:lnSpc>
              <a:buNone/>
            </a:pPr>
            <a:r>
              <a:rPr lang="en-US" sz="1100" b="1" dirty="0">
                <a:solidFill>
                  <a:srgbClr val="0F1E3D"/>
                </a:solidFill>
                <a:latin typeface="Calibri" pitchFamily="34" charset="0"/>
                <a:ea typeface="Calibri" pitchFamily="34" charset="-122"/>
                <a:cs typeface="Calibri" pitchFamily="34" charset="-120"/>
              </a:rPr>
              <a:t>Honest note:  </a:t>
            </a:r>
            <a:pPr indent="0" marL="0">
              <a:lnSpc>
                <a:spcPct val="112000"/>
              </a:lnSpc>
              <a:buNone/>
            </a:pPr>
            <a:r>
              <a:rPr lang="en-US" sz="1100" dirty="0">
                <a:solidFill>
                  <a:srgbClr val="3E4C63"/>
                </a:solidFill>
                <a:latin typeface="Calibri" pitchFamily="34" charset="0"/>
                <a:ea typeface="Calibri" pitchFamily="34" charset="-122"/>
                <a:cs typeface="Calibri" pitchFamily="34" charset="-120"/>
              </a:rPr>
              <a:t>the intelligence starts empty and grows with use. The mechanism is proven; the value builds as we feed it.</a:t>
            </a:r>
            <a:endParaRPr lang="en-US" sz="1100" dirty="0"/>
          </a:p>
        </p:txBody>
      </p:sp>
      <p:sp>
        <p:nvSpPr>
          <p:cNvPr id="27" name="Shape 25"/>
          <p:cNvSpPr/>
          <p:nvPr/>
        </p:nvSpPr>
        <p:spPr>
          <a:xfrm>
            <a:off x="6245352" y="1691640"/>
            <a:ext cx="5394960" cy="4160520"/>
          </a:xfrm>
          <a:prstGeom prst="roundRect">
            <a:avLst>
              <a:gd name="adj" fmla="val 1538"/>
            </a:avLst>
          </a:prstGeom>
          <a:solidFill>
            <a:srgbClr val="EAF1FE"/>
          </a:solidFill>
          <a:ln w="12700">
            <a:solidFill>
              <a:srgbClr val="E4EAF2"/>
            </a:solidFill>
            <a:prstDash val="solid"/>
          </a:ln>
        </p:spPr>
      </p:sp>
      <p:sp>
        <p:nvSpPr>
          <p:cNvPr id="28" name="Shape 26"/>
          <p:cNvSpPr/>
          <p:nvPr/>
        </p:nvSpPr>
        <p:spPr>
          <a:xfrm>
            <a:off x="6245352" y="1691640"/>
            <a:ext cx="5394960" cy="457200"/>
          </a:xfrm>
          <a:prstGeom prst="rect">
            <a:avLst/>
          </a:prstGeom>
          <a:solidFill>
            <a:srgbClr val="2563EB"/>
          </a:solidFill>
          <a:ln/>
        </p:spPr>
      </p:sp>
      <p:sp>
        <p:nvSpPr>
          <p:cNvPr id="29" name="Text 27"/>
          <p:cNvSpPr/>
          <p:nvPr/>
        </p:nvSpPr>
        <p:spPr>
          <a:xfrm>
            <a:off x="6537960" y="1691640"/>
            <a:ext cx="4937760" cy="45720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The ask — three small decisions</a:t>
            </a:r>
            <a:endParaRPr lang="en-US" sz="1500" dirty="0"/>
          </a:p>
        </p:txBody>
      </p:sp>
      <p:sp>
        <p:nvSpPr>
          <p:cNvPr id="30" name="Shape 28"/>
          <p:cNvSpPr/>
          <p:nvPr/>
        </p:nvSpPr>
        <p:spPr>
          <a:xfrm>
            <a:off x="6537960" y="2404872"/>
            <a:ext cx="402336" cy="402336"/>
          </a:xfrm>
          <a:prstGeom prst="ellipse">
            <a:avLst/>
          </a:prstGeom>
          <a:solidFill>
            <a:srgbClr val="2563EB"/>
          </a:solidFill>
          <a:ln/>
          <a:effectLst>
            <a:outerShdw sx="100000" sy="100000" kx="0" ky="0" algn="bl" rotWithShape="0" blurRad="1.8031249329042424e+62" dist="5.409374798712724e+61" dir="4.2316648611840007e+73">
              <a:srgbClr val="A7B6CE">
                <a:alpha val="1.8000000000000002e+74"/>
              </a:srgbClr>
            </a:outerShdw>
          </a:effectLst>
        </p:spPr>
      </p:sp>
      <p:sp>
        <p:nvSpPr>
          <p:cNvPr id="31" name="Text 29"/>
          <p:cNvSpPr/>
          <p:nvPr/>
        </p:nvSpPr>
        <p:spPr>
          <a:xfrm>
            <a:off x="6537960" y="2404872"/>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libri" pitchFamily="34" charset="0"/>
                <a:ea typeface="Calibri" pitchFamily="34" charset="-122"/>
                <a:cs typeface="Calibri" pitchFamily="34" charset="-120"/>
              </a:rPr>
              <a:t>1</a:t>
            </a:r>
            <a:endParaRPr lang="en-US" sz="1496" dirty="0"/>
          </a:p>
        </p:txBody>
      </p:sp>
      <p:sp>
        <p:nvSpPr>
          <p:cNvPr id="32" name="Text 30"/>
          <p:cNvSpPr/>
          <p:nvPr/>
        </p:nvSpPr>
        <p:spPr>
          <a:xfrm>
            <a:off x="7068312" y="2386584"/>
            <a:ext cx="4297680" cy="320040"/>
          </a:xfrm>
          <a:prstGeom prst="rect">
            <a:avLst/>
          </a:prstGeom>
          <a:noFill/>
          <a:ln/>
        </p:spPr>
        <p:txBody>
          <a:bodyPr wrap="square" lIns="0" tIns="0" rIns="0" bIns="0" rtlCol="0" anchor="t"/>
          <a:lstStyle/>
          <a:p>
            <a:pPr indent="0" marL="0">
              <a:buNone/>
            </a:pPr>
            <a:r>
              <a:rPr lang="en-US" sz="1350" b="1" dirty="0">
                <a:solidFill>
                  <a:srgbClr val="0F1E3D"/>
                </a:solidFill>
                <a:latin typeface="Calibri" pitchFamily="34" charset="0"/>
                <a:ea typeface="Calibri" pitchFamily="34" charset="-122"/>
                <a:cs typeface="Calibri" pitchFamily="34" charset="-120"/>
              </a:rPr>
              <a:t>Adopt the habit</a:t>
            </a:r>
            <a:endParaRPr lang="en-US" sz="1350" dirty="0"/>
          </a:p>
        </p:txBody>
      </p:sp>
      <p:sp>
        <p:nvSpPr>
          <p:cNvPr id="33" name="Text 31"/>
          <p:cNvSpPr/>
          <p:nvPr/>
        </p:nvSpPr>
        <p:spPr>
          <a:xfrm>
            <a:off x="7068312" y="2715768"/>
            <a:ext cx="4251960" cy="640080"/>
          </a:xfrm>
          <a:prstGeom prst="rect">
            <a:avLst/>
          </a:prstGeom>
          <a:noFill/>
          <a:ln/>
        </p:spPr>
        <p:txBody>
          <a:bodyPr wrap="square" lIns="0" tIns="0" rIns="0" bIns="0" rtlCol="0" anchor="t"/>
          <a:lstStyle/>
          <a:p>
            <a:pPr indent="0" marL="0">
              <a:lnSpc>
                <a:spcPct val="110000"/>
              </a:lnSpc>
              <a:buNone/>
            </a:pPr>
            <a:r>
              <a:rPr lang="en-US" sz="1100" dirty="0">
                <a:solidFill>
                  <a:srgbClr val="3E4C63"/>
                </a:solidFill>
                <a:latin typeface="Calibri" pitchFamily="34" charset="0"/>
                <a:ea typeface="Calibri" pitchFamily="34" charset="-122"/>
                <a:cs typeface="Calibri" pitchFamily="34" charset="-120"/>
              </a:rPr>
              <a:t>Make "Log Actual £" part of the quote-handling routine. One click per quote.</a:t>
            </a:r>
            <a:endParaRPr lang="en-US" sz="1100" dirty="0"/>
          </a:p>
        </p:txBody>
      </p:sp>
      <p:sp>
        <p:nvSpPr>
          <p:cNvPr id="34" name="Shape 32"/>
          <p:cNvSpPr/>
          <p:nvPr/>
        </p:nvSpPr>
        <p:spPr>
          <a:xfrm>
            <a:off x="6537960" y="3502152"/>
            <a:ext cx="402336" cy="402336"/>
          </a:xfrm>
          <a:prstGeom prst="ellipse">
            <a:avLst/>
          </a:prstGeom>
          <a:solidFill>
            <a:srgbClr val="2563EB"/>
          </a:solidFill>
          <a:ln/>
          <a:effectLst>
            <a:outerShdw sx="100000" sy="100000" kx="0" ky="0" algn="bl" rotWithShape="0" blurRad="2.289968664788388e+66" dist="6.86990599436516e+65" dir="2.5389989167104004e+78">
              <a:srgbClr val="A7B6CE">
                <a:alpha val="1.8000000000000003e+79"/>
              </a:srgbClr>
            </a:outerShdw>
          </a:effectLst>
        </p:spPr>
      </p:sp>
      <p:sp>
        <p:nvSpPr>
          <p:cNvPr id="35" name="Text 33"/>
          <p:cNvSpPr/>
          <p:nvPr/>
        </p:nvSpPr>
        <p:spPr>
          <a:xfrm>
            <a:off x="6537960" y="3502152"/>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libri" pitchFamily="34" charset="0"/>
                <a:ea typeface="Calibri" pitchFamily="34" charset="-122"/>
                <a:cs typeface="Calibri" pitchFamily="34" charset="-120"/>
              </a:rPr>
              <a:t>2</a:t>
            </a:r>
            <a:endParaRPr lang="en-US" sz="1496" dirty="0"/>
          </a:p>
        </p:txBody>
      </p:sp>
      <p:sp>
        <p:nvSpPr>
          <p:cNvPr id="36" name="Text 34"/>
          <p:cNvSpPr/>
          <p:nvPr/>
        </p:nvSpPr>
        <p:spPr>
          <a:xfrm>
            <a:off x="7068312" y="3483864"/>
            <a:ext cx="4297680" cy="320040"/>
          </a:xfrm>
          <a:prstGeom prst="rect">
            <a:avLst/>
          </a:prstGeom>
          <a:noFill/>
          <a:ln/>
        </p:spPr>
        <p:txBody>
          <a:bodyPr wrap="square" lIns="0" tIns="0" rIns="0" bIns="0" rtlCol="0" anchor="t"/>
          <a:lstStyle/>
          <a:p>
            <a:pPr indent="0" marL="0">
              <a:buNone/>
            </a:pPr>
            <a:r>
              <a:rPr lang="en-US" sz="1350" b="1" dirty="0">
                <a:solidFill>
                  <a:srgbClr val="0F1E3D"/>
                </a:solidFill>
                <a:latin typeface="Calibri" pitchFamily="34" charset="0"/>
                <a:ea typeface="Calibri" pitchFamily="34" charset="-122"/>
                <a:cs typeface="Calibri" pitchFamily="34" charset="-120"/>
              </a:rPr>
              <a:t>Seed the memory</a:t>
            </a:r>
            <a:endParaRPr lang="en-US" sz="1350" dirty="0"/>
          </a:p>
        </p:txBody>
      </p:sp>
      <p:sp>
        <p:nvSpPr>
          <p:cNvPr id="37" name="Text 35"/>
          <p:cNvSpPr/>
          <p:nvPr/>
        </p:nvSpPr>
        <p:spPr>
          <a:xfrm>
            <a:off x="7068312" y="3813048"/>
            <a:ext cx="4251960" cy="640080"/>
          </a:xfrm>
          <a:prstGeom prst="rect">
            <a:avLst/>
          </a:prstGeom>
          <a:noFill/>
          <a:ln/>
        </p:spPr>
        <p:txBody>
          <a:bodyPr wrap="square" lIns="0" tIns="0" rIns="0" bIns="0" rtlCol="0" anchor="t"/>
          <a:lstStyle/>
          <a:p>
            <a:pPr indent="0" marL="0">
              <a:lnSpc>
                <a:spcPct val="110000"/>
              </a:lnSpc>
              <a:buNone/>
            </a:pPr>
            <a:r>
              <a:rPr lang="en-US" sz="1100" dirty="0">
                <a:solidFill>
                  <a:srgbClr val="3E4C63"/>
                </a:solidFill>
                <a:latin typeface="Calibri" pitchFamily="34" charset="0"/>
                <a:ea typeface="Calibri" pitchFamily="34" charset="-122"/>
                <a:cs typeface="Calibri" pitchFamily="34" charset="-120"/>
              </a:rPr>
              <a:t>Approve a one-off import of historical quotes so the tool starts smart (~1–2 days).</a:t>
            </a:r>
            <a:endParaRPr lang="en-US" sz="1100" dirty="0"/>
          </a:p>
        </p:txBody>
      </p:sp>
      <p:sp>
        <p:nvSpPr>
          <p:cNvPr id="38" name="Shape 36"/>
          <p:cNvSpPr/>
          <p:nvPr/>
        </p:nvSpPr>
        <p:spPr>
          <a:xfrm>
            <a:off x="6537960" y="4599432"/>
            <a:ext cx="402336" cy="402336"/>
          </a:xfrm>
          <a:prstGeom prst="ellipse">
            <a:avLst/>
          </a:prstGeom>
          <a:solidFill>
            <a:srgbClr val="2563EB"/>
          </a:solidFill>
          <a:ln/>
          <a:effectLst>
            <a:outerShdw sx="100000" sy="100000" kx="0" ky="0" algn="bl" rotWithShape="0" blurRad="2.908260204281253e+70" dist="8.724780612843754e+69" dir="1.5233993500262402e+83">
              <a:srgbClr val="A7B6CE">
                <a:alpha val="1.8000000000000004e+84"/>
              </a:srgbClr>
            </a:outerShdw>
          </a:effectLst>
        </p:spPr>
      </p:sp>
      <p:sp>
        <p:nvSpPr>
          <p:cNvPr id="39" name="Text 37"/>
          <p:cNvSpPr/>
          <p:nvPr/>
        </p:nvSpPr>
        <p:spPr>
          <a:xfrm>
            <a:off x="6537960" y="4599432"/>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libri" pitchFamily="34" charset="0"/>
                <a:ea typeface="Calibri" pitchFamily="34" charset="-122"/>
                <a:cs typeface="Calibri" pitchFamily="34" charset="-120"/>
              </a:rPr>
              <a:t>3</a:t>
            </a:r>
            <a:endParaRPr lang="en-US" sz="1496" dirty="0"/>
          </a:p>
        </p:txBody>
      </p:sp>
      <p:sp>
        <p:nvSpPr>
          <p:cNvPr id="40" name="Text 38"/>
          <p:cNvSpPr/>
          <p:nvPr/>
        </p:nvSpPr>
        <p:spPr>
          <a:xfrm>
            <a:off x="7068312" y="4581144"/>
            <a:ext cx="4297680" cy="320040"/>
          </a:xfrm>
          <a:prstGeom prst="rect">
            <a:avLst/>
          </a:prstGeom>
          <a:noFill/>
          <a:ln/>
        </p:spPr>
        <p:txBody>
          <a:bodyPr wrap="square" lIns="0" tIns="0" rIns="0" bIns="0" rtlCol="0" anchor="t"/>
          <a:lstStyle/>
          <a:p>
            <a:pPr indent="0" marL="0">
              <a:buNone/>
            </a:pPr>
            <a:r>
              <a:rPr lang="en-US" sz="1350" b="1" dirty="0">
                <a:solidFill>
                  <a:srgbClr val="0F1E3D"/>
                </a:solidFill>
                <a:latin typeface="Calibri" pitchFamily="34" charset="0"/>
                <a:ea typeface="Calibri" pitchFamily="34" charset="-122"/>
                <a:cs typeface="Calibri" pitchFamily="34" charset="-120"/>
              </a:rPr>
              <a:t>Review the findings</a:t>
            </a:r>
            <a:endParaRPr lang="en-US" sz="1350" dirty="0"/>
          </a:p>
        </p:txBody>
      </p:sp>
      <p:sp>
        <p:nvSpPr>
          <p:cNvPr id="41" name="Text 39"/>
          <p:cNvSpPr/>
          <p:nvPr/>
        </p:nvSpPr>
        <p:spPr>
          <a:xfrm>
            <a:off x="7068312" y="4910328"/>
            <a:ext cx="4251960" cy="640080"/>
          </a:xfrm>
          <a:prstGeom prst="rect">
            <a:avLst/>
          </a:prstGeom>
          <a:noFill/>
          <a:ln/>
        </p:spPr>
        <p:txBody>
          <a:bodyPr wrap="square" lIns="0" tIns="0" rIns="0" bIns="0" rtlCol="0" anchor="t"/>
          <a:lstStyle/>
          <a:p>
            <a:pPr indent="0" marL="0">
              <a:lnSpc>
                <a:spcPct val="110000"/>
              </a:lnSpc>
              <a:buNone/>
            </a:pPr>
            <a:r>
              <a:rPr lang="en-US" sz="1100" dirty="0">
                <a:solidFill>
                  <a:srgbClr val="3E4C63"/>
                </a:solidFill>
                <a:latin typeface="Calibri" pitchFamily="34" charset="0"/>
                <a:ea typeface="Calibri" pitchFamily="34" charset="-122"/>
                <a:cs typeface="Calibri" pitchFamily="34" charset="-120"/>
              </a:rPr>
              <a:t>Put the agent's monthly findings on the sourcing team's agenda — it is already finding money.</a:t>
            </a:r>
            <a:endParaRPr lang="en-US" sz="1100" dirty="0"/>
          </a:p>
        </p:txBody>
      </p:sp>
      <p:sp>
        <p:nvSpPr>
          <p:cNvPr id="42" name="Shape 40"/>
          <p:cNvSpPr/>
          <p:nvPr/>
        </p:nvSpPr>
        <p:spPr>
          <a:xfrm>
            <a:off x="548640" y="6400800"/>
            <a:ext cx="11094415" cy="12802"/>
          </a:xfrm>
          <a:prstGeom prst="rect">
            <a:avLst/>
          </a:prstGeom>
          <a:solidFill>
            <a:srgbClr val="E4EAF2"/>
          </a:solidFill>
          <a:ln/>
        </p:spPr>
      </p:sp>
      <p:sp>
        <p:nvSpPr>
          <p:cNvPr id="43" name="Text 41"/>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Agentic AI Management Briefing</a:t>
            </a:r>
            <a:endParaRPr lang="en-US" sz="850" dirty="0"/>
          </a:p>
        </p:txBody>
      </p:sp>
      <p:sp>
        <p:nvSpPr>
          <p:cNvPr id="44" name="Text 42"/>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20 / 20</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AI in CostVision</dc:title>
  <dc:subject>PptxGenJS Presentation</dc:subject>
  <dc:creator>CostVision</dc:creator>
  <cp:lastModifiedBy>CostVision</cp:lastModifiedBy>
  <cp:revision>1</cp:revision>
  <dcterms:created xsi:type="dcterms:W3CDTF">2026-07-20T10:55:52Z</dcterms:created>
  <dcterms:modified xsi:type="dcterms:W3CDTF">2026-07-20T10:55:52Z</dcterms:modified>
</cp:coreProperties>
</file>