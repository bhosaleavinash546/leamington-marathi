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D97706"/>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I'll show you the Agentic AI capability we have built into CostVision. In one sentence: the tool no longer just calculates — it learns from every analysis we run, remembers every part, gets more accurate with every real quote we log, and even works unattended, flagging savings opportunities by itself. Everything I'll show is from live runs of the system, not mock-ups.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headline numbers, all verified. One: after learning from only three real quotes, the estimating error in a segment dropped from about 11% to under 1%. Two: the autonomous monitor found half a million pounds a year of pricing issues in our demonstration, entirely unattended. Three: when we costed a new bracket, the tool recognised three similar past parts at 99% similarity and told us why. Four: this is production-grade — 790 automated tests. The key message: costing knowledge now accumulates as a company asset instead of living in individual experts' heads.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say Agentic AI, we mean four concrete abilities. It REMEMBERS — every analysis becomes a stored case. It RECOGNISES — new parts are matched against that memory. It SELF-CORRECTS — real quotes teach it, and its accuracy is measured, not asserted. And it ACTS — a background agent raises findings without being asked. One important design choice: every AI suggestion is traceable to specific past parts and shows its arithmetic. That auditability is what makes it usable in supplier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system on one slide. The engineer works exactly as before — they cost a part. The tool remembers it, recognises similar history, and makes suggestions, all automatically. When a real supplier quote arrives, one click teaches the tool, and the background agent keeps watch from then on. The crucial point for adoption: there is essentially no extra workload. One new click when a quote arrives.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the memory. Every analysis is saved with a fingerprint of the part, the full result, any real quotes, and — importantly — the places where an expert corrected the AI. Corrections are how our experts literally teach the tool. Right side: this is shared across the team, it lives in our own database on our own servers, and it compounds — it becomes genuinely useful after only twenty to thirty analyses. Every costing we run from today is a deposit into this asset.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actual live output. An engineer starts costing a new bracket. Before they finish, the tool has found the three most similar parts we've costed before — at 98 to 99 percent similarity — and it explains WHY they matched: same material family, same weight class, same region. It then suggests: the median cost of those parts, the material they all used, and crucially the real quoted prices we logged. A junior engineer instantly benefits from all previous work. And note — every number names its source. No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The chart shows a real measured result: in machining, our estimates ran about 11 percent below the real prices. After the tool learned from just three logged quotes, the remaining error was 0.3 percent. Same story for castings from China, where the bias was in the opposite direction. And that's the subtle but important point on the right: one category under-estimates, another over-estimates — a portfolio average hides both. The tool corrects each category separately. Accuracy here is measured against reality and reported openly — not a marketing claim.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honesty about precision. Every estimate is now delivered as a range — optimistic, most likely, conservative. Early on, with no evidence, the range is wide, and that's the truth. As real quotes prove the tool's accuracy, the range tightens automatically — on our test part, from plus-or-minus twenty percent down to three percent. For buyers this is a practical negotiation tool: the conservative end is the walk-away price; the optimistic end is the stretch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is the one that makes this genuinely 'agentic'. A monitor runs on the server on a schedule — first pass thirty seconds after start-up, then every few hours. It compares what we PAY with what things SHOULD cost, using everything the tool has learned. In the live demonstration it opened these three findings by itself: a renegotiation opportunity worth four hundred thousand pounds a year, an underwater price that signals supply risk, and a stale estimate that needs revalidating. Half a million pounds a year surfaced with nobody at the keyboard. Each finding shows its arithmetic — ready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sits on a wider AI platform we've built. The assistant answers from our own rate data with citations. The RFQ analyst turns a full quote package into a costed, risk-flagged negotiation brief. CAD feature costing tells designers which specific features drive cost. And carbon co-costing gives a CO2 figure alongside every price — which customers increasingly require. All of this feeds and benefits from the same knowledge 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management question: what does this demand from the team? Honestly — almost nothing. Engineers keep costing parts exactly as they do today; the memory builds itself. The one new habit is a single click when a real supplier quote arrives. Optionally, attaching CAD or BOM files sharpens the matching, and a one-off import of historical quotes would let the system start smart instead of starting empty — that's my recommended first action if we proceed.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 not projected. The two headline accuracy results: after learning from three quotes, segment error dropped to well under one percent in both directions of bias. The confidence band tightened seven-fold. Recognition worked at 99 percent on the live example. The unattended agent surfaced half a million pounds. And the whole capability is protected by 790 automated tests, so it won't quietly regress. One caveat I want to be transparent about: these demos used small seeded datasets — real-world accuracy will build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worth remembering. Speed — new parts start from history, not from zero. Accuracy — it compounds with every quote and is always measured, which is what makes our numbers defensible with suppliers. Retention — expert judgement becomes company data instead of leaving with people. And proactive savings — the agent finds money continuously, quantified per year. Finally, the strategic point: this knowledge base is proprietary. A competitor can buy the same software; they cannot buy our accumulated costing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and live — at no extra licence cost, running on our own infrastructure. I'll be honest about the one dependency: the intelligence starts empty and grows with use. So the ask is three small decisions. One: make logging the actual quote a one-click habit. Two: approve a one-off import of our historical quotes so the system starts smart — roughly a day or two of effort. Three: put the agent's findings on the sourcing agenda each month. If we do those three things, this becomes a compounding asset from day one. Thank you — happy to take questions or show the live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0F172A"/>
                </a:solidFill>
                <a:latin typeface="Calibri"/>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A costing tool that learns from every analysis, remembers your parts,</a:t>
            </a:r>
          </a:p>
          <a:p>
            <a:pPr algn="l">
              <a:lnSpc>
                <a:spcPct val="100000"/>
              </a:lnSpc>
              <a:spcAft>
                <a:spcPts val="400"/>
              </a:spcAft>
            </a:pPr>
            <a:r>
              <a:rPr sz="1900" b="0" i="0">
                <a:solidFill>
                  <a:srgbClr val="334155"/>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563EB"/>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891B2"/>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7C3AED"/>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59669"/>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59669"/>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Estimating error fell from 10.9% to 0.3% after the tool learned from just 3 real quotes (verified live).</a:t>
            </a:r>
          </a:p>
        </p:txBody>
      </p:sp>
      <p:sp>
        <p:nvSpPr>
          <p:cNvPr id="14" name="Rounded Rectangle 13"/>
          <p:cNvSpPr/>
          <p:nvPr/>
        </p:nvSpPr>
        <p:spPr>
          <a:xfrm>
            <a:off x="333756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DC2626"/>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In our live demo the background agent flagged £512k/yr of pricing issues —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891B2"/>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A new bracket was matched to 3 past bracket analyses at 98–99% similarity, with reasons shown.</a:t>
            </a:r>
          </a:p>
        </p:txBody>
      </p:sp>
      <p:sp>
        <p:nvSpPr>
          <p:cNvPr id="24" name="Rounded Rectangle 23"/>
          <p:cNvSpPr/>
          <p:nvPr/>
        </p:nvSpPr>
        <p:spPr>
          <a:xfrm>
            <a:off x="9189720" y="1828800"/>
            <a:ext cx="260604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7C3AED"/>
                </a:solidFill>
                <a:latin typeface="Calibri"/>
              </a:rPr>
              <a:t>790</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Every capability is covered by automated tests and was exercised end-to-end on the running system.</a:t>
            </a:r>
          </a:p>
        </p:txBody>
      </p:sp>
      <p:sp>
        <p:nvSpPr>
          <p:cNvPr id="29" name="Rounded Rectangle 28"/>
          <p:cNvSpPr/>
          <p:nvPr/>
        </p:nvSpPr>
        <p:spPr>
          <a:xfrm>
            <a:off x="411480" y="3749039"/>
            <a:ext cx="11384280" cy="246888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0F172A"/>
                </a:solidFill>
                <a:latin typeface="Calibri"/>
              </a:rPr>
              <a:t>The idea, in plain words</a:t>
            </a:r>
          </a:p>
          <a:p>
            <a:pPr algn="l">
              <a:lnSpc>
                <a:spcPct val="115000"/>
              </a:lnSpc>
              <a:spcAft>
                <a:spcPts val="800"/>
              </a:spcAft>
            </a:pPr>
            <a:r>
              <a:rPr sz="1350" b="0" i="0">
                <a:solidFill>
                  <a:srgbClr val="334155"/>
                </a:solidFill>
                <a:latin typeface="Calibri"/>
              </a:rPr>
              <a:t>Until now, every costing started from zero and the result depended on who did it. </a:t>
            </a:r>
            <a:r>
              <a:rPr sz="1350" b="1" i="0">
                <a:solidFill>
                  <a:srgbClr val="0F172A"/>
                </a:solidFill>
                <a:latin typeface="Calibri"/>
              </a:rPr>
              <a:t>Now the tool keeps an organisational memory: </a:t>
            </a:r>
            <a:r>
              <a:rPr sz="1350" b="0" i="0">
                <a:solidFill>
                  <a:srgbClr val="334155"/>
                </a:solidFill>
                <a:latin typeface="Calibri"/>
              </a:rPr>
              <a:t>every analysis is stored, every real supplier quote teaches it, and every new part is compared against everything we have costed before. </a:t>
            </a:r>
          </a:p>
          <a:p>
            <a:pPr algn="l">
              <a:lnSpc>
                <a:spcPct val="115000"/>
              </a:lnSpc>
              <a:spcAft>
                <a:spcPts val="800"/>
              </a:spcAft>
            </a:pPr>
            <a:r>
              <a:rPr sz="1350" b="0" i="0">
                <a:solidFill>
                  <a:srgbClr val="334155"/>
                </a:solidFill>
                <a:latin typeface="Calibri"/>
              </a:rPr>
              <a:t>The knowledge stays in our database, on our servers — it becomes a company asset that gets more valuable with use, and it does not walk out of the door when an expert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563EB"/>
                </a:solidFill>
                <a:latin typeface="Calibr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563EB"/>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 costing is saved as a "case": the part, the inputs, the result, and any real quote. Shared across the whole team.</a:t>
            </a:r>
          </a:p>
        </p:txBody>
      </p:sp>
      <p:sp>
        <p:nvSpPr>
          <p:cNvPr id="14" name="Rounded Rectangle 13"/>
          <p:cNvSpPr/>
          <p:nvPr/>
        </p:nvSpPr>
        <p:spPr>
          <a:xfrm>
            <a:off x="3374136"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891B2"/>
                </a:solidFill>
                <a:latin typeface="Calibr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891B2"/>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Start a new part and it instantly finds the most similar past parts — like an experienced engineer saying "we've done this before".</a:t>
            </a:r>
          </a:p>
        </p:txBody>
      </p:sp>
      <p:sp>
        <p:nvSpPr>
          <p:cNvPr id="19" name="Rounded Rectangle 18"/>
          <p:cNvSpPr/>
          <p:nvPr/>
        </p:nvSpPr>
        <p:spPr>
          <a:xfrm>
            <a:off x="6336792"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7C3AED"/>
                </a:solidFill>
                <a:latin typeface="Calibr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7C3AED"/>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Log the real supplier price and the tool measures its own error, then corrects future estimates in that category.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59669"/>
                </a:solidFill>
                <a:latin typeface="Calibr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59669"/>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A background agent re-checks all stored parts on a schedule and raises findings by itself: "you are overpaying here — worth £400k/yr."</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0F172A"/>
                </a:solidFill>
                <a:latin typeface="Calibri"/>
              </a:rPr>
              <a:t>Deliberate design choice: </a:t>
            </a:r>
            <a:r>
              <a:rPr sz="1250" b="0" i="0">
                <a:solidFill>
                  <a:srgbClr val="334155"/>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4748B"/>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F172A"/>
                </a:solidFill>
                <a:latin typeface="Calibri"/>
              </a:rPr>
              <a:t>No extra work for the engineer. </a:t>
            </a:r>
            <a:r>
              <a:rPr sz="1300" b="0" i="0">
                <a:solidFill>
                  <a:srgbClr val="334155"/>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Part "fingerprint" — </a:t>
            </a:r>
            <a:r>
              <a:rPr sz="1250" b="0" i="0">
                <a:solidFill>
                  <a:srgbClr val="334155"/>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The full cost result — </a:t>
            </a:r>
            <a:r>
              <a:rPr sz="1250" b="0" i="0">
                <a:solidFill>
                  <a:srgbClr val="334155"/>
                </a:solidFill>
                <a:latin typeface="Calibri"/>
              </a:rPr>
              <a:t>total + breakdown by cost driver</a:t>
            </a:r>
          </a:p>
        </p:txBody>
      </p:sp>
      <p:sp>
        <p:nvSpPr>
          <p:cNvPr id="15" name="Rectangle 14"/>
          <p:cNvSpPr/>
          <p:nvPr/>
        </p:nvSpPr>
        <p:spPr>
          <a:xfrm>
            <a:off x="685800" y="3831335"/>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Real quotes — </a:t>
            </a:r>
            <a:r>
              <a:rPr sz="1250" b="0" i="0">
                <a:solidFill>
                  <a:srgbClr val="334155"/>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Expert corrections — </a:t>
            </a:r>
            <a:r>
              <a:rPr sz="1250" b="0" i="0">
                <a:solidFill>
                  <a:srgbClr val="334155"/>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CAD shape data — </a:t>
            </a:r>
            <a:r>
              <a:rPr sz="1250" b="0" i="0">
                <a:solidFill>
                  <a:srgbClr val="334155"/>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Shared, not personal</a:t>
            </a:r>
          </a:p>
          <a:p>
            <a:pPr algn="l">
              <a:lnSpc>
                <a:spcPct val="105000"/>
              </a:lnSpc>
              <a:spcAft>
                <a:spcPts val="200"/>
              </a:spcAft>
            </a:pPr>
            <a:r>
              <a:rPr sz="1150" b="0" i="0">
                <a:solidFill>
                  <a:srgbClr val="334155"/>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Stays on our servers</a:t>
            </a:r>
          </a:p>
          <a:p>
            <a:pPr algn="l">
              <a:lnSpc>
                <a:spcPct val="105000"/>
              </a:lnSpc>
              <a:spcAft>
                <a:spcPts val="200"/>
              </a:spcAft>
            </a:pPr>
            <a:r>
              <a:rPr sz="1150" b="0" i="0">
                <a:solidFill>
                  <a:srgbClr val="334155"/>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No duplicates</a:t>
            </a:r>
          </a:p>
          <a:p>
            <a:pPr algn="l">
              <a:lnSpc>
                <a:spcPct val="105000"/>
              </a:lnSpc>
              <a:spcAft>
                <a:spcPts val="200"/>
              </a:spcAft>
            </a:pPr>
            <a:r>
              <a:rPr sz="1150" b="0" i="0">
                <a:solidFill>
                  <a:srgbClr val="334155"/>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Compounds with use</a:t>
            </a:r>
          </a:p>
          <a:p>
            <a:pPr algn="l">
              <a:lnSpc>
                <a:spcPct val="105000"/>
              </a:lnSpc>
              <a:spcAft>
                <a:spcPts val="200"/>
              </a:spcAft>
            </a:pPr>
            <a:r>
              <a:rPr sz="1150" b="0" i="0">
                <a:solidFill>
                  <a:srgbClr val="334155"/>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  AI memory — similar past parts</a:t>
            </a:r>
            <a:r>
              <a:rPr sz="1050" b="0" i="0">
                <a:solidFill>
                  <a:srgbClr val="64748B"/>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EV Battery Bracket</a:t>
            </a:r>
            <a:r>
              <a:rPr sz="1050" b="0" i="0">
                <a:solidFill>
                  <a:srgbClr val="64748B"/>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£41.20</a:t>
            </a:r>
            <a:r>
              <a:rPr sz="1100" b="1" i="0">
                <a:solidFill>
                  <a:srgbClr val="7C3AED"/>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Sensor Mount Bracket</a:t>
            </a:r>
            <a:r>
              <a:rPr sz="1050" b="0" i="0">
                <a:solidFill>
                  <a:srgbClr val="64748B"/>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£38.50</a:t>
            </a:r>
            <a:r>
              <a:rPr sz="1100" b="1" i="0">
                <a:solidFill>
                  <a:srgbClr val="7C3AED"/>
                </a:solidFill>
                <a:latin typeface="Calibri"/>
              </a:rPr>
              <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Inverter Bracket</a:t>
            </a:r>
            <a:r>
              <a:rPr sz="1050" b="0" i="0">
                <a:solidFill>
                  <a:srgbClr val="64748B"/>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£44.80</a:t>
            </a:r>
            <a:r>
              <a:rPr sz="1100" b="1" i="0">
                <a:solidFill>
                  <a:srgbClr val="7C3AED"/>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7C3AED"/>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Every match is explained (what matched, and how strongly) and every suggestion names its source parts — </a:t>
            </a:r>
            <a:r>
              <a:rPr sz="1250" b="1" i="0">
                <a:solidFill>
                  <a:srgbClr val="0F172A"/>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0F172A"/>
                </a:solidFill>
                <a:latin typeface="Calibri"/>
              </a:rPr>
              <a:t>How it works, simply</a:t>
            </a:r>
          </a:p>
          <a:p>
            <a:pPr algn="l">
              <a:lnSpc>
                <a:spcPct val="112000"/>
              </a:lnSpc>
              <a:spcAft>
                <a:spcPts val="1000"/>
              </a:spcAft>
            </a:pPr>
            <a:r>
              <a:rPr sz="1250" b="0" i="0">
                <a:solidFill>
                  <a:srgbClr val="334155"/>
                </a:solidFill>
                <a:latin typeface="Calibri"/>
              </a:rPr>
              <a:t>1.  A real supplier quote arrives → one click logs it.</a:t>
            </a:r>
          </a:p>
          <a:p>
            <a:pPr algn="l">
              <a:lnSpc>
                <a:spcPct val="112000"/>
              </a:lnSpc>
              <a:spcAft>
                <a:spcPts val="1000"/>
              </a:spcAft>
            </a:pPr>
            <a:r>
              <a:rPr sz="1250" b="0" i="0">
                <a:solidFill>
                  <a:srgbClr val="334155"/>
                </a:solidFill>
                <a:latin typeface="Calibri"/>
              </a:rPr>
              <a:t>2.  The tool compares its estimate with reality and measures its own error.</a:t>
            </a:r>
          </a:p>
          <a:p>
            <a:pPr algn="l">
              <a:lnSpc>
                <a:spcPct val="112000"/>
              </a:lnSpc>
              <a:spcAft>
                <a:spcPts val="1000"/>
              </a:spcAft>
            </a:pPr>
            <a:r>
              <a:rPr sz="1250" b="0" i="0">
                <a:solidFill>
                  <a:srgbClr val="334155"/>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34155"/>
                </a:solidFill>
                <a:latin typeface="Calibri"/>
              </a:rPr>
              <a:t>4.  It reports its accuracy openly (error % before and after).</a:t>
            </a:r>
          </a:p>
          <a:p>
            <a:pPr algn="l">
              <a:lnSpc>
                <a:spcPct val="112000"/>
              </a:lnSpc>
              <a:spcAft>
                <a:spcPts val="1000"/>
              </a:spcAft>
            </a:pPr>
            <a:r>
              <a:rPr sz="1250" b="1" i="0">
                <a:solidFill>
                  <a:srgbClr val="0F172A"/>
                </a:solidFill>
                <a:latin typeface="Calibri"/>
              </a:rPr>
              <a:t>Why per-category matters: </a:t>
            </a:r>
            <a:r>
              <a:rPr sz="1250" b="0" i="0">
                <a:solidFill>
                  <a:srgbClr val="334155"/>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0F172A"/>
                </a:solidFill>
                <a:latin typeface="Calibri"/>
              </a:rPr>
              <a:t>Every estimate now comes as a range</a:t>
            </a:r>
          </a:p>
          <a:p>
            <a:pPr algn="l">
              <a:lnSpc>
                <a:spcPct val="115000"/>
              </a:lnSpc>
              <a:spcAft>
                <a:spcPts val="1000"/>
              </a:spcAft>
            </a:pPr>
            <a:r>
              <a:rPr sz="1250" b="1" i="0">
                <a:solidFill>
                  <a:srgbClr val="2563EB"/>
                </a:solidFill>
                <a:latin typeface="Calibri"/>
              </a:rPr>
              <a:t>Optimistic (P10)  ·  Most likely (P50)  ·  Conservative (P90)</a:t>
            </a:r>
          </a:p>
          <a:p>
            <a:pPr algn="l">
              <a:lnSpc>
                <a:spcPct val="115000"/>
              </a:lnSpc>
              <a:spcAft>
                <a:spcPts val="1000"/>
              </a:spcAft>
            </a:pPr>
            <a:r>
              <a:rPr sz="1250" b="0" i="0">
                <a:solidFill>
                  <a:srgbClr val="334155"/>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0F172A"/>
                </a:solidFill>
                <a:latin typeface="Calibri"/>
              </a:rPr>
              <a:t>The band is earned, not guessed: </a:t>
            </a:r>
            <a:r>
              <a:rPr sz="1250" b="0" i="0">
                <a:solidFill>
                  <a:srgbClr val="334155"/>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 background monitor re-checks every stored part on a schedule. In the live demonstration it opened these findings </a:t>
            </a:r>
            <a:r>
              <a:rPr sz="1300" b="1" i="0">
                <a:solidFill>
                  <a:srgbClr val="0F172A"/>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97706"/>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97706"/>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4748B"/>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Total surfaced in the demo:  </a:t>
            </a:r>
            <a:r>
              <a:rPr sz="1500" b="1" i="0">
                <a:solidFill>
                  <a:srgbClr val="DC2626"/>
                </a:solidFill>
                <a:latin typeface="Calibri"/>
              </a:rPr>
              <a:t>≈ £512,000 / yr</a:t>
            </a:r>
            <a:r>
              <a:rPr sz="1200" b="0" i="0">
                <a:solidFill>
                  <a:srgbClr val="64748B"/>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4748B"/>
                </a:solidFill>
                <a:latin typeface="Calibri"/>
              </a:rPr>
              <a:t>Together with 18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1.  Keep costing parts as normal</a:t>
            </a:r>
          </a:p>
          <a:p>
            <a:pPr algn="l">
              <a:lnSpc>
                <a:spcPct val="100000"/>
              </a:lnSpc>
              <a:spcAft>
                <a:spcPts val="200"/>
              </a:spcAft>
            </a:pPr>
            <a:r>
              <a:rPr sz="1100" b="0" i="0">
                <a:solidFill>
                  <a:srgbClr val="64748B"/>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2.  One click when a real quote arrives</a:t>
            </a:r>
          </a:p>
          <a:p>
            <a:pPr algn="l">
              <a:lnSpc>
                <a:spcPct val="100000"/>
              </a:lnSpc>
              <a:spcAft>
                <a:spcPts val="200"/>
              </a:spcAft>
            </a:pPr>
            <a:r>
              <a:rPr sz="1100" b="0" i="0">
                <a:solidFill>
                  <a:srgbClr val="64748B"/>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3.  Optional: CAD file or BOM</a:t>
            </a:r>
          </a:p>
          <a:p>
            <a:pPr algn="l">
              <a:lnSpc>
                <a:spcPct val="100000"/>
              </a:lnSpc>
              <a:spcAft>
                <a:spcPts val="200"/>
              </a:spcAft>
            </a:pPr>
            <a:r>
              <a:rPr sz="1100" b="0" i="0">
                <a:solidFill>
                  <a:srgbClr val="64748B"/>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4.  Optional: historic quotes (CSV)</a:t>
            </a:r>
          </a:p>
          <a:p>
            <a:pPr algn="l">
              <a:lnSpc>
                <a:spcPct val="100000"/>
              </a:lnSpc>
              <a:spcAft>
                <a:spcPts val="200"/>
              </a:spcAft>
            </a:pPr>
            <a:r>
              <a:rPr sz="1100" b="0" i="0">
                <a:solidFill>
                  <a:srgbClr val="64748B"/>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891B2"/>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7C3AED"/>
                </a:solidFill>
                <a:latin typeface="Calibri"/>
              </a:rPr>
              <a:t>790 passing (60 suites)</a:t>
            </a:r>
          </a:p>
        </p:txBody>
      </p:sp>
      <p:sp>
        <p:nvSpPr>
          <p:cNvPr id="27" name="Rounded Rectangle 26"/>
          <p:cNvSpPr/>
          <p:nvPr/>
        </p:nvSpPr>
        <p:spPr>
          <a:xfrm>
            <a:off x="411480" y="5943600"/>
            <a:ext cx="11384280" cy="658368"/>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How we verified: </a:t>
            </a:r>
            <a:r>
              <a:rPr sz="1200" b="0" i="0">
                <a:solidFill>
                  <a:srgbClr val="334155"/>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563EB"/>
                </a:solidFill>
                <a:latin typeface="Calibri"/>
              </a:rPr>
              <a:t>⚡  </a:t>
            </a:r>
            <a:r>
              <a:rPr sz="1600" b="1" i="0">
                <a:solidFill>
                  <a:srgbClr val="2563EB"/>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059669"/>
                </a:solidFill>
                <a:latin typeface="Calibri"/>
              </a:rPr>
              <a:t>🎯  </a:t>
            </a:r>
            <a:r>
              <a:rPr sz="1600" b="1" i="0">
                <a:solidFill>
                  <a:srgbClr val="059669"/>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7C3AED"/>
                </a:solidFill>
                <a:latin typeface="Calibri"/>
              </a:rPr>
              <a:t>🏦  </a:t>
            </a:r>
            <a:r>
              <a:rPr sz="1600" b="1" i="0">
                <a:solidFill>
                  <a:srgbClr val="7C3AED"/>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DC2626"/>
                </a:solidFill>
                <a:latin typeface="Calibri"/>
              </a:rPr>
              <a:t>💰  </a:t>
            </a:r>
            <a:r>
              <a:rPr sz="1600" b="1" i="0">
                <a:solidFill>
                  <a:srgbClr val="DC2626"/>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And it is ours: </a:t>
            </a:r>
            <a:r>
              <a:rPr sz="1300" b="0" i="0">
                <a:solidFill>
                  <a:srgbClr val="334155"/>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All 6 capabilities built, tested (790 tests) and live</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0F172A"/>
                </a:solidFill>
                <a:latin typeface="Calibri"/>
              </a:rPr>
              <a:t>Honest note: </a:t>
            </a:r>
            <a:r>
              <a:rPr sz="1200" b="0" i="0">
                <a:solidFill>
                  <a:srgbClr val="334155"/>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1.  Adopt the habit</a:t>
            </a:r>
          </a:p>
          <a:p>
            <a:pPr algn="l">
              <a:lnSpc>
                <a:spcPct val="110000"/>
              </a:lnSpc>
              <a:spcAft>
                <a:spcPts val="300"/>
              </a:spcAft>
            </a:pPr>
            <a:r>
              <a:rPr sz="1150" b="0" i="0">
                <a:solidFill>
                  <a:srgbClr val="334155"/>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2.  Seed the memory</a:t>
            </a:r>
          </a:p>
          <a:p>
            <a:pPr algn="l">
              <a:lnSpc>
                <a:spcPct val="110000"/>
              </a:lnSpc>
              <a:spcAft>
                <a:spcPts val="300"/>
              </a:spcAft>
            </a:pPr>
            <a:r>
              <a:rPr sz="1150" b="0" i="0">
                <a:solidFill>
                  <a:srgbClr val="334155"/>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3.  Review the findings</a:t>
            </a:r>
          </a:p>
          <a:p>
            <a:pPr algn="l">
              <a:lnSpc>
                <a:spcPct val="110000"/>
              </a:lnSpc>
              <a:spcAft>
                <a:spcPts val="300"/>
              </a:spcAft>
            </a:pPr>
            <a:r>
              <a:rPr sz="1150" b="0" i="0">
                <a:solidFill>
                  <a:srgbClr val="334155"/>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