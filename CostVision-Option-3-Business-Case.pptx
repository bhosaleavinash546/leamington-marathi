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01168"/>
            <a:ext cx="7315200" cy="274320"/>
          </a:xfrm>
          <a:prstGeom prst="rect">
            <a:avLst/>
          </a:prstGeom>
          <a:noFill/>
        </p:spPr>
        <p:txBody>
          <a:bodyPr wrap="square" lIns="0" rIns="0" tIns="0" bIns="0">
            <a:spAutoFit/>
          </a:bodyPr>
          <a:lstStyle/>
          <a:p>
            <a:r>
              <a:rPr sz="1100" spc="220">
                <a:solidFill>
                  <a:srgbClr val="595959"/>
                </a:solidFill>
                <a:latin typeface="Calibri"/>
              </a:rPr>
              <a:t>CAD to COST BUSINESS CASE</a:t>
            </a:r>
          </a:p>
        </p:txBody>
      </p:sp>
      <p:sp>
        <p:nvSpPr>
          <p:cNvPr id="3" name="TextBox 2"/>
          <p:cNvSpPr txBox="1"/>
          <p:nvPr/>
        </p:nvSpPr>
        <p:spPr>
          <a:xfrm>
            <a:off x="566928" y="585216"/>
            <a:ext cx="10058400" cy="384048"/>
          </a:xfrm>
          <a:prstGeom prst="rect">
            <a:avLst/>
          </a:prstGeom>
          <a:noFill/>
        </p:spPr>
        <p:txBody>
          <a:bodyPr wrap="square" lIns="0" rIns="0" tIns="0" bIns="0">
            <a:spAutoFit/>
          </a:bodyPr>
          <a:lstStyle/>
          <a:p>
            <a:r>
              <a:rPr sz="1700" spc="240">
                <a:solidFill>
                  <a:srgbClr val="1F2A44"/>
                </a:solidFill>
                <a:latin typeface="Calibri"/>
              </a:rPr>
              <a:t>Drawings and PCB Photos – Automated Part Costing</a:t>
            </a:r>
          </a:p>
        </p:txBody>
      </p:sp>
      <p:sp>
        <p:nvSpPr>
          <p:cNvPr id="4" name="Rounded Rectangle 3"/>
          <p:cNvSpPr/>
          <p:nvPr/>
        </p:nvSpPr>
        <p:spPr>
          <a:xfrm>
            <a:off x="384048" y="1042415"/>
            <a:ext cx="5687568" cy="1755648"/>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3504" y="1170432"/>
            <a:ext cx="3749039" cy="256032"/>
          </a:xfrm>
          <a:prstGeom prst="rect">
            <a:avLst/>
          </a:prstGeom>
          <a:noFill/>
        </p:spPr>
        <p:txBody>
          <a:bodyPr wrap="square" lIns="0" rIns="0" tIns="0" bIns="0">
            <a:spAutoFit/>
          </a:bodyPr>
          <a:lstStyle/>
          <a:p>
            <a:pPr algn="l">
              <a:spcAft>
                <a:spcPts val="500"/>
              </a:spcAft>
            </a:pPr>
            <a:r>
              <a:rPr sz="1300" b="1">
                <a:solidFill>
                  <a:srgbClr val="1F2A44"/>
                </a:solidFill>
                <a:latin typeface="Calibri"/>
              </a:rPr>
              <a:t>Problem Statement</a:t>
            </a:r>
          </a:p>
        </p:txBody>
      </p:sp>
      <p:sp>
        <p:nvSpPr>
          <p:cNvPr id="6" name="TextBox 5"/>
          <p:cNvSpPr txBox="1"/>
          <p:nvPr/>
        </p:nvSpPr>
        <p:spPr>
          <a:xfrm>
            <a:off x="603504" y="1389888"/>
            <a:ext cx="5285232" cy="1335024"/>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Most of what a cost engineer needs is written on the 2D drawing, not held in the 3D model. Tolerances, surface finish, heat treatment and material notes are read by eye and typed in by hand.</a:t>
            </a:r>
          </a:p>
          <a:p>
            <a:pPr algn="l" marL="155448" indent="-155448">
              <a:lnSpc>
                <a:spcPct val="100000"/>
              </a:lnSpc>
              <a:spcBef>
                <a:spcPts val="400"/>
              </a:spcBef>
              <a:buFont typeface="Arial"/>
              <a:buChar char="•"/>
            </a:pPr>
            <a:r>
              <a:rPr sz="950">
                <a:solidFill>
                  <a:srgbClr val="333333"/>
                </a:solidFill>
                <a:latin typeface="Calibri"/>
              </a:rPr>
              <a:t>Many parts never reach us as a 3D model. We are sent a drawing. For electronics we are sent a photograph of the board.</a:t>
            </a:r>
          </a:p>
          <a:p>
            <a:pPr algn="l" marL="155448" indent="-155448">
              <a:lnSpc>
                <a:spcPct val="100000"/>
              </a:lnSpc>
              <a:spcBef>
                <a:spcPts val="400"/>
              </a:spcBef>
              <a:buFont typeface="Arial"/>
              <a:buChar char="•"/>
            </a:pPr>
            <a:r>
              <a:rPr sz="950">
                <a:solidFill>
                  <a:srgbClr val="333333"/>
                </a:solidFill>
                <a:latin typeface="Calibri"/>
              </a:rPr>
              <a:t>The costing method and the rate data do not change. This is only about reading the input.</a:t>
            </a:r>
          </a:p>
        </p:txBody>
      </p:sp>
      <p:sp>
        <p:nvSpPr>
          <p:cNvPr id="7" name="TextBox 6"/>
          <p:cNvSpPr txBox="1"/>
          <p:nvPr/>
        </p:nvSpPr>
        <p:spPr>
          <a:xfrm>
            <a:off x="4443984" y="1188720"/>
            <a:ext cx="548640" cy="256032"/>
          </a:xfrm>
          <a:prstGeom prst="rect">
            <a:avLst/>
          </a:prstGeom>
          <a:noFill/>
        </p:spPr>
        <p:txBody>
          <a:bodyPr wrap="square" lIns="0" rIns="0" tIns="0" bIns="0">
            <a:spAutoFit/>
          </a:bodyPr>
          <a:lstStyle/>
          <a:p>
            <a:pPr algn="r"/>
            <a:r>
              <a:rPr sz="1200" b="1">
                <a:solidFill>
                  <a:srgbClr val="1F2A44"/>
                </a:solidFill>
                <a:latin typeface="Calibri"/>
              </a:rPr>
              <a:t>PII:</a:t>
            </a:r>
          </a:p>
        </p:txBody>
      </p:sp>
      <p:sp>
        <p:nvSpPr>
          <p:cNvPr id="8" name="Rectangle 7"/>
          <p:cNvSpPr/>
          <p:nvPr/>
        </p:nvSpPr>
        <p:spPr>
          <a:xfrm>
            <a:off x="5065776" y="1152144"/>
            <a:ext cx="347472" cy="310896"/>
          </a:xfrm>
          <a:prstGeom prst="rect">
            <a:avLst/>
          </a:prstGeom>
          <a:noFill/>
          <a:ln w="15875">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1F2A44"/>
                </a:solidFill>
                <a:latin typeface="Calibri"/>
              </a:rPr>
              <a:t>No</a:t>
            </a:r>
          </a:p>
        </p:txBody>
      </p:sp>
      <p:sp>
        <p:nvSpPr>
          <p:cNvPr id="9" name="Rounded Rectangle 8"/>
          <p:cNvSpPr/>
          <p:nvPr/>
        </p:nvSpPr>
        <p:spPr>
          <a:xfrm>
            <a:off x="6291072" y="1042415"/>
            <a:ext cx="2724912" cy="1243584"/>
          </a:xfrm>
          <a:prstGeom prst="roundRect">
            <a:avLst>
              <a:gd name="adj" fmla="val 3500"/>
            </a:avLst>
          </a:prstGeom>
          <a:solidFill>
            <a:srgbClr val="E2EFDA"/>
          </a:solidFill>
          <a:ln w="12700">
            <a:solidFill>
              <a:srgbClr val="A9C4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73952" y="1152144"/>
            <a:ext cx="2377440" cy="1024128"/>
          </a:xfrm>
          <a:prstGeom prst="rect">
            <a:avLst/>
          </a:prstGeom>
          <a:noFill/>
        </p:spPr>
        <p:txBody>
          <a:bodyPr wrap="square" lIns="0" rIns="0" tIns="0" bIns="0">
            <a:spAutoFit/>
          </a:bodyPr>
          <a:lstStyle/>
          <a:p>
            <a:pPr algn="l">
              <a:spcAft>
                <a:spcPts val="300"/>
              </a:spcAft>
            </a:pPr>
            <a:r>
              <a:rPr sz="1250" b="1">
                <a:solidFill>
                  <a:srgbClr val="1F2A44"/>
                </a:solidFill>
                <a:latin typeface="Calibri"/>
              </a:rPr>
              <a:t>Projected ROI</a:t>
            </a:r>
          </a:p>
          <a:p>
            <a:pPr algn="l">
              <a:lnSpc>
                <a:spcPct val="100000"/>
              </a:lnSpc>
              <a:spcBef>
                <a:spcPts val="400"/>
              </a:spcBef>
            </a:pPr>
            <a:r>
              <a:rPr sz="1100" b="1">
                <a:solidFill>
                  <a:srgbClr val="1F2A44"/>
                </a:solidFill>
                <a:latin typeface="Calibri"/>
              </a:rPr>
              <a:t>Cost: £???</a:t>
            </a:r>
          </a:p>
          <a:p>
            <a:pPr algn="l">
              <a:lnSpc>
                <a:spcPct val="100000"/>
              </a:lnSpc>
              <a:spcBef>
                <a:spcPts val="200"/>
              </a:spcBef>
            </a:pPr>
            <a:r>
              <a:rPr sz="1100" b="1">
                <a:solidFill>
                  <a:srgbClr val="1F2A44"/>
                </a:solidFill>
                <a:latin typeface="Calibri"/>
              </a:rPr>
              <a:t>Return: £???</a:t>
            </a:r>
          </a:p>
          <a:p>
            <a:pPr algn="l">
              <a:lnSpc>
                <a:spcPct val="100000"/>
              </a:lnSpc>
              <a:spcBef>
                <a:spcPts val="400"/>
              </a:spcBef>
            </a:pPr>
            <a:r>
              <a:rPr sz="1000" b="1">
                <a:solidFill>
                  <a:srgbClr val="1F2A44"/>
                </a:solidFill>
                <a:latin typeface="Calibri"/>
              </a:rPr>
              <a:t>What is the return based on?</a:t>
            </a:r>
          </a:p>
          <a:p>
            <a:pPr algn="l">
              <a:lnSpc>
                <a:spcPct val="100000"/>
              </a:lnSpc>
              <a:spcBef>
                <a:spcPts val="100"/>
              </a:spcBef>
            </a:pPr>
            <a:r>
              <a:rPr sz="850" b="0">
                <a:solidFill>
                  <a:srgbClr val="333333"/>
                </a:solidFill>
                <a:latin typeface="Calibri"/>
              </a:rPr>
              <a:t>Parts we cannot cost today, plus the hours spent reading drawings by hand.</a:t>
            </a:r>
          </a:p>
        </p:txBody>
      </p:sp>
      <p:sp>
        <p:nvSpPr>
          <p:cNvPr id="11" name="Rounded Rectangle 10"/>
          <p:cNvSpPr/>
          <p:nvPr/>
        </p:nvSpPr>
        <p:spPr>
          <a:xfrm>
            <a:off x="6291072" y="2395728"/>
            <a:ext cx="2724912" cy="384048"/>
          </a:xfrm>
          <a:prstGeom prst="roundRect">
            <a:avLst>
              <a:gd name="adj" fmla="val 3500"/>
            </a:avLst>
          </a:prstGeom>
          <a:solidFill>
            <a:srgbClr val="DEEAF6"/>
          </a:solidFill>
          <a:ln w="12700">
            <a:solidFill>
              <a:srgbClr val="B4C7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73952" y="2487168"/>
            <a:ext cx="2377440" cy="219456"/>
          </a:xfrm>
          <a:prstGeom prst="rect">
            <a:avLst/>
          </a:prstGeom>
          <a:noFill/>
        </p:spPr>
        <p:txBody>
          <a:bodyPr wrap="square" lIns="0" rIns="0" tIns="0" bIns="0">
            <a:spAutoFit/>
          </a:bodyPr>
          <a:lstStyle/>
          <a:p>
            <a:pPr algn="l">
              <a:spcAft>
                <a:spcPts val="0"/>
              </a:spcAft>
            </a:pPr>
            <a:r>
              <a:rPr sz="1200" b="1">
                <a:solidFill>
                  <a:srgbClr val="1F2A44"/>
                </a:solidFill>
                <a:latin typeface="Calibri"/>
              </a:rPr>
              <a:t>Time (hrs/week)</a:t>
            </a:r>
          </a:p>
        </p:txBody>
      </p:sp>
      <p:sp>
        <p:nvSpPr>
          <p:cNvPr id="13" name="Rounded Rectangle 12"/>
          <p:cNvSpPr/>
          <p:nvPr/>
        </p:nvSpPr>
        <p:spPr>
          <a:xfrm>
            <a:off x="274320" y="2852928"/>
            <a:ext cx="8558784" cy="1609344"/>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12064" y="2944368"/>
            <a:ext cx="2743200" cy="256032"/>
          </a:xfrm>
          <a:prstGeom prst="rect">
            <a:avLst/>
          </a:prstGeom>
          <a:noFill/>
        </p:spPr>
        <p:txBody>
          <a:bodyPr wrap="square" lIns="0" rIns="0" tIns="0" bIns="0">
            <a:spAutoFit/>
          </a:bodyPr>
          <a:lstStyle/>
          <a:p>
            <a:pPr algn="l">
              <a:spcAft>
                <a:spcPts val="500"/>
              </a:spcAft>
            </a:pPr>
            <a:r>
              <a:rPr sz="1300" b="1">
                <a:solidFill>
                  <a:srgbClr val="1F2A44"/>
                </a:solidFill>
                <a:latin typeface="Calibri"/>
              </a:rPr>
              <a:t>Current State</a:t>
            </a:r>
          </a:p>
        </p:txBody>
      </p:sp>
      <p:sp>
        <p:nvSpPr>
          <p:cNvPr id="15" name="TextBox 14"/>
          <p:cNvSpPr txBox="1"/>
          <p:nvPr/>
        </p:nvSpPr>
        <p:spPr>
          <a:xfrm>
            <a:off x="512064" y="3163824"/>
            <a:ext cx="8138160" cy="1225296"/>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A cost engineer reads the drawing, notes the tolerances, finish and heat treatment, and types them into CAPPe alongside the figures taken off the model.</a:t>
            </a:r>
          </a:p>
          <a:p>
            <a:pPr algn="l" marL="155448" indent="-155448">
              <a:lnSpc>
                <a:spcPct val="100000"/>
              </a:lnSpc>
              <a:spcBef>
                <a:spcPts val="400"/>
              </a:spcBef>
              <a:buFont typeface="Arial"/>
              <a:buChar char="•"/>
            </a:pPr>
            <a:r>
              <a:rPr sz="950">
                <a:solidFill>
                  <a:srgbClr val="333333"/>
                </a:solidFill>
                <a:latin typeface="Calibri"/>
              </a:rPr>
              <a:t>For a circuit board, someone lists every component by hand from a photograph or a sample board, then prices each line before any costing can begin.</a:t>
            </a:r>
          </a:p>
          <a:p>
            <a:pPr algn="l" marL="155448" indent="-155448">
              <a:lnSpc>
                <a:spcPct val="100000"/>
              </a:lnSpc>
              <a:spcBef>
                <a:spcPts val="400"/>
              </a:spcBef>
              <a:buFont typeface="Arial"/>
              <a:buChar char="•"/>
            </a:pPr>
            <a:r>
              <a:rPr sz="950">
                <a:solidFill>
                  <a:srgbClr val="333333"/>
                </a:solidFill>
                <a:latin typeface="Calibri"/>
              </a:rPr>
              <a:t>Because it takes so long, we cost the parts we are asked about rather than the ones worth asking about, and a cost is rarely revisited when the design moves on.</a:t>
            </a:r>
          </a:p>
        </p:txBody>
      </p:sp>
      <p:sp>
        <p:nvSpPr>
          <p:cNvPr id="16" name="Rounded Rectangle 15"/>
          <p:cNvSpPr/>
          <p:nvPr/>
        </p:nvSpPr>
        <p:spPr>
          <a:xfrm>
            <a:off x="365760" y="4498848"/>
            <a:ext cx="8412480" cy="213969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504" y="4608576"/>
            <a:ext cx="3657600" cy="256032"/>
          </a:xfrm>
          <a:prstGeom prst="rect">
            <a:avLst/>
          </a:prstGeom>
          <a:noFill/>
        </p:spPr>
        <p:txBody>
          <a:bodyPr wrap="square" lIns="0" rIns="0" tIns="0" bIns="0">
            <a:spAutoFit/>
          </a:bodyPr>
          <a:lstStyle/>
          <a:p>
            <a:pPr algn="l">
              <a:spcAft>
                <a:spcPts val="500"/>
              </a:spcAft>
            </a:pPr>
            <a:r>
              <a:rPr sz="1300" b="1">
                <a:solidFill>
                  <a:srgbClr val="1F2A44"/>
                </a:solidFill>
                <a:latin typeface="Calibri"/>
              </a:rPr>
              <a:t>Proposed Solution/Model</a:t>
            </a:r>
          </a:p>
        </p:txBody>
      </p:sp>
      <p:sp>
        <p:nvSpPr>
          <p:cNvPr id="18" name="TextBox 17"/>
          <p:cNvSpPr txBox="1"/>
          <p:nvPr/>
        </p:nvSpPr>
        <p:spPr>
          <a:xfrm>
            <a:off x="603504" y="4864608"/>
            <a:ext cx="4663440" cy="1700784"/>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Conduct a 3-stage Proof of Value (PoV) project, run the same way as the CAD to Cost PoV.</a:t>
            </a:r>
          </a:p>
          <a:p>
            <a:pPr algn="l" marL="155448" indent="-155448">
              <a:lnSpc>
                <a:spcPct val="100000"/>
              </a:lnSpc>
              <a:spcBef>
                <a:spcPts val="400"/>
              </a:spcBef>
              <a:buFont typeface="Arial"/>
              <a:buChar char="•"/>
            </a:pPr>
            <a:r>
              <a:rPr sz="950">
                <a:solidFill>
                  <a:srgbClr val="333333"/>
                </a:solidFill>
                <a:latin typeface="Calibri"/>
              </a:rPr>
              <a:t>Use an assistant to read the 2D drawing and the board photo and write down what it found — tolerances, finish and heat treatment for a part, the component list for a board.</a:t>
            </a:r>
          </a:p>
          <a:p>
            <a:pPr algn="l" marL="155448" indent="-155448">
              <a:lnSpc>
                <a:spcPct val="100000"/>
              </a:lnSpc>
              <a:spcBef>
                <a:spcPts val="400"/>
              </a:spcBef>
              <a:buFont typeface="Arial"/>
              <a:buChar char="•"/>
            </a:pPr>
            <a:r>
              <a:rPr sz="950">
                <a:solidFill>
                  <a:srgbClr val="333333"/>
                </a:solidFill>
                <a:latin typeface="Calibri"/>
              </a:rPr>
              <a:t>Everything it reads is checked against the measured geometry or a price catalogue before it is used. It reads the input. It does not set any price.</a:t>
            </a:r>
          </a:p>
          <a:p>
            <a:pPr algn="l" marL="155448" indent="-155448">
              <a:lnSpc>
                <a:spcPct val="100000"/>
              </a:lnSpc>
              <a:spcBef>
                <a:spcPts val="400"/>
              </a:spcBef>
              <a:buFont typeface="Arial"/>
              <a:buChar char="•"/>
            </a:pPr>
            <a:r>
              <a:rPr sz="950">
                <a:solidFill>
                  <a:srgbClr val="333333"/>
                </a:solidFill>
                <a:latin typeface="Calibri"/>
              </a:rPr>
              <a:t>Generate cost estimates for a sample of parts and boards, and validate outputs vs existing cost estimates.</a:t>
            </a:r>
          </a:p>
        </p:txBody>
      </p:sp>
      <p:sp>
        <p:nvSpPr>
          <p:cNvPr id="19" name="Rounded Rectangle 18"/>
          <p:cNvSpPr/>
          <p:nvPr/>
        </p:nvSpPr>
        <p:spPr>
          <a:xfrm>
            <a:off x="5413248" y="4663440"/>
            <a:ext cx="3236976" cy="1828800"/>
          </a:xfrm>
          <a:prstGeom prst="roundRect">
            <a:avLst>
              <a:gd name="adj" fmla="val 3500"/>
            </a:avLst>
          </a:prstGeom>
          <a:solidFill>
            <a:srgbClr val="E2EFDA"/>
          </a:solidFill>
          <a:ln w="12700">
            <a:solidFill>
              <a:srgbClr val="A9C4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14416" y="4773168"/>
            <a:ext cx="2834640" cy="256032"/>
          </a:xfrm>
          <a:prstGeom prst="rect">
            <a:avLst/>
          </a:prstGeom>
          <a:noFill/>
        </p:spPr>
        <p:txBody>
          <a:bodyPr wrap="square" lIns="0" rIns="0" tIns="0" bIns="0">
            <a:spAutoFit/>
          </a:bodyPr>
          <a:lstStyle/>
          <a:p>
            <a:pPr algn="l">
              <a:spcAft>
                <a:spcPts val="500"/>
              </a:spcAft>
            </a:pPr>
            <a:r>
              <a:rPr sz="1250" b="1">
                <a:solidFill>
                  <a:srgbClr val="1F2A44"/>
                </a:solidFill>
                <a:latin typeface="Calibri"/>
              </a:rPr>
              <a:t>Expected Benefits:</a:t>
            </a:r>
          </a:p>
        </p:txBody>
      </p:sp>
      <p:sp>
        <p:nvSpPr>
          <p:cNvPr id="21" name="TextBox 20"/>
          <p:cNvSpPr txBox="1"/>
          <p:nvPr/>
        </p:nvSpPr>
        <p:spPr>
          <a:xfrm>
            <a:off x="5614416" y="5084064"/>
            <a:ext cx="2834640" cy="1316736"/>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b="1">
                <a:solidFill>
                  <a:srgbClr val="1F2A44"/>
                </a:solidFill>
                <a:latin typeface="Calibri"/>
              </a:rPr>
              <a:t>Wider Coverage: </a:t>
            </a:r>
            <a:r>
              <a:rPr sz="950">
                <a:solidFill>
                  <a:srgbClr val="333333"/>
                </a:solidFill>
                <a:latin typeface="Calibri"/>
              </a:rPr>
              <a:t>Cost the parts and boards we cannot cost today, because a drawing or a photograph is all we have.</a:t>
            </a:r>
          </a:p>
          <a:p>
            <a:pPr algn="l" marL="155448" indent="-155448">
              <a:lnSpc>
                <a:spcPct val="100000"/>
              </a:lnSpc>
              <a:spcBef>
                <a:spcPts val="600"/>
              </a:spcBef>
              <a:buFont typeface="Arial"/>
              <a:buChar char="•"/>
            </a:pPr>
            <a:r>
              <a:rPr sz="1000" b="1">
                <a:solidFill>
                  <a:srgbClr val="1F2A44"/>
                </a:solidFill>
                <a:latin typeface="Calibri"/>
              </a:rPr>
              <a:t>Improved Quality: </a:t>
            </a:r>
            <a:r>
              <a:rPr sz="1000">
                <a:solidFill>
                  <a:srgbClr val="333333"/>
                </a:solidFill>
                <a:latin typeface="Calibri"/>
              </a:rPr>
              <a:t>Fewer mistakes copying figures across, and the same drawing read the same way every time.</a:t>
            </a:r>
          </a:p>
        </p:txBody>
      </p:sp>
      <p:sp>
        <p:nvSpPr>
          <p:cNvPr id="22" name="Rounded Rectangle 21"/>
          <p:cNvSpPr/>
          <p:nvPr/>
        </p:nvSpPr>
        <p:spPr>
          <a:xfrm>
            <a:off x="9125712" y="3127248"/>
            <a:ext cx="2798064" cy="351129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326880" y="3273552"/>
            <a:ext cx="2395728" cy="256032"/>
          </a:xfrm>
          <a:prstGeom prst="rect">
            <a:avLst/>
          </a:prstGeom>
          <a:noFill/>
        </p:spPr>
        <p:txBody>
          <a:bodyPr wrap="square" lIns="0" rIns="0" tIns="0" bIns="0">
            <a:spAutoFit/>
          </a:bodyPr>
          <a:lstStyle/>
          <a:p>
            <a:pPr algn="l">
              <a:spcAft>
                <a:spcPts val="500"/>
              </a:spcAft>
            </a:pPr>
            <a:r>
              <a:rPr sz="1250" b="1">
                <a:solidFill>
                  <a:srgbClr val="1F2A44"/>
                </a:solidFill>
                <a:latin typeface="Calibri"/>
              </a:rPr>
              <a:t>Technical Scoping:</a:t>
            </a:r>
          </a:p>
        </p:txBody>
      </p:sp>
      <p:sp>
        <p:nvSpPr>
          <p:cNvPr id="24" name="TextBox 23"/>
          <p:cNvSpPr txBox="1"/>
          <p:nvPr/>
        </p:nvSpPr>
        <p:spPr>
          <a:xfrm>
            <a:off x="9326880" y="3511296"/>
            <a:ext cx="2414016" cy="3035808"/>
          </a:xfrm>
          <a:prstGeom prst="rect">
            <a:avLst/>
          </a:prstGeom>
          <a:noFill/>
        </p:spPr>
        <p:txBody>
          <a:bodyPr wrap="square" lIns="0" rIns="0" tIns="0" bIns="0">
            <a:spAutoFit/>
          </a:bodyPr>
          <a:lstStyle/>
          <a:p/>
          <a:p>
            <a:pPr algn="l">
              <a:lnSpc>
                <a:spcPct val="100000"/>
              </a:lnSpc>
              <a:spcBef>
                <a:spcPts val="0"/>
              </a:spcBef>
            </a:pPr>
            <a:r>
              <a:rPr sz="1100" b="1">
                <a:solidFill>
                  <a:srgbClr val="1F2A44"/>
                </a:solidFill>
                <a:latin typeface="Calibri"/>
              </a:rPr>
              <a:t>Enabling AI on an existing system?</a:t>
            </a:r>
          </a:p>
          <a:p>
            <a:pPr algn="l">
              <a:lnSpc>
                <a:spcPct val="100000"/>
              </a:lnSpc>
              <a:spcBef>
                <a:spcPts val="100"/>
              </a:spcBef>
            </a:pPr>
            <a:r>
              <a:rPr sz="1100" b="1">
                <a:solidFill>
                  <a:srgbClr val="1F2A44"/>
                </a:solidFill>
                <a:latin typeface="Calibri"/>
              </a:rPr>
              <a:t>(YES)</a:t>
            </a:r>
          </a:p>
          <a:p>
            <a:pPr algn="l">
              <a:lnSpc>
                <a:spcPct val="100000"/>
              </a:lnSpc>
              <a:spcBef>
                <a:spcPts val="200"/>
              </a:spcBef>
            </a:pPr>
            <a:r>
              <a:rPr sz="900" b="0">
                <a:solidFill>
                  <a:srgbClr val="333333"/>
                </a:solidFill>
                <a:latin typeface="Calibri"/>
              </a:rPr>
              <a:t>The reading is done inside CostVision. CAPPe is not changed.</a:t>
            </a:r>
          </a:p>
          <a:p>
            <a:pPr algn="l">
              <a:lnSpc>
                <a:spcPct val="100000"/>
              </a:lnSpc>
              <a:spcBef>
                <a:spcPts val="1100"/>
              </a:spcBef>
            </a:pPr>
            <a:r>
              <a:rPr sz="1100" b="1">
                <a:solidFill>
                  <a:srgbClr val="1F2A44"/>
                </a:solidFill>
                <a:latin typeface="Calibri"/>
              </a:rPr>
              <a:t>Model used: Claude (Anthropic)</a:t>
            </a:r>
          </a:p>
          <a:p>
            <a:pPr algn="l">
              <a:lnSpc>
                <a:spcPct val="100000"/>
              </a:lnSpc>
              <a:spcBef>
                <a:spcPts val="200"/>
              </a:spcBef>
            </a:pPr>
            <a:r>
              <a:rPr sz="900" b="0">
                <a:solidFill>
                  <a:srgbClr val="333333"/>
                </a:solidFill>
                <a:latin typeface="Calibri"/>
              </a:rPr>
              <a:t>Sonnet and Haiku to read, Opus where a board needs a closer look.</a:t>
            </a:r>
          </a:p>
          <a:p>
            <a:pPr algn="l">
              <a:lnSpc>
                <a:spcPct val="100000"/>
              </a:lnSpc>
              <a:spcBef>
                <a:spcPts val="1100"/>
              </a:spcBef>
            </a:pPr>
            <a:r>
              <a:rPr sz="1100" b="1">
                <a:solidFill>
                  <a:srgbClr val="1F2A44"/>
                </a:solidFill>
                <a:latin typeface="Calibri"/>
              </a:rPr>
              <a:t>Technical implementation/support required?</a:t>
            </a:r>
          </a:p>
          <a:p>
            <a:pPr algn="l">
              <a:lnSpc>
                <a:spcPct val="100000"/>
              </a:lnSpc>
              <a:spcBef>
                <a:spcPts val="100"/>
              </a:spcBef>
            </a:pPr>
            <a:r>
              <a:rPr sz="1100" b="1">
                <a:solidFill>
                  <a:srgbClr val="1F2A44"/>
                </a:solidFill>
                <a:latin typeface="Calibri"/>
              </a:rPr>
              <a:t>(YES)</a:t>
            </a:r>
          </a:p>
          <a:p>
            <a:pPr algn="l">
              <a:lnSpc>
                <a:spcPct val="100000"/>
              </a:lnSpc>
              <a:spcBef>
                <a:spcPts val="200"/>
              </a:spcBef>
            </a:pPr>
            <a:r>
              <a:rPr sz="900" b="0">
                <a:solidFill>
                  <a:srgbClr val="333333"/>
                </a:solidFill>
                <a:latin typeface="Calibri"/>
              </a:rPr>
              <a:t>It needs an approved route to the model. Option 2 runs with that route switched off. This one cannot.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