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01168"/>
            <a:ext cx="7315200" cy="274320"/>
          </a:xfrm>
          <a:prstGeom prst="rect">
            <a:avLst/>
          </a:prstGeom>
          <a:noFill/>
        </p:spPr>
        <p:txBody>
          <a:bodyPr wrap="square" lIns="0" rIns="0" tIns="0" bIns="0">
            <a:spAutoFit/>
          </a:bodyPr>
          <a:lstStyle/>
          <a:p>
            <a:r>
              <a:rPr sz="1100" spc="220">
                <a:solidFill>
                  <a:srgbClr val="595959"/>
                </a:solidFill>
                <a:latin typeface="Calibri"/>
              </a:rPr>
              <a:t>CAD to COST BUSINESS CASE</a:t>
            </a:r>
          </a:p>
        </p:txBody>
      </p:sp>
      <p:sp>
        <p:nvSpPr>
          <p:cNvPr id="3" name="TextBox 2"/>
          <p:cNvSpPr txBox="1"/>
          <p:nvPr/>
        </p:nvSpPr>
        <p:spPr>
          <a:xfrm>
            <a:off x="566928" y="585216"/>
            <a:ext cx="10058400" cy="384048"/>
          </a:xfrm>
          <a:prstGeom prst="rect">
            <a:avLst/>
          </a:prstGeom>
          <a:noFill/>
        </p:spPr>
        <p:txBody>
          <a:bodyPr wrap="square" lIns="0" rIns="0" tIns="0" bIns="0">
            <a:spAutoFit/>
          </a:bodyPr>
          <a:lstStyle/>
          <a:p>
            <a:r>
              <a:rPr sz="1700" spc="240">
                <a:solidFill>
                  <a:srgbClr val="1F2A44"/>
                </a:solidFill>
                <a:latin typeface="Calibri"/>
              </a:rPr>
              <a:t>Drawings and PCB Photos – Automated Part Costing</a:t>
            </a:r>
          </a:p>
        </p:txBody>
      </p:sp>
      <p:sp>
        <p:nvSpPr>
          <p:cNvPr id="4" name="Rounded Rectangle 3"/>
          <p:cNvSpPr/>
          <p:nvPr/>
        </p:nvSpPr>
        <p:spPr>
          <a:xfrm>
            <a:off x="384048" y="1042415"/>
            <a:ext cx="5687568" cy="179222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3504" y="1152144"/>
            <a:ext cx="3749039"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Problem Statement</a:t>
            </a:r>
          </a:p>
        </p:txBody>
      </p:sp>
      <p:sp>
        <p:nvSpPr>
          <p:cNvPr id="6" name="TextBox 5"/>
          <p:cNvSpPr txBox="1"/>
          <p:nvPr/>
        </p:nvSpPr>
        <p:spPr>
          <a:xfrm>
            <a:off x="603504" y="1371600"/>
            <a:ext cx="5285232" cy="1389888"/>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Costing a circuit board means listing every component on it and pricing each one. A board with a few hundred parts is a few hundred separate decisions.</a:t>
            </a:r>
          </a:p>
          <a:p>
            <a:pPr algn="l" marL="155448" indent="-155448">
              <a:lnSpc>
                <a:spcPct val="100000"/>
              </a:lnSpc>
              <a:spcBef>
                <a:spcPts val="400"/>
              </a:spcBef>
              <a:buFont typeface="Arial"/>
              <a:buChar char="•"/>
            </a:pPr>
            <a:r>
              <a:rPr sz="950">
                <a:solidFill>
                  <a:srgbClr val="333333"/>
                </a:solidFill>
                <a:latin typeface="Calibri"/>
              </a:rPr>
              <a:t>It needs someone who knows what electronics cost — a small capacitor, a six-layer board, placing a fine-pitch chip. Few people have that, so boards wait for them.</a:t>
            </a:r>
          </a:p>
          <a:p>
            <a:pPr algn="l" marL="155448" indent="-155448">
              <a:lnSpc>
                <a:spcPct val="100000"/>
              </a:lnSpc>
              <a:spcBef>
                <a:spcPts val="400"/>
              </a:spcBef>
              <a:buFont typeface="Arial"/>
              <a:buChar char="•"/>
            </a:pPr>
            <a:r>
              <a:rPr sz="950">
                <a:solidFill>
                  <a:srgbClr val="333333"/>
                </a:solidFill>
                <a:latin typeface="Calibri"/>
              </a:rPr>
              <a:t>On mechanical parts, most of what we need is written on the 2D drawing, not held in the 3D model, and is read by eye and typed in by hand.</a:t>
            </a:r>
          </a:p>
          <a:p>
            <a:pPr algn="l" marL="155448" indent="-155448">
              <a:lnSpc>
                <a:spcPct val="100000"/>
              </a:lnSpc>
              <a:spcBef>
                <a:spcPts val="400"/>
              </a:spcBef>
              <a:buFont typeface="Arial"/>
              <a:buChar char="•"/>
            </a:pPr>
            <a:r>
              <a:rPr sz="950">
                <a:solidFill>
                  <a:srgbClr val="333333"/>
                </a:solidFill>
                <a:latin typeface="Calibri"/>
              </a:rPr>
              <a:t>The costing method and the rate data do not change. Only the reading changes.</a:t>
            </a:r>
          </a:p>
        </p:txBody>
      </p:sp>
      <p:sp>
        <p:nvSpPr>
          <p:cNvPr id="7" name="TextBox 6"/>
          <p:cNvSpPr txBox="1"/>
          <p:nvPr/>
        </p:nvSpPr>
        <p:spPr>
          <a:xfrm>
            <a:off x="4443984" y="1188720"/>
            <a:ext cx="548640" cy="256032"/>
          </a:xfrm>
          <a:prstGeom prst="rect">
            <a:avLst/>
          </a:prstGeom>
          <a:noFill/>
        </p:spPr>
        <p:txBody>
          <a:bodyPr wrap="square" lIns="0" rIns="0" tIns="0" bIns="0">
            <a:spAutoFit/>
          </a:bodyPr>
          <a:lstStyle/>
          <a:p>
            <a:pPr algn="r"/>
            <a:r>
              <a:rPr sz="1200" b="1">
                <a:solidFill>
                  <a:srgbClr val="1F2A44"/>
                </a:solidFill>
                <a:latin typeface="Calibri"/>
              </a:rPr>
              <a:t>PII:</a:t>
            </a:r>
          </a:p>
        </p:txBody>
      </p:sp>
      <p:sp>
        <p:nvSpPr>
          <p:cNvPr id="8" name="Rectangle 7"/>
          <p:cNvSpPr/>
          <p:nvPr/>
        </p:nvSpPr>
        <p:spPr>
          <a:xfrm>
            <a:off x="5065776" y="1152144"/>
            <a:ext cx="347472" cy="310896"/>
          </a:xfrm>
          <a:prstGeom prst="rect">
            <a:avLst/>
          </a:prstGeom>
          <a:noFill/>
          <a:ln w="15875">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1F2A44"/>
                </a:solidFill>
                <a:latin typeface="Calibri"/>
              </a:rPr>
              <a:t>No</a:t>
            </a:r>
          </a:p>
        </p:txBody>
      </p:sp>
      <p:sp>
        <p:nvSpPr>
          <p:cNvPr id="9" name="Rounded Rectangle 8"/>
          <p:cNvSpPr/>
          <p:nvPr/>
        </p:nvSpPr>
        <p:spPr>
          <a:xfrm>
            <a:off x="6291072" y="1042415"/>
            <a:ext cx="2724912" cy="1243584"/>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73952" y="1152144"/>
            <a:ext cx="2377440" cy="1024128"/>
          </a:xfrm>
          <a:prstGeom prst="rect">
            <a:avLst/>
          </a:prstGeom>
          <a:noFill/>
        </p:spPr>
        <p:txBody>
          <a:bodyPr wrap="square" lIns="0" rIns="0" tIns="0" bIns="0">
            <a:spAutoFit/>
          </a:bodyPr>
          <a:lstStyle/>
          <a:p>
            <a:pPr algn="l">
              <a:spcAft>
                <a:spcPts val="300"/>
              </a:spcAft>
            </a:pPr>
            <a:r>
              <a:rPr sz="1250" b="1">
                <a:solidFill>
                  <a:srgbClr val="1F2A44"/>
                </a:solidFill>
                <a:latin typeface="Calibri"/>
              </a:rPr>
              <a:t>Projected ROI</a:t>
            </a:r>
          </a:p>
          <a:p>
            <a:pPr algn="l">
              <a:lnSpc>
                <a:spcPct val="100000"/>
              </a:lnSpc>
              <a:spcBef>
                <a:spcPts val="400"/>
              </a:spcBef>
            </a:pPr>
            <a:r>
              <a:rPr sz="1100" b="1">
                <a:solidFill>
                  <a:srgbClr val="1F2A44"/>
                </a:solidFill>
                <a:latin typeface="Calibri"/>
              </a:rPr>
              <a:t>Cost: £???</a:t>
            </a:r>
          </a:p>
          <a:p>
            <a:pPr algn="l">
              <a:lnSpc>
                <a:spcPct val="100000"/>
              </a:lnSpc>
              <a:spcBef>
                <a:spcPts val="200"/>
              </a:spcBef>
            </a:pPr>
            <a:r>
              <a:rPr sz="1100" b="1">
                <a:solidFill>
                  <a:srgbClr val="1F2A44"/>
                </a:solidFill>
                <a:latin typeface="Calibri"/>
              </a:rPr>
              <a:t>Return: £???</a:t>
            </a:r>
          </a:p>
          <a:p>
            <a:pPr algn="l">
              <a:lnSpc>
                <a:spcPct val="100000"/>
              </a:lnSpc>
              <a:spcBef>
                <a:spcPts val="400"/>
              </a:spcBef>
            </a:pPr>
            <a:r>
              <a:rPr sz="1000" b="1">
                <a:solidFill>
                  <a:srgbClr val="1F2A44"/>
                </a:solidFill>
                <a:latin typeface="Calibri"/>
              </a:rPr>
              <a:t>What is the return based on?</a:t>
            </a:r>
          </a:p>
          <a:p>
            <a:pPr algn="l">
              <a:lnSpc>
                <a:spcPct val="100000"/>
              </a:lnSpc>
              <a:spcBef>
                <a:spcPts val="100"/>
              </a:spcBef>
            </a:pPr>
            <a:r>
              <a:rPr sz="850" b="0">
                <a:solidFill>
                  <a:srgbClr val="333333"/>
                </a:solidFill>
                <a:latin typeface="Calibri"/>
              </a:rPr>
              <a:t>The boards we turn away today, and the specialist hours spent on them.</a:t>
            </a:r>
          </a:p>
        </p:txBody>
      </p:sp>
      <p:sp>
        <p:nvSpPr>
          <p:cNvPr id="11" name="Rounded Rectangle 10"/>
          <p:cNvSpPr/>
          <p:nvPr/>
        </p:nvSpPr>
        <p:spPr>
          <a:xfrm>
            <a:off x="6291072" y="2395728"/>
            <a:ext cx="2724912" cy="384048"/>
          </a:xfrm>
          <a:prstGeom prst="roundRect">
            <a:avLst>
              <a:gd name="adj" fmla="val 3500"/>
            </a:avLst>
          </a:prstGeom>
          <a:solidFill>
            <a:srgbClr val="DEEAF6"/>
          </a:solidFill>
          <a:ln w="12700">
            <a:solidFill>
              <a:srgbClr val="B4C7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73952" y="2487168"/>
            <a:ext cx="2377440" cy="219456"/>
          </a:xfrm>
          <a:prstGeom prst="rect">
            <a:avLst/>
          </a:prstGeom>
          <a:noFill/>
        </p:spPr>
        <p:txBody>
          <a:bodyPr wrap="square" lIns="0" rIns="0" tIns="0" bIns="0">
            <a:spAutoFit/>
          </a:bodyPr>
          <a:lstStyle/>
          <a:p>
            <a:pPr algn="l">
              <a:spcAft>
                <a:spcPts val="0"/>
              </a:spcAft>
            </a:pPr>
            <a:r>
              <a:rPr sz="1200" b="1">
                <a:solidFill>
                  <a:srgbClr val="1F2A44"/>
                </a:solidFill>
                <a:latin typeface="Calibri"/>
              </a:rPr>
              <a:t>Time (hrs/week)</a:t>
            </a:r>
          </a:p>
        </p:txBody>
      </p:sp>
      <p:sp>
        <p:nvSpPr>
          <p:cNvPr id="13" name="Rounded Rectangle 12"/>
          <p:cNvSpPr/>
          <p:nvPr/>
        </p:nvSpPr>
        <p:spPr>
          <a:xfrm>
            <a:off x="274320" y="2852928"/>
            <a:ext cx="8558784" cy="1609344"/>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12064" y="2944368"/>
            <a:ext cx="2743200"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Current State</a:t>
            </a:r>
          </a:p>
        </p:txBody>
      </p:sp>
      <p:sp>
        <p:nvSpPr>
          <p:cNvPr id="15" name="TextBox 14"/>
          <p:cNvSpPr txBox="1"/>
          <p:nvPr/>
        </p:nvSpPr>
        <p:spPr>
          <a:xfrm>
            <a:off x="512064" y="3163824"/>
            <a:ext cx="8138160" cy="122529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For a board, someone identifies every component from a photo or a sample — package, value, rating, and the exact part number for each chip — then finds a price for every line at the volume we are asking about.</a:t>
            </a:r>
          </a:p>
          <a:p>
            <a:pPr algn="l" marL="155448" indent="-155448">
              <a:lnSpc>
                <a:spcPct val="100000"/>
              </a:lnSpc>
              <a:spcBef>
                <a:spcPts val="400"/>
              </a:spcBef>
              <a:buFont typeface="Arial"/>
              <a:buChar char="•"/>
            </a:pPr>
            <a:r>
              <a:rPr sz="950">
                <a:solidFill>
                  <a:srgbClr val="333333"/>
                </a:solidFill>
                <a:latin typeface="Calibri"/>
              </a:rPr>
              <a:t>The bare board is estimated separately for size, layers, finish and test, and then the assembly on top: how many placements, how many are fine-pitch or BGA, one side or two.</a:t>
            </a:r>
          </a:p>
          <a:p>
            <a:pPr algn="l" marL="155448" indent="-155448">
              <a:lnSpc>
                <a:spcPct val="100000"/>
              </a:lnSpc>
              <a:spcBef>
                <a:spcPts val="400"/>
              </a:spcBef>
              <a:buFont typeface="Arial"/>
              <a:buChar char="•"/>
            </a:pPr>
            <a:r>
              <a:rPr sz="950">
                <a:solidFill>
                  <a:srgbClr val="333333"/>
                </a:solidFill>
                <a:latin typeface="Calibri"/>
              </a:rPr>
              <a:t>All of it needs an electronics cost specialist. When they are busy the board waits. If they move on, we cannot cost boards at all.</a:t>
            </a:r>
          </a:p>
          <a:p>
            <a:pPr algn="l" marL="155448" indent="-155448">
              <a:lnSpc>
                <a:spcPct val="100000"/>
              </a:lnSpc>
              <a:spcBef>
                <a:spcPts val="400"/>
              </a:spcBef>
              <a:buFont typeface="Arial"/>
              <a:buChar char="•"/>
            </a:pPr>
            <a:r>
              <a:rPr sz="950">
                <a:solidFill>
                  <a:srgbClr val="333333"/>
                </a:solidFill>
                <a:latin typeface="Calibri"/>
              </a:rPr>
              <a:t>For a machined part, the drawing is read by eye and the tolerances, finish and heat treatment typed into CAPPe by hand.</a:t>
            </a:r>
          </a:p>
        </p:txBody>
      </p:sp>
      <p:sp>
        <p:nvSpPr>
          <p:cNvPr id="16" name="Rounded Rectangle 15"/>
          <p:cNvSpPr/>
          <p:nvPr/>
        </p:nvSpPr>
        <p:spPr>
          <a:xfrm>
            <a:off x="365760" y="4498848"/>
            <a:ext cx="8412480" cy="21396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504" y="4608576"/>
            <a:ext cx="3657600" cy="256032"/>
          </a:xfrm>
          <a:prstGeom prst="rect">
            <a:avLst/>
          </a:prstGeom>
          <a:noFill/>
        </p:spPr>
        <p:txBody>
          <a:bodyPr wrap="square" lIns="0" rIns="0" tIns="0" bIns="0">
            <a:spAutoFit/>
          </a:bodyPr>
          <a:lstStyle/>
          <a:p>
            <a:pPr algn="l">
              <a:spcAft>
                <a:spcPts val="500"/>
              </a:spcAft>
            </a:pPr>
            <a:r>
              <a:rPr sz="1300" b="1">
                <a:solidFill>
                  <a:srgbClr val="1F2A44"/>
                </a:solidFill>
                <a:latin typeface="Calibri"/>
              </a:rPr>
              <a:t>Proposed Solution/Model</a:t>
            </a:r>
          </a:p>
        </p:txBody>
      </p:sp>
      <p:sp>
        <p:nvSpPr>
          <p:cNvPr id="18" name="TextBox 17"/>
          <p:cNvSpPr txBox="1"/>
          <p:nvPr/>
        </p:nvSpPr>
        <p:spPr>
          <a:xfrm>
            <a:off x="603504" y="4864608"/>
            <a:ext cx="4663440" cy="1700784"/>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a:solidFill>
                  <a:srgbClr val="333333"/>
                </a:solidFill>
                <a:latin typeface="Calibri"/>
              </a:rPr>
              <a:t>Conduct a 3-stage Proof of Value (PoV), run the same way as the CAD to Cost PoV, and validate outputs vs existing cost estimates.</a:t>
            </a:r>
          </a:p>
          <a:p>
            <a:pPr algn="l" marL="155448" indent="-155448">
              <a:lnSpc>
                <a:spcPct val="100000"/>
              </a:lnSpc>
              <a:spcBef>
                <a:spcPts val="400"/>
              </a:spcBef>
              <a:buFont typeface="Arial"/>
              <a:buChar char="•"/>
            </a:pPr>
            <a:r>
              <a:rPr sz="950">
                <a:solidFill>
                  <a:srgbClr val="333333"/>
                </a:solidFill>
                <a:latin typeface="Calibri"/>
              </a:rPr>
              <a:t>For a board: upload a photo, say how many you are making and where it is built. The tool lists the components, prices each line, works out the bare board and the assembly, and gives the full cost.</a:t>
            </a:r>
          </a:p>
          <a:p>
            <a:pPr algn="l" marL="155448" indent="-155448">
              <a:lnSpc>
                <a:spcPct val="100000"/>
              </a:lnSpc>
              <a:spcBef>
                <a:spcPts val="400"/>
              </a:spcBef>
              <a:buFont typeface="Arial"/>
              <a:buChar char="•"/>
            </a:pPr>
            <a:r>
              <a:rPr sz="950">
                <a:solidFill>
                  <a:srgbClr val="333333"/>
                </a:solidFill>
                <a:latin typeface="Calibri"/>
              </a:rPr>
              <a:t>For a machined part: the drawing is read alongside the model, for the tolerances, finish and heat treatment the model cannot carry.</a:t>
            </a:r>
          </a:p>
          <a:p>
            <a:pPr algn="l" marL="155448" indent="-155448">
              <a:lnSpc>
                <a:spcPct val="100000"/>
              </a:lnSpc>
              <a:spcBef>
                <a:spcPts val="400"/>
              </a:spcBef>
              <a:buFont typeface="Arial"/>
              <a:buChar char="•"/>
            </a:pPr>
            <a:r>
              <a:rPr sz="950">
                <a:solidFill>
                  <a:srgbClr val="333333"/>
                </a:solidFill>
                <a:latin typeface="Calibri"/>
              </a:rPr>
              <a:t>Everything it reads is checked against a price catalogue or the measured geometry before it is used. It does not set any price.</a:t>
            </a:r>
          </a:p>
        </p:txBody>
      </p:sp>
      <p:sp>
        <p:nvSpPr>
          <p:cNvPr id="19" name="Rounded Rectangle 18"/>
          <p:cNvSpPr/>
          <p:nvPr/>
        </p:nvSpPr>
        <p:spPr>
          <a:xfrm>
            <a:off x="5413248" y="4663440"/>
            <a:ext cx="3236976" cy="1828800"/>
          </a:xfrm>
          <a:prstGeom prst="roundRect">
            <a:avLst>
              <a:gd name="adj" fmla="val 3500"/>
            </a:avLst>
          </a:prstGeom>
          <a:solidFill>
            <a:srgbClr val="E2EFDA"/>
          </a:solidFill>
          <a:ln w="12700">
            <a:solidFill>
              <a:srgbClr val="A9C4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614416" y="4773168"/>
            <a:ext cx="2834640" cy="256032"/>
          </a:xfrm>
          <a:prstGeom prst="rect">
            <a:avLst/>
          </a:prstGeom>
          <a:noFill/>
        </p:spPr>
        <p:txBody>
          <a:bodyPr wrap="square" lIns="0" rIns="0" tIns="0" bIns="0">
            <a:spAutoFit/>
          </a:bodyPr>
          <a:lstStyle/>
          <a:p>
            <a:pPr algn="l">
              <a:spcAft>
                <a:spcPts val="500"/>
              </a:spcAft>
            </a:pPr>
            <a:r>
              <a:rPr sz="1250" b="1">
                <a:solidFill>
                  <a:srgbClr val="1F2A44"/>
                </a:solidFill>
                <a:latin typeface="Calibri"/>
              </a:rPr>
              <a:t>Expected Benefits:</a:t>
            </a:r>
          </a:p>
        </p:txBody>
      </p:sp>
      <p:sp>
        <p:nvSpPr>
          <p:cNvPr id="21" name="TextBox 20"/>
          <p:cNvSpPr txBox="1"/>
          <p:nvPr/>
        </p:nvSpPr>
        <p:spPr>
          <a:xfrm>
            <a:off x="5614416" y="5084064"/>
            <a:ext cx="2834640" cy="1316736"/>
          </a:xfrm>
          <a:prstGeom prst="rect">
            <a:avLst/>
          </a:prstGeom>
          <a:noFill/>
        </p:spPr>
        <p:txBody>
          <a:bodyPr wrap="square" lIns="0" rIns="0" tIns="0" bIns="0">
            <a:spAutoFit/>
          </a:bodyPr>
          <a:lstStyle/>
          <a:p/>
          <a:p>
            <a:pPr algn="l" marL="155448" indent="-155448">
              <a:lnSpc>
                <a:spcPct val="100000"/>
              </a:lnSpc>
              <a:spcBef>
                <a:spcPts val="0"/>
              </a:spcBef>
              <a:buFont typeface="Arial"/>
              <a:buChar char="•"/>
            </a:pPr>
            <a:r>
              <a:rPr sz="950" b="1">
                <a:solidFill>
                  <a:srgbClr val="1F2A44"/>
                </a:solidFill>
                <a:latin typeface="Calibri"/>
              </a:rPr>
              <a:t>No Specialist Needed: </a:t>
            </a:r>
            <a:r>
              <a:rPr sz="950">
                <a:solidFill>
                  <a:srgbClr val="333333"/>
                </a:solidFill>
                <a:latin typeface="Calibri"/>
              </a:rPr>
              <a:t>A cost engineer can cost a board without being an electronics pricing specialist. The specialist checks the answer instead of building it.</a:t>
            </a:r>
          </a:p>
          <a:p>
            <a:pPr algn="l" marL="155448" indent="-155448">
              <a:lnSpc>
                <a:spcPct val="100000"/>
              </a:lnSpc>
              <a:spcBef>
                <a:spcPts val="600"/>
              </a:spcBef>
              <a:buFont typeface="Arial"/>
              <a:buChar char="•"/>
            </a:pPr>
            <a:r>
              <a:rPr sz="950" b="1">
                <a:solidFill>
                  <a:srgbClr val="1F2A44"/>
                </a:solidFill>
                <a:latin typeface="Calibri"/>
              </a:rPr>
              <a:t>Wider Coverage: </a:t>
            </a:r>
            <a:r>
              <a:rPr sz="950">
                <a:solidFill>
                  <a:srgbClr val="333333"/>
                </a:solidFill>
                <a:latin typeface="Calibri"/>
              </a:rPr>
              <a:t>We can cost the boards and parts we turn away today, and re-cost them when the design changes.</a:t>
            </a:r>
          </a:p>
        </p:txBody>
      </p:sp>
      <p:sp>
        <p:nvSpPr>
          <p:cNvPr id="22" name="Rounded Rectangle 21"/>
          <p:cNvSpPr/>
          <p:nvPr/>
        </p:nvSpPr>
        <p:spPr>
          <a:xfrm>
            <a:off x="9125712" y="3127248"/>
            <a:ext cx="2798064" cy="3511296"/>
          </a:xfrm>
          <a:prstGeom prst="roundRect">
            <a:avLst>
              <a:gd name="adj" fmla="val 3500"/>
            </a:avLst>
          </a:prstGeom>
          <a:noFill/>
          <a:ln w="12700">
            <a:solidFill>
              <a:srgbClr val="C9CFD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326880" y="3273552"/>
            <a:ext cx="2395728" cy="256032"/>
          </a:xfrm>
          <a:prstGeom prst="rect">
            <a:avLst/>
          </a:prstGeom>
          <a:noFill/>
        </p:spPr>
        <p:txBody>
          <a:bodyPr wrap="square" lIns="0" rIns="0" tIns="0" bIns="0">
            <a:spAutoFit/>
          </a:bodyPr>
          <a:lstStyle/>
          <a:p>
            <a:pPr algn="l">
              <a:spcAft>
                <a:spcPts val="500"/>
              </a:spcAft>
            </a:pPr>
            <a:r>
              <a:rPr sz="1250" b="1">
                <a:solidFill>
                  <a:srgbClr val="1F2A44"/>
                </a:solidFill>
                <a:latin typeface="Calibri"/>
              </a:rPr>
              <a:t>Technical Scoping:</a:t>
            </a:r>
          </a:p>
        </p:txBody>
      </p:sp>
      <p:sp>
        <p:nvSpPr>
          <p:cNvPr id="24" name="TextBox 23"/>
          <p:cNvSpPr txBox="1"/>
          <p:nvPr/>
        </p:nvSpPr>
        <p:spPr>
          <a:xfrm>
            <a:off x="9326880" y="3511296"/>
            <a:ext cx="2414016" cy="3035808"/>
          </a:xfrm>
          <a:prstGeom prst="rect">
            <a:avLst/>
          </a:prstGeom>
          <a:noFill/>
        </p:spPr>
        <p:txBody>
          <a:bodyPr wrap="square" lIns="0" rIns="0" tIns="0" bIns="0">
            <a:spAutoFit/>
          </a:bodyPr>
          <a:lstStyle/>
          <a:p/>
          <a:p>
            <a:pPr algn="l">
              <a:lnSpc>
                <a:spcPct val="100000"/>
              </a:lnSpc>
              <a:spcBef>
                <a:spcPts val="0"/>
              </a:spcBef>
            </a:pPr>
            <a:r>
              <a:rPr sz="1100" b="1">
                <a:solidFill>
                  <a:srgbClr val="1F2A44"/>
                </a:solidFill>
                <a:latin typeface="Calibri"/>
              </a:rPr>
              <a:t>Enabling AI on an existing system?</a:t>
            </a:r>
          </a:p>
          <a:p>
            <a:pPr algn="l">
              <a:lnSpc>
                <a:spcPct val="100000"/>
              </a:lnSpc>
              <a:spcBef>
                <a:spcPts val="100"/>
              </a:spcBef>
            </a:pPr>
            <a:r>
              <a:rPr sz="1100" b="1">
                <a:solidFill>
                  <a:srgbClr val="1F2A44"/>
                </a:solidFill>
                <a:latin typeface="Calibri"/>
              </a:rPr>
              <a:t>(YES)</a:t>
            </a:r>
          </a:p>
          <a:p>
            <a:pPr algn="l">
              <a:lnSpc>
                <a:spcPct val="100000"/>
              </a:lnSpc>
              <a:spcBef>
                <a:spcPts val="200"/>
              </a:spcBef>
            </a:pPr>
            <a:r>
              <a:rPr sz="900" b="0">
                <a:solidFill>
                  <a:srgbClr val="333333"/>
                </a:solidFill>
                <a:latin typeface="Calibri"/>
              </a:rPr>
              <a:t>The reading is done inside CostVision. CAPPe is not changed.</a:t>
            </a:r>
          </a:p>
          <a:p>
            <a:pPr algn="l">
              <a:lnSpc>
                <a:spcPct val="100000"/>
              </a:lnSpc>
              <a:spcBef>
                <a:spcPts val="1100"/>
              </a:spcBef>
            </a:pPr>
            <a:r>
              <a:rPr sz="1100" b="1">
                <a:solidFill>
                  <a:srgbClr val="1F2A44"/>
                </a:solidFill>
                <a:latin typeface="Calibri"/>
              </a:rPr>
              <a:t>Model used: Claude (Anthropic)</a:t>
            </a:r>
          </a:p>
          <a:p>
            <a:pPr algn="l">
              <a:lnSpc>
                <a:spcPct val="100000"/>
              </a:lnSpc>
              <a:spcBef>
                <a:spcPts val="200"/>
              </a:spcBef>
            </a:pPr>
            <a:r>
              <a:rPr sz="900" b="0">
                <a:solidFill>
                  <a:srgbClr val="333333"/>
                </a:solidFill>
                <a:latin typeface="Calibri"/>
              </a:rPr>
              <a:t>Sonnet and Haiku to read, Opus where a board needs a closer look.</a:t>
            </a:r>
          </a:p>
          <a:p>
            <a:pPr algn="l">
              <a:lnSpc>
                <a:spcPct val="100000"/>
              </a:lnSpc>
              <a:spcBef>
                <a:spcPts val="1100"/>
              </a:spcBef>
            </a:pPr>
            <a:r>
              <a:rPr sz="1100" b="1">
                <a:solidFill>
                  <a:srgbClr val="1F2A44"/>
                </a:solidFill>
                <a:latin typeface="Calibri"/>
              </a:rPr>
              <a:t>Technical implementation/support required?</a:t>
            </a:r>
          </a:p>
          <a:p>
            <a:pPr algn="l">
              <a:lnSpc>
                <a:spcPct val="100000"/>
              </a:lnSpc>
              <a:spcBef>
                <a:spcPts val="100"/>
              </a:spcBef>
            </a:pPr>
            <a:r>
              <a:rPr sz="1100" b="1">
                <a:solidFill>
                  <a:srgbClr val="1F2A44"/>
                </a:solidFill>
                <a:latin typeface="Calibri"/>
              </a:rPr>
              <a:t>(YES)</a:t>
            </a:r>
          </a:p>
          <a:p>
            <a:pPr algn="l">
              <a:lnSpc>
                <a:spcPct val="100000"/>
              </a:lnSpc>
              <a:spcBef>
                <a:spcPts val="200"/>
              </a:spcBef>
            </a:pPr>
            <a:r>
              <a:rPr sz="900" b="0">
                <a:solidFill>
                  <a:srgbClr val="333333"/>
                </a:solidFill>
                <a:latin typeface="Calibri"/>
              </a:rPr>
              <a:t>It needs an approved route to the model. Option 2 runs with that route switched off. This one cannot.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