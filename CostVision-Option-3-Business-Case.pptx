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Option 3, and it comes down to one question: do we switch the AI on?</a:t>
            </a:r>
          </a:p>
          <a:p/>
          <a:p>
            <a:r>
              <a:t>The version JLR has today runs without an API key. That is Option 2. It costs a part from the 3D model on rules alone, and it asks the engineer when it cannot tell.</a:t>
            </a:r>
          </a:p>
          <a:p/>
          <a:p>
            <a:r>
              <a:t>The gap is boards and drawings. Costing a circuit board means listing every component and pricing each one. We are told a medium board takes two to three weeks, and only a specialist can do it. On machined parts, a lot of what matters is on the 2D drawing, and it is typed in by hand.</a:t>
            </a:r>
          </a:p>
          <a:p/>
          <a:p>
            <a:r>
              <a:t>Option 3 lets the tool read a board photo, or a drawing alongside the 3D model. That code is already in the product. It waits for a key, and adding one turns it on.</a:t>
            </a:r>
          </a:p>
          <a:p/>
          <a:p>
            <a:r>
              <a:t>The real question is safety, so here is what is already built. There is one off-switch. Every AI call goes through one place, and that place can point at a private endpoint. Every AI route has a per-user limit. And the AI never sets a price. It reads. The engine does the arithmetic.</a:t>
            </a:r>
          </a:p>
          <a:p/>
          <a:p>
            <a:r>
              <a:t>The cost and the return are blank on purpose. We have not measured them. That is what the Proof of Value is for.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detail. On the left is how a board is costed today, and what we propose instead.</a:t>
            </a:r>
          </a:p>
          <a:p/>
          <a:p>
            <a:r>
              <a:t>Today someone identifies every component, finds a price for each line, then estimates the bare board and the assembly. It is slow, and it needs a specialist.</a:t>
            </a:r>
          </a:p>
          <a:p/>
          <a:p>
            <a:r>
              <a:t>With AI on, you upload a photo of the board and say how many and where it is built. The tool lists the parts it can see; the tool prices each line from its catalogue and class tables, and works out the board and the assembly. The model is not asked for a cost. For a machined part, the drawing is read next to the 3D model, for things the model cannot carry, like tolerances and finish. If the AI disagrees with the measured geometry, the geometry wins.</a:t>
            </a:r>
          </a:p>
          <a:p/>
          <a:p>
            <a:r>
              <a:t>I am not claiming it is accurate yet. No estimate from this tool has been compared with a price JLR actually paid. So the Proof of Value compares its output with cost estimates we already have.</a:t>
            </a:r>
          </a:p>
          <a:p/>
          <a:p>
            <a:r>
              <a:t>On the right are the benefits we expect. The main one is simple. A cost engineer can cost a board, and the specialist checks the answer instead of building it. The engineer still signs off every figure.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01168"/>
            <a:ext cx="7315200" cy="274320"/>
          </a:xfrm>
          <a:prstGeom prst="rect">
            <a:avLst/>
          </a:prstGeom>
          <a:noFill/>
        </p:spPr>
        <p:txBody>
          <a:bodyPr wrap="square" lIns="0" rIns="0" tIns="0" bIns="0">
            <a:spAutoFit/>
          </a:bodyPr>
          <a:lstStyle/>
          <a:p>
            <a:r>
              <a:rPr sz="1100" spc="220">
                <a:solidFill>
                  <a:srgbClr val="595959"/>
                </a:solidFill>
                <a:latin typeface="Calibri"/>
              </a:rPr>
              <a:t>CAD to COST BUSINESS CASE</a:t>
            </a:r>
          </a:p>
        </p:txBody>
      </p:sp>
      <p:sp>
        <p:nvSpPr>
          <p:cNvPr id="3" name="TextBox 2"/>
          <p:cNvSpPr txBox="1"/>
          <p:nvPr/>
        </p:nvSpPr>
        <p:spPr>
          <a:xfrm>
            <a:off x="566928" y="585216"/>
            <a:ext cx="10058400" cy="384048"/>
          </a:xfrm>
          <a:prstGeom prst="rect">
            <a:avLst/>
          </a:prstGeom>
          <a:noFill/>
        </p:spPr>
        <p:txBody>
          <a:bodyPr wrap="square" lIns="0" rIns="0" tIns="0" bIns="0">
            <a:spAutoFit/>
          </a:bodyPr>
          <a:lstStyle/>
          <a:p>
            <a:r>
              <a:rPr sz="1700" spc="240">
                <a:solidFill>
                  <a:srgbClr val="16325C"/>
                </a:solidFill>
                <a:latin typeface="Calibri"/>
              </a:rPr>
              <a:t>Option 3 – Switch AI On for Drawings and PCB Photos</a:t>
            </a:r>
          </a:p>
        </p:txBody>
      </p:sp>
      <p:sp>
        <p:nvSpPr>
          <p:cNvPr id="4" name="Rounded Rectangle 3"/>
          <p:cNvSpPr/>
          <p:nvPr/>
        </p:nvSpPr>
        <p:spPr>
          <a:xfrm>
            <a:off x="384048" y="1042415"/>
            <a:ext cx="5687568" cy="179222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3504" y="1152144"/>
            <a:ext cx="3749039" cy="256032"/>
          </a:xfrm>
          <a:prstGeom prst="rect">
            <a:avLst/>
          </a:prstGeom>
          <a:noFill/>
        </p:spPr>
        <p:txBody>
          <a:bodyPr wrap="square" lIns="0" rIns="0" tIns="0" bIns="0">
            <a:spAutoFit/>
          </a:bodyPr>
          <a:lstStyle/>
          <a:p>
            <a:pPr algn="l">
              <a:spcAft>
                <a:spcPts val="500"/>
              </a:spcAft>
            </a:pPr>
            <a:r>
              <a:rPr sz="1300" b="1">
                <a:solidFill>
                  <a:srgbClr val="16325C"/>
                </a:solidFill>
                <a:latin typeface="Calibri"/>
              </a:rPr>
              <a:t>Problem Statement</a:t>
            </a:r>
          </a:p>
        </p:txBody>
      </p:sp>
      <p:sp>
        <p:nvSpPr>
          <p:cNvPr id="6" name="TextBox 5"/>
          <p:cNvSpPr txBox="1"/>
          <p:nvPr/>
        </p:nvSpPr>
        <p:spPr>
          <a:xfrm>
            <a:off x="603504" y="1371600"/>
            <a:ext cx="5285232" cy="1389888"/>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Costing a circuit board means listing every component on it and pricing each one. A medium-complexity board takes two to three weeks.</a:t>
            </a:r>
          </a:p>
          <a:p>
            <a:pPr algn="l" marL="155448" indent="-155448">
              <a:lnSpc>
                <a:spcPct val="100000"/>
              </a:lnSpc>
              <a:spcBef>
                <a:spcPts val="400"/>
              </a:spcBef>
              <a:buFont typeface="Arial"/>
              <a:buChar char="•"/>
            </a:pPr>
            <a:r>
              <a:rPr sz="950">
                <a:solidFill>
                  <a:srgbClr val="333333"/>
                </a:solidFill>
                <a:latin typeface="Calibri"/>
              </a:rPr>
              <a:t>It needs someone who knows what electronics cost — a small capacitor, a six-layer board, placing a fine-pitch chip. Few people have that, so boards wait for them.</a:t>
            </a:r>
          </a:p>
          <a:p>
            <a:pPr algn="l" marL="155448" indent="-155448">
              <a:lnSpc>
                <a:spcPct val="100000"/>
              </a:lnSpc>
              <a:spcBef>
                <a:spcPts val="400"/>
              </a:spcBef>
              <a:buFont typeface="Arial"/>
              <a:buChar char="•"/>
            </a:pPr>
            <a:r>
              <a:rPr sz="950">
                <a:solidFill>
                  <a:srgbClr val="333333"/>
                </a:solidFill>
                <a:latin typeface="Calibri"/>
              </a:rPr>
              <a:t>On mechanical parts, most of what we need is written on the 2D drawing, not held in the 3D model, and is read by eye and typed in by hand.</a:t>
            </a:r>
          </a:p>
          <a:p>
            <a:pPr algn="l" marL="155448" indent="-155448">
              <a:lnSpc>
                <a:spcPct val="100000"/>
              </a:lnSpc>
              <a:spcBef>
                <a:spcPts val="400"/>
              </a:spcBef>
              <a:buFont typeface="Arial"/>
              <a:buChar char="•"/>
            </a:pPr>
            <a:r>
              <a:rPr sz="950">
                <a:solidFill>
                  <a:srgbClr val="333333"/>
                </a:solidFill>
                <a:latin typeface="Calibri"/>
              </a:rPr>
              <a:t>The costing method and the rate data do not change. Only the reading changes.</a:t>
            </a:r>
          </a:p>
        </p:txBody>
      </p:sp>
      <p:sp>
        <p:nvSpPr>
          <p:cNvPr id="7" name="TextBox 6"/>
          <p:cNvSpPr txBox="1"/>
          <p:nvPr/>
        </p:nvSpPr>
        <p:spPr>
          <a:xfrm>
            <a:off x="4443984" y="1188720"/>
            <a:ext cx="548640" cy="256032"/>
          </a:xfrm>
          <a:prstGeom prst="rect">
            <a:avLst/>
          </a:prstGeom>
          <a:noFill/>
        </p:spPr>
        <p:txBody>
          <a:bodyPr wrap="square" lIns="0" rIns="0" tIns="0" bIns="0">
            <a:spAutoFit/>
          </a:bodyPr>
          <a:lstStyle/>
          <a:p>
            <a:pPr algn="r"/>
            <a:r>
              <a:rPr sz="1200" b="1">
                <a:solidFill>
                  <a:srgbClr val="16325C"/>
                </a:solidFill>
                <a:latin typeface="Calibri"/>
              </a:rPr>
              <a:t>PII:</a:t>
            </a:r>
          </a:p>
        </p:txBody>
      </p:sp>
      <p:sp>
        <p:nvSpPr>
          <p:cNvPr id="8" name="Rectangle 7"/>
          <p:cNvSpPr/>
          <p:nvPr/>
        </p:nvSpPr>
        <p:spPr>
          <a:xfrm>
            <a:off x="5065776" y="1152144"/>
            <a:ext cx="347472" cy="310896"/>
          </a:xfrm>
          <a:prstGeom prst="rect">
            <a:avLst/>
          </a:prstGeom>
          <a:noFill/>
          <a:ln w="15875">
            <a:solidFill>
              <a:srgbClr val="16325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16325C"/>
                </a:solidFill>
                <a:latin typeface="Calibri"/>
              </a:rPr>
              <a:t>No</a:t>
            </a:r>
          </a:p>
        </p:txBody>
      </p:sp>
      <p:sp>
        <p:nvSpPr>
          <p:cNvPr id="9" name="Rounded Rectangle 8"/>
          <p:cNvSpPr/>
          <p:nvPr/>
        </p:nvSpPr>
        <p:spPr>
          <a:xfrm>
            <a:off x="6291072" y="1024128"/>
            <a:ext cx="2724912" cy="1261872"/>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73952" y="1133856"/>
            <a:ext cx="2377440" cy="1005840"/>
          </a:xfrm>
          <a:prstGeom prst="rect">
            <a:avLst/>
          </a:prstGeom>
          <a:noFill/>
        </p:spPr>
        <p:txBody>
          <a:bodyPr wrap="square" lIns="0" rIns="0" tIns="0" bIns="0">
            <a:spAutoFit/>
          </a:bodyPr>
          <a:lstStyle/>
          <a:p>
            <a:pPr algn="l">
              <a:spcAft>
                <a:spcPts val="300"/>
              </a:spcAft>
            </a:pPr>
            <a:r>
              <a:rPr sz="1250" b="1">
                <a:solidFill>
                  <a:srgbClr val="16325C"/>
                </a:solidFill>
                <a:latin typeface="Calibri"/>
              </a:rPr>
              <a:t>Projected ROI</a:t>
            </a:r>
          </a:p>
          <a:p>
            <a:pPr algn="l">
              <a:lnSpc>
                <a:spcPct val="100000"/>
              </a:lnSpc>
              <a:spcBef>
                <a:spcPts val="400"/>
              </a:spcBef>
            </a:pPr>
            <a:r>
              <a:rPr sz="1100" b="1">
                <a:solidFill>
                  <a:srgbClr val="16325C"/>
                </a:solidFill>
                <a:latin typeface="Calibri"/>
              </a:rPr>
              <a:t>Cost: £ to be confirmed</a:t>
            </a:r>
          </a:p>
          <a:p>
            <a:pPr algn="l">
              <a:lnSpc>
                <a:spcPct val="100000"/>
              </a:lnSpc>
              <a:spcBef>
                <a:spcPts val="200"/>
              </a:spcBef>
            </a:pPr>
            <a:r>
              <a:rPr sz="1100" b="1">
                <a:solidFill>
                  <a:srgbClr val="16325C"/>
                </a:solidFill>
                <a:latin typeface="Calibri"/>
              </a:rPr>
              <a:t>Return: £ to be confirmed</a:t>
            </a:r>
          </a:p>
          <a:p>
            <a:pPr algn="l">
              <a:lnSpc>
                <a:spcPct val="100000"/>
              </a:lnSpc>
              <a:spcBef>
                <a:spcPts val="400"/>
              </a:spcBef>
            </a:pPr>
            <a:r>
              <a:rPr sz="1000" b="1">
                <a:solidFill>
                  <a:srgbClr val="16325C"/>
                </a:solidFill>
                <a:latin typeface="Calibri"/>
              </a:rPr>
              <a:t>What is the return based on?</a:t>
            </a:r>
          </a:p>
          <a:p>
            <a:pPr algn="l">
              <a:lnSpc>
                <a:spcPct val="100000"/>
              </a:lnSpc>
              <a:spcBef>
                <a:spcPts val="100"/>
              </a:spcBef>
            </a:pPr>
            <a:r>
              <a:rPr sz="850" b="0">
                <a:solidFill>
                  <a:srgbClr val="333333"/>
                </a:solidFill>
                <a:latin typeface="Calibri"/>
              </a:rPr>
              <a:t>The boards we turn away, and the weeks a specialist spends on each one.</a:t>
            </a:r>
          </a:p>
        </p:txBody>
      </p:sp>
      <p:sp>
        <p:nvSpPr>
          <p:cNvPr id="11" name="Rounded Rectangle 10"/>
          <p:cNvSpPr/>
          <p:nvPr/>
        </p:nvSpPr>
        <p:spPr>
          <a:xfrm>
            <a:off x="6291072" y="2340864"/>
            <a:ext cx="2724912" cy="493776"/>
          </a:xfrm>
          <a:prstGeom prst="roundRect">
            <a:avLst>
              <a:gd name="adj" fmla="val 3500"/>
            </a:avLst>
          </a:prstGeom>
          <a:solidFill>
            <a:srgbClr val="DEEAF6"/>
          </a:solidFill>
          <a:ln w="12700">
            <a:solidFill>
              <a:srgbClr val="B4C7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73952" y="2404872"/>
            <a:ext cx="2377440" cy="384048"/>
          </a:xfrm>
          <a:prstGeom prst="rect">
            <a:avLst/>
          </a:prstGeom>
          <a:noFill/>
        </p:spPr>
        <p:txBody>
          <a:bodyPr wrap="square" lIns="0" rIns="0" tIns="0" bIns="0">
            <a:spAutoFit/>
          </a:bodyPr>
          <a:lstStyle/>
          <a:p>
            <a:pPr algn="l">
              <a:spcAft>
                <a:spcPts val="0"/>
              </a:spcAft>
            </a:pPr>
            <a:r>
              <a:rPr sz="1200" b="1">
                <a:solidFill>
                  <a:srgbClr val="16325C"/>
                </a:solidFill>
                <a:latin typeface="Calibri"/>
              </a:rPr>
              <a:t>Time (hrs/week)</a:t>
            </a:r>
          </a:p>
          <a:p>
            <a:pPr algn="l">
              <a:lnSpc>
                <a:spcPct val="100000"/>
              </a:lnSpc>
              <a:spcBef>
                <a:spcPts val="200"/>
              </a:spcBef>
            </a:pPr>
            <a:r>
              <a:rPr sz="1000" b="1">
                <a:solidFill>
                  <a:srgbClr val="16325C"/>
                </a:solidFill>
                <a:latin typeface="Calibri"/>
              </a:rPr>
              <a:t>2–3 weeks per board</a:t>
            </a:r>
          </a:p>
        </p:txBody>
      </p:sp>
      <p:sp>
        <p:nvSpPr>
          <p:cNvPr id="13" name="Rounded Rectangle 12"/>
          <p:cNvSpPr/>
          <p:nvPr/>
        </p:nvSpPr>
        <p:spPr>
          <a:xfrm>
            <a:off x="274320" y="2871216"/>
            <a:ext cx="8558784" cy="1298448"/>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12064" y="2962656"/>
            <a:ext cx="2743200" cy="256032"/>
          </a:xfrm>
          <a:prstGeom prst="rect">
            <a:avLst/>
          </a:prstGeom>
          <a:noFill/>
        </p:spPr>
        <p:txBody>
          <a:bodyPr wrap="square" lIns="0" rIns="0" tIns="0" bIns="0">
            <a:spAutoFit/>
          </a:bodyPr>
          <a:lstStyle/>
          <a:p>
            <a:pPr algn="l">
              <a:spcAft>
                <a:spcPts val="500"/>
              </a:spcAft>
            </a:pPr>
            <a:r>
              <a:rPr sz="1300" b="1">
                <a:solidFill>
                  <a:srgbClr val="16325C"/>
                </a:solidFill>
                <a:latin typeface="Calibri"/>
              </a:rPr>
              <a:t>Current State</a:t>
            </a:r>
          </a:p>
        </p:txBody>
      </p:sp>
      <p:sp>
        <p:nvSpPr>
          <p:cNvPr id="15" name="TextBox 14"/>
          <p:cNvSpPr txBox="1"/>
          <p:nvPr/>
        </p:nvSpPr>
        <p:spPr>
          <a:xfrm>
            <a:off x="512064" y="3182112"/>
            <a:ext cx="8138160" cy="914400"/>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Costing one board means listing every component, pricing each line, then estimating the bare board and the assembly. Two to three weeks for a medium board.</a:t>
            </a:r>
          </a:p>
          <a:p>
            <a:pPr algn="l" marL="155448" indent="-155448">
              <a:lnSpc>
                <a:spcPct val="100000"/>
              </a:lnSpc>
              <a:spcBef>
                <a:spcPts val="400"/>
              </a:spcBef>
              <a:buFont typeface="Arial"/>
              <a:buChar char="•"/>
            </a:pPr>
            <a:r>
              <a:rPr sz="950">
                <a:solidFill>
                  <a:srgbClr val="333333"/>
                </a:solidFill>
                <a:latin typeface="Calibri"/>
              </a:rPr>
              <a:t>It needs an electronics cost specialist, and a design change means starting again.</a:t>
            </a:r>
          </a:p>
          <a:p>
            <a:pPr algn="l" marL="155448" indent="-155448">
              <a:lnSpc>
                <a:spcPct val="100000"/>
              </a:lnSpc>
              <a:spcBef>
                <a:spcPts val="400"/>
              </a:spcBef>
              <a:buFont typeface="Arial"/>
              <a:buChar char="•"/>
            </a:pPr>
            <a:r>
              <a:rPr sz="950">
                <a:solidFill>
                  <a:srgbClr val="333333"/>
                </a:solidFill>
                <a:latin typeface="Calibri"/>
              </a:rPr>
              <a:t>For a machined part, the drawing is read by eye and typed into CAPPe by hand.</a:t>
            </a:r>
          </a:p>
        </p:txBody>
      </p:sp>
      <p:sp>
        <p:nvSpPr>
          <p:cNvPr id="16" name="Rounded Rectangle 15"/>
          <p:cNvSpPr/>
          <p:nvPr/>
        </p:nvSpPr>
        <p:spPr>
          <a:xfrm>
            <a:off x="365760" y="4261104"/>
            <a:ext cx="8412480" cy="177393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504" y="4352544"/>
            <a:ext cx="3657600" cy="256032"/>
          </a:xfrm>
          <a:prstGeom prst="rect">
            <a:avLst/>
          </a:prstGeom>
          <a:noFill/>
        </p:spPr>
        <p:txBody>
          <a:bodyPr wrap="square" lIns="0" rIns="0" tIns="0" bIns="0">
            <a:spAutoFit/>
          </a:bodyPr>
          <a:lstStyle/>
          <a:p>
            <a:pPr algn="l">
              <a:spcAft>
                <a:spcPts val="500"/>
              </a:spcAft>
            </a:pPr>
            <a:r>
              <a:rPr sz="1300" b="1">
                <a:solidFill>
                  <a:srgbClr val="16325C"/>
                </a:solidFill>
                <a:latin typeface="Calibri"/>
              </a:rPr>
              <a:t>Proposed Solution/Model</a:t>
            </a:r>
          </a:p>
        </p:txBody>
      </p:sp>
      <p:sp>
        <p:nvSpPr>
          <p:cNvPr id="18" name="TextBox 17"/>
          <p:cNvSpPr txBox="1"/>
          <p:nvPr/>
        </p:nvSpPr>
        <p:spPr>
          <a:xfrm>
            <a:off x="603504" y="4608576"/>
            <a:ext cx="4663440" cy="131673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Conduct a 3-stage Proof of Value (PoV), run the same way as the CAD to Cost PoV.</a:t>
            </a:r>
          </a:p>
          <a:p>
            <a:pPr algn="l" marL="155448" indent="-155448">
              <a:lnSpc>
                <a:spcPct val="100000"/>
              </a:lnSpc>
              <a:spcBef>
                <a:spcPts val="400"/>
              </a:spcBef>
              <a:buFont typeface="Arial"/>
              <a:buChar char="•"/>
            </a:pPr>
            <a:r>
              <a:rPr sz="950">
                <a:solidFill>
                  <a:srgbClr val="333333"/>
                </a:solidFill>
                <a:latin typeface="Calibri"/>
              </a:rPr>
              <a:t>Upload a photo of the board, or a drawing alongside the 3D model. The tool reads it and returns a full cost.</a:t>
            </a:r>
          </a:p>
          <a:p>
            <a:pPr algn="l" marL="155448" indent="-155448">
              <a:lnSpc>
                <a:spcPct val="100000"/>
              </a:lnSpc>
              <a:spcBef>
                <a:spcPts val="400"/>
              </a:spcBef>
              <a:buFont typeface="Arial"/>
              <a:buChar char="•"/>
            </a:pPr>
            <a:r>
              <a:rPr sz="950">
                <a:solidFill>
                  <a:srgbClr val="333333"/>
                </a:solidFill>
                <a:latin typeface="Calibri"/>
              </a:rPr>
              <a:t>Everything it reads is checked before it is used. It does not set any price.</a:t>
            </a:r>
          </a:p>
          <a:p>
            <a:pPr algn="l" marL="155448" indent="-155448">
              <a:lnSpc>
                <a:spcPct val="100000"/>
              </a:lnSpc>
              <a:spcBef>
                <a:spcPts val="400"/>
              </a:spcBef>
              <a:buFont typeface="Arial"/>
              <a:buChar char="•"/>
            </a:pPr>
            <a:r>
              <a:rPr sz="950">
                <a:solidFill>
                  <a:srgbClr val="333333"/>
                </a:solidFill>
                <a:latin typeface="Calibri"/>
              </a:rPr>
              <a:t>The detail is on the next page.</a:t>
            </a:r>
          </a:p>
        </p:txBody>
      </p:sp>
      <p:sp>
        <p:nvSpPr>
          <p:cNvPr id="19" name="Rounded Rectangle 18"/>
          <p:cNvSpPr/>
          <p:nvPr/>
        </p:nvSpPr>
        <p:spPr>
          <a:xfrm>
            <a:off x="5413248" y="4407408"/>
            <a:ext cx="3236976" cy="1463040"/>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14416" y="4498848"/>
            <a:ext cx="2834640" cy="256032"/>
          </a:xfrm>
          <a:prstGeom prst="rect">
            <a:avLst/>
          </a:prstGeom>
          <a:noFill/>
        </p:spPr>
        <p:txBody>
          <a:bodyPr wrap="square" lIns="0" rIns="0" tIns="0" bIns="0">
            <a:spAutoFit/>
          </a:bodyPr>
          <a:lstStyle/>
          <a:p>
            <a:pPr algn="l">
              <a:spcAft>
                <a:spcPts val="500"/>
              </a:spcAft>
            </a:pPr>
            <a:r>
              <a:rPr sz="1250" b="1">
                <a:solidFill>
                  <a:srgbClr val="16325C"/>
                </a:solidFill>
                <a:latin typeface="Calibri"/>
              </a:rPr>
              <a:t>Expected Benefits:</a:t>
            </a:r>
          </a:p>
        </p:txBody>
      </p:sp>
      <p:sp>
        <p:nvSpPr>
          <p:cNvPr id="21" name="TextBox 20"/>
          <p:cNvSpPr txBox="1"/>
          <p:nvPr/>
        </p:nvSpPr>
        <p:spPr>
          <a:xfrm>
            <a:off x="5614416" y="4773168"/>
            <a:ext cx="2834640" cy="1024128"/>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b="1">
                <a:solidFill>
                  <a:srgbClr val="16325C"/>
                </a:solidFill>
                <a:latin typeface="Calibri"/>
              </a:rPr>
              <a:t>No Specialist Needed: </a:t>
            </a:r>
            <a:r>
              <a:rPr sz="950">
                <a:solidFill>
                  <a:srgbClr val="333333"/>
                </a:solidFill>
                <a:latin typeface="Calibri"/>
              </a:rPr>
              <a:t>A cost engineer can cost a board without being an electronics specialist.</a:t>
            </a:r>
          </a:p>
          <a:p>
            <a:pPr algn="l" marL="155448" indent="-155448">
              <a:lnSpc>
                <a:spcPct val="100000"/>
              </a:lnSpc>
              <a:spcBef>
                <a:spcPts val="600"/>
              </a:spcBef>
              <a:buFont typeface="Arial"/>
              <a:buChar char="•"/>
            </a:pPr>
            <a:r>
              <a:rPr sz="950" b="1">
                <a:solidFill>
                  <a:srgbClr val="16325C"/>
                </a:solidFill>
                <a:latin typeface="Calibri"/>
              </a:rPr>
              <a:t>Wider Coverage: </a:t>
            </a:r>
            <a:r>
              <a:rPr sz="950">
                <a:solidFill>
                  <a:srgbClr val="333333"/>
                </a:solidFill>
                <a:latin typeface="Calibri"/>
              </a:rPr>
              <a:t>We can cost the boards and parts we turn away today.</a:t>
            </a:r>
          </a:p>
        </p:txBody>
      </p:sp>
      <p:sp>
        <p:nvSpPr>
          <p:cNvPr id="22" name="Rounded Rectangle 21"/>
          <p:cNvSpPr/>
          <p:nvPr/>
        </p:nvSpPr>
        <p:spPr>
          <a:xfrm>
            <a:off x="9125712" y="3127248"/>
            <a:ext cx="2798064" cy="35112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26880" y="3273552"/>
            <a:ext cx="2395728" cy="256032"/>
          </a:xfrm>
          <a:prstGeom prst="rect">
            <a:avLst/>
          </a:prstGeom>
          <a:noFill/>
        </p:spPr>
        <p:txBody>
          <a:bodyPr wrap="square" lIns="0" rIns="0" tIns="0" bIns="0">
            <a:spAutoFit/>
          </a:bodyPr>
          <a:lstStyle/>
          <a:p>
            <a:pPr algn="l">
              <a:spcAft>
                <a:spcPts val="500"/>
              </a:spcAft>
            </a:pPr>
            <a:r>
              <a:rPr sz="1250" b="1">
                <a:solidFill>
                  <a:srgbClr val="16325C"/>
                </a:solidFill>
                <a:latin typeface="Calibri"/>
              </a:rPr>
              <a:t>Technical Scoping:</a:t>
            </a:r>
          </a:p>
        </p:txBody>
      </p:sp>
      <p:sp>
        <p:nvSpPr>
          <p:cNvPr id="24" name="TextBox 23"/>
          <p:cNvSpPr txBox="1"/>
          <p:nvPr/>
        </p:nvSpPr>
        <p:spPr>
          <a:xfrm>
            <a:off x="9326880" y="3474720"/>
            <a:ext cx="2414016" cy="2980944"/>
          </a:xfrm>
          <a:prstGeom prst="rect">
            <a:avLst/>
          </a:prstGeom>
          <a:noFill/>
        </p:spPr>
        <p:txBody>
          <a:bodyPr wrap="square" lIns="0" rIns="0" tIns="0" bIns="0">
            <a:spAutoFit/>
          </a:bodyPr>
          <a:lstStyle/>
          <a:p/>
          <a:p>
            <a:pPr algn="l">
              <a:lnSpc>
                <a:spcPct val="100000"/>
              </a:lnSpc>
              <a:spcBef>
                <a:spcPts val="0"/>
              </a:spcBef>
            </a:pPr>
            <a:r>
              <a:rPr sz="1100" b="1">
                <a:solidFill>
                  <a:srgbClr val="16325C"/>
                </a:solidFill>
                <a:latin typeface="Calibri"/>
              </a:rPr>
              <a:t>Enabling AI on an existing system?</a:t>
            </a:r>
          </a:p>
          <a:p>
            <a:pPr algn="l">
              <a:lnSpc>
                <a:spcPct val="100000"/>
              </a:lnSpc>
              <a:spcBef>
                <a:spcPts val="100"/>
              </a:spcBef>
            </a:pPr>
            <a:r>
              <a:rPr sz="1100" b="1">
                <a:solidFill>
                  <a:srgbClr val="16325C"/>
                </a:solidFill>
                <a:latin typeface="Calibri"/>
              </a:rPr>
              <a:t>(YES)</a:t>
            </a:r>
          </a:p>
          <a:p>
            <a:pPr algn="l">
              <a:lnSpc>
                <a:spcPct val="100000"/>
              </a:lnSpc>
              <a:spcBef>
                <a:spcPts val="200"/>
              </a:spcBef>
            </a:pPr>
            <a:r>
              <a:rPr sz="900" b="0">
                <a:solidFill>
                  <a:srgbClr val="333333"/>
                </a:solidFill>
                <a:latin typeface="Calibri"/>
              </a:rPr>
              <a:t>The reading is done inside CostVision. CAPPe is not changed.</a:t>
            </a:r>
          </a:p>
          <a:p>
            <a:pPr algn="l">
              <a:lnSpc>
                <a:spcPct val="100000"/>
              </a:lnSpc>
              <a:spcBef>
                <a:spcPts val="800"/>
              </a:spcBef>
            </a:pPr>
            <a:r>
              <a:rPr sz="1100" b="1">
                <a:solidFill>
                  <a:srgbClr val="16325C"/>
                </a:solidFill>
                <a:latin typeface="Calibri"/>
              </a:rPr>
              <a:t>Safety controls already built?</a:t>
            </a:r>
          </a:p>
          <a:p>
            <a:pPr algn="l">
              <a:lnSpc>
                <a:spcPct val="100000"/>
              </a:lnSpc>
              <a:spcBef>
                <a:spcPts val="100"/>
              </a:spcBef>
            </a:pPr>
            <a:r>
              <a:rPr sz="1100" b="1">
                <a:solidFill>
                  <a:srgbClr val="16325C"/>
                </a:solidFill>
                <a:latin typeface="Calibri"/>
              </a:rPr>
              <a:t>(YES)</a:t>
            </a:r>
          </a:p>
          <a:p>
            <a:pPr algn="l">
              <a:lnSpc>
                <a:spcPct val="100000"/>
              </a:lnSpc>
              <a:spcBef>
                <a:spcPts val="200"/>
              </a:spcBef>
            </a:pPr>
            <a:r>
              <a:rPr sz="900" b="0">
                <a:solidFill>
                  <a:srgbClr val="333333"/>
                </a:solidFill>
                <a:latin typeface="Calibri"/>
              </a:rPr>
              <a:t>One off-switch, a private endpoint, per-user limits. AI never sets a price.</a:t>
            </a:r>
          </a:p>
          <a:p>
            <a:pPr algn="l">
              <a:lnSpc>
                <a:spcPct val="100000"/>
              </a:lnSpc>
              <a:spcBef>
                <a:spcPts val="800"/>
              </a:spcBef>
            </a:pPr>
            <a:r>
              <a:rPr sz="1100" b="1">
                <a:solidFill>
                  <a:srgbClr val="16325C"/>
                </a:solidFill>
                <a:latin typeface="Calibri"/>
              </a:rPr>
              <a:t>Technical implementation/support required?</a:t>
            </a:r>
          </a:p>
          <a:p>
            <a:pPr algn="l">
              <a:lnSpc>
                <a:spcPct val="100000"/>
              </a:lnSpc>
              <a:spcBef>
                <a:spcPts val="100"/>
              </a:spcBef>
            </a:pPr>
            <a:r>
              <a:rPr sz="1100" b="1">
                <a:solidFill>
                  <a:srgbClr val="16325C"/>
                </a:solidFill>
                <a:latin typeface="Calibri"/>
              </a:rPr>
              <a:t>(YES)</a:t>
            </a:r>
          </a:p>
          <a:p>
            <a:pPr algn="l">
              <a:lnSpc>
                <a:spcPct val="100000"/>
              </a:lnSpc>
              <a:spcBef>
                <a:spcPts val="200"/>
              </a:spcBef>
            </a:pPr>
            <a:r>
              <a:rPr sz="900" b="0">
                <a:solidFill>
                  <a:srgbClr val="333333"/>
                </a:solidFill>
                <a:latin typeface="Calibri"/>
              </a:rPr>
              <a:t>An approved route to the model. Option 2 runs without a key; this cannot.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75488"/>
            <a:ext cx="10058400" cy="384048"/>
          </a:xfrm>
          <a:prstGeom prst="rect">
            <a:avLst/>
          </a:prstGeom>
          <a:noFill/>
        </p:spPr>
        <p:txBody>
          <a:bodyPr wrap="square" lIns="0" rIns="0" tIns="0" bIns="0">
            <a:spAutoFit/>
          </a:bodyPr>
          <a:lstStyle/>
          <a:p>
            <a:r>
              <a:rPr sz="1700" spc="240">
                <a:solidFill>
                  <a:srgbClr val="16325C"/>
                </a:solidFill>
                <a:latin typeface="Calibri"/>
              </a:rPr>
              <a:t>Option 3 – The Proposal in Detail</a:t>
            </a:r>
          </a:p>
        </p:txBody>
      </p:sp>
      <p:sp>
        <p:nvSpPr>
          <p:cNvPr id="3" name="TextBox 2"/>
          <p:cNvSpPr txBox="1"/>
          <p:nvPr/>
        </p:nvSpPr>
        <p:spPr>
          <a:xfrm>
            <a:off x="768096" y="969264"/>
            <a:ext cx="3657600" cy="274320"/>
          </a:xfrm>
          <a:prstGeom prst="rect">
            <a:avLst/>
          </a:prstGeom>
          <a:noFill/>
        </p:spPr>
        <p:txBody>
          <a:bodyPr wrap="square" lIns="0" rIns="0" tIns="0" bIns="0">
            <a:spAutoFit/>
          </a:bodyPr>
          <a:lstStyle/>
          <a:p>
            <a:r>
              <a:rPr sz="1350" b="1">
                <a:solidFill>
                  <a:srgbClr val="16325C"/>
                </a:solidFill>
                <a:latin typeface="Calibri"/>
              </a:rPr>
              <a:t>Proposal</a:t>
            </a:r>
          </a:p>
        </p:txBody>
      </p:sp>
      <p:sp>
        <p:nvSpPr>
          <p:cNvPr id="4" name="Rounded Rectangle 3"/>
          <p:cNvSpPr/>
          <p:nvPr/>
        </p:nvSpPr>
        <p:spPr>
          <a:xfrm>
            <a:off x="566928" y="1225296"/>
            <a:ext cx="5504688" cy="499262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41248" y="1353312"/>
            <a:ext cx="4974336" cy="4718304"/>
          </a:xfrm>
          <a:prstGeom prst="rect">
            <a:avLst/>
          </a:prstGeom>
          <a:noFill/>
        </p:spPr>
        <p:txBody>
          <a:bodyPr wrap="square" lIns="0" rIns="0" tIns="0" bIns="0">
            <a:spAutoFit/>
          </a:bodyPr>
          <a:lstStyle/>
          <a:p/>
          <a:p>
            <a:pPr algn="l">
              <a:spcBef>
                <a:spcPts val="0"/>
              </a:spcBef>
            </a:pPr>
            <a:r>
              <a:rPr sz="1150" b="1">
                <a:solidFill>
                  <a:srgbClr val="16325C"/>
                </a:solidFill>
                <a:latin typeface="Calibri"/>
              </a:rPr>
              <a:t>How a board is costed today</a:t>
            </a:r>
          </a:p>
          <a:p>
            <a:pPr algn="l" marL="155448" indent="-155448">
              <a:lnSpc>
                <a:spcPct val="100000"/>
              </a:lnSpc>
              <a:spcBef>
                <a:spcPts val="600"/>
              </a:spcBef>
              <a:buFont typeface="Arial"/>
              <a:buChar char="•"/>
            </a:pPr>
            <a:r>
              <a:rPr sz="1050">
                <a:solidFill>
                  <a:srgbClr val="333333"/>
                </a:solidFill>
                <a:latin typeface="Calibri"/>
              </a:rPr>
              <a:t>Someone identifies every component from a photo or a sample — package, value, rating, and the exact part number for each chip.</a:t>
            </a:r>
          </a:p>
          <a:p>
            <a:pPr algn="l" marL="155448" indent="-155448">
              <a:lnSpc>
                <a:spcPct val="100000"/>
              </a:lnSpc>
              <a:spcBef>
                <a:spcPts val="600"/>
              </a:spcBef>
              <a:buFont typeface="Arial"/>
              <a:buChar char="•"/>
            </a:pPr>
            <a:r>
              <a:rPr sz="1050">
                <a:solidFill>
                  <a:srgbClr val="333333"/>
                </a:solidFill>
                <a:latin typeface="Calibri"/>
              </a:rPr>
              <a:t>They find a price for every line, at the volume we are asking about.</a:t>
            </a:r>
          </a:p>
          <a:p>
            <a:pPr algn="l" marL="155448" indent="-155448">
              <a:lnSpc>
                <a:spcPct val="100000"/>
              </a:lnSpc>
              <a:spcBef>
                <a:spcPts val="600"/>
              </a:spcBef>
              <a:buFont typeface="Arial"/>
              <a:buChar char="•"/>
            </a:pPr>
            <a:r>
              <a:rPr sz="1050">
                <a:solidFill>
                  <a:srgbClr val="333333"/>
                </a:solidFill>
                <a:latin typeface="Calibri"/>
              </a:rPr>
              <a:t>The bare board is estimated separately for size, layers, finish and test.</a:t>
            </a:r>
          </a:p>
          <a:p>
            <a:pPr algn="l" marL="155448" indent="-155448">
              <a:lnSpc>
                <a:spcPct val="100000"/>
              </a:lnSpc>
              <a:spcBef>
                <a:spcPts val="600"/>
              </a:spcBef>
              <a:buFont typeface="Arial"/>
              <a:buChar char="•"/>
            </a:pPr>
            <a:r>
              <a:rPr sz="1050">
                <a:solidFill>
                  <a:srgbClr val="333333"/>
                </a:solidFill>
                <a:latin typeface="Calibri"/>
              </a:rPr>
              <a:t>Then the assembly: how many placements, how many are fine-pitch or BGA, one side or two.</a:t>
            </a:r>
          </a:p>
          <a:p>
            <a:pPr algn="l" marL="155448" indent="-155448">
              <a:lnSpc>
                <a:spcPct val="100000"/>
              </a:lnSpc>
              <a:spcBef>
                <a:spcPts val="600"/>
              </a:spcBef>
              <a:buFont typeface="Arial"/>
              <a:buChar char="•"/>
            </a:pPr>
            <a:r>
              <a:rPr sz="1050">
                <a:solidFill>
                  <a:srgbClr val="333333"/>
                </a:solidFill>
                <a:latin typeface="Calibri"/>
              </a:rPr>
              <a:t>Two to three weeks for a medium board, and only a specialist can do it.</a:t>
            </a:r>
          </a:p>
          <a:p>
            <a:pPr algn="l">
              <a:spcBef>
                <a:spcPts val="1400"/>
              </a:spcBef>
            </a:pPr>
            <a:r>
              <a:rPr sz="1150" b="1">
                <a:solidFill>
                  <a:srgbClr val="16325C"/>
                </a:solidFill>
                <a:latin typeface="Calibri"/>
              </a:rPr>
              <a:t>What we propose</a:t>
            </a:r>
          </a:p>
          <a:p>
            <a:pPr algn="l" marL="155448" indent="-155448">
              <a:lnSpc>
                <a:spcPct val="100000"/>
              </a:lnSpc>
              <a:spcBef>
                <a:spcPts val="700"/>
              </a:spcBef>
              <a:buFont typeface="Arial"/>
              <a:buChar char="•"/>
            </a:pPr>
            <a:r>
              <a:rPr sz="1050">
                <a:solidFill>
                  <a:srgbClr val="333333"/>
                </a:solidFill>
                <a:latin typeface="Calibri"/>
              </a:rPr>
              <a:t>Switch AI on by a setting, not a rebuild, and extend the Proof of Value to 2D drawings and board photos.</a:t>
            </a:r>
          </a:p>
          <a:p>
            <a:pPr algn="l" marL="155448" indent="-155448">
              <a:lnSpc>
                <a:spcPct val="100000"/>
              </a:lnSpc>
              <a:spcBef>
                <a:spcPts val="600"/>
              </a:spcBef>
              <a:buFont typeface="Arial"/>
              <a:buChar char="•"/>
            </a:pPr>
            <a:r>
              <a:rPr sz="1050">
                <a:solidFill>
                  <a:srgbClr val="333333"/>
                </a:solidFill>
                <a:latin typeface="Calibri"/>
              </a:rPr>
              <a:t>Upload a photo of the board. Say how many you are making and where it is built.</a:t>
            </a:r>
          </a:p>
          <a:p>
            <a:pPr algn="l" marL="155448" indent="-155448">
              <a:lnSpc>
                <a:spcPct val="100000"/>
              </a:lnSpc>
              <a:spcBef>
                <a:spcPts val="600"/>
              </a:spcBef>
              <a:buFont typeface="Arial"/>
              <a:buChar char="•"/>
            </a:pPr>
            <a:r>
              <a:rPr sz="1050">
                <a:solidFill>
                  <a:srgbClr val="333333"/>
                </a:solidFill>
                <a:latin typeface="Calibri"/>
              </a:rPr>
              <a:t>The model lists the components it can see; the tool prices each line from its catalogue and class tables, works out the bare board and the assembly, and returns the full cost breakdown.</a:t>
            </a:r>
          </a:p>
          <a:p>
            <a:pPr algn="l" marL="155448" indent="-155448">
              <a:lnSpc>
                <a:spcPct val="100000"/>
              </a:lnSpc>
              <a:spcBef>
                <a:spcPts val="600"/>
              </a:spcBef>
              <a:buFont typeface="Arial"/>
              <a:buChar char="•"/>
            </a:pPr>
            <a:r>
              <a:rPr sz="1050">
                <a:solidFill>
                  <a:srgbClr val="333333"/>
                </a:solidFill>
                <a:latin typeface="Calibri"/>
              </a:rPr>
              <a:t>For a machined part, the drawing is read alongside the 3D model, for the tolerances, finish and heat treatment the model cannot carry.</a:t>
            </a:r>
          </a:p>
          <a:p>
            <a:pPr algn="l" marL="155448" indent="-155448">
              <a:lnSpc>
                <a:spcPct val="100000"/>
              </a:lnSpc>
              <a:spcBef>
                <a:spcPts val="600"/>
              </a:spcBef>
              <a:buFont typeface="Arial"/>
              <a:buChar char="•"/>
            </a:pPr>
            <a:r>
              <a:rPr sz="1050">
                <a:solidFill>
                  <a:srgbClr val="333333"/>
                </a:solidFill>
                <a:latin typeface="Calibri"/>
              </a:rPr>
              <a:t>The model is not asked for a cost; every price comes from the catalogue, a stated range or the class table, and each line shows its source before it is used.</a:t>
            </a:r>
          </a:p>
          <a:p>
            <a:pPr algn="l" marL="155448" indent="-155448">
              <a:lnSpc>
                <a:spcPct val="100000"/>
              </a:lnSpc>
              <a:spcBef>
                <a:spcPts val="600"/>
              </a:spcBef>
              <a:buFont typeface="Arial"/>
              <a:buChar char="•"/>
            </a:pPr>
            <a:r>
              <a:rPr sz="1050">
                <a:solidFill>
                  <a:srgbClr val="333333"/>
                </a:solidFill>
                <a:latin typeface="Calibri"/>
              </a:rPr>
              <a:t>Compare the output against cost estimates we already have.</a:t>
            </a:r>
          </a:p>
        </p:txBody>
      </p:sp>
      <p:sp>
        <p:nvSpPr>
          <p:cNvPr id="6" name="TextBox 5"/>
          <p:cNvSpPr txBox="1"/>
          <p:nvPr/>
        </p:nvSpPr>
        <p:spPr>
          <a:xfrm>
            <a:off x="6583680" y="1170432"/>
            <a:ext cx="3657600" cy="274320"/>
          </a:xfrm>
          <a:prstGeom prst="rect">
            <a:avLst/>
          </a:prstGeom>
          <a:noFill/>
        </p:spPr>
        <p:txBody>
          <a:bodyPr wrap="square" lIns="0" rIns="0" tIns="0" bIns="0">
            <a:spAutoFit/>
          </a:bodyPr>
          <a:lstStyle/>
          <a:p>
            <a:r>
              <a:rPr sz="1350" b="1">
                <a:solidFill>
                  <a:srgbClr val="16325C"/>
                </a:solidFill>
                <a:latin typeface="Calibri"/>
              </a:rPr>
              <a:t>Expected Benefits:</a:t>
            </a:r>
          </a:p>
        </p:txBody>
      </p:sp>
      <p:sp>
        <p:nvSpPr>
          <p:cNvPr id="7" name="Rounded Rectangle 6"/>
          <p:cNvSpPr/>
          <p:nvPr/>
        </p:nvSpPr>
        <p:spPr>
          <a:xfrm>
            <a:off x="6382512" y="1426464"/>
            <a:ext cx="5266944" cy="479145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56832" y="1627632"/>
            <a:ext cx="4736592" cy="4480560"/>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1100">
                <a:solidFill>
                  <a:srgbClr val="333333"/>
                </a:solidFill>
                <a:latin typeface="Calibri"/>
              </a:rPr>
              <a:t>A cost engineer can cost a board without being an electronics pricing specialist. The specialist checks the answer instead of building it.</a:t>
            </a:r>
          </a:p>
          <a:p>
            <a:pPr algn="l" marL="155448" indent="-155448">
              <a:lnSpc>
                <a:spcPct val="100000"/>
              </a:lnSpc>
              <a:spcBef>
                <a:spcPts val="2200"/>
              </a:spcBef>
              <a:buFont typeface="Arial"/>
              <a:buChar char="•"/>
            </a:pPr>
            <a:r>
              <a:rPr sz="1100">
                <a:solidFill>
                  <a:srgbClr val="333333"/>
                </a:solidFill>
                <a:latin typeface="Calibri"/>
              </a:rPr>
              <a:t>We can cost the boards and the parts we turn away today, because a photograph or a drawing is all we have.</a:t>
            </a:r>
          </a:p>
          <a:p>
            <a:pPr algn="l" marL="155448" indent="-155448">
              <a:lnSpc>
                <a:spcPct val="100000"/>
              </a:lnSpc>
              <a:spcBef>
                <a:spcPts val="2200"/>
              </a:spcBef>
              <a:buFont typeface="Arial"/>
              <a:buChar char="•"/>
            </a:pPr>
            <a:r>
              <a:rPr sz="1100">
                <a:solidFill>
                  <a:srgbClr val="333333"/>
                </a:solidFill>
                <a:latin typeface="Calibri"/>
              </a:rPr>
              <a:t>A cost can be redone when the design changes, instead of going out of date and staying that way.</a:t>
            </a:r>
          </a:p>
          <a:p>
            <a:pPr algn="l" marL="155448" indent="-155448">
              <a:lnSpc>
                <a:spcPct val="100000"/>
              </a:lnSpc>
              <a:spcBef>
                <a:spcPts val="2200"/>
              </a:spcBef>
              <a:buFont typeface="Arial"/>
              <a:buChar char="•"/>
            </a:pPr>
            <a:r>
              <a:rPr sz="1100">
                <a:solidFill>
                  <a:srgbClr val="333333"/>
                </a:solidFill>
                <a:latin typeface="Calibri"/>
              </a:rPr>
              <a:t>The costing method and the rate data do not change, so the answer is consistent with what we produce today and with everything downstream.</a:t>
            </a:r>
          </a:p>
          <a:p>
            <a:pPr algn="l" marL="155448" indent="-155448">
              <a:lnSpc>
                <a:spcPct val="100000"/>
              </a:lnSpc>
              <a:spcBef>
                <a:spcPts val="2200"/>
              </a:spcBef>
              <a:buFont typeface="Arial"/>
              <a:buChar char="•"/>
            </a:pPr>
            <a:r>
              <a:rPr sz="1100">
                <a:solidFill>
                  <a:srgbClr val="333333"/>
                </a:solidFill>
                <a:latin typeface="Calibri"/>
              </a:rPr>
              <a:t>Boards can be costed early, while the design can still be changed cheaply.</a:t>
            </a:r>
          </a:p>
          <a:p>
            <a:pPr algn="l" marL="155448" indent="-155448">
              <a:lnSpc>
                <a:spcPct val="100000"/>
              </a:lnSpc>
              <a:spcBef>
                <a:spcPts val="2200"/>
              </a:spcBef>
              <a:buFont typeface="Arial"/>
              <a:buChar char="•"/>
            </a:pPr>
            <a:r>
              <a:rPr sz="1100">
                <a:solidFill>
                  <a:srgbClr val="333333"/>
                </a:solidFill>
                <a:latin typeface="Calibri"/>
              </a:rPr>
              <a:t>Cost engineers stay in charge. Every figure is theirs to check, correct and sign off, and the tool never sets a price itself.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