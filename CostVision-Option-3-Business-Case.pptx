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spc="220">
                <a:solidFill>
                  <a:srgbClr val="595959"/>
                </a:solidFill>
                <a:latin typeface="Calibri"/>
              </a:rPr>
              <a:t>CAD to COST BUSINESS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585216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spc="240">
                <a:solidFill>
                  <a:srgbClr val="16325C"/>
                </a:solidFill>
                <a:latin typeface="Calibri"/>
              </a:rPr>
              <a:t>Drawings and PCB Photos – Automated Part Costing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42415"/>
            <a:ext cx="5687568" cy="1792224"/>
          </a:xfrm>
          <a:prstGeom prst="roundRect">
            <a:avLst>
              <a:gd name="adj" fmla="val 3500"/>
            </a:avLst>
          </a:prstGeom>
          <a:noFill/>
          <a:ln w="12700">
            <a:solidFill>
              <a:srgbClr val="C9C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152144"/>
            <a:ext cx="3749039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6325C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371600"/>
            <a:ext cx="5285232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155448" indent="-155448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Costing a circuit board means listing every component on it and pricing each one. A medium-complexity board takes two to three weeks.</a:t>
            </a:r>
          </a:p>
          <a:p>
            <a:pPr algn="l" marL="155448" indent="-155448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It needs someone who knows what electronics cost — a small capacitor, a six-layer board, placing a fine-pitch chip. Few people have that, so boards wait for them.</a:t>
            </a:r>
          </a:p>
          <a:p>
            <a:pPr algn="l" marL="155448" indent="-155448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On mechanical parts, most of what we need is written on the 2D drawing, not held in the 3D model, and is read by eye and typed in by hand.</a:t>
            </a:r>
          </a:p>
          <a:p>
            <a:pPr algn="l" marL="155448" indent="-155448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The costing method and the rate data do not change. Only the reading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43984" y="1188720"/>
            <a:ext cx="548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6325C"/>
                </a:solidFill>
                <a:latin typeface="Calibri"/>
              </a:rPr>
              <a:t>PII: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65776" y="1152144"/>
            <a:ext cx="347472" cy="310896"/>
          </a:xfrm>
          <a:prstGeom prst="rect">
            <a:avLst/>
          </a:prstGeom>
          <a:noFill/>
          <a:ln w="15875">
            <a:solidFill>
              <a:srgbClr val="1632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16325C"/>
                </a:solidFill>
                <a:latin typeface="Calibri"/>
              </a:rPr>
              <a:t>No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1024128"/>
            <a:ext cx="2724912" cy="1261872"/>
          </a:xfrm>
          <a:prstGeom prst="roundRect">
            <a:avLst>
              <a:gd name="adj" fmla="val 3500"/>
            </a:avLst>
          </a:prstGeom>
          <a:solidFill>
            <a:srgbClr val="E2EFDA"/>
          </a:solidFill>
          <a:ln w="12700">
            <a:solidFill>
              <a:srgbClr val="A9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133856"/>
            <a:ext cx="23774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6325C"/>
                </a:solidFill>
                <a:latin typeface="Calibri"/>
              </a:rPr>
              <a:t>Projected ROI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100" b="1">
                <a:solidFill>
                  <a:srgbClr val="16325C"/>
                </a:solidFill>
                <a:latin typeface="Calibri"/>
              </a:rPr>
              <a:t>Cost: £???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100" b="1">
                <a:solidFill>
                  <a:srgbClr val="16325C"/>
                </a:solidFill>
                <a:latin typeface="Calibri"/>
              </a:rPr>
              <a:t>Return: £???</a:t>
            </a:r>
          </a:p>
          <a:p>
            <a:pPr algn="l">
              <a:lnSpc>
                <a:spcPct val="100000"/>
              </a:lnSpc>
              <a:spcBef>
                <a:spcPts val="400"/>
              </a:spcBef>
            </a:pPr>
            <a:r>
              <a:rPr sz="1000" b="1">
                <a:solidFill>
                  <a:srgbClr val="16325C"/>
                </a:solidFill>
                <a:latin typeface="Calibri"/>
              </a:rPr>
              <a:t>What is the return based on?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850" b="0">
                <a:solidFill>
                  <a:srgbClr val="333333"/>
                </a:solidFill>
                <a:latin typeface="Calibri"/>
              </a:rPr>
              <a:t>The boards we turn away, and the weeks a specialist spends on each 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2340864"/>
            <a:ext cx="2724912" cy="493776"/>
          </a:xfrm>
          <a:prstGeom prst="roundRect">
            <a:avLst>
              <a:gd name="adj" fmla="val 3500"/>
            </a:avLst>
          </a:prstGeom>
          <a:solidFill>
            <a:srgbClr val="DEEAF6"/>
          </a:solidFill>
          <a:ln w="12700">
            <a:solidFill>
              <a:srgbClr val="B4C7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240487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325C"/>
                </a:solidFill>
                <a:latin typeface="Calibri"/>
              </a:rPr>
              <a:t>Time (hrs/week)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1000" b="1">
                <a:solidFill>
                  <a:srgbClr val="16325C"/>
                </a:solidFill>
                <a:latin typeface="Calibri"/>
              </a:rPr>
              <a:t>2–3 weeks per 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4320" y="2871216"/>
            <a:ext cx="8558784" cy="1298448"/>
          </a:xfrm>
          <a:prstGeom prst="roundRect">
            <a:avLst>
              <a:gd name="adj" fmla="val 3500"/>
            </a:avLst>
          </a:prstGeom>
          <a:noFill/>
          <a:ln w="12700">
            <a:solidFill>
              <a:srgbClr val="C9C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96265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6325C"/>
                </a:solidFill>
                <a:latin typeface="Calibri"/>
              </a:rPr>
              <a:t>Current State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" y="3182112"/>
            <a:ext cx="8138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155448" indent="-155448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Costing one board means listing every component, pricing each line, then estimating the bare board and the assembly. Two to three weeks for a medium board.</a:t>
            </a:r>
          </a:p>
          <a:p>
            <a:pPr algn="l" marL="155448" indent="-155448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It needs an electronics cost specialist, and a design change means starting again.</a:t>
            </a:r>
          </a:p>
          <a:p>
            <a:pPr algn="l" marL="155448" indent="-155448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For a machined part, the drawing is read by eye and typed into CAPPe by hand.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4261104"/>
            <a:ext cx="8412480" cy="1773936"/>
          </a:xfrm>
          <a:prstGeom prst="roundRect">
            <a:avLst>
              <a:gd name="adj" fmla="val 3500"/>
            </a:avLst>
          </a:prstGeom>
          <a:noFill/>
          <a:ln w="12700">
            <a:solidFill>
              <a:srgbClr val="C9C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4352544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6325C"/>
                </a:solidFill>
                <a:latin typeface="Calibri"/>
              </a:rPr>
              <a:t>Proposed Solution/Model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" y="4608576"/>
            <a:ext cx="4663440" cy="1316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155448" indent="-155448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Conduct a 3-stage Proof of Value (PoV), run the same way as the CAD to Cost PoV.</a:t>
            </a:r>
          </a:p>
          <a:p>
            <a:pPr algn="l" marL="155448" indent="-155448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Upload a photo of the board, or a drawing alongside the 3D model. The tool reads it and returns a full cost.</a:t>
            </a:r>
          </a:p>
          <a:p>
            <a:pPr algn="l" marL="155448" indent="-155448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Everything it reads is checked before it is used. It does not set any price.</a:t>
            </a:r>
          </a:p>
          <a:p>
            <a:pPr algn="l" marL="155448" indent="-155448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sz="950">
                <a:solidFill>
                  <a:srgbClr val="333333"/>
                </a:solidFill>
                <a:latin typeface="Calibri"/>
              </a:rPr>
              <a:t>The detail is on the next page.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13248" y="4407408"/>
            <a:ext cx="3236976" cy="1463040"/>
          </a:xfrm>
          <a:prstGeom prst="roundRect">
            <a:avLst>
              <a:gd name="adj" fmla="val 3500"/>
            </a:avLst>
          </a:prstGeom>
          <a:solidFill>
            <a:srgbClr val="E2EFDA"/>
          </a:solidFill>
          <a:ln w="12700">
            <a:solidFill>
              <a:srgbClr val="A9C4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14416" y="4498848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6325C"/>
                </a:solidFill>
                <a:latin typeface="Calibri"/>
              </a:rPr>
              <a:t>Expected Benefits: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14416" y="4773168"/>
            <a:ext cx="283464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155448" indent="-155448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sz="950" b="1">
                <a:solidFill>
                  <a:srgbClr val="16325C"/>
                </a:solidFill>
                <a:latin typeface="Calibri"/>
              </a:rPr>
              <a:t>No Specialist Needed: </a:t>
            </a:r>
            <a:r>
              <a:rPr sz="950">
                <a:solidFill>
                  <a:srgbClr val="333333"/>
                </a:solidFill>
                <a:latin typeface="Calibri"/>
              </a:rPr>
              <a:t>A cost engineer can cost a board without being an electronics specialist.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950" b="1">
                <a:solidFill>
                  <a:srgbClr val="16325C"/>
                </a:solidFill>
                <a:latin typeface="Calibri"/>
              </a:rPr>
              <a:t>Wider Coverage: </a:t>
            </a:r>
            <a:r>
              <a:rPr sz="950">
                <a:solidFill>
                  <a:srgbClr val="333333"/>
                </a:solidFill>
                <a:latin typeface="Calibri"/>
              </a:rPr>
              <a:t>We can cost the boards and parts we turn away today.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25712" y="3127248"/>
            <a:ext cx="2798064" cy="3511296"/>
          </a:xfrm>
          <a:prstGeom prst="roundRect">
            <a:avLst>
              <a:gd name="adj" fmla="val 3500"/>
            </a:avLst>
          </a:prstGeom>
          <a:noFill/>
          <a:ln w="12700">
            <a:solidFill>
              <a:srgbClr val="C9C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3273552"/>
            <a:ext cx="239572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1">
                <a:solidFill>
                  <a:srgbClr val="16325C"/>
                </a:solidFill>
                <a:latin typeface="Calibri"/>
              </a:rPr>
              <a:t>Technical Scoping: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474720"/>
            <a:ext cx="2414016" cy="2980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>
                <a:solidFill>
                  <a:srgbClr val="16325C"/>
                </a:solidFill>
                <a:latin typeface="Calibri"/>
              </a:rPr>
              <a:t>Enabling AI on an existing system?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16325C"/>
                </a:solidFill>
                <a:latin typeface="Calibri"/>
              </a:rPr>
              <a:t>(YES)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Calibri"/>
              </a:rPr>
              <a:t>The reading is done inside CostVision. CAPPe is not changed.</a:t>
            </a:r>
          </a:p>
          <a:p>
            <a:pPr algn="l">
              <a:lnSpc>
                <a:spcPct val="100000"/>
              </a:lnSpc>
              <a:spcBef>
                <a:spcPts val="1300"/>
              </a:spcBef>
            </a:pPr>
            <a:r>
              <a:rPr sz="1100" b="1">
                <a:solidFill>
                  <a:srgbClr val="16325C"/>
                </a:solidFill>
                <a:latin typeface="Calibri"/>
              </a:rPr>
              <a:t>Model used: Claude (Anthropic)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Calibri"/>
              </a:rPr>
              <a:t>Sonnet and Haiku to read, Opus where a board needs a closer look.</a:t>
            </a:r>
          </a:p>
          <a:p>
            <a:pPr algn="l">
              <a:lnSpc>
                <a:spcPct val="100000"/>
              </a:lnSpc>
              <a:spcBef>
                <a:spcPts val="1300"/>
              </a:spcBef>
            </a:pPr>
            <a:r>
              <a:rPr sz="1100" b="1">
                <a:solidFill>
                  <a:srgbClr val="16325C"/>
                </a:solidFill>
                <a:latin typeface="Calibri"/>
              </a:rPr>
              <a:t>Technical implementation/support required?</a:t>
            </a:r>
          </a:p>
          <a:p>
            <a:pPr algn="l">
              <a:lnSpc>
                <a:spcPct val="100000"/>
              </a:lnSpc>
              <a:spcBef>
                <a:spcPts val="100"/>
              </a:spcBef>
            </a:pPr>
            <a:r>
              <a:rPr sz="1100" b="1">
                <a:solidFill>
                  <a:srgbClr val="16325C"/>
                </a:solidFill>
                <a:latin typeface="Calibri"/>
              </a:rPr>
              <a:t>(YES)</a:t>
            </a:r>
          </a:p>
          <a:p>
            <a:pPr algn="l">
              <a:lnSpc>
                <a:spcPct val="100000"/>
              </a:lnSpc>
              <a:spcBef>
                <a:spcPts val="200"/>
              </a:spcBef>
            </a:pPr>
            <a:r>
              <a:rPr sz="900" b="0">
                <a:solidFill>
                  <a:srgbClr val="333333"/>
                </a:solidFill>
                <a:latin typeface="Calibri"/>
              </a:rPr>
              <a:t>It needs an approved route to the model. Option 2 runs with that route switched off. This one cannot.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75488"/>
            <a:ext cx="10058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700" spc="240">
                <a:solidFill>
                  <a:srgbClr val="16325C"/>
                </a:solidFill>
                <a:latin typeface="Calibri"/>
              </a:rPr>
              <a:t>Drawings and PCB Photos – The Proposal in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8096" y="96926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6325C"/>
                </a:solidFill>
                <a:latin typeface="Calibri"/>
              </a:rPr>
              <a:t>Proposal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225296"/>
            <a:ext cx="5504688" cy="4992624"/>
          </a:xfrm>
          <a:prstGeom prst="roundRect">
            <a:avLst>
              <a:gd name="adj" fmla="val 3500"/>
            </a:avLst>
          </a:prstGeom>
          <a:noFill/>
          <a:ln w="12700">
            <a:solidFill>
              <a:srgbClr val="C9C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" y="1353312"/>
            <a:ext cx="4974336" cy="4718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>
              <a:spcBef>
                <a:spcPts val="0"/>
              </a:spcBef>
            </a:pPr>
            <a:r>
              <a:rPr sz="1150" b="1">
                <a:solidFill>
                  <a:srgbClr val="16325C"/>
                </a:solidFill>
                <a:latin typeface="Calibri"/>
              </a:rPr>
              <a:t>How a board is costed today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Someone identifies every component from a photo or a sample — package, value, rating, and the exact part number for each chip.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They find a price for every line, at the volume we are asking about.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The bare board is estimated separately for size, layers, finish and test.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Then the assembly: how many placements, how many are fine-pitch or BGA, one side or two.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Two to three weeks for a medium board, and only a specialist can do it.</a:t>
            </a:r>
          </a:p>
          <a:p>
            <a:pPr algn="l">
              <a:spcBef>
                <a:spcPts val="1400"/>
              </a:spcBef>
            </a:pPr>
            <a:r>
              <a:rPr sz="1150" b="1">
                <a:solidFill>
                  <a:srgbClr val="16325C"/>
                </a:solidFill>
                <a:latin typeface="Calibri"/>
              </a:rPr>
              <a:t>What we propose</a:t>
            </a:r>
          </a:p>
          <a:p>
            <a:pPr algn="l" marL="155448" indent="-155448">
              <a:lnSpc>
                <a:spcPct val="100000"/>
              </a:lnSpc>
              <a:spcBef>
                <a:spcPts val="7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Extend the Proof of Value to cover 2D drawings and photographs of boards.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Upload a photo of the board. Say how many you are making and where it is built.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The tool lists the components it can see, prices each line from the catalogue, works out the bare board and the assembly, and returns the full cost breakdown.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For a machined part, the drawing is read alongside the 3D model, for the tolerances, finish and heat treatment the model cannot carry.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Every figure it reads is checked against the price catalogue or the measured geometry before it is used.</a:t>
            </a:r>
          </a:p>
          <a:p>
            <a:pPr algn="l" marL="155448" indent="-155448">
              <a:lnSpc>
                <a:spcPct val="100000"/>
              </a:lnSpc>
              <a:spcBef>
                <a:spcPts val="600"/>
              </a:spcBef>
              <a:buFont typeface="Arial"/>
              <a:buChar char="•"/>
            </a:pPr>
            <a:r>
              <a:rPr sz="1050">
                <a:solidFill>
                  <a:srgbClr val="333333"/>
                </a:solidFill>
                <a:latin typeface="Calibri"/>
              </a:rPr>
              <a:t>Compare the output against cost estimates we already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170432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50" b="1">
                <a:solidFill>
                  <a:srgbClr val="16325C"/>
                </a:solidFill>
                <a:latin typeface="Calibri"/>
              </a:rPr>
              <a:t>Expected Benefits: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82512" y="1426464"/>
            <a:ext cx="5266944" cy="4791456"/>
          </a:xfrm>
          <a:prstGeom prst="roundRect">
            <a:avLst>
              <a:gd name="adj" fmla="val 3500"/>
            </a:avLst>
          </a:prstGeom>
          <a:noFill/>
          <a:ln w="12700">
            <a:solidFill>
              <a:srgbClr val="C9CFD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6832" y="1627632"/>
            <a:ext cx="4736592" cy="4480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 algn="l" marL="155448" indent="-155448">
              <a:lnSpc>
                <a:spcPct val="100000"/>
              </a:lnSpc>
              <a:spcBef>
                <a:spcPts val="0"/>
              </a:spcBef>
              <a:buFont typeface="Arial"/>
              <a:buChar char="•"/>
            </a:pPr>
            <a:r>
              <a:rPr sz="1100">
                <a:solidFill>
                  <a:srgbClr val="333333"/>
                </a:solidFill>
                <a:latin typeface="Calibri"/>
              </a:rPr>
              <a:t>A cost engineer can cost a board without being an electronics pricing specialist. The specialist checks the answer instead of building it.</a:t>
            </a:r>
          </a:p>
          <a:p>
            <a:pPr algn="l" marL="155448" indent="-155448">
              <a:lnSpc>
                <a:spcPct val="100000"/>
              </a:lnSpc>
              <a:spcBef>
                <a:spcPts val="2200"/>
              </a:spcBef>
              <a:buFont typeface="Arial"/>
              <a:buChar char="•"/>
            </a:pPr>
            <a:r>
              <a:rPr sz="1100">
                <a:solidFill>
                  <a:srgbClr val="333333"/>
                </a:solidFill>
                <a:latin typeface="Calibri"/>
              </a:rPr>
              <a:t>We can cost the boards and the parts we turn away today, because a photograph or a drawing is all we have.</a:t>
            </a:r>
          </a:p>
          <a:p>
            <a:pPr algn="l" marL="155448" indent="-155448">
              <a:lnSpc>
                <a:spcPct val="100000"/>
              </a:lnSpc>
              <a:spcBef>
                <a:spcPts val="2200"/>
              </a:spcBef>
              <a:buFont typeface="Arial"/>
              <a:buChar char="•"/>
            </a:pPr>
            <a:r>
              <a:rPr sz="1100">
                <a:solidFill>
                  <a:srgbClr val="333333"/>
                </a:solidFill>
                <a:latin typeface="Calibri"/>
              </a:rPr>
              <a:t>A cost can be redone when the design changes, instead of going out of date and staying that way.</a:t>
            </a:r>
          </a:p>
          <a:p>
            <a:pPr algn="l" marL="155448" indent="-155448">
              <a:lnSpc>
                <a:spcPct val="100000"/>
              </a:lnSpc>
              <a:spcBef>
                <a:spcPts val="2200"/>
              </a:spcBef>
              <a:buFont typeface="Arial"/>
              <a:buChar char="•"/>
            </a:pPr>
            <a:r>
              <a:rPr sz="1100">
                <a:solidFill>
                  <a:srgbClr val="333333"/>
                </a:solidFill>
                <a:latin typeface="Calibri"/>
              </a:rPr>
              <a:t>The costing method and the rate data do not change, so the answer is consistent with what we produce today and with everything downstream.</a:t>
            </a:r>
          </a:p>
          <a:p>
            <a:pPr algn="l" marL="155448" indent="-155448">
              <a:lnSpc>
                <a:spcPct val="100000"/>
              </a:lnSpc>
              <a:spcBef>
                <a:spcPts val="2200"/>
              </a:spcBef>
              <a:buFont typeface="Arial"/>
              <a:buChar char="•"/>
            </a:pPr>
            <a:r>
              <a:rPr sz="1100">
                <a:solidFill>
                  <a:srgbClr val="333333"/>
                </a:solidFill>
                <a:latin typeface="Calibri"/>
              </a:rPr>
              <a:t>Boards can be costed early, while the design can still be changed cheaply.</a:t>
            </a:r>
          </a:p>
          <a:p>
            <a:pPr algn="l" marL="155448" indent="-155448">
              <a:lnSpc>
                <a:spcPct val="100000"/>
              </a:lnSpc>
              <a:spcBef>
                <a:spcPts val="2200"/>
              </a:spcBef>
              <a:buFont typeface="Arial"/>
              <a:buChar char="•"/>
            </a:pPr>
            <a:r>
              <a:rPr sz="1100">
                <a:solidFill>
                  <a:srgbClr val="333333"/>
                </a:solidFill>
                <a:latin typeface="Calibri"/>
              </a:rPr>
              <a:t>Cost engineers stay in charge. Every figure is theirs to check, correct and sign off, and the tool never sets a price itself.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